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515" r:id="rId2"/>
    <p:sldId id="588" r:id="rId3"/>
    <p:sldId id="596" r:id="rId4"/>
    <p:sldId id="597" r:id="rId5"/>
    <p:sldId id="576" r:id="rId6"/>
    <p:sldId id="591" r:id="rId7"/>
    <p:sldId id="592" r:id="rId8"/>
    <p:sldId id="593" r:id="rId9"/>
    <p:sldId id="595" r:id="rId10"/>
    <p:sldId id="590" r:id="rId11"/>
    <p:sldId id="577" r:id="rId12"/>
    <p:sldId id="578" r:id="rId13"/>
    <p:sldId id="585" r:id="rId14"/>
    <p:sldId id="587" r:id="rId15"/>
    <p:sldId id="583" r:id="rId16"/>
    <p:sldId id="517" r:id="rId17"/>
    <p:sldId id="522" r:id="rId18"/>
    <p:sldId id="598" r:id="rId19"/>
    <p:sldId id="531" r:id="rId20"/>
    <p:sldId id="556" r:id="rId21"/>
    <p:sldId id="557" r:id="rId22"/>
    <p:sldId id="534" r:id="rId23"/>
    <p:sldId id="558" r:id="rId24"/>
    <p:sldId id="560" r:id="rId25"/>
    <p:sldId id="561" r:id="rId26"/>
    <p:sldId id="546" r:id="rId27"/>
    <p:sldId id="582" r:id="rId28"/>
    <p:sldId id="575" r:id="rId29"/>
    <p:sldId id="589" r:id="rId30"/>
  </p:sldIdLst>
  <p:sldSz cx="9144000" cy="6858000" type="screen4x3"/>
  <p:notesSz cx="6934200" cy="9220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7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5">
          <p15:clr>
            <a:srgbClr val="A4A3A4"/>
          </p15:clr>
        </p15:guide>
        <p15:guide id="2" pos="218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2A8487"/>
    <a:srgbClr val="1C5A61"/>
    <a:srgbClr val="0C6D9C"/>
    <a:srgbClr val="CC3300"/>
    <a:srgbClr val="F5F5F5"/>
    <a:srgbClr val="F4F4F4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0" autoAdjust="0"/>
    <p:restoredTop sz="65969" autoAdjust="0"/>
  </p:normalViewPr>
  <p:slideViewPr>
    <p:cSldViewPr>
      <p:cViewPr varScale="1">
        <p:scale>
          <a:sx n="89" d="100"/>
          <a:sy n="89" d="100"/>
        </p:scale>
        <p:origin x="1464" y="90"/>
      </p:cViewPr>
      <p:guideLst>
        <p:guide orient="horz" pos="2160"/>
        <p:guide pos="2736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-840" y="-66"/>
      </p:cViewPr>
      <p:guideLst>
        <p:guide orient="horz" pos="2905"/>
        <p:guide pos="218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7.xml"/><Relationship Id="rId2" Type="http://schemas.openxmlformats.org/officeDocument/2006/relationships/slide" Target="slides/slide6.xml"/><Relationship Id="rId1" Type="http://schemas.openxmlformats.org/officeDocument/2006/relationships/slide" Target="slides/slide5.xml"/><Relationship Id="rId6" Type="http://schemas.openxmlformats.org/officeDocument/2006/relationships/slide" Target="slides/slide10.xml"/><Relationship Id="rId5" Type="http://schemas.openxmlformats.org/officeDocument/2006/relationships/slide" Target="slides/slide9.xml"/><Relationship Id="rId4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image" Target="../media/image34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F8A0DCA-A24E-4B38-BDE4-F7F837B319C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2338" y="4379913"/>
            <a:ext cx="5087937" cy="414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901" tIns="47952" rIns="95901" bIns="4795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6EBAA231-AB97-456F-843D-09B7545C2A4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4750" y="700088"/>
            <a:ext cx="4591050" cy="34432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69900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38213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408113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76425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>
            <a:extLst>
              <a:ext uri="{FF2B5EF4-FFF2-40B4-BE49-F238E27FC236}">
                <a16:creationId xmlns:a16="http://schemas.microsoft.com/office/drawing/2014/main" id="{C699FB14-F579-468E-8C9B-E417550D4D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5325"/>
            <a:ext cx="4605337" cy="3454400"/>
          </a:xfrm>
          <a:solidFill>
            <a:srgbClr val="FFFFFF"/>
          </a:solidFill>
          <a:ln/>
        </p:spPr>
      </p:sp>
      <p:sp>
        <p:nvSpPr>
          <p:cNvPr id="4099" name="Rectangle 1027">
            <a:extLst>
              <a:ext uri="{FF2B5EF4-FFF2-40B4-BE49-F238E27FC236}">
                <a16:creationId xmlns:a16="http://schemas.microsoft.com/office/drawing/2014/main" id="{728E09C1-0672-4FEF-B0D4-8D2A79CF28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3925" y="4379913"/>
            <a:ext cx="5086350" cy="4144962"/>
          </a:xfr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715" tIns="45354" rIns="90715" bIns="45354"/>
          <a:lstStyle/>
          <a:p>
            <a:r>
              <a:rPr lang="zh-CN" altLang="en-US" dirty="0">
                <a:latin typeface="Arial" panose="020B0604020202020204" pitchFamily="34" charset="0"/>
              </a:rPr>
              <a:t>本学期由我来和大家一起学习大数据与数据挖掘这门课。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调研一下学生选择该课程的动机，凑学分？前沿知识？兴趣？</a:t>
            </a:r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6184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8684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42760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9A7A7B54-4DC5-4E80-A99C-AA029F137E2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A7623346-6731-4450-99A5-0302BAD92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 lIns="95874" tIns="47939" rIns="95874" bIns="47939"/>
          <a:lstStyle/>
          <a:p>
            <a:r>
              <a:rPr lang="zh-CN" altLang="en-US" dirty="0">
                <a:latin typeface="Arial" panose="020B0604020202020204" pitchFamily="34" charset="0"/>
              </a:rPr>
              <a:t>大数据挖掘首先要有大数据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介绍几种大数据的典型案例！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0104C0BD-4AE4-4E8A-9FA7-1EA23C6E2883}"/>
              </a:ext>
            </a:extLst>
          </p:cNvPr>
          <p:cNvSpPr txBox="1">
            <a:spLocks noGrp="1"/>
          </p:cNvSpPr>
          <p:nvPr/>
        </p:nvSpPr>
        <p:spPr bwMode="auto"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85" tIns="45393" rIns="90785" bIns="45393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93E86E9-1C2A-455D-ACAD-D24058B87AE0}" type="slidenum">
              <a:rPr lang="en-US" altLang="en-US" b="0">
                <a:cs typeface="Arial" panose="020B0604020202020204" pitchFamily="34" charset="0"/>
              </a:rPr>
              <a:pPr eaLnBrk="1" hangingPunct="1"/>
              <a:t>5</a:t>
            </a:fld>
            <a:endParaRPr lang="en-US" altLang="en-US" b="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9A7A7B54-4DC5-4E80-A99C-AA029F137E2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A7623346-6731-4450-99A5-0302BAD92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 lIns="95874" tIns="47939" rIns="95874" bIns="47939"/>
          <a:lstStyle/>
          <a:p>
            <a:r>
              <a:rPr lang="zh-CN" altLang="en-US" dirty="0">
                <a:latin typeface="Arial" panose="020B0604020202020204" pitchFamily="34" charset="0"/>
              </a:rPr>
              <a:t>大数据挖掘首先要有大数据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介绍几种大数据的典型案例！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0104C0BD-4AE4-4E8A-9FA7-1EA23C6E2883}"/>
              </a:ext>
            </a:extLst>
          </p:cNvPr>
          <p:cNvSpPr txBox="1">
            <a:spLocks noGrp="1"/>
          </p:cNvSpPr>
          <p:nvPr/>
        </p:nvSpPr>
        <p:spPr bwMode="auto"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85" tIns="45393" rIns="90785" bIns="45393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93E86E9-1C2A-455D-ACAD-D24058B87AE0}" type="slidenum">
              <a:rPr lang="en-US" altLang="en-US" b="0">
                <a:cs typeface="Arial" panose="020B0604020202020204" pitchFamily="34" charset="0"/>
              </a:rPr>
              <a:pPr eaLnBrk="1" hangingPunct="1"/>
              <a:t>6</a:t>
            </a:fld>
            <a:endParaRPr lang="en-US" altLang="en-US" b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5718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9A7A7B54-4DC5-4E80-A99C-AA029F137E2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A7623346-6731-4450-99A5-0302BAD92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 lIns="95874" tIns="47939" rIns="95874" bIns="47939"/>
          <a:lstStyle/>
          <a:p>
            <a:r>
              <a:rPr lang="zh-CN" altLang="en-US" dirty="0">
                <a:latin typeface="Arial" panose="020B0604020202020204" pitchFamily="34" charset="0"/>
              </a:rPr>
              <a:t>大数据挖掘首先要有大数据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介绍几种大数据的典型案例！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0104C0BD-4AE4-4E8A-9FA7-1EA23C6E2883}"/>
              </a:ext>
            </a:extLst>
          </p:cNvPr>
          <p:cNvSpPr txBox="1">
            <a:spLocks noGrp="1"/>
          </p:cNvSpPr>
          <p:nvPr/>
        </p:nvSpPr>
        <p:spPr bwMode="auto"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85" tIns="45393" rIns="90785" bIns="45393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93E86E9-1C2A-455D-ACAD-D24058B87AE0}" type="slidenum">
              <a:rPr lang="en-US" altLang="en-US" b="0">
                <a:cs typeface="Arial" panose="020B0604020202020204" pitchFamily="34" charset="0"/>
              </a:rPr>
              <a:pPr eaLnBrk="1" hangingPunct="1"/>
              <a:t>7</a:t>
            </a:fld>
            <a:endParaRPr lang="en-US" altLang="en-US" b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9931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9A7A7B54-4DC5-4E80-A99C-AA029F137E2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A7623346-6731-4450-99A5-0302BAD92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 lIns="95874" tIns="47939" rIns="95874" bIns="47939"/>
          <a:lstStyle/>
          <a:p>
            <a:r>
              <a:rPr lang="zh-CN" altLang="en-US" dirty="0">
                <a:latin typeface="Arial" panose="020B0604020202020204" pitchFamily="34" charset="0"/>
              </a:rPr>
              <a:t>大数据挖掘首先要有大数据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介绍几种大数据的典型案例！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0104C0BD-4AE4-4E8A-9FA7-1EA23C6E2883}"/>
              </a:ext>
            </a:extLst>
          </p:cNvPr>
          <p:cNvSpPr txBox="1">
            <a:spLocks noGrp="1"/>
          </p:cNvSpPr>
          <p:nvPr/>
        </p:nvSpPr>
        <p:spPr bwMode="auto"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85" tIns="45393" rIns="90785" bIns="45393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93E86E9-1C2A-455D-ACAD-D24058B87AE0}" type="slidenum">
              <a:rPr lang="en-US" altLang="en-US" b="0">
                <a:cs typeface="Arial" panose="020B0604020202020204" pitchFamily="34" charset="0"/>
              </a:rPr>
              <a:pPr eaLnBrk="1" hangingPunct="1"/>
              <a:t>8</a:t>
            </a:fld>
            <a:endParaRPr lang="en-US" altLang="en-US" b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71574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9A7A7B54-4DC5-4E80-A99C-AA029F137E2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A7623346-6731-4450-99A5-0302BAD92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 lIns="95874" tIns="47939" rIns="95874" bIns="47939"/>
          <a:lstStyle/>
          <a:p>
            <a:r>
              <a:rPr lang="zh-CN" altLang="en-US" dirty="0">
                <a:latin typeface="Arial" panose="020B0604020202020204" pitchFamily="34" charset="0"/>
              </a:rPr>
              <a:t>大数据挖掘首先要有大数据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介绍几种大数据的典型案例！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0104C0BD-4AE4-4E8A-9FA7-1EA23C6E2883}"/>
              </a:ext>
            </a:extLst>
          </p:cNvPr>
          <p:cNvSpPr txBox="1">
            <a:spLocks noGrp="1"/>
          </p:cNvSpPr>
          <p:nvPr/>
        </p:nvSpPr>
        <p:spPr bwMode="auto"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85" tIns="45393" rIns="90785" bIns="45393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93E86E9-1C2A-455D-ACAD-D24058B87AE0}" type="slidenum">
              <a:rPr lang="en-US" altLang="en-US" b="0">
                <a:cs typeface="Arial" panose="020B0604020202020204" pitchFamily="34" charset="0"/>
              </a:rPr>
              <a:pPr eaLnBrk="1" hangingPunct="1"/>
              <a:t>9</a:t>
            </a:fld>
            <a:endParaRPr lang="en-US" altLang="en-US" b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354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9A7A7B54-4DC5-4E80-A99C-AA029F137E2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A7623346-6731-4450-99A5-0302BAD92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 lIns="95874" tIns="47939" rIns="95874" bIns="47939"/>
          <a:lstStyle/>
          <a:p>
            <a:r>
              <a:rPr lang="zh-CN" altLang="en-US" dirty="0">
                <a:latin typeface="Arial" panose="020B0604020202020204" pitchFamily="34" charset="0"/>
              </a:rPr>
              <a:t>大数据挖掘首先要有大数据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介绍几种大数据的典型案例！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0104C0BD-4AE4-4E8A-9FA7-1EA23C6E2883}"/>
              </a:ext>
            </a:extLst>
          </p:cNvPr>
          <p:cNvSpPr txBox="1">
            <a:spLocks noGrp="1"/>
          </p:cNvSpPr>
          <p:nvPr/>
        </p:nvSpPr>
        <p:spPr bwMode="auto"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85" tIns="45393" rIns="90785" bIns="45393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93E86E9-1C2A-455D-ACAD-D24058B87AE0}" type="slidenum">
              <a:rPr lang="en-US" altLang="en-US" b="0">
                <a:cs typeface="Arial" panose="020B0604020202020204" pitchFamily="34" charset="0"/>
              </a:rPr>
              <a:pPr eaLnBrk="1" hangingPunct="1"/>
              <a:t>10</a:t>
            </a:fld>
            <a:endParaRPr lang="en-US" altLang="en-US" b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62334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8BF75C78-E4FE-42F9-B7D9-98CC2D2C0E3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85" tIns="45393" rIns="90785" bIns="45393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82F0540-F73A-4865-9A62-C88D0F9C0394}" type="slidenum">
              <a:rPr lang="en-US" altLang="en-US" b="0">
                <a:cs typeface="Arial" panose="020B0604020202020204" pitchFamily="34" charset="0"/>
              </a:rPr>
              <a:pPr eaLnBrk="1" hangingPunct="1"/>
              <a:t>11</a:t>
            </a:fld>
            <a:endParaRPr lang="en-US" altLang="en-US" b="0">
              <a:cs typeface="Arial" panose="020B0604020202020204" pitchFamily="34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E85F19D8-DA48-4D59-855D-063A769E0F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3738"/>
            <a:ext cx="4605337" cy="3455987"/>
          </a:xfrm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11586C0C-C09A-41BB-A349-67EDACE8C1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8138"/>
          </a:xfrm>
          <a:noFill/>
        </p:spPr>
        <p:txBody>
          <a:bodyPr lIns="90792" tIns="45395" rIns="90792" bIns="45395"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DA4A6553-F840-458F-9628-14505085B2A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85" tIns="45393" rIns="90785" bIns="45393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5AEF58F-DA85-422B-B193-617AE47D2C10}" type="slidenum">
              <a:rPr lang="en-US" altLang="en-US" b="0">
                <a:cs typeface="Arial" panose="020B0604020202020204" pitchFamily="34" charset="0"/>
              </a:rPr>
              <a:pPr eaLnBrk="1" hangingPunct="1"/>
              <a:t>12</a:t>
            </a:fld>
            <a:endParaRPr lang="en-US" altLang="en-US" b="0">
              <a:cs typeface="Arial" panose="020B0604020202020204" pitchFamily="34" charset="0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A40FBF38-8881-435D-B101-A64FE314A4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3738"/>
            <a:ext cx="4605337" cy="3455987"/>
          </a:xfrm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87CB16C3-5990-4D2F-9F78-93FFD08DD2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8138"/>
          </a:xfrm>
          <a:noFill/>
        </p:spPr>
        <p:txBody>
          <a:bodyPr lIns="90792" tIns="45395" rIns="90792" bIns="45395"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存在大数据，同时分析大数据能给科学家带来一定的好处。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假设验证的地方举一个例子：吸烟如何提高肺癌的风险？</a:t>
            </a:r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844A0C1C-F394-48E1-BE2B-87E4E2F3657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922BBE9D-3667-44CD-BA1D-48E6465E00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 lIns="95874" tIns="47939" rIns="95874" bIns="47939"/>
          <a:lstStyle/>
          <a:p>
            <a:r>
              <a:rPr lang="zh-CN" altLang="en-US" dirty="0">
                <a:latin typeface="Arial" panose="020B0604020202020204" pitchFamily="34" charset="0"/>
              </a:rPr>
              <a:t>能给给人们各个方面的生活带来巨大的机遇。</a:t>
            </a:r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844A0C1C-F394-48E1-BE2B-87E4E2F3657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922BBE9D-3667-44CD-BA1D-48E6465E00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 lIns="95874" tIns="47939" rIns="95874" bIns="47939"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6572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C4862368-9591-42C8-BADD-47C207ED864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451B5434-DE5C-401C-A762-59A2BCEC4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</a:rPr>
              <a:t>精准医疗！极端气候！能源危机！粮食危机！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B3A1CFB0-9753-4876-BFE0-1C7797FF45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3738"/>
            <a:ext cx="4605337" cy="3455987"/>
          </a:xfrm>
          <a:solidFill>
            <a:srgbClr val="FFFFFF"/>
          </a:solidFill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99E16533-DEB5-46E0-A2C6-C0DF6FB5F4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8138"/>
          </a:xfr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742" tIns="45370" rIns="90742" bIns="45370"/>
          <a:lstStyle/>
          <a:p>
            <a:r>
              <a:rPr lang="zh-CN" altLang="en-US" dirty="0">
                <a:latin typeface="Arial" panose="020B0604020202020204" pitchFamily="34" charset="0"/>
              </a:rPr>
              <a:t>强调</a:t>
            </a:r>
            <a:r>
              <a:rPr lang="en-US" altLang="zh-CN" dirty="0">
                <a:latin typeface="Arial" panose="020B0604020202020204" pitchFamily="34" charset="0"/>
              </a:rPr>
              <a:t>useful</a:t>
            </a:r>
            <a:r>
              <a:rPr lang="zh-CN" altLang="en-US" dirty="0">
                <a:latin typeface="Arial" panose="020B0604020202020204" pitchFamily="34" charset="0"/>
              </a:rPr>
              <a:t>和</a:t>
            </a:r>
            <a:r>
              <a:rPr lang="en-US" altLang="zh-CN" dirty="0">
                <a:latin typeface="Arial" panose="020B0604020202020204" pitchFamily="34" charset="0"/>
              </a:rPr>
              <a:t>otherwise</a:t>
            </a:r>
            <a:r>
              <a:rPr lang="zh-CN" altLang="en-US" dirty="0">
                <a:latin typeface="Arial" panose="020B0604020202020204" pitchFamily="34" charset="0"/>
              </a:rPr>
              <a:t>！</a:t>
            </a:r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B0B4CB90-4521-422C-947B-865AD0DD9F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3738"/>
            <a:ext cx="4605337" cy="3455987"/>
          </a:xfrm>
          <a:solidFill>
            <a:srgbClr val="FFFFFF"/>
          </a:solidFill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E9B4B92B-8B73-42AE-8D46-58F5DAA0E0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8138"/>
          </a:xfr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742" tIns="45370" rIns="90742" bIns="45370"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数据挖掘的两大任务！后面会举例子。</a:t>
            </a:r>
          </a:p>
        </p:txBody>
      </p:sp>
    </p:spTree>
    <p:extLst>
      <p:ext uri="{BB962C8B-B14F-4D97-AF65-F5344CB8AC3E}">
        <p14:creationId xmlns:p14="http://schemas.microsoft.com/office/powerpoint/2010/main" val="42272445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98DCEB33-68FC-4550-9885-59B78A57E9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3738"/>
            <a:ext cx="4605337" cy="3455987"/>
          </a:xfrm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FE13C376-8525-4F4E-B261-0849046E89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81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30" tIns="45361" rIns="90730" bIns="45361"/>
          <a:lstStyle/>
          <a:p>
            <a:pPr defTabSz="908050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89C56E68-8DB4-4E07-9582-0090E126F6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8400" y="693738"/>
            <a:ext cx="4605338" cy="3455987"/>
          </a:xfrm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AC56C27C-E5A8-4463-A992-51C78E0784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81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21" tIns="45360" rIns="90721" bIns="45360"/>
          <a:lstStyle/>
          <a:p>
            <a:pPr defTabSz="908050"/>
            <a:r>
              <a:rPr lang="zh-CN" altLang="en-US" dirty="0">
                <a:latin typeface="Arial" panose="020B0604020202020204" pitchFamily="34" charset="0"/>
              </a:rPr>
              <a:t>详细讲一讲</a:t>
            </a:r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CE0A0525-7443-4ED1-9F2A-9B97FF791B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3738"/>
            <a:ext cx="4605337" cy="3455987"/>
          </a:xfrm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97B656E9-41BC-4991-B8D4-9F180DAC73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81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2" tIns="45370" rIns="90742" bIns="45370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72028746-4A9E-4D79-994D-A28294592B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3738"/>
            <a:ext cx="4605337" cy="3455987"/>
          </a:xfrm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67A6ABD0-833E-40A9-85AC-B38437D152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81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809" tIns="45404" rIns="90809" bIns="45404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22B01FC6-699F-49B7-8F9C-25701234B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B3117957-4102-4152-9511-6A2D8452F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CB761CE8-5ACF-4086-B319-DF28CF610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2123DC-DFBA-4B53-859F-D576C850A32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8818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D011C0F4-A3D7-43F1-BAEF-9F4DBE6C7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58583683-79E4-4784-ABE4-70446FD5D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CFA437EA-A9A6-4B5C-B95E-437257CE3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664E48-8EBF-45D4-86A6-5BE60853586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9697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EE064036-A042-4113-975C-D76A3649A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9B147E8E-F86A-4774-8D73-6FE3C77D3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4EEA2EB-317C-4B1E-B1C8-0E0FC2C81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ED179D-0692-4F36-8F87-24A7D81E41E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9680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A7971844-4CB4-4ECB-9E1C-A3DF3AF7B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EBAC8536-041E-402E-A442-25C4A80B7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44090ABC-BA65-4379-91B6-854FBE197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8406F3-FDF8-41E1-AD13-82948F2FCA4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0405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1859B0-126F-4BFF-B699-BE2C69117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B6A513-321A-4EA0-AE52-91FAD8FD9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C8DDFD-33AF-4D51-A783-6BF653EA3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40B3D3-437E-4EF5-8B9B-4613008D4C0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1646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4A136CB0-DB4A-456D-8188-F53955535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B61944C8-6F59-4CE6-91A8-8DE1B11B2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BD66B6DA-5BBB-4267-A1CA-1AB7006C7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762368-7041-4862-85B1-46B2CE22961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432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1CC76518-94F5-430B-8269-487369ED6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61D03084-C5B2-4825-80A0-9C8CF8CD2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0C2E84D-775D-40F9-AF46-5C2567F4A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4C5D0A-68C6-4F5E-8CA4-09CFA6B2E27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4855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560DB81E-E90B-415B-8CEB-3AD41C913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948A6511-7667-462C-AB86-CB62951BA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D7A10B0C-2780-4D92-A33E-15513B7CB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FE8911-AB9F-4C99-AEC6-0A0FC62501B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7963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DE2E6433-A668-4571-8366-99B3FC5B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FD44604E-C32E-4096-B1BF-25ADE7A2E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04170D21-281D-43C0-9E15-4498BD3C7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89B355-62F4-4B95-9A45-052A9753D3A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620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5AD772FD-3338-4EDA-AD8B-5BF72CD2F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29F2BB22-BFF5-4FB2-B7D4-11CF281F4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0227B879-3707-4624-A2EA-7AA1989D6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4B62A1-22B8-42FD-9E04-8138F77E95E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2030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3688" y="152400"/>
            <a:ext cx="2085975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110288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71E59568-71B5-40E4-820C-9A24BD1C5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0578E8C8-960B-4B8D-8F0A-66346630A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D4559B14-3CDC-4C94-A4A1-C6E75B4B3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5B7742-315A-4223-A578-4A01A42EE72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2749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5EC695CA-D314-40D9-A89D-EB35F49A1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9EDD70CF-0016-4814-B9EA-199B604CD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2A0872A6-FCE4-442D-974F-9A0EF4954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A7EB2A-6236-4A15-9E28-8DA517D22E3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75154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6613" y="1143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6613" y="3810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6">
            <a:extLst>
              <a:ext uri="{FF2B5EF4-FFF2-40B4-BE49-F238E27FC236}">
                <a16:creationId xmlns:a16="http://schemas.microsoft.com/office/drawing/2014/main" id="{502A3E25-37E2-4EBF-AA00-20427AD6B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3D181E6C-6CD9-453F-9DFC-071F945A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8EC058AC-8AA5-4208-8257-0025469E5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323DAB-C2B0-4648-82BD-93DD305D8B0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5403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1D03D88-203D-4D90-A5F8-3075BB602D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C337DF7-7AE7-4A85-9AB5-C075431783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11163" y="1143000"/>
            <a:ext cx="83185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 Third Level</a:t>
            </a:r>
          </a:p>
        </p:txBody>
      </p:sp>
      <p:grpSp>
        <p:nvGrpSpPr>
          <p:cNvPr id="1028" name="Group 16">
            <a:extLst>
              <a:ext uri="{FF2B5EF4-FFF2-40B4-BE49-F238E27FC236}">
                <a16:creationId xmlns:a16="http://schemas.microsoft.com/office/drawing/2014/main" id="{79A345F1-6B59-44A5-A4AB-70C24FF0D87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1032" name="Rectangle 17">
              <a:extLst>
                <a:ext uri="{FF2B5EF4-FFF2-40B4-BE49-F238E27FC236}">
                  <a16:creationId xmlns:a16="http://schemas.microsoft.com/office/drawing/2014/main" id="{BD383B36-B313-4AA9-9734-0C1E41612B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33" name="Rectangle 18">
              <a:extLst>
                <a:ext uri="{FF2B5EF4-FFF2-40B4-BE49-F238E27FC236}">
                  <a16:creationId xmlns:a16="http://schemas.microsoft.com/office/drawing/2014/main" id="{D2E097D8-70EE-4739-BF27-511BF22A60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BAA8FC-8B9A-4F89-B53E-DA8A780610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B32BAC-A326-4F1C-931E-786ECA1439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0" y="6356350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03D021-AF87-4F25-983B-0FADEE5452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4E630134-C3B3-4B59-A84B-52E65CCBE6D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/>
  <p:txStyles>
    <p:titleStyle>
      <a:lvl1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2pPr>
      <a:lvl3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3pPr>
      <a:lvl4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4pPr>
      <a:lvl5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5pPr>
      <a:lvl6pPr marL="4572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6pPr>
      <a:lvl7pPr marL="9144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7pPr>
      <a:lvl8pPr marL="13716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8pPr>
      <a:lvl9pPr marL="18288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9pPr>
    </p:titleStyle>
    <p:bodyStyle>
      <a:lvl1pPr marL="292100" indent="-2921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5000"/>
        <a:buFont typeface="Monotype Sorts" pitchFamily="2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</a:defRPr>
      </a:lvl2pPr>
      <a:lvl3pPr marL="9144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0000"/>
        <a:buFont typeface="Wingdings" panose="05000000000000000000" pitchFamily="2" charset="2"/>
        <a:buChar char="u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13" Type="http://schemas.openxmlformats.org/officeDocument/2006/relationships/image" Target="../media/image13.gif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1.jpeg"/><Relationship Id="rId12" Type="http://schemas.openxmlformats.org/officeDocument/2006/relationships/image" Target="../media/image12.gi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0.png"/><Relationship Id="rId11" Type="http://schemas.openxmlformats.org/officeDocument/2006/relationships/image" Target="../media/image7.wmf"/><Relationship Id="rId5" Type="http://schemas.openxmlformats.org/officeDocument/2006/relationships/image" Target="../media/image9.jpeg"/><Relationship Id="rId10" Type="http://schemas.openxmlformats.org/officeDocument/2006/relationships/oleObject" Target="../embeddings/oleObject2.bin"/><Relationship Id="rId4" Type="http://schemas.openxmlformats.org/officeDocument/2006/relationships/image" Target="../media/image8.jpeg"/><Relationship Id="rId9" Type="http://schemas.openxmlformats.org/officeDocument/2006/relationships/image" Target="../media/image6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gif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1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8.w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21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eg"/><Relationship Id="rId5" Type="http://schemas.openxmlformats.org/officeDocument/2006/relationships/image" Target="../media/image25.png"/><Relationship Id="rId4" Type="http://schemas.openxmlformats.org/officeDocument/2006/relationships/image" Target="../media/image2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3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29.wmf"/><Relationship Id="rId10" Type="http://schemas.openxmlformats.org/officeDocument/2006/relationships/image" Target="../media/image33.png"/><Relationship Id="rId4" Type="http://schemas.openxmlformats.org/officeDocument/2006/relationships/oleObject" Target="../embeddings/oleObject5.bin"/><Relationship Id="rId9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3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34.wmf"/><Relationship Id="rId4" Type="http://schemas.openxmlformats.org/officeDocument/2006/relationships/oleObject" Target="../embeddings/oleObject7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6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34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eg"/><Relationship Id="rId3" Type="http://schemas.openxmlformats.org/officeDocument/2006/relationships/image" Target="../media/image8.jpeg"/><Relationship Id="rId7" Type="http://schemas.openxmlformats.org/officeDocument/2006/relationships/image" Target="../media/image7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11.bin"/><Relationship Id="rId9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39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1.png"/><Relationship Id="rId2" Type="http://schemas.openxmlformats.org/officeDocument/2006/relationships/video" Target="file:///\\winfiles\savedocs\anuj\Downloads\lecture_1_slides_ppt\Global%20Animation%202-28-2011.wmv" TargetMode="External"/><Relationship Id="rId1" Type="http://schemas.openxmlformats.org/officeDocument/2006/relationships/video" Target="file:///\\winfiles\savedocs\anuj\Downloads\lecture_1_slides_ppt\modis_swath_640x480_jpg.wmv" TargetMode="External"/><Relationship Id="rId6" Type="http://schemas.openxmlformats.org/officeDocument/2006/relationships/image" Target="../media/image40.png"/><Relationship Id="rId5" Type="http://schemas.openxmlformats.org/officeDocument/2006/relationships/image" Target="../media/image33.png"/><Relationship Id="rId4" Type="http://schemas.openxmlformats.org/officeDocument/2006/relationships/notesSlide" Target="../notesSlides/notesSlide2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026">
            <a:extLst>
              <a:ext uri="{FF2B5EF4-FFF2-40B4-BE49-F238E27FC236}">
                <a16:creationId xmlns:a16="http://schemas.microsoft.com/office/drawing/2014/main" id="{D4B4E482-64A6-49FD-B0F9-49F701E105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-152400"/>
            <a:ext cx="8763000" cy="838200"/>
          </a:xfrm>
        </p:spPr>
        <p:txBody>
          <a:bodyPr/>
          <a:lstStyle/>
          <a:p>
            <a:pPr algn="ctr"/>
            <a:r>
              <a:rPr lang="zh-CN" altLang="en-US" dirty="0"/>
              <a:t>数据挖掘</a:t>
            </a:r>
            <a:r>
              <a:rPr lang="en-US" altLang="en-US" dirty="0"/>
              <a:t>: </a:t>
            </a:r>
            <a:r>
              <a:rPr lang="zh-CN" altLang="en-US" dirty="0"/>
              <a:t>导论</a:t>
            </a:r>
            <a:endParaRPr lang="en-US" altLang="en-US" dirty="0"/>
          </a:p>
        </p:txBody>
      </p:sp>
      <p:sp>
        <p:nvSpPr>
          <p:cNvPr id="3075" name="Rectangle 1027">
            <a:extLst>
              <a:ext uri="{FF2B5EF4-FFF2-40B4-BE49-F238E27FC236}">
                <a16:creationId xmlns:a16="http://schemas.microsoft.com/office/drawing/2014/main" id="{23794AE8-7F0B-44B0-8DCA-F4F17DB69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372281"/>
            <a:ext cx="8153400" cy="4967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altLang="en-US" sz="3200" b="0" dirty="0"/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3200" b="0" dirty="0"/>
              <a:t>Chapter 1: </a:t>
            </a:r>
            <a:r>
              <a:rPr lang="en-US" altLang="en-US" sz="3200" b="0" dirty="0"/>
              <a:t>Introduction to Data Mining</a:t>
            </a:r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altLang="zh-CN" b="0" dirty="0"/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b="0" dirty="0"/>
              <a:t>刘云 博士</a:t>
            </a:r>
            <a:endParaRPr lang="en-US" altLang="zh-CN" b="0" dirty="0"/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b="0" dirty="0"/>
              <a:t>吉林大学</a:t>
            </a:r>
            <a:endParaRPr lang="en-US" altLang="zh-CN" b="0" dirty="0"/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b="0" dirty="0"/>
              <a:t>控制科学与工程系</a:t>
            </a:r>
            <a:endParaRPr lang="en-US" altLang="en-US" b="0" dirty="0"/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200" b="0" dirty="0"/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00" b="0" dirty="0">
              <a:solidFill>
                <a:srgbClr val="0000FF"/>
              </a:solidFill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00" b="0" dirty="0">
              <a:solidFill>
                <a:srgbClr val="0000FF"/>
              </a:solidFill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00" b="0" dirty="0"/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00" b="0" dirty="0"/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00" b="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000" b="0" dirty="0"/>
          </a:p>
        </p:txBody>
      </p:sp>
      <p:sp>
        <p:nvSpPr>
          <p:cNvPr id="3076" name="Slide Number Placeholder 6">
            <a:extLst>
              <a:ext uri="{FF2B5EF4-FFF2-40B4-BE49-F238E27FC236}">
                <a16:creationId xmlns:a16="http://schemas.microsoft.com/office/drawing/2014/main" id="{07D6713F-E355-468F-B722-773F596B4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7117A7A0-6EFA-49E2-9643-E6DCA302B191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</a:t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608DEB-201A-426A-B6F5-A7BA70139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Introduction to Data Mining, 2nd Edition   Tan, Steinbach, </a:t>
            </a:r>
            <a:r>
              <a:rPr lang="en-US" dirty="0" err="1"/>
              <a:t>Karpatne</a:t>
            </a:r>
            <a:r>
              <a:rPr lang="en-US" dirty="0"/>
              <a:t>, Kumar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DF667C-05BF-40C7-8AC6-AD630088E1F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课程基本情况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90600"/>
            <a:ext cx="8153400" cy="536575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学分：</a:t>
            </a:r>
            <a:r>
              <a:rPr lang="en-US" altLang="zh-CN" sz="2400" dirty="0"/>
              <a:t>2</a:t>
            </a:r>
            <a:r>
              <a:rPr lang="zh-CN" altLang="en-US" sz="2400" dirty="0"/>
              <a:t>，课时：</a:t>
            </a:r>
            <a:r>
              <a:rPr lang="en-US" altLang="zh-CN" sz="2400" dirty="0"/>
              <a:t>38</a:t>
            </a:r>
            <a:r>
              <a:rPr lang="zh-CN" altLang="en-US" sz="2400" dirty="0"/>
              <a:t>学时，其中实验</a:t>
            </a:r>
            <a:r>
              <a:rPr lang="en-US" altLang="zh-CN" sz="2400" dirty="0"/>
              <a:t>6</a:t>
            </a:r>
            <a:r>
              <a:rPr lang="zh-CN" altLang="en-US" sz="2400" dirty="0"/>
              <a:t>学时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教学目的：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了解数据挖掘的发展历程及基本方法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能够利用</a:t>
            </a:r>
            <a:r>
              <a:rPr lang="en-US" altLang="zh-CN" sz="2000" dirty="0"/>
              <a:t>DM</a:t>
            </a:r>
            <a:r>
              <a:rPr lang="zh-CN" altLang="en-US" sz="2000" dirty="0"/>
              <a:t>方法完成特定的任务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考核方式：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出勤：不计入成绩，缺勤</a:t>
            </a:r>
            <a:r>
              <a:rPr lang="en-US" altLang="zh-CN" sz="2000" dirty="0"/>
              <a:t>4</a:t>
            </a:r>
            <a:r>
              <a:rPr lang="zh-CN" altLang="en-US" sz="2000" dirty="0"/>
              <a:t>次课以上不及格。</a:t>
            </a:r>
            <a:endParaRPr lang="en-US" altLang="zh-CN" sz="16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作业：</a:t>
            </a:r>
            <a:r>
              <a:rPr lang="en-US" altLang="zh-CN" sz="2000" dirty="0"/>
              <a:t>60%</a:t>
            </a:r>
            <a:r>
              <a:rPr lang="zh-CN" altLang="en-US" sz="2000" dirty="0"/>
              <a:t>，</a:t>
            </a:r>
            <a:r>
              <a:rPr lang="en-US" altLang="zh-CN" sz="2000" dirty="0"/>
              <a:t>4</a:t>
            </a:r>
            <a:r>
              <a:rPr lang="zh-CN" altLang="en-US" sz="2000" dirty="0"/>
              <a:t>次作业</a:t>
            </a:r>
            <a:endParaRPr lang="en-US" altLang="zh-CN" sz="2000" dirty="0"/>
          </a:p>
          <a:p>
            <a:pPr lvl="2">
              <a:lnSpc>
                <a:spcPct val="150000"/>
              </a:lnSpc>
            </a:pPr>
            <a:r>
              <a:rPr lang="zh-CN" altLang="en-US" sz="1600" dirty="0"/>
              <a:t>百度飞浆平台：</a:t>
            </a:r>
            <a:r>
              <a:rPr lang="en-US" altLang="zh-CN" sz="1600" dirty="0">
                <a:hlinkClick r:id="rId3"/>
              </a:rPr>
              <a:t>https://aistudio.baidu.com/index</a:t>
            </a:r>
            <a:endParaRPr lang="en-US" altLang="zh-CN" sz="1600" dirty="0"/>
          </a:p>
          <a:p>
            <a:pPr lvl="2">
              <a:lnSpc>
                <a:spcPct val="150000"/>
              </a:lnSpc>
            </a:pPr>
            <a:r>
              <a:rPr lang="zh-CN" altLang="en-US" sz="1600" dirty="0"/>
              <a:t>定期发布题目，在线完成，提交纸质版实验报告</a:t>
            </a:r>
            <a:endParaRPr lang="en-US" altLang="zh-CN" sz="16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期末测评：</a:t>
            </a:r>
            <a:r>
              <a:rPr lang="en-US" altLang="zh-CN" sz="2000" dirty="0"/>
              <a:t>40%</a:t>
            </a:r>
            <a:r>
              <a:rPr lang="zh-CN" altLang="en-US" sz="2000" dirty="0"/>
              <a:t>。百度飞浆平台在线完成，自动排名，线性折算</a:t>
            </a:r>
            <a:endParaRPr lang="en-US" altLang="zh-CN" sz="2000" dirty="0"/>
          </a:p>
          <a:p>
            <a:pPr lvl="2">
              <a:lnSpc>
                <a:spcPct val="150000"/>
              </a:lnSpc>
            </a:pPr>
            <a:endParaRPr lang="zh-CN" altLang="en-US" sz="16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09/09/2020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4E48-8EBF-45D4-86A6-5BE608535861}" type="slidenum">
              <a:rPr lang="en-US" altLang="en-US" smtClean="0"/>
              <a:pPr/>
              <a:t>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49382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参考书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Introduction to Data Mining, 2nd Edition   Tan, Steinbach, </a:t>
            </a:r>
            <a:r>
              <a:rPr lang="en-US" dirty="0" err="1"/>
              <a:t>Karpatne</a:t>
            </a:r>
            <a:r>
              <a:rPr lang="en-US" dirty="0"/>
              <a:t>, Kumar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4E48-8EBF-45D4-86A6-5BE608535861}" type="slidenum">
              <a:rPr lang="en-US" altLang="en-US" smtClean="0"/>
              <a:pPr/>
              <a:t>3</a:t>
            </a:fld>
            <a:endParaRPr lang="en-US" altLang="en-US"/>
          </a:p>
        </p:txBody>
      </p:sp>
      <p:pic>
        <p:nvPicPr>
          <p:cNvPr id="40962" name="Picture 2" descr="查看源图像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15" r="13462"/>
          <a:stretch/>
        </p:blipFill>
        <p:spPr bwMode="auto">
          <a:xfrm>
            <a:off x="762000" y="1583291"/>
            <a:ext cx="2989385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1754323"/>
            <a:ext cx="2680025" cy="3722256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676400" y="5715000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002060"/>
                </a:solidFill>
              </a:rPr>
              <a:t>专业性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172200" y="5715000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002060"/>
                </a:solidFill>
              </a:rPr>
              <a:t>科普性</a:t>
            </a:r>
          </a:p>
        </p:txBody>
      </p:sp>
    </p:spTree>
    <p:extLst>
      <p:ext uri="{BB962C8B-B14F-4D97-AF65-F5344CB8AC3E}">
        <p14:creationId xmlns:p14="http://schemas.microsoft.com/office/powerpoint/2010/main" val="3822830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课程主要内容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09/09/2020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Introduction to Data Mining, 2nd Edition   Tan, Steinbach, </a:t>
            </a:r>
            <a:r>
              <a:rPr lang="en-US" dirty="0" err="1"/>
              <a:t>Karpatne</a:t>
            </a:r>
            <a:r>
              <a:rPr lang="en-US" dirty="0"/>
              <a:t>, Kumar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4E48-8EBF-45D4-86A6-5BE608535861}" type="slidenum">
              <a:rPr lang="en-US" altLang="en-US" smtClean="0"/>
              <a:pPr/>
              <a:t>4</a:t>
            </a:fld>
            <a:endParaRPr lang="en-US" altLang="en-US"/>
          </a:p>
        </p:txBody>
      </p:sp>
      <p:sp>
        <p:nvSpPr>
          <p:cNvPr id="10" name="内容占位符 2"/>
          <p:cNvSpPr>
            <a:spLocks noGrp="1"/>
          </p:cNvSpPr>
          <p:nvPr>
            <p:ph idx="1"/>
          </p:nvPr>
        </p:nvSpPr>
        <p:spPr>
          <a:xfrm>
            <a:off x="411163" y="1143000"/>
            <a:ext cx="8318500" cy="5213350"/>
          </a:xfrm>
        </p:spPr>
        <p:txBody>
          <a:bodyPr/>
          <a:lstStyle/>
          <a:p>
            <a:pPr>
              <a:buFont typeface="Wingdings" panose="05000000000000000000" pitchFamily="2" charset="2"/>
              <a:buChar char="p"/>
            </a:pPr>
            <a:r>
              <a:rPr lang="zh-CN" altLang="en-US" sz="2400" dirty="0"/>
              <a:t>绪论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2400" dirty="0"/>
              <a:t>Python</a:t>
            </a:r>
            <a:r>
              <a:rPr lang="zh-CN" altLang="en-US" sz="2400" dirty="0"/>
              <a:t>编程基础、百度飞桨平台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sz="2400" dirty="0"/>
              <a:t>数据</a:t>
            </a:r>
            <a:endParaRPr lang="en-US" altLang="zh-CN" sz="2400" dirty="0"/>
          </a:p>
          <a:p>
            <a:pPr lvl="1"/>
            <a:r>
              <a:rPr lang="zh-CN" altLang="en-US" sz="2400" dirty="0"/>
              <a:t>数据类型、相似性测度</a:t>
            </a:r>
            <a:r>
              <a:rPr lang="en-US" altLang="zh-CN" sz="2400" dirty="0"/>
              <a:t>……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FF0000"/>
                </a:solidFill>
              </a:rPr>
              <a:t>分类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lvl="1"/>
            <a:r>
              <a:rPr lang="zh-CN" altLang="en-US" sz="2400" dirty="0"/>
              <a:t>基本分类器、过拟合、神经网络、深度学习</a:t>
            </a:r>
            <a:r>
              <a:rPr lang="en-US" altLang="zh-CN" sz="2400" dirty="0"/>
              <a:t>……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FF0000"/>
                </a:solidFill>
              </a:rPr>
              <a:t>相关分析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lvl="1"/>
            <a:r>
              <a:rPr lang="en-US" altLang="zh-CN" sz="2400" dirty="0" err="1"/>
              <a:t>Apriori</a:t>
            </a:r>
            <a:r>
              <a:rPr lang="en-US" altLang="zh-CN" sz="2400" dirty="0"/>
              <a:t> Algorithm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FF0000"/>
                </a:solidFill>
              </a:rPr>
              <a:t>聚类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lvl="1"/>
            <a:r>
              <a:rPr lang="en-US" altLang="zh-CN" sz="2400" dirty="0"/>
              <a:t>K</a:t>
            </a:r>
            <a:r>
              <a:rPr lang="zh-CN" altLang="en-US" sz="2400" dirty="0"/>
              <a:t>均值、密度聚类、层次聚类</a:t>
            </a:r>
            <a:r>
              <a:rPr lang="en-US" altLang="zh-CN" sz="2400" dirty="0"/>
              <a:t>……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FF0000"/>
                </a:solidFill>
              </a:rPr>
              <a:t>异常检测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8513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621814AE-9A96-4D7C-88FB-FA98442BF58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152400"/>
            <a:ext cx="8534400" cy="533400"/>
          </a:xfrm>
        </p:spPr>
        <p:txBody>
          <a:bodyPr/>
          <a:lstStyle/>
          <a:p>
            <a:pPr eaLnBrk="1" hangingPunct="1"/>
            <a:r>
              <a:rPr lang="zh-CN" altLang="en-US" sz="4000" dirty="0">
                <a:ea typeface="MS Mincho" panose="02020609040205080304" pitchFamily="49" charset="-128"/>
              </a:rPr>
              <a:t>案例</a:t>
            </a:r>
            <a:r>
              <a:rPr lang="en-US" altLang="zh-CN" sz="4000" dirty="0">
                <a:ea typeface="MS Mincho" panose="02020609040205080304" pitchFamily="49" charset="-128"/>
              </a:rPr>
              <a:t>1</a:t>
            </a:r>
            <a:r>
              <a:rPr lang="zh-CN" altLang="en-US" sz="4000" dirty="0">
                <a:ea typeface="MS Mincho" panose="02020609040205080304" pitchFamily="49" charset="-128"/>
              </a:rPr>
              <a:t>：啤酒与尿布</a:t>
            </a:r>
            <a:endParaRPr lang="en-US" altLang="en-US" sz="4000" dirty="0">
              <a:ea typeface="MS Mincho" panose="02020609040205080304" pitchFamily="49" charset="-128"/>
            </a:endParaRP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119660FF-264D-43C8-8FE9-348F38A08EC6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48748" y="1196975"/>
            <a:ext cx="8790452" cy="42672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zh-CN" altLang="en-US" dirty="0"/>
              <a:t>全球零售业巨头沃尔玛在对消费者购物行为分析时发现，男性顾客在购买婴儿尿片时，常常会顺便搭配几瓶啤酒来犒劳自己，于是尝试推出了将啤酒和尿布摆在一起的促销手段。没想到这个举措居然使尿布和啤酒的销量都大幅增加了。如今，“啤酒＋尿布”的数据分析成果早已成了大数据技术应用的经典案例，被人津津乐道。</a:t>
            </a: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0ED41B-389B-4F6F-9508-7528924A5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Introduction to Data Mining, 2nd Edition   Tan, Steinbach, </a:t>
            </a:r>
            <a:r>
              <a:rPr lang="en-US" dirty="0" err="1"/>
              <a:t>Karpatne</a:t>
            </a:r>
            <a:r>
              <a:rPr lang="en-US" dirty="0"/>
              <a:t>, Kumar</a:t>
            </a:r>
          </a:p>
        </p:txBody>
      </p:sp>
      <p:sp>
        <p:nvSpPr>
          <p:cNvPr id="5136" name="Slide Number Placeholder 3">
            <a:extLst>
              <a:ext uri="{FF2B5EF4-FFF2-40B4-BE49-F238E27FC236}">
                <a16:creationId xmlns:a16="http://schemas.microsoft.com/office/drawing/2014/main" id="{13AFF105-0AAF-4DE6-BA9C-B6F215242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7A3B503-89C5-494F-9796-3C11885069F9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</a:t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D16DC-0A4F-4D28-9B54-468A28BB6B1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09/09/2020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621814AE-9A96-4D7C-88FB-FA98442BF58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152400"/>
            <a:ext cx="8534400" cy="533400"/>
          </a:xfrm>
        </p:spPr>
        <p:txBody>
          <a:bodyPr/>
          <a:lstStyle/>
          <a:p>
            <a:pPr eaLnBrk="1" hangingPunct="1"/>
            <a:r>
              <a:rPr lang="zh-CN" altLang="en-US" sz="4000" dirty="0">
                <a:ea typeface="MS Mincho" panose="02020609040205080304" pitchFamily="49" charset="-128"/>
              </a:rPr>
              <a:t>案例</a:t>
            </a:r>
            <a:r>
              <a:rPr lang="en-US" altLang="zh-CN" sz="4000" dirty="0">
                <a:ea typeface="MS Mincho" panose="02020609040205080304" pitchFamily="49" charset="-128"/>
              </a:rPr>
              <a:t>2</a:t>
            </a:r>
            <a:r>
              <a:rPr lang="zh-CN" altLang="en-US" sz="4000" dirty="0">
                <a:ea typeface="MS Mincho" panose="02020609040205080304" pitchFamily="49" charset="-128"/>
              </a:rPr>
              <a:t>：</a:t>
            </a:r>
            <a:r>
              <a:rPr lang="en-US" altLang="zh-CN" sz="4000" dirty="0">
                <a:ea typeface="MS Mincho" panose="02020609040205080304" pitchFamily="49" charset="-128"/>
              </a:rPr>
              <a:t>Google</a:t>
            </a:r>
            <a:r>
              <a:rPr lang="zh-CN" altLang="en-US" sz="4000" dirty="0">
                <a:ea typeface="MS Mincho" panose="02020609040205080304" pitchFamily="49" charset="-128"/>
              </a:rPr>
              <a:t>成功预测冬季流感</a:t>
            </a:r>
            <a:endParaRPr lang="en-US" altLang="en-US" sz="4000" dirty="0">
              <a:ea typeface="MS Mincho" panose="02020609040205080304" pitchFamily="49" charset="-128"/>
            </a:endParaRP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119660FF-264D-43C8-8FE9-348F38A08EC6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21231" y="1066800"/>
            <a:ext cx="8790452" cy="2819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zh-CN" sz="2400" dirty="0"/>
              <a:t>2009</a:t>
            </a:r>
            <a:r>
              <a:rPr lang="zh-CN" altLang="en-US" sz="2400" dirty="0"/>
              <a:t>年，</a:t>
            </a:r>
            <a:r>
              <a:rPr lang="en-US" altLang="zh-CN" sz="2400" dirty="0"/>
              <a:t>Google</a:t>
            </a:r>
            <a:r>
              <a:rPr lang="zh-CN" altLang="en-US" sz="2400" dirty="0"/>
              <a:t>通过分析</a:t>
            </a:r>
            <a:r>
              <a:rPr lang="en-US" altLang="zh-CN" sz="2400" dirty="0"/>
              <a:t>5000</a:t>
            </a:r>
            <a:r>
              <a:rPr lang="zh-CN" altLang="en-US" sz="2400" dirty="0"/>
              <a:t>万条美国人最频繁检索的词汇，将之和美国疾病中心在</a:t>
            </a:r>
            <a:r>
              <a:rPr lang="en-US" altLang="zh-CN" sz="2400" dirty="0"/>
              <a:t>2003</a:t>
            </a:r>
            <a:r>
              <a:rPr lang="zh-CN" altLang="en-US" sz="2400" dirty="0"/>
              <a:t>年到</a:t>
            </a:r>
            <a:r>
              <a:rPr lang="en-US" altLang="zh-CN" sz="2400" dirty="0"/>
              <a:t>2008</a:t>
            </a:r>
            <a:r>
              <a:rPr lang="zh-CN" altLang="en-US" sz="2400" dirty="0"/>
              <a:t>年间季节性流感传播时期的数据进行比较，并建立一个特定的数学模型。最终</a:t>
            </a:r>
            <a:r>
              <a:rPr lang="en-US" altLang="zh-CN" sz="2400" dirty="0"/>
              <a:t>google</a:t>
            </a:r>
            <a:r>
              <a:rPr lang="zh-CN" altLang="en-US" sz="2400" dirty="0"/>
              <a:t>成功预测了</a:t>
            </a:r>
            <a:r>
              <a:rPr lang="en-US" altLang="zh-CN" sz="2400" dirty="0"/>
              <a:t>2009</a:t>
            </a:r>
            <a:r>
              <a:rPr lang="zh-CN" altLang="en-US" sz="2400" dirty="0"/>
              <a:t>冬季流感的传播甚至可以具体到特定的地区和州。</a:t>
            </a:r>
            <a:endParaRPr lang="en-US" altLang="en-US" sz="240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0ED41B-389B-4F6F-9508-7528924A5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Introduction to Data Mining, 2nd Edition   Tan, Steinbach, </a:t>
            </a:r>
            <a:r>
              <a:rPr lang="en-US" dirty="0" err="1"/>
              <a:t>Karpatne</a:t>
            </a:r>
            <a:r>
              <a:rPr lang="en-US" dirty="0"/>
              <a:t>, Kumar</a:t>
            </a:r>
          </a:p>
        </p:txBody>
      </p:sp>
      <p:sp>
        <p:nvSpPr>
          <p:cNvPr id="5136" name="Slide Number Placeholder 3">
            <a:extLst>
              <a:ext uri="{FF2B5EF4-FFF2-40B4-BE49-F238E27FC236}">
                <a16:creationId xmlns:a16="http://schemas.microsoft.com/office/drawing/2014/main" id="{13AFF105-0AAF-4DE6-BA9C-B6F215242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7A3B503-89C5-494F-9796-3C11885069F9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</a:t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D16DC-0A4F-4D28-9B54-468A28BB6B1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09/09/2020</a:t>
            </a:r>
          </a:p>
        </p:txBody>
      </p:sp>
      <p:pic>
        <p:nvPicPr>
          <p:cNvPr id="40962" name="Picture 2" descr="http://5b0988e595225.cdn.sohucs.com/images/20190126/2032e3f5d5c74ddca86916d1dd9a4039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9" y="3886200"/>
            <a:ext cx="8530683" cy="2821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5951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621814AE-9A96-4D7C-88FB-FA98442BF58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152400"/>
            <a:ext cx="8534400" cy="533400"/>
          </a:xfrm>
        </p:spPr>
        <p:txBody>
          <a:bodyPr/>
          <a:lstStyle/>
          <a:p>
            <a:pPr eaLnBrk="1" hangingPunct="1"/>
            <a:r>
              <a:rPr lang="zh-CN" altLang="en-US" sz="4000" dirty="0">
                <a:ea typeface="MS Mincho" panose="02020609040205080304" pitchFamily="49" charset="-128"/>
              </a:rPr>
              <a:t>案例</a:t>
            </a:r>
            <a:r>
              <a:rPr lang="en-US" altLang="zh-CN" sz="4000" dirty="0">
                <a:ea typeface="MS Mincho" panose="02020609040205080304" pitchFamily="49" charset="-128"/>
              </a:rPr>
              <a:t>3</a:t>
            </a:r>
            <a:r>
              <a:rPr lang="zh-CN" altLang="en-US" sz="4000" dirty="0">
                <a:ea typeface="MS Mincho" panose="02020609040205080304" pitchFamily="49" charset="-128"/>
              </a:rPr>
              <a:t>：大数据与乔布斯癌症治疗</a:t>
            </a:r>
            <a:endParaRPr lang="en-US" altLang="en-US" sz="4000" dirty="0">
              <a:ea typeface="MS Mincho" panose="02020609040205080304" pitchFamily="49" charset="-128"/>
            </a:endParaRP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119660FF-264D-43C8-8FE9-348F38A08EC6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21231" y="1066800"/>
            <a:ext cx="8790452" cy="2819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zh-CN" altLang="en-US" sz="2400" dirty="0"/>
              <a:t>乔布斯是世界上第一个对自身所有</a:t>
            </a:r>
            <a:r>
              <a:rPr lang="en-US" altLang="zh-CN" sz="2400" dirty="0"/>
              <a:t>DNA</a:t>
            </a:r>
            <a:r>
              <a:rPr lang="zh-CN" altLang="en-US" sz="2400" dirty="0"/>
              <a:t>和肿瘤</a:t>
            </a:r>
            <a:r>
              <a:rPr lang="en-US" altLang="zh-CN" sz="2400" dirty="0"/>
              <a:t>DNA</a:t>
            </a:r>
            <a:r>
              <a:rPr lang="zh-CN" altLang="en-US" sz="2400" dirty="0"/>
              <a:t>进行排序的人。为此，他支付了高达几十万美元的费用。他得到的不是样本，而是包括整个基因的数据文档。医生按照所有基因按需下药，最终这种方式帮助乔布斯延长了好几年的生命。</a:t>
            </a:r>
            <a:endParaRPr lang="en-US" altLang="en-US" sz="200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0ED41B-389B-4F6F-9508-7528924A5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Introduction to Data Mining, 2nd Edition   Tan, Steinbach, </a:t>
            </a:r>
            <a:r>
              <a:rPr lang="en-US" dirty="0" err="1"/>
              <a:t>Karpatne</a:t>
            </a:r>
            <a:r>
              <a:rPr lang="en-US" dirty="0"/>
              <a:t>, Kumar</a:t>
            </a:r>
          </a:p>
        </p:txBody>
      </p:sp>
      <p:sp>
        <p:nvSpPr>
          <p:cNvPr id="5136" name="Slide Number Placeholder 3">
            <a:extLst>
              <a:ext uri="{FF2B5EF4-FFF2-40B4-BE49-F238E27FC236}">
                <a16:creationId xmlns:a16="http://schemas.microsoft.com/office/drawing/2014/main" id="{13AFF105-0AAF-4DE6-BA9C-B6F215242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7A3B503-89C5-494F-9796-3C11885069F9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7</a:t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D16DC-0A4F-4D28-9B54-468A28BB6B1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09/09/2020</a:t>
            </a:r>
          </a:p>
        </p:txBody>
      </p:sp>
      <p:pic>
        <p:nvPicPr>
          <p:cNvPr id="43010" name="Picture 2" descr="http://5b0988e595225.cdn.sohucs.com/images/20190126/efbca59db0db458aa0476ffc0f576156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730" y="3307902"/>
            <a:ext cx="7959454" cy="3550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3858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621814AE-9A96-4D7C-88FB-FA98442BF58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152400"/>
            <a:ext cx="8534400" cy="533400"/>
          </a:xfrm>
        </p:spPr>
        <p:txBody>
          <a:bodyPr/>
          <a:lstStyle/>
          <a:p>
            <a:pPr eaLnBrk="1" hangingPunct="1"/>
            <a:r>
              <a:rPr lang="zh-CN" altLang="en-US" sz="4000" dirty="0">
                <a:ea typeface="MS Mincho" panose="02020609040205080304" pitchFamily="49" charset="-128"/>
              </a:rPr>
              <a:t>案例</a:t>
            </a:r>
            <a:r>
              <a:rPr lang="en-US" altLang="zh-CN" sz="4000" dirty="0">
                <a:ea typeface="MS Mincho" panose="02020609040205080304" pitchFamily="49" charset="-128"/>
              </a:rPr>
              <a:t>4</a:t>
            </a:r>
            <a:r>
              <a:rPr lang="zh-CN" altLang="en-US" sz="4000" dirty="0">
                <a:ea typeface="MS Mincho" panose="02020609040205080304" pitchFamily="49" charset="-128"/>
              </a:rPr>
              <a:t>：奥巴马大选连任成功</a:t>
            </a:r>
            <a:endParaRPr lang="en-US" altLang="en-US" sz="4000" dirty="0">
              <a:ea typeface="MS Mincho" panose="02020609040205080304" pitchFamily="49" charset="-128"/>
            </a:endParaRP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119660FF-264D-43C8-8FE9-348F38A08EC6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21231" y="1066800"/>
            <a:ext cx="8790452" cy="2819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zh-CN" sz="2000" dirty="0"/>
              <a:t>2012</a:t>
            </a:r>
            <a:r>
              <a:rPr lang="zh-CN" altLang="en-US" sz="2000" dirty="0"/>
              <a:t>年</a:t>
            </a:r>
            <a:r>
              <a:rPr lang="en-US" altLang="zh-CN" sz="2000" dirty="0"/>
              <a:t>11</a:t>
            </a:r>
            <a:r>
              <a:rPr lang="zh-CN" altLang="en-US" sz="2000" dirty="0"/>
              <a:t>月奥巴马大选连任成功的胜利果实也被归功于大数据，因为他的竞选团队进行了大规模与深入的数据挖掘。时代杂志更是断言，依靠直觉与经验进行决策的优势急剧下降，在政治领域，大数据的时代已经到来；各色媒体、论坛、专家铺天盖地的宣传让人们对大数据时代的来临兴奋不已，无数公司和创业者都纷纷跳进了这个狂欢队伍。</a:t>
            </a:r>
            <a:endParaRPr lang="en-US" altLang="en-US" sz="180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0ED41B-389B-4F6F-9508-7528924A5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Introduction to Data Mining, 2nd Edition   Tan, Steinbach, </a:t>
            </a:r>
            <a:r>
              <a:rPr lang="en-US" dirty="0" err="1"/>
              <a:t>Karpatne</a:t>
            </a:r>
            <a:r>
              <a:rPr lang="en-US" dirty="0"/>
              <a:t>, Kumar</a:t>
            </a:r>
          </a:p>
        </p:txBody>
      </p:sp>
      <p:sp>
        <p:nvSpPr>
          <p:cNvPr id="5136" name="Slide Number Placeholder 3">
            <a:extLst>
              <a:ext uri="{FF2B5EF4-FFF2-40B4-BE49-F238E27FC236}">
                <a16:creationId xmlns:a16="http://schemas.microsoft.com/office/drawing/2014/main" id="{13AFF105-0AAF-4DE6-BA9C-B6F215242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7A3B503-89C5-494F-9796-3C11885069F9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8</a:t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D16DC-0A4F-4D28-9B54-468A28BB6B1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09/09/2020</a:t>
            </a:r>
          </a:p>
        </p:txBody>
      </p:sp>
      <p:pic>
        <p:nvPicPr>
          <p:cNvPr id="44034" name="Picture 2" descr="http://5b0988e595225.cdn.sohucs.com/images/20190126/b990f43aafcd4abc9c8276627c5a05de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9" y="3429001"/>
            <a:ext cx="8530683" cy="3292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9046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621814AE-9A96-4D7C-88FB-FA98442BF58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152400"/>
            <a:ext cx="8534400" cy="533400"/>
          </a:xfrm>
        </p:spPr>
        <p:txBody>
          <a:bodyPr/>
          <a:lstStyle/>
          <a:p>
            <a:pPr eaLnBrk="1" hangingPunct="1"/>
            <a:r>
              <a:rPr lang="zh-CN" altLang="en-US" sz="4000" dirty="0">
                <a:ea typeface="MS Mincho" panose="02020609040205080304" pitchFamily="49" charset="-128"/>
              </a:rPr>
              <a:t>案例</a:t>
            </a:r>
            <a:r>
              <a:rPr lang="en-US" altLang="zh-CN" sz="4000" dirty="0">
                <a:ea typeface="MS Mincho" panose="02020609040205080304" pitchFamily="49" charset="-128"/>
              </a:rPr>
              <a:t>5</a:t>
            </a:r>
            <a:r>
              <a:rPr lang="zh-CN" altLang="en-US" sz="4000" dirty="0">
                <a:ea typeface="MS Mincho" panose="02020609040205080304" pitchFamily="49" charset="-128"/>
              </a:rPr>
              <a:t>：超市预知高中生顾客怀孕</a:t>
            </a:r>
            <a:endParaRPr lang="en-US" altLang="en-US" sz="4000" dirty="0">
              <a:ea typeface="MS Mincho" panose="02020609040205080304" pitchFamily="49" charset="-128"/>
            </a:endParaRP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119660FF-264D-43C8-8FE9-348F38A08EC6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21231" y="1066800"/>
            <a:ext cx="8790452" cy="48006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zh-CN" altLang="en-US" dirty="0"/>
              <a:t>明尼苏达州一家塔吉特门店被客户投诉，一位中年男子指控塔吉特将婴儿产品优惠券寄给他的女儿</a:t>
            </a:r>
            <a:r>
              <a:rPr lang="en-US" altLang="zh-CN" dirty="0"/>
              <a:t>——</a:t>
            </a:r>
            <a:r>
              <a:rPr lang="zh-CN" altLang="en-US" dirty="0"/>
              <a:t>一个高中生。但没多久他却来电道歉，因为女儿经他逼问后坦承自己真的怀孕了。塔吉特百货就是靠着分析用户所有的购物数据，然后通过相关关系分析得出事情的真实状况。</a:t>
            </a:r>
            <a:endParaRPr lang="en-US" altLang="zh-CN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zh-CN" altLang="en-US" dirty="0"/>
              <a:t>淘宝、京东的购物推荐，以及跨平台推荐</a:t>
            </a:r>
            <a:endParaRPr lang="en-US" alt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0ED41B-389B-4F6F-9508-7528924A5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Introduction to Data Mining, 2nd Edition   Tan, Steinbach, </a:t>
            </a:r>
            <a:r>
              <a:rPr lang="en-US" dirty="0" err="1"/>
              <a:t>Karpatne</a:t>
            </a:r>
            <a:r>
              <a:rPr lang="en-US" dirty="0"/>
              <a:t>, Kumar</a:t>
            </a:r>
          </a:p>
        </p:txBody>
      </p:sp>
      <p:sp>
        <p:nvSpPr>
          <p:cNvPr id="5136" name="Slide Number Placeholder 3">
            <a:extLst>
              <a:ext uri="{FF2B5EF4-FFF2-40B4-BE49-F238E27FC236}">
                <a16:creationId xmlns:a16="http://schemas.microsoft.com/office/drawing/2014/main" id="{13AFF105-0AAF-4DE6-BA9C-B6F215242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7A3B503-89C5-494F-9796-3C11885069F9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9</a:t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D16DC-0A4F-4D28-9B54-468A28BB6B1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09/09/2020</a:t>
            </a:r>
          </a:p>
        </p:txBody>
      </p:sp>
    </p:spTree>
    <p:extLst>
      <p:ext uri="{BB962C8B-B14F-4D97-AF65-F5344CB8AC3E}">
        <p14:creationId xmlns:p14="http://schemas.microsoft.com/office/powerpoint/2010/main" val="2332755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5" descr="story-3dimensional-2">
            <a:extLst>
              <a:ext uri="{FF2B5EF4-FFF2-40B4-BE49-F238E27FC236}">
                <a16:creationId xmlns:a16="http://schemas.microsoft.com/office/drawing/2014/main" id="{EE4BD35F-8EA6-4E9D-81D1-D209E1669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1195388"/>
            <a:ext cx="1676400" cy="120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Rectangle 2">
            <a:extLst>
              <a:ext uri="{FF2B5EF4-FFF2-40B4-BE49-F238E27FC236}">
                <a16:creationId xmlns:a16="http://schemas.microsoft.com/office/drawing/2014/main" id="{621814AE-9A96-4D7C-88FB-FA98442BF58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152400"/>
            <a:ext cx="8534400" cy="533400"/>
          </a:xfrm>
        </p:spPr>
        <p:txBody>
          <a:bodyPr/>
          <a:lstStyle/>
          <a:p>
            <a:pPr eaLnBrk="1" hangingPunct="1"/>
            <a:r>
              <a:rPr lang="zh-CN" altLang="en-US" sz="4000" dirty="0">
                <a:latin typeface="黑体" panose="02010609060101010101" pitchFamily="49" charset="-122"/>
                <a:ea typeface="黑体" panose="02010609060101010101" pitchFamily="49" charset="-122"/>
              </a:rPr>
              <a:t>大数据无处不在</a:t>
            </a:r>
            <a:endParaRPr lang="en-US" altLang="en-US" sz="4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119660FF-264D-43C8-8FE9-348F38A08EC6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411163" y="1295400"/>
            <a:ext cx="4084637" cy="42672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zh-CN" altLang="en-US" sz="2000" dirty="0"/>
              <a:t>数据生成与存储技术的发展，在商业和科技领域，产生了海量的数据，且体量还在增长！</a:t>
            </a:r>
            <a:endParaRPr lang="en-US" altLang="zh-CN" sz="2000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zh-CN" altLang="en-US" sz="2000" dirty="0"/>
              <a:t>中国</a:t>
            </a:r>
            <a:r>
              <a:rPr lang="en-US" altLang="zh-CN" sz="2000" dirty="0"/>
              <a:t>40</a:t>
            </a:r>
            <a:r>
              <a:rPr lang="zh-CN" altLang="en-US" sz="2000" dirty="0"/>
              <a:t>万个数据中心，每年耗电量超过</a:t>
            </a:r>
            <a:r>
              <a:rPr lang="en-US" altLang="zh-CN" sz="2000" dirty="0"/>
              <a:t>1000</a:t>
            </a:r>
            <a:r>
              <a:rPr lang="zh-CN" altLang="en-US" sz="2000" dirty="0"/>
              <a:t>亿度</a:t>
            </a:r>
            <a:r>
              <a:rPr lang="en-US" altLang="zh-CN" sz="2000" dirty="0"/>
              <a:t>=</a:t>
            </a:r>
            <a:r>
              <a:rPr lang="zh-CN" altLang="en-US" sz="2000" dirty="0"/>
              <a:t>三峡</a:t>
            </a:r>
            <a:r>
              <a:rPr lang="en-US" altLang="zh-CN" sz="2000" dirty="0"/>
              <a:t>+</a:t>
            </a:r>
            <a:r>
              <a:rPr lang="zh-CN" altLang="en-US" sz="2000" dirty="0"/>
              <a:t>葛洲坝</a:t>
            </a:r>
            <a:endParaRPr lang="en-US" altLang="en-US" sz="2000" dirty="0"/>
          </a:p>
          <a:p>
            <a:pPr eaLnBrk="1" hangingPunct="1">
              <a:lnSpc>
                <a:spcPct val="150000"/>
              </a:lnSpc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zh-CN" altLang="en-US" sz="2000" dirty="0"/>
              <a:t>新的咒语</a:t>
            </a:r>
            <a:endParaRPr lang="en-US" altLang="en-US" sz="2000" dirty="0"/>
          </a:p>
          <a:p>
            <a:pPr lvl="1" eaLnBrk="1" hangingPunct="1">
              <a:lnSpc>
                <a:spcPct val="150000"/>
              </a:lnSpc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Gather whatever data you can whenever and wherever possible.</a:t>
            </a:r>
            <a:endParaRPr lang="en-US" altLang="en-US" sz="200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5125" name="Text Box 4">
            <a:extLst>
              <a:ext uri="{FF2B5EF4-FFF2-40B4-BE49-F238E27FC236}">
                <a16:creationId xmlns:a16="http://schemas.microsoft.com/office/drawing/2014/main" id="{D4757DBE-D8FA-4A76-B812-2C699FBCB3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0063" y="6019800"/>
            <a:ext cx="22939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</a:pPr>
            <a:r>
              <a:rPr lang="en-US" altLang="en-US" sz="1400" i="1">
                <a:latin typeface="Helvetica" pitchFamily="34" charset="0"/>
                <a:cs typeface="Arial" panose="020B0604020202020204" pitchFamily="34" charset="0"/>
              </a:rPr>
              <a:t>Computational Simulations</a:t>
            </a:r>
            <a:endParaRPr lang="en-US" altLang="en-US" sz="1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126" name="Text Box 5">
            <a:extLst>
              <a:ext uri="{FF2B5EF4-FFF2-40B4-BE49-F238E27FC236}">
                <a16:creationId xmlns:a16="http://schemas.microsoft.com/office/drawing/2014/main" id="{24D14490-4BE0-46A1-A6B9-E8022DF443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8625" y="4267200"/>
            <a:ext cx="23653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</a:pPr>
            <a:r>
              <a:rPr lang="en-US" altLang="en-US" sz="1200" i="1">
                <a:latin typeface="Helvetica" pitchFamily="34" charset="0"/>
                <a:cs typeface="Arial" panose="020B0604020202020204" pitchFamily="34" charset="0"/>
              </a:rPr>
              <a:t>Social Networking: Twitter </a:t>
            </a:r>
            <a:endParaRPr lang="en-US" altLang="en-US" sz="2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5127" name="Picture 6" descr="crop">
            <a:extLst>
              <a:ext uri="{FF2B5EF4-FFF2-40B4-BE49-F238E27FC236}">
                <a16:creationId xmlns:a16="http://schemas.microsoft.com/office/drawing/2014/main" id="{EF19A9BB-A114-4246-A7F1-779828FDE9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4876800"/>
            <a:ext cx="1905000" cy="110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8" name="Picture 13">
            <a:extLst>
              <a:ext uri="{FF2B5EF4-FFF2-40B4-BE49-F238E27FC236}">
                <a16:creationId xmlns:a16="http://schemas.microsoft.com/office/drawing/2014/main" id="{D2F8590B-6387-4657-B588-659FE17C1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t="2650" r="946" b="2745"/>
          <a:stretch>
            <a:fillRect/>
          </a:stretch>
        </p:blipFill>
        <p:spPr bwMode="auto">
          <a:xfrm>
            <a:off x="4824413" y="4800600"/>
            <a:ext cx="1500187" cy="126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9" name="Text Box 14">
            <a:extLst>
              <a:ext uri="{FF2B5EF4-FFF2-40B4-BE49-F238E27FC236}">
                <a16:creationId xmlns:a16="http://schemas.microsoft.com/office/drawing/2014/main" id="{7D7B641C-5365-499C-920A-45B0C7012B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6019800"/>
            <a:ext cx="15779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</a:pPr>
            <a:r>
              <a:rPr lang="en-US" altLang="en-US" sz="1400" i="1">
                <a:latin typeface="Helvetica" pitchFamily="34" charset="0"/>
                <a:cs typeface="Arial" panose="020B0604020202020204" pitchFamily="34" charset="0"/>
              </a:rPr>
              <a:t>Sensor Networks</a:t>
            </a:r>
            <a:r>
              <a:rPr lang="en-US" altLang="en-US" sz="1200" i="1">
                <a:latin typeface="Helvetica" pitchFamily="34" charset="0"/>
                <a:cs typeface="Arial" panose="020B0604020202020204" pitchFamily="34" charset="0"/>
              </a:rPr>
              <a:t> </a:t>
            </a:r>
            <a:endParaRPr lang="en-US" altLang="en-US" sz="2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5130" name="Picture 20">
            <a:extLst>
              <a:ext uri="{FF2B5EF4-FFF2-40B4-BE49-F238E27FC236}">
                <a16:creationId xmlns:a16="http://schemas.microsoft.com/office/drawing/2014/main" id="{D78F6E39-69BA-4B0E-A988-927C910A1C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9" t="1334" r="5765" b="969"/>
          <a:stretch>
            <a:fillRect/>
          </a:stretch>
        </p:blipFill>
        <p:spPr bwMode="auto">
          <a:xfrm>
            <a:off x="4876800" y="1219200"/>
            <a:ext cx="1778000" cy="153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1" name="Text Box 21">
            <a:extLst>
              <a:ext uri="{FF2B5EF4-FFF2-40B4-BE49-F238E27FC236}">
                <a16:creationId xmlns:a16="http://schemas.microsoft.com/office/drawing/2014/main" id="{740CEEBE-BA4E-4595-A5AD-0AA4294DE4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4267200"/>
            <a:ext cx="2209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</a:pPr>
            <a:r>
              <a:rPr lang="en-US" altLang="en-US" sz="1400" i="1">
                <a:latin typeface="Helvetica" pitchFamily="34" charset="0"/>
                <a:cs typeface="Arial" panose="020B0604020202020204" pitchFamily="34" charset="0"/>
              </a:rPr>
              <a:t>Traffic Patterns</a:t>
            </a:r>
            <a:endParaRPr lang="en-US" altLang="en-US" sz="1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132" name="Text Box 23">
            <a:extLst>
              <a:ext uri="{FF2B5EF4-FFF2-40B4-BE49-F238E27FC236}">
                <a16:creationId xmlns:a16="http://schemas.microsoft.com/office/drawing/2014/main" id="{3DAE2859-5381-428F-97FA-B826C32134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514600"/>
            <a:ext cx="23653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</a:pPr>
            <a:r>
              <a:rPr lang="en-US" altLang="en-US" sz="1400" i="1">
                <a:latin typeface="Helvetica" pitchFamily="34" charset="0"/>
                <a:cs typeface="Arial" panose="020B0604020202020204" pitchFamily="34" charset="0"/>
              </a:rPr>
              <a:t>Cyber Security</a:t>
            </a:r>
            <a:r>
              <a:rPr lang="en-US" altLang="en-US" sz="1200" i="1">
                <a:latin typeface="Helvetica" pitchFamily="34" charset="0"/>
                <a:cs typeface="Arial" panose="020B0604020202020204" pitchFamily="34" charset="0"/>
              </a:rPr>
              <a:t> </a:t>
            </a:r>
            <a:endParaRPr lang="en-US" altLang="en-US" sz="2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5133" name="Object 3">
            <a:extLst>
              <a:ext uri="{FF2B5EF4-FFF2-40B4-BE49-F238E27FC236}">
                <a16:creationId xmlns:a16="http://schemas.microsoft.com/office/drawing/2014/main" id="{E4E34085-9F77-442B-99B2-075EDA2860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34200" y="1681163"/>
          <a:ext cx="647700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VISIO" r:id="rId8" imgW="617220" imgH="615696" progId="Visio.Drawing.11">
                  <p:embed/>
                </p:oleObj>
              </mc:Choice>
              <mc:Fallback>
                <p:oleObj name="VISIO" r:id="rId8" imgW="617220" imgH="615696" progId="Visio.Drawing.11">
                  <p:embed/>
                  <p:pic>
                    <p:nvPicPr>
                      <p:cNvPr id="5133" name="Object 3">
                        <a:extLst>
                          <a:ext uri="{FF2B5EF4-FFF2-40B4-BE49-F238E27FC236}">
                            <a16:creationId xmlns:a16="http://schemas.microsoft.com/office/drawing/2014/main" id="{E4E34085-9F77-442B-99B2-075EDA2860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1681163"/>
                        <a:ext cx="647700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4" name="Object 4">
            <a:extLst>
              <a:ext uri="{FF2B5EF4-FFF2-40B4-BE49-F238E27FC236}">
                <a16:creationId xmlns:a16="http://schemas.microsoft.com/office/drawing/2014/main" id="{95C8F9BA-D678-452D-8AE3-A30278942B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18325" y="1295400"/>
          <a:ext cx="6477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VISIO" r:id="rId10" imgW="806196" imgH="662940" progId="Visio.Drawing.11">
                  <p:embed/>
                </p:oleObj>
              </mc:Choice>
              <mc:Fallback>
                <p:oleObj name="VISIO" r:id="rId10" imgW="806196" imgH="662940" progId="Visio.Drawing.11">
                  <p:embed/>
                  <p:pic>
                    <p:nvPicPr>
                      <p:cNvPr id="5134" name="Object 4">
                        <a:extLst>
                          <a:ext uri="{FF2B5EF4-FFF2-40B4-BE49-F238E27FC236}">
                            <a16:creationId xmlns:a16="http://schemas.microsoft.com/office/drawing/2014/main" id="{95C8F9BA-D678-452D-8AE3-A30278942B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8325" y="1295400"/>
                        <a:ext cx="6477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0ED41B-389B-4F6F-9508-7528924A5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Introduction to Data Mining, 2nd Edition   Tan, Steinbach, </a:t>
            </a:r>
            <a:r>
              <a:rPr lang="en-US" dirty="0" err="1"/>
              <a:t>Karpatne</a:t>
            </a:r>
            <a:r>
              <a:rPr lang="en-US" dirty="0"/>
              <a:t>, Kumar</a:t>
            </a:r>
          </a:p>
        </p:txBody>
      </p:sp>
      <p:sp>
        <p:nvSpPr>
          <p:cNvPr id="5136" name="Slide Number Placeholder 3">
            <a:extLst>
              <a:ext uri="{FF2B5EF4-FFF2-40B4-BE49-F238E27FC236}">
                <a16:creationId xmlns:a16="http://schemas.microsoft.com/office/drawing/2014/main" id="{13AFF105-0AAF-4DE6-BA9C-B6F215242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7A3B503-89C5-494F-9796-3C11885069F9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10</a:t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D16DC-0A4F-4D28-9B54-468A28BB6B1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09/09/2020</a:t>
            </a:r>
          </a:p>
        </p:txBody>
      </p:sp>
      <p:sp>
        <p:nvSpPr>
          <p:cNvPr id="5138" name="Text Box 23">
            <a:extLst>
              <a:ext uri="{FF2B5EF4-FFF2-40B4-BE49-F238E27FC236}">
                <a16:creationId xmlns:a16="http://schemas.microsoft.com/office/drawing/2014/main" id="{6A30F451-F56F-42DC-B0E3-87DFF7F1BF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6188" y="2355850"/>
            <a:ext cx="23653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</a:pPr>
            <a:r>
              <a:rPr lang="en-US" altLang="en-US" sz="1400" i="1">
                <a:latin typeface="Helvetica" pitchFamily="34" charset="0"/>
                <a:cs typeface="Arial" panose="020B0604020202020204" pitchFamily="34" charset="0"/>
              </a:rPr>
              <a:t>E-Commerce</a:t>
            </a:r>
            <a:endParaRPr lang="en-US" altLang="en-US" sz="2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5139" name="Picture 20">
            <a:extLst>
              <a:ext uri="{FF2B5EF4-FFF2-40B4-BE49-F238E27FC236}">
                <a16:creationId xmlns:a16="http://schemas.microsoft.com/office/drawing/2014/main" id="{47C93BD9-A67C-4F8B-8EF9-0CA0C35646F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7663" y="2955925"/>
            <a:ext cx="2378075" cy="117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40" name="Picture 18" descr="http://images.ezgif.com/tmp/gif_232x188_6af960.gif">
            <a:extLst>
              <a:ext uri="{FF2B5EF4-FFF2-40B4-BE49-F238E27FC236}">
                <a16:creationId xmlns:a16="http://schemas.microsoft.com/office/drawing/2014/main" id="{8CA1DD4C-BA2A-4DF5-8E36-076E1F5674E8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0" y="2944813"/>
            <a:ext cx="1436688" cy="11636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1219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2F86576-2D13-40B3-AC55-D0A85EE7B2F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763000" cy="838200"/>
          </a:xfrm>
        </p:spPr>
        <p:txBody>
          <a:bodyPr/>
          <a:lstStyle/>
          <a:p>
            <a:pPr eaLnBrk="1" hangingPunct="1"/>
            <a:r>
              <a:rPr lang="zh-CN" altLang="en-US" dirty="0"/>
              <a:t>为什么需要数据挖掘？从商业角度分析</a:t>
            </a:r>
            <a:endParaRPr lang="en-US" altLang="en-US" dirty="0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A586BA17-039E-42B4-8D34-ABEB2D64829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92100" y="1143000"/>
            <a:ext cx="8318500" cy="5181600"/>
          </a:xfrm>
        </p:spPr>
        <p:txBody>
          <a:bodyPr/>
          <a:lstStyle/>
          <a:p>
            <a:pPr eaLnBrk="1" hangingPunct="1"/>
            <a:r>
              <a:rPr lang="zh-CN" altLang="en-US" sz="2400" b="1" dirty="0"/>
              <a:t>大量数据正在被采集和存储</a:t>
            </a:r>
            <a:r>
              <a:rPr lang="en-US" altLang="en-US" sz="2400" b="1" dirty="0"/>
              <a:t> </a:t>
            </a:r>
          </a:p>
          <a:p>
            <a:pPr lvl="1" eaLnBrk="1" hangingPunct="1"/>
            <a:r>
              <a:rPr lang="zh-CN" altLang="en-US" sz="2000" dirty="0"/>
              <a:t>社交网络</a:t>
            </a:r>
            <a:endParaRPr lang="en-US" altLang="en-US" sz="2000" dirty="0"/>
          </a:p>
          <a:p>
            <a:pPr lvl="2" eaLnBrk="1" hangingPunct="1"/>
            <a:r>
              <a:rPr lang="en-US" altLang="en-US" sz="1800" dirty="0"/>
              <a:t>Google</a:t>
            </a:r>
            <a:r>
              <a:rPr lang="zh-CN" altLang="en-US" sz="1800" dirty="0"/>
              <a:t>拥有</a:t>
            </a:r>
            <a:r>
              <a:rPr lang="en-US" altLang="en-US" sz="1800" dirty="0"/>
              <a:t>PB</a:t>
            </a:r>
            <a:r>
              <a:rPr lang="zh-CN" altLang="en-US" sz="1800" dirty="0"/>
              <a:t>级的网络数据</a:t>
            </a:r>
            <a:endParaRPr lang="en-US" altLang="en-US" sz="1800" dirty="0"/>
          </a:p>
          <a:p>
            <a:pPr lvl="2" eaLnBrk="1" hangingPunct="1"/>
            <a:r>
              <a:rPr lang="en-US" altLang="en-US" sz="1800" dirty="0"/>
              <a:t>Facebook</a:t>
            </a:r>
            <a:r>
              <a:rPr lang="zh-CN" altLang="en-US" sz="1800" dirty="0"/>
              <a:t>拥有数十亿用户</a:t>
            </a:r>
            <a:endParaRPr lang="en-US" altLang="zh-CN" sz="1800" dirty="0"/>
          </a:p>
          <a:p>
            <a:pPr lvl="2" eaLnBrk="1" hangingPunct="1"/>
            <a:r>
              <a:rPr lang="zh-CN" altLang="en-US" sz="1800" dirty="0"/>
              <a:t>微信</a:t>
            </a:r>
            <a:r>
              <a:rPr lang="en-US" altLang="zh-CN" sz="1800" dirty="0"/>
              <a:t>…</a:t>
            </a:r>
            <a:endParaRPr lang="en-US" altLang="en-US" sz="1800" dirty="0"/>
          </a:p>
          <a:p>
            <a:pPr lvl="1" eaLnBrk="1" hangingPunct="1"/>
            <a:r>
              <a:rPr lang="zh-CN" altLang="en-US" sz="2000" dirty="0"/>
              <a:t>网购</a:t>
            </a:r>
            <a:endParaRPr lang="en-US" altLang="en-US" sz="2000" dirty="0"/>
          </a:p>
          <a:p>
            <a:pPr lvl="2" eaLnBrk="1" hangingPunct="1"/>
            <a:r>
              <a:rPr lang="zh-CN" altLang="en-US" sz="1800" dirty="0"/>
              <a:t>亚马逊每天数百万次浏览</a:t>
            </a:r>
            <a:endParaRPr lang="en-US" altLang="en-US" sz="1800" dirty="0"/>
          </a:p>
          <a:p>
            <a:pPr lvl="2" eaLnBrk="1" hangingPunct="1"/>
            <a:r>
              <a:rPr lang="zh-CN" altLang="en-US" sz="1800" dirty="0"/>
              <a:t>天猫，京东</a:t>
            </a:r>
            <a:endParaRPr lang="en-US" altLang="en-US" sz="1800" dirty="0"/>
          </a:p>
          <a:p>
            <a:pPr lvl="1" eaLnBrk="1" hangingPunct="1"/>
            <a:r>
              <a:rPr lang="zh-CN" altLang="en-US" sz="2000" dirty="0"/>
              <a:t>信用卡交易</a:t>
            </a:r>
            <a:endParaRPr lang="en-US" altLang="en-US" sz="2000" dirty="0"/>
          </a:p>
          <a:p>
            <a:pPr eaLnBrk="1" hangingPunct="1"/>
            <a:r>
              <a:rPr lang="zh-CN" altLang="en-US" sz="2400" b="1" dirty="0"/>
              <a:t>计算机性能在不断提高，但价格却在不断降低</a:t>
            </a:r>
            <a:endParaRPr lang="en-US" altLang="en-US" sz="2400" b="1" dirty="0"/>
          </a:p>
          <a:p>
            <a:pPr eaLnBrk="1" hangingPunct="1"/>
            <a:r>
              <a:rPr lang="zh-CN" altLang="en-US" sz="2400" b="1" dirty="0"/>
              <a:t>商业竞争压力巨大</a:t>
            </a:r>
            <a:r>
              <a:rPr lang="en-US" altLang="en-US" sz="2400" b="1" dirty="0"/>
              <a:t> </a:t>
            </a:r>
          </a:p>
          <a:p>
            <a:pPr lvl="1" eaLnBrk="1" hangingPunct="1"/>
            <a:r>
              <a:rPr lang="zh-CN" altLang="en-US" sz="2000" dirty="0"/>
              <a:t>为用户提供更好的定制化服务，有利于提高竞争力</a:t>
            </a:r>
            <a:endParaRPr lang="en-US" altLang="en-US" sz="2000" dirty="0"/>
          </a:p>
        </p:txBody>
      </p:sp>
      <p:pic>
        <p:nvPicPr>
          <p:cNvPr id="7172" name="Picture 7">
            <a:extLst>
              <a:ext uri="{FF2B5EF4-FFF2-40B4-BE49-F238E27FC236}">
                <a16:creationId xmlns:a16="http://schemas.microsoft.com/office/drawing/2014/main" id="{DF67B5B6-C40F-4CB2-A711-825C0EE46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2057400"/>
            <a:ext cx="1200150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8">
            <a:extLst>
              <a:ext uri="{FF2B5EF4-FFF2-40B4-BE49-F238E27FC236}">
                <a16:creationId xmlns:a16="http://schemas.microsoft.com/office/drawing/2014/main" id="{FC6D9ED6-D5B1-4E42-BE1A-B9467A12CC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2209800"/>
            <a:ext cx="142875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4" name="Picture 9">
            <a:extLst>
              <a:ext uri="{FF2B5EF4-FFF2-40B4-BE49-F238E27FC236}">
                <a16:creationId xmlns:a16="http://schemas.microsoft.com/office/drawing/2014/main" id="{19DB2FE5-E737-4AAC-AD98-5C67EB894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2997200"/>
            <a:ext cx="1143000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5" name="Picture 10">
            <a:extLst>
              <a:ext uri="{FF2B5EF4-FFF2-40B4-BE49-F238E27FC236}">
                <a16:creationId xmlns:a16="http://schemas.microsoft.com/office/drawing/2014/main" id="{2D1AA9E5-31A9-497B-9227-19AEB38338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9950" y="2906713"/>
            <a:ext cx="1143000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D55480-92EE-44DC-8580-F08C8682981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244096-3238-4015-A1F9-2D7118764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</a:p>
        </p:txBody>
      </p:sp>
      <p:sp>
        <p:nvSpPr>
          <p:cNvPr id="7178" name="Slide Number Placeholder 3">
            <a:extLst>
              <a:ext uri="{FF2B5EF4-FFF2-40B4-BE49-F238E27FC236}">
                <a16:creationId xmlns:a16="http://schemas.microsoft.com/office/drawing/2014/main" id="{DF4EEAD4-1532-4732-A436-B82FC09BD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F6D6AA49-5BDD-4CDA-BADB-D1622C2C843C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11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2">
            <a:extLst>
              <a:ext uri="{FF2B5EF4-FFF2-40B4-BE49-F238E27FC236}">
                <a16:creationId xmlns:a16="http://schemas.microsoft.com/office/drawing/2014/main" id="{49EA67DF-C988-4239-9F4A-720B439CC19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228600"/>
            <a:ext cx="8915400" cy="609600"/>
          </a:xfrm>
        </p:spPr>
        <p:txBody>
          <a:bodyPr lIns="0" rIns="0"/>
          <a:lstStyle/>
          <a:p>
            <a:pPr eaLnBrk="1" hangingPunct="1"/>
            <a:r>
              <a:rPr lang="zh-CN" altLang="en-US" dirty="0"/>
              <a:t>为什么需要数据挖掘？从科学角度分析</a:t>
            </a:r>
            <a:endParaRPr lang="en-US" altLang="en-US" dirty="0"/>
          </a:p>
        </p:txBody>
      </p:sp>
      <p:sp>
        <p:nvSpPr>
          <p:cNvPr id="9219" name="Rectangle 13">
            <a:extLst>
              <a:ext uri="{FF2B5EF4-FFF2-40B4-BE49-F238E27FC236}">
                <a16:creationId xmlns:a16="http://schemas.microsoft.com/office/drawing/2014/main" id="{FBB90E98-DC59-4675-AA1A-312ED67B891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1371600"/>
            <a:ext cx="6019800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000" dirty="0"/>
              <a:t>数据采集和存储的速度很快</a:t>
            </a:r>
            <a:endParaRPr lang="en-US" altLang="en-US" sz="2000" dirty="0"/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</a:pPr>
            <a:r>
              <a:rPr lang="zh-CN" altLang="en-US" sz="2000" dirty="0"/>
              <a:t>卫星遥感</a:t>
            </a:r>
            <a:endParaRPr lang="en-US" altLang="en-US" sz="2000" dirty="0"/>
          </a:p>
          <a:p>
            <a:pPr lvl="2" eaLnBrk="1" hangingPunct="1">
              <a:lnSpc>
                <a:spcPct val="90000"/>
              </a:lnSpc>
            </a:pPr>
            <a:r>
              <a:rPr lang="en-US" altLang="en-US" sz="1600" dirty="0"/>
              <a:t> NASA EOSDIS </a:t>
            </a:r>
            <a:r>
              <a:rPr lang="zh-CN" altLang="en-US" sz="1600" dirty="0"/>
              <a:t>每年采集</a:t>
            </a:r>
            <a:r>
              <a:rPr lang="en-US" altLang="zh-CN" sz="1600" dirty="0"/>
              <a:t>PB</a:t>
            </a:r>
            <a:r>
              <a:rPr lang="zh-CN" altLang="en-US" sz="1600" dirty="0"/>
              <a:t>的地球</a:t>
            </a:r>
            <a:endParaRPr lang="en-US" altLang="zh-CN" sz="1600" dirty="0"/>
          </a:p>
          <a:p>
            <a:pPr lvl="2" eaLnBrk="1" hangingPunct="1">
              <a:lnSpc>
                <a:spcPct val="90000"/>
              </a:lnSpc>
              <a:buNone/>
            </a:pPr>
            <a:r>
              <a:rPr lang="zh-CN" altLang="en-US" sz="1600" dirty="0"/>
              <a:t>数据</a:t>
            </a:r>
            <a:endParaRPr lang="en-US" altLang="en-US" sz="1600" dirty="0"/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</a:pPr>
            <a:r>
              <a:rPr lang="zh-CN" altLang="en-US" sz="2000" dirty="0"/>
              <a:t>天文望远镜</a:t>
            </a:r>
            <a:endParaRPr lang="en-US" altLang="en-US" sz="1600" dirty="0"/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</a:pPr>
            <a:r>
              <a:rPr lang="zh-CN" altLang="en-US" sz="2000" dirty="0"/>
              <a:t>高通量的生物数据</a:t>
            </a:r>
            <a:endParaRPr lang="en-US" altLang="zh-CN" sz="2000" dirty="0"/>
          </a:p>
          <a:p>
            <a:pPr lvl="2" eaLnBrk="1" hangingPunct="1">
              <a:lnSpc>
                <a:spcPct val="90000"/>
              </a:lnSpc>
              <a:spcBef>
                <a:spcPct val="40000"/>
              </a:spcBef>
            </a:pPr>
            <a:r>
              <a:rPr lang="zh-CN" altLang="en-US" sz="1600" dirty="0"/>
              <a:t> 基因组、转录组、蛋白组</a:t>
            </a:r>
            <a:endParaRPr lang="en-US" altLang="en-US" sz="1600" dirty="0"/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</a:pPr>
            <a:r>
              <a:rPr lang="zh-CN" altLang="en-US" sz="2300" dirty="0"/>
              <a:t>科学模拟</a:t>
            </a:r>
            <a:r>
              <a:rPr lang="en-US" altLang="en-US" sz="2300" dirty="0"/>
              <a:t>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 dirty="0"/>
              <a:t> </a:t>
            </a:r>
            <a:r>
              <a:rPr lang="zh-CN" altLang="en-US" sz="1800" dirty="0"/>
              <a:t>数小时即可产生</a:t>
            </a:r>
            <a:r>
              <a:rPr lang="en-US" altLang="zh-CN" sz="1800" dirty="0"/>
              <a:t>TB</a:t>
            </a:r>
            <a:r>
              <a:rPr lang="zh-CN" altLang="en-US" sz="1800" dirty="0"/>
              <a:t>级的数据量</a:t>
            </a:r>
            <a:endParaRPr lang="en-US" altLang="en-US" sz="1600" dirty="0"/>
          </a:p>
          <a:p>
            <a:pPr lvl="2" eaLnBrk="1" hangingPunct="1">
              <a:lnSpc>
                <a:spcPct val="90000"/>
              </a:lnSpc>
            </a:pPr>
            <a:endParaRPr lang="en-US" altLang="en-US" sz="14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000" dirty="0"/>
              <a:t>数据挖掘可以帮助科学家</a:t>
            </a:r>
            <a:endParaRPr lang="en-US" altLang="en-US" sz="20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自动、高效分析海量数据</a:t>
            </a:r>
            <a:endParaRPr lang="en-US" altLang="en-US" sz="20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验证科学假设</a:t>
            </a:r>
            <a:endParaRPr lang="en-US" altLang="en-US" sz="2000" dirty="0"/>
          </a:p>
        </p:txBody>
      </p:sp>
      <p:graphicFrame>
        <p:nvGraphicFramePr>
          <p:cNvPr id="9220" name="Object 14">
            <a:extLst>
              <a:ext uri="{FF2B5EF4-FFF2-40B4-BE49-F238E27FC236}">
                <a16:creationId xmlns:a16="http://schemas.microsoft.com/office/drawing/2014/main" id="{A3352EEA-C074-42EC-A9D8-34930CE752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64350" y="1363663"/>
          <a:ext cx="1822450" cy="141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VISIO" r:id="rId4" imgW="2557272" imgH="1991868" progId="Visio.Drawing.11">
                  <p:embed/>
                </p:oleObj>
              </mc:Choice>
              <mc:Fallback>
                <p:oleObj name="VISIO" r:id="rId4" imgW="2557272" imgH="1991868" progId="Visio.Drawing.11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4350" y="1363663"/>
                        <a:ext cx="1822450" cy="141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15">
            <a:extLst>
              <a:ext uri="{FF2B5EF4-FFF2-40B4-BE49-F238E27FC236}">
                <a16:creationId xmlns:a16="http://schemas.microsoft.com/office/drawing/2014/main" id="{10E0B7A1-9624-4148-A605-5108D426E0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97688" y="3048000"/>
          <a:ext cx="2017712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VISIO" r:id="rId6" imgW="2401824" imgH="1491996" progId="Visio.Drawing.11">
                  <p:embed/>
                </p:oleObj>
              </mc:Choice>
              <mc:Fallback>
                <p:oleObj name="VISIO" r:id="rId6" imgW="2401824" imgH="1491996" progId="Visio.Drawing.11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7688" y="3048000"/>
                        <a:ext cx="2017712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2" name="Rectangle 16">
            <a:extLst>
              <a:ext uri="{FF2B5EF4-FFF2-40B4-BE49-F238E27FC236}">
                <a16:creationId xmlns:a16="http://schemas.microsoft.com/office/drawing/2014/main" id="{B9F25A9F-71BF-42DA-8D6A-24EDE113C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733800"/>
            <a:ext cx="53340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endParaRPr lang="en-US" altLang="en-US" sz="1400" b="0">
              <a:cs typeface="Arial" panose="020B0604020202020204" pitchFamily="34" charset="0"/>
            </a:endParaRPr>
          </a:p>
        </p:txBody>
      </p:sp>
      <p:sp>
        <p:nvSpPr>
          <p:cNvPr id="9223" name="Rounded Rectangle 17">
            <a:extLst>
              <a:ext uri="{FF2B5EF4-FFF2-40B4-BE49-F238E27FC236}">
                <a16:creationId xmlns:a16="http://schemas.microsoft.com/office/drawing/2014/main" id="{E7C5F782-0613-4B83-91F4-C6780ED71C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048000"/>
            <a:ext cx="5638800" cy="29718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endParaRPr lang="en-US" altLang="en-US" sz="1400" b="0">
              <a:cs typeface="Arial" panose="020B060402020202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5A88FC-7631-4D32-BEAD-65F1A4B2D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</a:p>
        </p:txBody>
      </p:sp>
      <p:sp>
        <p:nvSpPr>
          <p:cNvPr id="9225" name="Slide Number Placeholder 3">
            <a:extLst>
              <a:ext uri="{FF2B5EF4-FFF2-40B4-BE49-F238E27FC236}">
                <a16:creationId xmlns:a16="http://schemas.microsoft.com/office/drawing/2014/main" id="{C8E0C3D8-BE86-4926-885E-E7FC3F197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4F4C9FEC-5FBE-4EAC-9A43-0A8AE0AA6A18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12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A1718-F8C3-4F87-BB7D-6D5E22A8410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</a:p>
        </p:txBody>
      </p:sp>
      <p:pic>
        <p:nvPicPr>
          <p:cNvPr id="9227" name="Picture 21">
            <a:extLst>
              <a:ext uri="{FF2B5EF4-FFF2-40B4-BE49-F238E27FC236}">
                <a16:creationId xmlns:a16="http://schemas.microsoft.com/office/drawing/2014/main" id="{BE9753B5-A4D2-4495-8AA6-FE8CF079EDA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371600"/>
            <a:ext cx="2057400" cy="140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8" name="Rectangle 1">
            <a:extLst>
              <a:ext uri="{FF2B5EF4-FFF2-40B4-BE49-F238E27FC236}">
                <a16:creationId xmlns:a16="http://schemas.microsoft.com/office/drawing/2014/main" id="{8D21B57B-F120-4FD0-B4B6-36BBD9B12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4550" y="2743200"/>
            <a:ext cx="19685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fMRI Data from Brain</a:t>
            </a:r>
          </a:p>
        </p:txBody>
      </p:sp>
      <p:sp>
        <p:nvSpPr>
          <p:cNvPr id="9229" name="Rectangle 23">
            <a:extLst>
              <a:ext uri="{FF2B5EF4-FFF2-40B4-BE49-F238E27FC236}">
                <a16:creationId xmlns:a16="http://schemas.microsoft.com/office/drawing/2014/main" id="{BE841D5E-796B-4700-8A9E-EB5B4858CA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1825" y="2700338"/>
            <a:ext cx="15890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Sky Survey Data</a:t>
            </a:r>
          </a:p>
        </p:txBody>
      </p:sp>
      <p:sp>
        <p:nvSpPr>
          <p:cNvPr id="9230" name="Rectangle 24">
            <a:extLst>
              <a:ext uri="{FF2B5EF4-FFF2-40B4-BE49-F238E27FC236}">
                <a16:creationId xmlns:a16="http://schemas.microsoft.com/office/drawing/2014/main" id="{5B81F741-915D-46AB-B9FE-4B6562FF89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3088" y="4648200"/>
            <a:ext cx="20843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Gene Expression Data</a:t>
            </a:r>
          </a:p>
        </p:txBody>
      </p:sp>
      <p:sp>
        <p:nvSpPr>
          <p:cNvPr id="9231" name="Rectangle 25">
            <a:extLst>
              <a:ext uri="{FF2B5EF4-FFF2-40B4-BE49-F238E27FC236}">
                <a16:creationId xmlns:a16="http://schemas.microsoft.com/office/drawing/2014/main" id="{6989077B-E746-4137-A19A-F4193F9A4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4775" y="6262688"/>
            <a:ext cx="26892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Surface Temperature of Earth</a:t>
            </a:r>
          </a:p>
        </p:txBody>
      </p:sp>
      <p:pic>
        <p:nvPicPr>
          <p:cNvPr id="9232" name="Picture 18" descr="http://im2.ezgif.com/tmp/ezgif-1403672989.gif">
            <a:extLst>
              <a:ext uri="{FF2B5EF4-FFF2-40B4-BE49-F238E27FC236}">
                <a16:creationId xmlns:a16="http://schemas.microsoft.com/office/drawing/2014/main" id="{1EBA2A2F-579A-4566-B62D-A2ED5D2281D4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4918075"/>
            <a:ext cx="2466975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3281A996-C624-43B6-83E7-70071D438BD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2400" y="196851"/>
            <a:ext cx="8991600" cy="533400"/>
          </a:xfrm>
        </p:spPr>
        <p:txBody>
          <a:bodyPr/>
          <a:lstStyle/>
          <a:p>
            <a:r>
              <a:rPr lang="zh-CN" altLang="en-US" dirty="0"/>
              <a:t>提高各行各业生产力的大好机会</a:t>
            </a:r>
            <a:endParaRPr lang="en-US" altLang="en-US" dirty="0"/>
          </a:p>
        </p:txBody>
      </p:sp>
      <p:pic>
        <p:nvPicPr>
          <p:cNvPr id="11267" name="Picture 7">
            <a:extLst>
              <a:ext uri="{FF2B5EF4-FFF2-40B4-BE49-F238E27FC236}">
                <a16:creationId xmlns:a16="http://schemas.microsoft.com/office/drawing/2014/main" id="{4FB390E4-35B1-4C4C-856C-9E72A03372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321" y="1054266"/>
            <a:ext cx="5834062" cy="154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2A4C68-F4E8-4266-ACCB-5979D5CC607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</a:p>
        </p:txBody>
      </p:sp>
      <p:sp>
        <p:nvSpPr>
          <p:cNvPr id="11269" name="Slide Number Placeholder 3">
            <a:extLst>
              <a:ext uri="{FF2B5EF4-FFF2-40B4-BE49-F238E27FC236}">
                <a16:creationId xmlns:a16="http://schemas.microsoft.com/office/drawing/2014/main" id="{91921E35-2084-462F-A5F9-F868EE831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167BC36F-03D6-4683-9A31-B0E786FC8D31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13</a:t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2073A3-3903-49CE-932E-9D2426282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Introduction to Data Mining, 2nd Edition   Tan, Steinbach, </a:t>
            </a:r>
            <a:r>
              <a:rPr lang="en-US" dirty="0" err="1"/>
              <a:t>Karpatne</a:t>
            </a:r>
            <a:r>
              <a:rPr lang="en-US" dirty="0"/>
              <a:t>, Kumar</a:t>
            </a:r>
          </a:p>
        </p:txBody>
      </p:sp>
      <p:sp>
        <p:nvSpPr>
          <p:cNvPr id="12" name="Rectangle 13">
            <a:extLst>
              <a:ext uri="{FF2B5EF4-FFF2-40B4-BE49-F238E27FC236}">
                <a16:creationId xmlns:a16="http://schemas.microsoft.com/office/drawing/2014/main" id="{FBB90E98-DC59-4675-AA1A-312ED67B89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76200" y="2927681"/>
            <a:ext cx="8953500" cy="2914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>
            <a:lvl1pPr marL="292100" indent="-292100" algn="l" rtl="0" eaLnBrk="0" fontAlgn="base" hangingPunct="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rtl="0" eaLnBrk="0" fontAlgn="base" hangingPunct="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914400" algn="l" rtl="0" eaLnBrk="0" fontAlgn="base" hangingPunct="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kern="0" dirty="0">
                <a:solidFill>
                  <a:srgbClr val="FF0000"/>
                </a:solidFill>
              </a:rPr>
              <a:t>$600 </a:t>
            </a:r>
            <a:r>
              <a:rPr lang="zh-CN" altLang="en-US" sz="2400" b="0" kern="0" dirty="0"/>
              <a:t>磁盘可以存储全世界所有的音乐</a:t>
            </a:r>
            <a:r>
              <a:rPr lang="en-US" altLang="zh-CN" sz="2400" b="0" kern="0" dirty="0"/>
              <a:t> </a:t>
            </a:r>
            <a:endParaRPr lang="en-US" altLang="en-US" sz="2400" b="0" kern="0" dirty="0"/>
          </a:p>
          <a:p>
            <a:pPr eaLnBrk="1" hangingPunct="1">
              <a:lnSpc>
                <a:spcPct val="90000"/>
              </a:lnSpc>
            </a:pPr>
            <a:r>
              <a:rPr lang="en-US" altLang="en-US" kern="0" dirty="0">
                <a:solidFill>
                  <a:srgbClr val="FF0000"/>
                </a:solidFill>
              </a:rPr>
              <a:t>1.6 </a:t>
            </a:r>
            <a:r>
              <a:rPr lang="en-US" altLang="zh-CN" kern="0" dirty="0">
                <a:solidFill>
                  <a:srgbClr val="FF0000"/>
                </a:solidFill>
              </a:rPr>
              <a:t>billion </a:t>
            </a:r>
            <a:r>
              <a:rPr lang="zh-CN" altLang="en-US" sz="2400" b="0" kern="0" dirty="0"/>
              <a:t>全球</a:t>
            </a:r>
            <a:r>
              <a:rPr lang="en-US" altLang="zh-CN" sz="2400" b="0" kern="0" dirty="0"/>
              <a:t>5G</a:t>
            </a:r>
            <a:r>
              <a:rPr lang="zh-CN" altLang="en-US" sz="2400" b="0" kern="0" dirty="0"/>
              <a:t>用户（</a:t>
            </a:r>
            <a:r>
              <a:rPr lang="en-US" altLang="zh-CN" sz="2400" b="0" kern="0" dirty="0"/>
              <a:t>2023</a:t>
            </a:r>
            <a:r>
              <a:rPr lang="zh-CN" altLang="en-US" sz="2400" b="0" kern="0" dirty="0"/>
              <a:t>）</a:t>
            </a:r>
            <a:r>
              <a:rPr lang="en-US" altLang="zh-CN" sz="2400" b="0" kern="0" dirty="0"/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kern="0" dirty="0">
                <a:solidFill>
                  <a:srgbClr val="FF0000"/>
                </a:solidFill>
              </a:rPr>
              <a:t>30 </a:t>
            </a:r>
            <a:r>
              <a:rPr lang="en-US" altLang="zh-CN" kern="0" dirty="0">
                <a:solidFill>
                  <a:srgbClr val="FF0000"/>
                </a:solidFill>
              </a:rPr>
              <a:t>billion </a:t>
            </a:r>
            <a:r>
              <a:rPr lang="en-US" altLang="zh-CN" sz="2400" b="0" kern="0" dirty="0"/>
              <a:t>Facebook</a:t>
            </a:r>
            <a:r>
              <a:rPr lang="zh-CN" altLang="en-US" sz="2400" b="0" kern="0" dirty="0"/>
              <a:t>每月产生的数据</a:t>
            </a:r>
            <a:endParaRPr lang="en-US" altLang="zh-CN" sz="2400" b="0" kern="0" dirty="0"/>
          </a:p>
          <a:p>
            <a:pPr eaLnBrk="1" hangingPunct="1">
              <a:lnSpc>
                <a:spcPct val="90000"/>
              </a:lnSpc>
            </a:pPr>
            <a:r>
              <a:rPr lang="en-US" altLang="en-US" kern="0" dirty="0">
                <a:solidFill>
                  <a:srgbClr val="FF0000"/>
                </a:solidFill>
              </a:rPr>
              <a:t>235</a:t>
            </a:r>
            <a:r>
              <a:rPr lang="en-US" altLang="zh-CN" kern="0" dirty="0">
                <a:solidFill>
                  <a:srgbClr val="FF0000"/>
                </a:solidFill>
              </a:rPr>
              <a:t>TB </a:t>
            </a:r>
            <a:r>
              <a:rPr lang="zh-CN" altLang="en-US" sz="2400" b="0" kern="0" dirty="0"/>
              <a:t>美国国会图书馆数据（</a:t>
            </a:r>
            <a:r>
              <a:rPr lang="en-US" altLang="zh-CN" sz="2400" b="0" kern="0" dirty="0"/>
              <a:t>2011.04</a:t>
            </a:r>
            <a:r>
              <a:rPr lang="zh-CN" altLang="en-US" sz="2400" b="0" kern="0" dirty="0"/>
              <a:t>）</a:t>
            </a:r>
            <a:endParaRPr lang="en-US" altLang="zh-CN" sz="2400" b="0" kern="0" dirty="0"/>
          </a:p>
          <a:p>
            <a:pPr eaLnBrk="1" hangingPunct="1">
              <a:lnSpc>
                <a:spcPct val="90000"/>
              </a:lnSpc>
            </a:pPr>
            <a:r>
              <a:rPr lang="en-US" altLang="zh-CN" kern="0" dirty="0">
                <a:solidFill>
                  <a:srgbClr val="FF0000"/>
                </a:solidFill>
              </a:rPr>
              <a:t>15 out of 17 </a:t>
            </a:r>
            <a:r>
              <a:rPr lang="zh-CN" altLang="en-US" sz="2400" b="0" kern="0" dirty="0"/>
              <a:t>美国政府部门存储的数据量多于美国国会图书馆</a:t>
            </a:r>
            <a:r>
              <a:rPr lang="en-US" altLang="zh-CN" sz="2400" b="0" kern="0" dirty="0"/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kern="0" dirty="0">
                <a:solidFill>
                  <a:srgbClr val="FF0000"/>
                </a:solidFill>
              </a:rPr>
              <a:t>40%</a:t>
            </a:r>
            <a:r>
              <a:rPr lang="en-US" altLang="zh-CN" sz="2400" b="0" kern="0" dirty="0"/>
              <a:t> </a:t>
            </a:r>
            <a:r>
              <a:rPr lang="zh-CN" altLang="en-US" sz="2400" b="0" kern="0" dirty="0"/>
              <a:t>全球生成数据量每年增长率</a:t>
            </a:r>
            <a:endParaRPr lang="en-US" altLang="zh-CN" sz="2400" b="0" kern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7">
            <a:extLst>
              <a:ext uri="{FF2B5EF4-FFF2-40B4-BE49-F238E27FC236}">
                <a16:creationId xmlns:a16="http://schemas.microsoft.com/office/drawing/2014/main" id="{4FB390E4-35B1-4C4C-856C-9E72A03372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321" y="1054266"/>
            <a:ext cx="5834062" cy="154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9" name="Slide Number Placeholder 3">
            <a:extLst>
              <a:ext uri="{FF2B5EF4-FFF2-40B4-BE49-F238E27FC236}">
                <a16:creationId xmlns:a16="http://schemas.microsoft.com/office/drawing/2014/main" id="{91921E35-2084-462F-A5F9-F868EE831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167BC36F-03D6-4683-9A31-B0E786FC8D31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14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2" name="Rectangle 13">
            <a:extLst>
              <a:ext uri="{FF2B5EF4-FFF2-40B4-BE49-F238E27FC236}">
                <a16:creationId xmlns:a16="http://schemas.microsoft.com/office/drawing/2014/main" id="{FBB90E98-DC59-4675-AA1A-312ED67B89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661397"/>
            <a:ext cx="88392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>
            <a:lvl1pPr marL="292100" indent="-292100" algn="l" rtl="0" eaLnBrk="0" fontAlgn="base" hangingPunct="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rtl="0" eaLnBrk="0" fontAlgn="base" hangingPunct="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914400" algn="l" rtl="0" eaLnBrk="0" fontAlgn="base" hangingPunct="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kern="0" dirty="0">
                <a:solidFill>
                  <a:srgbClr val="FF0000"/>
                </a:solidFill>
              </a:rPr>
              <a:t>$300 billion </a:t>
            </a:r>
            <a:r>
              <a:rPr lang="zh-CN" altLang="en-US" sz="2400" b="0" kern="0" dirty="0"/>
              <a:t>对美国医疗保健的潜在年度价值</a:t>
            </a:r>
            <a:endParaRPr lang="en-US" altLang="zh-CN" sz="2400" b="0" kern="0" dirty="0"/>
          </a:p>
          <a:p>
            <a:pPr eaLnBrk="1" hangingPunct="1">
              <a:lnSpc>
                <a:spcPct val="90000"/>
              </a:lnSpc>
            </a:pPr>
            <a:r>
              <a:rPr lang="zh-CN" altLang="en-US" kern="0" dirty="0">
                <a:solidFill>
                  <a:srgbClr val="FF0000"/>
                </a:solidFill>
              </a:rPr>
              <a:t>€</a:t>
            </a:r>
            <a:r>
              <a:rPr lang="en-US" altLang="en-US" kern="0" dirty="0">
                <a:solidFill>
                  <a:srgbClr val="FF0000"/>
                </a:solidFill>
              </a:rPr>
              <a:t>250 </a:t>
            </a:r>
            <a:r>
              <a:rPr lang="en-US" altLang="zh-CN" kern="0" dirty="0">
                <a:solidFill>
                  <a:srgbClr val="FF0000"/>
                </a:solidFill>
              </a:rPr>
              <a:t>billion </a:t>
            </a:r>
            <a:r>
              <a:rPr lang="zh-CN" altLang="en-US" sz="2400" b="0" kern="0" dirty="0"/>
              <a:t>对欧盟公共部门管理的潜在年度价值</a:t>
            </a:r>
            <a:r>
              <a:rPr lang="en-US" altLang="zh-CN" sz="2400" b="0" kern="0" dirty="0"/>
              <a:t>- </a:t>
            </a:r>
            <a:r>
              <a:rPr lang="zh-CN" altLang="en-US" sz="2400" b="0" kern="0" dirty="0"/>
              <a:t>大于希腊的</a:t>
            </a:r>
            <a:r>
              <a:rPr lang="en-US" altLang="zh-CN" sz="2400" b="0" kern="0" dirty="0"/>
              <a:t>GDP 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kern="0" dirty="0">
                <a:solidFill>
                  <a:srgbClr val="FF0000"/>
                </a:solidFill>
              </a:rPr>
              <a:t>$600 </a:t>
            </a:r>
            <a:r>
              <a:rPr lang="en-US" altLang="zh-CN" kern="0" dirty="0">
                <a:solidFill>
                  <a:srgbClr val="FF0000"/>
                </a:solidFill>
              </a:rPr>
              <a:t>billion </a:t>
            </a:r>
            <a:r>
              <a:rPr lang="zh-CN" altLang="en-US" sz="2400" b="0" kern="0" dirty="0"/>
              <a:t>全球使用个人位置带来的潜在年度消费者附加值</a:t>
            </a:r>
            <a:endParaRPr lang="en-US" altLang="zh-CN" sz="2400" b="0" kern="0" dirty="0"/>
          </a:p>
          <a:p>
            <a:pPr eaLnBrk="1" hangingPunct="1">
              <a:lnSpc>
                <a:spcPct val="90000"/>
              </a:lnSpc>
            </a:pPr>
            <a:r>
              <a:rPr lang="en-US" altLang="zh-CN" kern="0" dirty="0">
                <a:solidFill>
                  <a:srgbClr val="FF0000"/>
                </a:solidFill>
              </a:rPr>
              <a:t>60% </a:t>
            </a:r>
            <a:r>
              <a:rPr lang="zh-CN" altLang="en-US" sz="2400" b="0" kern="0" dirty="0"/>
              <a:t>大数据可能提高零售商的营业利润</a:t>
            </a:r>
            <a:endParaRPr lang="en-US" altLang="zh-CN" sz="2400" b="0" kern="0" dirty="0"/>
          </a:p>
          <a:p>
            <a:pPr eaLnBrk="1" hangingPunct="1">
              <a:lnSpc>
                <a:spcPct val="90000"/>
              </a:lnSpc>
            </a:pPr>
            <a:r>
              <a:rPr lang="en-US" altLang="en-US" kern="0" dirty="0">
                <a:solidFill>
                  <a:srgbClr val="FF0000"/>
                </a:solidFill>
              </a:rPr>
              <a:t>140,000-190,</a:t>
            </a:r>
            <a:r>
              <a:rPr lang="en-US" altLang="zh-CN" kern="0" dirty="0">
                <a:solidFill>
                  <a:srgbClr val="FF0000"/>
                </a:solidFill>
              </a:rPr>
              <a:t>000</a:t>
            </a:r>
            <a:r>
              <a:rPr lang="en-US" altLang="zh-CN" sz="2400" kern="0" dirty="0"/>
              <a:t> </a:t>
            </a:r>
            <a:r>
              <a:rPr lang="zh-CN" altLang="en-US" sz="2400" b="0" kern="0" dirty="0"/>
              <a:t>数据挖掘人才岗位</a:t>
            </a:r>
            <a:r>
              <a:rPr lang="en-US" altLang="zh-CN" sz="2400" b="0" kern="0" dirty="0"/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kern="0" dirty="0">
                <a:solidFill>
                  <a:srgbClr val="FF0000"/>
                </a:solidFill>
              </a:rPr>
              <a:t>1.5 million </a:t>
            </a:r>
            <a:r>
              <a:rPr lang="zh-CN" altLang="en-US" sz="2400" b="0" kern="0" dirty="0"/>
              <a:t>精通数据的管理者</a:t>
            </a:r>
            <a:endParaRPr lang="en-US" altLang="en-US" sz="2400" b="0" kern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1223BA-9778-E8F3-4F1B-AE9238665215}"/>
              </a:ext>
            </a:extLst>
          </p:cNvPr>
          <p:cNvSpPr txBox="1">
            <a:spLocks/>
          </p:cNvSpPr>
          <p:nvPr/>
        </p:nvSpPr>
        <p:spPr bwMode="auto">
          <a:xfrm>
            <a:off x="152400" y="196851"/>
            <a:ext cx="8991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2pPr>
            <a:lvl3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3pPr>
            <a:lvl4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4pPr>
            <a:lvl5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5pPr>
            <a:lvl6pPr marL="4572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6pPr>
            <a:lvl7pPr marL="9144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7pPr>
            <a:lvl8pPr marL="13716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8pPr>
            <a:lvl9pPr marL="18288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zh-CN" altLang="en-US" kern="0" dirty="0"/>
              <a:t>提高各行各业生产力的大好机会</a:t>
            </a:r>
            <a:endParaRPr lang="en-US" altLang="en-US" kern="0" dirty="0"/>
          </a:p>
        </p:txBody>
      </p:sp>
    </p:spTree>
    <p:extLst>
      <p:ext uri="{BB962C8B-B14F-4D97-AF65-F5344CB8AC3E}">
        <p14:creationId xmlns:p14="http://schemas.microsoft.com/office/powerpoint/2010/main" val="40930129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096D05BC-B650-4840-99EE-B661ABC4C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52400"/>
            <a:ext cx="8534400" cy="533400"/>
          </a:xfrm>
        </p:spPr>
        <p:txBody>
          <a:bodyPr/>
          <a:lstStyle/>
          <a:p>
            <a:r>
              <a:rPr lang="zh-CN" altLang="en-US" dirty="0"/>
              <a:t>解决全球社会问题的机会</a:t>
            </a:r>
            <a:endParaRPr lang="en-US" altLang="en-US" dirty="0"/>
          </a:p>
        </p:txBody>
      </p:sp>
      <p:pic>
        <p:nvPicPr>
          <p:cNvPr id="13315" name="Picture 2">
            <a:extLst>
              <a:ext uri="{FF2B5EF4-FFF2-40B4-BE49-F238E27FC236}">
                <a16:creationId xmlns:a16="http://schemas.microsoft.com/office/drawing/2014/main" id="{AC0D4CFF-E499-42C5-9129-19EB22EA31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76400"/>
            <a:ext cx="3200400" cy="187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7" descr="http://countrylivingoffgrid.com/resources/aboutus_image.jpg">
            <a:extLst>
              <a:ext uri="{FF2B5EF4-FFF2-40B4-BE49-F238E27FC236}">
                <a16:creationId xmlns:a16="http://schemas.microsoft.com/office/drawing/2014/main" id="{76E91D3F-B938-428F-9F1E-C43805805A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962400"/>
            <a:ext cx="3276600" cy="203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7" name="Picture 9">
            <a:extLst>
              <a:ext uri="{FF2B5EF4-FFF2-40B4-BE49-F238E27FC236}">
                <a16:creationId xmlns:a16="http://schemas.microsoft.com/office/drawing/2014/main" id="{2FB4E508-8105-4F5C-ABA7-DC2448DC3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283"/>
          <a:stretch>
            <a:fillRect/>
          </a:stretch>
        </p:blipFill>
        <p:spPr bwMode="auto">
          <a:xfrm>
            <a:off x="4800600" y="1676400"/>
            <a:ext cx="35052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8" name="TextBox 9">
            <a:extLst>
              <a:ext uri="{FF2B5EF4-FFF2-40B4-BE49-F238E27FC236}">
                <a16:creationId xmlns:a16="http://schemas.microsoft.com/office/drawing/2014/main" id="{6DF707D8-3EB7-4467-97D3-8CA515DE1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715" y="3601103"/>
            <a:ext cx="2492970" cy="276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5" rIns="91430" bIns="45715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200" dirty="0">
                <a:cs typeface="Arial" panose="020B0604020202020204" pitchFamily="34" charset="0"/>
              </a:rPr>
              <a:t>改善医疗健康水平、降低医疗成本</a:t>
            </a:r>
            <a:endParaRPr lang="en-US" altLang="en-US" sz="1200" dirty="0">
              <a:cs typeface="Arial" panose="020B0604020202020204" pitchFamily="34" charset="0"/>
            </a:endParaRPr>
          </a:p>
        </p:txBody>
      </p:sp>
      <p:sp>
        <p:nvSpPr>
          <p:cNvPr id="13319" name="TextBox 10">
            <a:extLst>
              <a:ext uri="{FF2B5EF4-FFF2-40B4-BE49-F238E27FC236}">
                <a16:creationId xmlns:a16="http://schemas.microsoft.com/office/drawing/2014/main" id="{2C35FDE7-DBD5-400E-B856-73396D1E9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8360" y="5992813"/>
            <a:ext cx="1569640" cy="276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5" rIns="91430" bIns="45715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200" dirty="0">
                <a:cs typeface="Arial" panose="020B0604020202020204" pitchFamily="34" charset="0"/>
              </a:rPr>
              <a:t>发展可再生绿色能源</a:t>
            </a:r>
            <a:endParaRPr lang="en-US" altLang="en-US" sz="1200" dirty="0">
              <a:cs typeface="Arial" panose="020B0604020202020204" pitchFamily="34" charset="0"/>
            </a:endParaRPr>
          </a:p>
        </p:txBody>
      </p:sp>
      <p:sp>
        <p:nvSpPr>
          <p:cNvPr id="13320" name="TextBox 11">
            <a:extLst>
              <a:ext uri="{FF2B5EF4-FFF2-40B4-BE49-F238E27FC236}">
                <a16:creationId xmlns:a16="http://schemas.microsoft.com/office/drawing/2014/main" id="{C614942A-684D-46B7-8AF3-312ABB38A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3581400"/>
            <a:ext cx="1569640" cy="276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5" rIns="91430" bIns="45715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200" dirty="0">
                <a:cs typeface="Arial" panose="020B0604020202020204" pitchFamily="34" charset="0"/>
              </a:rPr>
              <a:t>预测气候变化的影响</a:t>
            </a:r>
            <a:endParaRPr lang="en-US" altLang="en-US" sz="1200" dirty="0">
              <a:cs typeface="Arial" panose="020B0604020202020204" pitchFamily="34" charset="0"/>
            </a:endParaRPr>
          </a:p>
        </p:txBody>
      </p:sp>
      <p:pic>
        <p:nvPicPr>
          <p:cNvPr id="13321" name="Content Placeholder 13" descr="basf-949686-plant-biotechnology-lg.jpg">
            <a:extLst>
              <a:ext uri="{FF2B5EF4-FFF2-40B4-BE49-F238E27FC236}">
                <a16:creationId xmlns:a16="http://schemas.microsoft.com/office/drawing/2014/main" id="{8D5054E0-4305-4602-A958-4609A8D705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00600" y="3962400"/>
            <a:ext cx="3505200" cy="1949450"/>
          </a:xfrm>
        </p:spPr>
      </p:pic>
      <p:sp>
        <p:nvSpPr>
          <p:cNvPr id="13322" name="TextBox 14">
            <a:extLst>
              <a:ext uri="{FF2B5EF4-FFF2-40B4-BE49-F238E27FC236}">
                <a16:creationId xmlns:a16="http://schemas.microsoft.com/office/drawing/2014/main" id="{32ED71CB-1903-44B7-A104-8E2CA621B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5911850"/>
            <a:ext cx="2339082" cy="276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5" rIns="91430" bIns="45715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200" dirty="0">
                <a:cs typeface="Arial" panose="020B0604020202020204" pitchFamily="34" charset="0"/>
              </a:rPr>
              <a:t>提高农业产量，降低饥饿与贫困</a:t>
            </a:r>
            <a:endParaRPr lang="en-US" altLang="en-US" sz="1200" dirty="0">
              <a:cs typeface="Arial" panose="020B060402020202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8F6CFD-E476-4BAA-B38D-C0BD1CC1671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596AE8-F1EC-4E4C-96F8-3E51A2AFF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</a:p>
        </p:txBody>
      </p:sp>
      <p:sp>
        <p:nvSpPr>
          <p:cNvPr id="13325" name="Slide Number Placeholder 3">
            <a:extLst>
              <a:ext uri="{FF2B5EF4-FFF2-40B4-BE49-F238E27FC236}">
                <a16:creationId xmlns:a16="http://schemas.microsoft.com/office/drawing/2014/main" id="{45AEEBEB-38FF-47B5-B0C5-66D512F58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CEC0D1C3-C34A-4B73-B961-D99B1C3BF7CB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15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>
            <a:extLst>
              <a:ext uri="{FF2B5EF4-FFF2-40B4-BE49-F238E27FC236}">
                <a16:creationId xmlns:a16="http://schemas.microsoft.com/office/drawing/2014/main" id="{A1DEDB1C-84DC-488B-A581-422282A00C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3200" y="228600"/>
            <a:ext cx="8280400" cy="533400"/>
          </a:xfrm>
        </p:spPr>
        <p:txBody>
          <a:bodyPr/>
          <a:lstStyle/>
          <a:p>
            <a:r>
              <a:rPr lang="zh-CN" altLang="en-US" dirty="0"/>
              <a:t>什么是数据挖掘</a:t>
            </a:r>
            <a:r>
              <a:rPr lang="en-US" altLang="en-US" dirty="0"/>
              <a:t>?</a:t>
            </a:r>
          </a:p>
        </p:txBody>
      </p:sp>
      <p:sp>
        <p:nvSpPr>
          <p:cNvPr id="15363" name="Rectangle 4">
            <a:extLst>
              <a:ext uri="{FF2B5EF4-FFF2-40B4-BE49-F238E27FC236}">
                <a16:creationId xmlns:a16="http://schemas.microsoft.com/office/drawing/2014/main" id="{826A16C9-8D91-4BD0-A32C-608442D90F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6050" y="990600"/>
            <a:ext cx="8394700" cy="5029200"/>
          </a:xfrm>
        </p:spPr>
        <p:txBody>
          <a:bodyPr/>
          <a:lstStyle/>
          <a:p>
            <a:pPr marL="285750" indent="-285750">
              <a:lnSpc>
                <a:spcPct val="95000"/>
              </a:lnSpc>
              <a:spcBef>
                <a:spcPct val="20000"/>
              </a:spcBef>
            </a:pPr>
            <a:r>
              <a:rPr lang="zh-CN" altLang="en-US" sz="3200" dirty="0"/>
              <a:t>很多定义</a:t>
            </a:r>
            <a:endParaRPr lang="en-US" altLang="en-US" sz="3200" dirty="0"/>
          </a:p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zh-CN" altLang="en-US" sz="2400" dirty="0"/>
              <a:t>自动或半自动的从数据中发现有用的信息</a:t>
            </a:r>
            <a:r>
              <a:rPr lang="en-US" altLang="zh-CN" sz="2400" dirty="0"/>
              <a:t> </a:t>
            </a: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zh-CN" altLang="en-US" sz="2400" dirty="0"/>
              <a:t>发现新的、有用的模式；否者，这些模式依然是未知的</a:t>
            </a:r>
            <a:endParaRPr lang="en-US" altLang="en-US" sz="2400" dirty="0"/>
          </a:p>
        </p:txBody>
      </p:sp>
      <p:pic>
        <p:nvPicPr>
          <p:cNvPr id="15364" name="Picture 8">
            <a:extLst>
              <a:ext uri="{FF2B5EF4-FFF2-40B4-BE49-F238E27FC236}">
                <a16:creationId xmlns:a16="http://schemas.microsoft.com/office/drawing/2014/main" id="{A993B859-5AF4-4464-BEB1-380222F27F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200400"/>
            <a:ext cx="8226425" cy="253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5" name="Slide Number Placeholder 7">
            <a:extLst>
              <a:ext uri="{FF2B5EF4-FFF2-40B4-BE49-F238E27FC236}">
                <a16:creationId xmlns:a16="http://schemas.microsoft.com/office/drawing/2014/main" id="{1B010F30-B5F3-4B64-B790-BDE53D37E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67D73FF-362E-4C0C-90A7-86AEF3422F1C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86E019E-4F35-4821-A47C-717283257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</a:p>
        </p:txBody>
      </p:sp>
      <p:sp>
        <p:nvSpPr>
          <p:cNvPr id="8" name="Date Placeholder 5">
            <a:extLst>
              <a:ext uri="{FF2B5EF4-FFF2-40B4-BE49-F238E27FC236}">
                <a16:creationId xmlns:a16="http://schemas.microsoft.com/office/drawing/2014/main" id="{0ACBBB80-5B56-4AC6-97E2-C83AD377E10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14">
            <a:extLst>
              <a:ext uri="{FF2B5EF4-FFF2-40B4-BE49-F238E27FC236}">
                <a16:creationId xmlns:a16="http://schemas.microsoft.com/office/drawing/2014/main" id="{C9D23FC4-ABA5-4B5E-87B5-45AB7535D7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02"/>
          <a:stretch>
            <a:fillRect/>
          </a:stretch>
        </p:blipFill>
        <p:spPr bwMode="auto">
          <a:xfrm>
            <a:off x="3124200" y="2743200"/>
            <a:ext cx="5942013" cy="268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Rectangle 2">
            <a:extLst>
              <a:ext uri="{FF2B5EF4-FFF2-40B4-BE49-F238E27FC236}">
                <a16:creationId xmlns:a16="http://schemas.microsoft.com/office/drawing/2014/main" id="{27DF4C6E-AACC-4463-8C78-B9631FCC1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143000"/>
            <a:ext cx="8839200" cy="5105400"/>
          </a:xfrm>
        </p:spPr>
        <p:txBody>
          <a:bodyPr/>
          <a:lstStyle/>
          <a:p>
            <a:r>
              <a:rPr lang="zh-CN" altLang="en-US" sz="2400" dirty="0"/>
              <a:t>来源于机器学习、人工智能、模式识别、统计学、数据库系统专业领域</a:t>
            </a:r>
            <a:endParaRPr lang="en-US" altLang="en-US" sz="2400" b="1" dirty="0"/>
          </a:p>
          <a:p>
            <a:endParaRPr lang="en-US" altLang="en-US" sz="2400" dirty="0"/>
          </a:p>
          <a:p>
            <a:r>
              <a:rPr lang="zh-CN" altLang="en-US" sz="2400" dirty="0"/>
              <a:t>传统的技术不再适用，因为数据具有如下特性：</a:t>
            </a:r>
            <a:endParaRPr lang="en-US" altLang="en-US" sz="2400" dirty="0"/>
          </a:p>
          <a:p>
            <a:pPr lvl="1"/>
            <a:r>
              <a:rPr lang="zh-CN" altLang="en-US" sz="2200" dirty="0"/>
              <a:t>大规模</a:t>
            </a:r>
            <a:endParaRPr lang="en-US" altLang="en-US" sz="2200" dirty="0"/>
          </a:p>
          <a:p>
            <a:pPr lvl="1"/>
            <a:r>
              <a:rPr lang="zh-CN" altLang="en-US" sz="2200" dirty="0"/>
              <a:t>高维</a:t>
            </a:r>
            <a:endParaRPr lang="en-US" altLang="en-US" sz="2200" dirty="0"/>
          </a:p>
          <a:p>
            <a:pPr lvl="1"/>
            <a:r>
              <a:rPr lang="zh-CN" altLang="en-US" sz="2200" dirty="0"/>
              <a:t>异构</a:t>
            </a:r>
            <a:endParaRPr lang="en-US" altLang="en-US" sz="2200" dirty="0"/>
          </a:p>
          <a:p>
            <a:pPr lvl="1"/>
            <a:r>
              <a:rPr lang="zh-CN" altLang="en-US" sz="2200" dirty="0"/>
              <a:t>复杂</a:t>
            </a:r>
            <a:endParaRPr lang="en-US" altLang="en-US" sz="2200" dirty="0"/>
          </a:p>
          <a:p>
            <a:pPr lvl="1"/>
            <a:r>
              <a:rPr lang="zh-CN" altLang="en-US" sz="2200" dirty="0"/>
              <a:t>分布式</a:t>
            </a:r>
            <a:endParaRPr lang="en-US" altLang="en-US" sz="2200" dirty="0"/>
          </a:p>
          <a:p>
            <a:pPr lvl="1"/>
            <a:endParaRPr lang="en-US" altLang="en-US" sz="2200" dirty="0"/>
          </a:p>
          <a:p>
            <a:r>
              <a:rPr lang="zh-CN" altLang="en-US" sz="2200" dirty="0"/>
              <a:t>新兴数据科学和数据驱动发现领域的关键组成部分</a:t>
            </a:r>
            <a:endParaRPr lang="en-US" altLang="en-US" sz="2200" b="1" dirty="0"/>
          </a:p>
        </p:txBody>
      </p:sp>
      <p:sp>
        <p:nvSpPr>
          <p:cNvPr id="17412" name="Rectangle 5">
            <a:extLst>
              <a:ext uri="{FF2B5EF4-FFF2-40B4-BE49-F238E27FC236}">
                <a16:creationId xmlns:a16="http://schemas.microsoft.com/office/drawing/2014/main" id="{F0661D9F-92C7-4A09-9F9E-55614639CC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280400" cy="533400"/>
          </a:xfrm>
        </p:spPr>
        <p:txBody>
          <a:bodyPr lIns="0" rIns="0"/>
          <a:lstStyle/>
          <a:p>
            <a:r>
              <a:rPr lang="zh-CN" altLang="en-US" dirty="0"/>
              <a:t>数据挖掘的起源</a:t>
            </a:r>
            <a:endParaRPr lang="en-US" altLang="en-US" dirty="0"/>
          </a:p>
        </p:txBody>
      </p:sp>
      <p:sp>
        <p:nvSpPr>
          <p:cNvPr id="17413" name="Slide Number Placeholder 7">
            <a:extLst>
              <a:ext uri="{FF2B5EF4-FFF2-40B4-BE49-F238E27FC236}">
                <a16:creationId xmlns:a16="http://schemas.microsoft.com/office/drawing/2014/main" id="{4EA73063-ADA6-4BA9-B007-BA4A34E69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DE198E79-1332-4CB1-8D9F-0FA3E10EEF9D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17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9C7893E-9FCD-484E-B237-6615CCFE4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</a:p>
        </p:txBody>
      </p:sp>
      <p:sp>
        <p:nvSpPr>
          <p:cNvPr id="10" name="Date Placeholder 5">
            <a:extLst>
              <a:ext uri="{FF2B5EF4-FFF2-40B4-BE49-F238E27FC236}">
                <a16:creationId xmlns:a16="http://schemas.microsoft.com/office/drawing/2014/main" id="{148FAAD4-37C0-41D4-B80D-541BA76C13A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777D25-DB4E-3BED-93C2-F42C9A8AB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次</a:t>
            </a:r>
            <a:r>
              <a:rPr lang="en-US" altLang="zh-CN" dirty="0"/>
              <a:t>AI</a:t>
            </a:r>
            <a:r>
              <a:rPr lang="zh-CN" altLang="en-US" dirty="0"/>
              <a:t>浪潮的基础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EEC145-5B43-BF97-298A-B5DC602BC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p"/>
            </a:pPr>
            <a:r>
              <a:rPr lang="en-US" altLang="zh-CN" sz="3200" dirty="0"/>
              <a:t>2006</a:t>
            </a:r>
            <a:r>
              <a:rPr lang="zh-CN" altLang="en-US" sz="3200" dirty="0"/>
              <a:t>年以来，</a:t>
            </a:r>
            <a:r>
              <a:rPr lang="en-US" altLang="zh-CN" sz="3200" dirty="0"/>
              <a:t>AI</a:t>
            </a:r>
            <a:r>
              <a:rPr lang="zh-CN" altLang="en-US" sz="3200" dirty="0"/>
              <a:t>兴起的三大关键要素：</a:t>
            </a:r>
            <a:endParaRPr lang="en-US" altLang="zh-CN" sz="3200" dirty="0"/>
          </a:p>
          <a:p>
            <a:pPr lvl="1">
              <a:buFont typeface="Wingdings" panose="05000000000000000000" pitchFamily="2" charset="2"/>
              <a:buChar char="u"/>
            </a:pPr>
            <a:r>
              <a:rPr lang="zh-CN" altLang="en-US" dirty="0"/>
              <a:t>（大）</a:t>
            </a:r>
            <a:r>
              <a:rPr lang="zh-CN" altLang="en-US" dirty="0">
                <a:solidFill>
                  <a:srgbClr val="FF0000"/>
                </a:solidFill>
              </a:rPr>
              <a:t>数据</a:t>
            </a:r>
            <a:r>
              <a:rPr lang="zh-CN" altLang="en-US" dirty="0"/>
              <a:t>：各行各业的数据采集与存储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u"/>
            </a:pPr>
            <a:r>
              <a:rPr lang="zh-CN" altLang="en-US" dirty="0"/>
              <a:t>（大）</a:t>
            </a:r>
            <a:r>
              <a:rPr lang="zh-CN" altLang="en-US" dirty="0">
                <a:solidFill>
                  <a:srgbClr val="FF0000"/>
                </a:solidFill>
              </a:rPr>
              <a:t>模型</a:t>
            </a:r>
            <a:r>
              <a:rPr lang="zh-CN" altLang="en-US" dirty="0"/>
              <a:t>：深度学习模型及其优化算法</a:t>
            </a:r>
            <a:endParaRPr lang="en-US" altLang="zh-CN" dirty="0"/>
          </a:p>
          <a:p>
            <a:pPr lvl="2"/>
            <a:r>
              <a:rPr lang="en-US" altLang="zh-CN" dirty="0"/>
              <a:t>CNN</a:t>
            </a:r>
            <a:r>
              <a:rPr lang="zh-CN" altLang="en-US" dirty="0"/>
              <a:t>、</a:t>
            </a:r>
            <a:r>
              <a:rPr lang="en-US" altLang="zh-CN" dirty="0"/>
              <a:t>RNN</a:t>
            </a:r>
            <a:r>
              <a:rPr lang="zh-CN" altLang="en-US" dirty="0"/>
              <a:t>、</a:t>
            </a:r>
            <a:r>
              <a:rPr lang="en-US" altLang="zh-CN" dirty="0"/>
              <a:t>Transformer</a:t>
            </a:r>
          </a:p>
          <a:p>
            <a:pPr lvl="2"/>
            <a:r>
              <a:rPr lang="en-US" altLang="zh-CN" dirty="0"/>
              <a:t>LLM</a:t>
            </a:r>
            <a:r>
              <a:rPr lang="zh-CN" altLang="en-US" dirty="0"/>
              <a:t>、</a:t>
            </a:r>
            <a:r>
              <a:rPr lang="en-US" altLang="zh-CN" dirty="0"/>
              <a:t>ChatGPT</a:t>
            </a:r>
            <a:r>
              <a:rPr lang="zh-CN" altLang="en-US" dirty="0"/>
              <a:t>、</a:t>
            </a:r>
            <a:r>
              <a:rPr lang="en-US" altLang="zh-CN" dirty="0"/>
              <a:t>Sora</a:t>
            </a:r>
          </a:p>
          <a:p>
            <a:pPr lvl="1">
              <a:buFont typeface="Wingdings" panose="05000000000000000000" pitchFamily="2" charset="2"/>
              <a:buChar char="u"/>
            </a:pPr>
            <a:r>
              <a:rPr lang="zh-CN" altLang="en-US" dirty="0"/>
              <a:t>（大）算力：</a:t>
            </a:r>
            <a:r>
              <a:rPr lang="en-US" altLang="zh-CN" dirty="0"/>
              <a:t>GPU</a:t>
            </a:r>
            <a:r>
              <a:rPr lang="zh-CN" altLang="en-US" dirty="0"/>
              <a:t>、</a:t>
            </a:r>
            <a:r>
              <a:rPr lang="en-US" altLang="zh-CN" dirty="0"/>
              <a:t>cluster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/>
              <a:t>可预见的未来，重要性依旧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p"/>
            </a:pP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D46A89-8309-50FA-9024-6277B0167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AE6A18-AC49-DB85-FD2E-EF1AB2023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E9B779-17E4-22CA-E2AA-036A1FD40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4E48-8EBF-45D4-86A6-5BE608535861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00708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70B0DBDB-A1E7-4FDF-8FE9-404E057AA6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数据挖掘的两大任务</a:t>
            </a:r>
            <a:endParaRPr lang="en-US" altLang="en-US" dirty="0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9E6C41CF-BE03-4BA4-A64A-5016EF5817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399"/>
            <a:ext cx="8178800" cy="4570413"/>
          </a:xfrm>
        </p:spPr>
        <p:txBody>
          <a:bodyPr/>
          <a:lstStyle/>
          <a:p>
            <a:r>
              <a:rPr lang="zh-CN" altLang="en-US" dirty="0"/>
              <a:t>预测</a:t>
            </a:r>
            <a:endParaRPr lang="en-US" altLang="en-US" dirty="0"/>
          </a:p>
          <a:p>
            <a:pPr lvl="1"/>
            <a:r>
              <a:rPr lang="zh-CN" altLang="en-US" dirty="0"/>
              <a:t>利用若干变量预测未知或未来的状态</a:t>
            </a:r>
            <a:endParaRPr lang="en-US" altLang="en-US" dirty="0"/>
          </a:p>
          <a:p>
            <a:pPr lvl="1"/>
            <a:r>
              <a:rPr lang="zh-CN" altLang="en-US" dirty="0"/>
              <a:t>天气预报、股票（尽管很难）、电力</a:t>
            </a:r>
            <a:endParaRPr lang="en-US" altLang="en-US" dirty="0"/>
          </a:p>
          <a:p>
            <a:pPr lvl="2">
              <a:buFont typeface="Wingdings" panose="05000000000000000000" pitchFamily="2" charset="2"/>
              <a:buNone/>
            </a:pPr>
            <a:endParaRPr lang="en-US" altLang="en-US" dirty="0"/>
          </a:p>
          <a:p>
            <a:r>
              <a:rPr lang="zh-CN" altLang="en-US" dirty="0"/>
              <a:t>描述</a:t>
            </a:r>
            <a:endParaRPr lang="en-US" altLang="en-US" dirty="0"/>
          </a:p>
          <a:p>
            <a:pPr lvl="1"/>
            <a:r>
              <a:rPr lang="zh-CN" altLang="en-US" dirty="0"/>
              <a:t>从数据中发现</a:t>
            </a:r>
            <a:r>
              <a:rPr lang="zh-CN" altLang="en-US" b="1" dirty="0">
                <a:solidFill>
                  <a:srgbClr val="FF0000"/>
                </a:solidFill>
              </a:rPr>
              <a:t>可解释</a:t>
            </a:r>
            <a:r>
              <a:rPr lang="zh-CN" altLang="en-US" dirty="0"/>
              <a:t>的模式</a:t>
            </a:r>
            <a:endParaRPr lang="en-US" altLang="en-US" dirty="0"/>
          </a:p>
          <a:p>
            <a:pPr lvl="1"/>
            <a:r>
              <a:rPr lang="zh-CN" altLang="en-US" dirty="0"/>
              <a:t>癌症分期、信用卡用户行为</a:t>
            </a:r>
            <a:endParaRPr lang="en-US" altLang="en-US" dirty="0"/>
          </a:p>
          <a:p>
            <a:pPr lvl="2"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sp>
        <p:nvSpPr>
          <p:cNvPr id="19460" name="Text Box 4">
            <a:extLst>
              <a:ext uri="{FF2B5EF4-FFF2-40B4-BE49-F238E27FC236}">
                <a16:creationId xmlns:a16="http://schemas.microsoft.com/office/drawing/2014/main" id="{B8EC8135-3EF8-40B5-96D7-252D027D09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5973763"/>
            <a:ext cx="51355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 b="0">
                <a:latin typeface="Times New Roman" panose="02020603050405020304" pitchFamily="18" charset="0"/>
              </a:rPr>
              <a:t>From [Fayyad, et.al.] Advances in Knowledge Discovery and Data Mining, 1996</a:t>
            </a:r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9461" name="Slide Number Placeholder 7">
            <a:extLst>
              <a:ext uri="{FF2B5EF4-FFF2-40B4-BE49-F238E27FC236}">
                <a16:creationId xmlns:a16="http://schemas.microsoft.com/office/drawing/2014/main" id="{23E6CCB8-53A3-4ACA-B6DF-B5514C0F7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8320D22-9F98-42E8-87A1-D1AB43BEB86B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19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32A3367-A631-47A3-949F-B559D8625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</a:p>
        </p:txBody>
      </p:sp>
      <p:sp>
        <p:nvSpPr>
          <p:cNvPr id="8" name="Date Placeholder 5">
            <a:extLst>
              <a:ext uri="{FF2B5EF4-FFF2-40B4-BE49-F238E27FC236}">
                <a16:creationId xmlns:a16="http://schemas.microsoft.com/office/drawing/2014/main" id="{9C89CC9C-58DB-4E6F-8BC1-67C666E54A9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Object 2">
            <a:extLst>
              <a:ext uri="{FF2B5EF4-FFF2-40B4-BE49-F238E27FC236}">
                <a16:creationId xmlns:a16="http://schemas.microsoft.com/office/drawing/2014/main" id="{3C67B48B-BDE0-493A-9234-2234400D78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62600" y="1066800"/>
          <a:ext cx="3227388" cy="182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VISIO" r:id="rId4" imgW="4939284" imgH="2802636" progId="Visio.Drawing.6">
                  <p:embed/>
                </p:oleObj>
              </mc:Choice>
              <mc:Fallback>
                <p:oleObj name="VISIO" r:id="rId4" imgW="4939284" imgH="2802636" progId="Visio.Drawing.6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1066800"/>
                        <a:ext cx="3227388" cy="182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3" name="Object 4">
            <a:extLst>
              <a:ext uri="{FF2B5EF4-FFF2-40B4-BE49-F238E27FC236}">
                <a16:creationId xmlns:a16="http://schemas.microsoft.com/office/drawing/2014/main" id="{73B33E09-2F7D-45C8-8A14-CED37B24F2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70225" y="2667000"/>
          <a:ext cx="1473200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Document" r:id="rId6" imgW="5207508" imgH="8185404" progId="Word.Document.8">
                  <p:embed/>
                </p:oleObj>
              </mc:Choice>
              <mc:Fallback>
                <p:oleObj name="Document" r:id="rId6" imgW="5207508" imgH="8185404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0225" y="2667000"/>
                        <a:ext cx="1473200" cy="228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484" name="Group 5">
            <a:extLst>
              <a:ext uri="{FF2B5EF4-FFF2-40B4-BE49-F238E27FC236}">
                <a16:creationId xmlns:a16="http://schemas.microsoft.com/office/drawing/2014/main" id="{B45C1A8B-0D6F-4F83-AE64-6AC1607D9D3C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1143000"/>
            <a:ext cx="1600200" cy="1295400"/>
            <a:chOff x="2160" y="2544"/>
            <a:chExt cx="1920" cy="1687"/>
          </a:xfrm>
        </p:grpSpPr>
        <p:sp>
          <p:nvSpPr>
            <p:cNvPr id="20511" name="Line 6">
              <a:extLst>
                <a:ext uri="{FF2B5EF4-FFF2-40B4-BE49-F238E27FC236}">
                  <a16:creationId xmlns:a16="http://schemas.microsoft.com/office/drawing/2014/main" id="{95E82E67-86BF-4192-98F8-B61CEAB0C4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2544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2" name="Line 7">
              <a:extLst>
                <a:ext uri="{FF2B5EF4-FFF2-40B4-BE49-F238E27FC236}">
                  <a16:creationId xmlns:a16="http://schemas.microsoft.com/office/drawing/2014/main" id="{42E0EEE8-C704-4F90-997A-3474241F5B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3696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3" name="Freeform 8">
              <a:extLst>
                <a:ext uri="{FF2B5EF4-FFF2-40B4-BE49-F238E27FC236}">
                  <a16:creationId xmlns:a16="http://schemas.microsoft.com/office/drawing/2014/main" id="{7C25A6A8-D163-4F4E-9A2A-F4D62D6FD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6" y="3696"/>
              <a:ext cx="510" cy="535"/>
            </a:xfrm>
            <a:custGeom>
              <a:avLst/>
              <a:gdLst>
                <a:gd name="T0" fmla="*/ 510 w 510"/>
                <a:gd name="T1" fmla="*/ 0 h 535"/>
                <a:gd name="T2" fmla="*/ 0 w 510"/>
                <a:gd name="T3" fmla="*/ 535 h 535"/>
                <a:gd name="T4" fmla="*/ 0 60000 65536"/>
                <a:gd name="T5" fmla="*/ 0 60000 65536"/>
                <a:gd name="T6" fmla="*/ 0 w 510"/>
                <a:gd name="T7" fmla="*/ 0 h 535"/>
                <a:gd name="T8" fmla="*/ 510 w 510"/>
                <a:gd name="T9" fmla="*/ 535 h 53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10" h="535">
                  <a:moveTo>
                    <a:pt x="510" y="0"/>
                  </a:moveTo>
                  <a:lnTo>
                    <a:pt x="0" y="53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4" name="AutoShape 9">
              <a:extLst>
                <a:ext uri="{FF2B5EF4-FFF2-40B4-BE49-F238E27FC236}">
                  <a16:creationId xmlns:a16="http://schemas.microsoft.com/office/drawing/2014/main" id="{2D8E6BD0-BF7F-4A3B-A2E6-9B65C73F5A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15" name="AutoShape 10">
              <a:extLst>
                <a:ext uri="{FF2B5EF4-FFF2-40B4-BE49-F238E27FC236}">
                  <a16:creationId xmlns:a16="http://schemas.microsoft.com/office/drawing/2014/main" id="{CAD82A16-4731-4437-8E0D-DF3707AFF7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16" name="AutoShape 11">
              <a:extLst>
                <a:ext uri="{FF2B5EF4-FFF2-40B4-BE49-F238E27FC236}">
                  <a16:creationId xmlns:a16="http://schemas.microsoft.com/office/drawing/2014/main" id="{4460BDA1-10A4-4A33-AB51-29258158CD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73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17" name="AutoShape 12">
              <a:extLst>
                <a:ext uri="{FF2B5EF4-FFF2-40B4-BE49-F238E27FC236}">
                  <a16:creationId xmlns:a16="http://schemas.microsoft.com/office/drawing/2014/main" id="{7B47AA91-531D-4DD5-AEE3-10BBA69DEE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302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18" name="AutoShape 13">
              <a:extLst>
                <a:ext uri="{FF2B5EF4-FFF2-40B4-BE49-F238E27FC236}">
                  <a16:creationId xmlns:a16="http://schemas.microsoft.com/office/drawing/2014/main" id="{FD8A0D6F-0D64-4904-A38A-763150DB8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19" name="AutoShape 14">
              <a:extLst>
                <a:ext uri="{FF2B5EF4-FFF2-40B4-BE49-F238E27FC236}">
                  <a16:creationId xmlns:a16="http://schemas.microsoft.com/office/drawing/2014/main" id="{8E34DDD0-C945-457D-8D6E-87697EE04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278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20" name="AutoShape 15">
              <a:extLst>
                <a:ext uri="{FF2B5EF4-FFF2-40B4-BE49-F238E27FC236}">
                  <a16:creationId xmlns:a16="http://schemas.microsoft.com/office/drawing/2014/main" id="{A36E90E0-9CF9-4B03-A31B-91597D63C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73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21" name="AutoShape 16">
              <a:extLst>
                <a:ext uri="{FF2B5EF4-FFF2-40B4-BE49-F238E27FC236}">
                  <a16:creationId xmlns:a16="http://schemas.microsoft.com/office/drawing/2014/main" id="{766117DC-C801-482A-B24C-219D94DE1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297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22" name="AutoShape 17">
              <a:extLst>
                <a:ext uri="{FF2B5EF4-FFF2-40B4-BE49-F238E27FC236}">
                  <a16:creationId xmlns:a16="http://schemas.microsoft.com/office/drawing/2014/main" id="{5448ACC0-DA1B-4D80-8DA5-10A1703B0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97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23" name="AutoShape 18">
              <a:extLst>
                <a:ext uri="{FF2B5EF4-FFF2-40B4-BE49-F238E27FC236}">
                  <a16:creationId xmlns:a16="http://schemas.microsoft.com/office/drawing/2014/main" id="{631081F8-B781-44CE-A959-63A9F3BA6E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264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24" name="AutoShape 19">
              <a:extLst>
                <a:ext uri="{FF2B5EF4-FFF2-40B4-BE49-F238E27FC236}">
                  <a16:creationId xmlns:a16="http://schemas.microsoft.com/office/drawing/2014/main" id="{8F8E8653-26BB-4B7F-82EE-DC83C638A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3312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25" name="AutoShape 20">
              <a:extLst>
                <a:ext uri="{FF2B5EF4-FFF2-40B4-BE49-F238E27FC236}">
                  <a16:creationId xmlns:a16="http://schemas.microsoft.com/office/drawing/2014/main" id="{F9474974-DABF-49F7-AD21-C71FAC8F16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3456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26" name="AutoShape 21">
              <a:extLst>
                <a:ext uri="{FF2B5EF4-FFF2-40B4-BE49-F238E27FC236}">
                  <a16:creationId xmlns:a16="http://schemas.microsoft.com/office/drawing/2014/main" id="{2EF0438F-54D7-431E-9D71-D34F701886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3312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27" name="AutoShape 22">
              <a:extLst>
                <a:ext uri="{FF2B5EF4-FFF2-40B4-BE49-F238E27FC236}">
                  <a16:creationId xmlns:a16="http://schemas.microsoft.com/office/drawing/2014/main" id="{2CEB2C21-A5ED-4D58-9D29-69E8F147FB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3168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28" name="AutoShape 23">
              <a:extLst>
                <a:ext uri="{FF2B5EF4-FFF2-40B4-BE49-F238E27FC236}">
                  <a16:creationId xmlns:a16="http://schemas.microsoft.com/office/drawing/2014/main" id="{4F48C2B4-CDA8-45C2-A901-193FB36D1A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3456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29" name="AutoShape 24">
              <a:extLst>
                <a:ext uri="{FF2B5EF4-FFF2-40B4-BE49-F238E27FC236}">
                  <a16:creationId xmlns:a16="http://schemas.microsoft.com/office/drawing/2014/main" id="{927AD4DE-FD1A-45B6-9FD2-CA2291FC0C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408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30" name="AutoShape 25">
              <a:extLst>
                <a:ext uri="{FF2B5EF4-FFF2-40B4-BE49-F238E27FC236}">
                  <a16:creationId xmlns:a16="http://schemas.microsoft.com/office/drawing/2014/main" id="{C7C0397A-7560-420C-811B-6BAF49777B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355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31" name="AutoShape 26">
              <a:extLst>
                <a:ext uri="{FF2B5EF4-FFF2-40B4-BE49-F238E27FC236}">
                  <a16:creationId xmlns:a16="http://schemas.microsoft.com/office/drawing/2014/main" id="{C9F54086-B813-435C-BF90-B4A473A9A6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360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32" name="AutoShape 27">
              <a:extLst>
                <a:ext uri="{FF2B5EF4-FFF2-40B4-BE49-F238E27FC236}">
                  <a16:creationId xmlns:a16="http://schemas.microsoft.com/office/drawing/2014/main" id="{3B95143E-DFB9-4105-9DE6-E65F07313C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69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33" name="AutoShape 28">
              <a:extLst>
                <a:ext uri="{FF2B5EF4-FFF2-40B4-BE49-F238E27FC236}">
                  <a16:creationId xmlns:a16="http://schemas.microsoft.com/office/drawing/2014/main" id="{0252B2D8-3ADF-444E-A041-CBC2C7F2DF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379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34" name="AutoShape 29">
              <a:extLst>
                <a:ext uri="{FF2B5EF4-FFF2-40B4-BE49-F238E27FC236}">
                  <a16:creationId xmlns:a16="http://schemas.microsoft.com/office/drawing/2014/main" id="{8D91F722-4E1B-4FA7-8284-2AC4A0613E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379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35" name="AutoShape 30">
              <a:extLst>
                <a:ext uri="{FF2B5EF4-FFF2-40B4-BE49-F238E27FC236}">
                  <a16:creationId xmlns:a16="http://schemas.microsoft.com/office/drawing/2014/main" id="{2F24C198-20AE-474E-A8B9-2DA0E19FD81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3504" y="3648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36" name="AutoShape 31">
              <a:extLst>
                <a:ext uri="{FF2B5EF4-FFF2-40B4-BE49-F238E27FC236}">
                  <a16:creationId xmlns:a16="http://schemas.microsoft.com/office/drawing/2014/main" id="{BBD9B828-B0C4-4A91-8729-DF0676EE10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350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</p:grpSp>
      <p:sp>
        <p:nvSpPr>
          <p:cNvPr id="20485" name="Line 32">
            <a:extLst>
              <a:ext uri="{FF2B5EF4-FFF2-40B4-BE49-F238E27FC236}">
                <a16:creationId xmlns:a16="http://schemas.microsoft.com/office/drawing/2014/main" id="{BFB5708F-04A7-4BD6-A1CF-CDC3733E1BC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95800" y="2362200"/>
            <a:ext cx="1828800" cy="1295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6" name="Line 33">
            <a:extLst>
              <a:ext uri="{FF2B5EF4-FFF2-40B4-BE49-F238E27FC236}">
                <a16:creationId xmlns:a16="http://schemas.microsoft.com/office/drawing/2014/main" id="{A604F2E2-400C-41E4-97D7-3D2AAB89F3E1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2209800"/>
            <a:ext cx="2133600" cy="990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7" name="Line 34">
            <a:extLst>
              <a:ext uri="{FF2B5EF4-FFF2-40B4-BE49-F238E27FC236}">
                <a16:creationId xmlns:a16="http://schemas.microsoft.com/office/drawing/2014/main" id="{A10B6492-BD0C-45A5-B18C-586C09489C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00200" y="4343400"/>
            <a:ext cx="15240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8" name="Line 35">
            <a:extLst>
              <a:ext uri="{FF2B5EF4-FFF2-40B4-BE49-F238E27FC236}">
                <a16:creationId xmlns:a16="http://schemas.microsoft.com/office/drawing/2014/main" id="{9326BF50-E492-47BE-9EE1-0E6FC1635D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4191000"/>
            <a:ext cx="1600200" cy="990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9" name="Text Box 36">
            <a:extLst>
              <a:ext uri="{FF2B5EF4-FFF2-40B4-BE49-F238E27FC236}">
                <a16:creationId xmlns:a16="http://schemas.microsoft.com/office/drawing/2014/main" id="{C09D064E-F893-416A-9E37-A9915F93F6C9}"/>
              </a:ext>
            </a:extLst>
          </p:cNvPr>
          <p:cNvSpPr txBox="1">
            <a:spLocks noChangeArrowheads="1"/>
          </p:cNvSpPr>
          <p:nvPr/>
        </p:nvSpPr>
        <p:spPr bwMode="auto">
          <a:xfrm rot="-2160000">
            <a:off x="4352925" y="3013075"/>
            <a:ext cx="21050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Predictive Modeling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20490" name="Text Box 37">
            <a:extLst>
              <a:ext uri="{FF2B5EF4-FFF2-40B4-BE49-F238E27FC236}">
                <a16:creationId xmlns:a16="http://schemas.microsoft.com/office/drawing/2014/main" id="{7D263E8E-2F4F-4CEB-B5E6-509C4A3097AA}"/>
              </a:ext>
            </a:extLst>
          </p:cNvPr>
          <p:cNvSpPr txBox="1">
            <a:spLocks noChangeArrowheads="1"/>
          </p:cNvSpPr>
          <p:nvPr/>
        </p:nvSpPr>
        <p:spPr bwMode="auto">
          <a:xfrm rot="1500000">
            <a:off x="1630363" y="2514600"/>
            <a:ext cx="11890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Clustering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20491" name="Text Box 38">
            <a:extLst>
              <a:ext uri="{FF2B5EF4-FFF2-40B4-BE49-F238E27FC236}">
                <a16:creationId xmlns:a16="http://schemas.microsoft.com/office/drawing/2014/main" id="{ED282310-E1DA-445C-8A05-F97CF1D27E6B}"/>
              </a:ext>
            </a:extLst>
          </p:cNvPr>
          <p:cNvSpPr txBox="1">
            <a:spLocks noChangeArrowheads="1"/>
          </p:cNvSpPr>
          <p:nvPr/>
        </p:nvSpPr>
        <p:spPr bwMode="auto">
          <a:xfrm rot="-1560000">
            <a:off x="1608138" y="4349750"/>
            <a:ext cx="1363662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Association </a:t>
            </a:r>
            <a:br>
              <a:rPr lang="en-US" altLang="en-US" sz="1600">
                <a:solidFill>
                  <a:srgbClr val="006600"/>
                </a:solidFill>
              </a:rPr>
            </a:br>
            <a:r>
              <a:rPr lang="en-US" altLang="en-US" sz="1600">
                <a:solidFill>
                  <a:srgbClr val="006600"/>
                </a:solidFill>
              </a:rPr>
              <a:t>Rules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20492" name="Text Box 39">
            <a:extLst>
              <a:ext uri="{FF2B5EF4-FFF2-40B4-BE49-F238E27FC236}">
                <a16:creationId xmlns:a16="http://schemas.microsoft.com/office/drawing/2014/main" id="{12DA890C-2C0D-4FF6-BB16-1C362A5394B0}"/>
              </a:ext>
            </a:extLst>
          </p:cNvPr>
          <p:cNvSpPr txBox="1">
            <a:spLocks noChangeArrowheads="1"/>
          </p:cNvSpPr>
          <p:nvPr/>
        </p:nvSpPr>
        <p:spPr bwMode="auto">
          <a:xfrm rot="1920000">
            <a:off x="4641850" y="4267200"/>
            <a:ext cx="110966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Anomaly </a:t>
            </a:r>
            <a:br>
              <a:rPr lang="en-US" altLang="en-US" sz="1600">
                <a:solidFill>
                  <a:srgbClr val="006600"/>
                </a:solidFill>
              </a:rPr>
            </a:br>
            <a:r>
              <a:rPr lang="en-US" altLang="en-US" sz="1600">
                <a:solidFill>
                  <a:srgbClr val="006600"/>
                </a:solidFill>
              </a:rPr>
              <a:t>Detection</a:t>
            </a:r>
            <a:endParaRPr lang="en-US" altLang="en-US" sz="1600">
              <a:solidFill>
                <a:schemeClr val="bg2"/>
              </a:solidFill>
            </a:endParaRPr>
          </a:p>
        </p:txBody>
      </p:sp>
      <p:pic>
        <p:nvPicPr>
          <p:cNvPr id="20493" name="Picture 40" descr="fd01226_">
            <a:extLst>
              <a:ext uri="{FF2B5EF4-FFF2-40B4-BE49-F238E27FC236}">
                <a16:creationId xmlns:a16="http://schemas.microsoft.com/office/drawing/2014/main" id="{66983D32-387B-43B1-A1DC-0B3DBD4022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5438775"/>
            <a:ext cx="5699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94" name="Rectangle 41">
            <a:extLst>
              <a:ext uri="{FF2B5EF4-FFF2-40B4-BE49-F238E27FC236}">
                <a16:creationId xmlns:a16="http://schemas.microsoft.com/office/drawing/2014/main" id="{AA0A6528-A8F4-438D-B84E-57F9E2CBB2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5667375"/>
            <a:ext cx="4794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CC0000"/>
                </a:solidFill>
                <a:latin typeface="Tahoma" panose="020B0604030504040204" pitchFamily="34" charset="0"/>
              </a:rPr>
              <a:t>Milk</a:t>
            </a:r>
          </a:p>
        </p:txBody>
      </p:sp>
      <p:sp>
        <p:nvSpPr>
          <p:cNvPr id="20495" name="Text Box 42">
            <a:extLst>
              <a:ext uri="{FF2B5EF4-FFF2-40B4-BE49-F238E27FC236}">
                <a16:creationId xmlns:a16="http://schemas.microsoft.com/office/drawing/2014/main" id="{7E824631-BC2E-480C-AA48-6F05217B53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286000"/>
            <a:ext cx="1143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20496" name="Text Box 43">
            <a:extLst>
              <a:ext uri="{FF2B5EF4-FFF2-40B4-BE49-F238E27FC236}">
                <a16:creationId xmlns:a16="http://schemas.microsoft.com/office/drawing/2014/main" id="{27B24A8B-903B-4A92-9AA2-2C83481C9B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2209800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/>
              <a:t>Data</a:t>
            </a:r>
          </a:p>
        </p:txBody>
      </p:sp>
      <p:pic>
        <p:nvPicPr>
          <p:cNvPr id="20497" name="Picture 44">
            <a:extLst>
              <a:ext uri="{FF2B5EF4-FFF2-40B4-BE49-F238E27FC236}">
                <a16:creationId xmlns:a16="http://schemas.microsoft.com/office/drawing/2014/main" id="{07938310-0907-4701-8152-ACAB24967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61" r="63640" b="34026"/>
          <a:stretch>
            <a:fillRect/>
          </a:stretch>
        </p:blipFill>
        <p:spPr bwMode="auto">
          <a:xfrm>
            <a:off x="1524000" y="5257800"/>
            <a:ext cx="1362075" cy="1109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98" name="Line 45">
            <a:extLst>
              <a:ext uri="{FF2B5EF4-FFF2-40B4-BE49-F238E27FC236}">
                <a16:creationId xmlns:a16="http://schemas.microsoft.com/office/drawing/2014/main" id="{F9A7F677-F637-463B-A831-99D2F6DEBF47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5895975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0499" name="Group 46">
            <a:extLst>
              <a:ext uri="{FF2B5EF4-FFF2-40B4-BE49-F238E27FC236}">
                <a16:creationId xmlns:a16="http://schemas.microsoft.com/office/drawing/2014/main" id="{75C674CB-7F41-4664-9B48-C6C101AD9762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3429000"/>
            <a:ext cx="3352800" cy="2971800"/>
            <a:chOff x="3648" y="2448"/>
            <a:chExt cx="2112" cy="1872"/>
          </a:xfrm>
        </p:grpSpPr>
        <p:pic>
          <p:nvPicPr>
            <p:cNvPr id="20504" name="Picture 47">
              <a:extLst>
                <a:ext uri="{FF2B5EF4-FFF2-40B4-BE49-F238E27FC236}">
                  <a16:creationId xmlns:a16="http://schemas.microsoft.com/office/drawing/2014/main" id="{B5AB8B92-31DE-4928-BB2C-18FF7CC635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8" y="2448"/>
              <a:ext cx="2112" cy="18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05" name="Oval 48">
              <a:extLst>
                <a:ext uri="{FF2B5EF4-FFF2-40B4-BE49-F238E27FC236}">
                  <a16:creationId xmlns:a16="http://schemas.microsoft.com/office/drawing/2014/main" id="{2DD64B72-B210-44CD-A51A-C820A1517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6" y="2961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06" name="Oval 49">
              <a:extLst>
                <a:ext uri="{FF2B5EF4-FFF2-40B4-BE49-F238E27FC236}">
                  <a16:creationId xmlns:a16="http://schemas.microsoft.com/office/drawing/2014/main" id="{EFA232D5-F6F7-4891-84B5-DA8B29F255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7" y="3224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07" name="Oval 50">
              <a:extLst>
                <a:ext uri="{FF2B5EF4-FFF2-40B4-BE49-F238E27FC236}">
                  <a16:creationId xmlns:a16="http://schemas.microsoft.com/office/drawing/2014/main" id="{7A7EAEA8-BC5E-47A9-AA18-1B92935A9F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2" y="3871"/>
              <a:ext cx="86" cy="85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08" name="Oval 51">
              <a:extLst>
                <a:ext uri="{FF2B5EF4-FFF2-40B4-BE49-F238E27FC236}">
                  <a16:creationId xmlns:a16="http://schemas.microsoft.com/office/drawing/2014/main" id="{58C0E524-3B22-4439-BBC5-5EDCA4FBFC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9" y="3937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09" name="Rectangle 52">
              <a:extLst>
                <a:ext uri="{FF2B5EF4-FFF2-40B4-BE49-F238E27FC236}">
                  <a16:creationId xmlns:a16="http://schemas.microsoft.com/office/drawing/2014/main" id="{B04238A5-5267-4767-9020-D7CF9F2071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3072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10" name="Rectangle 53">
              <a:extLst>
                <a:ext uri="{FF2B5EF4-FFF2-40B4-BE49-F238E27FC236}">
                  <a16:creationId xmlns:a16="http://schemas.microsoft.com/office/drawing/2014/main" id="{357228D4-0225-48F1-8152-F9D7A48B6B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120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</p:grpSp>
      <p:sp>
        <p:nvSpPr>
          <p:cNvPr id="20500" name="Rectangle 54">
            <a:extLst>
              <a:ext uri="{FF2B5EF4-FFF2-40B4-BE49-F238E27FC236}">
                <a16:creationId xmlns:a16="http://schemas.microsoft.com/office/drawing/2014/main" id="{26DB9D79-6041-4525-9864-4FC3F6456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3200" dirty="0">
                <a:latin typeface="Tahoma" panose="020B0604030504040204" pitchFamily="34" charset="0"/>
              </a:rPr>
              <a:t>数据挖掘的</a:t>
            </a:r>
            <a:r>
              <a:rPr lang="en-US" altLang="zh-CN" sz="3200" dirty="0">
                <a:latin typeface="Tahoma" panose="020B0604030504040204" pitchFamily="34" charset="0"/>
              </a:rPr>
              <a:t>4</a:t>
            </a:r>
            <a:r>
              <a:rPr lang="zh-CN" altLang="en-US" sz="3200" dirty="0">
                <a:latin typeface="Tahoma" panose="020B0604030504040204" pitchFamily="34" charset="0"/>
              </a:rPr>
              <a:t>类方法</a:t>
            </a:r>
            <a:endParaRPr lang="en-US" altLang="en-US" sz="3200" dirty="0">
              <a:latin typeface="Tahoma" panose="020B0604030504040204" pitchFamily="34" charset="0"/>
            </a:endParaRPr>
          </a:p>
        </p:txBody>
      </p:sp>
      <p:sp>
        <p:nvSpPr>
          <p:cNvPr id="20501" name="Slide Number Placeholder 56">
            <a:extLst>
              <a:ext uri="{FF2B5EF4-FFF2-40B4-BE49-F238E27FC236}">
                <a16:creationId xmlns:a16="http://schemas.microsoft.com/office/drawing/2014/main" id="{1F9C0155-EAB8-4804-9A91-709B0F647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29DDF18C-5299-4C45-A7F0-3686537074CD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20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58" name="Footer Placeholder 57">
            <a:extLst>
              <a:ext uri="{FF2B5EF4-FFF2-40B4-BE49-F238E27FC236}">
                <a16:creationId xmlns:a16="http://schemas.microsoft.com/office/drawing/2014/main" id="{079A77D9-8D16-4F71-9B54-9FBC6B65B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</a:p>
        </p:txBody>
      </p:sp>
      <p:sp>
        <p:nvSpPr>
          <p:cNvPr id="57" name="Date Placeholder 5">
            <a:extLst>
              <a:ext uri="{FF2B5EF4-FFF2-40B4-BE49-F238E27FC236}">
                <a16:creationId xmlns:a16="http://schemas.microsoft.com/office/drawing/2014/main" id="{978C9724-4620-4D5A-A491-EF0E3A2500F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>
            <a:extLst>
              <a:ext uri="{FF2B5EF4-FFF2-40B4-BE49-F238E27FC236}">
                <a16:creationId xmlns:a16="http://schemas.microsoft.com/office/drawing/2014/main" id="{7F181FFC-C8C6-4BE8-84B6-A478C99DFA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1163" y="990600"/>
            <a:ext cx="8318500" cy="5334000"/>
          </a:xfrm>
        </p:spPr>
        <p:txBody>
          <a:bodyPr/>
          <a:lstStyle/>
          <a:p>
            <a:pPr marL="342900" indent="-342900">
              <a:lnSpc>
                <a:spcPct val="90000"/>
              </a:lnSpc>
            </a:pPr>
            <a:r>
              <a:rPr lang="zh-CN" altLang="en-US" dirty="0"/>
              <a:t>找到一个模型，输入为一组变量，输出为标签</a:t>
            </a:r>
            <a:endParaRPr lang="en-US" altLang="en-US" dirty="0"/>
          </a:p>
          <a:p>
            <a:pPr marL="342900" indent="-342900">
              <a:lnSpc>
                <a:spcPct val="90000"/>
              </a:lnSpc>
            </a:pPr>
            <a:endParaRPr lang="en-US" altLang="en-US" dirty="0"/>
          </a:p>
          <a:p>
            <a:pPr marL="342900" indent="-342900">
              <a:lnSpc>
                <a:spcPct val="90000"/>
              </a:lnSpc>
            </a:pPr>
            <a:endParaRPr lang="en-US" altLang="en-US" dirty="0"/>
          </a:p>
          <a:p>
            <a:pPr marL="342900" indent="-342900">
              <a:lnSpc>
                <a:spcPct val="90000"/>
              </a:lnSpc>
            </a:pPr>
            <a:endParaRPr lang="en-US" altLang="en-US" dirty="0"/>
          </a:p>
          <a:p>
            <a:pPr marL="342900" indent="-342900">
              <a:lnSpc>
                <a:spcPct val="90000"/>
              </a:lnSpc>
            </a:pPr>
            <a:endParaRPr lang="en-US" altLang="en-US" dirty="0"/>
          </a:p>
          <a:p>
            <a:pPr marL="342900" indent="-342900">
              <a:lnSpc>
                <a:spcPct val="90000"/>
              </a:lnSpc>
            </a:pPr>
            <a:endParaRPr lang="en-US" altLang="en-US" dirty="0"/>
          </a:p>
        </p:txBody>
      </p:sp>
      <p:graphicFrame>
        <p:nvGraphicFramePr>
          <p:cNvPr id="22531" name="Object 4">
            <a:extLst>
              <a:ext uri="{FF2B5EF4-FFF2-40B4-BE49-F238E27FC236}">
                <a16:creationId xmlns:a16="http://schemas.microsoft.com/office/drawing/2014/main" id="{3B6794EA-F0C3-4447-9624-E201EF68CC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" y="2762250"/>
          <a:ext cx="4438650" cy="196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Document" r:id="rId4" imgW="8203692" imgH="3634740" progId="Word.Document.8">
                  <p:embed/>
                </p:oleObj>
              </mc:Choice>
              <mc:Fallback>
                <p:oleObj name="Document" r:id="rId4" imgW="8203692" imgH="363474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762250"/>
                        <a:ext cx="4438650" cy="196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2" name="Text Box 5">
            <a:extLst>
              <a:ext uri="{FF2B5EF4-FFF2-40B4-BE49-F238E27FC236}">
                <a16:creationId xmlns:a16="http://schemas.microsoft.com/office/drawing/2014/main" id="{7EA61E12-6C1A-4680-B093-55666A4C62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00200"/>
            <a:ext cx="3048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0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FF0000"/>
                </a:solidFill>
              </a:rPr>
              <a:t>Model for predicting credit worthiness</a:t>
            </a:r>
          </a:p>
        </p:txBody>
      </p:sp>
      <p:sp>
        <p:nvSpPr>
          <p:cNvPr id="22533" name="Text Box 6">
            <a:extLst>
              <a:ext uri="{FF2B5EF4-FFF2-40B4-BE49-F238E27FC236}">
                <a16:creationId xmlns:a16="http://schemas.microsoft.com/office/drawing/2014/main" id="{219E7121-71B5-41EB-B2EB-8B387E48A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381250"/>
            <a:ext cx="990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solidFill>
                  <a:srgbClr val="2A8487"/>
                </a:solidFill>
              </a:rPr>
              <a:t>Class</a:t>
            </a:r>
          </a:p>
        </p:txBody>
      </p:sp>
      <p:graphicFrame>
        <p:nvGraphicFramePr>
          <p:cNvPr id="22534" name="Object 7">
            <a:extLst>
              <a:ext uri="{FF2B5EF4-FFF2-40B4-BE49-F238E27FC236}">
                <a16:creationId xmlns:a16="http://schemas.microsoft.com/office/drawing/2014/main" id="{353B0B76-DAE1-4E03-9BB3-35F12B004A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0" y="2266950"/>
          <a:ext cx="4114800" cy="413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VISIO" r:id="rId6" imgW="7088124" imgH="7124700" progId="Visio.Drawing.6">
                  <p:embed/>
                </p:oleObj>
              </mc:Choice>
              <mc:Fallback>
                <p:oleObj name="VISIO" r:id="rId6" imgW="7088124" imgH="7124700" progId="Visio.Drawing.6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266950"/>
                        <a:ext cx="4114800" cy="413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5" name="Rectangle 8">
            <a:extLst>
              <a:ext uri="{FF2B5EF4-FFF2-40B4-BE49-F238E27FC236}">
                <a16:creationId xmlns:a16="http://schemas.microsoft.com/office/drawing/2014/main" id="{F9D892F0-AD61-4634-A2CB-BCBE4B57D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3200" dirty="0">
                <a:latin typeface="Tahoma" panose="020B0604030504040204" pitchFamily="34" charset="0"/>
              </a:rPr>
              <a:t>预测建模</a:t>
            </a:r>
            <a:r>
              <a:rPr lang="en-US" altLang="en-US" sz="3200" dirty="0">
                <a:latin typeface="Tahoma" panose="020B0604030504040204" pitchFamily="34" charset="0"/>
              </a:rPr>
              <a:t>: </a:t>
            </a:r>
            <a:r>
              <a:rPr lang="zh-CN" altLang="en-US" sz="3200" dirty="0">
                <a:latin typeface="Tahoma" panose="020B0604030504040204" pitchFamily="34" charset="0"/>
              </a:rPr>
              <a:t>分类</a:t>
            </a:r>
            <a:endParaRPr lang="en-US" altLang="en-US" sz="3200" dirty="0">
              <a:latin typeface="Tahoma" panose="020B0604030504040204" pitchFamily="34" charset="0"/>
            </a:endParaRPr>
          </a:p>
        </p:txBody>
      </p:sp>
      <p:sp>
        <p:nvSpPr>
          <p:cNvPr id="22536" name="Slide Number Placeholder 10">
            <a:extLst>
              <a:ext uri="{FF2B5EF4-FFF2-40B4-BE49-F238E27FC236}">
                <a16:creationId xmlns:a16="http://schemas.microsoft.com/office/drawing/2014/main" id="{E0B868CA-22D6-465B-80AE-6B3A57312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78DE48AD-7E6F-454C-A229-24C403CF40D8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21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C36FACD6-8EC6-4A97-9554-1AE52E3E8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</a:p>
        </p:txBody>
      </p:sp>
      <p:sp>
        <p:nvSpPr>
          <p:cNvPr id="11" name="Date Placeholder 5">
            <a:extLst>
              <a:ext uri="{FF2B5EF4-FFF2-40B4-BE49-F238E27FC236}">
                <a16:creationId xmlns:a16="http://schemas.microsoft.com/office/drawing/2014/main" id="{5B96914F-C708-40F2-9C59-8E3918D35F3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C32CD4A4-C1F1-49FE-A988-4043CC94E8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分类举例</a:t>
            </a:r>
            <a:endParaRPr lang="en-US" altLang="en-US" dirty="0"/>
          </a:p>
        </p:txBody>
      </p:sp>
      <p:sp>
        <p:nvSpPr>
          <p:cNvPr id="24579" name="Text Box 4">
            <a:extLst>
              <a:ext uri="{FF2B5EF4-FFF2-40B4-BE49-F238E27FC236}">
                <a16:creationId xmlns:a16="http://schemas.microsoft.com/office/drawing/2014/main" id="{DDA83841-D102-40D9-85C9-3065EDEF6A67}"/>
              </a:ext>
            </a:extLst>
          </p:cNvPr>
          <p:cNvSpPr txBox="1">
            <a:spLocks noChangeArrowheads="1"/>
          </p:cNvSpPr>
          <p:nvPr/>
        </p:nvSpPr>
        <p:spPr bwMode="auto">
          <a:xfrm rot="-2416809">
            <a:off x="838200" y="1690688"/>
            <a:ext cx="12573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categorical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24580" name="Text Box 5">
            <a:extLst>
              <a:ext uri="{FF2B5EF4-FFF2-40B4-BE49-F238E27FC236}">
                <a16:creationId xmlns:a16="http://schemas.microsoft.com/office/drawing/2014/main" id="{C1914E51-7AAC-45DA-9710-4C9DE561418C}"/>
              </a:ext>
            </a:extLst>
          </p:cNvPr>
          <p:cNvSpPr txBox="1">
            <a:spLocks noChangeArrowheads="1"/>
          </p:cNvSpPr>
          <p:nvPr/>
        </p:nvSpPr>
        <p:spPr bwMode="auto">
          <a:xfrm rot="-2416809">
            <a:off x="1746250" y="1690688"/>
            <a:ext cx="12573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categorical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24581" name="Text Box 6">
            <a:extLst>
              <a:ext uri="{FF2B5EF4-FFF2-40B4-BE49-F238E27FC236}">
                <a16:creationId xmlns:a16="http://schemas.microsoft.com/office/drawing/2014/main" id="{3F10EB46-9E7B-431B-85BC-5AD90466C30B}"/>
              </a:ext>
            </a:extLst>
          </p:cNvPr>
          <p:cNvSpPr txBox="1">
            <a:spLocks noChangeArrowheads="1"/>
          </p:cNvSpPr>
          <p:nvPr/>
        </p:nvSpPr>
        <p:spPr bwMode="auto">
          <a:xfrm rot="-2416809">
            <a:off x="2640013" y="1668463"/>
            <a:ext cx="13255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quantitative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24582" name="Text Box 7">
            <a:extLst>
              <a:ext uri="{FF2B5EF4-FFF2-40B4-BE49-F238E27FC236}">
                <a16:creationId xmlns:a16="http://schemas.microsoft.com/office/drawing/2014/main" id="{E0A935BD-1A4A-4950-B0C3-EC03EA1FD358}"/>
              </a:ext>
            </a:extLst>
          </p:cNvPr>
          <p:cNvSpPr txBox="1">
            <a:spLocks noChangeArrowheads="1"/>
          </p:cNvSpPr>
          <p:nvPr/>
        </p:nvSpPr>
        <p:spPr bwMode="auto">
          <a:xfrm rot="-2416809">
            <a:off x="3651250" y="1873250"/>
            <a:ext cx="692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class</a:t>
            </a:r>
            <a:endParaRPr lang="en-US" altLang="en-US" sz="1600">
              <a:solidFill>
                <a:schemeClr val="bg2"/>
              </a:solidFill>
            </a:endParaRPr>
          </a:p>
        </p:txBody>
      </p:sp>
      <p:grpSp>
        <p:nvGrpSpPr>
          <p:cNvPr id="24583" name="Group 9">
            <a:extLst>
              <a:ext uri="{FF2B5EF4-FFF2-40B4-BE49-F238E27FC236}">
                <a16:creationId xmlns:a16="http://schemas.microsoft.com/office/drawing/2014/main" id="{913A135E-B500-43B0-83C3-22FBCAF7E970}"/>
              </a:ext>
            </a:extLst>
          </p:cNvPr>
          <p:cNvGrpSpPr>
            <a:grpSpLocks/>
          </p:cNvGrpSpPr>
          <p:nvPr/>
        </p:nvGrpSpPr>
        <p:grpSpPr bwMode="auto">
          <a:xfrm>
            <a:off x="7696200" y="3948113"/>
            <a:ext cx="990600" cy="685800"/>
            <a:chOff x="4944" y="2736"/>
            <a:chExt cx="624" cy="432"/>
          </a:xfrm>
        </p:grpSpPr>
        <p:sp>
          <p:nvSpPr>
            <p:cNvPr id="24601" name="AutoShape 10">
              <a:extLst>
                <a:ext uri="{FF2B5EF4-FFF2-40B4-BE49-F238E27FC236}">
                  <a16:creationId xmlns:a16="http://schemas.microsoft.com/office/drawing/2014/main" id="{3ED90AB2-E4AF-4421-A440-9C8B1DD9DF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2736"/>
              <a:ext cx="624" cy="432"/>
            </a:xfrm>
            <a:prstGeom prst="can">
              <a:avLst>
                <a:gd name="adj" fmla="val 25000"/>
              </a:avLst>
            </a:prstGeom>
            <a:solidFill>
              <a:srgbClr val="CCCCFF"/>
            </a:solidFill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4602" name="Text Box 11">
              <a:extLst>
                <a:ext uri="{FF2B5EF4-FFF2-40B4-BE49-F238E27FC236}">
                  <a16:creationId xmlns:a16="http://schemas.microsoft.com/office/drawing/2014/main" id="{8B4C79E4-1564-41B9-BB83-FA0A2DED77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6" y="2856"/>
              <a:ext cx="345" cy="29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2" charset="2"/>
                <a:buNone/>
              </a:pPr>
              <a:r>
                <a:rPr lang="en-US" altLang="en-US" sz="1400">
                  <a:solidFill>
                    <a:srgbClr val="0000CC"/>
                  </a:solidFill>
                </a:rPr>
                <a:t>Test</a:t>
              </a:r>
            </a:p>
            <a:p>
              <a:pPr algn="ctr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2" charset="2"/>
                <a:buNone/>
              </a:pPr>
              <a:r>
                <a:rPr lang="en-US" altLang="en-US" sz="1400">
                  <a:solidFill>
                    <a:srgbClr val="0000CC"/>
                  </a:solidFill>
                </a:rPr>
                <a:t>Set</a:t>
              </a:r>
              <a:endParaRPr lang="en-US" altLang="en-US" sz="1400" b="0">
                <a:solidFill>
                  <a:schemeClr val="bg2"/>
                </a:solidFill>
              </a:endParaRPr>
            </a:p>
          </p:txBody>
        </p:sp>
      </p:grpSp>
      <p:sp>
        <p:nvSpPr>
          <p:cNvPr id="24584" name="AutoShape 12">
            <a:extLst>
              <a:ext uri="{FF2B5EF4-FFF2-40B4-BE49-F238E27FC236}">
                <a16:creationId xmlns:a16="http://schemas.microsoft.com/office/drawing/2014/main" id="{42D5030D-FACB-4212-90FF-978A099CD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5091113"/>
            <a:ext cx="990600" cy="685800"/>
          </a:xfrm>
          <a:prstGeom prst="can">
            <a:avLst>
              <a:gd name="adj" fmla="val 25056"/>
            </a:avLst>
          </a:prstGeom>
          <a:solidFill>
            <a:schemeClr val="accent2"/>
          </a:solidFill>
          <a:ln w="1270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24585" name="Text Box 13">
            <a:extLst>
              <a:ext uri="{FF2B5EF4-FFF2-40B4-BE49-F238E27FC236}">
                <a16:creationId xmlns:a16="http://schemas.microsoft.com/office/drawing/2014/main" id="{37958547-E32F-4326-976A-215CE9705E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5238750"/>
            <a:ext cx="1042988" cy="53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1600">
                <a:solidFill>
                  <a:schemeClr val="tx2"/>
                </a:solidFill>
              </a:rPr>
              <a:t>Training </a:t>
            </a:r>
          </a:p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1600">
                <a:solidFill>
                  <a:schemeClr val="tx2"/>
                </a:solidFill>
              </a:rPr>
              <a:t>Set</a:t>
            </a:r>
            <a:endParaRPr lang="en-US" altLang="en-US" sz="1400" b="0">
              <a:solidFill>
                <a:schemeClr val="bg2"/>
              </a:solidFill>
            </a:endParaRPr>
          </a:p>
        </p:txBody>
      </p:sp>
      <p:grpSp>
        <p:nvGrpSpPr>
          <p:cNvPr id="24586" name="Group 14">
            <a:extLst>
              <a:ext uri="{FF2B5EF4-FFF2-40B4-BE49-F238E27FC236}">
                <a16:creationId xmlns:a16="http://schemas.microsoft.com/office/drawing/2014/main" id="{317EE363-8529-411C-9934-EF9F2FDA0174}"/>
              </a:ext>
            </a:extLst>
          </p:cNvPr>
          <p:cNvGrpSpPr>
            <a:grpSpLocks/>
          </p:cNvGrpSpPr>
          <p:nvPr/>
        </p:nvGrpSpPr>
        <p:grpSpPr bwMode="auto">
          <a:xfrm>
            <a:off x="7637463" y="5086350"/>
            <a:ext cx="1125537" cy="690563"/>
            <a:chOff x="3360" y="2880"/>
            <a:chExt cx="672" cy="415"/>
          </a:xfrm>
        </p:grpSpPr>
        <p:sp>
          <p:nvSpPr>
            <p:cNvPr id="24599" name="AutoShape 15">
              <a:extLst>
                <a:ext uri="{FF2B5EF4-FFF2-40B4-BE49-F238E27FC236}">
                  <a16:creationId xmlns:a16="http://schemas.microsoft.com/office/drawing/2014/main" id="{34531989-C943-4C84-B217-A9CF385879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880"/>
              <a:ext cx="672" cy="415"/>
            </a:xfrm>
            <a:prstGeom prst="flowChartMultidocument">
              <a:avLst/>
            </a:prstGeom>
            <a:solidFill>
              <a:srgbClr val="00E0CB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4600" name="Text Box 16">
              <a:extLst>
                <a:ext uri="{FF2B5EF4-FFF2-40B4-BE49-F238E27FC236}">
                  <a16:creationId xmlns:a16="http://schemas.microsoft.com/office/drawing/2014/main" id="{0BEC2129-013F-4E8E-8B57-7D6EBFB86A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2" y="2978"/>
              <a:ext cx="547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2" charset="2"/>
                <a:buNone/>
              </a:pPr>
              <a:r>
                <a:rPr lang="en-US" altLang="en-US" sz="2000">
                  <a:solidFill>
                    <a:srgbClr val="CC0000"/>
                  </a:solidFill>
                </a:rPr>
                <a:t>Model</a:t>
              </a:r>
              <a:endParaRPr lang="en-US" altLang="en-US" sz="1400" b="0">
                <a:solidFill>
                  <a:schemeClr val="bg2"/>
                </a:solidFill>
              </a:endParaRPr>
            </a:p>
          </p:txBody>
        </p:sp>
      </p:grpSp>
      <p:sp>
        <p:nvSpPr>
          <p:cNvPr id="24587" name="AutoShape 17">
            <a:extLst>
              <a:ext uri="{FF2B5EF4-FFF2-40B4-BE49-F238E27FC236}">
                <a16:creationId xmlns:a16="http://schemas.microsoft.com/office/drawing/2014/main" id="{68ED2B3C-738E-4815-971C-4B674C715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4938713"/>
            <a:ext cx="1447800" cy="995362"/>
          </a:xfrm>
          <a:prstGeom prst="bevel">
            <a:avLst>
              <a:gd name="adj" fmla="val 125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24588" name="Text Box 18">
            <a:extLst>
              <a:ext uri="{FF2B5EF4-FFF2-40B4-BE49-F238E27FC236}">
                <a16:creationId xmlns:a16="http://schemas.microsoft.com/office/drawing/2014/main" id="{A4DBBD18-BE8B-4542-98B0-87AE4BCF09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5014913"/>
            <a:ext cx="1325563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2000">
                <a:solidFill>
                  <a:srgbClr val="000000"/>
                </a:solidFill>
              </a:rPr>
              <a:t>Learn </a:t>
            </a:r>
          </a:p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2000">
                <a:solidFill>
                  <a:srgbClr val="000000"/>
                </a:solidFill>
              </a:rPr>
              <a:t>Classifier</a:t>
            </a:r>
            <a:endParaRPr lang="en-US" altLang="en-US" sz="1400" b="0">
              <a:solidFill>
                <a:srgbClr val="00E0CB"/>
              </a:solidFill>
            </a:endParaRPr>
          </a:p>
        </p:txBody>
      </p:sp>
      <p:sp>
        <p:nvSpPr>
          <p:cNvPr id="24589" name="AutoShape 19">
            <a:extLst>
              <a:ext uri="{FF2B5EF4-FFF2-40B4-BE49-F238E27FC236}">
                <a16:creationId xmlns:a16="http://schemas.microsoft.com/office/drawing/2014/main" id="{0D5AD6C1-2424-4CBE-A656-5142A89971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7925" y="5349875"/>
            <a:ext cx="484188" cy="141288"/>
          </a:xfrm>
          <a:prstGeom prst="rightArrow">
            <a:avLst>
              <a:gd name="adj1" fmla="val 50000"/>
              <a:gd name="adj2" fmla="val 85674"/>
            </a:avLst>
          </a:prstGeom>
          <a:solidFill>
            <a:srgbClr val="CC0000"/>
          </a:solidFill>
          <a:ln w="12700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24590" name="AutoShape 20">
            <a:extLst>
              <a:ext uri="{FF2B5EF4-FFF2-40B4-BE49-F238E27FC236}">
                <a16:creationId xmlns:a16="http://schemas.microsoft.com/office/drawing/2014/main" id="{7C2999BE-2062-4F16-BC17-45FB89F50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5314950"/>
            <a:ext cx="484188" cy="141288"/>
          </a:xfrm>
          <a:prstGeom prst="rightArrow">
            <a:avLst>
              <a:gd name="adj1" fmla="val 50000"/>
              <a:gd name="adj2" fmla="val 85674"/>
            </a:avLst>
          </a:prstGeom>
          <a:solidFill>
            <a:srgbClr val="CC0000"/>
          </a:solidFill>
          <a:ln w="12700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24591" name="AutoShape 21">
            <a:extLst>
              <a:ext uri="{FF2B5EF4-FFF2-40B4-BE49-F238E27FC236}">
                <a16:creationId xmlns:a16="http://schemas.microsoft.com/office/drawing/2014/main" id="{13D020DA-5CC1-43FB-B88B-F29E7EA4713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073231" y="4790282"/>
            <a:ext cx="312737" cy="152400"/>
          </a:xfrm>
          <a:prstGeom prst="rightArrow">
            <a:avLst>
              <a:gd name="adj1" fmla="val 50000"/>
              <a:gd name="adj2" fmla="val 51302"/>
            </a:avLst>
          </a:prstGeom>
          <a:solidFill>
            <a:srgbClr val="CC0000"/>
          </a:solidFill>
          <a:ln w="12700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24592" name="Line 22">
            <a:extLst>
              <a:ext uri="{FF2B5EF4-FFF2-40B4-BE49-F238E27FC236}">
                <a16:creationId xmlns:a16="http://schemas.microsoft.com/office/drawing/2014/main" id="{9830D323-D86B-41C2-8D41-8CA4C0C5C0FC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4481513"/>
            <a:ext cx="304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3" name="Line 23">
            <a:extLst>
              <a:ext uri="{FF2B5EF4-FFF2-40B4-BE49-F238E27FC236}">
                <a16:creationId xmlns:a16="http://schemas.microsoft.com/office/drawing/2014/main" id="{327B4639-E732-4594-8062-8385B82C1434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3276600"/>
            <a:ext cx="304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4594" name="Object 24">
            <a:extLst>
              <a:ext uri="{FF2B5EF4-FFF2-40B4-BE49-F238E27FC236}">
                <a16:creationId xmlns:a16="http://schemas.microsoft.com/office/drawing/2014/main" id="{CAB0CC65-697C-40C5-A64C-A18BB06DF9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2438400"/>
          <a:ext cx="4438650" cy="196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Document" r:id="rId3" imgW="8203692" imgH="3634740" progId="Word.Document.8">
                  <p:embed/>
                </p:oleObj>
              </mc:Choice>
              <mc:Fallback>
                <p:oleObj name="Document" r:id="rId3" imgW="8203692" imgH="3634740" progId="Word.Document.8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438400"/>
                        <a:ext cx="4438650" cy="196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5" name="Object 25">
            <a:extLst>
              <a:ext uri="{FF2B5EF4-FFF2-40B4-BE49-F238E27FC236}">
                <a16:creationId xmlns:a16="http://schemas.microsoft.com/office/drawing/2014/main" id="{DF666818-215E-482D-941F-CC3BC78F3F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99000" y="1600200"/>
          <a:ext cx="4368800" cy="193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Document" r:id="rId5" imgW="8207072" imgH="3629483" progId="Word.Document.8">
                  <p:embed/>
                </p:oleObj>
              </mc:Choice>
              <mc:Fallback>
                <p:oleObj name="Document" r:id="rId5" imgW="8207072" imgH="3629483" progId="Word.Document.8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9000" y="1600200"/>
                        <a:ext cx="4368800" cy="193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6" name="Slide Number Placeholder 26">
            <a:extLst>
              <a:ext uri="{FF2B5EF4-FFF2-40B4-BE49-F238E27FC236}">
                <a16:creationId xmlns:a16="http://schemas.microsoft.com/office/drawing/2014/main" id="{1A9B0749-FD54-4817-A305-D77A2AA6E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C4EE9CA0-0B02-4D3A-9593-724752027235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22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8" name="Footer Placeholder 27">
            <a:extLst>
              <a:ext uri="{FF2B5EF4-FFF2-40B4-BE49-F238E27FC236}">
                <a16:creationId xmlns:a16="http://schemas.microsoft.com/office/drawing/2014/main" id="{7C5626DE-CA00-419E-B073-D59AEAA61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</a:p>
        </p:txBody>
      </p:sp>
      <p:sp>
        <p:nvSpPr>
          <p:cNvPr id="27" name="Date Placeholder 5">
            <a:extLst>
              <a:ext uri="{FF2B5EF4-FFF2-40B4-BE49-F238E27FC236}">
                <a16:creationId xmlns:a16="http://schemas.microsoft.com/office/drawing/2014/main" id="{87DAA90A-67A4-4FF7-956C-A9969D6B93D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>
            <a:extLst>
              <a:ext uri="{FF2B5EF4-FFF2-40B4-BE49-F238E27FC236}">
                <a16:creationId xmlns:a16="http://schemas.microsoft.com/office/drawing/2014/main" id="{B6E5263C-8CC4-4BAA-8CAA-3C4A43480C8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066800"/>
            <a:ext cx="6477000" cy="5410200"/>
          </a:xfrm>
        </p:spPr>
        <p:txBody>
          <a:bodyPr/>
          <a:lstStyle/>
          <a:p>
            <a:pPr marL="1828800" lvl="4" indent="0">
              <a:lnSpc>
                <a:spcPct val="80000"/>
              </a:lnSpc>
              <a:buFontTx/>
              <a:buNone/>
              <a:defRPr/>
            </a:pPr>
            <a:endParaRPr lang="en-US" altLang="en-US" dirty="0"/>
          </a:p>
          <a:p>
            <a:pPr marL="342900" indent="-342900">
              <a:lnSpc>
                <a:spcPct val="80000"/>
              </a:lnSpc>
              <a:buFont typeface="Monotype Sorts"/>
              <a:buChar char="l"/>
              <a:defRPr/>
            </a:pPr>
            <a:r>
              <a:rPr lang="zh-CN" altLang="en-US" sz="2000" dirty="0"/>
              <a:t>将信用卡交易分类为</a:t>
            </a:r>
            <a:r>
              <a:rPr lang="zh-CN" altLang="en-US" sz="2000" b="1" dirty="0"/>
              <a:t>合法</a:t>
            </a:r>
            <a:r>
              <a:rPr lang="zh-CN" altLang="en-US" sz="2000" dirty="0"/>
              <a:t>或</a:t>
            </a:r>
            <a:r>
              <a:rPr lang="zh-CN" altLang="en-US" sz="2000" b="1" dirty="0"/>
              <a:t>欺诈</a:t>
            </a:r>
            <a:endParaRPr lang="en-US" altLang="en-US" sz="2000" b="1" dirty="0">
              <a:solidFill>
                <a:srgbClr val="FF0000"/>
              </a:solidFill>
            </a:endParaRPr>
          </a:p>
          <a:p>
            <a:pPr lvl="4">
              <a:lnSpc>
                <a:spcPct val="80000"/>
              </a:lnSpc>
              <a:defRPr/>
            </a:pPr>
            <a:endParaRPr lang="en-US" altLang="en-US" dirty="0"/>
          </a:p>
          <a:p>
            <a:pPr marL="342900" indent="-342900">
              <a:lnSpc>
                <a:spcPct val="80000"/>
              </a:lnSpc>
              <a:buFont typeface="Monotype Sorts"/>
              <a:buChar char="l"/>
              <a:defRPr/>
            </a:pPr>
            <a:r>
              <a:rPr lang="zh-CN" altLang="en-US" sz="2000" dirty="0"/>
              <a:t>利用卫星数据对地表覆盖进行分类</a:t>
            </a:r>
            <a:r>
              <a:rPr lang="en-US" altLang="en-US" sz="2000" dirty="0"/>
              <a:t> (</a:t>
            </a:r>
            <a:r>
              <a:rPr lang="zh-CN" altLang="en-US" sz="2000" b="1" dirty="0"/>
              <a:t>水面、海洋、森林等</a:t>
            </a:r>
            <a:r>
              <a:rPr lang="en-US" altLang="en-US" sz="2000" dirty="0"/>
              <a:t>)</a:t>
            </a:r>
          </a:p>
          <a:p>
            <a:pPr lvl="4">
              <a:lnSpc>
                <a:spcPct val="80000"/>
              </a:lnSpc>
              <a:defRPr/>
            </a:pPr>
            <a:endParaRPr lang="en-US" altLang="en-US" dirty="0"/>
          </a:p>
          <a:p>
            <a:pPr marL="342900" indent="-342900">
              <a:lnSpc>
                <a:spcPct val="80000"/>
              </a:lnSpc>
              <a:buFont typeface="Monotype Sorts"/>
              <a:buChar char="l"/>
              <a:defRPr/>
            </a:pPr>
            <a:r>
              <a:rPr lang="zh-CN" altLang="en-US" sz="2000" dirty="0"/>
              <a:t>将</a:t>
            </a:r>
            <a:r>
              <a:rPr lang="zh-CN" altLang="en-US" sz="2000" smtClean="0"/>
              <a:t>新闻</a:t>
            </a:r>
            <a:r>
              <a:rPr lang="zh-CN" altLang="en-US" sz="2000" dirty="0"/>
              <a:t>分为</a:t>
            </a:r>
            <a:r>
              <a:rPr lang="zh-CN" altLang="en-US" sz="2000" b="1" dirty="0"/>
              <a:t>财经、气候、娱乐、体育</a:t>
            </a:r>
            <a:r>
              <a:rPr lang="zh-CN" altLang="en-US" sz="2000" dirty="0"/>
              <a:t>等</a:t>
            </a:r>
            <a:endParaRPr lang="en-US" altLang="zh-CN" sz="2000" dirty="0"/>
          </a:p>
          <a:p>
            <a:pPr marL="342900" indent="-342900">
              <a:lnSpc>
                <a:spcPct val="80000"/>
              </a:lnSpc>
              <a:buFont typeface="Monotype Sorts"/>
              <a:buChar char="l"/>
              <a:defRPr/>
            </a:pPr>
            <a:endParaRPr lang="en-US" altLang="en-US" sz="2000" dirty="0"/>
          </a:p>
          <a:p>
            <a:pPr marL="342900" indent="-342900">
              <a:lnSpc>
                <a:spcPct val="80000"/>
              </a:lnSpc>
              <a:buFont typeface="Monotype Sorts"/>
              <a:buChar char="l"/>
              <a:defRPr/>
            </a:pPr>
            <a:r>
              <a:rPr lang="zh-CN" altLang="en-US" sz="2000" dirty="0"/>
              <a:t>识别</a:t>
            </a:r>
            <a:r>
              <a:rPr lang="zh-CN" altLang="en-US" sz="2000" b="1" dirty="0"/>
              <a:t>正常访问</a:t>
            </a:r>
            <a:r>
              <a:rPr lang="zh-CN" altLang="en-US" sz="2000" dirty="0"/>
              <a:t>或</a:t>
            </a:r>
            <a:r>
              <a:rPr lang="zh-CN" altLang="en-US" sz="2000" b="1" dirty="0"/>
              <a:t>网络入侵</a:t>
            </a:r>
            <a:endParaRPr lang="en-US" altLang="en-US" sz="2000" b="1" dirty="0"/>
          </a:p>
          <a:p>
            <a:pPr marL="342900" indent="-342900">
              <a:lnSpc>
                <a:spcPct val="80000"/>
              </a:lnSpc>
              <a:buFont typeface="Monotype Sorts"/>
              <a:buChar char="l"/>
              <a:defRPr/>
            </a:pPr>
            <a:endParaRPr lang="en-US" altLang="en-US" sz="2000" dirty="0"/>
          </a:p>
          <a:p>
            <a:pPr marL="342900" indent="-342900">
              <a:lnSpc>
                <a:spcPct val="80000"/>
              </a:lnSpc>
              <a:buFont typeface="Monotype Sorts"/>
              <a:buChar char="l"/>
              <a:defRPr/>
            </a:pPr>
            <a:r>
              <a:rPr lang="zh-CN" altLang="en-US" sz="2000" dirty="0"/>
              <a:t>预测肿瘤细胞的</a:t>
            </a:r>
            <a:r>
              <a:rPr lang="zh-CN" altLang="en-US" sz="2000" b="1" dirty="0"/>
              <a:t>良恶</a:t>
            </a:r>
            <a:endParaRPr lang="en-US" altLang="en-US" sz="2000" b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80000"/>
              </a:lnSpc>
              <a:buFont typeface="Monotype Sorts"/>
              <a:buChar char="l"/>
              <a:defRPr/>
            </a:pPr>
            <a:endParaRPr lang="en-US" altLang="en-US" sz="2000" dirty="0"/>
          </a:p>
          <a:p>
            <a:pPr marL="342900" indent="-342900">
              <a:lnSpc>
                <a:spcPct val="80000"/>
              </a:lnSpc>
              <a:buFont typeface="Monotype Sorts"/>
              <a:buChar char="l"/>
              <a:defRPr/>
            </a:pPr>
            <a:r>
              <a:rPr lang="zh-CN" altLang="en-US" sz="2000" dirty="0"/>
              <a:t>蛋白组的二级结构分类</a:t>
            </a:r>
            <a:endParaRPr lang="en-US" altLang="zh-CN" sz="2000" dirty="0"/>
          </a:p>
          <a:p>
            <a:pPr marL="342900" indent="-342900">
              <a:lnSpc>
                <a:spcPct val="80000"/>
              </a:lnSpc>
              <a:buFont typeface="Monotype Sorts"/>
              <a:buChar char="l"/>
              <a:defRPr/>
            </a:pPr>
            <a:r>
              <a:rPr lang="zh-CN" altLang="en-US" sz="2000" dirty="0"/>
              <a:t>。。。</a:t>
            </a:r>
            <a:endParaRPr lang="en-US" altLang="en-US" sz="1800" dirty="0"/>
          </a:p>
          <a:p>
            <a:pPr marL="342900" indent="-342900">
              <a:lnSpc>
                <a:spcPct val="80000"/>
              </a:lnSpc>
              <a:buFont typeface="Monotype Sorts"/>
              <a:buChar char="l"/>
              <a:defRPr/>
            </a:pPr>
            <a:endParaRPr lang="en-US" altLang="en-US" sz="1800" dirty="0"/>
          </a:p>
        </p:txBody>
      </p:sp>
      <p:grpSp>
        <p:nvGrpSpPr>
          <p:cNvPr id="25603" name="Group 4">
            <a:extLst>
              <a:ext uri="{FF2B5EF4-FFF2-40B4-BE49-F238E27FC236}">
                <a16:creationId xmlns:a16="http://schemas.microsoft.com/office/drawing/2014/main" id="{F7CECC4B-FCE3-4E0C-AAFC-BFCBA63C1BB9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1143000"/>
            <a:ext cx="2057400" cy="1417638"/>
            <a:chOff x="3360" y="768"/>
            <a:chExt cx="1296" cy="893"/>
          </a:xfrm>
        </p:grpSpPr>
        <p:pic>
          <p:nvPicPr>
            <p:cNvPr id="25610" name="Picture 5" descr="story-3dimensional-2">
              <a:extLst>
                <a:ext uri="{FF2B5EF4-FFF2-40B4-BE49-F238E27FC236}">
                  <a16:creationId xmlns:a16="http://schemas.microsoft.com/office/drawing/2014/main" id="{8E47B39C-1CE7-4D4B-8B7C-9AD2C29216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18" y="768"/>
              <a:ext cx="1238" cy="8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25611" name="Object 6">
              <a:extLst>
                <a:ext uri="{FF2B5EF4-FFF2-40B4-BE49-F238E27FC236}">
                  <a16:creationId xmlns:a16="http://schemas.microsoft.com/office/drawing/2014/main" id="{B0392E80-20BA-4A95-A29A-2F2AB40DD8E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70" y="1155"/>
            <a:ext cx="432" cy="4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6" name="VISIO" r:id="rId4" imgW="617220" imgH="615696" progId="Visio.Drawing.6">
                    <p:embed/>
                  </p:oleObj>
                </mc:Choice>
                <mc:Fallback>
                  <p:oleObj name="VISIO" r:id="rId4" imgW="617220" imgH="615696" progId="Visio.Drawing.6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0" y="1155"/>
                          <a:ext cx="432" cy="4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12" name="Object 7">
              <a:extLst>
                <a:ext uri="{FF2B5EF4-FFF2-40B4-BE49-F238E27FC236}">
                  <a16:creationId xmlns:a16="http://schemas.microsoft.com/office/drawing/2014/main" id="{3F49EA0B-61D8-4AAE-A23B-AB65574CA71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60" y="912"/>
            <a:ext cx="432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7" name="VISIO" r:id="rId6" imgW="806196" imgH="662940" progId="Visio.Drawing.6">
                    <p:embed/>
                  </p:oleObj>
                </mc:Choice>
                <mc:Fallback>
                  <p:oleObj name="VISIO" r:id="rId6" imgW="806196" imgH="662940" progId="Visio.Drawing.6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" y="912"/>
                          <a:ext cx="432" cy="3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604" name="Rectangle 9">
            <a:extLst>
              <a:ext uri="{FF2B5EF4-FFF2-40B4-BE49-F238E27FC236}">
                <a16:creationId xmlns:a16="http://schemas.microsoft.com/office/drawing/2014/main" id="{C9DAC8F8-7AB8-4883-B872-3FF2D72A0B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分类任务举例</a:t>
            </a:r>
            <a:endParaRPr lang="en-US" altLang="en-US" dirty="0"/>
          </a:p>
        </p:txBody>
      </p:sp>
      <p:sp>
        <p:nvSpPr>
          <p:cNvPr id="25605" name="Slide Number Placeholder 11">
            <a:extLst>
              <a:ext uri="{FF2B5EF4-FFF2-40B4-BE49-F238E27FC236}">
                <a16:creationId xmlns:a16="http://schemas.microsoft.com/office/drawing/2014/main" id="{BD0000CB-091F-4575-88F4-15118758A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1F372CC1-7CD7-49CD-9A09-57EDC69B49E7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23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3BA7CC8F-DDB4-47FA-88A9-5F9EB4144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</a:p>
        </p:txBody>
      </p:sp>
      <p:pic>
        <p:nvPicPr>
          <p:cNvPr id="25607" name="Picture 8" descr="http://biomasshub.com/wp-content/uploads/2010/03/ILUC1.jpg">
            <a:extLst>
              <a:ext uri="{FF2B5EF4-FFF2-40B4-BE49-F238E27FC236}">
                <a16:creationId xmlns:a16="http://schemas.microsoft.com/office/drawing/2014/main" id="{C2C6F17D-1029-41CD-A093-31D7A80027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625" y="2963863"/>
            <a:ext cx="2174875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8" name="Picture 8" descr="pro">
            <a:extLst>
              <a:ext uri="{FF2B5EF4-FFF2-40B4-BE49-F238E27FC236}">
                <a16:creationId xmlns:a16="http://schemas.microsoft.com/office/drawing/2014/main" id="{743DCF8F-16F6-4CE2-BED7-BBAFFB96662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78638" y="4648200"/>
            <a:ext cx="1490662" cy="1914525"/>
          </a:xfrm>
          <a:noFill/>
        </p:spPr>
      </p:pic>
      <p:sp>
        <p:nvSpPr>
          <p:cNvPr id="14" name="Date Placeholder 5">
            <a:extLst>
              <a:ext uri="{FF2B5EF4-FFF2-40B4-BE49-F238E27FC236}">
                <a16:creationId xmlns:a16="http://schemas.microsoft.com/office/drawing/2014/main" id="{38731D84-610F-4DED-98F9-FCD0D7E908D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87B1F235-9A10-46AD-88A5-AABDE86629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>
                <a:latin typeface="Tahoma" panose="020B0604030504040204" pitchFamily="34" charset="0"/>
              </a:rPr>
              <a:t>预测建模</a:t>
            </a:r>
            <a:r>
              <a:rPr lang="en-US" altLang="en-US" sz="3200" dirty="0">
                <a:latin typeface="Tahoma" panose="020B0604030504040204" pitchFamily="34" charset="0"/>
              </a:rPr>
              <a:t>:</a:t>
            </a:r>
            <a:r>
              <a:rPr lang="zh-CN" altLang="en-US" dirty="0"/>
              <a:t>回归</a:t>
            </a:r>
            <a:endParaRPr lang="en-US" altLang="en-US" dirty="0"/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61563646-BAC5-4AD9-9A51-41DEA1EE24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229600" cy="4286250"/>
          </a:xfrm>
        </p:spPr>
        <p:txBody>
          <a:bodyPr/>
          <a:lstStyle/>
          <a:p>
            <a:pPr marL="342900" indent="-342900"/>
            <a:r>
              <a:rPr lang="zh-CN" altLang="en-US" sz="2400" dirty="0"/>
              <a:t>利用一组变量预测一个待预测连续变量的值，它们之间有线性或者非线性的关系</a:t>
            </a:r>
            <a:endParaRPr lang="en-US" altLang="en-US" sz="2400" dirty="0"/>
          </a:p>
          <a:p>
            <a:pPr marL="342900" indent="-342900"/>
            <a:endParaRPr lang="en-US" altLang="en-US" sz="2400" dirty="0"/>
          </a:p>
          <a:p>
            <a:pPr marL="342900" indent="-342900"/>
            <a:r>
              <a:rPr lang="zh-CN" altLang="en-US" sz="2400" dirty="0"/>
              <a:t>举例</a:t>
            </a:r>
            <a:r>
              <a:rPr lang="en-US" altLang="en-US" sz="2400" dirty="0"/>
              <a:t>:</a:t>
            </a:r>
          </a:p>
          <a:p>
            <a:pPr marL="742950" lvl="1" indent="-285750"/>
            <a:r>
              <a:rPr lang="zh-CN" altLang="en-US" sz="2400" dirty="0"/>
              <a:t>利用气象条件预测风速（风力发电、机场）</a:t>
            </a:r>
            <a:endParaRPr lang="en-US" altLang="en-US" sz="2400" dirty="0"/>
          </a:p>
          <a:p>
            <a:pPr marL="742950" lvl="1" indent="-285750"/>
            <a:r>
              <a:rPr lang="zh-CN" altLang="en-US" sz="2400" dirty="0"/>
              <a:t>股市预测</a:t>
            </a:r>
            <a:endParaRPr lang="en-US" altLang="en-US" sz="3200" dirty="0"/>
          </a:p>
        </p:txBody>
      </p:sp>
      <p:sp>
        <p:nvSpPr>
          <p:cNvPr id="31748" name="Slide Number Placeholder 6">
            <a:extLst>
              <a:ext uri="{FF2B5EF4-FFF2-40B4-BE49-F238E27FC236}">
                <a16:creationId xmlns:a16="http://schemas.microsoft.com/office/drawing/2014/main" id="{7BFBA043-6FB8-4C20-B89B-BF6067CB2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7E2197DB-211E-4863-B7C7-DC7133680381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24</a:t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1F63A-8650-4444-ACA9-74AF0C8D9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7CDA028E-6BDF-41E5-9247-D4DA4E9A77C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>
            <a:extLst>
              <a:ext uri="{FF2B5EF4-FFF2-40B4-BE49-F238E27FC236}">
                <a16:creationId xmlns:a16="http://schemas.microsoft.com/office/drawing/2014/main" id="{21D2E1BF-595A-4356-BFCD-C9DEC82529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1" y="1386353"/>
            <a:ext cx="7772400" cy="990600"/>
          </a:xfrm>
        </p:spPr>
        <p:txBody>
          <a:bodyPr/>
          <a:lstStyle/>
          <a:p>
            <a:pPr marL="342900" indent="-342900"/>
            <a:r>
              <a:rPr lang="zh-CN" altLang="en-US" sz="2400" dirty="0"/>
              <a:t>将一组无标签数据分为若干个类，使得类内样本之间的相似性尽可能大，同时类间样本的相似性尽可能小</a:t>
            </a:r>
            <a:endParaRPr lang="en-US" altLang="en-US" sz="2400" dirty="0"/>
          </a:p>
        </p:txBody>
      </p:sp>
      <p:grpSp>
        <p:nvGrpSpPr>
          <p:cNvPr id="33795" name="Group 4">
            <a:extLst>
              <a:ext uri="{FF2B5EF4-FFF2-40B4-BE49-F238E27FC236}">
                <a16:creationId xmlns:a16="http://schemas.microsoft.com/office/drawing/2014/main" id="{20990101-F45F-40FA-A168-9A42F12D743B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3570288"/>
            <a:ext cx="3048000" cy="2678112"/>
            <a:chOff x="2160" y="2544"/>
            <a:chExt cx="1920" cy="1687"/>
          </a:xfrm>
        </p:grpSpPr>
        <p:sp>
          <p:nvSpPr>
            <p:cNvPr id="33810" name="Line 5">
              <a:extLst>
                <a:ext uri="{FF2B5EF4-FFF2-40B4-BE49-F238E27FC236}">
                  <a16:creationId xmlns:a16="http://schemas.microsoft.com/office/drawing/2014/main" id="{75C58A0E-66A3-45C0-BE5A-D82C69B023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2544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1" name="Line 6">
              <a:extLst>
                <a:ext uri="{FF2B5EF4-FFF2-40B4-BE49-F238E27FC236}">
                  <a16:creationId xmlns:a16="http://schemas.microsoft.com/office/drawing/2014/main" id="{205278EC-EB1A-4E27-826F-68EBE023E5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3696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2" name="Freeform 7">
              <a:extLst>
                <a:ext uri="{FF2B5EF4-FFF2-40B4-BE49-F238E27FC236}">
                  <a16:creationId xmlns:a16="http://schemas.microsoft.com/office/drawing/2014/main" id="{526B1EA7-CE56-486E-9C50-55FEB7FD19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6" y="3696"/>
              <a:ext cx="510" cy="535"/>
            </a:xfrm>
            <a:custGeom>
              <a:avLst/>
              <a:gdLst>
                <a:gd name="T0" fmla="*/ 510 w 510"/>
                <a:gd name="T1" fmla="*/ 0 h 535"/>
                <a:gd name="T2" fmla="*/ 0 w 510"/>
                <a:gd name="T3" fmla="*/ 535 h 535"/>
                <a:gd name="T4" fmla="*/ 0 60000 65536"/>
                <a:gd name="T5" fmla="*/ 0 60000 65536"/>
                <a:gd name="T6" fmla="*/ 0 w 510"/>
                <a:gd name="T7" fmla="*/ 0 h 535"/>
                <a:gd name="T8" fmla="*/ 510 w 510"/>
                <a:gd name="T9" fmla="*/ 535 h 53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10" h="535">
                  <a:moveTo>
                    <a:pt x="510" y="0"/>
                  </a:moveTo>
                  <a:lnTo>
                    <a:pt x="0" y="53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3" name="AutoShape 8">
              <a:extLst>
                <a:ext uri="{FF2B5EF4-FFF2-40B4-BE49-F238E27FC236}">
                  <a16:creationId xmlns:a16="http://schemas.microsoft.com/office/drawing/2014/main" id="{5ED11188-D70A-417B-B97A-7BCFB11DD7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14" name="AutoShape 9">
              <a:extLst>
                <a:ext uri="{FF2B5EF4-FFF2-40B4-BE49-F238E27FC236}">
                  <a16:creationId xmlns:a16="http://schemas.microsoft.com/office/drawing/2014/main" id="{DFC6A445-F41D-449E-8B93-4B2727AEA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15" name="AutoShape 10">
              <a:extLst>
                <a:ext uri="{FF2B5EF4-FFF2-40B4-BE49-F238E27FC236}">
                  <a16:creationId xmlns:a16="http://schemas.microsoft.com/office/drawing/2014/main" id="{550B08FB-1E12-4719-813C-BE6F533C32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73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16" name="AutoShape 11">
              <a:extLst>
                <a:ext uri="{FF2B5EF4-FFF2-40B4-BE49-F238E27FC236}">
                  <a16:creationId xmlns:a16="http://schemas.microsoft.com/office/drawing/2014/main" id="{0DC9AE6B-8FDF-4585-9C8F-330DC68E80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302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17" name="AutoShape 12">
              <a:extLst>
                <a:ext uri="{FF2B5EF4-FFF2-40B4-BE49-F238E27FC236}">
                  <a16:creationId xmlns:a16="http://schemas.microsoft.com/office/drawing/2014/main" id="{AE33FD11-EBC1-4A93-B4AD-9CF7B7B0D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18" name="AutoShape 13">
              <a:extLst>
                <a:ext uri="{FF2B5EF4-FFF2-40B4-BE49-F238E27FC236}">
                  <a16:creationId xmlns:a16="http://schemas.microsoft.com/office/drawing/2014/main" id="{B41720B9-D165-4CB6-862D-2904102A6F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278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19" name="AutoShape 14">
              <a:extLst>
                <a:ext uri="{FF2B5EF4-FFF2-40B4-BE49-F238E27FC236}">
                  <a16:creationId xmlns:a16="http://schemas.microsoft.com/office/drawing/2014/main" id="{41774A8F-DEF4-4AAC-9CBD-3089C4FB2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73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20" name="AutoShape 15">
              <a:extLst>
                <a:ext uri="{FF2B5EF4-FFF2-40B4-BE49-F238E27FC236}">
                  <a16:creationId xmlns:a16="http://schemas.microsoft.com/office/drawing/2014/main" id="{F3773440-5F75-4B83-AE2F-F805C67F75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297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21" name="AutoShape 16">
              <a:extLst>
                <a:ext uri="{FF2B5EF4-FFF2-40B4-BE49-F238E27FC236}">
                  <a16:creationId xmlns:a16="http://schemas.microsoft.com/office/drawing/2014/main" id="{A6CA5E8B-B1C2-4B40-B125-10D88E1E2F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97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22" name="AutoShape 17">
              <a:extLst>
                <a:ext uri="{FF2B5EF4-FFF2-40B4-BE49-F238E27FC236}">
                  <a16:creationId xmlns:a16="http://schemas.microsoft.com/office/drawing/2014/main" id="{44EF255B-F15D-4EC0-92D3-5DFA5B965F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264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23" name="AutoShape 18">
              <a:extLst>
                <a:ext uri="{FF2B5EF4-FFF2-40B4-BE49-F238E27FC236}">
                  <a16:creationId xmlns:a16="http://schemas.microsoft.com/office/drawing/2014/main" id="{F10E7BE8-AFA1-4268-820A-943177FAC6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3312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24" name="AutoShape 19">
              <a:extLst>
                <a:ext uri="{FF2B5EF4-FFF2-40B4-BE49-F238E27FC236}">
                  <a16:creationId xmlns:a16="http://schemas.microsoft.com/office/drawing/2014/main" id="{B6C180DE-E9A2-4FDA-B3F0-028F32907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3456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25" name="AutoShape 20">
              <a:extLst>
                <a:ext uri="{FF2B5EF4-FFF2-40B4-BE49-F238E27FC236}">
                  <a16:creationId xmlns:a16="http://schemas.microsoft.com/office/drawing/2014/main" id="{D9531039-DE88-40EE-A421-6AB041E49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3312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26" name="AutoShape 21">
              <a:extLst>
                <a:ext uri="{FF2B5EF4-FFF2-40B4-BE49-F238E27FC236}">
                  <a16:creationId xmlns:a16="http://schemas.microsoft.com/office/drawing/2014/main" id="{964811F3-8FFC-4213-A33C-A444D1CF31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3168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27" name="AutoShape 22">
              <a:extLst>
                <a:ext uri="{FF2B5EF4-FFF2-40B4-BE49-F238E27FC236}">
                  <a16:creationId xmlns:a16="http://schemas.microsoft.com/office/drawing/2014/main" id="{3BFA5561-C625-4DED-A606-A48A73D504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3456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28" name="AutoShape 23">
              <a:extLst>
                <a:ext uri="{FF2B5EF4-FFF2-40B4-BE49-F238E27FC236}">
                  <a16:creationId xmlns:a16="http://schemas.microsoft.com/office/drawing/2014/main" id="{5B9598F6-BBBD-4B49-8695-B081DF71BD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408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29" name="AutoShape 24">
              <a:extLst>
                <a:ext uri="{FF2B5EF4-FFF2-40B4-BE49-F238E27FC236}">
                  <a16:creationId xmlns:a16="http://schemas.microsoft.com/office/drawing/2014/main" id="{29440F43-EB8D-4C11-95A6-1CC9A1E7BD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355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30" name="AutoShape 25">
              <a:extLst>
                <a:ext uri="{FF2B5EF4-FFF2-40B4-BE49-F238E27FC236}">
                  <a16:creationId xmlns:a16="http://schemas.microsoft.com/office/drawing/2014/main" id="{381B8F85-CC73-450D-9FA1-D4FF7E9A0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360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31" name="AutoShape 26">
              <a:extLst>
                <a:ext uri="{FF2B5EF4-FFF2-40B4-BE49-F238E27FC236}">
                  <a16:creationId xmlns:a16="http://schemas.microsoft.com/office/drawing/2014/main" id="{840C3CD1-0EC9-466D-90A7-51BA3C1E9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69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32" name="AutoShape 27">
              <a:extLst>
                <a:ext uri="{FF2B5EF4-FFF2-40B4-BE49-F238E27FC236}">
                  <a16:creationId xmlns:a16="http://schemas.microsoft.com/office/drawing/2014/main" id="{7F6AA434-9DCA-40D4-B236-31A7E1945F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379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33" name="AutoShape 28">
              <a:extLst>
                <a:ext uri="{FF2B5EF4-FFF2-40B4-BE49-F238E27FC236}">
                  <a16:creationId xmlns:a16="http://schemas.microsoft.com/office/drawing/2014/main" id="{D35A68FA-D994-40B4-8912-F413E151B8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379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34" name="AutoShape 29">
              <a:extLst>
                <a:ext uri="{FF2B5EF4-FFF2-40B4-BE49-F238E27FC236}">
                  <a16:creationId xmlns:a16="http://schemas.microsoft.com/office/drawing/2014/main" id="{B2D7B158-C0D8-4F85-9F6E-81F7D489410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3504" y="3648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35" name="AutoShape 30">
              <a:extLst>
                <a:ext uri="{FF2B5EF4-FFF2-40B4-BE49-F238E27FC236}">
                  <a16:creationId xmlns:a16="http://schemas.microsoft.com/office/drawing/2014/main" id="{1495FE00-FA72-4A11-BD91-74963EAEF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350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</p:grpSp>
      <p:grpSp>
        <p:nvGrpSpPr>
          <p:cNvPr id="3" name="Group 31">
            <a:extLst>
              <a:ext uri="{FF2B5EF4-FFF2-40B4-BE49-F238E27FC236}">
                <a16:creationId xmlns:a16="http://schemas.microsoft.com/office/drawing/2014/main" id="{1F5BFD5C-0012-4E46-B887-773BDA11275D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2667000"/>
            <a:ext cx="3048000" cy="2514600"/>
            <a:chOff x="3312" y="1584"/>
            <a:chExt cx="1920" cy="1584"/>
          </a:xfrm>
        </p:grpSpPr>
        <p:sp>
          <p:nvSpPr>
            <p:cNvPr id="33808" name="Line 32">
              <a:extLst>
                <a:ext uri="{FF2B5EF4-FFF2-40B4-BE49-F238E27FC236}">
                  <a16:creationId xmlns:a16="http://schemas.microsoft.com/office/drawing/2014/main" id="{C6B2AF4D-94A0-4E3F-A58A-DB5BF93646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12" y="2736"/>
              <a:ext cx="144" cy="432"/>
            </a:xfrm>
            <a:prstGeom prst="line">
              <a:avLst/>
            </a:prstGeom>
            <a:noFill/>
            <a:ln w="25400">
              <a:solidFill>
                <a:srgbClr val="CC66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09" name="AutoShape 33">
              <a:extLst>
                <a:ext uri="{FF2B5EF4-FFF2-40B4-BE49-F238E27FC236}">
                  <a16:creationId xmlns:a16="http://schemas.microsoft.com/office/drawing/2014/main" id="{93632CAB-9CD4-421F-AE17-5676C9A696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1584"/>
              <a:ext cx="1248" cy="672"/>
            </a:xfrm>
            <a:prstGeom prst="wedgeRectCallout">
              <a:avLst>
                <a:gd name="adj1" fmla="val -93509"/>
                <a:gd name="adj2" fmla="val 150894"/>
              </a:avLst>
            </a:prstGeom>
            <a:solidFill>
              <a:srgbClr val="00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>
                  <a:latin typeface="Tahoma" panose="020B0604030504040204" pitchFamily="34" charset="0"/>
                </a:rPr>
                <a:t>Inter-cluster distances are maximized</a:t>
              </a:r>
            </a:p>
          </p:txBody>
        </p:sp>
      </p:grpSp>
      <p:grpSp>
        <p:nvGrpSpPr>
          <p:cNvPr id="4" name="Group 34">
            <a:extLst>
              <a:ext uri="{FF2B5EF4-FFF2-40B4-BE49-F238E27FC236}">
                <a16:creationId xmlns:a16="http://schemas.microsoft.com/office/drawing/2014/main" id="{429BD399-DCBB-4398-8EC5-94DDE74C6E4A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3657600"/>
            <a:ext cx="3276600" cy="2286000"/>
            <a:chOff x="1824" y="2208"/>
            <a:chExt cx="2064" cy="1440"/>
          </a:xfrm>
        </p:grpSpPr>
        <p:sp>
          <p:nvSpPr>
            <p:cNvPr id="33805" name="Oval 35">
              <a:extLst>
                <a:ext uri="{FF2B5EF4-FFF2-40B4-BE49-F238E27FC236}">
                  <a16:creationId xmlns:a16="http://schemas.microsoft.com/office/drawing/2014/main" id="{D7863109-223A-4D30-9A7B-E31709552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592"/>
              <a:ext cx="816" cy="720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06" name="Oval 36">
              <a:extLst>
                <a:ext uri="{FF2B5EF4-FFF2-40B4-BE49-F238E27FC236}">
                  <a16:creationId xmlns:a16="http://schemas.microsoft.com/office/drawing/2014/main" id="{A282DE0B-78AB-42A3-BDA4-6765A07E2B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2208"/>
              <a:ext cx="720" cy="624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07" name="Oval 37">
              <a:extLst>
                <a:ext uri="{FF2B5EF4-FFF2-40B4-BE49-F238E27FC236}">
                  <a16:creationId xmlns:a16="http://schemas.microsoft.com/office/drawing/2014/main" id="{B44B5803-B810-432A-89A1-DC9249A69F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3024"/>
              <a:ext cx="672" cy="624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</p:grpSp>
      <p:grpSp>
        <p:nvGrpSpPr>
          <p:cNvPr id="5" name="Group 38">
            <a:extLst>
              <a:ext uri="{FF2B5EF4-FFF2-40B4-BE49-F238E27FC236}">
                <a16:creationId xmlns:a16="http://schemas.microsoft.com/office/drawing/2014/main" id="{1AE54792-52F0-4A72-8994-B0C9BA21C31C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2971800"/>
            <a:ext cx="2286000" cy="1676400"/>
            <a:chOff x="816" y="1776"/>
            <a:chExt cx="1440" cy="1056"/>
          </a:xfrm>
        </p:grpSpPr>
        <p:sp>
          <p:nvSpPr>
            <p:cNvPr id="33803" name="Line 39">
              <a:extLst>
                <a:ext uri="{FF2B5EF4-FFF2-40B4-BE49-F238E27FC236}">
                  <a16:creationId xmlns:a16="http://schemas.microsoft.com/office/drawing/2014/main" id="{D4EDAFB2-3A72-4435-982B-BF6F654CB3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4" y="2736"/>
              <a:ext cx="192" cy="96"/>
            </a:xfrm>
            <a:prstGeom prst="line">
              <a:avLst/>
            </a:prstGeom>
            <a:noFill/>
            <a:ln w="25400">
              <a:solidFill>
                <a:srgbClr val="CC66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04" name="AutoShape 40">
              <a:extLst>
                <a:ext uri="{FF2B5EF4-FFF2-40B4-BE49-F238E27FC236}">
                  <a16:creationId xmlns:a16="http://schemas.microsoft.com/office/drawing/2014/main" id="{F41C457C-E794-4DC3-878D-A7F33D562A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776"/>
              <a:ext cx="1248" cy="672"/>
            </a:xfrm>
            <a:prstGeom prst="wedgeRectCallout">
              <a:avLst>
                <a:gd name="adj1" fmla="val 56250"/>
                <a:gd name="adj2" fmla="val 92856"/>
              </a:avLst>
            </a:prstGeom>
            <a:solidFill>
              <a:srgbClr val="00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 dirty="0">
                  <a:latin typeface="Tahoma" panose="020B0604030504040204" pitchFamily="34" charset="0"/>
                </a:rPr>
                <a:t>Intra-cluster distances are minimized</a:t>
              </a:r>
            </a:p>
          </p:txBody>
        </p:sp>
      </p:grpSp>
      <p:sp>
        <p:nvSpPr>
          <p:cNvPr id="33799" name="Rectangle 41">
            <a:extLst>
              <a:ext uri="{FF2B5EF4-FFF2-40B4-BE49-F238E27FC236}">
                <a16:creationId xmlns:a16="http://schemas.microsoft.com/office/drawing/2014/main" id="{14D13B94-1986-4C71-86E1-ADA3AFCD1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3200" dirty="0">
                <a:latin typeface="Tahoma" panose="020B0604030504040204" pitchFamily="34" charset="0"/>
              </a:rPr>
              <a:t>聚类</a:t>
            </a:r>
            <a:endParaRPr lang="en-US" altLang="en-US" sz="3200" dirty="0">
              <a:latin typeface="Tahoma" panose="020B0604030504040204" pitchFamily="34" charset="0"/>
            </a:endParaRPr>
          </a:p>
        </p:txBody>
      </p:sp>
      <p:sp>
        <p:nvSpPr>
          <p:cNvPr id="33800" name="Slide Number Placeholder 43">
            <a:extLst>
              <a:ext uri="{FF2B5EF4-FFF2-40B4-BE49-F238E27FC236}">
                <a16:creationId xmlns:a16="http://schemas.microsoft.com/office/drawing/2014/main" id="{EEC01952-3B30-4736-B2E2-1686A44F8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32233CB6-32BB-4824-B74F-694721C26E96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25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45" name="Footer Placeholder 44">
            <a:extLst>
              <a:ext uri="{FF2B5EF4-FFF2-40B4-BE49-F238E27FC236}">
                <a16:creationId xmlns:a16="http://schemas.microsoft.com/office/drawing/2014/main" id="{1621F027-D3B6-4EBA-97DA-6415F776E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</a:p>
        </p:txBody>
      </p:sp>
      <p:sp>
        <p:nvSpPr>
          <p:cNvPr id="44" name="Date Placeholder 5">
            <a:extLst>
              <a:ext uri="{FF2B5EF4-FFF2-40B4-BE49-F238E27FC236}">
                <a16:creationId xmlns:a16="http://schemas.microsoft.com/office/drawing/2014/main" id="{783D1AD8-3556-4014-8F42-F98B410CC48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5D0F723C-DEE4-439F-AF97-04FF60630F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关联分析</a:t>
            </a:r>
            <a:endParaRPr lang="en-US" altLang="en-US" dirty="0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709D4D69-A5C5-46B8-B224-8A958077EE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给定一组记录，每一条包含若干个条目</a:t>
            </a:r>
            <a:endParaRPr lang="en-US" altLang="en-US" dirty="0"/>
          </a:p>
          <a:p>
            <a:pPr lvl="1"/>
            <a:r>
              <a:rPr lang="zh-CN" altLang="en-US" sz="2400" dirty="0"/>
              <a:t>基于条目间的出现频率发现条目间的依赖关系（规则）</a:t>
            </a:r>
            <a:endParaRPr lang="en-US" altLang="en-US" dirty="0"/>
          </a:p>
        </p:txBody>
      </p:sp>
      <p:graphicFrame>
        <p:nvGraphicFramePr>
          <p:cNvPr id="39940" name="Object 4">
            <a:extLst>
              <a:ext uri="{FF2B5EF4-FFF2-40B4-BE49-F238E27FC236}">
                <a16:creationId xmlns:a16="http://schemas.microsoft.com/office/drawing/2014/main" id="{CD2FB4E8-DE29-4B9C-B458-7847C4504E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6149132"/>
              </p:ext>
            </p:extLst>
          </p:nvPr>
        </p:nvGraphicFramePr>
        <p:xfrm>
          <a:off x="381000" y="3511867"/>
          <a:ext cx="4181475" cy="215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Document" r:id="rId3" imgW="3823716" imgH="1999488" progId="Word.Document.8">
                  <p:embed/>
                </p:oleObj>
              </mc:Choice>
              <mc:Fallback>
                <p:oleObj name="Document" r:id="rId3" imgW="3823716" imgH="1999488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511867"/>
                        <a:ext cx="4181475" cy="215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1" name="Text Box 5">
            <a:extLst>
              <a:ext uri="{FF2B5EF4-FFF2-40B4-BE49-F238E27FC236}">
                <a16:creationId xmlns:a16="http://schemas.microsoft.com/office/drawing/2014/main" id="{63FD6A14-5F29-4B43-9A2F-061406F997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095750"/>
            <a:ext cx="4398961" cy="984885"/>
          </a:xfrm>
          <a:prstGeom prst="rect">
            <a:avLst/>
          </a:prstGeom>
          <a:solidFill>
            <a:srgbClr val="CCCC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b="0" dirty="0">
                <a:latin typeface="Times New Roman" panose="02020603050405020304" pitchFamily="18" charset="0"/>
              </a:rPr>
              <a:t>规则发现</a:t>
            </a:r>
            <a:r>
              <a:rPr lang="en-US" altLang="en-US" sz="2000" b="0" dirty="0">
                <a:latin typeface="Times New Roman" panose="02020603050405020304" pitchFamily="18" charset="0"/>
              </a:rPr>
              <a:t>: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>
                <a:latin typeface="Times New Roman" panose="02020603050405020304" pitchFamily="18" charset="0"/>
              </a:rPr>
              <a:t>    </a:t>
            </a:r>
            <a:r>
              <a:rPr lang="en-US" altLang="en-US" sz="1800" dirty="0">
                <a:solidFill>
                  <a:srgbClr val="CC0000"/>
                </a:solidFill>
                <a:latin typeface="Tahoma" panose="020B0604030504040204" pitchFamily="34" charset="0"/>
              </a:rPr>
              <a:t>{Milk} --&gt; {Coke}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CC0000"/>
                </a:solidFill>
                <a:latin typeface="Tahoma" panose="020B0604030504040204" pitchFamily="34" charset="0"/>
              </a:rPr>
              <a:t>    {Diaper</a:t>
            </a:r>
            <a:r>
              <a:rPr lang="zh-CN" altLang="en-US" sz="1800" dirty="0">
                <a:solidFill>
                  <a:srgbClr val="CC0000"/>
                </a:solidFill>
                <a:latin typeface="Tahoma" panose="020B0604030504040204" pitchFamily="34" charset="0"/>
              </a:rPr>
              <a:t>（尿布）</a:t>
            </a:r>
            <a:r>
              <a:rPr lang="en-US" altLang="en-US" sz="1800" dirty="0">
                <a:solidFill>
                  <a:srgbClr val="CC0000"/>
                </a:solidFill>
                <a:latin typeface="Tahoma" panose="020B0604030504040204" pitchFamily="34" charset="0"/>
              </a:rPr>
              <a:t>, Milk} --&gt; {Beer}</a:t>
            </a:r>
            <a:endParaRPr lang="en-US" altLang="en-US" sz="2400" b="0" dirty="0">
              <a:latin typeface="Times New Roman" panose="02020603050405020304" pitchFamily="18" charset="0"/>
            </a:endParaRPr>
          </a:p>
        </p:txBody>
      </p:sp>
      <p:sp>
        <p:nvSpPr>
          <p:cNvPr id="39942" name="Slide Number Placeholder 8">
            <a:extLst>
              <a:ext uri="{FF2B5EF4-FFF2-40B4-BE49-F238E27FC236}">
                <a16:creationId xmlns:a16="http://schemas.microsoft.com/office/drawing/2014/main" id="{42ABDF89-09A7-4F96-BC65-886CF9592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74A0734-5754-41C9-9FE6-651C90CF0579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26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51304C4-D75E-4251-92F2-F334BABFF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</a:p>
        </p:txBody>
      </p:sp>
      <p:sp>
        <p:nvSpPr>
          <p:cNvPr id="9" name="Date Placeholder 5">
            <a:extLst>
              <a:ext uri="{FF2B5EF4-FFF2-40B4-BE49-F238E27FC236}">
                <a16:creationId xmlns:a16="http://schemas.microsoft.com/office/drawing/2014/main" id="{301E9084-E872-4C9A-9BA3-0D803559A0D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5ADABBB-019E-097C-319E-556F0B91B672}"/>
              </a:ext>
            </a:extLst>
          </p:cNvPr>
          <p:cNvSpPr txBox="1"/>
          <p:nvPr/>
        </p:nvSpPr>
        <p:spPr>
          <a:xfrm>
            <a:off x="1676400" y="3188215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超市购物记录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5623202C-F92F-4168-9283-D57C16F674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763000" cy="533400"/>
          </a:xfrm>
        </p:spPr>
        <p:txBody>
          <a:bodyPr/>
          <a:lstStyle/>
          <a:p>
            <a:r>
              <a:rPr lang="zh-CN" altLang="en-US" dirty="0"/>
              <a:t>异常检测</a:t>
            </a:r>
            <a:endParaRPr lang="en-US" altLang="en-US" dirty="0"/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9F8265D6-024F-4C77-B631-9958F8E625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5318852" cy="51054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从正常行为中发现极其不同的事件</a:t>
            </a:r>
            <a:endParaRPr lang="en-US" altLang="en-US" sz="24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举例</a:t>
            </a:r>
            <a:r>
              <a:rPr lang="en-US" altLang="en-US" sz="2000" dirty="0"/>
              <a:t>:</a:t>
            </a:r>
          </a:p>
          <a:p>
            <a:pPr lvl="1">
              <a:lnSpc>
                <a:spcPct val="150000"/>
              </a:lnSpc>
            </a:pPr>
            <a:r>
              <a:rPr lang="zh-CN" altLang="en-US" sz="1800" dirty="0"/>
              <a:t>信用欺骗</a:t>
            </a:r>
            <a:endParaRPr lang="en-US" altLang="zh-CN" sz="1800" dirty="0"/>
          </a:p>
          <a:p>
            <a:pPr lvl="1">
              <a:lnSpc>
                <a:spcPct val="150000"/>
              </a:lnSpc>
            </a:pPr>
            <a:r>
              <a:rPr lang="zh-CN" altLang="en-US" sz="1800" dirty="0"/>
              <a:t>故障诊断</a:t>
            </a:r>
            <a:endParaRPr lang="en-US" altLang="en-US" sz="1600" dirty="0"/>
          </a:p>
          <a:p>
            <a:pPr lvl="1">
              <a:lnSpc>
                <a:spcPct val="150000"/>
              </a:lnSpc>
            </a:pPr>
            <a:r>
              <a:rPr lang="zh-CN" altLang="en-US" sz="1800" dirty="0"/>
              <a:t>网络入侵</a:t>
            </a:r>
            <a:endParaRPr lang="en-US" altLang="en-US" sz="1800" dirty="0"/>
          </a:p>
          <a:p>
            <a:pPr lvl="1">
              <a:lnSpc>
                <a:spcPct val="150000"/>
              </a:lnSpc>
            </a:pPr>
            <a:r>
              <a:rPr lang="zh-CN" altLang="en-US" sz="1800" dirty="0"/>
              <a:t>反常行为</a:t>
            </a:r>
            <a:r>
              <a:rPr lang="en-US" altLang="zh-CN" sz="1800" dirty="0"/>
              <a:t>-</a:t>
            </a:r>
            <a:r>
              <a:rPr lang="zh-CN" altLang="en-US" sz="1800" dirty="0"/>
              <a:t>泥石流</a:t>
            </a:r>
            <a:endParaRPr lang="en-US" altLang="en-US" sz="1800" dirty="0"/>
          </a:p>
          <a:p>
            <a:pPr lvl="1">
              <a:lnSpc>
                <a:spcPct val="150000"/>
              </a:lnSpc>
            </a:pPr>
            <a:r>
              <a:rPr lang="zh-CN" altLang="en-US" sz="1800" dirty="0"/>
              <a:t>森林覆盖率</a:t>
            </a:r>
            <a:endParaRPr lang="en-US" altLang="zh-CN" sz="1800" dirty="0"/>
          </a:p>
          <a:p>
            <a:pPr lvl="1">
              <a:lnSpc>
                <a:spcPct val="150000"/>
              </a:lnSpc>
            </a:pPr>
            <a:r>
              <a:rPr lang="zh-CN" altLang="en-US" sz="1800" dirty="0"/>
              <a:t>臭氧层空洞</a:t>
            </a:r>
            <a:endParaRPr lang="en-US" altLang="en-US" sz="1800" dirty="0"/>
          </a:p>
          <a:p>
            <a:pPr lvl="1"/>
            <a:endParaRPr lang="en-US" altLang="en-US" sz="2000" dirty="0"/>
          </a:p>
        </p:txBody>
      </p:sp>
      <p:grpSp>
        <p:nvGrpSpPr>
          <p:cNvPr id="45060" name="Group 5">
            <a:extLst>
              <a:ext uri="{FF2B5EF4-FFF2-40B4-BE49-F238E27FC236}">
                <a16:creationId xmlns:a16="http://schemas.microsoft.com/office/drawing/2014/main" id="{CE7B7E34-28C0-4873-9E41-2C136EF6FEAC}"/>
              </a:ext>
            </a:extLst>
          </p:cNvPr>
          <p:cNvGrpSpPr>
            <a:grpSpLocks/>
          </p:cNvGrpSpPr>
          <p:nvPr/>
        </p:nvGrpSpPr>
        <p:grpSpPr bwMode="auto">
          <a:xfrm>
            <a:off x="5645150" y="1295400"/>
            <a:ext cx="2371725" cy="2228850"/>
            <a:chOff x="3648" y="2448"/>
            <a:chExt cx="2112" cy="1872"/>
          </a:xfrm>
        </p:grpSpPr>
        <p:pic>
          <p:nvPicPr>
            <p:cNvPr id="45066" name="Picture 6">
              <a:extLst>
                <a:ext uri="{FF2B5EF4-FFF2-40B4-BE49-F238E27FC236}">
                  <a16:creationId xmlns:a16="http://schemas.microsoft.com/office/drawing/2014/main" id="{3E938906-208B-4DF3-ABBE-91D593403CB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8" y="2448"/>
              <a:ext cx="2112" cy="18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067" name="Oval 7">
              <a:extLst>
                <a:ext uri="{FF2B5EF4-FFF2-40B4-BE49-F238E27FC236}">
                  <a16:creationId xmlns:a16="http://schemas.microsoft.com/office/drawing/2014/main" id="{70569C17-923B-45D2-887F-184FC38F3B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6" y="2961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5068" name="Oval 8">
              <a:extLst>
                <a:ext uri="{FF2B5EF4-FFF2-40B4-BE49-F238E27FC236}">
                  <a16:creationId xmlns:a16="http://schemas.microsoft.com/office/drawing/2014/main" id="{978C0706-3452-47B3-A924-F295F34460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7" y="3224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5069" name="Oval 9">
              <a:extLst>
                <a:ext uri="{FF2B5EF4-FFF2-40B4-BE49-F238E27FC236}">
                  <a16:creationId xmlns:a16="http://schemas.microsoft.com/office/drawing/2014/main" id="{C38B2708-6A5F-4066-9EE8-73887E0252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2" y="3871"/>
              <a:ext cx="86" cy="85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5070" name="Oval 10">
              <a:extLst>
                <a:ext uri="{FF2B5EF4-FFF2-40B4-BE49-F238E27FC236}">
                  <a16:creationId xmlns:a16="http://schemas.microsoft.com/office/drawing/2014/main" id="{706574F0-A5BC-4EC3-8C59-3069B2EA66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9" y="3937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5071" name="Rectangle 11">
              <a:extLst>
                <a:ext uri="{FF2B5EF4-FFF2-40B4-BE49-F238E27FC236}">
                  <a16:creationId xmlns:a16="http://schemas.microsoft.com/office/drawing/2014/main" id="{193C553B-CE51-4FFC-9035-B33762910F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3072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5072" name="Rectangle 12">
              <a:extLst>
                <a:ext uri="{FF2B5EF4-FFF2-40B4-BE49-F238E27FC236}">
                  <a16:creationId xmlns:a16="http://schemas.microsoft.com/office/drawing/2014/main" id="{5F6B3359-D20A-4E7C-986C-1A2896511F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120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</p:grpSp>
      <p:sp>
        <p:nvSpPr>
          <p:cNvPr id="45061" name="Slide Number Placeholder 15">
            <a:extLst>
              <a:ext uri="{FF2B5EF4-FFF2-40B4-BE49-F238E27FC236}">
                <a16:creationId xmlns:a16="http://schemas.microsoft.com/office/drawing/2014/main" id="{C3D744BA-A7FD-43F7-9565-3F8F60920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E16A7442-B147-441A-B1EE-5061F196FDB5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27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ACA319A8-240E-4927-A6A0-AC24748B3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</a:p>
        </p:txBody>
      </p:sp>
      <p:pic>
        <p:nvPicPr>
          <p:cNvPr id="4" name="modis_swath_640x480_jpg.wmv">
            <a:hlinkClick r:id="" action="ppaction://media"/>
            <a:extLst>
              <a:ext uri="{FF2B5EF4-FFF2-40B4-BE49-F238E27FC236}">
                <a16:creationId xmlns:a16="http://schemas.microsoft.com/office/drawing/2014/main" id="{034F82C3-EB4A-4F77-B343-31D9B139AF1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4895850"/>
            <a:ext cx="1752600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Global Animation 2-28-2011.wmv">
            <a:hlinkClick r:id="" action="ppaction://media"/>
            <a:extLst>
              <a:ext uri="{FF2B5EF4-FFF2-40B4-BE49-F238E27FC236}">
                <a16:creationId xmlns:a16="http://schemas.microsoft.com/office/drawing/2014/main" id="{7A3E544E-2502-47B7-9405-335CF8207BC9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941879"/>
            <a:ext cx="42672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Date Placeholder 5">
            <a:extLst>
              <a:ext uri="{FF2B5EF4-FFF2-40B4-BE49-F238E27FC236}">
                <a16:creationId xmlns:a16="http://schemas.microsoft.com/office/drawing/2014/main" id="{8FBE109B-7023-4221-8213-08AF0414061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19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166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9" repeatCount="indefinite" fill="remove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 nodeType="clickPar">
                      <p:stCondLst>
                        <p:cond delay="0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5" repeatCount="indefinite" fill="remove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 nodeType="clickPar">
                      <p:stCondLst>
                        <p:cond delay="0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BCA71B78-80FE-4A52-B5DF-4F8886264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数据挖掘的挑战</a:t>
            </a:r>
            <a:endParaRPr lang="en-US" altLang="en-US" dirty="0"/>
          </a:p>
        </p:txBody>
      </p:sp>
      <p:sp>
        <p:nvSpPr>
          <p:cNvPr id="47107" name="Content Placeholder 2">
            <a:extLst>
              <a:ext uri="{FF2B5EF4-FFF2-40B4-BE49-F238E27FC236}">
                <a16:creationId xmlns:a16="http://schemas.microsoft.com/office/drawing/2014/main" id="{4D2BE912-BBF1-4D6B-B040-2F790F793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大规模</a:t>
            </a:r>
            <a:r>
              <a:rPr lang="en-US" altLang="en-US" dirty="0"/>
              <a:t> </a:t>
            </a:r>
          </a:p>
          <a:p>
            <a:pPr lvl="1"/>
            <a:r>
              <a:rPr lang="zh-CN" altLang="en-US" dirty="0"/>
              <a:t>数据量大（</a:t>
            </a:r>
            <a:r>
              <a:rPr lang="en-US" altLang="zh-CN" dirty="0"/>
              <a:t>TB</a:t>
            </a:r>
            <a:r>
              <a:rPr lang="zh-CN" altLang="en-US" dirty="0"/>
              <a:t>、</a:t>
            </a:r>
            <a:r>
              <a:rPr lang="en-US" altLang="zh-CN" dirty="0"/>
              <a:t>PB</a:t>
            </a:r>
            <a:r>
              <a:rPr lang="zh-CN" altLang="en-US" dirty="0"/>
              <a:t>）</a:t>
            </a:r>
            <a:r>
              <a:rPr lang="en-US" altLang="zh-CN" dirty="0"/>
              <a:t>——</a:t>
            </a:r>
            <a:r>
              <a:rPr lang="zh-CN" altLang="en-US" dirty="0"/>
              <a:t>必须分布运行</a:t>
            </a:r>
            <a:endParaRPr lang="en-US" altLang="en-US" dirty="0"/>
          </a:p>
          <a:p>
            <a:r>
              <a:rPr lang="zh-CN" altLang="en-US" dirty="0"/>
              <a:t>高维</a:t>
            </a:r>
            <a:endParaRPr lang="en-US" altLang="en-US" dirty="0"/>
          </a:p>
          <a:p>
            <a:pPr lvl="1"/>
            <a:r>
              <a:rPr lang="zh-CN" altLang="en-US" dirty="0"/>
              <a:t>基因表达数据</a:t>
            </a:r>
            <a:endParaRPr lang="en-US" altLang="en-US" dirty="0"/>
          </a:p>
          <a:p>
            <a:r>
              <a:rPr lang="zh-CN" altLang="en-US" dirty="0"/>
              <a:t>异构</a:t>
            </a:r>
            <a:endParaRPr lang="en-US" altLang="en-US" dirty="0"/>
          </a:p>
          <a:p>
            <a:pPr lvl="1"/>
            <a:r>
              <a:rPr lang="zh-CN" altLang="en-US" dirty="0"/>
              <a:t>医学数据：病例（文本）、影像、心电</a:t>
            </a:r>
            <a:endParaRPr lang="en-US" altLang="en-US" dirty="0"/>
          </a:p>
          <a:p>
            <a:r>
              <a:rPr lang="zh-CN" altLang="en-US" dirty="0"/>
              <a:t>数据拥有着及其空间分布</a:t>
            </a:r>
            <a:r>
              <a:rPr lang="en-US" altLang="zh-CN" dirty="0"/>
              <a:t>——</a:t>
            </a:r>
            <a:r>
              <a:rPr lang="zh-CN" altLang="en-US" dirty="0"/>
              <a:t>通信、性能、安全</a:t>
            </a:r>
            <a:endParaRPr lang="en-US" altLang="en-US" dirty="0"/>
          </a:p>
          <a:p>
            <a:r>
              <a:rPr lang="zh-CN" altLang="en-US" dirty="0"/>
              <a:t>假设生成与验证，新形势下的数据采集与处理</a:t>
            </a:r>
            <a:endParaRPr lang="en-US" altLang="en-US" dirty="0"/>
          </a:p>
        </p:txBody>
      </p:sp>
      <p:sp>
        <p:nvSpPr>
          <p:cNvPr id="47108" name="Slide Number Placeholder 8">
            <a:extLst>
              <a:ext uri="{FF2B5EF4-FFF2-40B4-BE49-F238E27FC236}">
                <a16:creationId xmlns:a16="http://schemas.microsoft.com/office/drawing/2014/main" id="{D1BCAE31-7E63-401E-BA0F-ED4B6EDE6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2812818-4E42-4C67-82FC-E64CE939FA04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28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2F14B87-22E7-4228-83D1-5ED67187C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3FF8E9BF-9B48-4AAB-9D52-BE5B36A5DB1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BCA71B78-80FE-4A52-B5DF-4F8886264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  <a:endParaRPr lang="en-US" altLang="en-US" dirty="0"/>
          </a:p>
        </p:txBody>
      </p:sp>
      <p:sp>
        <p:nvSpPr>
          <p:cNvPr id="47107" name="Content Placeholder 2">
            <a:extLst>
              <a:ext uri="{FF2B5EF4-FFF2-40B4-BE49-F238E27FC236}">
                <a16:creationId xmlns:a16="http://schemas.microsoft.com/office/drawing/2014/main" id="{4D2BE912-BBF1-4D6B-B040-2F790F793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43000"/>
            <a:ext cx="8763000" cy="5181600"/>
          </a:xfrm>
        </p:spPr>
        <p:txBody>
          <a:bodyPr/>
          <a:lstStyle/>
          <a:p>
            <a:r>
              <a:rPr lang="zh-CN" altLang="en-US" sz="2200" dirty="0"/>
              <a:t>判断以下是否属于数据挖掘任务，判断标准：</a:t>
            </a:r>
            <a:r>
              <a:rPr lang="en-US" altLang="zh-CN" sz="2200" b="1" dirty="0">
                <a:solidFill>
                  <a:srgbClr val="FF0000"/>
                </a:solidFill>
              </a:rPr>
              <a:t>1</a:t>
            </a:r>
            <a:r>
              <a:rPr lang="zh-CN" altLang="en-US" sz="2200" b="1" dirty="0">
                <a:solidFill>
                  <a:srgbClr val="FF0000"/>
                </a:solidFill>
              </a:rPr>
              <a:t>）自动或半自动提取有用的信息；</a:t>
            </a:r>
            <a:r>
              <a:rPr lang="en-US" altLang="zh-CN" sz="2200" b="1" dirty="0">
                <a:solidFill>
                  <a:srgbClr val="FF0000"/>
                </a:solidFill>
              </a:rPr>
              <a:t>2</a:t>
            </a:r>
            <a:r>
              <a:rPr lang="zh-CN" altLang="en-US" sz="2200" b="1" dirty="0">
                <a:solidFill>
                  <a:srgbClr val="FF0000"/>
                </a:solidFill>
              </a:rPr>
              <a:t>）发现新模式，否则依然未知</a:t>
            </a:r>
            <a:endParaRPr lang="en-US" altLang="en-US" sz="2200" b="1" dirty="0">
              <a:solidFill>
                <a:srgbClr val="FF0000"/>
              </a:solidFill>
            </a:endParaRPr>
          </a:p>
          <a:p>
            <a:pPr lvl="1"/>
            <a:r>
              <a:rPr lang="zh-CN" altLang="en-US" sz="2200" dirty="0"/>
              <a:t>根据性别将客户分类</a:t>
            </a:r>
            <a:endParaRPr lang="en-US" altLang="zh-CN" sz="2200" dirty="0"/>
          </a:p>
          <a:p>
            <a:pPr lvl="1"/>
            <a:r>
              <a:rPr lang="zh-CN" altLang="en-US" sz="2200" dirty="0"/>
              <a:t>根据盈利能力将客户分类</a:t>
            </a:r>
            <a:endParaRPr lang="en-US" altLang="zh-CN" sz="2200" dirty="0"/>
          </a:p>
          <a:p>
            <a:pPr lvl="1"/>
            <a:r>
              <a:rPr lang="zh-CN" altLang="en-US" sz="2200" dirty="0"/>
              <a:t>计算某公司的全年销售额</a:t>
            </a:r>
            <a:endParaRPr lang="en-US" altLang="zh-CN" sz="2200" dirty="0"/>
          </a:p>
          <a:p>
            <a:pPr lvl="1"/>
            <a:r>
              <a:rPr lang="zh-CN" altLang="en-US" sz="2200" dirty="0"/>
              <a:t>按照学号排序</a:t>
            </a:r>
            <a:endParaRPr lang="en-US" altLang="zh-CN" sz="2200" dirty="0"/>
          </a:p>
          <a:p>
            <a:pPr lvl="1"/>
            <a:r>
              <a:rPr lang="zh-CN" altLang="en-US" sz="2200" dirty="0"/>
              <a:t>基于历史记录预测某公司的未来股值</a:t>
            </a:r>
            <a:endParaRPr lang="en-US" altLang="zh-CN" sz="2200" dirty="0"/>
          </a:p>
          <a:p>
            <a:pPr lvl="1"/>
            <a:r>
              <a:rPr lang="zh-CN" altLang="en-US" sz="2200" dirty="0"/>
              <a:t>监测病人的心率</a:t>
            </a:r>
            <a:endParaRPr lang="en-US" altLang="zh-CN" sz="2200" dirty="0"/>
          </a:p>
          <a:p>
            <a:pPr lvl="1"/>
            <a:r>
              <a:rPr lang="zh-CN" altLang="en-US" sz="2200" dirty="0"/>
              <a:t>监测地震波</a:t>
            </a:r>
            <a:r>
              <a:rPr lang="en-US" altLang="zh-CN" sz="2200" dirty="0"/>
              <a:t> </a:t>
            </a:r>
          </a:p>
          <a:p>
            <a:pPr lvl="1"/>
            <a:r>
              <a:rPr lang="zh-CN" altLang="en-US" sz="2200" dirty="0"/>
              <a:t>提取声波的频率</a:t>
            </a:r>
            <a:endParaRPr lang="en-US" altLang="zh-CN" sz="2200" dirty="0"/>
          </a:p>
          <a:p>
            <a:pPr lvl="1"/>
            <a:endParaRPr lang="en-US" altLang="en-US" sz="2000" dirty="0"/>
          </a:p>
        </p:txBody>
      </p:sp>
      <p:sp>
        <p:nvSpPr>
          <p:cNvPr id="47108" name="Slide Number Placeholder 8">
            <a:extLst>
              <a:ext uri="{FF2B5EF4-FFF2-40B4-BE49-F238E27FC236}">
                <a16:creationId xmlns:a16="http://schemas.microsoft.com/office/drawing/2014/main" id="{D1BCAE31-7E63-401E-BA0F-ED4B6EDE6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2812818-4E42-4C67-82FC-E64CE939FA04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29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2F14B87-22E7-4228-83D1-5ED67187C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3FF8E9BF-9B48-4AAB-9D52-BE5B36A5DB1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3672238"/>
      </p:ext>
    </p:extLst>
  </p:cSld>
  <p:clrMapOvr>
    <a:masterClrMapping/>
  </p:clrMapOvr>
</p:sld>
</file>

<file path=ppt/theme/theme1.xml><?xml version="1.0" encoding="utf-8"?>
<a:theme xmlns:a="http://schemas.openxmlformats.org/drawingml/2006/main" name="LC.BRev.FY97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LC.BRev.FY97">
      <a:majorFont>
        <a:latin typeface="Tahom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LC.BRev.FY9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C.BRev.FY97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Porky:Words:ASCI:PSE:Budgets FY97:LC.BRev.FY97</Template>
  <TotalTime>146477634</TotalTime>
  <Pages>3</Pages>
  <Words>2238</Words>
  <Application>Microsoft Office PowerPoint</Application>
  <PresentationFormat>全屏显示(4:3)</PresentationFormat>
  <Paragraphs>341</Paragraphs>
  <Slides>29</Slides>
  <Notes>22</Notes>
  <HiddenSlides>0</HiddenSlides>
  <MMClips>2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41" baseType="lpstr">
      <vt:lpstr>Monotype Sorts</vt:lpstr>
      <vt:lpstr>MS Mincho</vt:lpstr>
      <vt:lpstr>黑体</vt:lpstr>
      <vt:lpstr>宋体</vt:lpstr>
      <vt:lpstr>Arial</vt:lpstr>
      <vt:lpstr>Helvetica</vt:lpstr>
      <vt:lpstr>Tahoma</vt:lpstr>
      <vt:lpstr>Times New Roman</vt:lpstr>
      <vt:lpstr>Wingdings</vt:lpstr>
      <vt:lpstr>LC.BRev.FY97</vt:lpstr>
      <vt:lpstr>VISIO</vt:lpstr>
      <vt:lpstr>Document</vt:lpstr>
      <vt:lpstr>数据挖掘: 导论</vt:lpstr>
      <vt:lpstr>课程基本情况</vt:lpstr>
      <vt:lpstr>参考书</vt:lpstr>
      <vt:lpstr>课程主要内容</vt:lpstr>
      <vt:lpstr>案例1：啤酒与尿布</vt:lpstr>
      <vt:lpstr>案例2：Google成功预测冬季流感</vt:lpstr>
      <vt:lpstr>案例3：大数据与乔布斯癌症治疗</vt:lpstr>
      <vt:lpstr>案例4：奥巴马大选连任成功</vt:lpstr>
      <vt:lpstr>案例5：超市预知高中生顾客怀孕</vt:lpstr>
      <vt:lpstr>大数据无处不在</vt:lpstr>
      <vt:lpstr>为什么需要数据挖掘？从商业角度分析</vt:lpstr>
      <vt:lpstr>为什么需要数据挖掘？从科学角度分析</vt:lpstr>
      <vt:lpstr>提高各行各业生产力的大好机会</vt:lpstr>
      <vt:lpstr>PowerPoint 演示文稿</vt:lpstr>
      <vt:lpstr>解决全球社会问题的机会</vt:lpstr>
      <vt:lpstr>什么是数据挖掘?</vt:lpstr>
      <vt:lpstr>数据挖掘的起源</vt:lpstr>
      <vt:lpstr>第3次AI浪潮的基础</vt:lpstr>
      <vt:lpstr>数据挖掘的两大任务</vt:lpstr>
      <vt:lpstr>PowerPoint 演示文稿</vt:lpstr>
      <vt:lpstr>PowerPoint 演示文稿</vt:lpstr>
      <vt:lpstr>分类举例</vt:lpstr>
      <vt:lpstr>分类任务举例</vt:lpstr>
      <vt:lpstr>预测建模:回归</vt:lpstr>
      <vt:lpstr>PowerPoint 演示文稿</vt:lpstr>
      <vt:lpstr>关联分析</vt:lpstr>
      <vt:lpstr>异常检测</vt:lpstr>
      <vt:lpstr>数据挖掘的挑战</vt:lpstr>
      <vt:lpstr>练习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Steven F. Ashby Center for Applied Scientific Computing  Month DD, 1997</dc:title>
  <dc:subject/>
  <dc:creator>Computations</dc:creator>
  <cp:keywords/>
  <dc:description/>
  <cp:lastModifiedBy>刘云</cp:lastModifiedBy>
  <cp:revision>463</cp:revision>
  <cp:lastPrinted>2001-08-28T17:59:37Z</cp:lastPrinted>
  <dcterms:created xsi:type="dcterms:W3CDTF">1998-03-18T13:44:31Z</dcterms:created>
  <dcterms:modified xsi:type="dcterms:W3CDTF">2024-02-29T02:47:28Z</dcterms:modified>
</cp:coreProperties>
</file>