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tmp" ContentType="image/png"/>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39"/>
  </p:notesMasterIdLst>
  <p:handoutMasterIdLst>
    <p:handoutMasterId r:id="rId40"/>
  </p:handoutMasterIdLst>
  <p:sldIdLst>
    <p:sldId id="515" r:id="rId2"/>
    <p:sldId id="690" r:id="rId3"/>
    <p:sldId id="612" r:id="rId4"/>
    <p:sldId id="692" r:id="rId5"/>
    <p:sldId id="691" r:id="rId6"/>
    <p:sldId id="564" r:id="rId7"/>
    <p:sldId id="565" r:id="rId8"/>
    <p:sldId id="683" r:id="rId9"/>
    <p:sldId id="696" r:id="rId10"/>
    <p:sldId id="616" r:id="rId11"/>
    <p:sldId id="617" r:id="rId12"/>
    <p:sldId id="685" r:id="rId13"/>
    <p:sldId id="618" r:id="rId14"/>
    <p:sldId id="562" r:id="rId15"/>
    <p:sldId id="693" r:id="rId16"/>
    <p:sldId id="566" r:id="rId17"/>
    <p:sldId id="569" r:id="rId18"/>
    <p:sldId id="698" r:id="rId19"/>
    <p:sldId id="697" r:id="rId20"/>
    <p:sldId id="548" r:id="rId21"/>
    <p:sldId id="699" r:id="rId22"/>
    <p:sldId id="571" r:id="rId23"/>
    <p:sldId id="574" r:id="rId24"/>
    <p:sldId id="573" r:id="rId25"/>
    <p:sldId id="575" r:id="rId26"/>
    <p:sldId id="576" r:id="rId27"/>
    <p:sldId id="572" r:id="rId28"/>
    <p:sldId id="549" r:id="rId29"/>
    <p:sldId id="580" r:id="rId30"/>
    <p:sldId id="579" r:id="rId31"/>
    <p:sldId id="581" r:id="rId32"/>
    <p:sldId id="582" r:id="rId33"/>
    <p:sldId id="583" r:id="rId34"/>
    <p:sldId id="584" r:id="rId35"/>
    <p:sldId id="585" r:id="rId36"/>
    <p:sldId id="586" r:id="rId37"/>
    <p:sldId id="700" r:id="rId38"/>
  </p:sldIdLst>
  <p:sldSz cx="9144000" cy="6858000" type="screen4x3"/>
  <p:notesSz cx="7010400" cy="9296400"/>
  <p:kinsoku lang="ja-JP" invalStChars="、。，．・：；？！゛゜ヽヾゝゞ々ー’”）〕］｝〉》」』】°‰′″℃￠％ぁぃぅぇぉっゃゅょゎァィゥェォッャュョヮヵヶ!%),.:;?]}｡｣､･ｧｨｩｪｫｬｭｮｯｰﾞﾟ" invalEndChars="‘“（〔［｛〈《「『【￥＄$([\{｢￡"/>
  <p:defaultTextStyle>
    <a:defPPr>
      <a:defRPr lang="en-US"/>
    </a:defPPr>
    <a:lvl1pPr algn="l" rtl="0" eaLnBrk="0" fontAlgn="base" hangingPunct="0">
      <a:spcBef>
        <a:spcPct val="0"/>
      </a:spcBef>
      <a:spcAft>
        <a:spcPct val="0"/>
      </a:spcAft>
      <a:defRPr sz="1400" b="1" kern="1200">
        <a:solidFill>
          <a:schemeClr val="tx1"/>
        </a:solidFill>
        <a:latin typeface="Arial" charset="0"/>
        <a:ea typeface="+mn-ea"/>
        <a:cs typeface="+mn-cs"/>
      </a:defRPr>
    </a:lvl1pPr>
    <a:lvl2pPr marL="457200" algn="l" rtl="0" eaLnBrk="0" fontAlgn="base" hangingPunct="0">
      <a:spcBef>
        <a:spcPct val="0"/>
      </a:spcBef>
      <a:spcAft>
        <a:spcPct val="0"/>
      </a:spcAft>
      <a:defRPr sz="1400" b="1" kern="1200">
        <a:solidFill>
          <a:schemeClr val="tx1"/>
        </a:solidFill>
        <a:latin typeface="Arial" charset="0"/>
        <a:ea typeface="+mn-ea"/>
        <a:cs typeface="+mn-cs"/>
      </a:defRPr>
    </a:lvl2pPr>
    <a:lvl3pPr marL="914400" algn="l" rtl="0" eaLnBrk="0" fontAlgn="base" hangingPunct="0">
      <a:spcBef>
        <a:spcPct val="0"/>
      </a:spcBef>
      <a:spcAft>
        <a:spcPct val="0"/>
      </a:spcAft>
      <a:defRPr sz="1400" b="1" kern="1200">
        <a:solidFill>
          <a:schemeClr val="tx1"/>
        </a:solidFill>
        <a:latin typeface="Arial" charset="0"/>
        <a:ea typeface="+mn-ea"/>
        <a:cs typeface="+mn-cs"/>
      </a:defRPr>
    </a:lvl3pPr>
    <a:lvl4pPr marL="1371600" algn="l" rtl="0" eaLnBrk="0" fontAlgn="base" hangingPunct="0">
      <a:spcBef>
        <a:spcPct val="0"/>
      </a:spcBef>
      <a:spcAft>
        <a:spcPct val="0"/>
      </a:spcAft>
      <a:defRPr sz="1400" b="1" kern="1200">
        <a:solidFill>
          <a:schemeClr val="tx1"/>
        </a:solidFill>
        <a:latin typeface="Arial" charset="0"/>
        <a:ea typeface="+mn-ea"/>
        <a:cs typeface="+mn-cs"/>
      </a:defRPr>
    </a:lvl4pPr>
    <a:lvl5pPr marL="1828800" algn="l" rtl="0" eaLnBrk="0" fontAlgn="base" hangingPunct="0">
      <a:spcBef>
        <a:spcPct val="0"/>
      </a:spcBef>
      <a:spcAft>
        <a:spcPct val="0"/>
      </a:spcAft>
      <a:defRPr sz="1400" b="1" kern="1200">
        <a:solidFill>
          <a:schemeClr val="tx1"/>
        </a:solidFill>
        <a:latin typeface="Arial" charset="0"/>
        <a:ea typeface="+mn-ea"/>
        <a:cs typeface="+mn-cs"/>
      </a:defRPr>
    </a:lvl5pPr>
    <a:lvl6pPr marL="2286000" algn="l" defTabSz="914400" rtl="0" eaLnBrk="1" latinLnBrk="0" hangingPunct="1">
      <a:defRPr sz="1400" b="1" kern="1200">
        <a:solidFill>
          <a:schemeClr val="tx1"/>
        </a:solidFill>
        <a:latin typeface="Arial" charset="0"/>
        <a:ea typeface="+mn-ea"/>
        <a:cs typeface="+mn-cs"/>
      </a:defRPr>
    </a:lvl6pPr>
    <a:lvl7pPr marL="2743200" algn="l" defTabSz="914400" rtl="0" eaLnBrk="1" latinLnBrk="0" hangingPunct="1">
      <a:defRPr sz="1400" b="1" kern="1200">
        <a:solidFill>
          <a:schemeClr val="tx1"/>
        </a:solidFill>
        <a:latin typeface="Arial" charset="0"/>
        <a:ea typeface="+mn-ea"/>
        <a:cs typeface="+mn-cs"/>
      </a:defRPr>
    </a:lvl7pPr>
    <a:lvl8pPr marL="3200400" algn="l" defTabSz="914400" rtl="0" eaLnBrk="1" latinLnBrk="0" hangingPunct="1">
      <a:defRPr sz="1400" b="1" kern="1200">
        <a:solidFill>
          <a:schemeClr val="tx1"/>
        </a:solidFill>
        <a:latin typeface="Arial" charset="0"/>
        <a:ea typeface="+mn-ea"/>
        <a:cs typeface="+mn-cs"/>
      </a:defRPr>
    </a:lvl8pPr>
    <a:lvl9pPr marL="3657600" algn="l" defTabSz="914400" rtl="0" eaLnBrk="1" latinLnBrk="0" hangingPunct="1">
      <a:defRPr sz="1400" b="1"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736">
          <p15:clr>
            <a:srgbClr val="A4A3A4"/>
          </p15:clr>
        </p15:guide>
      </p15:sldGuideLst>
    </p:ext>
    <p:ext uri="{2D200454-40CA-4A62-9FC3-DE9A4176ACB9}">
      <p15:notesGuideLst xmlns:p15="http://schemas.microsoft.com/office/powerpoint/2012/main">
        <p15:guide id="1" orient="horz" pos="2929" userDrawn="1">
          <p15:clr>
            <a:srgbClr val="A4A3A4"/>
          </p15:clr>
        </p15:guide>
        <p15:guide id="2" pos="2209"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0000"/>
    <a:srgbClr val="2A8487"/>
    <a:srgbClr val="1C5A61"/>
    <a:srgbClr val="0C6D9C"/>
    <a:srgbClr val="CC3300"/>
    <a:srgbClr val="F5F5F5"/>
    <a:srgbClr val="F4F4F4"/>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821" autoAdjust="0"/>
    <p:restoredTop sz="94568" autoAdjust="0"/>
  </p:normalViewPr>
  <p:slideViewPr>
    <p:cSldViewPr>
      <p:cViewPr varScale="1">
        <p:scale>
          <a:sx n="76" d="100"/>
          <a:sy n="76" d="100"/>
        </p:scale>
        <p:origin x="1026" y="54"/>
      </p:cViewPr>
      <p:guideLst>
        <p:guide orient="horz" pos="2160"/>
        <p:guide pos="2736"/>
      </p:guideLst>
    </p:cSldViewPr>
  </p:slideViewPr>
  <p:outlineViewPr>
    <p:cViewPr>
      <p:scale>
        <a:sx n="33" d="100"/>
        <a:sy n="33" d="100"/>
      </p:scale>
      <p:origin x="0" y="0"/>
    </p:cViewPr>
    <p:sldLst>
      <p:sld r:id="rId1" collapse="1"/>
      <p:sld r:id="rId2" collapse="1"/>
      <p:sld r:id="rId3" collapse="1"/>
      <p:sld r:id="rId4" collapse="1"/>
      <p:sld r:id="rId5" collapse="1"/>
      <p:sld r:id="rId6" collapse="1"/>
    </p:sldLst>
  </p:outlineViewPr>
  <p:notesTextViewPr>
    <p:cViewPr>
      <p:scale>
        <a:sx n="3" d="2"/>
        <a:sy n="3" d="2"/>
      </p:scale>
      <p:origin x="0" y="0"/>
    </p:cViewPr>
  </p:notesTextViewPr>
  <p:sorterViewPr>
    <p:cViewPr>
      <p:scale>
        <a:sx n="75" d="100"/>
        <a:sy n="75" d="100"/>
      </p:scale>
      <p:origin x="0" y="-8932"/>
    </p:cViewPr>
  </p:sorterViewPr>
  <p:notesViewPr>
    <p:cSldViewPr>
      <p:cViewPr varScale="1">
        <p:scale>
          <a:sx n="83" d="100"/>
          <a:sy n="83" d="100"/>
        </p:scale>
        <p:origin x="-840" y="-66"/>
      </p:cViewPr>
      <p:guideLst>
        <p:guide orient="horz" pos="2929"/>
        <p:guide pos="2209"/>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_rels/viewProps.xml.rels><?xml version="1.0" encoding="UTF-8" standalone="yes"?>
<Relationships xmlns="http://schemas.openxmlformats.org/package/2006/relationships"><Relationship Id="rId3" Type="http://schemas.openxmlformats.org/officeDocument/2006/relationships/slide" Target="slides/slide10.xml"/><Relationship Id="rId2" Type="http://schemas.openxmlformats.org/officeDocument/2006/relationships/slide" Target="slides/slide5.xml"/><Relationship Id="rId1" Type="http://schemas.openxmlformats.org/officeDocument/2006/relationships/slide" Target="slides/slide3.xml"/><Relationship Id="rId6" Type="http://schemas.openxmlformats.org/officeDocument/2006/relationships/slide" Target="slides/slide13.xml"/><Relationship Id="rId5" Type="http://schemas.openxmlformats.org/officeDocument/2006/relationships/slide" Target="slides/slide12.xml"/><Relationship Id="rId4" Type="http://schemas.openxmlformats.org/officeDocument/2006/relationships/slide" Target="slides/slide11.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image" Target="../media/image6.wmf"/><Relationship Id="rId1" Type="http://schemas.openxmlformats.org/officeDocument/2006/relationships/image" Target="../media/image5.wmf"/><Relationship Id="rId4" Type="http://schemas.openxmlformats.org/officeDocument/2006/relationships/image" Target="../media/image8.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image" Target="../media/image14.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225406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body" sz="quarter" idx="3"/>
          </p:nvPr>
        </p:nvSpPr>
        <p:spPr bwMode="auto">
          <a:xfrm>
            <a:off x="932474" y="4416111"/>
            <a:ext cx="5143848" cy="4180819"/>
          </a:xfrm>
          <a:prstGeom prst="rect">
            <a:avLst/>
          </a:prstGeom>
          <a:noFill/>
          <a:ln w="12700">
            <a:noFill/>
            <a:miter lim="800000"/>
            <a:headEnd/>
            <a:tailEnd/>
          </a:ln>
          <a:effectLst/>
        </p:spPr>
        <p:txBody>
          <a:bodyPr vert="horz" wrap="square" lIns="96805" tIns="48406" rIns="96805" bIns="48406" numCol="1" anchor="t" anchorCtr="0" compatLnSpc="1">
            <a:prstTxWarp prst="textNoShape">
              <a:avLst/>
            </a:prstTxWarp>
          </a:bodyPr>
          <a:lstStyle/>
          <a:p>
            <a:pPr lvl="0"/>
            <a:r>
              <a:rPr lang="en-US" noProof="0"/>
              <a:t>Click to edit Master notes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1619" name="Rectangle 3"/>
          <p:cNvSpPr>
            <a:spLocks noGrp="1" noRot="1" noChangeAspect="1" noChangeArrowheads="1" noTextEdit="1"/>
          </p:cNvSpPr>
          <p:nvPr>
            <p:ph type="sldImg" idx="2"/>
          </p:nvPr>
        </p:nvSpPr>
        <p:spPr bwMode="auto">
          <a:xfrm>
            <a:off x="1193800" y="706438"/>
            <a:ext cx="4625975" cy="347027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sp>
    </p:spTree>
    <p:extLst>
      <p:ext uri="{BB962C8B-B14F-4D97-AF65-F5344CB8AC3E}">
        <p14:creationId xmlns:p14="http://schemas.microsoft.com/office/powerpoint/2010/main" val="3327074573"/>
      </p:ext>
    </p:extLst>
  </p:cSld>
  <p:clrMap bg1="lt1" tx1="dk1" bg2="lt2" tx2="dk2" accent1="accent1" accent2="accent2" accent3="accent3" accent4="accent4" accent5="accent5" accent6="accent6" hlink="hlink" folHlink="folHlink"/>
  <p:notesStyle>
    <a:lvl1pPr algn="l" defTabSz="963613" rtl="0" eaLnBrk="0" fontAlgn="base" hangingPunct="0">
      <a:spcBef>
        <a:spcPct val="30000"/>
      </a:spcBef>
      <a:spcAft>
        <a:spcPct val="0"/>
      </a:spcAft>
      <a:defRPr sz="1200" kern="1200">
        <a:solidFill>
          <a:schemeClr val="tx1"/>
        </a:solidFill>
        <a:latin typeface="Arial" charset="0"/>
        <a:ea typeface="+mn-ea"/>
        <a:cs typeface="+mn-cs"/>
      </a:defRPr>
    </a:lvl1pPr>
    <a:lvl2pPr marL="469900" algn="l" defTabSz="963613" rtl="0" eaLnBrk="0" fontAlgn="base" hangingPunct="0">
      <a:spcBef>
        <a:spcPct val="30000"/>
      </a:spcBef>
      <a:spcAft>
        <a:spcPct val="0"/>
      </a:spcAft>
      <a:defRPr sz="1200" kern="1200">
        <a:solidFill>
          <a:schemeClr val="tx1"/>
        </a:solidFill>
        <a:latin typeface="Arial" charset="0"/>
        <a:ea typeface="+mn-ea"/>
        <a:cs typeface="+mn-cs"/>
      </a:defRPr>
    </a:lvl2pPr>
    <a:lvl3pPr marL="938213" algn="l" defTabSz="963613" rtl="0" eaLnBrk="0" fontAlgn="base" hangingPunct="0">
      <a:spcBef>
        <a:spcPct val="30000"/>
      </a:spcBef>
      <a:spcAft>
        <a:spcPct val="0"/>
      </a:spcAft>
      <a:defRPr sz="1200" kern="1200">
        <a:solidFill>
          <a:schemeClr val="tx1"/>
        </a:solidFill>
        <a:latin typeface="Arial" charset="0"/>
        <a:ea typeface="+mn-ea"/>
        <a:cs typeface="+mn-cs"/>
      </a:defRPr>
    </a:lvl3pPr>
    <a:lvl4pPr marL="1408113" algn="l" defTabSz="963613" rtl="0" eaLnBrk="0" fontAlgn="base" hangingPunct="0">
      <a:spcBef>
        <a:spcPct val="30000"/>
      </a:spcBef>
      <a:spcAft>
        <a:spcPct val="0"/>
      </a:spcAft>
      <a:defRPr sz="1200" kern="1200">
        <a:solidFill>
          <a:schemeClr val="tx1"/>
        </a:solidFill>
        <a:latin typeface="Arial" charset="0"/>
        <a:ea typeface="+mn-ea"/>
        <a:cs typeface="+mn-cs"/>
      </a:defRPr>
    </a:lvl4pPr>
    <a:lvl5pPr marL="1876425" algn="l" defTabSz="963613"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p:cNvSpPr>
            <a:spLocks noGrp="1" noRot="1" noChangeAspect="1" noChangeArrowheads="1" noTextEdit="1"/>
          </p:cNvSpPr>
          <p:nvPr>
            <p:ph type="sldImg"/>
          </p:nvPr>
        </p:nvSpPr>
        <p:spPr>
          <a:xfrm>
            <a:off x="1185863" y="700088"/>
            <a:ext cx="4643437" cy="3482975"/>
          </a:xfrm>
          <a:solidFill>
            <a:srgbClr val="FFFFFF"/>
          </a:solidFill>
          <a:ln/>
        </p:spPr>
      </p:sp>
      <p:sp>
        <p:nvSpPr>
          <p:cNvPr id="112643" name="Rectangle 3"/>
          <p:cNvSpPr>
            <a:spLocks noGrp="1" noChangeArrowheads="1"/>
          </p:cNvSpPr>
          <p:nvPr>
            <p:ph type="body" idx="1"/>
          </p:nvPr>
        </p:nvSpPr>
        <p:spPr>
          <a:xfrm>
            <a:off x="934078" y="4416111"/>
            <a:ext cx="5142244" cy="4180819"/>
          </a:xfrm>
          <a:solidFill>
            <a:srgbClr val="FFFFFF"/>
          </a:solidFill>
          <a:ln>
            <a:solidFill>
              <a:srgbClr val="000000"/>
            </a:solidFill>
          </a:ln>
        </p:spPr>
        <p:txBody>
          <a:bodyPr lIns="91572" tIns="45782" rIns="91572" bIns="45782"/>
          <a:lstStyle/>
          <a:p>
            <a:endParaRPr lang="en-US" altLang="en-US"/>
          </a:p>
        </p:txBody>
      </p:sp>
    </p:spTree>
    <p:extLst>
      <p:ext uri="{BB962C8B-B14F-4D97-AF65-F5344CB8AC3E}">
        <p14:creationId xmlns:p14="http://schemas.microsoft.com/office/powerpoint/2010/main" val="3988028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8992631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3A34C74-B4C7-4F6C-A368-DDA7DDB22E62}" type="slidenum">
              <a:rPr lang="zh-CN" altLang="en-US" smtClean="0"/>
              <a:t>6</a:t>
            </a:fld>
            <a:endParaRPr lang="zh-CN" altLang="en-US"/>
          </a:p>
        </p:txBody>
      </p:sp>
    </p:spTree>
    <p:extLst>
      <p:ext uri="{BB962C8B-B14F-4D97-AF65-F5344CB8AC3E}">
        <p14:creationId xmlns:p14="http://schemas.microsoft.com/office/powerpoint/2010/main" val="38272080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3A34C74-B4C7-4F6C-A368-DDA7DDB22E62}" type="slidenum">
              <a:rPr lang="zh-CN" altLang="en-US" smtClean="0"/>
              <a:t>7</a:t>
            </a:fld>
            <a:endParaRPr lang="zh-CN" altLang="en-US"/>
          </a:p>
        </p:txBody>
      </p:sp>
    </p:spTree>
    <p:extLst>
      <p:ext uri="{BB962C8B-B14F-4D97-AF65-F5344CB8AC3E}">
        <p14:creationId xmlns:p14="http://schemas.microsoft.com/office/powerpoint/2010/main" val="19660718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3A34C74-B4C7-4F6C-A368-DDA7DDB22E62}" type="slidenum">
              <a:rPr lang="zh-CN" altLang="en-US" smtClean="0"/>
              <a:t>14</a:t>
            </a:fld>
            <a:endParaRPr lang="zh-CN" altLang="en-US"/>
          </a:p>
        </p:txBody>
      </p:sp>
    </p:spTree>
    <p:extLst>
      <p:ext uri="{BB962C8B-B14F-4D97-AF65-F5344CB8AC3E}">
        <p14:creationId xmlns:p14="http://schemas.microsoft.com/office/powerpoint/2010/main" val="8784158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3A34C74-B4C7-4F6C-A368-DDA7DDB22E62}" type="slidenum">
              <a:rPr lang="zh-CN" altLang="en-US" smtClean="0"/>
              <a:t>16</a:t>
            </a:fld>
            <a:endParaRPr lang="zh-CN" altLang="en-US"/>
          </a:p>
        </p:txBody>
      </p:sp>
    </p:spTree>
    <p:extLst>
      <p:ext uri="{BB962C8B-B14F-4D97-AF65-F5344CB8AC3E}">
        <p14:creationId xmlns:p14="http://schemas.microsoft.com/office/powerpoint/2010/main" val="9527502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3A34C74-B4C7-4F6C-A368-DDA7DDB22E62}" type="slidenum">
              <a:rPr lang="zh-CN" altLang="en-US" smtClean="0"/>
              <a:t>17</a:t>
            </a:fld>
            <a:endParaRPr lang="zh-CN" altLang="en-US"/>
          </a:p>
        </p:txBody>
      </p:sp>
    </p:spTree>
    <p:extLst>
      <p:ext uri="{BB962C8B-B14F-4D97-AF65-F5344CB8AC3E}">
        <p14:creationId xmlns:p14="http://schemas.microsoft.com/office/powerpoint/2010/main" val="39554207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3A34C74-B4C7-4F6C-A368-DDA7DDB22E62}" type="slidenum">
              <a:rPr lang="zh-CN" altLang="en-US" smtClean="0"/>
              <a:t>18</a:t>
            </a:fld>
            <a:endParaRPr lang="zh-CN" altLang="en-US"/>
          </a:p>
        </p:txBody>
      </p:sp>
    </p:spTree>
    <p:extLst>
      <p:ext uri="{BB962C8B-B14F-4D97-AF65-F5344CB8AC3E}">
        <p14:creationId xmlns:p14="http://schemas.microsoft.com/office/powerpoint/2010/main" val="40333827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3A34C74-B4C7-4F6C-A368-DDA7DDB22E62}" type="slidenum">
              <a:rPr lang="zh-CN" altLang="en-US" smtClean="0"/>
              <a:t>19</a:t>
            </a:fld>
            <a:endParaRPr lang="zh-CN" altLang="en-US"/>
          </a:p>
        </p:txBody>
      </p:sp>
    </p:spTree>
    <p:extLst>
      <p:ext uri="{BB962C8B-B14F-4D97-AF65-F5344CB8AC3E}">
        <p14:creationId xmlns:p14="http://schemas.microsoft.com/office/powerpoint/2010/main" val="32434920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3A34C74-B4C7-4F6C-A368-DDA7DDB22E62}" type="slidenum">
              <a:rPr lang="zh-CN" altLang="en-US" smtClean="0"/>
              <a:t>20</a:t>
            </a:fld>
            <a:endParaRPr lang="zh-CN" altLang="en-US"/>
          </a:p>
        </p:txBody>
      </p:sp>
    </p:spTree>
    <p:extLst>
      <p:ext uri="{BB962C8B-B14F-4D97-AF65-F5344CB8AC3E}">
        <p14:creationId xmlns:p14="http://schemas.microsoft.com/office/powerpoint/2010/main" val="37781349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3A34C74-B4C7-4F6C-A368-DDA7DDB22E62}" type="slidenum">
              <a:rPr lang="zh-CN" altLang="en-US" smtClean="0"/>
              <a:t>21</a:t>
            </a:fld>
            <a:endParaRPr lang="zh-CN" altLang="en-US"/>
          </a:p>
        </p:txBody>
      </p:sp>
    </p:spTree>
    <p:extLst>
      <p:ext uri="{BB962C8B-B14F-4D97-AF65-F5344CB8AC3E}">
        <p14:creationId xmlns:p14="http://schemas.microsoft.com/office/powerpoint/2010/main" val="28284649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3A34C74-B4C7-4F6C-A368-DDA7DDB22E62}" type="slidenum">
              <a:rPr lang="zh-CN" altLang="en-US" smtClean="0"/>
              <a:t>22</a:t>
            </a:fld>
            <a:endParaRPr lang="zh-CN" altLang="en-US"/>
          </a:p>
        </p:txBody>
      </p:sp>
    </p:spTree>
    <p:extLst>
      <p:ext uri="{BB962C8B-B14F-4D97-AF65-F5344CB8AC3E}">
        <p14:creationId xmlns:p14="http://schemas.microsoft.com/office/powerpoint/2010/main" val="362195881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3A34C74-B4C7-4F6C-A368-DDA7DDB22E62}" type="slidenum">
              <a:rPr lang="zh-CN" altLang="en-US" smtClean="0"/>
              <a:t>23</a:t>
            </a:fld>
            <a:endParaRPr lang="zh-CN" altLang="en-US"/>
          </a:p>
        </p:txBody>
      </p:sp>
    </p:spTree>
    <p:extLst>
      <p:ext uri="{BB962C8B-B14F-4D97-AF65-F5344CB8AC3E}">
        <p14:creationId xmlns:p14="http://schemas.microsoft.com/office/powerpoint/2010/main" val="226023446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3A34C74-B4C7-4F6C-A368-DDA7DDB22E62}" type="slidenum">
              <a:rPr lang="zh-CN" altLang="en-US" smtClean="0"/>
              <a:t>24</a:t>
            </a:fld>
            <a:endParaRPr lang="zh-CN" altLang="en-US"/>
          </a:p>
        </p:txBody>
      </p:sp>
    </p:spTree>
    <p:extLst>
      <p:ext uri="{BB962C8B-B14F-4D97-AF65-F5344CB8AC3E}">
        <p14:creationId xmlns:p14="http://schemas.microsoft.com/office/powerpoint/2010/main" val="15328627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3A34C74-B4C7-4F6C-A368-DDA7DDB22E62}" type="slidenum">
              <a:rPr lang="zh-CN" altLang="en-US" smtClean="0"/>
              <a:t>25</a:t>
            </a:fld>
            <a:endParaRPr lang="zh-CN" altLang="en-US"/>
          </a:p>
        </p:txBody>
      </p:sp>
    </p:spTree>
    <p:extLst>
      <p:ext uri="{BB962C8B-B14F-4D97-AF65-F5344CB8AC3E}">
        <p14:creationId xmlns:p14="http://schemas.microsoft.com/office/powerpoint/2010/main" val="371056454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3A34C74-B4C7-4F6C-A368-DDA7DDB22E62}" type="slidenum">
              <a:rPr lang="zh-CN" altLang="en-US" smtClean="0"/>
              <a:t>26</a:t>
            </a:fld>
            <a:endParaRPr lang="zh-CN" altLang="en-US"/>
          </a:p>
        </p:txBody>
      </p:sp>
    </p:spTree>
    <p:extLst>
      <p:ext uri="{BB962C8B-B14F-4D97-AF65-F5344CB8AC3E}">
        <p14:creationId xmlns:p14="http://schemas.microsoft.com/office/powerpoint/2010/main" val="144543303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3A34C74-B4C7-4F6C-A368-DDA7DDB22E62}" type="slidenum">
              <a:rPr lang="zh-CN" altLang="en-US" smtClean="0"/>
              <a:t>27</a:t>
            </a:fld>
            <a:endParaRPr lang="zh-CN" altLang="en-US"/>
          </a:p>
        </p:txBody>
      </p:sp>
    </p:spTree>
    <p:extLst>
      <p:ext uri="{BB962C8B-B14F-4D97-AF65-F5344CB8AC3E}">
        <p14:creationId xmlns:p14="http://schemas.microsoft.com/office/powerpoint/2010/main" val="296255498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3A34C74-B4C7-4F6C-A368-DDA7DDB22E62}" type="slidenum">
              <a:rPr lang="zh-CN" altLang="en-US" smtClean="0"/>
              <a:t>28</a:t>
            </a:fld>
            <a:endParaRPr lang="zh-CN" altLang="en-US"/>
          </a:p>
        </p:txBody>
      </p:sp>
    </p:spTree>
    <p:extLst>
      <p:ext uri="{BB962C8B-B14F-4D97-AF65-F5344CB8AC3E}">
        <p14:creationId xmlns:p14="http://schemas.microsoft.com/office/powerpoint/2010/main" val="14551406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3A34C74-B4C7-4F6C-A368-DDA7DDB22E62}" type="slidenum">
              <a:rPr lang="zh-CN" altLang="en-US" smtClean="0"/>
              <a:t>29</a:t>
            </a:fld>
            <a:endParaRPr lang="zh-CN" altLang="en-US"/>
          </a:p>
        </p:txBody>
      </p:sp>
    </p:spTree>
    <p:extLst>
      <p:ext uri="{BB962C8B-B14F-4D97-AF65-F5344CB8AC3E}">
        <p14:creationId xmlns:p14="http://schemas.microsoft.com/office/powerpoint/2010/main" val="212164304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3A34C74-B4C7-4F6C-A368-DDA7DDB22E62}" type="slidenum">
              <a:rPr lang="zh-CN" altLang="en-US" smtClean="0"/>
              <a:t>30</a:t>
            </a:fld>
            <a:endParaRPr lang="zh-CN" altLang="en-US"/>
          </a:p>
        </p:txBody>
      </p:sp>
    </p:spTree>
    <p:extLst>
      <p:ext uri="{BB962C8B-B14F-4D97-AF65-F5344CB8AC3E}">
        <p14:creationId xmlns:p14="http://schemas.microsoft.com/office/powerpoint/2010/main" val="291723480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3A34C74-B4C7-4F6C-A368-DDA7DDB22E62}" type="slidenum">
              <a:rPr lang="zh-CN" altLang="en-US" smtClean="0"/>
              <a:t>31</a:t>
            </a:fld>
            <a:endParaRPr lang="zh-CN" altLang="en-US"/>
          </a:p>
        </p:txBody>
      </p:sp>
    </p:spTree>
    <p:extLst>
      <p:ext uri="{BB962C8B-B14F-4D97-AF65-F5344CB8AC3E}">
        <p14:creationId xmlns:p14="http://schemas.microsoft.com/office/powerpoint/2010/main" val="387475752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3A34C74-B4C7-4F6C-A368-DDA7DDB22E62}" type="slidenum">
              <a:rPr lang="zh-CN" altLang="en-US" smtClean="0"/>
              <a:t>32</a:t>
            </a:fld>
            <a:endParaRPr lang="zh-CN" altLang="en-US"/>
          </a:p>
        </p:txBody>
      </p:sp>
    </p:spTree>
    <p:extLst>
      <p:ext uri="{BB962C8B-B14F-4D97-AF65-F5344CB8AC3E}">
        <p14:creationId xmlns:p14="http://schemas.microsoft.com/office/powerpoint/2010/main" val="37237819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3A34C74-B4C7-4F6C-A368-DDA7DDB22E62}" type="slidenum">
              <a:rPr lang="zh-CN" altLang="en-US" smtClean="0"/>
              <a:t>33</a:t>
            </a:fld>
            <a:endParaRPr lang="zh-CN" altLang="en-US"/>
          </a:p>
        </p:txBody>
      </p:sp>
    </p:spTree>
    <p:extLst>
      <p:ext uri="{BB962C8B-B14F-4D97-AF65-F5344CB8AC3E}">
        <p14:creationId xmlns:p14="http://schemas.microsoft.com/office/powerpoint/2010/main" val="314393070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3A34C74-B4C7-4F6C-A368-DDA7DDB22E62}" type="slidenum">
              <a:rPr lang="zh-CN" altLang="en-US" smtClean="0"/>
              <a:t>34</a:t>
            </a:fld>
            <a:endParaRPr lang="zh-CN" altLang="en-US"/>
          </a:p>
        </p:txBody>
      </p:sp>
    </p:spTree>
    <p:extLst>
      <p:ext uri="{BB962C8B-B14F-4D97-AF65-F5344CB8AC3E}">
        <p14:creationId xmlns:p14="http://schemas.microsoft.com/office/powerpoint/2010/main" val="332299497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3A34C74-B4C7-4F6C-A368-DDA7DDB22E62}" type="slidenum">
              <a:rPr lang="zh-CN" altLang="en-US" smtClean="0"/>
              <a:t>35</a:t>
            </a:fld>
            <a:endParaRPr lang="zh-CN" altLang="en-US"/>
          </a:p>
        </p:txBody>
      </p:sp>
    </p:spTree>
    <p:extLst>
      <p:ext uri="{BB962C8B-B14F-4D97-AF65-F5344CB8AC3E}">
        <p14:creationId xmlns:p14="http://schemas.microsoft.com/office/powerpoint/2010/main" val="392329845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3A34C74-B4C7-4F6C-A368-DDA7DDB22E62}" type="slidenum">
              <a:rPr lang="zh-CN" altLang="en-US" smtClean="0"/>
              <a:t>36</a:t>
            </a:fld>
            <a:endParaRPr lang="zh-CN" altLang="en-US"/>
          </a:p>
        </p:txBody>
      </p:sp>
    </p:spTree>
    <p:extLst>
      <p:ext uri="{BB962C8B-B14F-4D97-AF65-F5344CB8AC3E}">
        <p14:creationId xmlns:p14="http://schemas.microsoft.com/office/powerpoint/2010/main" val="40008613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Tree>
    <p:extLst>
      <p:ext uri="{BB962C8B-B14F-4D97-AF65-F5344CB8AC3E}">
        <p14:creationId xmlns:p14="http://schemas.microsoft.com/office/powerpoint/2010/main" val="33028407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083372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18953097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11163" y="1143000"/>
            <a:ext cx="408305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6613" y="1143000"/>
            <a:ext cx="408305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510925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611287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0710806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0280284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9468742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1756929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17818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43688" y="152400"/>
            <a:ext cx="2085975" cy="61722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81000" y="152400"/>
            <a:ext cx="6110288" cy="6172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952028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280400" cy="533400"/>
          </a:xfrm>
        </p:spPr>
        <p:txBody>
          <a:bodyPr/>
          <a:lstStyle/>
          <a:p>
            <a:r>
              <a:rPr lang="en-US"/>
              <a:t>Click to edit Master title style</a:t>
            </a:r>
          </a:p>
        </p:txBody>
      </p:sp>
      <p:sp>
        <p:nvSpPr>
          <p:cNvPr id="3" name="Text Placeholder 2"/>
          <p:cNvSpPr>
            <a:spLocks noGrp="1"/>
          </p:cNvSpPr>
          <p:nvPr>
            <p:ph type="body" sz="half" idx="1"/>
          </p:nvPr>
        </p:nvSpPr>
        <p:spPr>
          <a:xfrm>
            <a:off x="411163" y="1143000"/>
            <a:ext cx="4083050" cy="5181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6613" y="1143000"/>
            <a:ext cx="4083050" cy="2514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6613" y="3810000"/>
            <a:ext cx="4083050" cy="2514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179318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280400" cy="533400"/>
          </a:xfrm>
        </p:spPr>
        <p:txBody>
          <a:bodyPr/>
          <a:lstStyle/>
          <a:p>
            <a:r>
              <a:rPr lang="en-US"/>
              <a:t>Click to edit Master title style</a:t>
            </a:r>
          </a:p>
        </p:txBody>
      </p:sp>
      <p:sp>
        <p:nvSpPr>
          <p:cNvPr id="3" name="Text Placeholder 2"/>
          <p:cNvSpPr>
            <a:spLocks noGrp="1"/>
          </p:cNvSpPr>
          <p:nvPr>
            <p:ph type="body" sz="half" idx="1"/>
          </p:nvPr>
        </p:nvSpPr>
        <p:spPr>
          <a:xfrm>
            <a:off x="411163" y="1143000"/>
            <a:ext cx="4083050" cy="5181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6613" y="1143000"/>
            <a:ext cx="4083050" cy="5181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114862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81000" y="152400"/>
            <a:ext cx="82804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0488" tIns="44450" rIns="90488" bIns="44450" numCol="1" anchor="b" anchorCtr="0" compatLnSpc="1">
            <a:prstTxWarp prst="textNoShape">
              <a:avLst/>
            </a:prstTxWarp>
          </a:bodyPr>
          <a:lstStyle/>
          <a:p>
            <a:pPr lvl="0"/>
            <a:r>
              <a:rPr lang="en-US" altLang="en-US"/>
              <a:t>Click to edit Master title style</a:t>
            </a:r>
          </a:p>
        </p:txBody>
      </p:sp>
      <p:sp>
        <p:nvSpPr>
          <p:cNvPr id="1027" name="Rectangle 3"/>
          <p:cNvSpPr>
            <a:spLocks noGrp="1" noChangeArrowheads="1"/>
          </p:cNvSpPr>
          <p:nvPr>
            <p:ph type="body" idx="1"/>
          </p:nvPr>
        </p:nvSpPr>
        <p:spPr bwMode="auto">
          <a:xfrm>
            <a:off x="411163" y="1143000"/>
            <a:ext cx="8318500" cy="518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0488" tIns="44450" rIns="90488" bIns="4445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 Third Level</a:t>
            </a:r>
          </a:p>
        </p:txBody>
      </p:sp>
      <p:grpSp>
        <p:nvGrpSpPr>
          <p:cNvPr id="1028" name="Group 16"/>
          <p:cNvGrpSpPr>
            <a:grpSpLocks/>
          </p:cNvGrpSpPr>
          <p:nvPr userDrawn="1"/>
        </p:nvGrpSpPr>
        <p:grpSpPr bwMode="auto">
          <a:xfrm>
            <a:off x="304800" y="838200"/>
            <a:ext cx="8534400" cy="152400"/>
            <a:chOff x="264" y="788"/>
            <a:chExt cx="5232" cy="124"/>
          </a:xfrm>
        </p:grpSpPr>
        <p:sp>
          <p:nvSpPr>
            <p:cNvPr id="1030" name="Rectangle 17"/>
            <p:cNvSpPr>
              <a:spLocks noChangeArrowheads="1"/>
            </p:cNvSpPr>
            <p:nvPr/>
          </p:nvSpPr>
          <p:spPr bwMode="auto">
            <a:xfrm>
              <a:off x="264" y="788"/>
              <a:ext cx="5232" cy="61"/>
            </a:xfrm>
            <a:prstGeom prst="rect">
              <a:avLst/>
            </a:prstGeom>
            <a:gradFill rotWithShape="0">
              <a:gsLst>
                <a:gs pos="0">
                  <a:srgbClr val="0E9BBA"/>
                </a:gs>
                <a:gs pos="50000">
                  <a:srgbClr val="12C2E9"/>
                </a:gs>
                <a:gs pos="100000">
                  <a:srgbClr val="0E9BBA"/>
                </a:gs>
              </a:gsLst>
              <a:lin ang="540000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1031" name="Rectangle 18"/>
            <p:cNvSpPr>
              <a:spLocks noChangeArrowheads="1"/>
            </p:cNvSpPr>
            <p:nvPr/>
          </p:nvSpPr>
          <p:spPr bwMode="auto">
            <a:xfrm>
              <a:off x="264" y="881"/>
              <a:ext cx="5232" cy="31"/>
            </a:xfrm>
            <a:prstGeom prst="rect">
              <a:avLst/>
            </a:prstGeom>
            <a:gradFill rotWithShape="0">
              <a:gsLst>
                <a:gs pos="0">
                  <a:srgbClr val="B200B2"/>
                </a:gs>
                <a:gs pos="50000">
                  <a:srgbClr val="FF00FF"/>
                </a:gs>
                <a:gs pos="100000">
                  <a:srgbClr val="B200B2"/>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grpSp>
      <p:sp>
        <p:nvSpPr>
          <p:cNvPr id="8" name="Text Box 10"/>
          <p:cNvSpPr txBox="1">
            <a:spLocks noChangeArrowheads="1"/>
          </p:cNvSpPr>
          <p:nvPr userDrawn="1"/>
        </p:nvSpPr>
        <p:spPr bwMode="auto">
          <a:xfrm>
            <a:off x="457200" y="6400800"/>
            <a:ext cx="12192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defRPr sz="1400" b="1">
                <a:solidFill>
                  <a:schemeClr val="tx1"/>
                </a:solidFill>
                <a:latin typeface="Arial" pitchFamily="34" charset="0"/>
              </a:defRPr>
            </a:lvl1pPr>
            <a:lvl2pPr marL="742950" indent="-285750">
              <a:defRPr sz="1400" b="1">
                <a:solidFill>
                  <a:schemeClr val="tx1"/>
                </a:solidFill>
                <a:latin typeface="Arial" pitchFamily="34" charset="0"/>
              </a:defRPr>
            </a:lvl2pPr>
            <a:lvl3pPr marL="1143000" indent="-228600">
              <a:defRPr sz="1400" b="1">
                <a:solidFill>
                  <a:schemeClr val="tx1"/>
                </a:solidFill>
                <a:latin typeface="Arial" pitchFamily="34" charset="0"/>
              </a:defRPr>
            </a:lvl3pPr>
            <a:lvl4pPr marL="1600200" indent="-228600">
              <a:defRPr sz="1400" b="1">
                <a:solidFill>
                  <a:schemeClr val="tx1"/>
                </a:solidFill>
                <a:latin typeface="Arial" pitchFamily="34" charset="0"/>
              </a:defRPr>
            </a:lvl4pPr>
            <a:lvl5pPr marL="2057400" indent="-228600">
              <a:defRPr sz="1400" b="1">
                <a:solidFill>
                  <a:schemeClr val="tx1"/>
                </a:solidFill>
                <a:latin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defRPr>
            </a:lvl9pPr>
          </a:lstStyle>
          <a:p>
            <a:pPr>
              <a:spcBef>
                <a:spcPct val="50000"/>
              </a:spcBef>
              <a:defRPr/>
            </a:pPr>
            <a:r>
              <a:rPr lang="en-US" dirty="0"/>
              <a:t>11/16/2020	</a:t>
            </a:r>
          </a:p>
        </p:txBody>
      </p:sp>
      <p:sp>
        <p:nvSpPr>
          <p:cNvPr id="9" name="Rectangle 8"/>
          <p:cNvSpPr/>
          <p:nvPr userDrawn="1"/>
        </p:nvSpPr>
        <p:spPr>
          <a:xfrm>
            <a:off x="8454919" y="6400800"/>
            <a:ext cx="402674" cy="307777"/>
          </a:xfrm>
          <a:prstGeom prst="rect">
            <a:avLst/>
          </a:prstGeom>
        </p:spPr>
        <p:txBody>
          <a:bodyPr wrap="none">
            <a:spAutoFit/>
          </a:bodyPr>
          <a:lstStyle/>
          <a:p>
            <a:pPr>
              <a:spcBef>
                <a:spcPct val="50000"/>
              </a:spcBef>
              <a:defRPr/>
            </a:pPr>
            <a:fld id="{20C2B3EF-A58E-4072-B0B8-DA68EAC103CC}" type="slidenum">
              <a:rPr lang="en-US" smtClean="0"/>
              <a:pPr>
                <a:spcBef>
                  <a:spcPct val="50000"/>
                </a:spcBef>
                <a:defRPr/>
              </a:pPr>
              <a:t>‹#›</a:t>
            </a:fld>
            <a:endParaRPr lang="en-US" dirty="0"/>
          </a:p>
        </p:txBody>
      </p:sp>
      <p:sp>
        <p:nvSpPr>
          <p:cNvPr id="10" name="Rectangle 9"/>
          <p:cNvSpPr/>
          <p:nvPr userDrawn="1"/>
        </p:nvSpPr>
        <p:spPr>
          <a:xfrm>
            <a:off x="2514600" y="6334780"/>
            <a:ext cx="3733800" cy="523220"/>
          </a:xfrm>
          <a:prstGeom prst="rect">
            <a:avLst/>
          </a:prstGeom>
        </p:spPr>
        <p:txBody>
          <a:bodyPr wrap="square">
            <a:spAutoFit/>
          </a:bodyPr>
          <a:lstStyle/>
          <a:p>
            <a:pPr>
              <a:defRPr/>
            </a:pPr>
            <a:r>
              <a:rPr lang="en-US" dirty="0"/>
              <a:t>Introduction to Data Mining, 2nd Edition   Tan, Steinbach, </a:t>
            </a:r>
            <a:r>
              <a:rPr lang="en-US" dirty="0" err="1"/>
              <a:t>Karpatne</a:t>
            </a:r>
            <a:r>
              <a:rPr lang="en-US" dirty="0"/>
              <a:t>, Kumar</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rtl="0" eaLnBrk="0" fontAlgn="base" hangingPunct="0">
        <a:lnSpc>
          <a:spcPts val="3600"/>
        </a:lnSpc>
        <a:spcBef>
          <a:spcPct val="0"/>
        </a:spcBef>
        <a:spcAft>
          <a:spcPct val="0"/>
        </a:spcAft>
        <a:defRPr sz="3200" b="1">
          <a:solidFill>
            <a:schemeClr val="tx1"/>
          </a:solidFill>
          <a:latin typeface="+mj-lt"/>
          <a:ea typeface="+mj-ea"/>
          <a:cs typeface="+mj-cs"/>
        </a:defRPr>
      </a:lvl1pPr>
      <a:lvl2pPr algn="l" rtl="0" eaLnBrk="0" fontAlgn="base" hangingPunct="0">
        <a:lnSpc>
          <a:spcPts val="3600"/>
        </a:lnSpc>
        <a:spcBef>
          <a:spcPct val="0"/>
        </a:spcBef>
        <a:spcAft>
          <a:spcPct val="0"/>
        </a:spcAft>
        <a:defRPr sz="3200" b="1">
          <a:solidFill>
            <a:schemeClr val="tx1"/>
          </a:solidFill>
          <a:latin typeface="Tahoma" pitchFamily="34" charset="0"/>
        </a:defRPr>
      </a:lvl2pPr>
      <a:lvl3pPr algn="l" rtl="0" eaLnBrk="0" fontAlgn="base" hangingPunct="0">
        <a:lnSpc>
          <a:spcPts val="3600"/>
        </a:lnSpc>
        <a:spcBef>
          <a:spcPct val="0"/>
        </a:spcBef>
        <a:spcAft>
          <a:spcPct val="0"/>
        </a:spcAft>
        <a:defRPr sz="3200" b="1">
          <a:solidFill>
            <a:schemeClr val="tx1"/>
          </a:solidFill>
          <a:latin typeface="Tahoma" pitchFamily="34" charset="0"/>
        </a:defRPr>
      </a:lvl3pPr>
      <a:lvl4pPr algn="l" rtl="0" eaLnBrk="0" fontAlgn="base" hangingPunct="0">
        <a:lnSpc>
          <a:spcPts val="3600"/>
        </a:lnSpc>
        <a:spcBef>
          <a:spcPct val="0"/>
        </a:spcBef>
        <a:spcAft>
          <a:spcPct val="0"/>
        </a:spcAft>
        <a:defRPr sz="3200" b="1">
          <a:solidFill>
            <a:schemeClr val="tx1"/>
          </a:solidFill>
          <a:latin typeface="Tahoma" pitchFamily="34" charset="0"/>
        </a:defRPr>
      </a:lvl4pPr>
      <a:lvl5pPr algn="l" rtl="0" eaLnBrk="0" fontAlgn="base" hangingPunct="0">
        <a:lnSpc>
          <a:spcPts val="3600"/>
        </a:lnSpc>
        <a:spcBef>
          <a:spcPct val="0"/>
        </a:spcBef>
        <a:spcAft>
          <a:spcPct val="0"/>
        </a:spcAft>
        <a:defRPr sz="3200" b="1">
          <a:solidFill>
            <a:schemeClr val="tx1"/>
          </a:solidFill>
          <a:latin typeface="Tahoma" pitchFamily="34" charset="0"/>
        </a:defRPr>
      </a:lvl5pPr>
      <a:lvl6pPr marL="457200" algn="l" rtl="0" eaLnBrk="0" fontAlgn="base" hangingPunct="0">
        <a:lnSpc>
          <a:spcPts val="3600"/>
        </a:lnSpc>
        <a:spcBef>
          <a:spcPct val="0"/>
        </a:spcBef>
        <a:spcAft>
          <a:spcPct val="0"/>
        </a:spcAft>
        <a:defRPr sz="3200" b="1">
          <a:solidFill>
            <a:schemeClr val="tx1"/>
          </a:solidFill>
          <a:latin typeface="Tahoma" pitchFamily="34" charset="0"/>
        </a:defRPr>
      </a:lvl6pPr>
      <a:lvl7pPr marL="914400" algn="l" rtl="0" eaLnBrk="0" fontAlgn="base" hangingPunct="0">
        <a:lnSpc>
          <a:spcPts val="3600"/>
        </a:lnSpc>
        <a:spcBef>
          <a:spcPct val="0"/>
        </a:spcBef>
        <a:spcAft>
          <a:spcPct val="0"/>
        </a:spcAft>
        <a:defRPr sz="3200" b="1">
          <a:solidFill>
            <a:schemeClr val="tx1"/>
          </a:solidFill>
          <a:latin typeface="Tahoma" pitchFamily="34" charset="0"/>
        </a:defRPr>
      </a:lvl7pPr>
      <a:lvl8pPr marL="1371600" algn="l" rtl="0" eaLnBrk="0" fontAlgn="base" hangingPunct="0">
        <a:lnSpc>
          <a:spcPts val="3600"/>
        </a:lnSpc>
        <a:spcBef>
          <a:spcPct val="0"/>
        </a:spcBef>
        <a:spcAft>
          <a:spcPct val="0"/>
        </a:spcAft>
        <a:defRPr sz="3200" b="1">
          <a:solidFill>
            <a:schemeClr val="tx1"/>
          </a:solidFill>
          <a:latin typeface="Tahoma" pitchFamily="34" charset="0"/>
        </a:defRPr>
      </a:lvl8pPr>
      <a:lvl9pPr marL="1828800" algn="l" rtl="0" eaLnBrk="0" fontAlgn="base" hangingPunct="0">
        <a:lnSpc>
          <a:spcPts val="3600"/>
        </a:lnSpc>
        <a:spcBef>
          <a:spcPct val="0"/>
        </a:spcBef>
        <a:spcAft>
          <a:spcPct val="0"/>
        </a:spcAft>
        <a:defRPr sz="3200" b="1">
          <a:solidFill>
            <a:schemeClr val="tx1"/>
          </a:solidFill>
          <a:latin typeface="Tahoma" pitchFamily="34" charset="0"/>
        </a:defRPr>
      </a:lvl9pPr>
    </p:titleStyle>
    <p:bodyStyle>
      <a:lvl1pPr marL="292100" indent="-292100" algn="l" rtl="0" eaLnBrk="0" fontAlgn="base" hangingPunct="0">
        <a:spcBef>
          <a:spcPct val="10000"/>
        </a:spcBef>
        <a:spcAft>
          <a:spcPts val="400"/>
        </a:spcAft>
        <a:buClr>
          <a:srgbClr val="0C7B9C"/>
        </a:buClr>
        <a:buSzPct val="75000"/>
        <a:buFont typeface="Monotype Sorts" pitchFamily="2" charset="2"/>
        <a:buChar char="l"/>
        <a:defRPr sz="2800">
          <a:solidFill>
            <a:schemeClr val="tx1"/>
          </a:solidFill>
          <a:latin typeface="+mn-lt"/>
          <a:ea typeface="+mn-ea"/>
          <a:cs typeface="+mn-cs"/>
        </a:defRPr>
      </a:lvl1pPr>
      <a:lvl2pPr marL="800100" indent="-342900" algn="l" rtl="0" eaLnBrk="0" fontAlgn="base" hangingPunct="0">
        <a:spcBef>
          <a:spcPct val="10000"/>
        </a:spcBef>
        <a:spcAft>
          <a:spcPts val="400"/>
        </a:spcAft>
        <a:buClr>
          <a:srgbClr val="0C7B9C"/>
        </a:buClr>
        <a:buSzPct val="100000"/>
        <a:buFont typeface="Arial" charset="0"/>
        <a:buChar char="–"/>
        <a:defRPr sz="2400">
          <a:solidFill>
            <a:schemeClr val="tx1"/>
          </a:solidFill>
          <a:latin typeface="+mn-lt"/>
        </a:defRPr>
      </a:lvl2pPr>
      <a:lvl3pPr marL="914400" algn="l" rtl="0" eaLnBrk="0" fontAlgn="base" hangingPunct="0">
        <a:spcBef>
          <a:spcPct val="10000"/>
        </a:spcBef>
        <a:spcAft>
          <a:spcPts val="400"/>
        </a:spcAft>
        <a:buClr>
          <a:srgbClr val="0C7B9C"/>
        </a:buClr>
        <a:buSzPct val="70000"/>
        <a:buFont typeface="Wingdings" pitchFamily="2" charset="2"/>
        <a:buChar char="u"/>
        <a:defRPr sz="2000">
          <a:solidFill>
            <a:schemeClr val="tx1"/>
          </a:solidFill>
          <a:latin typeface="+mn-lt"/>
        </a:defRPr>
      </a:lvl3pPr>
      <a:lvl4pPr marL="1600200" indent="-228600" algn="l" rtl="0" eaLnBrk="0" fontAlgn="base" hangingPunct="0">
        <a:spcBef>
          <a:spcPct val="20000"/>
        </a:spcBef>
        <a:spcAft>
          <a:spcPct val="0"/>
        </a:spcAft>
        <a:buSzPct val="100000"/>
        <a:buChar char="–"/>
        <a:defRPr sz="2000">
          <a:solidFill>
            <a:schemeClr val="tx1"/>
          </a:solidFill>
          <a:latin typeface="Times New Roman" pitchFamily="18" charset="0"/>
        </a:defRPr>
      </a:lvl4pPr>
      <a:lvl5pPr marL="2057400" indent="-228600" algn="l" rtl="0" eaLnBrk="0" fontAlgn="base" hangingPunct="0">
        <a:spcBef>
          <a:spcPct val="20000"/>
        </a:spcBef>
        <a:spcAft>
          <a:spcPct val="0"/>
        </a:spcAft>
        <a:buSzPct val="100000"/>
        <a:buChar char="•"/>
        <a:defRPr sz="2000">
          <a:solidFill>
            <a:schemeClr val="tx1"/>
          </a:solidFill>
          <a:latin typeface="Times New Roman" pitchFamily="18" charset="0"/>
        </a:defRPr>
      </a:lvl5pPr>
      <a:lvl6pPr marL="2514600" indent="-228600" algn="l" rtl="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algn="l" rtl="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algn="l" rtl="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algn="l" rtl="0" eaLnBrk="0" fontAlgn="base" hangingPunct="0">
        <a:spcBef>
          <a:spcPct val="20000"/>
        </a:spcBef>
        <a:spcAft>
          <a:spcPct val="0"/>
        </a:spcAft>
        <a:buSzPct val="100000"/>
        <a:buChar char="•"/>
        <a:defRPr sz="2000">
          <a:solidFill>
            <a:schemeClr val="tx1"/>
          </a:solidFill>
          <a:latin typeface="Times New Roman" pitchFamily="18"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tags" Target="../tags/tag8.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image" Target="../media/image3.tmp"/><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image" Target="../media/image2.emf"/><Relationship Id="rId5" Type="http://schemas.openxmlformats.org/officeDocument/2006/relationships/tags" Target="../tags/tag5.xml"/><Relationship Id="rId10" Type="http://schemas.openxmlformats.org/officeDocument/2006/relationships/slideLayout" Target="../slideLayouts/slideLayout7.xml"/><Relationship Id="rId4" Type="http://schemas.openxmlformats.org/officeDocument/2006/relationships/tags" Target="../tags/tag4.xml"/><Relationship Id="rId9" Type="http://schemas.openxmlformats.org/officeDocument/2006/relationships/tags" Target="../tags/tag9.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8" Type="http://schemas.openxmlformats.org/officeDocument/2006/relationships/oleObject" Target="../embeddings/oleObject3.bin"/><Relationship Id="rId13" Type="http://schemas.openxmlformats.org/officeDocument/2006/relationships/image" Target="../media/image10.png"/><Relationship Id="rId3" Type="http://schemas.openxmlformats.org/officeDocument/2006/relationships/notesSlide" Target="../notesSlides/notesSlide3.xml"/><Relationship Id="rId7" Type="http://schemas.openxmlformats.org/officeDocument/2006/relationships/image" Target="../media/image6.wmf"/><Relationship Id="rId12" Type="http://schemas.openxmlformats.org/officeDocument/2006/relationships/image" Target="../media/image9.png"/><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oleObject" Target="../embeddings/oleObject2.bin"/><Relationship Id="rId11" Type="http://schemas.openxmlformats.org/officeDocument/2006/relationships/image" Target="../media/image8.wmf"/><Relationship Id="rId5" Type="http://schemas.openxmlformats.org/officeDocument/2006/relationships/image" Target="../media/image5.wmf"/><Relationship Id="rId10" Type="http://schemas.openxmlformats.org/officeDocument/2006/relationships/oleObject" Target="../embeddings/oleObject4.bin"/><Relationship Id="rId4" Type="http://schemas.openxmlformats.org/officeDocument/2006/relationships/oleObject" Target="../embeddings/oleObject1.bin"/><Relationship Id="rId9" Type="http://schemas.openxmlformats.org/officeDocument/2006/relationships/image" Target="../media/image7.wmf"/></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tags" Target="../tags/tag17.xml"/><Relationship Id="rId3" Type="http://schemas.openxmlformats.org/officeDocument/2006/relationships/tags" Target="../tags/tag12.xml"/><Relationship Id="rId7" Type="http://schemas.openxmlformats.org/officeDocument/2006/relationships/tags" Target="../tags/tag16.xml"/><Relationship Id="rId2" Type="http://schemas.openxmlformats.org/officeDocument/2006/relationships/tags" Target="../tags/tag11.xml"/><Relationship Id="rId1" Type="http://schemas.openxmlformats.org/officeDocument/2006/relationships/tags" Target="../tags/tag10.xml"/><Relationship Id="rId6" Type="http://schemas.openxmlformats.org/officeDocument/2006/relationships/tags" Target="../tags/tag15.xml"/><Relationship Id="rId11" Type="http://schemas.openxmlformats.org/officeDocument/2006/relationships/image" Target="../media/image3.tmp"/><Relationship Id="rId5" Type="http://schemas.openxmlformats.org/officeDocument/2006/relationships/tags" Target="../tags/tag14.xml"/><Relationship Id="rId10" Type="http://schemas.openxmlformats.org/officeDocument/2006/relationships/slideLayout" Target="../slideLayouts/slideLayout7.xml"/><Relationship Id="rId4" Type="http://schemas.openxmlformats.org/officeDocument/2006/relationships/tags" Target="../tags/tag13.xml"/><Relationship Id="rId9" Type="http://schemas.openxmlformats.org/officeDocument/2006/relationships/tags" Target="../tags/tag18.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5.png"/><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oleObject" Target="../embeddings/oleObject6.bin"/><Relationship Id="rId5" Type="http://schemas.openxmlformats.org/officeDocument/2006/relationships/image" Target="../media/image14.png"/><Relationship Id="rId4" Type="http://schemas.openxmlformats.org/officeDocument/2006/relationships/oleObject" Target="../embeddings/oleObject5.bin"/></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2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26.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3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a:xfrm>
            <a:off x="228600" y="609600"/>
            <a:ext cx="8763000" cy="838200"/>
          </a:xfrm>
        </p:spPr>
        <p:txBody>
          <a:bodyPr/>
          <a:lstStyle/>
          <a:p>
            <a:pPr algn="ctr"/>
            <a:r>
              <a:rPr lang="zh-CN" altLang="en-US" sz="2800" dirty="0"/>
              <a:t>数据挖掘：聚类</a:t>
            </a:r>
            <a:endParaRPr lang="en-US" altLang="en-US" sz="2800" dirty="0"/>
          </a:p>
        </p:txBody>
      </p:sp>
      <p:sp>
        <p:nvSpPr>
          <p:cNvPr id="2051" name="Rectangle 3"/>
          <p:cNvSpPr>
            <a:spLocks noChangeArrowheads="1"/>
          </p:cNvSpPr>
          <p:nvPr/>
        </p:nvSpPr>
        <p:spPr bwMode="auto">
          <a:xfrm>
            <a:off x="381000" y="2401050"/>
            <a:ext cx="8229600" cy="2911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pPr algn="ctr" eaLnBrk="1" hangingPunct="1">
              <a:spcBef>
                <a:spcPct val="20000"/>
              </a:spcBef>
              <a:buClr>
                <a:schemeClr val="folHlink"/>
              </a:buClr>
              <a:buSzPct val="60000"/>
              <a:buFont typeface="Wingdings" pitchFamily="2" charset="2"/>
              <a:buNone/>
            </a:pPr>
            <a:r>
              <a:rPr lang="zh-CN" altLang="en-US" sz="3200" b="0" dirty="0"/>
              <a:t>聚     类</a:t>
            </a:r>
            <a:endParaRPr lang="en-US" altLang="zh-CN" sz="3200" b="0" dirty="0"/>
          </a:p>
          <a:p>
            <a:pPr algn="ctr" eaLnBrk="1" hangingPunct="1">
              <a:spcBef>
                <a:spcPct val="20000"/>
              </a:spcBef>
              <a:buClr>
                <a:schemeClr val="folHlink"/>
              </a:buClr>
              <a:buSzPct val="60000"/>
              <a:buFont typeface="Wingdings" pitchFamily="2" charset="2"/>
              <a:buNone/>
            </a:pPr>
            <a:endParaRPr lang="en-US" altLang="zh-CN" sz="3200" b="0" dirty="0"/>
          </a:p>
          <a:p>
            <a:pPr algn="ctr" eaLnBrk="1" hangingPunct="1">
              <a:spcBef>
                <a:spcPct val="20000"/>
              </a:spcBef>
              <a:buClr>
                <a:schemeClr val="folHlink"/>
              </a:buClr>
              <a:buSzPct val="60000"/>
              <a:buFont typeface="Wingdings" pitchFamily="2" charset="2"/>
              <a:buNone/>
            </a:pPr>
            <a:r>
              <a:rPr lang="zh-CN" altLang="en-US" sz="3200" b="0" dirty="0"/>
              <a:t>吉林大学 </a:t>
            </a:r>
            <a:endParaRPr lang="en-US" altLang="zh-CN" sz="3200" b="0" dirty="0"/>
          </a:p>
          <a:p>
            <a:pPr algn="ctr" eaLnBrk="1" hangingPunct="1">
              <a:spcBef>
                <a:spcPct val="20000"/>
              </a:spcBef>
              <a:buClr>
                <a:schemeClr val="folHlink"/>
              </a:buClr>
              <a:buSzPct val="60000"/>
              <a:buFont typeface="Wingdings" pitchFamily="2" charset="2"/>
              <a:buNone/>
            </a:pPr>
            <a:r>
              <a:rPr lang="zh-CN" altLang="en-US" sz="3200" b="0" dirty="0"/>
              <a:t>刘    云</a:t>
            </a:r>
            <a:endParaRPr lang="en-US" altLang="en-US" sz="1600" b="0" dirty="0"/>
          </a:p>
          <a:p>
            <a:pPr algn="ctr"/>
            <a:endParaRPr lang="en-US" altLang="en-US" sz="1600" b="0" dirty="0"/>
          </a:p>
          <a:p>
            <a:endParaRPr lang="en-US" altLang="en-US" sz="2000" b="0" dirty="0"/>
          </a:p>
        </p:txBody>
      </p:sp>
      <p:grpSp>
        <p:nvGrpSpPr>
          <p:cNvPr id="2052" name="Group 7"/>
          <p:cNvGrpSpPr>
            <a:grpSpLocks/>
          </p:cNvGrpSpPr>
          <p:nvPr/>
        </p:nvGrpSpPr>
        <p:grpSpPr bwMode="auto">
          <a:xfrm>
            <a:off x="304800" y="1447800"/>
            <a:ext cx="8534400" cy="152400"/>
            <a:chOff x="264" y="788"/>
            <a:chExt cx="5232" cy="124"/>
          </a:xfrm>
        </p:grpSpPr>
        <p:sp>
          <p:nvSpPr>
            <p:cNvPr id="2053" name="Rectangle 8"/>
            <p:cNvSpPr>
              <a:spLocks noChangeArrowheads="1"/>
            </p:cNvSpPr>
            <p:nvPr/>
          </p:nvSpPr>
          <p:spPr bwMode="auto">
            <a:xfrm>
              <a:off x="264" y="788"/>
              <a:ext cx="5232" cy="61"/>
            </a:xfrm>
            <a:prstGeom prst="rect">
              <a:avLst/>
            </a:prstGeom>
            <a:gradFill rotWithShape="0">
              <a:gsLst>
                <a:gs pos="0">
                  <a:srgbClr val="0E9BBA"/>
                </a:gs>
                <a:gs pos="50000">
                  <a:srgbClr val="12C2E9"/>
                </a:gs>
                <a:gs pos="100000">
                  <a:srgbClr val="0E9BBA"/>
                </a:gs>
              </a:gsLst>
              <a:lin ang="540000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2054" name="Rectangle 9"/>
            <p:cNvSpPr>
              <a:spLocks noChangeArrowheads="1"/>
            </p:cNvSpPr>
            <p:nvPr/>
          </p:nvSpPr>
          <p:spPr bwMode="auto">
            <a:xfrm>
              <a:off x="264" y="881"/>
              <a:ext cx="5232" cy="31"/>
            </a:xfrm>
            <a:prstGeom prst="rect">
              <a:avLst/>
            </a:prstGeom>
            <a:gradFill rotWithShape="0">
              <a:gsLst>
                <a:gs pos="0">
                  <a:srgbClr val="B200B2"/>
                </a:gs>
                <a:gs pos="50000">
                  <a:srgbClr val="FF00FF"/>
                </a:gs>
                <a:gs pos="100000">
                  <a:srgbClr val="B200B2"/>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grpSp>
      <p:sp>
        <p:nvSpPr>
          <p:cNvPr id="7" name="Text Box 10"/>
          <p:cNvSpPr txBox="1">
            <a:spLocks noChangeArrowheads="1"/>
          </p:cNvSpPr>
          <p:nvPr/>
        </p:nvSpPr>
        <p:spPr bwMode="auto">
          <a:xfrm>
            <a:off x="457200" y="6400800"/>
            <a:ext cx="12192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defRPr sz="1400" b="1">
                <a:solidFill>
                  <a:schemeClr val="tx1"/>
                </a:solidFill>
                <a:latin typeface="Arial" pitchFamily="34" charset="0"/>
              </a:defRPr>
            </a:lvl1pPr>
            <a:lvl2pPr marL="742950" indent="-285750">
              <a:defRPr sz="1400" b="1">
                <a:solidFill>
                  <a:schemeClr val="tx1"/>
                </a:solidFill>
                <a:latin typeface="Arial" pitchFamily="34" charset="0"/>
              </a:defRPr>
            </a:lvl2pPr>
            <a:lvl3pPr marL="1143000" indent="-228600">
              <a:defRPr sz="1400" b="1">
                <a:solidFill>
                  <a:schemeClr val="tx1"/>
                </a:solidFill>
                <a:latin typeface="Arial" pitchFamily="34" charset="0"/>
              </a:defRPr>
            </a:lvl3pPr>
            <a:lvl4pPr marL="1600200" indent="-228600">
              <a:defRPr sz="1400" b="1">
                <a:solidFill>
                  <a:schemeClr val="tx1"/>
                </a:solidFill>
                <a:latin typeface="Arial" pitchFamily="34" charset="0"/>
              </a:defRPr>
            </a:lvl4pPr>
            <a:lvl5pPr marL="2057400" indent="-228600">
              <a:defRPr sz="1400" b="1">
                <a:solidFill>
                  <a:schemeClr val="tx1"/>
                </a:solidFill>
                <a:latin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defRPr>
            </a:lvl9pPr>
          </a:lstStyle>
          <a:p>
            <a:pPr>
              <a:spcBef>
                <a:spcPct val="50000"/>
              </a:spcBef>
              <a:defRPr/>
            </a:pPr>
            <a:r>
              <a:rPr lang="en-US" dirty="0"/>
              <a:t>11/16/2020	</a:t>
            </a:r>
          </a:p>
        </p:txBody>
      </p:sp>
      <p:sp>
        <p:nvSpPr>
          <p:cNvPr id="9" name="Rectangle 8"/>
          <p:cNvSpPr/>
          <p:nvPr/>
        </p:nvSpPr>
        <p:spPr>
          <a:xfrm>
            <a:off x="2514600" y="6334780"/>
            <a:ext cx="3733800" cy="523220"/>
          </a:xfrm>
          <a:prstGeom prst="rect">
            <a:avLst/>
          </a:prstGeom>
        </p:spPr>
        <p:txBody>
          <a:bodyPr wrap="square">
            <a:spAutoFit/>
          </a:bodyPr>
          <a:lstStyle/>
          <a:p>
            <a:pPr>
              <a:defRPr/>
            </a:pPr>
            <a:r>
              <a:rPr lang="en-US" dirty="0"/>
              <a:t>Introduction to Data Mining, 2nd Edition   Tan, Steinbach, </a:t>
            </a:r>
            <a:r>
              <a:rPr lang="en-US" dirty="0" err="1"/>
              <a:t>Karpatne</a:t>
            </a:r>
            <a:r>
              <a:rPr lang="en-US" dirty="0"/>
              <a:t>, Kumar</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基于密度的聚类</a:t>
            </a:r>
            <a:endParaRPr lang="en-US" dirty="0"/>
          </a:p>
        </p:txBody>
      </p:sp>
      <p:sp>
        <p:nvSpPr>
          <p:cNvPr id="3" name="Content Placeholder 2"/>
          <p:cNvSpPr>
            <a:spLocks noGrp="1"/>
          </p:cNvSpPr>
          <p:nvPr>
            <p:ph idx="1"/>
          </p:nvPr>
        </p:nvSpPr>
        <p:spPr/>
        <p:txBody>
          <a:bodyPr/>
          <a:lstStyle/>
          <a:p>
            <a:r>
              <a:rPr lang="zh-CN" altLang="en-US" dirty="0"/>
              <a:t>由低密度区域分割开来的高密度区域，称为聚类</a:t>
            </a:r>
            <a:endParaRPr lang="en-US" dirty="0"/>
          </a:p>
          <a:p>
            <a:endParaRPr lang="en-US" dirty="0"/>
          </a:p>
        </p:txBody>
      </p:sp>
      <p:pic>
        <p:nvPicPr>
          <p:cNvPr id="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0" y="1932630"/>
            <a:ext cx="4872038" cy="3602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Tree>
    <p:extLst>
      <p:ext uri="{BB962C8B-B14F-4D97-AF65-F5344CB8AC3E}">
        <p14:creationId xmlns:p14="http://schemas.microsoft.com/office/powerpoint/2010/main" val="39461388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a:xfrm>
            <a:off x="381000" y="152400"/>
            <a:ext cx="8280400" cy="552450"/>
          </a:xfrm>
        </p:spPr>
        <p:txBody>
          <a:bodyPr/>
          <a:lstStyle/>
          <a:p>
            <a:r>
              <a:rPr lang="en-US" altLang="en-US" sz="2800" dirty="0"/>
              <a:t>DBSCAN</a:t>
            </a:r>
            <a:r>
              <a:rPr lang="en-US" altLang="zh-CN" sz="2800" dirty="0"/>
              <a:t>-</a:t>
            </a:r>
            <a:r>
              <a:rPr lang="zh-CN" altLang="en-US" sz="2800" dirty="0"/>
              <a:t>最基本、常用的密度聚类方法</a:t>
            </a:r>
            <a:endParaRPr lang="en-US" altLang="en-US" sz="2800" dirty="0"/>
          </a:p>
        </p:txBody>
      </p:sp>
      <p:sp>
        <p:nvSpPr>
          <p:cNvPr id="81923" name="Rectangle 3"/>
          <p:cNvSpPr>
            <a:spLocks noGrp="1" noChangeArrowheads="1"/>
          </p:cNvSpPr>
          <p:nvPr>
            <p:ph type="body" idx="1"/>
          </p:nvPr>
        </p:nvSpPr>
        <p:spPr>
          <a:xfrm>
            <a:off x="639763" y="1143000"/>
            <a:ext cx="8001000" cy="5181600"/>
          </a:xfrm>
        </p:spPr>
        <p:txBody>
          <a:bodyPr/>
          <a:lstStyle/>
          <a:p>
            <a:pPr marL="533400" indent="-533400">
              <a:lnSpc>
                <a:spcPct val="90000"/>
              </a:lnSpc>
              <a:spcBef>
                <a:spcPct val="20000"/>
              </a:spcBef>
            </a:pPr>
            <a:r>
              <a:rPr lang="en-US" altLang="en-US" dirty="0"/>
              <a:t>DBSCAN</a:t>
            </a:r>
          </a:p>
          <a:p>
            <a:pPr marL="990600" lvl="1" indent="-533400">
              <a:lnSpc>
                <a:spcPct val="90000"/>
              </a:lnSpc>
              <a:spcBef>
                <a:spcPct val="20000"/>
              </a:spcBef>
            </a:pPr>
            <a:r>
              <a:rPr lang="en-US" altLang="en-US" sz="2000" dirty="0"/>
              <a:t>Density = </a:t>
            </a:r>
            <a:r>
              <a:rPr lang="zh-CN" altLang="en-US" sz="2000" dirty="0"/>
              <a:t>给定半径内点的数量（包括自己），</a:t>
            </a:r>
            <a:r>
              <a:rPr lang="en-US" altLang="zh-CN" sz="2000" dirty="0"/>
              <a:t>Eps</a:t>
            </a:r>
            <a:endParaRPr lang="en-US" altLang="en-US" sz="2000" dirty="0"/>
          </a:p>
          <a:p>
            <a:pPr marL="2171700" lvl="4" indent="-342900">
              <a:lnSpc>
                <a:spcPct val="90000"/>
              </a:lnSpc>
            </a:pPr>
            <a:endParaRPr lang="en-US" altLang="en-US" sz="1800" dirty="0"/>
          </a:p>
          <a:p>
            <a:pPr marL="990600" lvl="1" indent="-533400">
              <a:lnSpc>
                <a:spcPct val="90000"/>
              </a:lnSpc>
              <a:spcBef>
                <a:spcPct val="20000"/>
              </a:spcBef>
            </a:pPr>
            <a:r>
              <a:rPr lang="zh-CN" altLang="en-US" sz="2000" dirty="0">
                <a:solidFill>
                  <a:srgbClr val="FF0000"/>
                </a:solidFill>
              </a:rPr>
              <a:t>核心点（</a:t>
            </a:r>
            <a:r>
              <a:rPr lang="en-US" altLang="zh-CN" sz="2000" dirty="0">
                <a:solidFill>
                  <a:srgbClr val="FF0000"/>
                </a:solidFill>
              </a:rPr>
              <a:t>core</a:t>
            </a:r>
            <a:r>
              <a:rPr lang="zh-CN" altLang="en-US" sz="2000" dirty="0">
                <a:solidFill>
                  <a:srgbClr val="FF0000"/>
                </a:solidFill>
              </a:rPr>
              <a:t>）</a:t>
            </a:r>
            <a:r>
              <a:rPr lang="zh-CN" altLang="en-US" sz="2000" dirty="0"/>
              <a:t>：</a:t>
            </a:r>
            <a:r>
              <a:rPr lang="en-US" altLang="zh-CN" sz="2000" dirty="0"/>
              <a:t>density&gt;</a:t>
            </a:r>
            <a:r>
              <a:rPr lang="en-US" altLang="zh-CN" sz="2000" dirty="0" err="1"/>
              <a:t>MinPts</a:t>
            </a:r>
            <a:r>
              <a:rPr lang="zh-CN" altLang="en-US" sz="2000" dirty="0"/>
              <a:t>，设定的最小点数量</a:t>
            </a:r>
            <a:r>
              <a:rPr lang="en-US" altLang="en-US" dirty="0"/>
              <a:t> </a:t>
            </a:r>
          </a:p>
          <a:p>
            <a:pPr marL="1295400" lvl="2" indent="-381000"/>
            <a:r>
              <a:rPr lang="zh-CN" altLang="en-US" dirty="0"/>
              <a:t>位于聚类内部的点</a:t>
            </a:r>
            <a:endParaRPr lang="en-US" altLang="en-US" dirty="0"/>
          </a:p>
          <a:p>
            <a:pPr marL="1295400" lvl="2" indent="-381000"/>
            <a:r>
              <a:rPr lang="zh-CN" altLang="en-US" dirty="0"/>
              <a:t>自己包含在内</a:t>
            </a:r>
            <a:endParaRPr lang="en-US" altLang="en-US" dirty="0"/>
          </a:p>
          <a:p>
            <a:pPr marL="2171700" lvl="4" indent="-342900"/>
            <a:endParaRPr lang="en-US" altLang="en-US" dirty="0"/>
          </a:p>
          <a:p>
            <a:pPr marL="990600" lvl="1" indent="-533400">
              <a:lnSpc>
                <a:spcPct val="90000"/>
              </a:lnSpc>
              <a:spcBef>
                <a:spcPct val="20000"/>
              </a:spcBef>
            </a:pPr>
            <a:r>
              <a:rPr lang="zh-CN" altLang="en-US" sz="2000" dirty="0">
                <a:solidFill>
                  <a:srgbClr val="FF0000"/>
                </a:solidFill>
              </a:rPr>
              <a:t>边界点（</a:t>
            </a:r>
            <a:r>
              <a:rPr lang="en-US" altLang="zh-CN" sz="2000" dirty="0">
                <a:solidFill>
                  <a:srgbClr val="FF0000"/>
                </a:solidFill>
              </a:rPr>
              <a:t>border</a:t>
            </a:r>
            <a:r>
              <a:rPr lang="zh-CN" altLang="en-US" sz="2000" dirty="0">
                <a:solidFill>
                  <a:srgbClr val="FF0000"/>
                </a:solidFill>
              </a:rPr>
              <a:t>）</a:t>
            </a:r>
            <a:r>
              <a:rPr lang="zh-CN" altLang="en-US" sz="2000" dirty="0"/>
              <a:t>：不是核心点，但位于某个核心点的邻域内</a:t>
            </a:r>
            <a:endParaRPr lang="en-US" altLang="zh-CN" sz="2000" dirty="0"/>
          </a:p>
          <a:p>
            <a:pPr marL="1790700" lvl="3" indent="-533400">
              <a:lnSpc>
                <a:spcPct val="90000"/>
              </a:lnSpc>
            </a:pPr>
            <a:r>
              <a:rPr lang="zh-CN" altLang="en-US" sz="1600" dirty="0"/>
              <a:t>邻域是半径为</a:t>
            </a:r>
            <a:r>
              <a:rPr lang="en-US" altLang="zh-CN" sz="1600" dirty="0"/>
              <a:t>Eps</a:t>
            </a:r>
            <a:r>
              <a:rPr lang="zh-CN" altLang="en-US" sz="1600" dirty="0"/>
              <a:t>内的点集</a:t>
            </a:r>
            <a:endParaRPr lang="en-US" altLang="en-US" sz="1600" dirty="0"/>
          </a:p>
          <a:p>
            <a:pPr marL="2171700" lvl="4" indent="-342900">
              <a:lnSpc>
                <a:spcPct val="90000"/>
              </a:lnSpc>
            </a:pPr>
            <a:endParaRPr lang="en-US" altLang="en-US" sz="1800" dirty="0"/>
          </a:p>
          <a:p>
            <a:pPr marL="990600" lvl="1" indent="-533400">
              <a:lnSpc>
                <a:spcPct val="90000"/>
              </a:lnSpc>
              <a:spcBef>
                <a:spcPct val="20000"/>
              </a:spcBef>
            </a:pPr>
            <a:r>
              <a:rPr lang="zh-CN" altLang="en-US" sz="2000" dirty="0">
                <a:solidFill>
                  <a:srgbClr val="FF0000"/>
                </a:solidFill>
              </a:rPr>
              <a:t>噪声点（</a:t>
            </a:r>
            <a:r>
              <a:rPr lang="en-US" altLang="zh-CN" sz="2000" dirty="0">
                <a:solidFill>
                  <a:srgbClr val="FF0000"/>
                </a:solidFill>
              </a:rPr>
              <a:t>noise</a:t>
            </a:r>
            <a:r>
              <a:rPr lang="zh-CN" altLang="en-US" sz="2000" dirty="0">
                <a:solidFill>
                  <a:srgbClr val="FF0000"/>
                </a:solidFill>
              </a:rPr>
              <a:t>）</a:t>
            </a:r>
            <a:r>
              <a:rPr lang="zh-CN" altLang="en-US" sz="2000" dirty="0"/>
              <a:t>：其余的点，既不是核心点，也不是边界点</a:t>
            </a:r>
            <a:r>
              <a:rPr lang="en-US" altLang="en-US" sz="2000" dirty="0"/>
              <a:t> </a:t>
            </a:r>
          </a:p>
          <a:p>
            <a:pPr marL="533400" indent="-533400">
              <a:lnSpc>
                <a:spcPct val="90000"/>
              </a:lnSpc>
              <a:spcBef>
                <a:spcPct val="20000"/>
              </a:spcBef>
            </a:pPr>
            <a:endParaRPr lang="en-US" alt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7794454C-7727-493A-976E-074D30520650}"/>
              </a:ext>
            </a:extLst>
          </p:cNvPr>
          <p:cNvSpPr txBox="1"/>
          <p:nvPr>
            <p:custDataLst>
              <p:tags r:id="rId2"/>
            </p:custDataLst>
          </p:nvPr>
        </p:nvSpPr>
        <p:spPr>
          <a:xfrm>
            <a:off x="254000" y="5638248"/>
            <a:ext cx="9220200" cy="635000"/>
          </a:xfrm>
          <a:prstGeom prst="rect">
            <a:avLst/>
          </a:prstGeom>
          <a:noFill/>
        </p:spPr>
        <p:txBody>
          <a:bodyPr vert="horz" wrap="square" rtlCol="0" anchor="ctr" anchorCtr="0">
            <a:noAutofit/>
          </a:bodyPr>
          <a:lstStyle/>
          <a:p>
            <a:r>
              <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图中核心点是</a:t>
            </a:r>
            <a:r>
              <a:rPr lang="zh-CN" altLang="en-US" sz="2400" dirty="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 </a:t>
            </a:r>
            <a:r>
              <a:rPr lang="en-US" altLang="zh-CN" sz="2400" dirty="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zh-CN" altLang="en-US" sz="2400" dirty="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填空</a:t>
            </a:r>
            <a:r>
              <a:rPr lang="en-US" altLang="zh-CN" sz="2400" dirty="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en-US" altLang="zh-CN"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r>
              <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，边界点是</a:t>
            </a:r>
            <a:r>
              <a:rPr lang="zh-CN" altLang="en-US" sz="2400" dirty="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 </a:t>
            </a:r>
            <a:r>
              <a:rPr lang="en-US" altLang="zh-CN" sz="2400" dirty="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zh-CN" altLang="en-US" sz="2400" dirty="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填空</a:t>
            </a:r>
            <a:r>
              <a:rPr lang="en-US" altLang="zh-CN" sz="2400" dirty="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en-US" altLang="zh-CN"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r>
              <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，噪声点是</a:t>
            </a:r>
            <a:r>
              <a:rPr lang="zh-CN" altLang="en-US" sz="2400" dirty="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 </a:t>
            </a:r>
            <a:r>
              <a:rPr lang="en-US" altLang="zh-CN" sz="2400" dirty="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zh-CN" altLang="en-US" sz="2400" dirty="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填空</a:t>
            </a:r>
            <a:r>
              <a:rPr lang="en-US" altLang="zh-CN" sz="2400" dirty="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3]</a:t>
            </a:r>
            <a:r>
              <a:rPr lang="en-US" altLang="zh-CN"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endPar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7" name="矩形: 圆角 6">
            <a:extLst>
              <a:ext uri="{FF2B5EF4-FFF2-40B4-BE49-F238E27FC236}">
                <a16:creationId xmlns:a16="http://schemas.microsoft.com/office/drawing/2014/main" id="{555358FF-D5BC-42BE-9B87-A83377619B99}"/>
              </a:ext>
            </a:extLst>
          </p:cNvPr>
          <p:cNvSpPr/>
          <p:nvPr>
            <p:custDataLst>
              <p:tags r:id="rId3"/>
            </p:custDataLst>
          </p:nvPr>
        </p:nvSpPr>
        <p:spPr bwMode="auto">
          <a:xfrm>
            <a:off x="6172200" y="6215063"/>
            <a:ext cx="1543050" cy="411480"/>
          </a:xfrm>
          <a:prstGeom prst="roundRect">
            <a:avLst/>
          </a:prstGeom>
          <a:solidFill>
            <a:srgbClr val="808080"/>
          </a:solidFill>
          <a:ln w="38100" cap="flat" cmpd="sng" algn="ctr">
            <a:solidFill>
              <a:srgbClr val="000000"/>
            </a:solid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zh-CN" altLang="en-US" sz="1600" b="1" i="0" u="none" strike="noStrike" cap="none" normalizeH="0" baseline="0">
                <a:ln>
                  <a:noFill/>
                </a:ln>
                <a:solidFill>
                  <a:srgbClr val="FFFFFF"/>
                </a:solidFill>
                <a:effectLst/>
                <a:latin typeface="Microsoft Yahei" panose="020B0503020204020204" pitchFamily="34" charset="-122"/>
                <a:ea typeface="Microsoft Yahei" panose="020B0503020204020204" pitchFamily="34" charset="-122"/>
                <a:sym typeface="Microsoft Yahei" panose="020B0503020204020204" pitchFamily="34" charset="-122"/>
              </a:rPr>
              <a:t>作答</a:t>
            </a:r>
          </a:p>
        </p:txBody>
      </p:sp>
      <p:pic>
        <p:nvPicPr>
          <p:cNvPr id="14" name="Picture 1">
            <a:extLst>
              <a:ext uri="{FF2B5EF4-FFF2-40B4-BE49-F238E27FC236}">
                <a16:creationId xmlns:a16="http://schemas.microsoft.com/office/drawing/2014/main" id="{C30BD2F4-BA0F-4AF8-BAE4-E7AC7B606F92}"/>
              </a:ext>
            </a:extLst>
          </p:cNvPr>
          <p:cNvPicPr>
            <a:picLocks noChangeAspect="1"/>
          </p:cNvPicPr>
          <p:nvPr/>
        </p:nvPicPr>
        <p:blipFill>
          <a:blip r:embed="rId11"/>
          <a:stretch>
            <a:fillRect/>
          </a:stretch>
        </p:blipFill>
        <p:spPr>
          <a:xfrm>
            <a:off x="97238" y="1219752"/>
            <a:ext cx="8153400" cy="4419298"/>
          </a:xfrm>
          <a:prstGeom prst="rect">
            <a:avLst/>
          </a:prstGeom>
        </p:spPr>
      </p:pic>
      <p:sp>
        <p:nvSpPr>
          <p:cNvPr id="15" name="TextBox 2">
            <a:extLst>
              <a:ext uri="{FF2B5EF4-FFF2-40B4-BE49-F238E27FC236}">
                <a16:creationId xmlns:a16="http://schemas.microsoft.com/office/drawing/2014/main" id="{959A4E4B-8EC0-4639-8F25-0B4E7A38A736}"/>
              </a:ext>
            </a:extLst>
          </p:cNvPr>
          <p:cNvSpPr txBox="1"/>
          <p:nvPr/>
        </p:nvSpPr>
        <p:spPr>
          <a:xfrm>
            <a:off x="493077" y="1252220"/>
            <a:ext cx="1426845" cy="338554"/>
          </a:xfrm>
          <a:prstGeom prst="rect">
            <a:avLst/>
          </a:prstGeom>
          <a:noFill/>
        </p:spPr>
        <p:txBody>
          <a:bodyPr wrap="square" rtlCol="0">
            <a:spAutoFit/>
          </a:bodyPr>
          <a:lstStyle/>
          <a:p>
            <a:r>
              <a:rPr lang="en-US" sz="1600" dirty="0" err="1"/>
              <a:t>MinPts</a:t>
            </a:r>
            <a:r>
              <a:rPr lang="en-US" sz="1600" dirty="0"/>
              <a:t> = 7</a:t>
            </a:r>
          </a:p>
        </p:txBody>
      </p:sp>
      <p:sp>
        <p:nvSpPr>
          <p:cNvPr id="16" name="矩形 15">
            <a:extLst>
              <a:ext uri="{FF2B5EF4-FFF2-40B4-BE49-F238E27FC236}">
                <a16:creationId xmlns:a16="http://schemas.microsoft.com/office/drawing/2014/main" id="{7E7BE7F9-B980-4652-9650-1DDE04570439}"/>
              </a:ext>
            </a:extLst>
          </p:cNvPr>
          <p:cNvSpPr/>
          <p:nvPr/>
        </p:nvSpPr>
        <p:spPr bwMode="auto">
          <a:xfrm>
            <a:off x="6324600" y="1348937"/>
            <a:ext cx="1358900" cy="243783"/>
          </a:xfrm>
          <a:prstGeom prst="rect">
            <a:avLst/>
          </a:prstGeom>
          <a:ln>
            <a:headEnd type="none" w="med" len="med"/>
            <a:tailEnd type="none" w="med" len="med"/>
          </a:ln>
        </p:spPr>
        <p:style>
          <a:lnRef idx="2">
            <a:schemeClr val="accent3"/>
          </a:lnRef>
          <a:fillRef idx="1">
            <a:schemeClr val="lt1"/>
          </a:fillRef>
          <a:effectRef idx="0">
            <a:schemeClr val="accent3"/>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400" b="1" i="0" u="none" strike="noStrike" cap="none" normalizeH="0" baseline="0">
              <a:ln>
                <a:noFill/>
              </a:ln>
              <a:solidFill>
                <a:schemeClr val="tx1"/>
              </a:solidFill>
              <a:effectLst/>
              <a:latin typeface="Arial" charset="0"/>
            </a:endParaRPr>
          </a:p>
        </p:txBody>
      </p:sp>
      <p:sp>
        <p:nvSpPr>
          <p:cNvPr id="17" name="矩形 16">
            <a:extLst>
              <a:ext uri="{FF2B5EF4-FFF2-40B4-BE49-F238E27FC236}">
                <a16:creationId xmlns:a16="http://schemas.microsoft.com/office/drawing/2014/main" id="{185786BE-7BA8-46B0-9966-03D53DE888D4}"/>
              </a:ext>
            </a:extLst>
          </p:cNvPr>
          <p:cNvSpPr/>
          <p:nvPr/>
        </p:nvSpPr>
        <p:spPr bwMode="auto">
          <a:xfrm>
            <a:off x="3975266" y="1391977"/>
            <a:ext cx="1358900" cy="243783"/>
          </a:xfrm>
          <a:prstGeom prst="rect">
            <a:avLst/>
          </a:prstGeom>
          <a:ln>
            <a:headEnd type="none" w="med" len="med"/>
            <a:tailEnd type="none" w="med" len="med"/>
          </a:ln>
        </p:spPr>
        <p:style>
          <a:lnRef idx="2">
            <a:schemeClr val="accent3"/>
          </a:lnRef>
          <a:fillRef idx="1">
            <a:schemeClr val="lt1"/>
          </a:fillRef>
          <a:effectRef idx="0">
            <a:schemeClr val="accent3"/>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400" b="1" i="0" u="none" strike="noStrike" cap="none" normalizeH="0" baseline="0">
              <a:ln>
                <a:noFill/>
              </a:ln>
              <a:solidFill>
                <a:schemeClr val="tx1"/>
              </a:solidFill>
              <a:effectLst/>
              <a:latin typeface="Arial" charset="0"/>
            </a:endParaRPr>
          </a:p>
        </p:txBody>
      </p:sp>
      <p:sp>
        <p:nvSpPr>
          <p:cNvPr id="18" name="矩形 17">
            <a:extLst>
              <a:ext uri="{FF2B5EF4-FFF2-40B4-BE49-F238E27FC236}">
                <a16:creationId xmlns:a16="http://schemas.microsoft.com/office/drawing/2014/main" id="{E3FD9BD9-A361-495F-BF5A-1B6AA7CA810E}"/>
              </a:ext>
            </a:extLst>
          </p:cNvPr>
          <p:cNvSpPr/>
          <p:nvPr/>
        </p:nvSpPr>
        <p:spPr bwMode="auto">
          <a:xfrm>
            <a:off x="685800" y="1884290"/>
            <a:ext cx="1358900" cy="243783"/>
          </a:xfrm>
          <a:prstGeom prst="rect">
            <a:avLst/>
          </a:prstGeom>
          <a:ln>
            <a:headEnd type="none" w="med" len="med"/>
            <a:tailEnd type="none" w="med" len="med"/>
          </a:ln>
        </p:spPr>
        <p:style>
          <a:lnRef idx="2">
            <a:schemeClr val="accent3"/>
          </a:lnRef>
          <a:fillRef idx="1">
            <a:schemeClr val="lt1"/>
          </a:fillRef>
          <a:effectRef idx="0">
            <a:schemeClr val="accent3"/>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400" b="1" i="0" u="none" strike="noStrike" cap="none" normalizeH="0" baseline="0">
              <a:ln>
                <a:noFill/>
              </a:ln>
              <a:solidFill>
                <a:schemeClr val="tx1"/>
              </a:solidFill>
              <a:effectLst/>
              <a:latin typeface="Arial" charset="0"/>
            </a:endParaRPr>
          </a:p>
        </p:txBody>
      </p:sp>
      <p:grpSp>
        <p:nvGrpSpPr>
          <p:cNvPr id="12" name="组合 11">
            <a:extLst>
              <a:ext uri="{FF2B5EF4-FFF2-40B4-BE49-F238E27FC236}">
                <a16:creationId xmlns:a16="http://schemas.microsoft.com/office/drawing/2014/main" id="{34E839A7-7A5B-41DD-90A9-3963171A7083}"/>
              </a:ext>
            </a:extLst>
          </p:cNvPr>
          <p:cNvGrpSpPr/>
          <p:nvPr>
            <p:custDataLst>
              <p:tags r:id="rId4"/>
            </p:custDataLst>
          </p:nvPr>
        </p:nvGrpSpPr>
        <p:grpSpPr>
          <a:xfrm>
            <a:off x="0" y="0"/>
            <a:ext cx="9144000" cy="635000"/>
            <a:chOff x="0" y="0"/>
            <a:chExt cx="9144000" cy="635000"/>
          </a:xfrm>
        </p:grpSpPr>
        <p:sp>
          <p:nvSpPr>
            <p:cNvPr id="8" name="TitleBackground">
              <a:extLst>
                <a:ext uri="{FF2B5EF4-FFF2-40B4-BE49-F238E27FC236}">
                  <a16:creationId xmlns:a16="http://schemas.microsoft.com/office/drawing/2014/main" id="{A710C1C1-1D8A-438E-BC5C-6E6F3585167D}"/>
                </a:ext>
              </a:extLst>
            </p:cNvPr>
            <p:cNvSpPr/>
            <p:nvPr>
              <p:custDataLst>
                <p:tags r:id="rId6"/>
              </p:custDataLst>
            </p:nvPr>
          </p:nvSpPr>
          <p:spPr bwMode="auto">
            <a:xfrm>
              <a:off x="0" y="0"/>
              <a:ext cx="9144000" cy="635000"/>
            </a:xfrm>
            <a:prstGeom prst="rect">
              <a:avLst/>
            </a:prstGeom>
            <a:solidFill>
              <a:srgbClr val="F6F7F8"/>
            </a:solidFill>
            <a:ln w="12700" cap="flat" cmpd="sng" algn="ctr">
              <a:noFill/>
              <a:prstDash val="solid"/>
              <a:round/>
              <a:headEnd type="none" w="med" len="med"/>
              <a:tailEnd type="none" w="med" len="med"/>
            </a:ln>
            <a:effectLst/>
            <a:extLst>
              <a:ext uri="{91240B29-F687-4F45-9708-019B960494DF}">
                <a14:hiddenLine xmlns:a14="http://schemas.microsoft.com/office/drawing/2010/main" w="12700" cap="flat" cmpd="sng" algn="ctr">
                  <a:solidFill>
                    <a:schemeClr val="tx1"/>
                  </a:solidFill>
                  <a:prstDash val="solid"/>
                  <a:round/>
                  <a:headEnd type="none" w="med" len="med"/>
                  <a:tailEnd type="none" w="med" len="med"/>
                </a14:hiddenLine>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400" b="1" i="0" u="none" strike="noStrike" cap="none" normalizeH="0" baseline="0">
                <a:ln>
                  <a:noFill/>
                </a:ln>
                <a:solidFill>
                  <a:schemeClr val="tx1"/>
                </a:solidFill>
                <a:effectLst/>
                <a:latin typeface="Arial" charset="0"/>
              </a:endParaRPr>
            </a:p>
          </p:txBody>
        </p:sp>
        <p:sp>
          <p:nvSpPr>
            <p:cNvPr id="9" name="ColorBlock">
              <a:extLst>
                <a:ext uri="{FF2B5EF4-FFF2-40B4-BE49-F238E27FC236}">
                  <a16:creationId xmlns:a16="http://schemas.microsoft.com/office/drawing/2014/main" id="{F8481462-8FB6-4EA1-927A-A5EF4D3A72FD}"/>
                </a:ext>
              </a:extLst>
            </p:cNvPr>
            <p:cNvSpPr/>
            <p:nvPr>
              <p:custDataLst>
                <p:tags r:id="rId7"/>
              </p:custDataLst>
            </p:nvPr>
          </p:nvSpPr>
          <p:spPr bwMode="auto">
            <a:xfrm>
              <a:off x="0" y="0"/>
              <a:ext cx="190500" cy="635000"/>
            </a:xfrm>
            <a:prstGeom prst="rect">
              <a:avLst/>
            </a:prstGeom>
            <a:solidFill>
              <a:srgbClr val="639EF4"/>
            </a:solidFill>
            <a:ln w="12700" cap="flat" cmpd="sng" algn="ctr">
              <a:noFill/>
              <a:prstDash val="solid"/>
              <a:round/>
              <a:headEnd type="none" w="med" len="med"/>
              <a:tailEnd type="none" w="med" len="med"/>
            </a:ln>
            <a:effectLst/>
            <a:extLst>
              <a:ext uri="{91240B29-F687-4F45-9708-019B960494DF}">
                <a14:hiddenLine xmlns:a14="http://schemas.microsoft.com/office/drawing/2010/main" w="12700" cap="flat" cmpd="sng" algn="ctr">
                  <a:solidFill>
                    <a:schemeClr val="tx1"/>
                  </a:solidFill>
                  <a:prstDash val="solid"/>
                  <a:round/>
                  <a:headEnd type="none" w="med" len="med"/>
                  <a:tailEnd type="none" w="med" len="med"/>
                </a14:hiddenLine>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400" b="1" i="0" u="none" strike="noStrike" cap="none" normalizeH="0" baseline="0">
                <a:ln>
                  <a:noFill/>
                </a:ln>
                <a:solidFill>
                  <a:schemeClr val="tx1"/>
                </a:solidFill>
                <a:effectLst/>
                <a:latin typeface="Arial" charset="0"/>
              </a:endParaRPr>
            </a:p>
          </p:txBody>
        </p:sp>
        <p:sp>
          <p:nvSpPr>
            <p:cNvPr id="10" name="TypeText">
              <a:extLst>
                <a:ext uri="{FF2B5EF4-FFF2-40B4-BE49-F238E27FC236}">
                  <a16:creationId xmlns:a16="http://schemas.microsoft.com/office/drawing/2014/main" id="{E5A959FE-F1F4-42E8-A4AF-0DFB0180BF3A}"/>
                </a:ext>
              </a:extLst>
            </p:cNvPr>
            <p:cNvSpPr txBox="1"/>
            <p:nvPr>
              <p:custDataLst>
                <p:tags r:id="rId8"/>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填空题</a:t>
              </a:r>
            </a:p>
          </p:txBody>
        </p:sp>
        <p:sp>
          <p:nvSpPr>
            <p:cNvPr id="11" name="TipText">
              <a:extLst>
                <a:ext uri="{FF2B5EF4-FFF2-40B4-BE49-F238E27FC236}">
                  <a16:creationId xmlns:a16="http://schemas.microsoft.com/office/drawing/2014/main" id="{3650C30F-66AB-4E8D-9E42-33259BE11D71}"/>
                </a:ext>
              </a:extLst>
            </p:cNvPr>
            <p:cNvSpPr txBox="1"/>
            <p:nvPr>
              <p:custDataLst>
                <p:tags r:id="rId9"/>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3</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5" name="图片 4">
            <a:extLst>
              <a:ext uri="{FF2B5EF4-FFF2-40B4-BE49-F238E27FC236}">
                <a16:creationId xmlns:a16="http://schemas.microsoft.com/office/drawing/2014/main" id="{2BA9E9DF-AC2C-4322-9464-B0ED2A9464D6}"/>
              </a:ext>
            </a:extLst>
          </p:cNvPr>
          <p:cNvPicPr>
            <a:picLocks/>
          </p:cNvPicPr>
          <p:nvPr>
            <p:custDataLst>
              <p:tags r:id="rId5"/>
            </p:custDataLst>
          </p:nvPr>
        </p:nvPicPr>
        <p:blipFill>
          <a:blip r:embed="rId12">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21146761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a:xfrm>
            <a:off x="381000" y="152400"/>
            <a:ext cx="8280400" cy="552450"/>
          </a:xfrm>
        </p:spPr>
        <p:txBody>
          <a:bodyPr/>
          <a:lstStyle/>
          <a:p>
            <a:r>
              <a:rPr lang="en-US" altLang="en-US" sz="2800" dirty="0"/>
              <a:t>DBSCAN: Core, Border and Noise Points</a:t>
            </a:r>
          </a:p>
        </p:txBody>
      </p:sp>
      <p:pic>
        <p:nvPicPr>
          <p:cNvPr id="8499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423686"/>
            <a:ext cx="4872038" cy="3602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84996" name="Text Box 4"/>
          <p:cNvSpPr txBox="1">
            <a:spLocks noChangeArrowheads="1"/>
          </p:cNvSpPr>
          <p:nvPr/>
        </p:nvSpPr>
        <p:spPr bwMode="auto">
          <a:xfrm>
            <a:off x="990600" y="5029200"/>
            <a:ext cx="2514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pPr>
              <a:spcBef>
                <a:spcPct val="50000"/>
              </a:spcBef>
            </a:pPr>
            <a:r>
              <a:rPr lang="en-US" altLang="en-US" sz="1800"/>
              <a:t>Original Points</a:t>
            </a:r>
          </a:p>
        </p:txBody>
      </p:sp>
      <p:sp>
        <p:nvSpPr>
          <p:cNvPr id="84997" name="Text Box 5"/>
          <p:cNvSpPr txBox="1">
            <a:spLocks noChangeArrowheads="1"/>
          </p:cNvSpPr>
          <p:nvPr/>
        </p:nvSpPr>
        <p:spPr bwMode="auto">
          <a:xfrm>
            <a:off x="5257800" y="5105400"/>
            <a:ext cx="25146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pPr>
              <a:spcBef>
                <a:spcPct val="50000"/>
              </a:spcBef>
            </a:pPr>
            <a:r>
              <a:rPr lang="en-US" altLang="en-US" sz="1800"/>
              <a:t>Point types: </a:t>
            </a:r>
            <a:r>
              <a:rPr lang="en-US" altLang="en-US" sz="1800">
                <a:solidFill>
                  <a:schemeClr val="hlink"/>
                </a:solidFill>
              </a:rPr>
              <a:t>core</a:t>
            </a:r>
            <a:r>
              <a:rPr lang="en-US" altLang="en-US" sz="1800"/>
              <a:t>, </a:t>
            </a:r>
            <a:r>
              <a:rPr lang="en-US" altLang="en-US" sz="1800">
                <a:solidFill>
                  <a:srgbClr val="003399"/>
                </a:solidFill>
              </a:rPr>
              <a:t>border</a:t>
            </a:r>
            <a:r>
              <a:rPr lang="en-US" altLang="en-US" sz="1800"/>
              <a:t> and </a:t>
            </a:r>
            <a:r>
              <a:rPr lang="en-US" altLang="en-US" sz="1800">
                <a:solidFill>
                  <a:srgbClr val="FF0000"/>
                </a:solidFill>
              </a:rPr>
              <a:t>noise</a:t>
            </a:r>
          </a:p>
        </p:txBody>
      </p:sp>
      <p:pic>
        <p:nvPicPr>
          <p:cNvPr id="84998"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14800" y="1527858"/>
            <a:ext cx="4872038" cy="3574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84999" name="Text Box 7"/>
          <p:cNvSpPr txBox="1">
            <a:spLocks noChangeArrowheads="1"/>
          </p:cNvSpPr>
          <p:nvPr/>
        </p:nvSpPr>
        <p:spPr bwMode="auto">
          <a:xfrm>
            <a:off x="2743200" y="5943600"/>
            <a:ext cx="3276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pPr>
              <a:spcBef>
                <a:spcPct val="50000"/>
              </a:spcBef>
            </a:pPr>
            <a:r>
              <a:rPr lang="en-US" altLang="en-US" sz="1800"/>
              <a:t>Eps = 10, MinPts = 4</a:t>
            </a:r>
          </a:p>
        </p:txBody>
      </p:sp>
    </p:spTree>
    <p:extLst>
      <p:ext uri="{BB962C8B-B14F-4D97-AF65-F5344CB8AC3E}">
        <p14:creationId xmlns:p14="http://schemas.microsoft.com/office/powerpoint/2010/main" val="11077255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直接连接符 9"/>
          <p:cNvCxnSpPr/>
          <p:nvPr/>
        </p:nvCxnSpPr>
        <p:spPr>
          <a:xfrm>
            <a:off x="755576" y="6669360"/>
            <a:ext cx="8162925" cy="0"/>
          </a:xfrm>
          <a:prstGeom prst="line">
            <a:avLst/>
          </a:prstGeom>
          <a:ln w="254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Box 1"/>
          <p:cNvSpPr txBox="1">
            <a:spLocks noGrp="1" noChangeArrowheads="1"/>
          </p:cNvSpPr>
          <p:nvPr>
            <p:ph type="title"/>
          </p:nvPr>
        </p:nvSpPr>
        <p:spPr bwMode="auto">
          <a:xfrm>
            <a:off x="434975" y="184572"/>
            <a:ext cx="8229600" cy="551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b="1">
                <a:solidFill>
                  <a:schemeClr val="tx1"/>
                </a:solidFill>
                <a:latin typeface="Times New Roman" pitchFamily="18" charset="0"/>
                <a:ea typeface="华文中宋" pitchFamily="2" charset="-122"/>
              </a:defRPr>
            </a:lvl1pPr>
            <a:lvl2pPr marL="742950" indent="-285750" eaLnBrk="0" hangingPunct="0">
              <a:defRPr kumimoji="1" b="1">
                <a:solidFill>
                  <a:schemeClr val="tx1"/>
                </a:solidFill>
                <a:latin typeface="Times New Roman" pitchFamily="18" charset="0"/>
                <a:ea typeface="华文中宋" pitchFamily="2" charset="-122"/>
              </a:defRPr>
            </a:lvl2pPr>
            <a:lvl3pPr marL="1143000" indent="-228600" eaLnBrk="0" hangingPunct="0">
              <a:defRPr kumimoji="1" b="1">
                <a:solidFill>
                  <a:schemeClr val="tx1"/>
                </a:solidFill>
                <a:latin typeface="Times New Roman" pitchFamily="18" charset="0"/>
                <a:ea typeface="华文中宋" pitchFamily="2" charset="-122"/>
              </a:defRPr>
            </a:lvl3pPr>
            <a:lvl4pPr marL="1600200" indent="-228600" eaLnBrk="0" hangingPunct="0">
              <a:defRPr kumimoji="1" b="1">
                <a:solidFill>
                  <a:schemeClr val="tx1"/>
                </a:solidFill>
                <a:latin typeface="Times New Roman" pitchFamily="18" charset="0"/>
                <a:ea typeface="华文中宋" pitchFamily="2" charset="-122"/>
              </a:defRPr>
            </a:lvl4pPr>
            <a:lvl5pPr marL="2057400" indent="-228600" eaLnBrk="0" hangingPunct="0">
              <a:defRPr kumimoji="1" b="1">
                <a:solidFill>
                  <a:schemeClr val="tx1"/>
                </a:solidFill>
                <a:latin typeface="Times New Roman" pitchFamily="18" charset="0"/>
                <a:ea typeface="华文中宋" pitchFamily="2" charset="-122"/>
              </a:defRPr>
            </a:lvl5pPr>
            <a:lvl6pPr marL="25146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6pPr>
            <a:lvl7pPr marL="29718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7pPr>
            <a:lvl8pPr marL="34290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8pPr>
            <a:lvl9pPr marL="38862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9pPr>
          </a:lstStyle>
          <a:p>
            <a:pPr eaLnBrk="1" hangingPunct="1"/>
            <a:r>
              <a:rPr lang="zh-CN" altLang="en-US" sz="3200" dirty="0">
                <a:latin typeface="黑体" pitchFamily="2" charset="-122"/>
                <a:ea typeface="黑体" pitchFamily="2" charset="-122"/>
              </a:rPr>
              <a:t>几个关于密度的概念</a:t>
            </a:r>
          </a:p>
        </p:txBody>
      </p:sp>
      <p:sp>
        <p:nvSpPr>
          <p:cNvPr id="2" name="灯片编号占位符 1">
            <a:extLst>
              <a:ext uri="{FF2B5EF4-FFF2-40B4-BE49-F238E27FC236}">
                <a16:creationId xmlns:a16="http://schemas.microsoft.com/office/drawing/2014/main" id="{10DC6D4D-60EE-4AFC-B29F-4F0DF1C6BCB9}"/>
              </a:ext>
            </a:extLst>
          </p:cNvPr>
          <p:cNvSpPr>
            <a:spLocks noGrp="1"/>
          </p:cNvSpPr>
          <p:nvPr>
            <p:ph type="sldNum" sz="quarter" idx="12"/>
          </p:nvPr>
        </p:nvSpPr>
        <p:spPr/>
        <p:txBody>
          <a:bodyPr/>
          <a:lstStyle/>
          <a:p>
            <a:fld id="{0C913308-F349-4B6D-A68A-DD1791B4A57B}" type="slidenum">
              <a:rPr lang="zh-CN" altLang="en-US" smtClean="0"/>
              <a:t>6</a:t>
            </a:fld>
            <a:endParaRPr lang="zh-CN" altLang="en-US"/>
          </a:p>
        </p:txBody>
      </p:sp>
      <p:grpSp>
        <p:nvGrpSpPr>
          <p:cNvPr id="4" name="组合 3">
            <a:extLst>
              <a:ext uri="{FF2B5EF4-FFF2-40B4-BE49-F238E27FC236}">
                <a16:creationId xmlns:a16="http://schemas.microsoft.com/office/drawing/2014/main" id="{E092DCD7-2311-4684-9881-414FFCC72B0A}"/>
              </a:ext>
            </a:extLst>
          </p:cNvPr>
          <p:cNvGrpSpPr/>
          <p:nvPr/>
        </p:nvGrpSpPr>
        <p:grpSpPr>
          <a:xfrm>
            <a:off x="434975" y="1268760"/>
            <a:ext cx="8632825" cy="3046988"/>
            <a:chOff x="434975" y="1268760"/>
            <a:chExt cx="8632825" cy="3046988"/>
          </a:xfrm>
        </p:grpSpPr>
        <p:sp>
          <p:nvSpPr>
            <p:cNvPr id="5" name="文本框 4">
              <a:extLst>
                <a:ext uri="{FF2B5EF4-FFF2-40B4-BE49-F238E27FC236}">
                  <a16:creationId xmlns:a16="http://schemas.microsoft.com/office/drawing/2014/main" id="{BAAEF4AA-1E33-4B4D-8F86-E9F1FD1A71CD}"/>
                </a:ext>
              </a:extLst>
            </p:cNvPr>
            <p:cNvSpPr txBox="1"/>
            <p:nvPr/>
          </p:nvSpPr>
          <p:spPr>
            <a:xfrm>
              <a:off x="434975" y="1268760"/>
              <a:ext cx="8632825" cy="3046988"/>
            </a:xfrm>
            <a:prstGeom prst="rect">
              <a:avLst/>
            </a:prstGeom>
            <a:noFill/>
          </p:spPr>
          <p:txBody>
            <a:bodyPr wrap="square" rtlCol="0">
              <a:spAutoFit/>
            </a:bodyPr>
            <a:lstStyle/>
            <a:p>
              <a:pPr marL="342900" indent="-342900">
                <a:buFont typeface="Wingdings" panose="05000000000000000000" pitchFamily="2" charset="2"/>
                <a:buChar char="p"/>
              </a:pPr>
              <a:r>
                <a:rPr lang="zh-CN" altLang="en-US" sz="2400" b="1" u="sng" dirty="0"/>
                <a:t>直接密度可达</a:t>
              </a:r>
              <a:r>
                <a:rPr lang="zh-CN" altLang="en-US" sz="2400" b="1" dirty="0"/>
                <a:t>：</a:t>
              </a:r>
              <a:r>
                <a:rPr lang="zh-CN" altLang="en-US" sz="2400" dirty="0">
                  <a:latin typeface="Times New Roman" panose="02020603050405020304" pitchFamily="18" charset="0"/>
                  <a:cs typeface="Times New Roman" panose="02020603050405020304" pitchFamily="18" charset="0"/>
                </a:rPr>
                <a:t>如果</a:t>
              </a:r>
              <a:r>
                <a:rPr lang="en-US" altLang="zh-CN" sz="2400" dirty="0">
                  <a:latin typeface="Times New Roman" panose="02020603050405020304" pitchFamily="18" charset="0"/>
                  <a:cs typeface="Times New Roman" panose="02020603050405020304" pitchFamily="18" charset="0"/>
                </a:rPr>
                <a:t>p</a:t>
              </a:r>
              <a:r>
                <a:rPr lang="zh-CN" altLang="en-US" sz="2400" dirty="0">
                  <a:latin typeface="Times New Roman" panose="02020603050405020304" pitchFamily="18" charset="0"/>
                  <a:cs typeface="Times New Roman" panose="02020603050405020304" pitchFamily="18" charset="0"/>
                </a:rPr>
                <a:t>在</a:t>
              </a:r>
              <a:r>
                <a:rPr lang="en-US" altLang="zh-CN" sz="2400" dirty="0">
                  <a:latin typeface="Times New Roman" panose="02020603050405020304" pitchFamily="18" charset="0"/>
                  <a:cs typeface="Times New Roman" panose="02020603050405020304" pitchFamily="18" charset="0"/>
                </a:rPr>
                <a:t>q</a:t>
              </a:r>
              <a:r>
                <a:rPr lang="zh-CN" altLang="en-US" sz="2400" dirty="0">
                  <a:latin typeface="Times New Roman" panose="02020603050405020304" pitchFamily="18" charset="0"/>
                  <a:cs typeface="Times New Roman" panose="02020603050405020304" pitchFamily="18" charset="0"/>
                </a:rPr>
                <a:t>的</a:t>
              </a:r>
              <a:r>
                <a:rPr lang="en-US" altLang="zh-CN" sz="2400" dirty="0">
                  <a:latin typeface="Times New Roman" panose="02020603050405020304" pitchFamily="18" charset="0"/>
                  <a:cs typeface="Times New Roman" panose="02020603050405020304" pitchFamily="18" charset="0"/>
                </a:rPr>
                <a:t>Eps</a:t>
              </a:r>
              <a:r>
                <a:rPr lang="zh-CN" altLang="en-US" sz="2400" dirty="0">
                  <a:latin typeface="Times New Roman" panose="02020603050405020304" pitchFamily="18" charset="0"/>
                  <a:cs typeface="Times New Roman" panose="02020603050405020304" pitchFamily="18" charset="0"/>
                </a:rPr>
                <a:t>邻域内，</a:t>
              </a:r>
              <a:r>
                <a:rPr lang="zh-CN" altLang="en-US" sz="2400" b="1" dirty="0">
                  <a:solidFill>
                    <a:srgbClr val="FF0000"/>
                  </a:solidFill>
                  <a:latin typeface="Times New Roman" panose="02020603050405020304" pitchFamily="18" charset="0"/>
                  <a:cs typeface="Times New Roman" panose="02020603050405020304" pitchFamily="18" charset="0"/>
                </a:rPr>
                <a:t>而</a:t>
              </a:r>
              <a:r>
                <a:rPr lang="en-US" altLang="zh-CN" sz="2400" b="1" dirty="0">
                  <a:solidFill>
                    <a:srgbClr val="FF0000"/>
                  </a:solidFill>
                  <a:latin typeface="Times New Roman" panose="02020603050405020304" pitchFamily="18" charset="0"/>
                  <a:cs typeface="Times New Roman" panose="02020603050405020304" pitchFamily="18" charset="0"/>
                </a:rPr>
                <a:t>q</a:t>
              </a:r>
              <a:r>
                <a:rPr lang="zh-CN" altLang="en-US" sz="2400" b="1" dirty="0">
                  <a:solidFill>
                    <a:srgbClr val="FF0000"/>
                  </a:solidFill>
                  <a:latin typeface="Times New Roman" panose="02020603050405020304" pitchFamily="18" charset="0"/>
                  <a:cs typeface="Times New Roman" panose="02020603050405020304" pitchFamily="18" charset="0"/>
                </a:rPr>
                <a:t>是一个核心点</a:t>
              </a:r>
              <a:r>
                <a:rPr lang="zh-CN" altLang="en-US" sz="2400" dirty="0">
                  <a:latin typeface="Times New Roman" panose="02020603050405020304" pitchFamily="18" charset="0"/>
                  <a:cs typeface="Times New Roman" panose="02020603050405020304" pitchFamily="18" charset="0"/>
                </a:rPr>
                <a:t>，则称对象</a:t>
              </a:r>
              <a:r>
                <a:rPr lang="en-US" altLang="zh-CN" sz="2400" dirty="0">
                  <a:latin typeface="Times New Roman" panose="02020603050405020304" pitchFamily="18" charset="0"/>
                  <a:cs typeface="Times New Roman" panose="02020603050405020304" pitchFamily="18" charset="0"/>
                </a:rPr>
                <a:t>p</a:t>
              </a:r>
              <a:r>
                <a:rPr lang="zh-CN" altLang="en-US" sz="2400" dirty="0">
                  <a:latin typeface="Times New Roman" panose="02020603050405020304" pitchFamily="18" charset="0"/>
                  <a:cs typeface="Times New Roman" panose="02020603050405020304" pitchFamily="18" charset="0"/>
                </a:rPr>
                <a:t>从对象</a:t>
              </a:r>
              <a:r>
                <a:rPr lang="en-US" altLang="zh-CN" sz="2400" dirty="0">
                  <a:latin typeface="Times New Roman" panose="02020603050405020304" pitchFamily="18" charset="0"/>
                  <a:cs typeface="Times New Roman" panose="02020603050405020304" pitchFamily="18" charset="0"/>
                </a:rPr>
                <a:t>q</a:t>
              </a:r>
              <a:r>
                <a:rPr lang="zh-CN" altLang="en-US" sz="2400" dirty="0">
                  <a:latin typeface="Times New Roman" panose="02020603050405020304" pitchFamily="18" charset="0"/>
                  <a:cs typeface="Times New Roman" panose="02020603050405020304" pitchFamily="18" charset="0"/>
                </a:rPr>
                <a:t>出发时是直接密度可达的（</a:t>
              </a:r>
              <a:r>
                <a:rPr lang="en-US" altLang="zh-CN" sz="2400" dirty="0">
                  <a:latin typeface="Times New Roman" panose="02020603050405020304" pitchFamily="18" charset="0"/>
                  <a:cs typeface="Times New Roman" panose="02020603050405020304" pitchFamily="18" charset="0"/>
                </a:rPr>
                <a:t>directly density-reachable</a:t>
              </a:r>
              <a:r>
                <a:rPr lang="zh-CN" altLang="en-US" sz="2400" dirty="0">
                  <a:latin typeface="Times New Roman" panose="02020603050405020304" pitchFamily="18" charset="0"/>
                  <a:cs typeface="Times New Roman" panose="02020603050405020304" pitchFamily="18" charset="0"/>
                </a:rPr>
                <a:t>）</a:t>
              </a:r>
              <a:endParaRPr lang="en-US" altLang="zh-CN"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p"/>
              </a:pPr>
              <a:r>
                <a:rPr lang="zh-CN" altLang="en-US" sz="2400" b="1" u="sng" dirty="0"/>
                <a:t>密度可达</a:t>
              </a:r>
              <a:r>
                <a:rPr lang="zh-CN" altLang="en-US" sz="2400" b="1" dirty="0"/>
                <a:t>：</a:t>
              </a:r>
              <a:r>
                <a:rPr lang="zh-CN" altLang="en-US" sz="2400" dirty="0"/>
                <a:t>如果存在一个对象链                                           ，对于    ，     是从    关于</a:t>
              </a:r>
              <a:r>
                <a:rPr lang="en-US" altLang="zh-CN" sz="2400" dirty="0">
                  <a:latin typeface="Times New Roman" panose="02020603050405020304" pitchFamily="18" charset="0"/>
                  <a:cs typeface="Times New Roman" panose="02020603050405020304" pitchFamily="18" charset="0"/>
                </a:rPr>
                <a:t>Eps</a:t>
              </a:r>
              <a:r>
                <a:rPr lang="zh-CN" altLang="en-US" sz="2400" dirty="0">
                  <a:latin typeface="Times New Roman" panose="02020603050405020304" pitchFamily="18" charset="0"/>
                  <a:cs typeface="Times New Roman" panose="02020603050405020304" pitchFamily="18" charset="0"/>
                </a:rPr>
                <a:t>和</a:t>
              </a:r>
              <a:r>
                <a:rPr lang="en-US" altLang="zh-CN" sz="2400" dirty="0" err="1">
                  <a:latin typeface="Times New Roman" panose="02020603050405020304" pitchFamily="18" charset="0"/>
                  <a:cs typeface="Times New Roman" panose="02020603050405020304" pitchFamily="18" charset="0"/>
                </a:rPr>
                <a:t>MinPts</a:t>
              </a:r>
              <a:r>
                <a:rPr lang="zh-CN" altLang="en-US" sz="2400" dirty="0">
                  <a:latin typeface="Times New Roman" panose="02020603050405020304" pitchFamily="18" charset="0"/>
                  <a:cs typeface="Times New Roman" panose="02020603050405020304" pitchFamily="18" charset="0"/>
                </a:rPr>
                <a:t>直接密度可达的，则称对象</a:t>
              </a:r>
              <a:r>
                <a:rPr lang="en-US" altLang="zh-CN" sz="2400" dirty="0">
                  <a:latin typeface="Times New Roman" panose="02020603050405020304" pitchFamily="18" charset="0"/>
                  <a:cs typeface="Times New Roman" panose="02020603050405020304" pitchFamily="18" charset="0"/>
                </a:rPr>
                <a:t>p</a:t>
              </a:r>
              <a:r>
                <a:rPr lang="zh-CN" altLang="en-US" sz="2400" dirty="0">
                  <a:latin typeface="Times New Roman" panose="02020603050405020304" pitchFamily="18" charset="0"/>
                  <a:cs typeface="Times New Roman" panose="02020603050405020304" pitchFamily="18" charset="0"/>
                </a:rPr>
                <a:t>是对象</a:t>
              </a:r>
              <a:r>
                <a:rPr lang="en-US" altLang="zh-CN" sz="2400" dirty="0">
                  <a:latin typeface="Times New Roman" panose="02020603050405020304" pitchFamily="18" charset="0"/>
                  <a:cs typeface="Times New Roman" panose="02020603050405020304" pitchFamily="18" charset="0"/>
                </a:rPr>
                <a:t>q</a:t>
              </a:r>
              <a:r>
                <a:rPr lang="zh-CN" altLang="en-US" sz="2400" dirty="0">
                  <a:latin typeface="Times New Roman" panose="02020603050405020304" pitchFamily="18" charset="0"/>
                  <a:cs typeface="Times New Roman" panose="02020603050405020304" pitchFamily="18" charset="0"/>
                </a:rPr>
                <a:t>关于</a:t>
              </a:r>
              <a:r>
                <a:rPr lang="en-US" altLang="zh-CN" sz="2400" dirty="0">
                  <a:latin typeface="Times New Roman" panose="02020603050405020304" pitchFamily="18" charset="0"/>
                  <a:cs typeface="Times New Roman" panose="02020603050405020304" pitchFamily="18" charset="0"/>
                </a:rPr>
                <a:t>Eps</a:t>
              </a:r>
              <a:r>
                <a:rPr lang="zh-CN" altLang="en-US" sz="2400" dirty="0">
                  <a:latin typeface="Times New Roman" panose="02020603050405020304" pitchFamily="18" charset="0"/>
                  <a:cs typeface="Times New Roman" panose="02020603050405020304" pitchFamily="18" charset="0"/>
                </a:rPr>
                <a:t>和</a:t>
              </a:r>
              <a:r>
                <a:rPr lang="en-US" altLang="zh-CN" sz="2400" dirty="0" err="1">
                  <a:latin typeface="Times New Roman" panose="02020603050405020304" pitchFamily="18" charset="0"/>
                  <a:cs typeface="Times New Roman" panose="02020603050405020304" pitchFamily="18" charset="0"/>
                </a:rPr>
                <a:t>MinPts</a:t>
              </a:r>
              <a:r>
                <a:rPr lang="zh-CN" altLang="en-US" sz="2400" dirty="0">
                  <a:latin typeface="Times New Roman" panose="02020603050405020304" pitchFamily="18" charset="0"/>
                  <a:cs typeface="Times New Roman" panose="02020603050405020304" pitchFamily="18" charset="0"/>
                </a:rPr>
                <a:t>密度可达的（</a:t>
              </a:r>
              <a:r>
                <a:rPr lang="en-US" altLang="zh-CN" sz="2400" dirty="0">
                  <a:latin typeface="Times New Roman" panose="02020603050405020304" pitchFamily="18" charset="0"/>
                  <a:cs typeface="Times New Roman" panose="02020603050405020304" pitchFamily="18" charset="0"/>
                </a:rPr>
                <a:t> density-reachable</a:t>
              </a:r>
              <a:r>
                <a:rPr lang="zh-CN" altLang="en-US" sz="2400" dirty="0">
                  <a:latin typeface="Times New Roman" panose="02020603050405020304" pitchFamily="18" charset="0"/>
                  <a:cs typeface="Times New Roman" panose="02020603050405020304" pitchFamily="18" charset="0"/>
                </a:rPr>
                <a:t>）</a:t>
              </a:r>
              <a:endParaRPr lang="en-US" altLang="zh-CN" sz="2400" dirty="0">
                <a:latin typeface="Times New Roman" panose="02020603050405020304" pitchFamily="18" charset="0"/>
                <a:cs typeface="Times New Roman" panose="02020603050405020304" pitchFamily="18" charset="0"/>
              </a:endParaRPr>
            </a:p>
            <a:p>
              <a:endParaRPr lang="zh-CN" altLang="en-US" sz="2400" dirty="0"/>
            </a:p>
          </p:txBody>
        </p:sp>
        <p:graphicFrame>
          <p:nvGraphicFramePr>
            <p:cNvPr id="3" name="对象 2">
              <a:extLst>
                <a:ext uri="{FF2B5EF4-FFF2-40B4-BE49-F238E27FC236}">
                  <a16:creationId xmlns:a16="http://schemas.microsoft.com/office/drawing/2014/main" id="{1B86C8AC-1440-4713-B3FD-9AA5A700ACCB}"/>
                </a:ext>
              </a:extLst>
            </p:cNvPr>
            <p:cNvGraphicFramePr>
              <a:graphicFrameLocks noChangeAspect="1"/>
            </p:cNvGraphicFramePr>
            <p:nvPr>
              <p:extLst>
                <p:ext uri="{D42A27DB-BD31-4B8C-83A1-F6EECF244321}">
                  <p14:modId xmlns:p14="http://schemas.microsoft.com/office/powerpoint/2010/main" val="3314261457"/>
                </p:ext>
              </p:extLst>
            </p:nvPr>
          </p:nvGraphicFramePr>
          <p:xfrm>
            <a:off x="5197516" y="2367813"/>
            <a:ext cx="3032084" cy="451587"/>
          </p:xfrm>
          <a:graphic>
            <a:graphicData uri="http://schemas.openxmlformats.org/presentationml/2006/ole">
              <mc:AlternateContent xmlns:mc="http://schemas.openxmlformats.org/markup-compatibility/2006">
                <mc:Choice xmlns:v="urn:schemas-microsoft-com:vml" Requires="v">
                  <p:oleObj spid="_x0000_s111662" name="Equation" r:id="rId4" imgW="1193760" imgH="177480" progId="Equation.DSMT4">
                    <p:embed/>
                  </p:oleObj>
                </mc:Choice>
                <mc:Fallback>
                  <p:oleObj name="Equation" r:id="rId4" imgW="1193760" imgH="177480" progId="Equation.DSMT4">
                    <p:embed/>
                    <p:pic>
                      <p:nvPicPr>
                        <p:cNvPr id="3" name="对象 2">
                          <a:extLst>
                            <a:ext uri="{FF2B5EF4-FFF2-40B4-BE49-F238E27FC236}">
                              <a16:creationId xmlns:a16="http://schemas.microsoft.com/office/drawing/2014/main" id="{1B86C8AC-1440-4713-B3FD-9AA5A700ACCB}"/>
                            </a:ext>
                          </a:extLst>
                        </p:cNvPr>
                        <p:cNvPicPr/>
                        <p:nvPr/>
                      </p:nvPicPr>
                      <p:blipFill>
                        <a:blip r:embed="rId5"/>
                        <a:stretch>
                          <a:fillRect/>
                        </a:stretch>
                      </p:blipFill>
                      <p:spPr>
                        <a:xfrm>
                          <a:off x="5197516" y="2367813"/>
                          <a:ext cx="3032084" cy="451587"/>
                        </a:xfrm>
                        <a:prstGeom prst="rect">
                          <a:avLst/>
                        </a:prstGeom>
                      </p:spPr>
                    </p:pic>
                  </p:oleObj>
                </mc:Fallback>
              </mc:AlternateContent>
            </a:graphicData>
          </a:graphic>
        </p:graphicFrame>
        <p:graphicFrame>
          <p:nvGraphicFramePr>
            <p:cNvPr id="6" name="对象 5">
              <a:extLst>
                <a:ext uri="{FF2B5EF4-FFF2-40B4-BE49-F238E27FC236}">
                  <a16:creationId xmlns:a16="http://schemas.microsoft.com/office/drawing/2014/main" id="{718DD723-BD75-4E4D-91C9-E08684060348}"/>
                </a:ext>
              </a:extLst>
            </p:cNvPr>
            <p:cNvGraphicFramePr>
              <a:graphicFrameLocks noChangeAspect="1"/>
            </p:cNvGraphicFramePr>
            <p:nvPr>
              <p:extLst>
                <p:ext uri="{D42A27DB-BD31-4B8C-83A1-F6EECF244321}">
                  <p14:modId xmlns:p14="http://schemas.microsoft.com/office/powerpoint/2010/main" val="3523521653"/>
                </p:ext>
              </p:extLst>
            </p:nvPr>
          </p:nvGraphicFramePr>
          <p:xfrm>
            <a:off x="1849760" y="2702324"/>
            <a:ext cx="360040" cy="458232"/>
          </p:xfrm>
          <a:graphic>
            <a:graphicData uri="http://schemas.openxmlformats.org/presentationml/2006/ole">
              <mc:AlternateContent xmlns:mc="http://schemas.openxmlformats.org/markup-compatibility/2006">
                <mc:Choice xmlns:v="urn:schemas-microsoft-com:vml" Requires="v">
                  <p:oleObj spid="_x0000_s111663" name="Equation" r:id="rId6" imgW="139680" imgH="177480" progId="Equation.DSMT4">
                    <p:embed/>
                  </p:oleObj>
                </mc:Choice>
                <mc:Fallback>
                  <p:oleObj name="Equation" r:id="rId6" imgW="139680" imgH="177480" progId="Equation.DSMT4">
                    <p:embed/>
                    <p:pic>
                      <p:nvPicPr>
                        <p:cNvPr id="6" name="对象 5">
                          <a:extLst>
                            <a:ext uri="{FF2B5EF4-FFF2-40B4-BE49-F238E27FC236}">
                              <a16:creationId xmlns:a16="http://schemas.microsoft.com/office/drawing/2014/main" id="{718DD723-BD75-4E4D-91C9-E08684060348}"/>
                            </a:ext>
                          </a:extLst>
                        </p:cNvPr>
                        <p:cNvPicPr/>
                        <p:nvPr/>
                      </p:nvPicPr>
                      <p:blipFill>
                        <a:blip r:embed="rId7"/>
                        <a:stretch>
                          <a:fillRect/>
                        </a:stretch>
                      </p:blipFill>
                      <p:spPr>
                        <a:xfrm>
                          <a:off x="1849760" y="2702324"/>
                          <a:ext cx="360040" cy="458232"/>
                        </a:xfrm>
                        <a:prstGeom prst="rect">
                          <a:avLst/>
                        </a:prstGeom>
                      </p:spPr>
                    </p:pic>
                  </p:oleObj>
                </mc:Fallback>
              </mc:AlternateContent>
            </a:graphicData>
          </a:graphic>
        </p:graphicFrame>
        <p:graphicFrame>
          <p:nvGraphicFramePr>
            <p:cNvPr id="9" name="对象 8">
              <a:extLst>
                <a:ext uri="{FF2B5EF4-FFF2-40B4-BE49-F238E27FC236}">
                  <a16:creationId xmlns:a16="http://schemas.microsoft.com/office/drawing/2014/main" id="{EDB1B6E8-9A8B-45B8-9BBA-A870754CCFBD}"/>
                </a:ext>
              </a:extLst>
            </p:cNvPr>
            <p:cNvGraphicFramePr>
              <a:graphicFrameLocks noChangeAspect="1"/>
            </p:cNvGraphicFramePr>
            <p:nvPr>
              <p:extLst>
                <p:ext uri="{D42A27DB-BD31-4B8C-83A1-F6EECF244321}">
                  <p14:modId xmlns:p14="http://schemas.microsoft.com/office/powerpoint/2010/main" val="64440651"/>
                </p:ext>
              </p:extLst>
            </p:nvPr>
          </p:nvGraphicFramePr>
          <p:xfrm>
            <a:off x="2371639" y="2702324"/>
            <a:ext cx="523961" cy="458232"/>
          </p:xfrm>
          <a:graphic>
            <a:graphicData uri="http://schemas.openxmlformats.org/presentationml/2006/ole">
              <mc:AlternateContent xmlns:mc="http://schemas.openxmlformats.org/markup-compatibility/2006">
                <mc:Choice xmlns:v="urn:schemas-microsoft-com:vml" Requires="v">
                  <p:oleObj spid="_x0000_s111664" name="Equation" r:id="rId8" imgW="203040" imgH="177480" progId="Equation.DSMT4">
                    <p:embed/>
                  </p:oleObj>
                </mc:Choice>
                <mc:Fallback>
                  <p:oleObj name="Equation" r:id="rId8" imgW="203040" imgH="177480" progId="Equation.DSMT4">
                    <p:embed/>
                    <p:pic>
                      <p:nvPicPr>
                        <p:cNvPr id="9" name="对象 8">
                          <a:extLst>
                            <a:ext uri="{FF2B5EF4-FFF2-40B4-BE49-F238E27FC236}">
                              <a16:creationId xmlns:a16="http://schemas.microsoft.com/office/drawing/2014/main" id="{EDB1B6E8-9A8B-45B8-9BBA-A870754CCFBD}"/>
                            </a:ext>
                          </a:extLst>
                        </p:cNvPr>
                        <p:cNvPicPr/>
                        <p:nvPr/>
                      </p:nvPicPr>
                      <p:blipFill>
                        <a:blip r:embed="rId9"/>
                        <a:stretch>
                          <a:fillRect/>
                        </a:stretch>
                      </p:blipFill>
                      <p:spPr>
                        <a:xfrm>
                          <a:off x="2371639" y="2702324"/>
                          <a:ext cx="523961" cy="458232"/>
                        </a:xfrm>
                        <a:prstGeom prst="rect">
                          <a:avLst/>
                        </a:prstGeom>
                      </p:spPr>
                    </p:pic>
                  </p:oleObj>
                </mc:Fallback>
              </mc:AlternateContent>
            </a:graphicData>
          </a:graphic>
        </p:graphicFrame>
        <p:graphicFrame>
          <p:nvGraphicFramePr>
            <p:cNvPr id="12" name="对象 11">
              <a:extLst>
                <a:ext uri="{FF2B5EF4-FFF2-40B4-BE49-F238E27FC236}">
                  <a16:creationId xmlns:a16="http://schemas.microsoft.com/office/drawing/2014/main" id="{284FC39E-E1B1-46EB-89A8-7469B6EDB0E9}"/>
                </a:ext>
              </a:extLst>
            </p:cNvPr>
            <p:cNvGraphicFramePr>
              <a:graphicFrameLocks noChangeAspect="1"/>
            </p:cNvGraphicFramePr>
            <p:nvPr>
              <p:extLst>
                <p:ext uri="{D42A27DB-BD31-4B8C-83A1-F6EECF244321}">
                  <p14:modId xmlns:p14="http://schemas.microsoft.com/office/powerpoint/2010/main" val="1674579357"/>
                </p:ext>
              </p:extLst>
            </p:nvPr>
          </p:nvGraphicFramePr>
          <p:xfrm>
            <a:off x="3373760" y="2702324"/>
            <a:ext cx="360040" cy="458232"/>
          </p:xfrm>
          <a:graphic>
            <a:graphicData uri="http://schemas.openxmlformats.org/presentationml/2006/ole">
              <mc:AlternateContent xmlns:mc="http://schemas.openxmlformats.org/markup-compatibility/2006">
                <mc:Choice xmlns:v="urn:schemas-microsoft-com:vml" Requires="v">
                  <p:oleObj spid="_x0000_s111665" name="Equation" r:id="rId10" imgW="139680" imgH="177480" progId="Equation.DSMT4">
                    <p:embed/>
                  </p:oleObj>
                </mc:Choice>
                <mc:Fallback>
                  <p:oleObj name="Equation" r:id="rId10" imgW="139680" imgH="177480" progId="Equation.DSMT4">
                    <p:embed/>
                    <p:pic>
                      <p:nvPicPr>
                        <p:cNvPr id="12" name="对象 11">
                          <a:extLst>
                            <a:ext uri="{FF2B5EF4-FFF2-40B4-BE49-F238E27FC236}">
                              <a16:creationId xmlns:a16="http://schemas.microsoft.com/office/drawing/2014/main" id="{284FC39E-E1B1-46EB-89A8-7469B6EDB0E9}"/>
                            </a:ext>
                          </a:extLst>
                        </p:cNvPr>
                        <p:cNvPicPr/>
                        <p:nvPr/>
                      </p:nvPicPr>
                      <p:blipFill>
                        <a:blip r:embed="rId11"/>
                        <a:stretch>
                          <a:fillRect/>
                        </a:stretch>
                      </p:blipFill>
                      <p:spPr>
                        <a:xfrm>
                          <a:off x="3373760" y="2702324"/>
                          <a:ext cx="360040" cy="458232"/>
                        </a:xfrm>
                        <a:prstGeom prst="rect">
                          <a:avLst/>
                        </a:prstGeom>
                      </p:spPr>
                    </p:pic>
                  </p:oleObj>
                </mc:Fallback>
              </mc:AlternateContent>
            </a:graphicData>
          </a:graphic>
        </p:graphicFrame>
      </p:grpSp>
      <p:pic>
        <p:nvPicPr>
          <p:cNvPr id="8" name="图片 7">
            <a:extLst>
              <a:ext uri="{FF2B5EF4-FFF2-40B4-BE49-F238E27FC236}">
                <a16:creationId xmlns:a16="http://schemas.microsoft.com/office/drawing/2014/main" id="{4AF2345B-86BD-4B84-9C51-B0A1578D5C65}"/>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1331640" y="3925936"/>
            <a:ext cx="2842281" cy="2586919"/>
          </a:xfrm>
          <a:prstGeom prst="rect">
            <a:avLst/>
          </a:prstGeom>
        </p:spPr>
      </p:pic>
      <p:pic>
        <p:nvPicPr>
          <p:cNvPr id="14" name="图片 13">
            <a:extLst>
              <a:ext uri="{FF2B5EF4-FFF2-40B4-BE49-F238E27FC236}">
                <a16:creationId xmlns:a16="http://schemas.microsoft.com/office/drawing/2014/main" id="{A97CD23D-A719-472F-BC85-4B33B6F22882}"/>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4807727" y="4008151"/>
            <a:ext cx="2770271" cy="2422488"/>
          </a:xfrm>
          <a:prstGeom prst="rect">
            <a:avLst/>
          </a:prstGeom>
        </p:spPr>
      </p:pic>
    </p:spTree>
    <p:extLst>
      <p:ext uri="{BB962C8B-B14F-4D97-AF65-F5344CB8AC3E}">
        <p14:creationId xmlns:p14="http://schemas.microsoft.com/office/powerpoint/2010/main" val="20231714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直接连接符 9"/>
          <p:cNvCxnSpPr/>
          <p:nvPr/>
        </p:nvCxnSpPr>
        <p:spPr>
          <a:xfrm>
            <a:off x="755576" y="6669360"/>
            <a:ext cx="8162925" cy="0"/>
          </a:xfrm>
          <a:prstGeom prst="line">
            <a:avLst/>
          </a:prstGeom>
          <a:ln w="254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Box 1"/>
          <p:cNvSpPr txBox="1">
            <a:spLocks noGrp="1" noChangeArrowheads="1"/>
          </p:cNvSpPr>
          <p:nvPr>
            <p:ph type="title"/>
          </p:nvPr>
        </p:nvSpPr>
        <p:spPr bwMode="auto">
          <a:xfrm>
            <a:off x="434975" y="184572"/>
            <a:ext cx="8229600" cy="551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b="1">
                <a:solidFill>
                  <a:schemeClr val="tx1"/>
                </a:solidFill>
                <a:latin typeface="Times New Roman" pitchFamily="18" charset="0"/>
                <a:ea typeface="华文中宋" pitchFamily="2" charset="-122"/>
              </a:defRPr>
            </a:lvl1pPr>
            <a:lvl2pPr marL="742950" indent="-285750" eaLnBrk="0" hangingPunct="0">
              <a:defRPr kumimoji="1" b="1">
                <a:solidFill>
                  <a:schemeClr val="tx1"/>
                </a:solidFill>
                <a:latin typeface="Times New Roman" pitchFamily="18" charset="0"/>
                <a:ea typeface="华文中宋" pitchFamily="2" charset="-122"/>
              </a:defRPr>
            </a:lvl2pPr>
            <a:lvl3pPr marL="1143000" indent="-228600" eaLnBrk="0" hangingPunct="0">
              <a:defRPr kumimoji="1" b="1">
                <a:solidFill>
                  <a:schemeClr val="tx1"/>
                </a:solidFill>
                <a:latin typeface="Times New Roman" pitchFamily="18" charset="0"/>
                <a:ea typeface="华文中宋" pitchFamily="2" charset="-122"/>
              </a:defRPr>
            </a:lvl3pPr>
            <a:lvl4pPr marL="1600200" indent="-228600" eaLnBrk="0" hangingPunct="0">
              <a:defRPr kumimoji="1" b="1">
                <a:solidFill>
                  <a:schemeClr val="tx1"/>
                </a:solidFill>
                <a:latin typeface="Times New Roman" pitchFamily="18" charset="0"/>
                <a:ea typeface="华文中宋" pitchFamily="2" charset="-122"/>
              </a:defRPr>
            </a:lvl4pPr>
            <a:lvl5pPr marL="2057400" indent="-228600" eaLnBrk="0" hangingPunct="0">
              <a:defRPr kumimoji="1" b="1">
                <a:solidFill>
                  <a:schemeClr val="tx1"/>
                </a:solidFill>
                <a:latin typeface="Times New Roman" pitchFamily="18" charset="0"/>
                <a:ea typeface="华文中宋" pitchFamily="2" charset="-122"/>
              </a:defRPr>
            </a:lvl5pPr>
            <a:lvl6pPr marL="25146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6pPr>
            <a:lvl7pPr marL="29718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7pPr>
            <a:lvl8pPr marL="34290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8pPr>
            <a:lvl9pPr marL="38862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9pPr>
          </a:lstStyle>
          <a:p>
            <a:pPr eaLnBrk="1" hangingPunct="1"/>
            <a:r>
              <a:rPr lang="zh-CN" altLang="en-US" dirty="0">
                <a:latin typeface="黑体" pitchFamily="2" charset="-122"/>
                <a:ea typeface="黑体" pitchFamily="2" charset="-122"/>
              </a:rPr>
              <a:t>几个关于密度的概念</a:t>
            </a:r>
            <a:endParaRPr lang="zh-CN" altLang="en-US" sz="3200" dirty="0">
              <a:solidFill>
                <a:srgbClr val="FF0000"/>
              </a:solidFill>
              <a:latin typeface="黑体" pitchFamily="2" charset="-122"/>
              <a:ea typeface="黑体" pitchFamily="2" charset="-122"/>
            </a:endParaRPr>
          </a:p>
        </p:txBody>
      </p:sp>
      <p:sp>
        <p:nvSpPr>
          <p:cNvPr id="2" name="灯片编号占位符 1">
            <a:extLst>
              <a:ext uri="{FF2B5EF4-FFF2-40B4-BE49-F238E27FC236}">
                <a16:creationId xmlns:a16="http://schemas.microsoft.com/office/drawing/2014/main" id="{10DC6D4D-60EE-4AFC-B29F-4F0DF1C6BCB9}"/>
              </a:ext>
            </a:extLst>
          </p:cNvPr>
          <p:cNvSpPr>
            <a:spLocks noGrp="1"/>
          </p:cNvSpPr>
          <p:nvPr>
            <p:ph type="sldNum" sz="quarter" idx="12"/>
          </p:nvPr>
        </p:nvSpPr>
        <p:spPr/>
        <p:txBody>
          <a:bodyPr/>
          <a:lstStyle/>
          <a:p>
            <a:fld id="{0C913308-F349-4B6D-A68A-DD1791B4A57B}" type="slidenum">
              <a:rPr lang="zh-CN" altLang="en-US" smtClean="0"/>
              <a:t>7</a:t>
            </a:fld>
            <a:endParaRPr lang="zh-CN" altLang="en-US"/>
          </a:p>
        </p:txBody>
      </p:sp>
      <p:sp>
        <p:nvSpPr>
          <p:cNvPr id="5" name="文本框 4">
            <a:extLst>
              <a:ext uri="{FF2B5EF4-FFF2-40B4-BE49-F238E27FC236}">
                <a16:creationId xmlns:a16="http://schemas.microsoft.com/office/drawing/2014/main" id="{BAAEF4AA-1E33-4B4D-8F86-E9F1FD1A71CD}"/>
              </a:ext>
            </a:extLst>
          </p:cNvPr>
          <p:cNvSpPr txBox="1"/>
          <p:nvPr/>
        </p:nvSpPr>
        <p:spPr>
          <a:xfrm>
            <a:off x="434975" y="1268760"/>
            <a:ext cx="8025457" cy="1200329"/>
          </a:xfrm>
          <a:prstGeom prst="rect">
            <a:avLst/>
          </a:prstGeom>
          <a:noFill/>
        </p:spPr>
        <p:txBody>
          <a:bodyPr wrap="square" rtlCol="0">
            <a:spAutoFit/>
          </a:bodyPr>
          <a:lstStyle/>
          <a:p>
            <a:pPr marL="342900" indent="-342900">
              <a:buFont typeface="Wingdings" panose="05000000000000000000" pitchFamily="2" charset="2"/>
              <a:buChar char="p"/>
            </a:pPr>
            <a:r>
              <a:rPr lang="zh-CN" altLang="en-US" sz="2400" u="sng" dirty="0">
                <a:latin typeface="Times New Roman" panose="02020603050405020304" pitchFamily="18" charset="0"/>
                <a:cs typeface="Times New Roman" panose="02020603050405020304" pitchFamily="18" charset="0"/>
              </a:rPr>
              <a:t>密度相连</a:t>
            </a:r>
            <a:r>
              <a:rPr lang="zh-CN" altLang="en-US" sz="2400" b="1" dirty="0">
                <a:latin typeface="Times New Roman" panose="02020603050405020304" pitchFamily="18" charset="0"/>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rPr>
              <a:t>如果存在对象</a:t>
            </a:r>
            <a:r>
              <a:rPr lang="en-US" altLang="zh-CN" sz="2400" dirty="0">
                <a:latin typeface="Times New Roman" panose="02020603050405020304" pitchFamily="18" charset="0"/>
                <a:cs typeface="Times New Roman" panose="02020603050405020304" pitchFamily="18" charset="0"/>
              </a:rPr>
              <a:t>O</a:t>
            </a:r>
            <a:r>
              <a:rPr lang="zh-CN" altLang="en-US" sz="2400" dirty="0">
                <a:latin typeface="Times New Roman" panose="02020603050405020304" pitchFamily="18" charset="0"/>
                <a:cs typeface="Times New Roman" panose="02020603050405020304" pitchFamily="18" charset="0"/>
              </a:rPr>
              <a:t>，使对象</a:t>
            </a:r>
            <a:r>
              <a:rPr lang="en-US" altLang="zh-CN" sz="2400" dirty="0">
                <a:latin typeface="Times New Roman" panose="02020603050405020304" pitchFamily="18" charset="0"/>
                <a:cs typeface="Times New Roman" panose="02020603050405020304" pitchFamily="18" charset="0"/>
              </a:rPr>
              <a:t>p</a:t>
            </a:r>
            <a:r>
              <a:rPr lang="zh-CN" altLang="en-US" sz="2400" dirty="0">
                <a:latin typeface="Times New Roman" panose="02020603050405020304" pitchFamily="18" charset="0"/>
                <a:cs typeface="Times New Roman" panose="02020603050405020304" pitchFamily="18" charset="0"/>
              </a:rPr>
              <a:t>和</a:t>
            </a:r>
            <a:r>
              <a:rPr lang="en-US" altLang="zh-CN" sz="2400" dirty="0">
                <a:latin typeface="Times New Roman" panose="02020603050405020304" pitchFamily="18" charset="0"/>
                <a:cs typeface="Times New Roman" panose="02020603050405020304" pitchFamily="18" charset="0"/>
              </a:rPr>
              <a:t>q</a:t>
            </a:r>
            <a:r>
              <a:rPr lang="zh-CN" altLang="en-US" sz="2400" dirty="0">
                <a:latin typeface="Times New Roman" panose="02020603050405020304" pitchFamily="18" charset="0"/>
                <a:cs typeface="Times New Roman" panose="02020603050405020304" pitchFamily="18" charset="0"/>
              </a:rPr>
              <a:t>是从</a:t>
            </a:r>
            <a:r>
              <a:rPr lang="en-US" altLang="zh-CN" sz="2400" dirty="0">
                <a:latin typeface="Times New Roman" panose="02020603050405020304" pitchFamily="18" charset="0"/>
                <a:cs typeface="Times New Roman" panose="02020603050405020304" pitchFamily="18" charset="0"/>
              </a:rPr>
              <a:t>O</a:t>
            </a:r>
            <a:r>
              <a:rPr lang="zh-CN" altLang="en-US" sz="2400" dirty="0">
                <a:latin typeface="Times New Roman" panose="02020603050405020304" pitchFamily="18" charset="0"/>
                <a:cs typeface="Times New Roman" panose="02020603050405020304" pitchFamily="18" charset="0"/>
              </a:rPr>
              <a:t>关于</a:t>
            </a:r>
            <a:r>
              <a:rPr lang="en-US" altLang="zh-CN" sz="2400" dirty="0">
                <a:latin typeface="Times New Roman" panose="02020603050405020304" pitchFamily="18" charset="0"/>
                <a:cs typeface="Times New Roman" panose="02020603050405020304" pitchFamily="18" charset="0"/>
              </a:rPr>
              <a:t>Eps</a:t>
            </a:r>
            <a:r>
              <a:rPr lang="zh-CN" altLang="en-US" sz="2400" dirty="0">
                <a:latin typeface="Times New Roman" panose="02020603050405020304" pitchFamily="18" charset="0"/>
                <a:cs typeface="Times New Roman" panose="02020603050405020304" pitchFamily="18" charset="0"/>
              </a:rPr>
              <a:t>和</a:t>
            </a:r>
            <a:r>
              <a:rPr lang="en-US" altLang="zh-CN" sz="2400" dirty="0" err="1">
                <a:latin typeface="Times New Roman" panose="02020603050405020304" pitchFamily="18" charset="0"/>
                <a:cs typeface="Times New Roman" panose="02020603050405020304" pitchFamily="18" charset="0"/>
              </a:rPr>
              <a:t>MinPts</a:t>
            </a:r>
            <a:r>
              <a:rPr lang="zh-CN" altLang="en-US" sz="2400" dirty="0">
                <a:latin typeface="Times New Roman" panose="02020603050405020304" pitchFamily="18" charset="0"/>
                <a:cs typeface="Times New Roman" panose="02020603050405020304" pitchFamily="18" charset="0"/>
              </a:rPr>
              <a:t>密度可达的，那么对象</a:t>
            </a:r>
            <a:r>
              <a:rPr lang="en-US" altLang="zh-CN" sz="2400" dirty="0">
                <a:latin typeface="Times New Roman" panose="02020603050405020304" pitchFamily="18" charset="0"/>
                <a:cs typeface="Times New Roman" panose="02020603050405020304" pitchFamily="18" charset="0"/>
              </a:rPr>
              <a:t>p</a:t>
            </a:r>
            <a:r>
              <a:rPr lang="zh-CN" altLang="en-US" sz="2400" dirty="0">
                <a:latin typeface="Times New Roman" panose="02020603050405020304" pitchFamily="18" charset="0"/>
                <a:cs typeface="Times New Roman" panose="02020603050405020304" pitchFamily="18" charset="0"/>
              </a:rPr>
              <a:t>和</a:t>
            </a:r>
            <a:r>
              <a:rPr lang="en-US" altLang="zh-CN" sz="2400" dirty="0">
                <a:latin typeface="Times New Roman" panose="02020603050405020304" pitchFamily="18" charset="0"/>
                <a:cs typeface="Times New Roman" panose="02020603050405020304" pitchFamily="18" charset="0"/>
              </a:rPr>
              <a:t>q</a:t>
            </a:r>
            <a:r>
              <a:rPr lang="zh-CN" altLang="en-US" sz="2400" dirty="0">
                <a:latin typeface="Times New Roman" panose="02020603050405020304" pitchFamily="18" charset="0"/>
                <a:cs typeface="Times New Roman" panose="02020603050405020304" pitchFamily="18" charset="0"/>
              </a:rPr>
              <a:t>是关于</a:t>
            </a:r>
            <a:r>
              <a:rPr lang="en-US" altLang="zh-CN" sz="2400" dirty="0">
                <a:latin typeface="Times New Roman" panose="02020603050405020304" pitchFamily="18" charset="0"/>
                <a:cs typeface="Times New Roman" panose="02020603050405020304" pitchFamily="18" charset="0"/>
              </a:rPr>
              <a:t>Eps</a:t>
            </a:r>
            <a:r>
              <a:rPr lang="zh-CN" altLang="en-US" sz="2400" dirty="0">
                <a:latin typeface="Times New Roman" panose="02020603050405020304" pitchFamily="18" charset="0"/>
                <a:cs typeface="Times New Roman" panose="02020603050405020304" pitchFamily="18" charset="0"/>
              </a:rPr>
              <a:t>和</a:t>
            </a:r>
            <a:r>
              <a:rPr lang="en-US" altLang="zh-CN" sz="2400" dirty="0" err="1">
                <a:latin typeface="Times New Roman" panose="02020603050405020304" pitchFamily="18" charset="0"/>
                <a:cs typeface="Times New Roman" panose="02020603050405020304" pitchFamily="18" charset="0"/>
              </a:rPr>
              <a:t>MinPts</a:t>
            </a:r>
            <a:r>
              <a:rPr lang="zh-CN" altLang="en-US" sz="2400" dirty="0">
                <a:latin typeface="Times New Roman" panose="02020603050405020304" pitchFamily="18" charset="0"/>
                <a:cs typeface="Times New Roman" panose="02020603050405020304" pitchFamily="18" charset="0"/>
              </a:rPr>
              <a:t>密度相连的（</a:t>
            </a:r>
            <a:r>
              <a:rPr lang="en-US" altLang="zh-CN" sz="2400" dirty="0">
                <a:latin typeface="Times New Roman" panose="02020603050405020304" pitchFamily="18" charset="0"/>
                <a:cs typeface="Times New Roman" panose="02020603050405020304" pitchFamily="18" charset="0"/>
              </a:rPr>
              <a:t>density-connected</a:t>
            </a:r>
            <a:r>
              <a:rPr lang="zh-CN" altLang="en-US" sz="2400" dirty="0">
                <a:latin typeface="Times New Roman" panose="02020603050405020304" pitchFamily="18" charset="0"/>
                <a:cs typeface="Times New Roman" panose="02020603050405020304" pitchFamily="18" charset="0"/>
              </a:rPr>
              <a:t>）</a:t>
            </a:r>
            <a:endParaRPr lang="en-US" altLang="zh-CN" sz="2400" dirty="0">
              <a:latin typeface="Times New Roman" panose="02020603050405020304" pitchFamily="18" charset="0"/>
              <a:cs typeface="Times New Roman" panose="02020603050405020304" pitchFamily="18" charset="0"/>
            </a:endParaRPr>
          </a:p>
        </p:txBody>
      </p:sp>
      <p:pic>
        <p:nvPicPr>
          <p:cNvPr id="7" name="图片 6">
            <a:extLst>
              <a:ext uri="{FF2B5EF4-FFF2-40B4-BE49-F238E27FC236}">
                <a16:creationId xmlns:a16="http://schemas.microsoft.com/office/drawing/2014/main" id="{E13FB665-33E1-4E8D-962F-035D650C70F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83293" y="2986640"/>
            <a:ext cx="3728820" cy="2381955"/>
          </a:xfrm>
          <a:prstGeom prst="rect">
            <a:avLst/>
          </a:prstGeom>
        </p:spPr>
      </p:pic>
    </p:spTree>
    <p:extLst>
      <p:ext uri="{BB962C8B-B14F-4D97-AF65-F5344CB8AC3E}">
        <p14:creationId xmlns:p14="http://schemas.microsoft.com/office/powerpoint/2010/main" val="40397327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p:txBody>
          <a:bodyPr/>
          <a:lstStyle/>
          <a:p>
            <a:r>
              <a:rPr lang="en-US" altLang="en-US"/>
              <a:t>DBSCAN Algorithm</a:t>
            </a:r>
          </a:p>
        </p:txBody>
      </p:sp>
      <p:sp>
        <p:nvSpPr>
          <p:cNvPr id="83971" name="Rectangle 3"/>
          <p:cNvSpPr>
            <a:spLocks noGrp="1" noChangeArrowheads="1"/>
          </p:cNvSpPr>
          <p:nvPr>
            <p:ph type="body" idx="1"/>
          </p:nvPr>
        </p:nvSpPr>
        <p:spPr/>
        <p:txBody>
          <a:bodyPr>
            <a:normAutofit/>
          </a:bodyPr>
          <a:lstStyle/>
          <a:p>
            <a:r>
              <a:rPr lang="en-US" altLang="en-US" dirty="0"/>
              <a:t>Form clusters using core points, and assign border points to one of its neighboring clusters</a:t>
            </a:r>
          </a:p>
          <a:p>
            <a:pPr marL="0" indent="0">
              <a:buNone/>
            </a:pPr>
            <a:r>
              <a:rPr lang="zh-CN" altLang="en-US" dirty="0"/>
              <a:t>算法流程：</a:t>
            </a:r>
            <a:endParaRPr lang="en-US" altLang="en-US" dirty="0"/>
          </a:p>
          <a:p>
            <a:pPr marL="0" indent="0">
              <a:buNone/>
            </a:pPr>
            <a:r>
              <a:rPr lang="en-US" sz="2000" dirty="0"/>
              <a:t>1: </a:t>
            </a:r>
            <a:r>
              <a:rPr lang="zh-CN" altLang="en-US" sz="2000" dirty="0"/>
              <a:t>初始化。给定邻域半径</a:t>
            </a:r>
            <a:r>
              <a:rPr lang="en-US" altLang="zh-CN" sz="2000" dirty="0"/>
              <a:t>Eps</a:t>
            </a:r>
            <a:r>
              <a:rPr lang="zh-CN" altLang="en-US" sz="2000" dirty="0"/>
              <a:t>和最小点数</a:t>
            </a:r>
            <a:r>
              <a:rPr lang="en-US" altLang="zh-CN" sz="2000" dirty="0" err="1"/>
              <a:t>MinPts</a:t>
            </a:r>
            <a:endParaRPr lang="en-US" sz="2000" dirty="0"/>
          </a:p>
          <a:p>
            <a:pPr marL="0" indent="0">
              <a:buNone/>
            </a:pPr>
            <a:r>
              <a:rPr lang="en-US" sz="2000" dirty="0"/>
              <a:t>2: </a:t>
            </a:r>
            <a:r>
              <a:rPr lang="zh-CN" altLang="en-US" sz="2000" dirty="0"/>
              <a:t>将数据集中所有点标记为：核心点、边界点或者噪声点</a:t>
            </a:r>
            <a:endParaRPr lang="en-US" altLang="zh-CN" sz="2000" dirty="0"/>
          </a:p>
          <a:p>
            <a:pPr marL="0" indent="0">
              <a:buNone/>
            </a:pPr>
            <a:r>
              <a:rPr lang="en-US" sz="2000" dirty="0"/>
              <a:t>3</a:t>
            </a:r>
            <a:r>
              <a:rPr lang="en-US" altLang="zh-CN" sz="2000" dirty="0"/>
              <a:t>: </a:t>
            </a:r>
            <a:r>
              <a:rPr lang="zh-CN" altLang="en-US" sz="2000" dirty="0"/>
              <a:t>去除噪声点</a:t>
            </a:r>
            <a:endParaRPr lang="en-US" sz="2000" dirty="0"/>
          </a:p>
          <a:p>
            <a:pPr marL="0" indent="0">
              <a:buNone/>
            </a:pPr>
            <a:r>
              <a:rPr lang="en-US" sz="2000" dirty="0"/>
              <a:t>4: </a:t>
            </a:r>
            <a:r>
              <a:rPr lang="zh-CN" altLang="en-US" sz="2000" dirty="0"/>
              <a:t>核心点聚类：直接密度可达</a:t>
            </a:r>
            <a:endParaRPr lang="en-US" altLang="zh-CN" sz="2000" dirty="0"/>
          </a:p>
          <a:p>
            <a:pPr marL="0" indent="0">
              <a:buNone/>
            </a:pPr>
            <a:r>
              <a:rPr lang="en-US" sz="2000" dirty="0"/>
              <a:t>5: </a:t>
            </a:r>
            <a:r>
              <a:rPr lang="zh-CN" altLang="en-US" sz="2000" dirty="0"/>
              <a:t>边界点的分配：直接密度可达</a:t>
            </a:r>
            <a:endParaRPr lang="en-US" altLang="zh-CN" sz="2000" dirty="0"/>
          </a:p>
          <a:p>
            <a:pPr marL="0" indent="0">
              <a:buNone/>
            </a:pPr>
            <a:endParaRPr lang="en-US" sz="2000" dirty="0"/>
          </a:p>
          <a:p>
            <a:pPr marL="0" indent="0">
              <a:buNone/>
            </a:pPr>
            <a:endParaRPr lang="en-US" sz="2000" dirty="0"/>
          </a:p>
          <a:p>
            <a:pPr marL="0" indent="0">
              <a:buNone/>
            </a:pPr>
            <a:r>
              <a:rPr lang="zh-CN" altLang="en-US" sz="2000" dirty="0"/>
              <a:t>简单来说就</a:t>
            </a:r>
            <a:r>
              <a:rPr lang="en-US" altLang="zh-CN" sz="2000" dirty="0"/>
              <a:t>3</a:t>
            </a:r>
            <a:r>
              <a:rPr lang="zh-CN" altLang="en-US" sz="2000" dirty="0"/>
              <a:t>步：去除噪声点、合并核心点、分配边界点</a:t>
            </a:r>
            <a:endParaRPr lang="en-US" altLang="en-US" sz="2000" dirty="0"/>
          </a:p>
        </p:txBody>
      </p:sp>
    </p:spTree>
    <p:extLst>
      <p:ext uri="{BB962C8B-B14F-4D97-AF65-F5344CB8AC3E}">
        <p14:creationId xmlns:p14="http://schemas.microsoft.com/office/powerpoint/2010/main" val="36560960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04D36974-368E-4BBA-A9AB-900CA21D63CD}"/>
              </a:ext>
            </a:extLst>
          </p:cNvPr>
          <p:cNvSpPr txBox="1"/>
          <p:nvPr>
            <p:custDataLst>
              <p:tags r:id="rId2"/>
            </p:custDataLst>
          </p:nvPr>
        </p:nvSpPr>
        <p:spPr>
          <a:xfrm>
            <a:off x="914400" y="1828800"/>
            <a:ext cx="7315200" cy="2143125"/>
          </a:xfrm>
          <a:prstGeom prst="rect">
            <a:avLst/>
          </a:prstGeom>
          <a:noFill/>
        </p:spPr>
        <p:txBody>
          <a:bodyPr vert="horz" wrap="square" rtlCol="0" anchor="ctr" anchorCtr="0">
            <a:noAutofit/>
          </a:bodyPr>
          <a:lstStyle/>
          <a:p>
            <a:r>
              <a:rPr lang="en-US" altLang="zh-CN" sz="28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DBSCAN</a:t>
            </a:r>
            <a:r>
              <a:rPr lang="zh-CN" altLang="en-US" sz="28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聚类结果中，同一类中，任一边界点与任一核心点之间有</a:t>
            </a:r>
            <a:r>
              <a:rPr lang="zh-CN" altLang="en-US" sz="2800" dirty="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 </a:t>
            </a:r>
            <a:r>
              <a:rPr lang="en-US" altLang="zh-CN" sz="2800" dirty="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zh-CN" altLang="en-US" sz="2800" dirty="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填空</a:t>
            </a:r>
            <a:r>
              <a:rPr lang="en-US" altLang="zh-CN" sz="2800" dirty="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en-US" altLang="zh-CN" sz="28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r>
              <a:rPr lang="zh-CN" altLang="en-US" sz="28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关系，任一边界点与任一边界点之间有</a:t>
            </a:r>
            <a:r>
              <a:rPr lang="zh-CN" altLang="en-US" sz="2800" dirty="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 </a:t>
            </a:r>
            <a:r>
              <a:rPr lang="en-US" altLang="zh-CN" sz="2800" dirty="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zh-CN" altLang="en-US" sz="2800" dirty="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填空</a:t>
            </a:r>
            <a:r>
              <a:rPr lang="en-US" altLang="zh-CN" sz="2800" dirty="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en-US" altLang="zh-CN" sz="28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r>
              <a:rPr lang="zh-CN" altLang="en-US" sz="28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关系</a:t>
            </a:r>
          </a:p>
        </p:txBody>
      </p:sp>
      <p:sp>
        <p:nvSpPr>
          <p:cNvPr id="5" name="矩形: 圆角 4">
            <a:extLst>
              <a:ext uri="{FF2B5EF4-FFF2-40B4-BE49-F238E27FC236}">
                <a16:creationId xmlns:a16="http://schemas.microsoft.com/office/drawing/2014/main" id="{D00F1DBB-F431-4218-801F-E5ADA525BD71}"/>
              </a:ext>
            </a:extLst>
          </p:cNvPr>
          <p:cNvSpPr/>
          <p:nvPr>
            <p:custDataLst>
              <p:tags r:id="rId3"/>
            </p:custDataLst>
          </p:nvPr>
        </p:nvSpPr>
        <p:spPr bwMode="auto">
          <a:xfrm>
            <a:off x="6172200" y="6215063"/>
            <a:ext cx="1543050" cy="411480"/>
          </a:xfrm>
          <a:prstGeom prst="roundRect">
            <a:avLst/>
          </a:prstGeom>
          <a:solidFill>
            <a:srgbClr val="808080"/>
          </a:solidFill>
          <a:ln w="38100" cap="flat" cmpd="sng" algn="ctr">
            <a:solidFill>
              <a:srgbClr val="000000"/>
            </a:solid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zh-CN" altLang="en-US" sz="1600" b="1" i="0" u="none" strike="noStrike" cap="none" normalizeH="0" baseline="0">
                <a:ln>
                  <a:noFill/>
                </a:ln>
                <a:solidFill>
                  <a:srgbClr val="FFFFFF"/>
                </a:solidFill>
                <a:effectLst/>
                <a:latin typeface="Microsoft Yahei" panose="020B0503020204020204" pitchFamily="34" charset="-122"/>
                <a:ea typeface="Microsoft Yahei" panose="020B0503020204020204" pitchFamily="34" charset="-122"/>
                <a:sym typeface="Microsoft Yahei" panose="020B0503020204020204" pitchFamily="34" charset="-122"/>
              </a:rPr>
              <a:t>作答</a:t>
            </a:r>
          </a:p>
        </p:txBody>
      </p:sp>
      <p:sp>
        <p:nvSpPr>
          <p:cNvPr id="12" name="文本框 11">
            <a:extLst>
              <a:ext uri="{FF2B5EF4-FFF2-40B4-BE49-F238E27FC236}">
                <a16:creationId xmlns:a16="http://schemas.microsoft.com/office/drawing/2014/main" id="{D97D5E79-E947-4390-ACC2-BC40D84ABD9C}"/>
              </a:ext>
            </a:extLst>
          </p:cNvPr>
          <p:cNvSpPr txBox="1"/>
          <p:nvPr/>
        </p:nvSpPr>
        <p:spPr>
          <a:xfrm>
            <a:off x="3276600" y="4211618"/>
            <a:ext cx="1620957" cy="954107"/>
          </a:xfrm>
          <a:prstGeom prst="rect">
            <a:avLst/>
          </a:prstGeom>
        </p:spPr>
        <p:style>
          <a:lnRef idx="2">
            <a:schemeClr val="accent2"/>
          </a:lnRef>
          <a:fillRef idx="1">
            <a:schemeClr val="lt1"/>
          </a:fillRef>
          <a:effectRef idx="0">
            <a:schemeClr val="accent2"/>
          </a:effectRef>
          <a:fontRef idx="minor">
            <a:schemeClr val="dk1"/>
          </a:fontRef>
        </p:style>
        <p:txBody>
          <a:bodyPr wrap="none" rtlCol="0">
            <a:spAutoFit/>
          </a:bodyPr>
          <a:lstStyle/>
          <a:p>
            <a:r>
              <a:rPr lang="zh-CN" altLang="en-US" sz="2800" dirty="0">
                <a:solidFill>
                  <a:srgbClr val="FF0000"/>
                </a:solidFill>
              </a:rPr>
              <a:t>密度可达</a:t>
            </a:r>
            <a:endParaRPr lang="en-US" altLang="zh-CN" sz="2800" dirty="0">
              <a:solidFill>
                <a:srgbClr val="FF0000"/>
              </a:solidFill>
            </a:endParaRPr>
          </a:p>
          <a:p>
            <a:r>
              <a:rPr lang="zh-CN" altLang="en-US" sz="2800" dirty="0">
                <a:solidFill>
                  <a:srgbClr val="FF0000"/>
                </a:solidFill>
              </a:rPr>
              <a:t>密度相连</a:t>
            </a:r>
          </a:p>
        </p:txBody>
      </p:sp>
      <p:grpSp>
        <p:nvGrpSpPr>
          <p:cNvPr id="10" name="组合 9">
            <a:extLst>
              <a:ext uri="{FF2B5EF4-FFF2-40B4-BE49-F238E27FC236}">
                <a16:creationId xmlns:a16="http://schemas.microsoft.com/office/drawing/2014/main" id="{71AFF003-4B8B-44B9-9933-0FB1B75A91EB}"/>
              </a:ext>
            </a:extLst>
          </p:cNvPr>
          <p:cNvGrpSpPr/>
          <p:nvPr>
            <p:custDataLst>
              <p:tags r:id="rId4"/>
            </p:custDataLst>
          </p:nvPr>
        </p:nvGrpSpPr>
        <p:grpSpPr>
          <a:xfrm>
            <a:off x="0" y="0"/>
            <a:ext cx="9144000" cy="635000"/>
            <a:chOff x="0" y="0"/>
            <a:chExt cx="9144000" cy="635000"/>
          </a:xfrm>
        </p:grpSpPr>
        <p:sp>
          <p:nvSpPr>
            <p:cNvPr id="6" name="TitleBackground">
              <a:extLst>
                <a:ext uri="{FF2B5EF4-FFF2-40B4-BE49-F238E27FC236}">
                  <a16:creationId xmlns:a16="http://schemas.microsoft.com/office/drawing/2014/main" id="{686FCB04-338F-4C6B-886E-E823FB8D3C71}"/>
                </a:ext>
              </a:extLst>
            </p:cNvPr>
            <p:cNvSpPr/>
            <p:nvPr>
              <p:custDataLst>
                <p:tags r:id="rId6"/>
              </p:custDataLst>
            </p:nvPr>
          </p:nvSpPr>
          <p:spPr bwMode="auto">
            <a:xfrm>
              <a:off x="0" y="0"/>
              <a:ext cx="9144000" cy="635000"/>
            </a:xfrm>
            <a:prstGeom prst="rect">
              <a:avLst/>
            </a:prstGeom>
            <a:solidFill>
              <a:srgbClr val="F6F7F8"/>
            </a:solidFill>
            <a:ln w="12700" cap="flat" cmpd="sng" algn="ctr">
              <a:noFill/>
              <a:prstDash val="solid"/>
              <a:round/>
              <a:headEnd type="none" w="med" len="med"/>
              <a:tailEnd type="none" w="med" len="med"/>
            </a:ln>
            <a:effectLst/>
            <a:extLst>
              <a:ext uri="{91240B29-F687-4F45-9708-019B960494DF}">
                <a14:hiddenLine xmlns:a14="http://schemas.microsoft.com/office/drawing/2010/main" w="12700" cap="flat" cmpd="sng" algn="ctr">
                  <a:solidFill>
                    <a:schemeClr val="tx1"/>
                  </a:solidFill>
                  <a:prstDash val="solid"/>
                  <a:round/>
                  <a:headEnd type="none" w="med" len="med"/>
                  <a:tailEnd type="none" w="med" len="med"/>
                </a14:hiddenLine>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400" b="1" i="0" u="none" strike="noStrike" cap="none" normalizeH="0" baseline="0">
                <a:ln>
                  <a:noFill/>
                </a:ln>
                <a:solidFill>
                  <a:schemeClr val="tx1"/>
                </a:solidFill>
                <a:effectLst/>
                <a:latin typeface="Arial" charset="0"/>
              </a:endParaRPr>
            </a:p>
          </p:txBody>
        </p:sp>
        <p:sp>
          <p:nvSpPr>
            <p:cNvPr id="7" name="ColorBlock">
              <a:extLst>
                <a:ext uri="{FF2B5EF4-FFF2-40B4-BE49-F238E27FC236}">
                  <a16:creationId xmlns:a16="http://schemas.microsoft.com/office/drawing/2014/main" id="{955BAE08-60F5-4C6C-BA39-15340D5CFA4E}"/>
                </a:ext>
              </a:extLst>
            </p:cNvPr>
            <p:cNvSpPr/>
            <p:nvPr>
              <p:custDataLst>
                <p:tags r:id="rId7"/>
              </p:custDataLst>
            </p:nvPr>
          </p:nvSpPr>
          <p:spPr bwMode="auto">
            <a:xfrm>
              <a:off x="0" y="0"/>
              <a:ext cx="190500" cy="635000"/>
            </a:xfrm>
            <a:prstGeom prst="rect">
              <a:avLst/>
            </a:prstGeom>
            <a:solidFill>
              <a:srgbClr val="639EF4"/>
            </a:solidFill>
            <a:ln w="12700" cap="flat" cmpd="sng" algn="ctr">
              <a:noFill/>
              <a:prstDash val="solid"/>
              <a:round/>
              <a:headEnd type="none" w="med" len="med"/>
              <a:tailEnd type="none" w="med" len="med"/>
            </a:ln>
            <a:effectLst/>
            <a:extLst>
              <a:ext uri="{91240B29-F687-4F45-9708-019B960494DF}">
                <a14:hiddenLine xmlns:a14="http://schemas.microsoft.com/office/drawing/2010/main" w="12700" cap="flat" cmpd="sng" algn="ctr">
                  <a:solidFill>
                    <a:schemeClr val="tx1"/>
                  </a:solidFill>
                  <a:prstDash val="solid"/>
                  <a:round/>
                  <a:headEnd type="none" w="med" len="med"/>
                  <a:tailEnd type="none" w="med" len="med"/>
                </a14:hiddenLine>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400" b="1" i="0" u="none" strike="noStrike" cap="none" normalizeH="0" baseline="0">
                <a:ln>
                  <a:noFill/>
                </a:ln>
                <a:solidFill>
                  <a:schemeClr val="tx1"/>
                </a:solidFill>
                <a:effectLst/>
                <a:latin typeface="Arial" charset="0"/>
              </a:endParaRPr>
            </a:p>
          </p:txBody>
        </p:sp>
        <p:sp>
          <p:nvSpPr>
            <p:cNvPr id="8" name="TypeText">
              <a:extLst>
                <a:ext uri="{FF2B5EF4-FFF2-40B4-BE49-F238E27FC236}">
                  <a16:creationId xmlns:a16="http://schemas.microsoft.com/office/drawing/2014/main" id="{4E3F9C40-8857-4527-B453-F2E49838B35F}"/>
                </a:ext>
              </a:extLst>
            </p:cNvPr>
            <p:cNvSpPr txBox="1"/>
            <p:nvPr>
              <p:custDataLst>
                <p:tags r:id="rId8"/>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填空题</a:t>
              </a:r>
            </a:p>
          </p:txBody>
        </p:sp>
        <p:sp>
          <p:nvSpPr>
            <p:cNvPr id="9" name="TipText">
              <a:extLst>
                <a:ext uri="{FF2B5EF4-FFF2-40B4-BE49-F238E27FC236}">
                  <a16:creationId xmlns:a16="http://schemas.microsoft.com/office/drawing/2014/main" id="{0B137A73-EE93-4BF8-AA87-44E0B346D895}"/>
                </a:ext>
              </a:extLst>
            </p:cNvPr>
            <p:cNvSpPr txBox="1"/>
            <p:nvPr>
              <p:custDataLst>
                <p:tags r:id="rId9"/>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3" name="图片 2">
            <a:extLst>
              <a:ext uri="{FF2B5EF4-FFF2-40B4-BE49-F238E27FC236}">
                <a16:creationId xmlns:a16="http://schemas.microsoft.com/office/drawing/2014/main" id="{F6C56FCC-4B69-47F3-A2BD-DE68AB3F75FE}"/>
              </a:ext>
            </a:extLst>
          </p:cNvPr>
          <p:cNvPicPr>
            <a:picLocks/>
          </p:cNvPicPr>
          <p:nvPr>
            <p:custDataLst>
              <p:tags r:id="rId5"/>
            </p:custDataLst>
          </p:nvPr>
        </p:nvPicPr>
        <p:blipFill>
          <a:blip r:embed="rId11">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5206905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050"/>
          <p:cNvSpPr>
            <a:spLocks noGrp="1" noChangeArrowheads="1"/>
          </p:cNvSpPr>
          <p:nvPr>
            <p:ph type="title"/>
          </p:nvPr>
        </p:nvSpPr>
        <p:spPr>
          <a:xfrm>
            <a:off x="381000" y="152400"/>
            <a:ext cx="8280400" cy="552450"/>
          </a:xfrm>
        </p:spPr>
        <p:txBody>
          <a:bodyPr/>
          <a:lstStyle/>
          <a:p>
            <a:r>
              <a:rPr lang="en-US" altLang="en-US" sz="2800"/>
              <a:t>When DBSCAN Works Well</a:t>
            </a:r>
          </a:p>
        </p:txBody>
      </p:sp>
      <p:pic>
        <p:nvPicPr>
          <p:cNvPr id="86019" name="Picture 205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081088"/>
            <a:ext cx="4872038" cy="365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86020" name="Text Box 2052"/>
          <p:cNvSpPr txBox="1">
            <a:spLocks noChangeArrowheads="1"/>
          </p:cNvSpPr>
          <p:nvPr/>
        </p:nvSpPr>
        <p:spPr bwMode="auto">
          <a:xfrm>
            <a:off x="990600" y="4433888"/>
            <a:ext cx="25146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pPr>
              <a:spcBef>
                <a:spcPct val="50000"/>
              </a:spcBef>
            </a:pPr>
            <a:r>
              <a:rPr lang="en-US" altLang="en-US" sz="1800" dirty="0"/>
              <a:t>Original Points</a:t>
            </a:r>
          </a:p>
        </p:txBody>
      </p:sp>
      <p:grpSp>
        <p:nvGrpSpPr>
          <p:cNvPr id="2" name="Group 2053"/>
          <p:cNvGrpSpPr>
            <a:grpSpLocks/>
          </p:cNvGrpSpPr>
          <p:nvPr/>
        </p:nvGrpSpPr>
        <p:grpSpPr bwMode="auto">
          <a:xfrm>
            <a:off x="4271963" y="1004888"/>
            <a:ext cx="4872037" cy="3871912"/>
            <a:chOff x="2691" y="633"/>
            <a:chExt cx="3069" cy="2439"/>
          </a:xfrm>
        </p:grpSpPr>
        <p:pic>
          <p:nvPicPr>
            <p:cNvPr id="86023" name="Picture 205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91" y="633"/>
              <a:ext cx="3069" cy="2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86024" name="Text Box 2055"/>
            <p:cNvSpPr txBox="1">
              <a:spLocks noChangeArrowheads="1"/>
            </p:cNvSpPr>
            <p:nvPr/>
          </p:nvSpPr>
          <p:spPr bwMode="auto">
            <a:xfrm>
              <a:off x="3312" y="2841"/>
              <a:ext cx="158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pPr>
                <a:spcBef>
                  <a:spcPct val="50000"/>
                </a:spcBef>
              </a:pPr>
              <a:r>
                <a:rPr lang="en-US" altLang="en-US" sz="1800" dirty="0"/>
                <a:t>Clusters</a:t>
              </a:r>
            </a:p>
          </p:txBody>
        </p:sp>
      </p:grpSp>
      <p:sp>
        <p:nvSpPr>
          <p:cNvPr id="1653768" name="Text Box 2056"/>
          <p:cNvSpPr txBox="1">
            <a:spLocks noChangeArrowheads="1"/>
          </p:cNvSpPr>
          <p:nvPr/>
        </p:nvSpPr>
        <p:spPr bwMode="auto">
          <a:xfrm>
            <a:off x="609600" y="5392738"/>
            <a:ext cx="6629400" cy="784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pPr>
              <a:spcBef>
                <a:spcPct val="50000"/>
              </a:spcBef>
              <a:buFontTx/>
              <a:buChar char="•"/>
            </a:pPr>
            <a:r>
              <a:rPr lang="en-US" altLang="en-US" sz="1800" dirty="0"/>
              <a:t> </a:t>
            </a:r>
            <a:r>
              <a:rPr lang="zh-CN" altLang="en-US" sz="1800" dirty="0"/>
              <a:t>对噪声不敏感</a:t>
            </a:r>
            <a:endParaRPr lang="en-US" altLang="en-US" sz="1800" dirty="0"/>
          </a:p>
          <a:p>
            <a:pPr>
              <a:spcBef>
                <a:spcPct val="50000"/>
              </a:spcBef>
              <a:buFontTx/>
              <a:buChar char="•"/>
            </a:pPr>
            <a:r>
              <a:rPr lang="en-US" altLang="en-US" sz="1800" dirty="0"/>
              <a:t> </a:t>
            </a:r>
            <a:r>
              <a:rPr lang="zh-CN" altLang="en-US" sz="1800" dirty="0"/>
              <a:t>能够处理不同形状、不同尺寸的聚类</a:t>
            </a:r>
            <a:endParaRPr lang="en-US" alt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ChangeArrowheads="1"/>
          </p:cNvSpPr>
          <p:nvPr>
            <p:ph type="title"/>
          </p:nvPr>
        </p:nvSpPr>
        <p:spPr>
          <a:xfrm>
            <a:off x="381000" y="152400"/>
            <a:ext cx="8280400" cy="552450"/>
          </a:xfrm>
        </p:spPr>
        <p:txBody>
          <a:bodyPr/>
          <a:lstStyle/>
          <a:p>
            <a:r>
              <a:rPr lang="en-US" altLang="en-US" sz="2800"/>
              <a:t>When DBSCAN Does NOT Work Well</a:t>
            </a:r>
          </a:p>
        </p:txBody>
      </p:sp>
      <p:sp>
        <p:nvSpPr>
          <p:cNvPr id="87043" name="Text Box 3"/>
          <p:cNvSpPr txBox="1">
            <a:spLocks noChangeArrowheads="1"/>
          </p:cNvSpPr>
          <p:nvPr/>
        </p:nvSpPr>
        <p:spPr bwMode="auto">
          <a:xfrm>
            <a:off x="1066800" y="3886200"/>
            <a:ext cx="2514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pPr>
              <a:spcBef>
                <a:spcPct val="50000"/>
              </a:spcBef>
            </a:pPr>
            <a:r>
              <a:rPr lang="en-US" altLang="en-US" sz="1800"/>
              <a:t>Original Points</a:t>
            </a:r>
          </a:p>
        </p:txBody>
      </p:sp>
      <p:sp>
        <p:nvSpPr>
          <p:cNvPr id="87044" name="Rectangle 4"/>
          <p:cNvSpPr>
            <a:spLocks noChangeArrowheads="1"/>
          </p:cNvSpPr>
          <p:nvPr/>
        </p:nvSpPr>
        <p:spPr bwMode="auto">
          <a:xfrm>
            <a:off x="3048000" y="22288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pic>
        <p:nvPicPr>
          <p:cNvPr id="87045" name="Picture 5" descr="fish_cluster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524000"/>
            <a:ext cx="3048000" cy="2400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7046" name="Rectangle 6"/>
          <p:cNvSpPr>
            <a:spLocks noChangeArrowheads="1"/>
          </p:cNvSpPr>
          <p:nvPr/>
        </p:nvSpPr>
        <p:spPr bwMode="auto">
          <a:xfrm>
            <a:off x="3630613" y="27892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87049" name="Rectangle 9"/>
          <p:cNvSpPr>
            <a:spLocks noChangeArrowheads="1"/>
          </p:cNvSpPr>
          <p:nvPr/>
        </p:nvSpPr>
        <p:spPr bwMode="auto">
          <a:xfrm>
            <a:off x="3630613" y="27892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ChangeArrowheads="1"/>
          </p:cNvSpPr>
          <p:nvPr>
            <p:ph type="title"/>
          </p:nvPr>
        </p:nvSpPr>
        <p:spPr>
          <a:xfrm>
            <a:off x="381000" y="152400"/>
            <a:ext cx="8280400" cy="552450"/>
          </a:xfrm>
        </p:spPr>
        <p:txBody>
          <a:bodyPr/>
          <a:lstStyle/>
          <a:p>
            <a:r>
              <a:rPr lang="en-US" altLang="en-US" sz="2800"/>
              <a:t>When DBSCAN Does NOT Work Well</a:t>
            </a:r>
          </a:p>
        </p:txBody>
      </p:sp>
      <p:sp>
        <p:nvSpPr>
          <p:cNvPr id="87043" name="Text Box 3"/>
          <p:cNvSpPr txBox="1">
            <a:spLocks noChangeArrowheads="1"/>
          </p:cNvSpPr>
          <p:nvPr/>
        </p:nvSpPr>
        <p:spPr bwMode="auto">
          <a:xfrm>
            <a:off x="1066800" y="3886200"/>
            <a:ext cx="2514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pPr>
              <a:spcBef>
                <a:spcPct val="50000"/>
              </a:spcBef>
            </a:pPr>
            <a:r>
              <a:rPr lang="en-US" altLang="en-US" sz="1800"/>
              <a:t>Original Points</a:t>
            </a:r>
          </a:p>
        </p:txBody>
      </p:sp>
      <p:sp>
        <p:nvSpPr>
          <p:cNvPr id="87044" name="Rectangle 4"/>
          <p:cNvSpPr>
            <a:spLocks noChangeArrowheads="1"/>
          </p:cNvSpPr>
          <p:nvPr/>
        </p:nvSpPr>
        <p:spPr bwMode="auto">
          <a:xfrm>
            <a:off x="3048000" y="22288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pic>
        <p:nvPicPr>
          <p:cNvPr id="87045" name="Picture 5" descr="fish_cluster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1524000"/>
            <a:ext cx="3048000" cy="2400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7046" name="Rectangle 6"/>
          <p:cNvSpPr>
            <a:spLocks noChangeArrowheads="1"/>
          </p:cNvSpPr>
          <p:nvPr/>
        </p:nvSpPr>
        <p:spPr bwMode="auto">
          <a:xfrm>
            <a:off x="3630613" y="27892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graphicFrame>
        <p:nvGraphicFramePr>
          <p:cNvPr id="87047" name="Object 0"/>
          <p:cNvGraphicFramePr>
            <a:graphicFrameLocks noChangeAspect="1"/>
          </p:cNvGraphicFramePr>
          <p:nvPr/>
        </p:nvGraphicFramePr>
        <p:xfrm>
          <a:off x="4648200" y="1066800"/>
          <a:ext cx="3363913" cy="2287588"/>
        </p:xfrm>
        <a:graphic>
          <a:graphicData uri="http://schemas.openxmlformats.org/presentationml/2006/ole">
            <mc:AlternateContent xmlns:mc="http://schemas.openxmlformats.org/markup-compatibility/2006">
              <mc:Choice xmlns:v="urn:schemas-microsoft-com:vml" Requires="v">
                <p:oleObj spid="_x0000_s110742" r:id="rId4" imgW="4686706" imgH="3177815" progId="MSPhotoEd.3">
                  <p:embed/>
                </p:oleObj>
              </mc:Choice>
              <mc:Fallback>
                <p:oleObj r:id="rId4" imgW="4686706" imgH="3177815" progId="MSPhotoEd.3">
                  <p:embed/>
                  <p:pic>
                    <p:nvPicPr>
                      <p:cNvPr id="87047" name="Object 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48200" y="1066800"/>
                        <a:ext cx="3363913" cy="2287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7048" name="Rectangle 8"/>
          <p:cNvSpPr>
            <a:spLocks noChangeArrowheads="1"/>
          </p:cNvSpPr>
          <p:nvPr/>
        </p:nvSpPr>
        <p:spPr bwMode="auto">
          <a:xfrm>
            <a:off x="4800600" y="3352800"/>
            <a:ext cx="25146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r>
              <a:rPr lang="en-US" altLang="en-US" sz="1600" b="0" dirty="0">
                <a:latin typeface="Times New Roman" pitchFamily="18" charset="0"/>
                <a:cs typeface="Times New Roman" pitchFamily="18" charset="0"/>
              </a:rPr>
              <a:t>(</a:t>
            </a:r>
            <a:r>
              <a:rPr lang="en-US" altLang="en-US" sz="1600" b="0" dirty="0" err="1">
                <a:latin typeface="Times New Roman" pitchFamily="18" charset="0"/>
                <a:cs typeface="Times New Roman" pitchFamily="18" charset="0"/>
              </a:rPr>
              <a:t>MinPts</a:t>
            </a:r>
            <a:r>
              <a:rPr lang="en-US" altLang="en-US" sz="1600" b="0" dirty="0">
                <a:latin typeface="Times New Roman" pitchFamily="18" charset="0"/>
                <a:cs typeface="Times New Roman" pitchFamily="18" charset="0"/>
              </a:rPr>
              <a:t>=4, Eps=9.92).</a:t>
            </a:r>
            <a:r>
              <a:rPr lang="en-US" altLang="en-US" sz="900" b="0" dirty="0">
                <a:latin typeface="Times New Roman" pitchFamily="18" charset="0"/>
              </a:rPr>
              <a:t> </a:t>
            </a:r>
            <a:endParaRPr lang="en-US" altLang="en-US" sz="2400" b="0" dirty="0">
              <a:latin typeface="Times New Roman" pitchFamily="18" charset="0"/>
            </a:endParaRPr>
          </a:p>
        </p:txBody>
      </p:sp>
      <p:sp>
        <p:nvSpPr>
          <p:cNvPr id="87049" name="Rectangle 9"/>
          <p:cNvSpPr>
            <a:spLocks noChangeArrowheads="1"/>
          </p:cNvSpPr>
          <p:nvPr/>
        </p:nvSpPr>
        <p:spPr bwMode="auto">
          <a:xfrm>
            <a:off x="3630613" y="27892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graphicFrame>
        <p:nvGraphicFramePr>
          <p:cNvPr id="87050" name="Object 1"/>
          <p:cNvGraphicFramePr>
            <a:graphicFrameLocks noChangeAspect="1"/>
          </p:cNvGraphicFramePr>
          <p:nvPr/>
        </p:nvGraphicFramePr>
        <p:xfrm>
          <a:off x="4724400" y="3733800"/>
          <a:ext cx="3363913" cy="2286000"/>
        </p:xfrm>
        <a:graphic>
          <a:graphicData uri="http://schemas.openxmlformats.org/presentationml/2006/ole">
            <mc:AlternateContent xmlns:mc="http://schemas.openxmlformats.org/markup-compatibility/2006">
              <mc:Choice xmlns:v="urn:schemas-microsoft-com:vml" Requires="v">
                <p:oleObj spid="_x0000_s110743" r:id="rId6" imgW="4686706" imgH="3177815" progId="MSPhotoEd.3">
                  <p:embed/>
                </p:oleObj>
              </mc:Choice>
              <mc:Fallback>
                <p:oleObj r:id="rId6" imgW="4686706" imgH="3177815" progId="MSPhotoEd.3">
                  <p:embed/>
                  <p:pic>
                    <p:nvPicPr>
                      <p:cNvPr id="87050" name="Object 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724400" y="3733800"/>
                        <a:ext cx="3363913"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7051" name="Rectangle 11"/>
          <p:cNvSpPr>
            <a:spLocks noChangeArrowheads="1"/>
          </p:cNvSpPr>
          <p:nvPr/>
        </p:nvSpPr>
        <p:spPr bwMode="auto">
          <a:xfrm>
            <a:off x="4724400" y="6019800"/>
            <a:ext cx="25146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r>
              <a:rPr lang="en-US" altLang="en-US" sz="1600" b="0" dirty="0">
                <a:latin typeface="Times New Roman" pitchFamily="18" charset="0"/>
                <a:cs typeface="Times New Roman" pitchFamily="18" charset="0"/>
              </a:rPr>
              <a:t> (</a:t>
            </a:r>
            <a:r>
              <a:rPr lang="en-US" altLang="en-US" sz="1600" b="0" dirty="0" err="1">
                <a:latin typeface="Times New Roman" pitchFamily="18" charset="0"/>
                <a:cs typeface="Times New Roman" pitchFamily="18" charset="0"/>
              </a:rPr>
              <a:t>MinPts</a:t>
            </a:r>
            <a:r>
              <a:rPr lang="en-US" altLang="en-US" sz="1600" b="0" dirty="0">
                <a:latin typeface="Times New Roman" pitchFamily="18" charset="0"/>
                <a:cs typeface="Times New Roman" pitchFamily="18" charset="0"/>
              </a:rPr>
              <a:t>=4, Eps=9.75)</a:t>
            </a:r>
          </a:p>
        </p:txBody>
      </p:sp>
      <p:sp>
        <p:nvSpPr>
          <p:cNvPr id="1654796" name="Text Box 12"/>
          <p:cNvSpPr txBox="1">
            <a:spLocks noChangeArrowheads="1"/>
          </p:cNvSpPr>
          <p:nvPr/>
        </p:nvSpPr>
        <p:spPr bwMode="auto">
          <a:xfrm>
            <a:off x="609600" y="5392738"/>
            <a:ext cx="3505200" cy="779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pPr>
              <a:spcBef>
                <a:spcPct val="50000"/>
              </a:spcBef>
              <a:buFontTx/>
              <a:buChar char="•"/>
            </a:pPr>
            <a:r>
              <a:rPr lang="en-US" altLang="en-US" sz="1800" dirty="0"/>
              <a:t> </a:t>
            </a:r>
            <a:r>
              <a:rPr lang="zh-CN" altLang="en-US" sz="1800" dirty="0"/>
              <a:t>密度变化</a:t>
            </a:r>
            <a:endParaRPr lang="en-US" altLang="en-US" sz="1800" dirty="0"/>
          </a:p>
          <a:p>
            <a:pPr>
              <a:spcBef>
                <a:spcPct val="50000"/>
              </a:spcBef>
              <a:buFontTx/>
              <a:buChar char="•"/>
            </a:pPr>
            <a:r>
              <a:rPr lang="en-US" altLang="en-US" sz="1800" dirty="0"/>
              <a:t> </a:t>
            </a:r>
            <a:r>
              <a:rPr lang="zh-CN" altLang="en-US" sz="1800" dirty="0"/>
              <a:t>高维数据</a:t>
            </a:r>
            <a:endParaRPr lang="en-US" altLang="en-US" sz="1800" dirty="0"/>
          </a:p>
        </p:txBody>
      </p:sp>
    </p:spTree>
    <p:extLst>
      <p:ext uri="{BB962C8B-B14F-4D97-AF65-F5344CB8AC3E}">
        <p14:creationId xmlns:p14="http://schemas.microsoft.com/office/powerpoint/2010/main" val="410616816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65479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54796" grpId="0"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a:xfrm>
            <a:off x="381000" y="152400"/>
            <a:ext cx="8280400" cy="552450"/>
          </a:xfrm>
        </p:spPr>
        <p:txBody>
          <a:bodyPr/>
          <a:lstStyle/>
          <a:p>
            <a:r>
              <a:rPr lang="en-US" altLang="en-US" sz="2800" dirty="0"/>
              <a:t>DBSCAN: </a:t>
            </a:r>
            <a:r>
              <a:rPr lang="zh-CN" altLang="en-US" sz="2800" dirty="0"/>
              <a:t>确定参数</a:t>
            </a:r>
            <a:r>
              <a:rPr lang="en-US" altLang="en-US" sz="2800" dirty="0"/>
              <a:t> EPS </a:t>
            </a:r>
            <a:r>
              <a:rPr lang="zh-CN" altLang="en-US" sz="2800" dirty="0"/>
              <a:t>和</a:t>
            </a:r>
            <a:r>
              <a:rPr lang="en-US" altLang="en-US" sz="2800" dirty="0"/>
              <a:t> </a:t>
            </a:r>
            <a:r>
              <a:rPr lang="en-US" altLang="en-US" sz="2800" dirty="0" err="1"/>
              <a:t>MinPts</a:t>
            </a:r>
            <a:endParaRPr lang="en-US" altLang="en-US" sz="2800" dirty="0"/>
          </a:p>
        </p:txBody>
      </p:sp>
      <p:sp>
        <p:nvSpPr>
          <p:cNvPr id="88067" name="Rectangle 3"/>
          <p:cNvSpPr>
            <a:spLocks noGrp="1" noChangeArrowheads="1"/>
          </p:cNvSpPr>
          <p:nvPr>
            <p:ph type="body" idx="1"/>
          </p:nvPr>
        </p:nvSpPr>
        <p:spPr>
          <a:xfrm>
            <a:off x="639763" y="1143000"/>
            <a:ext cx="8001000" cy="5181600"/>
          </a:xfrm>
          <a:noFill/>
        </p:spPr>
        <p:txBody>
          <a:bodyPr/>
          <a:lstStyle/>
          <a:p>
            <a:pPr marL="533400" indent="-533400">
              <a:lnSpc>
                <a:spcPct val="90000"/>
              </a:lnSpc>
              <a:spcBef>
                <a:spcPct val="20000"/>
              </a:spcBef>
            </a:pPr>
            <a:r>
              <a:rPr lang="zh-CN" altLang="en-US" sz="2400" dirty="0"/>
              <a:t>假设：同一类中的点，它们的</a:t>
            </a:r>
            <a:r>
              <a:rPr lang="en-US" altLang="zh-CN" sz="2400" dirty="0"/>
              <a:t>k</a:t>
            </a:r>
            <a:r>
              <a:rPr lang="zh-CN" altLang="en-US" sz="2400" dirty="0"/>
              <a:t>近邻距离很近</a:t>
            </a:r>
            <a:endParaRPr lang="en-US" altLang="en-US" sz="2400" dirty="0"/>
          </a:p>
          <a:p>
            <a:pPr marL="533400" indent="-533400">
              <a:lnSpc>
                <a:spcPct val="90000"/>
              </a:lnSpc>
              <a:spcBef>
                <a:spcPct val="20000"/>
              </a:spcBef>
            </a:pPr>
            <a:r>
              <a:rPr lang="zh-CN" altLang="en-US" sz="2400" dirty="0"/>
              <a:t>噪声点的</a:t>
            </a:r>
            <a:r>
              <a:rPr lang="en-US" altLang="zh-CN" sz="2400" dirty="0"/>
              <a:t>k</a:t>
            </a:r>
            <a:r>
              <a:rPr lang="zh-CN" altLang="en-US" sz="2400" dirty="0"/>
              <a:t>近邻距离较远</a:t>
            </a:r>
            <a:endParaRPr lang="en-US" altLang="en-US" sz="2400" dirty="0"/>
          </a:p>
          <a:p>
            <a:pPr marL="533400" indent="-533400">
              <a:lnSpc>
                <a:spcPct val="90000"/>
              </a:lnSpc>
              <a:spcBef>
                <a:spcPct val="20000"/>
              </a:spcBef>
            </a:pPr>
            <a:r>
              <a:rPr lang="zh-CN" altLang="en-US" sz="2400" dirty="0"/>
              <a:t>计算数据集中每一点与其</a:t>
            </a:r>
            <a:r>
              <a:rPr lang="en-US" altLang="zh-CN" sz="2400" dirty="0"/>
              <a:t>k</a:t>
            </a:r>
            <a:r>
              <a:rPr lang="zh-CN" altLang="en-US" sz="2400" dirty="0"/>
              <a:t>近邻之间的距离，按照距离大小排序，画出曲线</a:t>
            </a:r>
            <a:endParaRPr lang="en-US" altLang="en-US" sz="2400" dirty="0"/>
          </a:p>
          <a:p>
            <a:pPr marL="533400" indent="-533400">
              <a:lnSpc>
                <a:spcPct val="90000"/>
              </a:lnSpc>
              <a:spcBef>
                <a:spcPct val="20000"/>
              </a:spcBef>
            </a:pPr>
            <a:r>
              <a:rPr lang="en-US" altLang="zh-CN" sz="2400" dirty="0" err="1"/>
              <a:t>MinPts</a:t>
            </a:r>
            <a:r>
              <a:rPr lang="en-US" altLang="zh-CN" sz="2400" dirty="0"/>
              <a:t>=dim+1</a:t>
            </a:r>
            <a:endParaRPr lang="en-US" altLang="en-US" dirty="0"/>
          </a:p>
        </p:txBody>
      </p:sp>
      <p:grpSp>
        <p:nvGrpSpPr>
          <p:cNvPr id="3" name="组合 2"/>
          <p:cNvGrpSpPr/>
          <p:nvPr/>
        </p:nvGrpSpPr>
        <p:grpSpPr>
          <a:xfrm>
            <a:off x="2812256" y="3429000"/>
            <a:ext cx="3656013" cy="2743200"/>
            <a:chOff x="2362200" y="3505200"/>
            <a:chExt cx="3656013" cy="2743200"/>
          </a:xfrm>
        </p:grpSpPr>
        <p:pic>
          <p:nvPicPr>
            <p:cNvPr id="8806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2200" y="3505200"/>
              <a:ext cx="3656013" cy="274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2" name="矩形 1"/>
            <p:cNvSpPr/>
            <p:nvPr/>
          </p:nvSpPr>
          <p:spPr bwMode="auto">
            <a:xfrm>
              <a:off x="5257800" y="5334000"/>
              <a:ext cx="381000" cy="304800"/>
            </a:xfrm>
            <a:prstGeom prst="rect">
              <a:avLst/>
            </a:prstGeom>
            <a:noFill/>
            <a:ln w="28575" cap="flat" cmpd="sng" algn="ctr">
              <a:solidFill>
                <a:schemeClr val="accent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400" b="1" i="0" u="none" strike="noStrike" cap="none" normalizeH="0" baseline="0">
                <a:ln>
                  <a:noFill/>
                </a:ln>
                <a:solidFill>
                  <a:schemeClr val="tx1"/>
                </a:solidFill>
                <a:effectLst/>
                <a:latin typeface="Arial" charset="0"/>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直接连接符 9"/>
          <p:cNvCxnSpPr/>
          <p:nvPr/>
        </p:nvCxnSpPr>
        <p:spPr>
          <a:xfrm>
            <a:off x="755576" y="6669360"/>
            <a:ext cx="8162925" cy="0"/>
          </a:xfrm>
          <a:prstGeom prst="line">
            <a:avLst/>
          </a:prstGeom>
          <a:ln w="254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Box 1"/>
          <p:cNvSpPr txBox="1">
            <a:spLocks noGrp="1" noChangeArrowheads="1"/>
          </p:cNvSpPr>
          <p:nvPr>
            <p:ph type="title"/>
          </p:nvPr>
        </p:nvSpPr>
        <p:spPr bwMode="auto">
          <a:xfrm>
            <a:off x="434975" y="184572"/>
            <a:ext cx="8229600" cy="551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b="1">
                <a:solidFill>
                  <a:schemeClr val="tx1"/>
                </a:solidFill>
                <a:latin typeface="Times New Roman" pitchFamily="18" charset="0"/>
                <a:ea typeface="华文中宋" pitchFamily="2" charset="-122"/>
              </a:defRPr>
            </a:lvl1pPr>
            <a:lvl2pPr marL="742950" indent="-285750" eaLnBrk="0" hangingPunct="0">
              <a:defRPr kumimoji="1" b="1">
                <a:solidFill>
                  <a:schemeClr val="tx1"/>
                </a:solidFill>
                <a:latin typeface="Times New Roman" pitchFamily="18" charset="0"/>
                <a:ea typeface="华文中宋" pitchFamily="2" charset="-122"/>
              </a:defRPr>
            </a:lvl2pPr>
            <a:lvl3pPr marL="1143000" indent="-228600" eaLnBrk="0" hangingPunct="0">
              <a:defRPr kumimoji="1" b="1">
                <a:solidFill>
                  <a:schemeClr val="tx1"/>
                </a:solidFill>
                <a:latin typeface="Times New Roman" pitchFamily="18" charset="0"/>
                <a:ea typeface="华文中宋" pitchFamily="2" charset="-122"/>
              </a:defRPr>
            </a:lvl3pPr>
            <a:lvl4pPr marL="1600200" indent="-228600" eaLnBrk="0" hangingPunct="0">
              <a:defRPr kumimoji="1" b="1">
                <a:solidFill>
                  <a:schemeClr val="tx1"/>
                </a:solidFill>
                <a:latin typeface="Times New Roman" pitchFamily="18" charset="0"/>
                <a:ea typeface="华文中宋" pitchFamily="2" charset="-122"/>
              </a:defRPr>
            </a:lvl4pPr>
            <a:lvl5pPr marL="2057400" indent="-228600" eaLnBrk="0" hangingPunct="0">
              <a:defRPr kumimoji="1" b="1">
                <a:solidFill>
                  <a:schemeClr val="tx1"/>
                </a:solidFill>
                <a:latin typeface="Times New Roman" pitchFamily="18" charset="0"/>
                <a:ea typeface="华文中宋" pitchFamily="2" charset="-122"/>
              </a:defRPr>
            </a:lvl5pPr>
            <a:lvl6pPr marL="25146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6pPr>
            <a:lvl7pPr marL="29718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7pPr>
            <a:lvl8pPr marL="34290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8pPr>
            <a:lvl9pPr marL="38862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9pPr>
          </a:lstStyle>
          <a:p>
            <a:pPr eaLnBrk="1" hangingPunct="1"/>
            <a:r>
              <a:rPr lang="zh-CN" altLang="en-US" sz="3200" dirty="0">
                <a:latin typeface="黑体" pitchFamily="2" charset="-122"/>
                <a:ea typeface="黑体" pitchFamily="2" charset="-122"/>
              </a:rPr>
              <a:t>密度的计算</a:t>
            </a:r>
            <a:endParaRPr lang="zh-CN" altLang="en-US" sz="3200" dirty="0">
              <a:solidFill>
                <a:srgbClr val="FF0000"/>
              </a:solidFill>
              <a:latin typeface="黑体" pitchFamily="2" charset="-122"/>
              <a:ea typeface="黑体" pitchFamily="2" charset="-122"/>
            </a:endParaRPr>
          </a:p>
        </p:txBody>
      </p:sp>
      <p:sp>
        <p:nvSpPr>
          <p:cNvPr id="2" name="灯片编号占位符 1">
            <a:extLst>
              <a:ext uri="{FF2B5EF4-FFF2-40B4-BE49-F238E27FC236}">
                <a16:creationId xmlns:a16="http://schemas.microsoft.com/office/drawing/2014/main" id="{4AB04003-0BE3-4475-B119-8C41BF5D4925}"/>
              </a:ext>
            </a:extLst>
          </p:cNvPr>
          <p:cNvSpPr>
            <a:spLocks noGrp="1"/>
          </p:cNvSpPr>
          <p:nvPr>
            <p:ph type="sldNum" sz="quarter" idx="12"/>
          </p:nvPr>
        </p:nvSpPr>
        <p:spPr/>
        <p:txBody>
          <a:bodyPr/>
          <a:lstStyle/>
          <a:p>
            <a:endParaRPr lang="zh-CN" altLang="en-US" dirty="0"/>
          </a:p>
        </p:txBody>
      </p:sp>
      <p:grpSp>
        <p:nvGrpSpPr>
          <p:cNvPr id="3" name="组合 2">
            <a:extLst>
              <a:ext uri="{FF2B5EF4-FFF2-40B4-BE49-F238E27FC236}">
                <a16:creationId xmlns:a16="http://schemas.microsoft.com/office/drawing/2014/main" id="{2E306559-2FDD-45ED-81BF-E036B763F401}"/>
              </a:ext>
            </a:extLst>
          </p:cNvPr>
          <p:cNvGrpSpPr/>
          <p:nvPr/>
        </p:nvGrpSpPr>
        <p:grpSpPr>
          <a:xfrm>
            <a:off x="398321" y="836712"/>
            <a:ext cx="8496944" cy="5302090"/>
            <a:chOff x="421557" y="1124744"/>
            <a:chExt cx="8496944" cy="5302090"/>
          </a:xfrm>
        </p:grpSpPr>
        <p:sp>
          <p:nvSpPr>
            <p:cNvPr id="6" name="文本框 5">
              <a:extLst>
                <a:ext uri="{FF2B5EF4-FFF2-40B4-BE49-F238E27FC236}">
                  <a16:creationId xmlns:a16="http://schemas.microsoft.com/office/drawing/2014/main" id="{F6521610-E334-4FE4-A121-42BB95C8C6B9}"/>
                </a:ext>
              </a:extLst>
            </p:cNvPr>
            <p:cNvSpPr txBox="1"/>
            <p:nvPr/>
          </p:nvSpPr>
          <p:spPr>
            <a:xfrm>
              <a:off x="421557" y="1124744"/>
              <a:ext cx="8496944" cy="4454233"/>
            </a:xfrm>
            <a:prstGeom prst="rect">
              <a:avLst/>
            </a:prstGeom>
            <a:noFill/>
          </p:spPr>
          <p:txBody>
            <a:bodyPr wrap="square" rtlCol="0">
              <a:spAutoFit/>
            </a:bodyPr>
            <a:lstStyle/>
            <a:p>
              <a:pPr marL="285750" indent="-285750">
                <a:lnSpc>
                  <a:spcPct val="150000"/>
                </a:lnSpc>
                <a:buClr>
                  <a:srgbClr val="FF0000"/>
                </a:buClr>
                <a:buFont typeface="Wingdings" panose="05000000000000000000" pitchFamily="2" charset="2"/>
                <a:buChar char="Ø"/>
              </a:pPr>
              <a:r>
                <a:rPr lang="en-US" altLang="zh-CN" sz="2400" b="1" u="sng" dirty="0">
                  <a:latin typeface="Times New Roman" panose="02020603050405020304" pitchFamily="18" charset="0"/>
                  <a:cs typeface="Times New Roman" panose="02020603050405020304" pitchFamily="18" charset="0"/>
                </a:rPr>
                <a:t>cut-off density</a:t>
              </a:r>
              <a:r>
                <a:rPr lang="zh-CN" altLang="en-US" sz="2400" dirty="0">
                  <a:latin typeface="Times New Roman" panose="02020603050405020304" pitchFamily="18" charset="0"/>
                  <a:cs typeface="Times New Roman" panose="02020603050405020304" pitchFamily="18" charset="0"/>
                </a:rPr>
                <a:t>：邻域内的数据点个数</a:t>
              </a:r>
              <a:endParaRPr lang="en-US" altLang="zh-CN" sz="2400" dirty="0">
                <a:latin typeface="Times New Roman" panose="02020603050405020304" pitchFamily="18" charset="0"/>
                <a:cs typeface="Times New Roman" panose="02020603050405020304" pitchFamily="18" charset="0"/>
              </a:endParaRPr>
            </a:p>
            <a:p>
              <a:pPr marL="285750" indent="-285750">
                <a:lnSpc>
                  <a:spcPct val="150000"/>
                </a:lnSpc>
                <a:buClr>
                  <a:srgbClr val="FF0000"/>
                </a:buClr>
                <a:buFont typeface="Wingdings" panose="05000000000000000000" pitchFamily="2" charset="2"/>
                <a:buChar char="Ø"/>
              </a:pPr>
              <a:r>
                <a:rPr lang="en-US" altLang="zh-CN" sz="2400" b="1" u="sng" dirty="0">
                  <a:latin typeface="Times New Roman" panose="02020603050405020304" pitchFamily="18" charset="0"/>
                  <a:cs typeface="Times New Roman" panose="02020603050405020304" pitchFamily="18" charset="0"/>
                </a:rPr>
                <a:t>Kernel density</a:t>
              </a:r>
              <a:r>
                <a:rPr lang="zh-CN" altLang="en-US" sz="2400" dirty="0">
                  <a:latin typeface="Times New Roman" panose="02020603050405020304" pitchFamily="18" charset="0"/>
                  <a:cs typeface="Times New Roman" panose="02020603050405020304" pitchFamily="18" charset="0"/>
                </a:rPr>
                <a:t>：核密度对参数敏感度较低，但考虑了数据集中所有的点，对小尺寸聚类中的数据密度估计有偏</a:t>
              </a:r>
            </a:p>
            <a:p>
              <a:pPr marL="285750" indent="-285750">
                <a:lnSpc>
                  <a:spcPct val="150000"/>
                </a:lnSpc>
                <a:buClr>
                  <a:srgbClr val="FF0000"/>
                </a:buClr>
                <a:buFont typeface="Wingdings" panose="05000000000000000000" pitchFamily="2" charset="2"/>
                <a:buChar char="Ø"/>
              </a:pPr>
              <a:endParaRPr lang="en-US" altLang="zh-CN" sz="2400" dirty="0">
                <a:latin typeface="Times New Roman" panose="02020603050405020304" pitchFamily="18" charset="0"/>
                <a:cs typeface="Times New Roman" panose="02020603050405020304" pitchFamily="18" charset="0"/>
              </a:endParaRPr>
            </a:p>
            <a:p>
              <a:pPr marL="285750" indent="-285750">
                <a:lnSpc>
                  <a:spcPct val="150000"/>
                </a:lnSpc>
                <a:buClr>
                  <a:srgbClr val="FF0000"/>
                </a:buClr>
                <a:buFont typeface="Wingdings" panose="05000000000000000000" pitchFamily="2" charset="2"/>
                <a:buChar char="Ø"/>
              </a:pPr>
              <a:endParaRPr lang="en-US" altLang="zh-CN" sz="2400" dirty="0">
                <a:latin typeface="Times New Roman" panose="02020603050405020304" pitchFamily="18" charset="0"/>
                <a:cs typeface="Times New Roman" panose="02020603050405020304" pitchFamily="18" charset="0"/>
              </a:endParaRPr>
            </a:p>
            <a:p>
              <a:pPr marL="285750" indent="-285750">
                <a:lnSpc>
                  <a:spcPct val="150000"/>
                </a:lnSpc>
                <a:buClr>
                  <a:srgbClr val="FF0000"/>
                </a:buClr>
                <a:buFont typeface="Wingdings" panose="05000000000000000000" pitchFamily="2" charset="2"/>
                <a:buChar char="Ø"/>
              </a:pPr>
              <a:r>
                <a:rPr lang="en-US" altLang="zh-CN" sz="2400" b="1" u="sng" dirty="0">
                  <a:latin typeface="Times New Roman" panose="02020603050405020304" pitchFamily="18" charset="0"/>
                  <a:cs typeface="Times New Roman" panose="02020603050405020304" pitchFamily="18" charset="0"/>
                </a:rPr>
                <a:t>KNN kernel density</a:t>
              </a:r>
              <a:r>
                <a:rPr lang="zh-CN" altLang="en-US" sz="2400" b="1" u="sng" dirty="0">
                  <a:latin typeface="Times New Roman" panose="02020603050405020304" pitchFamily="18" charset="0"/>
                  <a:cs typeface="Times New Roman" panose="02020603050405020304" pitchFamily="18" charset="0"/>
                </a:rPr>
                <a:t>（</a:t>
              </a:r>
              <a:r>
                <a:rPr lang="en-US" altLang="zh-CN" sz="2400" b="1" u="sng" dirty="0">
                  <a:latin typeface="Times New Roman" panose="02020603050405020304" pitchFamily="18" charset="0"/>
                  <a:cs typeface="Times New Roman" panose="02020603050405020304" pitchFamily="18" charset="0"/>
                </a:rPr>
                <a:t>NKD</a:t>
              </a:r>
              <a:r>
                <a:rPr lang="zh-CN" altLang="en-US" sz="2400" b="1" u="sng"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 </a:t>
              </a:r>
              <a:r>
                <a:rPr lang="zh-CN" altLang="en-US" sz="2400" dirty="0">
                  <a:latin typeface="Times New Roman" panose="02020603050405020304" pitchFamily="18" charset="0"/>
                  <a:cs typeface="Times New Roman" panose="02020603050405020304" pitchFamily="18" charset="0"/>
                </a:rPr>
                <a:t>只计算</a:t>
              </a:r>
              <a:r>
                <a:rPr lang="en-US" altLang="zh-CN" sz="2400" dirty="0">
                  <a:latin typeface="Times New Roman" panose="02020603050405020304" pitchFamily="18" charset="0"/>
                  <a:cs typeface="Times New Roman" panose="02020603050405020304" pitchFamily="18" charset="0"/>
                </a:rPr>
                <a:t>k</a:t>
              </a:r>
              <a:r>
                <a:rPr lang="zh-CN" altLang="en-US" sz="2400" dirty="0">
                  <a:latin typeface="Times New Roman" panose="02020603050405020304" pitchFamily="18" charset="0"/>
                  <a:cs typeface="Times New Roman" panose="02020603050405020304" pitchFamily="18" charset="0"/>
                </a:rPr>
                <a:t>个近邻的核密度</a:t>
              </a:r>
              <a:endParaRPr lang="en-US" altLang="zh-CN" sz="2400" dirty="0">
                <a:latin typeface="Times New Roman" panose="02020603050405020304" pitchFamily="18" charset="0"/>
                <a:cs typeface="Times New Roman" panose="02020603050405020304" pitchFamily="18" charset="0"/>
              </a:endParaRPr>
            </a:p>
            <a:p>
              <a:pPr marL="285750" indent="-285750">
                <a:lnSpc>
                  <a:spcPct val="150000"/>
                </a:lnSpc>
                <a:buClr>
                  <a:srgbClr val="FF0000"/>
                </a:buClr>
                <a:buFont typeface="Wingdings" panose="05000000000000000000" pitchFamily="2" charset="2"/>
                <a:buChar char="Ø"/>
              </a:pPr>
              <a:endParaRPr lang="en-US" altLang="zh-CN" sz="2400" dirty="0">
                <a:latin typeface="Times New Roman" panose="02020603050405020304" pitchFamily="18" charset="0"/>
                <a:cs typeface="Times New Roman" panose="02020603050405020304" pitchFamily="18" charset="0"/>
              </a:endParaRPr>
            </a:p>
            <a:p>
              <a:pPr marL="285750" indent="-285750">
                <a:lnSpc>
                  <a:spcPct val="150000"/>
                </a:lnSpc>
                <a:buClr>
                  <a:srgbClr val="FF0000"/>
                </a:buClr>
                <a:buFont typeface="Wingdings" panose="05000000000000000000" pitchFamily="2" charset="2"/>
                <a:buChar char="Ø"/>
              </a:pPr>
              <a:r>
                <a:rPr lang="en-US" altLang="zh-CN" sz="2400" b="1" u="sng" dirty="0">
                  <a:latin typeface="Times New Roman" panose="02020603050405020304" pitchFamily="18" charset="0"/>
                  <a:cs typeface="Times New Roman" panose="02020603050405020304" pitchFamily="18" charset="0"/>
                </a:rPr>
                <a:t>Relative NKD</a:t>
              </a:r>
              <a:r>
                <a:rPr lang="zh-CN" altLang="en-US" sz="2400" dirty="0">
                  <a:latin typeface="Times New Roman" panose="02020603050405020304" pitchFamily="18" charset="0"/>
                  <a:cs typeface="Times New Roman" panose="02020603050405020304" pitchFamily="18" charset="0"/>
                </a:rPr>
                <a:t>：在</a:t>
              </a:r>
              <a:r>
                <a:rPr lang="en-US" altLang="zh-CN" sz="2400" dirty="0">
                  <a:latin typeface="Times New Roman" panose="02020603050405020304" pitchFamily="18" charset="0"/>
                  <a:cs typeface="Times New Roman" panose="02020603050405020304" pitchFamily="18" charset="0"/>
                </a:rPr>
                <a:t>NKD</a:t>
              </a:r>
              <a:r>
                <a:rPr lang="zh-CN" altLang="en-US" sz="2400" dirty="0">
                  <a:latin typeface="Times New Roman" panose="02020603050405020304" pitchFamily="18" charset="0"/>
                  <a:cs typeface="Times New Roman" panose="02020603050405020304" pitchFamily="18" charset="0"/>
                </a:rPr>
                <a:t>的基础上，除以邻域内的最大密度值</a:t>
              </a:r>
              <a:endParaRPr lang="en-US" altLang="zh-CN" sz="2400" dirty="0">
                <a:latin typeface="Times New Roman" panose="02020603050405020304" pitchFamily="18" charset="0"/>
                <a:cs typeface="Times New Roman" panose="02020603050405020304" pitchFamily="18" charset="0"/>
              </a:endParaRPr>
            </a:p>
          </p:txBody>
        </p:sp>
        <p:pic>
          <p:nvPicPr>
            <p:cNvPr id="10242" name="Picture 2" descr="P(u) = Eker &#10;VEV ">
              <a:extLst>
                <a:ext uri="{FF2B5EF4-FFF2-40B4-BE49-F238E27FC236}">
                  <a16:creationId xmlns:a16="http://schemas.microsoft.com/office/drawing/2014/main" id="{2B9C3AF8-B492-48C0-A815-42745B88B95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79977" y="2922346"/>
              <a:ext cx="2514600" cy="698500"/>
            </a:xfrm>
            <a:prstGeom prst="rect">
              <a:avLst/>
            </a:prstGeom>
            <a:noFill/>
            <a:extLst>
              <a:ext uri="{909E8E84-426E-40DD-AFC4-6F175D3DCCD1}">
                <a14:hiddenFill xmlns:a14="http://schemas.microsoft.com/office/drawing/2010/main">
                  <a:solidFill>
                    <a:srgbClr val="FFFFFF"/>
                  </a:solidFill>
                </a14:hiddenFill>
              </a:ext>
            </a:extLst>
          </p:spPr>
        </p:pic>
        <p:pic>
          <p:nvPicPr>
            <p:cNvPr id="10244" name="Picture 4" descr="(a'n)p &#10;D &#10;dxa 0= 冖 n)d ">
              <a:extLst>
                <a:ext uri="{FF2B5EF4-FFF2-40B4-BE49-F238E27FC236}">
                  <a16:creationId xmlns:a16="http://schemas.microsoft.com/office/drawing/2014/main" id="{070B84AE-B976-4CD0-83AF-E7DE5A82090C}"/>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261736" y="4541672"/>
              <a:ext cx="2667000" cy="608873"/>
            </a:xfrm>
            <a:prstGeom prst="rect">
              <a:avLst/>
            </a:prstGeom>
            <a:noFill/>
            <a:extLst>
              <a:ext uri="{909E8E84-426E-40DD-AFC4-6F175D3DCCD1}">
                <a14:hiddenFill xmlns:a14="http://schemas.microsoft.com/office/drawing/2010/main">
                  <a:solidFill>
                    <a:srgbClr val="FFFFFF"/>
                  </a:solidFill>
                </a14:hiddenFill>
              </a:ext>
            </a:extLst>
          </p:spPr>
        </p:pic>
        <p:pic>
          <p:nvPicPr>
            <p:cNvPr id="10246" name="Picture 6" descr="冖 d &#10;Ⅱ 冖 n) *d ">
              <a:extLst>
                <a:ext uri="{FF2B5EF4-FFF2-40B4-BE49-F238E27FC236}">
                  <a16:creationId xmlns:a16="http://schemas.microsoft.com/office/drawing/2014/main" id="{A5A32112-2CAB-4AE5-B621-90CAD2E133E1}"/>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168855" y="5578977"/>
              <a:ext cx="2808312" cy="847857"/>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2012968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BCDB052-6D22-43B8-8695-005F9F7C88A3}"/>
              </a:ext>
            </a:extLst>
          </p:cNvPr>
          <p:cNvSpPr>
            <a:spLocks noGrp="1"/>
          </p:cNvSpPr>
          <p:nvPr>
            <p:ph type="title"/>
          </p:nvPr>
        </p:nvSpPr>
        <p:spPr/>
        <p:txBody>
          <a:bodyPr/>
          <a:lstStyle/>
          <a:p>
            <a:r>
              <a:rPr lang="en-US" altLang="zh-CN" dirty="0"/>
              <a:t>DBSCAN</a:t>
            </a:r>
            <a:r>
              <a:rPr lang="zh-CN" altLang="en-US" dirty="0"/>
              <a:t>：总结</a:t>
            </a:r>
          </a:p>
        </p:txBody>
      </p:sp>
      <p:sp>
        <p:nvSpPr>
          <p:cNvPr id="3" name="内容占位符 2">
            <a:extLst>
              <a:ext uri="{FF2B5EF4-FFF2-40B4-BE49-F238E27FC236}">
                <a16:creationId xmlns:a16="http://schemas.microsoft.com/office/drawing/2014/main" id="{15C58B09-B4A5-4CD8-B34D-6937BE30A596}"/>
              </a:ext>
            </a:extLst>
          </p:cNvPr>
          <p:cNvSpPr>
            <a:spLocks noGrp="1"/>
          </p:cNvSpPr>
          <p:nvPr>
            <p:ph idx="1"/>
          </p:nvPr>
        </p:nvSpPr>
        <p:spPr/>
        <p:txBody>
          <a:bodyPr/>
          <a:lstStyle/>
          <a:p>
            <a:r>
              <a:rPr lang="zh-CN" altLang="en-US" dirty="0"/>
              <a:t>优点：</a:t>
            </a:r>
            <a:endParaRPr lang="en-US" altLang="zh-CN" dirty="0"/>
          </a:p>
          <a:p>
            <a:pPr lvl="1"/>
            <a:r>
              <a:rPr lang="zh-CN" altLang="en-US" dirty="0"/>
              <a:t>噪声</a:t>
            </a:r>
            <a:endParaRPr lang="en-US" altLang="zh-CN" dirty="0"/>
          </a:p>
          <a:p>
            <a:pPr lvl="1"/>
            <a:r>
              <a:rPr lang="zh-CN" altLang="en-US" dirty="0"/>
              <a:t>不同形状、不同尺寸</a:t>
            </a:r>
            <a:endParaRPr lang="en-US" altLang="zh-CN" dirty="0"/>
          </a:p>
          <a:p>
            <a:pPr lvl="1"/>
            <a:endParaRPr lang="en-US" altLang="zh-CN" dirty="0"/>
          </a:p>
          <a:p>
            <a:r>
              <a:rPr lang="zh-CN" altLang="en-US" dirty="0"/>
              <a:t>缺点：</a:t>
            </a:r>
            <a:endParaRPr lang="en-US" altLang="zh-CN" dirty="0"/>
          </a:p>
          <a:p>
            <a:pPr lvl="1"/>
            <a:r>
              <a:rPr lang="zh-CN" altLang="en-US" dirty="0"/>
              <a:t>计算复杂度：</a:t>
            </a:r>
            <a:r>
              <a:rPr lang="en-US" altLang="zh-CN" dirty="0"/>
              <a:t>O(N</a:t>
            </a:r>
            <a:r>
              <a:rPr lang="en-US" altLang="zh-CN" baseline="30000" dirty="0"/>
              <a:t>2</a:t>
            </a:r>
            <a:r>
              <a:rPr lang="en-US" altLang="zh-CN" dirty="0"/>
              <a:t>)</a:t>
            </a:r>
            <a:r>
              <a:rPr lang="zh-CN" altLang="en-US" dirty="0"/>
              <a:t>，两两计算距离</a:t>
            </a:r>
            <a:endParaRPr lang="en-US" altLang="zh-CN" dirty="0"/>
          </a:p>
          <a:p>
            <a:pPr lvl="1"/>
            <a:r>
              <a:rPr lang="zh-CN" altLang="en-US" dirty="0"/>
              <a:t>变化密度</a:t>
            </a:r>
            <a:endParaRPr lang="en-US" altLang="zh-CN" dirty="0"/>
          </a:p>
          <a:p>
            <a:pPr lvl="1"/>
            <a:r>
              <a:rPr lang="zh-CN" altLang="en-US" dirty="0"/>
              <a:t>高维数据</a:t>
            </a:r>
            <a:endParaRPr lang="en-US" altLang="zh-CN" dirty="0"/>
          </a:p>
          <a:p>
            <a:pPr lvl="1"/>
            <a:endParaRPr lang="en-US" altLang="zh-CN" dirty="0"/>
          </a:p>
        </p:txBody>
      </p:sp>
    </p:spTree>
    <p:extLst>
      <p:ext uri="{BB962C8B-B14F-4D97-AF65-F5344CB8AC3E}">
        <p14:creationId xmlns:p14="http://schemas.microsoft.com/office/powerpoint/2010/main" val="36534142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直接连接符 9"/>
          <p:cNvCxnSpPr/>
          <p:nvPr/>
        </p:nvCxnSpPr>
        <p:spPr>
          <a:xfrm>
            <a:off x="755576" y="6669360"/>
            <a:ext cx="8162925" cy="0"/>
          </a:xfrm>
          <a:prstGeom prst="line">
            <a:avLst/>
          </a:prstGeom>
          <a:ln w="254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Box 1"/>
          <p:cNvSpPr txBox="1">
            <a:spLocks noGrp="1" noChangeArrowheads="1"/>
          </p:cNvSpPr>
          <p:nvPr>
            <p:ph type="title"/>
          </p:nvPr>
        </p:nvSpPr>
        <p:spPr bwMode="auto">
          <a:xfrm>
            <a:off x="434975" y="184572"/>
            <a:ext cx="8229600" cy="551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b="1">
                <a:solidFill>
                  <a:schemeClr val="tx1"/>
                </a:solidFill>
                <a:latin typeface="Times New Roman" pitchFamily="18" charset="0"/>
                <a:ea typeface="华文中宋" pitchFamily="2" charset="-122"/>
              </a:defRPr>
            </a:lvl1pPr>
            <a:lvl2pPr marL="742950" indent="-285750" eaLnBrk="0" hangingPunct="0">
              <a:defRPr kumimoji="1" b="1">
                <a:solidFill>
                  <a:schemeClr val="tx1"/>
                </a:solidFill>
                <a:latin typeface="Times New Roman" pitchFamily="18" charset="0"/>
                <a:ea typeface="华文中宋" pitchFamily="2" charset="-122"/>
              </a:defRPr>
            </a:lvl2pPr>
            <a:lvl3pPr marL="1143000" indent="-228600" eaLnBrk="0" hangingPunct="0">
              <a:defRPr kumimoji="1" b="1">
                <a:solidFill>
                  <a:schemeClr val="tx1"/>
                </a:solidFill>
                <a:latin typeface="Times New Roman" pitchFamily="18" charset="0"/>
                <a:ea typeface="华文中宋" pitchFamily="2" charset="-122"/>
              </a:defRPr>
            </a:lvl3pPr>
            <a:lvl4pPr marL="1600200" indent="-228600" eaLnBrk="0" hangingPunct="0">
              <a:defRPr kumimoji="1" b="1">
                <a:solidFill>
                  <a:schemeClr val="tx1"/>
                </a:solidFill>
                <a:latin typeface="Times New Roman" pitchFamily="18" charset="0"/>
                <a:ea typeface="华文中宋" pitchFamily="2" charset="-122"/>
              </a:defRPr>
            </a:lvl4pPr>
            <a:lvl5pPr marL="2057400" indent="-228600" eaLnBrk="0" hangingPunct="0">
              <a:defRPr kumimoji="1" b="1">
                <a:solidFill>
                  <a:schemeClr val="tx1"/>
                </a:solidFill>
                <a:latin typeface="Times New Roman" pitchFamily="18" charset="0"/>
                <a:ea typeface="华文中宋" pitchFamily="2" charset="-122"/>
              </a:defRPr>
            </a:lvl5pPr>
            <a:lvl6pPr marL="25146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6pPr>
            <a:lvl7pPr marL="29718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7pPr>
            <a:lvl8pPr marL="34290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8pPr>
            <a:lvl9pPr marL="38862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9pPr>
          </a:lstStyle>
          <a:p>
            <a:pPr algn="ctr" eaLnBrk="1" hangingPunct="1"/>
            <a:r>
              <a:rPr lang="zh-CN" altLang="en-US" sz="3200" dirty="0">
                <a:latin typeface="黑体" pitchFamily="2" charset="-122"/>
                <a:ea typeface="黑体" pitchFamily="2" charset="-122"/>
              </a:rPr>
              <a:t>聚类算法</a:t>
            </a:r>
            <a:r>
              <a:rPr lang="zh-CN" altLang="en-US" sz="3200" dirty="0">
                <a:solidFill>
                  <a:srgbClr val="FF0000"/>
                </a:solidFill>
                <a:latin typeface="黑体" pitchFamily="2" charset="-122"/>
                <a:ea typeface="黑体" pitchFamily="2" charset="-122"/>
              </a:rPr>
              <a:t>之谱聚类</a:t>
            </a:r>
          </a:p>
        </p:txBody>
      </p:sp>
      <p:sp>
        <p:nvSpPr>
          <p:cNvPr id="2" name="灯片编号占位符 1">
            <a:extLst>
              <a:ext uri="{FF2B5EF4-FFF2-40B4-BE49-F238E27FC236}">
                <a16:creationId xmlns:a16="http://schemas.microsoft.com/office/drawing/2014/main" id="{10DC6D4D-60EE-4AFC-B29F-4F0DF1C6BCB9}"/>
              </a:ext>
            </a:extLst>
          </p:cNvPr>
          <p:cNvSpPr>
            <a:spLocks noGrp="1"/>
          </p:cNvSpPr>
          <p:nvPr>
            <p:ph type="sldNum" sz="quarter" idx="12"/>
          </p:nvPr>
        </p:nvSpPr>
        <p:spPr/>
        <p:txBody>
          <a:bodyPr/>
          <a:lstStyle/>
          <a:p>
            <a:fld id="{0C913308-F349-4B6D-A68A-DD1791B4A57B}" type="slidenum">
              <a:rPr lang="zh-CN" altLang="en-US" smtClean="0"/>
              <a:t>16</a:t>
            </a:fld>
            <a:endParaRPr lang="zh-CN" altLang="en-US"/>
          </a:p>
        </p:txBody>
      </p:sp>
      <p:sp>
        <p:nvSpPr>
          <p:cNvPr id="3" name="矩形 2">
            <a:extLst>
              <a:ext uri="{FF2B5EF4-FFF2-40B4-BE49-F238E27FC236}">
                <a16:creationId xmlns:a16="http://schemas.microsoft.com/office/drawing/2014/main" id="{540EC105-E72E-46FE-BADE-525C27723B6E}"/>
              </a:ext>
            </a:extLst>
          </p:cNvPr>
          <p:cNvSpPr/>
          <p:nvPr/>
        </p:nvSpPr>
        <p:spPr>
          <a:xfrm>
            <a:off x="323528" y="920230"/>
            <a:ext cx="8229600" cy="2308324"/>
          </a:xfrm>
          <a:prstGeom prst="rect">
            <a:avLst/>
          </a:prstGeom>
        </p:spPr>
        <p:txBody>
          <a:bodyPr wrap="square">
            <a:spAutoFit/>
          </a:bodyPr>
          <a:lstStyle/>
          <a:p>
            <a:r>
              <a:rPr lang="zh-CN" altLang="en-US" sz="24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谱聚类</a:t>
            </a:r>
            <a:r>
              <a:rPr lang="en-US" altLang="zh-CN" sz="24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(Spectral Clustering, SC)</a:t>
            </a:r>
            <a:r>
              <a:rPr lang="zh-CN" altLang="en-US"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是一种基于图论的聚类方法</a:t>
            </a:r>
            <a:r>
              <a:rPr lang="en-US" altLang="zh-CN"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en-US"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将</a:t>
            </a:r>
            <a:r>
              <a:rPr lang="zh-CN" altLang="en-US" sz="24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带权无向图</a:t>
            </a:r>
            <a:r>
              <a:rPr lang="zh-CN" altLang="en-US"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划分为两个或两个以上的最优子图，使子图内部尽量相似，而子图间距离尽量距离较远，以达到聚类的目的。其中的最优是指最优目标函数不同，可以是割边最小分割（</a:t>
            </a:r>
            <a:r>
              <a:rPr lang="en-US" altLang="zh-CN"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Smallest cut</a:t>
            </a:r>
            <a:r>
              <a:rPr lang="zh-CN" altLang="en-US"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），也可以是分割规模差不多且割边最小的分割（</a:t>
            </a:r>
            <a:r>
              <a:rPr lang="en-US" altLang="zh-CN"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Best cut</a:t>
            </a:r>
            <a:r>
              <a:rPr lang="zh-CN" altLang="en-US"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endParaRPr lang="zh-CN" altLang="en-US" sz="2400" dirty="0">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5" name="图片 4">
            <a:extLst>
              <a:ext uri="{FF2B5EF4-FFF2-40B4-BE49-F238E27FC236}">
                <a16:creationId xmlns:a16="http://schemas.microsoft.com/office/drawing/2014/main" id="{BD4C7A58-EBB2-43FB-A399-B5926F5D805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64630" y="3350058"/>
            <a:ext cx="5614739" cy="3197798"/>
          </a:xfrm>
          <a:prstGeom prst="rect">
            <a:avLst/>
          </a:prstGeom>
        </p:spPr>
      </p:pic>
    </p:spTree>
    <p:extLst>
      <p:ext uri="{BB962C8B-B14F-4D97-AF65-F5344CB8AC3E}">
        <p14:creationId xmlns:p14="http://schemas.microsoft.com/office/powerpoint/2010/main" val="20397465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直接连接符 9"/>
          <p:cNvCxnSpPr/>
          <p:nvPr/>
        </p:nvCxnSpPr>
        <p:spPr>
          <a:xfrm>
            <a:off x="755576" y="6669360"/>
            <a:ext cx="8162925" cy="0"/>
          </a:xfrm>
          <a:prstGeom prst="line">
            <a:avLst/>
          </a:prstGeom>
          <a:ln w="254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Box 1"/>
          <p:cNvSpPr txBox="1">
            <a:spLocks noGrp="1" noChangeArrowheads="1"/>
          </p:cNvSpPr>
          <p:nvPr>
            <p:ph type="title"/>
          </p:nvPr>
        </p:nvSpPr>
        <p:spPr bwMode="auto">
          <a:xfrm>
            <a:off x="434975" y="184572"/>
            <a:ext cx="8229600" cy="551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b="1">
                <a:solidFill>
                  <a:schemeClr val="tx1"/>
                </a:solidFill>
                <a:latin typeface="Times New Roman" pitchFamily="18" charset="0"/>
                <a:ea typeface="华文中宋" pitchFamily="2" charset="-122"/>
              </a:defRPr>
            </a:lvl1pPr>
            <a:lvl2pPr marL="742950" indent="-285750" eaLnBrk="0" hangingPunct="0">
              <a:defRPr kumimoji="1" b="1">
                <a:solidFill>
                  <a:schemeClr val="tx1"/>
                </a:solidFill>
                <a:latin typeface="Times New Roman" pitchFamily="18" charset="0"/>
                <a:ea typeface="华文中宋" pitchFamily="2" charset="-122"/>
              </a:defRPr>
            </a:lvl2pPr>
            <a:lvl3pPr marL="1143000" indent="-228600" eaLnBrk="0" hangingPunct="0">
              <a:defRPr kumimoji="1" b="1">
                <a:solidFill>
                  <a:schemeClr val="tx1"/>
                </a:solidFill>
                <a:latin typeface="Times New Roman" pitchFamily="18" charset="0"/>
                <a:ea typeface="华文中宋" pitchFamily="2" charset="-122"/>
              </a:defRPr>
            </a:lvl3pPr>
            <a:lvl4pPr marL="1600200" indent="-228600" eaLnBrk="0" hangingPunct="0">
              <a:defRPr kumimoji="1" b="1">
                <a:solidFill>
                  <a:schemeClr val="tx1"/>
                </a:solidFill>
                <a:latin typeface="Times New Roman" pitchFamily="18" charset="0"/>
                <a:ea typeface="华文中宋" pitchFamily="2" charset="-122"/>
              </a:defRPr>
            </a:lvl4pPr>
            <a:lvl5pPr marL="2057400" indent="-228600" eaLnBrk="0" hangingPunct="0">
              <a:defRPr kumimoji="1" b="1">
                <a:solidFill>
                  <a:schemeClr val="tx1"/>
                </a:solidFill>
                <a:latin typeface="Times New Roman" pitchFamily="18" charset="0"/>
                <a:ea typeface="华文中宋" pitchFamily="2" charset="-122"/>
              </a:defRPr>
            </a:lvl5pPr>
            <a:lvl6pPr marL="25146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6pPr>
            <a:lvl7pPr marL="29718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7pPr>
            <a:lvl8pPr marL="34290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8pPr>
            <a:lvl9pPr marL="38862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9pPr>
          </a:lstStyle>
          <a:p>
            <a:pPr algn="ctr" eaLnBrk="1" hangingPunct="1"/>
            <a:r>
              <a:rPr lang="zh-CN" altLang="en-US" sz="3200" dirty="0">
                <a:latin typeface="黑体" pitchFamily="2" charset="-122"/>
                <a:ea typeface="黑体" pitchFamily="2" charset="-122"/>
              </a:rPr>
              <a:t>聚类算法</a:t>
            </a:r>
            <a:r>
              <a:rPr lang="zh-CN" altLang="en-US" sz="3200" dirty="0">
                <a:solidFill>
                  <a:srgbClr val="FF0000"/>
                </a:solidFill>
                <a:latin typeface="黑体" pitchFamily="2" charset="-122"/>
                <a:ea typeface="黑体" pitchFamily="2" charset="-122"/>
              </a:rPr>
              <a:t>之谱聚类</a:t>
            </a:r>
          </a:p>
        </p:txBody>
      </p:sp>
      <p:sp>
        <p:nvSpPr>
          <p:cNvPr id="2" name="灯片编号占位符 1">
            <a:extLst>
              <a:ext uri="{FF2B5EF4-FFF2-40B4-BE49-F238E27FC236}">
                <a16:creationId xmlns:a16="http://schemas.microsoft.com/office/drawing/2014/main" id="{10DC6D4D-60EE-4AFC-B29F-4F0DF1C6BCB9}"/>
              </a:ext>
            </a:extLst>
          </p:cNvPr>
          <p:cNvSpPr>
            <a:spLocks noGrp="1"/>
          </p:cNvSpPr>
          <p:nvPr>
            <p:ph type="sldNum" sz="quarter" idx="12"/>
          </p:nvPr>
        </p:nvSpPr>
        <p:spPr/>
        <p:txBody>
          <a:bodyPr/>
          <a:lstStyle/>
          <a:p>
            <a:fld id="{0C913308-F349-4B6D-A68A-DD1791B4A57B}" type="slidenum">
              <a:rPr lang="zh-CN" altLang="en-US" smtClean="0"/>
              <a:t>17</a:t>
            </a:fld>
            <a:endParaRPr lang="zh-CN" altLang="en-US"/>
          </a:p>
        </p:txBody>
      </p:sp>
      <p:sp>
        <p:nvSpPr>
          <p:cNvPr id="3" name="矩形 2">
            <a:extLst>
              <a:ext uri="{FF2B5EF4-FFF2-40B4-BE49-F238E27FC236}">
                <a16:creationId xmlns:a16="http://schemas.microsoft.com/office/drawing/2014/main" id="{540EC105-E72E-46FE-BADE-525C27723B6E}"/>
              </a:ext>
            </a:extLst>
          </p:cNvPr>
          <p:cNvSpPr/>
          <p:nvPr/>
        </p:nvSpPr>
        <p:spPr>
          <a:xfrm>
            <a:off x="323528" y="920230"/>
            <a:ext cx="8229600" cy="3785652"/>
          </a:xfrm>
          <a:prstGeom prst="rect">
            <a:avLst/>
          </a:prstGeom>
        </p:spPr>
        <p:txBody>
          <a:bodyPr wrap="square">
            <a:spAutoFit/>
          </a:bodyPr>
          <a:lstStyle/>
          <a:p>
            <a:pPr marL="342900" indent="-342900" algn="just">
              <a:buFont typeface="Wingdings" panose="05000000000000000000" pitchFamily="2" charset="2"/>
              <a:buChar char="p"/>
            </a:pPr>
            <a:r>
              <a:rPr lang="zh-CN" altLang="en-US" sz="2400" b="1" u="sng" dirty="0">
                <a:latin typeface="Times New Roman" panose="02020603050405020304" pitchFamily="18" charset="0"/>
                <a:ea typeface="黑体" panose="02010609060101010101" pitchFamily="49" charset="-122"/>
                <a:cs typeface="Times New Roman" panose="02020603050405020304" pitchFamily="18" charset="0"/>
              </a:rPr>
              <a:t>无向权重图</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对于一个图</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G</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，我们一般用点的集合</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V</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和边的集合</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E</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来描述。即为</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G(V,E)</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。其中</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V</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即为我们数据集里面所有的点</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 (v_1,v_2,...v_{m})</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E</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为连接顶点之间的边。</a:t>
            </a:r>
            <a:endParaRPr lang="en-US" altLang="zh-CN" sz="2400" dirty="0">
              <a:latin typeface="Times New Roman" panose="02020603050405020304" pitchFamily="18" charset="0"/>
              <a:ea typeface="黑体" panose="02010609060101010101" pitchFamily="49" charset="-122"/>
              <a:cs typeface="Times New Roman" panose="02020603050405020304" pitchFamily="18" charset="0"/>
            </a:endParaRPr>
          </a:p>
          <a:p>
            <a:pPr marL="342900" indent="-342900" algn="just">
              <a:buFont typeface="Wingdings" panose="05000000000000000000" pitchFamily="2" charset="2"/>
              <a:buChar char="p"/>
            </a:pPr>
            <a:endParaRPr lang="en-US" altLang="zh-CN" sz="2400" dirty="0">
              <a:latin typeface="Times New Roman" panose="02020603050405020304" pitchFamily="18" charset="0"/>
              <a:ea typeface="黑体" panose="02010609060101010101" pitchFamily="49" charset="-122"/>
              <a:cs typeface="Times New Roman" panose="02020603050405020304" pitchFamily="18" charset="0"/>
            </a:endParaRPr>
          </a:p>
          <a:p>
            <a:pPr marL="342900" indent="-342900" algn="just">
              <a:buFont typeface="Wingdings" panose="05000000000000000000" pitchFamily="2" charset="2"/>
              <a:buChar char="p"/>
            </a:pPr>
            <a:endParaRPr lang="en-US" altLang="zh-CN" sz="2400" dirty="0">
              <a:latin typeface="Times New Roman" panose="02020603050405020304" pitchFamily="18" charset="0"/>
              <a:ea typeface="黑体" panose="02010609060101010101" pitchFamily="49" charset="-122"/>
              <a:cs typeface="Times New Roman" panose="02020603050405020304" pitchFamily="18" charset="0"/>
            </a:endParaRPr>
          </a:p>
          <a:p>
            <a:pPr marL="342900" indent="-342900" algn="just">
              <a:buFont typeface="Wingdings" panose="05000000000000000000" pitchFamily="2" charset="2"/>
              <a:buChar char="p"/>
            </a:pPr>
            <a:r>
              <a:rPr lang="zh-CN" altLang="en-US" sz="2400" b="1" u="sng" dirty="0">
                <a:latin typeface="Times New Roman" panose="02020603050405020304" pitchFamily="18" charset="0"/>
                <a:ea typeface="黑体" panose="02010609060101010101" pitchFamily="49" charset="-122"/>
                <a:cs typeface="Times New Roman" panose="02020603050405020304" pitchFamily="18" charset="0"/>
              </a:rPr>
              <a:t>邻接矩阵</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图上节点之间的关系，构建一个邻接矩阵来描述</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m</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个节点之间的相似性：</a:t>
            </a:r>
            <a:endParaRPr lang="en-US" altLang="zh-CN" sz="2400" dirty="0">
              <a:latin typeface="Times New Roman" panose="02020603050405020304" pitchFamily="18" charset="0"/>
              <a:ea typeface="黑体" panose="02010609060101010101" pitchFamily="49" charset="-122"/>
              <a:cs typeface="Times New Roman" panose="02020603050405020304" pitchFamily="18" charset="0"/>
            </a:endParaRPr>
          </a:p>
          <a:p>
            <a:pPr marL="342900" indent="-342900" algn="just">
              <a:buFont typeface="Wingdings" panose="05000000000000000000" pitchFamily="2" charset="2"/>
              <a:buChar char="p"/>
            </a:pPr>
            <a:endParaRPr lang="en-US" altLang="zh-CN" sz="2400" dirty="0">
              <a:latin typeface="Times New Roman" panose="02020603050405020304" pitchFamily="18" charset="0"/>
              <a:ea typeface="黑体" panose="02010609060101010101" pitchFamily="49" charset="-122"/>
              <a:cs typeface="Times New Roman" panose="02020603050405020304" pitchFamily="18" charset="0"/>
            </a:endParaRPr>
          </a:p>
          <a:p>
            <a:pPr algn="just"/>
            <a:endParaRPr lang="en-US" altLang="zh-CN" sz="2400" dirty="0">
              <a:latin typeface="Times New Roman" panose="02020603050405020304" pitchFamily="18" charset="0"/>
              <a:ea typeface="黑体" panose="02010609060101010101" pitchFamily="49" charset="-122"/>
              <a:cs typeface="Times New Roman" panose="02020603050405020304" pitchFamily="18" charset="0"/>
            </a:endParaRPr>
          </a:p>
          <a:p>
            <a:pPr algn="just"/>
            <a:endParaRPr lang="en-US" altLang="zh-CN" sz="2400" dirty="0">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4" name="图片 3">
            <a:extLst>
              <a:ext uri="{FF2B5EF4-FFF2-40B4-BE49-F238E27FC236}">
                <a16:creationId xmlns:a16="http://schemas.microsoft.com/office/drawing/2014/main" id="{10149E5E-982A-4951-B35A-260240DB5747}"/>
              </a:ext>
            </a:extLst>
          </p:cNvPr>
          <p:cNvPicPr>
            <a:picLocks noChangeAspect="1"/>
          </p:cNvPicPr>
          <p:nvPr/>
        </p:nvPicPr>
        <p:blipFill>
          <a:blip r:embed="rId3"/>
          <a:stretch>
            <a:fillRect/>
          </a:stretch>
        </p:blipFill>
        <p:spPr>
          <a:xfrm>
            <a:off x="2637414" y="3866829"/>
            <a:ext cx="3869171" cy="1678106"/>
          </a:xfrm>
          <a:prstGeom prst="rect">
            <a:avLst/>
          </a:prstGeom>
        </p:spPr>
      </p:pic>
    </p:spTree>
    <p:extLst>
      <p:ext uri="{BB962C8B-B14F-4D97-AF65-F5344CB8AC3E}">
        <p14:creationId xmlns:p14="http://schemas.microsoft.com/office/powerpoint/2010/main" val="3352396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直接连接符 9"/>
          <p:cNvCxnSpPr/>
          <p:nvPr/>
        </p:nvCxnSpPr>
        <p:spPr>
          <a:xfrm>
            <a:off x="755576" y="6669360"/>
            <a:ext cx="8162925" cy="0"/>
          </a:xfrm>
          <a:prstGeom prst="line">
            <a:avLst/>
          </a:prstGeom>
          <a:ln w="254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Box 1"/>
          <p:cNvSpPr txBox="1">
            <a:spLocks noGrp="1" noChangeArrowheads="1"/>
          </p:cNvSpPr>
          <p:nvPr>
            <p:ph type="title"/>
          </p:nvPr>
        </p:nvSpPr>
        <p:spPr bwMode="auto">
          <a:xfrm>
            <a:off x="434975" y="184572"/>
            <a:ext cx="8229600" cy="551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b="1">
                <a:solidFill>
                  <a:schemeClr val="tx1"/>
                </a:solidFill>
                <a:latin typeface="Times New Roman" pitchFamily="18" charset="0"/>
                <a:ea typeface="华文中宋" pitchFamily="2" charset="-122"/>
              </a:defRPr>
            </a:lvl1pPr>
            <a:lvl2pPr marL="742950" indent="-285750" eaLnBrk="0" hangingPunct="0">
              <a:defRPr kumimoji="1" b="1">
                <a:solidFill>
                  <a:schemeClr val="tx1"/>
                </a:solidFill>
                <a:latin typeface="Times New Roman" pitchFamily="18" charset="0"/>
                <a:ea typeface="华文中宋" pitchFamily="2" charset="-122"/>
              </a:defRPr>
            </a:lvl2pPr>
            <a:lvl3pPr marL="1143000" indent="-228600" eaLnBrk="0" hangingPunct="0">
              <a:defRPr kumimoji="1" b="1">
                <a:solidFill>
                  <a:schemeClr val="tx1"/>
                </a:solidFill>
                <a:latin typeface="Times New Roman" pitchFamily="18" charset="0"/>
                <a:ea typeface="华文中宋" pitchFamily="2" charset="-122"/>
              </a:defRPr>
            </a:lvl3pPr>
            <a:lvl4pPr marL="1600200" indent="-228600" eaLnBrk="0" hangingPunct="0">
              <a:defRPr kumimoji="1" b="1">
                <a:solidFill>
                  <a:schemeClr val="tx1"/>
                </a:solidFill>
                <a:latin typeface="Times New Roman" pitchFamily="18" charset="0"/>
                <a:ea typeface="华文中宋" pitchFamily="2" charset="-122"/>
              </a:defRPr>
            </a:lvl4pPr>
            <a:lvl5pPr marL="2057400" indent="-228600" eaLnBrk="0" hangingPunct="0">
              <a:defRPr kumimoji="1" b="1">
                <a:solidFill>
                  <a:schemeClr val="tx1"/>
                </a:solidFill>
                <a:latin typeface="Times New Roman" pitchFamily="18" charset="0"/>
                <a:ea typeface="华文中宋" pitchFamily="2" charset="-122"/>
              </a:defRPr>
            </a:lvl5pPr>
            <a:lvl6pPr marL="25146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6pPr>
            <a:lvl7pPr marL="29718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7pPr>
            <a:lvl8pPr marL="34290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8pPr>
            <a:lvl9pPr marL="38862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9pPr>
          </a:lstStyle>
          <a:p>
            <a:pPr algn="ctr" eaLnBrk="1" hangingPunct="1"/>
            <a:r>
              <a:rPr lang="zh-CN" altLang="en-US" sz="3200" dirty="0">
                <a:latin typeface="黑体" pitchFamily="2" charset="-122"/>
                <a:ea typeface="黑体" pitchFamily="2" charset="-122"/>
              </a:rPr>
              <a:t>聚类算法</a:t>
            </a:r>
            <a:r>
              <a:rPr lang="zh-CN" altLang="en-US" sz="3200" dirty="0">
                <a:solidFill>
                  <a:srgbClr val="FF0000"/>
                </a:solidFill>
                <a:latin typeface="黑体" pitchFamily="2" charset="-122"/>
                <a:ea typeface="黑体" pitchFamily="2" charset="-122"/>
              </a:rPr>
              <a:t>之谱聚类</a:t>
            </a:r>
            <a:r>
              <a:rPr lang="en-US" altLang="zh-CN" dirty="0">
                <a:solidFill>
                  <a:srgbClr val="FF0000"/>
                </a:solidFill>
                <a:latin typeface="黑体" pitchFamily="2" charset="-122"/>
                <a:ea typeface="黑体" pitchFamily="2" charset="-122"/>
              </a:rPr>
              <a:t>——</a:t>
            </a:r>
            <a:r>
              <a:rPr lang="zh-CN" altLang="en-US" sz="2400" dirty="0">
                <a:solidFill>
                  <a:srgbClr val="FF0000"/>
                </a:solidFill>
                <a:latin typeface="黑体" pitchFamily="2" charset="-122"/>
                <a:ea typeface="黑体" pitchFamily="2" charset="-122"/>
              </a:rPr>
              <a:t>邻接矩阵构建</a:t>
            </a:r>
            <a:endParaRPr lang="zh-CN" altLang="en-US" sz="3200" dirty="0">
              <a:solidFill>
                <a:srgbClr val="FF0000"/>
              </a:solidFill>
              <a:latin typeface="黑体" pitchFamily="2" charset="-122"/>
              <a:ea typeface="黑体" pitchFamily="2" charset="-122"/>
            </a:endParaRPr>
          </a:p>
        </p:txBody>
      </p:sp>
      <p:sp>
        <p:nvSpPr>
          <p:cNvPr id="2" name="灯片编号占位符 1">
            <a:extLst>
              <a:ext uri="{FF2B5EF4-FFF2-40B4-BE49-F238E27FC236}">
                <a16:creationId xmlns:a16="http://schemas.microsoft.com/office/drawing/2014/main" id="{10DC6D4D-60EE-4AFC-B29F-4F0DF1C6BCB9}"/>
              </a:ext>
            </a:extLst>
          </p:cNvPr>
          <p:cNvSpPr>
            <a:spLocks noGrp="1"/>
          </p:cNvSpPr>
          <p:nvPr>
            <p:ph type="sldNum" sz="quarter" idx="12"/>
          </p:nvPr>
        </p:nvSpPr>
        <p:spPr/>
        <p:txBody>
          <a:bodyPr/>
          <a:lstStyle/>
          <a:p>
            <a:fld id="{0C913308-F349-4B6D-A68A-DD1791B4A57B}" type="slidenum">
              <a:rPr lang="zh-CN" altLang="en-US" smtClean="0"/>
              <a:t>18</a:t>
            </a:fld>
            <a:endParaRPr lang="zh-CN" altLang="en-US"/>
          </a:p>
        </p:txBody>
      </p:sp>
      <p:sp>
        <p:nvSpPr>
          <p:cNvPr id="3" name="矩形 2">
            <a:extLst>
              <a:ext uri="{FF2B5EF4-FFF2-40B4-BE49-F238E27FC236}">
                <a16:creationId xmlns:a16="http://schemas.microsoft.com/office/drawing/2014/main" id="{540EC105-E72E-46FE-BADE-525C27723B6E}"/>
              </a:ext>
            </a:extLst>
          </p:cNvPr>
          <p:cNvSpPr/>
          <p:nvPr/>
        </p:nvSpPr>
        <p:spPr>
          <a:xfrm>
            <a:off x="152400" y="1127301"/>
            <a:ext cx="8229600" cy="5262979"/>
          </a:xfrm>
          <a:prstGeom prst="rect">
            <a:avLst/>
          </a:prstGeom>
        </p:spPr>
        <p:txBody>
          <a:bodyPr wrap="square">
            <a:spAutoFit/>
          </a:bodyPr>
          <a:lstStyle/>
          <a:p>
            <a:pPr marL="800100" lvl="1" indent="-342900" algn="just">
              <a:buFont typeface="Wingdings" panose="05000000000000000000" pitchFamily="2" charset="2"/>
              <a:buChar char="p"/>
            </a:pP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ϵ </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邻域</a:t>
            </a:r>
            <a:endParaRPr lang="en-US" altLang="zh-CN" sz="2400" dirty="0">
              <a:latin typeface="Times New Roman" panose="02020603050405020304" pitchFamily="18" charset="0"/>
              <a:ea typeface="黑体" panose="02010609060101010101" pitchFamily="49" charset="-122"/>
              <a:cs typeface="Times New Roman" panose="02020603050405020304" pitchFamily="18" charset="0"/>
            </a:endParaRPr>
          </a:p>
          <a:p>
            <a:pPr marL="800100" lvl="1" indent="-342900" algn="just">
              <a:buFont typeface="Wingdings" panose="05000000000000000000" pitchFamily="2" charset="2"/>
              <a:buChar char="p"/>
            </a:pPr>
            <a:endParaRPr lang="en-US" altLang="zh-CN" sz="2400" dirty="0">
              <a:latin typeface="Times New Roman" panose="02020603050405020304" pitchFamily="18" charset="0"/>
              <a:ea typeface="黑体" panose="02010609060101010101" pitchFamily="49" charset="-122"/>
              <a:cs typeface="Times New Roman" panose="02020603050405020304" pitchFamily="18" charset="0"/>
            </a:endParaRPr>
          </a:p>
          <a:p>
            <a:pPr marL="800100" lvl="1" indent="-342900" algn="just">
              <a:buFont typeface="Wingdings" panose="05000000000000000000" pitchFamily="2" charset="2"/>
              <a:buChar char="p"/>
            </a:pPr>
            <a:endParaRPr lang="en-US" altLang="zh-CN" sz="2400" dirty="0">
              <a:latin typeface="Times New Roman" panose="02020603050405020304" pitchFamily="18" charset="0"/>
              <a:ea typeface="黑体" panose="02010609060101010101" pitchFamily="49" charset="-122"/>
              <a:cs typeface="Times New Roman" panose="02020603050405020304" pitchFamily="18" charset="0"/>
            </a:endParaRPr>
          </a:p>
          <a:p>
            <a:pPr marL="800100" lvl="1" indent="-342900" algn="just">
              <a:buFont typeface="Wingdings" panose="05000000000000000000" pitchFamily="2" charset="2"/>
              <a:buChar char="p"/>
            </a:pPr>
            <a:endParaRPr lang="en-US" altLang="zh-CN" sz="2400" dirty="0">
              <a:latin typeface="Times New Roman" panose="02020603050405020304" pitchFamily="18" charset="0"/>
              <a:ea typeface="黑体" panose="02010609060101010101" pitchFamily="49" charset="-122"/>
              <a:cs typeface="Times New Roman" panose="02020603050405020304" pitchFamily="18" charset="0"/>
            </a:endParaRPr>
          </a:p>
          <a:p>
            <a:pPr lvl="1" algn="just"/>
            <a:endParaRPr lang="en-US" altLang="zh-CN" sz="2400" dirty="0">
              <a:latin typeface="Times New Roman" panose="02020603050405020304" pitchFamily="18" charset="0"/>
              <a:ea typeface="黑体" panose="02010609060101010101" pitchFamily="49" charset="-122"/>
              <a:cs typeface="Times New Roman" panose="02020603050405020304" pitchFamily="18" charset="0"/>
            </a:endParaRPr>
          </a:p>
          <a:p>
            <a:pPr marL="800100" lvl="1" indent="-342900" algn="just">
              <a:buFont typeface="Wingdings" panose="05000000000000000000" pitchFamily="2" charset="2"/>
              <a:buChar char="p"/>
            </a:pP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k</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近邻图</a:t>
            </a:r>
            <a:endParaRPr lang="en-US" altLang="zh-CN" sz="2400" dirty="0">
              <a:latin typeface="Times New Roman" panose="02020603050405020304" pitchFamily="18" charset="0"/>
              <a:ea typeface="黑体" panose="02010609060101010101" pitchFamily="49" charset="-122"/>
              <a:cs typeface="Times New Roman" panose="02020603050405020304" pitchFamily="18" charset="0"/>
            </a:endParaRPr>
          </a:p>
          <a:p>
            <a:pPr marL="800100" lvl="1" indent="-342900" algn="just">
              <a:buFont typeface="Wingdings" panose="05000000000000000000" pitchFamily="2" charset="2"/>
              <a:buChar char="p"/>
            </a:pPr>
            <a:endParaRPr lang="en-US" altLang="zh-CN" sz="2400" dirty="0">
              <a:latin typeface="Times New Roman" panose="02020603050405020304" pitchFamily="18" charset="0"/>
              <a:ea typeface="黑体" panose="02010609060101010101" pitchFamily="49" charset="-122"/>
              <a:cs typeface="Times New Roman" panose="02020603050405020304" pitchFamily="18" charset="0"/>
            </a:endParaRPr>
          </a:p>
          <a:p>
            <a:pPr marL="800100" lvl="1" indent="-342900" algn="just">
              <a:buFont typeface="Wingdings" panose="05000000000000000000" pitchFamily="2" charset="2"/>
              <a:buChar char="p"/>
            </a:pPr>
            <a:endParaRPr lang="en-US" altLang="zh-CN" sz="2400" dirty="0">
              <a:latin typeface="Times New Roman" panose="02020603050405020304" pitchFamily="18" charset="0"/>
              <a:ea typeface="黑体" panose="02010609060101010101" pitchFamily="49" charset="-122"/>
              <a:cs typeface="Times New Roman" panose="02020603050405020304" pitchFamily="18" charset="0"/>
            </a:endParaRPr>
          </a:p>
          <a:p>
            <a:pPr marL="800100" lvl="1" indent="-342900" algn="just">
              <a:buFont typeface="Wingdings" panose="05000000000000000000" pitchFamily="2" charset="2"/>
              <a:buChar char="p"/>
            </a:pPr>
            <a:endParaRPr lang="en-US" altLang="zh-CN" sz="2400" dirty="0">
              <a:latin typeface="Times New Roman" panose="02020603050405020304" pitchFamily="18" charset="0"/>
              <a:ea typeface="黑体" panose="02010609060101010101" pitchFamily="49" charset="-122"/>
              <a:cs typeface="Times New Roman" panose="02020603050405020304" pitchFamily="18" charset="0"/>
            </a:endParaRPr>
          </a:p>
          <a:p>
            <a:pPr marL="800100" lvl="1" indent="-342900" algn="just">
              <a:buFont typeface="Wingdings" panose="05000000000000000000" pitchFamily="2" charset="2"/>
              <a:buChar char="p"/>
            </a:pPr>
            <a:endParaRPr lang="en-US" altLang="zh-CN" sz="2400" dirty="0">
              <a:latin typeface="Times New Roman" panose="02020603050405020304" pitchFamily="18" charset="0"/>
              <a:ea typeface="黑体" panose="02010609060101010101" pitchFamily="49" charset="-122"/>
              <a:cs typeface="Times New Roman" panose="02020603050405020304" pitchFamily="18" charset="0"/>
            </a:endParaRPr>
          </a:p>
          <a:p>
            <a:pPr marL="800100" lvl="1" indent="-342900" algn="just">
              <a:buFont typeface="Wingdings" panose="05000000000000000000" pitchFamily="2" charset="2"/>
              <a:buChar char="p"/>
            </a:pPr>
            <a:endParaRPr lang="en-US" altLang="zh-CN" sz="2400" dirty="0">
              <a:latin typeface="Times New Roman" panose="02020603050405020304" pitchFamily="18" charset="0"/>
              <a:ea typeface="黑体" panose="02010609060101010101" pitchFamily="49" charset="-122"/>
              <a:cs typeface="Times New Roman" panose="02020603050405020304" pitchFamily="18" charset="0"/>
            </a:endParaRPr>
          </a:p>
          <a:p>
            <a:pPr marL="800100" lvl="1" indent="-342900" algn="just">
              <a:buFont typeface="Wingdings" panose="05000000000000000000" pitchFamily="2" charset="2"/>
              <a:buChar char="p"/>
            </a:pPr>
            <a:endParaRPr lang="en-US" altLang="zh-CN" sz="2400" dirty="0">
              <a:latin typeface="Times New Roman" panose="02020603050405020304" pitchFamily="18" charset="0"/>
              <a:ea typeface="黑体" panose="02010609060101010101" pitchFamily="49" charset="-122"/>
              <a:cs typeface="Times New Roman" panose="02020603050405020304" pitchFamily="18" charset="0"/>
            </a:endParaRPr>
          </a:p>
          <a:p>
            <a:pPr marL="800100" lvl="1" indent="-342900" algn="just">
              <a:buFont typeface="Wingdings" panose="05000000000000000000" pitchFamily="2" charset="2"/>
              <a:buChar char="p"/>
            </a:pPr>
            <a:endParaRPr lang="en-US" altLang="zh-CN" sz="2400" dirty="0">
              <a:latin typeface="Times New Roman" panose="02020603050405020304" pitchFamily="18" charset="0"/>
              <a:ea typeface="黑体" panose="02010609060101010101" pitchFamily="49" charset="-122"/>
              <a:cs typeface="Times New Roman" panose="02020603050405020304" pitchFamily="18" charset="0"/>
            </a:endParaRPr>
          </a:p>
          <a:p>
            <a:pPr marL="800100" lvl="1" indent="-342900" algn="just">
              <a:buFont typeface="Wingdings" panose="05000000000000000000" pitchFamily="2" charset="2"/>
              <a:buChar char="p"/>
            </a:pP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全连接图</a:t>
            </a:r>
            <a:endParaRPr lang="en-US" altLang="zh-CN" sz="2400" dirty="0">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112642" name="Picture 2" descr="preview">
            <a:extLst>
              <a:ext uri="{FF2B5EF4-FFF2-40B4-BE49-F238E27FC236}">
                <a16:creationId xmlns:a16="http://schemas.microsoft.com/office/drawing/2014/main" id="{F6E04AB2-7B7E-4E28-94B9-C6C652A869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41" y="1600200"/>
            <a:ext cx="9151289" cy="1364424"/>
          </a:xfrm>
          <a:prstGeom prst="rect">
            <a:avLst/>
          </a:prstGeom>
          <a:noFill/>
          <a:extLst>
            <a:ext uri="{909E8E84-426E-40DD-AFC4-6F175D3DCCD1}">
              <a14:hiddenFill xmlns:a14="http://schemas.microsoft.com/office/drawing/2010/main">
                <a:solidFill>
                  <a:srgbClr val="FFFFFF"/>
                </a:solidFill>
              </a14:hiddenFill>
            </a:ext>
          </a:extLst>
        </p:spPr>
      </p:pic>
      <p:pic>
        <p:nvPicPr>
          <p:cNvPr id="112644" name="Picture 4" descr="https://pic3.zhimg.com/80/v2-6e2d46ef56cdc6ea444c26cdb58b5d7a_1440w.jpg">
            <a:extLst>
              <a:ext uri="{FF2B5EF4-FFF2-40B4-BE49-F238E27FC236}">
                <a16:creationId xmlns:a16="http://schemas.microsoft.com/office/drawing/2014/main" id="{17C0E245-079D-443B-971E-A861E48E852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0" y="3363209"/>
            <a:ext cx="6610114" cy="24461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920435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直接连接符 9"/>
          <p:cNvCxnSpPr/>
          <p:nvPr/>
        </p:nvCxnSpPr>
        <p:spPr>
          <a:xfrm>
            <a:off x="755576" y="6669360"/>
            <a:ext cx="8162925" cy="0"/>
          </a:xfrm>
          <a:prstGeom prst="line">
            <a:avLst/>
          </a:prstGeom>
          <a:ln w="254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Box 1"/>
          <p:cNvSpPr txBox="1">
            <a:spLocks noGrp="1" noChangeArrowheads="1"/>
          </p:cNvSpPr>
          <p:nvPr>
            <p:ph type="title"/>
          </p:nvPr>
        </p:nvSpPr>
        <p:spPr bwMode="auto">
          <a:xfrm>
            <a:off x="434975" y="184572"/>
            <a:ext cx="8229600" cy="551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b="1">
                <a:solidFill>
                  <a:schemeClr val="tx1"/>
                </a:solidFill>
                <a:latin typeface="Times New Roman" pitchFamily="18" charset="0"/>
                <a:ea typeface="华文中宋" pitchFamily="2" charset="-122"/>
              </a:defRPr>
            </a:lvl1pPr>
            <a:lvl2pPr marL="742950" indent="-285750" eaLnBrk="0" hangingPunct="0">
              <a:defRPr kumimoji="1" b="1">
                <a:solidFill>
                  <a:schemeClr val="tx1"/>
                </a:solidFill>
                <a:latin typeface="Times New Roman" pitchFamily="18" charset="0"/>
                <a:ea typeface="华文中宋" pitchFamily="2" charset="-122"/>
              </a:defRPr>
            </a:lvl2pPr>
            <a:lvl3pPr marL="1143000" indent="-228600" eaLnBrk="0" hangingPunct="0">
              <a:defRPr kumimoji="1" b="1">
                <a:solidFill>
                  <a:schemeClr val="tx1"/>
                </a:solidFill>
                <a:latin typeface="Times New Roman" pitchFamily="18" charset="0"/>
                <a:ea typeface="华文中宋" pitchFamily="2" charset="-122"/>
              </a:defRPr>
            </a:lvl3pPr>
            <a:lvl4pPr marL="1600200" indent="-228600" eaLnBrk="0" hangingPunct="0">
              <a:defRPr kumimoji="1" b="1">
                <a:solidFill>
                  <a:schemeClr val="tx1"/>
                </a:solidFill>
                <a:latin typeface="Times New Roman" pitchFamily="18" charset="0"/>
                <a:ea typeface="华文中宋" pitchFamily="2" charset="-122"/>
              </a:defRPr>
            </a:lvl4pPr>
            <a:lvl5pPr marL="2057400" indent="-228600" eaLnBrk="0" hangingPunct="0">
              <a:defRPr kumimoji="1" b="1">
                <a:solidFill>
                  <a:schemeClr val="tx1"/>
                </a:solidFill>
                <a:latin typeface="Times New Roman" pitchFamily="18" charset="0"/>
                <a:ea typeface="华文中宋" pitchFamily="2" charset="-122"/>
              </a:defRPr>
            </a:lvl5pPr>
            <a:lvl6pPr marL="25146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6pPr>
            <a:lvl7pPr marL="29718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7pPr>
            <a:lvl8pPr marL="34290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8pPr>
            <a:lvl9pPr marL="38862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9pPr>
          </a:lstStyle>
          <a:p>
            <a:pPr algn="ctr" eaLnBrk="1" hangingPunct="1"/>
            <a:r>
              <a:rPr lang="zh-CN" altLang="en-US" sz="3200" dirty="0">
                <a:latin typeface="黑体" pitchFamily="2" charset="-122"/>
                <a:ea typeface="黑体" pitchFamily="2" charset="-122"/>
              </a:rPr>
              <a:t>聚类算法</a:t>
            </a:r>
            <a:r>
              <a:rPr lang="zh-CN" altLang="en-US" sz="3200" dirty="0">
                <a:solidFill>
                  <a:srgbClr val="FF0000"/>
                </a:solidFill>
                <a:latin typeface="黑体" pitchFamily="2" charset="-122"/>
                <a:ea typeface="黑体" pitchFamily="2" charset="-122"/>
              </a:rPr>
              <a:t>之谱聚类</a:t>
            </a:r>
          </a:p>
        </p:txBody>
      </p:sp>
      <p:sp>
        <p:nvSpPr>
          <p:cNvPr id="2" name="灯片编号占位符 1">
            <a:extLst>
              <a:ext uri="{FF2B5EF4-FFF2-40B4-BE49-F238E27FC236}">
                <a16:creationId xmlns:a16="http://schemas.microsoft.com/office/drawing/2014/main" id="{10DC6D4D-60EE-4AFC-B29F-4F0DF1C6BCB9}"/>
              </a:ext>
            </a:extLst>
          </p:cNvPr>
          <p:cNvSpPr>
            <a:spLocks noGrp="1"/>
          </p:cNvSpPr>
          <p:nvPr>
            <p:ph type="sldNum" sz="quarter" idx="12"/>
          </p:nvPr>
        </p:nvSpPr>
        <p:spPr/>
        <p:txBody>
          <a:bodyPr/>
          <a:lstStyle/>
          <a:p>
            <a:fld id="{0C913308-F349-4B6D-A68A-DD1791B4A57B}" type="slidenum">
              <a:rPr lang="zh-CN" altLang="en-US" smtClean="0"/>
              <a:t>19</a:t>
            </a:fld>
            <a:endParaRPr lang="zh-CN" altLang="en-US"/>
          </a:p>
        </p:txBody>
      </p:sp>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540EC105-E72E-46FE-BADE-525C27723B6E}"/>
                  </a:ext>
                </a:extLst>
              </p:cNvPr>
              <p:cNvSpPr/>
              <p:nvPr/>
            </p:nvSpPr>
            <p:spPr>
              <a:xfrm>
                <a:off x="323528" y="920230"/>
                <a:ext cx="8229600" cy="4613507"/>
              </a:xfrm>
              <a:prstGeom prst="rect">
                <a:avLst/>
              </a:prstGeom>
            </p:spPr>
            <p:txBody>
              <a:bodyPr wrap="square">
                <a:spAutoFit/>
              </a:bodyPr>
              <a:lstStyle/>
              <a:p>
                <a:pPr marL="342900" indent="-342900" algn="just">
                  <a:buFont typeface="Wingdings" panose="05000000000000000000" pitchFamily="2" charset="2"/>
                  <a:buChar char="p"/>
                </a:pPr>
                <a:endParaRPr lang="en-US" altLang="zh-CN" sz="2400" b="1" u="sng" dirty="0">
                  <a:latin typeface="Times New Roman" panose="02020603050405020304" pitchFamily="18" charset="0"/>
                  <a:ea typeface="黑体" panose="02010609060101010101" pitchFamily="49" charset="-122"/>
                  <a:cs typeface="Times New Roman" panose="02020603050405020304" pitchFamily="18" charset="0"/>
                </a:endParaRPr>
              </a:p>
              <a:p>
                <a:pPr marL="342900" indent="-342900" algn="just">
                  <a:buFont typeface="Wingdings" panose="05000000000000000000" pitchFamily="2" charset="2"/>
                  <a:buChar char="p"/>
                </a:pPr>
                <a:endParaRPr lang="en-US" altLang="zh-CN" sz="2400" u="sng" dirty="0">
                  <a:latin typeface="Times New Roman" panose="02020603050405020304" pitchFamily="18" charset="0"/>
                  <a:ea typeface="黑体" panose="02010609060101010101" pitchFamily="49" charset="-122"/>
                  <a:cs typeface="Times New Roman" panose="02020603050405020304" pitchFamily="18" charset="0"/>
                </a:endParaRPr>
              </a:p>
              <a:p>
                <a:pPr marL="342900" indent="-342900" algn="just">
                  <a:buFont typeface="Wingdings" panose="05000000000000000000" pitchFamily="2" charset="2"/>
                  <a:buChar char="p"/>
                </a:pPr>
                <a:endParaRPr lang="en-US" altLang="zh-CN" sz="2400" b="1" u="sng" dirty="0">
                  <a:latin typeface="Times New Roman" panose="02020603050405020304" pitchFamily="18" charset="0"/>
                  <a:ea typeface="黑体" panose="02010609060101010101" pitchFamily="49" charset="-122"/>
                  <a:cs typeface="Times New Roman" panose="02020603050405020304" pitchFamily="18" charset="0"/>
                </a:endParaRPr>
              </a:p>
              <a:p>
                <a:pPr marL="342900" indent="-342900" algn="just">
                  <a:buFont typeface="Wingdings" panose="05000000000000000000" pitchFamily="2" charset="2"/>
                  <a:buChar char="p"/>
                </a:pPr>
                <a:r>
                  <a:rPr lang="zh-CN" altLang="en-US" sz="2400" b="1" u="sng" dirty="0">
                    <a:latin typeface="Times New Roman" panose="02020603050405020304" pitchFamily="18" charset="0"/>
                    <a:ea typeface="黑体" panose="02010609060101010101" pitchFamily="49" charset="-122"/>
                    <a:cs typeface="Times New Roman" panose="02020603050405020304" pitchFamily="18" charset="0"/>
                  </a:rPr>
                  <a:t>度矩阵</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a:t>
                </a:r>
                <a:endParaRPr lang="en-US" altLang="zh-CN" sz="2400" dirty="0">
                  <a:latin typeface="Times New Roman" panose="02020603050405020304" pitchFamily="18" charset="0"/>
                  <a:ea typeface="黑体" panose="02010609060101010101" pitchFamily="49" charset="-122"/>
                  <a:cs typeface="Times New Roman" panose="02020603050405020304" pitchFamily="18" charset="0"/>
                </a:endParaRPr>
              </a:p>
              <a:p>
                <a:pPr marL="342900" indent="-342900" algn="just">
                  <a:buFont typeface="Wingdings" panose="05000000000000000000" pitchFamily="2" charset="2"/>
                  <a:buChar char="p"/>
                </a:pPr>
                <a:endParaRPr lang="en-US" altLang="zh-CN" sz="2400" dirty="0">
                  <a:latin typeface="Times New Roman" panose="02020603050405020304" pitchFamily="18" charset="0"/>
                  <a:ea typeface="黑体" panose="02010609060101010101" pitchFamily="49" charset="-122"/>
                  <a:cs typeface="Times New Roman" panose="02020603050405020304" pitchFamily="18" charset="0"/>
                </a:endParaRPr>
              </a:p>
              <a:p>
                <a:pPr marL="342900" indent="-342900" algn="just">
                  <a:buFont typeface="Wingdings" panose="05000000000000000000" pitchFamily="2" charset="2"/>
                  <a:buChar char="p"/>
                </a:pPr>
                <a:endParaRPr lang="en-US" altLang="zh-CN" sz="2400" dirty="0">
                  <a:latin typeface="Times New Roman" panose="02020603050405020304" pitchFamily="18" charset="0"/>
                  <a:ea typeface="黑体" panose="02010609060101010101" pitchFamily="49" charset="-122"/>
                  <a:cs typeface="Times New Roman" panose="02020603050405020304" pitchFamily="18" charset="0"/>
                </a:endParaRPr>
              </a:p>
              <a:p>
                <a:pPr marL="342900" indent="-342900" algn="just">
                  <a:buFont typeface="Wingdings" panose="05000000000000000000" pitchFamily="2" charset="2"/>
                  <a:buChar char="p"/>
                </a:pPr>
                <a:endParaRPr lang="en-US" altLang="zh-CN" sz="2400" dirty="0">
                  <a:latin typeface="Times New Roman" panose="02020603050405020304" pitchFamily="18" charset="0"/>
                  <a:ea typeface="黑体" panose="02010609060101010101" pitchFamily="49" charset="-122"/>
                  <a:cs typeface="Times New Roman" panose="02020603050405020304" pitchFamily="18" charset="0"/>
                </a:endParaRPr>
              </a:p>
              <a:p>
                <a:pPr marL="342900" indent="-342900" algn="just">
                  <a:buFont typeface="Wingdings" panose="05000000000000000000" pitchFamily="2" charset="2"/>
                  <a:buChar char="p"/>
                </a:pPr>
                <a:endParaRPr lang="en-US" altLang="zh-CN" sz="2400" dirty="0">
                  <a:latin typeface="Times New Roman" panose="02020603050405020304" pitchFamily="18" charset="0"/>
                  <a:ea typeface="黑体" panose="02010609060101010101" pitchFamily="49" charset="-122"/>
                  <a:cs typeface="Times New Roman" panose="02020603050405020304" pitchFamily="18" charset="0"/>
                </a:endParaRPr>
              </a:p>
              <a:p>
                <a:pPr marL="342900" indent="-342900" algn="just">
                  <a:buFont typeface="Wingdings" panose="05000000000000000000" pitchFamily="2" charset="2"/>
                  <a:buChar char="p"/>
                </a:pPr>
                <a:endParaRPr lang="en-US" altLang="zh-CN" sz="2400" dirty="0">
                  <a:latin typeface="Times New Roman" panose="02020603050405020304" pitchFamily="18" charset="0"/>
                  <a:ea typeface="黑体" panose="02010609060101010101" pitchFamily="49" charset="-122"/>
                  <a:cs typeface="Times New Roman" panose="02020603050405020304" pitchFamily="18" charset="0"/>
                </a:endParaRPr>
              </a:p>
              <a:p>
                <a:pPr marL="342900" indent="-342900" algn="just">
                  <a:buFont typeface="Wingdings" panose="05000000000000000000" pitchFamily="2" charset="2"/>
                  <a:buChar char="p"/>
                </a:pPr>
                <a:r>
                  <a:rPr lang="zh-CN" altLang="en-US" sz="2400" b="1" u="sng" dirty="0">
                    <a:latin typeface="Times New Roman" panose="02020603050405020304" pitchFamily="18" charset="0"/>
                    <a:ea typeface="黑体" panose="02010609060101010101" pitchFamily="49" charset="-122"/>
                    <a:cs typeface="Times New Roman" panose="02020603050405020304" pitchFamily="18" charset="0"/>
                  </a:rPr>
                  <a:t>拉普拉斯矩阵</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a:t>
                </a:r>
                <a:endParaRPr lang="en-US" altLang="zh-CN" sz="2400" b="1" dirty="0">
                  <a:latin typeface="Times New Roman" panose="02020603050405020304" pitchFamily="18" charset="0"/>
                  <a:ea typeface="黑体" panose="02010609060101010101" pitchFamily="49" charset="-122"/>
                  <a:cs typeface="Times New Roman" panose="02020603050405020304" pitchFamily="18" charset="0"/>
                </a:endParaRPr>
              </a:p>
              <a:p>
                <a:pPr marL="800100" lvl="1" indent="-342900" algn="just">
                  <a:buFont typeface="Wingdings" panose="05000000000000000000" pitchFamily="2" charset="2"/>
                  <a:buChar char="p"/>
                </a:pP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Mini cut </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或者 </a:t>
                </a:r>
                <a:r>
                  <a:rPr lang="en-US" altLang="zh-CN" sz="2400" dirty="0" err="1">
                    <a:latin typeface="Times New Roman" panose="02020603050405020304" pitchFamily="18" charset="0"/>
                    <a:ea typeface="黑体" panose="02010609060101010101" pitchFamily="49" charset="-122"/>
                    <a:cs typeface="Times New Roman" panose="02020603050405020304" pitchFamily="18" charset="0"/>
                  </a:rPr>
                  <a:t>ratiocut</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L=D-W</a:t>
                </a:r>
              </a:p>
              <a:p>
                <a:pPr marL="800100" lvl="1" indent="-342900" algn="just">
                  <a:buFont typeface="Wingdings" panose="05000000000000000000" pitchFamily="2" charset="2"/>
                  <a:buChar char="p"/>
                </a:pPr>
                <a:r>
                  <a:rPr lang="en-US" altLang="zh-CN" sz="2400" dirty="0" err="1">
                    <a:latin typeface="Times New Roman" panose="02020603050405020304" pitchFamily="18" charset="0"/>
                    <a:ea typeface="黑体" panose="02010609060101010101" pitchFamily="49" charset="-122"/>
                    <a:cs typeface="Times New Roman" panose="02020603050405020304" pitchFamily="18" charset="0"/>
                  </a:rPr>
                  <a:t>Normalizedcut</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 </a:t>
                </a:r>
                <a14:m>
                  <m:oMath xmlns:m="http://schemas.openxmlformats.org/officeDocument/2006/math">
                    <m:sSup>
                      <m:sSupPr>
                        <m:ctrlPr>
                          <a:rPr lang="en-US" altLang="zh-CN" sz="2400" b="1" i="1" smtClean="0">
                            <a:latin typeface="Cambria Math" panose="02040503050406030204" pitchFamily="18" charset="0"/>
                            <a:ea typeface="黑体" panose="02010609060101010101" pitchFamily="49" charset="-122"/>
                            <a:cs typeface="Times New Roman" panose="02020603050405020304" pitchFamily="18" charset="0"/>
                          </a:rPr>
                        </m:ctrlPr>
                      </m:sSupPr>
                      <m:e>
                        <m:r>
                          <a:rPr lang="en-US" altLang="zh-CN" sz="2400" b="1" i="1" smtClean="0">
                            <a:latin typeface="Cambria Math" panose="02040503050406030204" pitchFamily="18" charset="0"/>
                            <a:ea typeface="黑体" panose="02010609060101010101" pitchFamily="49" charset="-122"/>
                            <a:cs typeface="Times New Roman" panose="02020603050405020304" pitchFamily="18" charset="0"/>
                          </a:rPr>
                          <m:t>𝑳</m:t>
                        </m:r>
                      </m:e>
                      <m:sup>
                        <m:r>
                          <a:rPr lang="en-US" altLang="zh-CN" sz="2400" b="1" i="1" smtClean="0">
                            <a:latin typeface="Cambria Math" panose="02040503050406030204" pitchFamily="18" charset="0"/>
                            <a:ea typeface="黑体" panose="02010609060101010101" pitchFamily="49" charset="-122"/>
                            <a:cs typeface="Times New Roman" panose="02020603050405020304" pitchFamily="18" charset="0"/>
                          </a:rPr>
                          <m:t>′</m:t>
                        </m:r>
                      </m:sup>
                    </m:sSup>
                    <m:r>
                      <a:rPr lang="en-US" altLang="zh-CN" sz="2400" b="1" i="1" smtClean="0">
                        <a:latin typeface="Cambria Math" panose="02040503050406030204" pitchFamily="18" charset="0"/>
                        <a:ea typeface="黑体" panose="02010609060101010101" pitchFamily="49" charset="-122"/>
                        <a:cs typeface="Times New Roman" panose="02020603050405020304" pitchFamily="18" charset="0"/>
                      </a:rPr>
                      <m:t>=</m:t>
                    </m:r>
                    <m:sSup>
                      <m:sSupPr>
                        <m:ctrlPr>
                          <a:rPr lang="en-US" altLang="zh-CN" sz="2400" b="1" i="1" smtClean="0">
                            <a:latin typeface="Cambria Math" panose="02040503050406030204" pitchFamily="18" charset="0"/>
                            <a:ea typeface="黑体" panose="02010609060101010101" pitchFamily="49" charset="-122"/>
                            <a:cs typeface="Times New Roman" panose="02020603050405020304" pitchFamily="18" charset="0"/>
                          </a:rPr>
                        </m:ctrlPr>
                      </m:sSupPr>
                      <m:e>
                        <m:r>
                          <a:rPr lang="en-US" altLang="zh-CN" sz="2400" b="1" i="1" smtClean="0">
                            <a:latin typeface="Cambria Math" panose="02040503050406030204" pitchFamily="18" charset="0"/>
                            <a:ea typeface="黑体" panose="02010609060101010101" pitchFamily="49" charset="-122"/>
                            <a:cs typeface="Times New Roman" panose="02020603050405020304" pitchFamily="18" charset="0"/>
                          </a:rPr>
                          <m:t>𝑫</m:t>
                        </m:r>
                      </m:e>
                      <m:sup>
                        <m:r>
                          <a:rPr lang="en-US" altLang="zh-CN" sz="2400" b="1" i="1" smtClean="0">
                            <a:latin typeface="Cambria Math" panose="02040503050406030204" pitchFamily="18" charset="0"/>
                            <a:ea typeface="黑体" panose="02010609060101010101" pitchFamily="49" charset="-122"/>
                            <a:cs typeface="Times New Roman" panose="02020603050405020304" pitchFamily="18" charset="0"/>
                          </a:rPr>
                          <m:t>−</m:t>
                        </m:r>
                        <m:r>
                          <a:rPr lang="en-US" altLang="zh-CN" sz="2400" b="1" i="1" smtClean="0">
                            <a:latin typeface="Cambria Math" panose="02040503050406030204" pitchFamily="18" charset="0"/>
                            <a:ea typeface="黑体" panose="02010609060101010101" pitchFamily="49" charset="-122"/>
                            <a:cs typeface="Times New Roman" panose="02020603050405020304" pitchFamily="18" charset="0"/>
                          </a:rPr>
                          <m:t>𝟏</m:t>
                        </m:r>
                        <m:r>
                          <a:rPr lang="en-US" altLang="zh-CN" sz="2400" b="1" i="1" smtClean="0">
                            <a:latin typeface="Cambria Math" panose="02040503050406030204" pitchFamily="18" charset="0"/>
                            <a:ea typeface="黑体" panose="02010609060101010101" pitchFamily="49" charset="-122"/>
                            <a:cs typeface="Times New Roman" panose="02020603050405020304" pitchFamily="18" charset="0"/>
                          </a:rPr>
                          <m:t>/</m:t>
                        </m:r>
                        <m:r>
                          <a:rPr lang="en-US" altLang="zh-CN" sz="2400" b="1" i="1" smtClean="0">
                            <a:latin typeface="Cambria Math" panose="02040503050406030204" pitchFamily="18" charset="0"/>
                            <a:ea typeface="黑体" panose="02010609060101010101" pitchFamily="49" charset="-122"/>
                            <a:cs typeface="Times New Roman" panose="02020603050405020304" pitchFamily="18" charset="0"/>
                          </a:rPr>
                          <m:t>𝟐</m:t>
                        </m:r>
                      </m:sup>
                    </m:sSup>
                    <m:r>
                      <a:rPr lang="en-US" altLang="zh-CN" sz="2400" b="1" i="1" smtClean="0">
                        <a:latin typeface="Cambria Math" panose="02040503050406030204" pitchFamily="18" charset="0"/>
                        <a:ea typeface="黑体" panose="02010609060101010101" pitchFamily="49" charset="-122"/>
                        <a:cs typeface="Times New Roman" panose="02020603050405020304" pitchFamily="18" charset="0"/>
                      </a:rPr>
                      <m:t>𝑳</m:t>
                    </m:r>
                    <m:sSup>
                      <m:sSupPr>
                        <m:ctrlPr>
                          <a:rPr lang="en-US" altLang="zh-CN" sz="2400" i="1">
                            <a:latin typeface="Cambria Math" panose="02040503050406030204" pitchFamily="18" charset="0"/>
                            <a:ea typeface="黑体" panose="02010609060101010101" pitchFamily="49" charset="-122"/>
                            <a:cs typeface="Times New Roman" panose="02020603050405020304" pitchFamily="18" charset="0"/>
                          </a:rPr>
                        </m:ctrlPr>
                      </m:sSupPr>
                      <m:e>
                        <m:r>
                          <a:rPr lang="en-US" altLang="zh-CN" sz="2400" i="1">
                            <a:latin typeface="Cambria Math" panose="02040503050406030204" pitchFamily="18" charset="0"/>
                            <a:ea typeface="黑体" panose="02010609060101010101" pitchFamily="49" charset="-122"/>
                            <a:cs typeface="Times New Roman" panose="02020603050405020304" pitchFamily="18" charset="0"/>
                          </a:rPr>
                          <m:t>𝑫</m:t>
                        </m:r>
                      </m:e>
                      <m:sup>
                        <m:r>
                          <a:rPr lang="en-US" altLang="zh-CN" sz="2400" i="1">
                            <a:latin typeface="Cambria Math" panose="02040503050406030204" pitchFamily="18" charset="0"/>
                            <a:ea typeface="黑体" panose="02010609060101010101" pitchFamily="49" charset="-122"/>
                            <a:cs typeface="Times New Roman" panose="02020603050405020304" pitchFamily="18" charset="0"/>
                          </a:rPr>
                          <m:t>𝟏</m:t>
                        </m:r>
                        <m:r>
                          <a:rPr lang="en-US" altLang="zh-CN" sz="2400" i="1">
                            <a:latin typeface="Cambria Math" panose="02040503050406030204" pitchFamily="18" charset="0"/>
                            <a:ea typeface="黑体" panose="02010609060101010101" pitchFamily="49" charset="-122"/>
                            <a:cs typeface="Times New Roman" panose="02020603050405020304" pitchFamily="18" charset="0"/>
                          </a:rPr>
                          <m:t>/</m:t>
                        </m:r>
                        <m:r>
                          <a:rPr lang="en-US" altLang="zh-CN" sz="2400" i="1">
                            <a:latin typeface="Cambria Math" panose="02040503050406030204" pitchFamily="18" charset="0"/>
                            <a:ea typeface="黑体" panose="02010609060101010101" pitchFamily="49" charset="-122"/>
                            <a:cs typeface="Times New Roman" panose="02020603050405020304" pitchFamily="18" charset="0"/>
                          </a:rPr>
                          <m:t>𝟐</m:t>
                        </m:r>
                      </m:sup>
                    </m:sSup>
                    <m:r>
                      <a:rPr lang="en-US" altLang="zh-CN" sz="2400" b="1" i="1" smtClean="0">
                        <a:latin typeface="Cambria Math" panose="02040503050406030204" pitchFamily="18" charset="0"/>
                        <a:ea typeface="黑体" panose="02010609060101010101" pitchFamily="49" charset="-122"/>
                        <a:cs typeface="Times New Roman" panose="02020603050405020304" pitchFamily="18" charset="0"/>
                      </a:rPr>
                      <m:t>=</m:t>
                    </m:r>
                    <m:r>
                      <a:rPr lang="en-US" altLang="zh-CN" sz="2400" b="1" i="1" smtClean="0">
                        <a:latin typeface="Cambria Math" panose="02040503050406030204" pitchFamily="18" charset="0"/>
                        <a:ea typeface="黑体" panose="02010609060101010101" pitchFamily="49" charset="-122"/>
                        <a:cs typeface="Times New Roman" panose="02020603050405020304" pitchFamily="18" charset="0"/>
                      </a:rPr>
                      <m:t>𝑰</m:t>
                    </m:r>
                    <m:r>
                      <a:rPr lang="en-US" altLang="zh-CN" sz="2400" b="1" i="1" smtClean="0">
                        <a:latin typeface="Cambria Math" panose="02040503050406030204" pitchFamily="18" charset="0"/>
                        <a:ea typeface="黑体" panose="02010609060101010101" pitchFamily="49" charset="-122"/>
                        <a:cs typeface="Times New Roman" panose="02020603050405020304" pitchFamily="18" charset="0"/>
                      </a:rPr>
                      <m:t>−</m:t>
                    </m:r>
                    <m:sSup>
                      <m:sSupPr>
                        <m:ctrlPr>
                          <a:rPr lang="en-US" altLang="zh-CN" sz="2400" i="1">
                            <a:latin typeface="Cambria Math" panose="02040503050406030204" pitchFamily="18" charset="0"/>
                            <a:ea typeface="黑体" panose="02010609060101010101" pitchFamily="49" charset="-122"/>
                            <a:cs typeface="Times New Roman" panose="02020603050405020304" pitchFamily="18" charset="0"/>
                          </a:rPr>
                        </m:ctrlPr>
                      </m:sSupPr>
                      <m:e>
                        <m:r>
                          <a:rPr lang="en-US" altLang="zh-CN" sz="2400" i="1">
                            <a:latin typeface="Cambria Math" panose="02040503050406030204" pitchFamily="18" charset="0"/>
                            <a:ea typeface="黑体" panose="02010609060101010101" pitchFamily="49" charset="-122"/>
                            <a:cs typeface="Times New Roman" panose="02020603050405020304" pitchFamily="18" charset="0"/>
                          </a:rPr>
                          <m:t>𝑫</m:t>
                        </m:r>
                      </m:e>
                      <m:sup>
                        <m:r>
                          <a:rPr lang="en-US" altLang="zh-CN" sz="2400" i="1">
                            <a:latin typeface="Cambria Math" panose="02040503050406030204" pitchFamily="18" charset="0"/>
                            <a:ea typeface="黑体" panose="02010609060101010101" pitchFamily="49" charset="-122"/>
                            <a:cs typeface="Times New Roman" panose="02020603050405020304" pitchFamily="18" charset="0"/>
                          </a:rPr>
                          <m:t>−</m:t>
                        </m:r>
                        <m:r>
                          <a:rPr lang="en-US" altLang="zh-CN" sz="2400" i="1">
                            <a:latin typeface="Cambria Math" panose="02040503050406030204" pitchFamily="18" charset="0"/>
                            <a:ea typeface="黑体" panose="02010609060101010101" pitchFamily="49" charset="-122"/>
                            <a:cs typeface="Times New Roman" panose="02020603050405020304" pitchFamily="18" charset="0"/>
                          </a:rPr>
                          <m:t>𝟏</m:t>
                        </m:r>
                        <m:r>
                          <a:rPr lang="en-US" altLang="zh-CN" sz="2400" i="1">
                            <a:latin typeface="Cambria Math" panose="02040503050406030204" pitchFamily="18" charset="0"/>
                            <a:ea typeface="黑体" panose="02010609060101010101" pitchFamily="49" charset="-122"/>
                            <a:cs typeface="Times New Roman" panose="02020603050405020304" pitchFamily="18" charset="0"/>
                          </a:rPr>
                          <m:t>/</m:t>
                        </m:r>
                        <m:r>
                          <a:rPr lang="en-US" altLang="zh-CN" sz="2400" i="1">
                            <a:latin typeface="Cambria Math" panose="02040503050406030204" pitchFamily="18" charset="0"/>
                            <a:ea typeface="黑体" panose="02010609060101010101" pitchFamily="49" charset="-122"/>
                            <a:cs typeface="Times New Roman" panose="02020603050405020304" pitchFamily="18" charset="0"/>
                          </a:rPr>
                          <m:t>𝟐</m:t>
                        </m:r>
                      </m:sup>
                    </m:sSup>
                    <m:r>
                      <a:rPr lang="en-US" altLang="zh-CN" sz="2400" b="1" i="1" smtClean="0">
                        <a:latin typeface="Cambria Math" panose="02040503050406030204" pitchFamily="18" charset="0"/>
                        <a:ea typeface="黑体" panose="02010609060101010101" pitchFamily="49" charset="-122"/>
                        <a:cs typeface="Times New Roman" panose="02020603050405020304" pitchFamily="18" charset="0"/>
                      </a:rPr>
                      <m:t>𝑾</m:t>
                    </m:r>
                    <m:sSup>
                      <m:sSupPr>
                        <m:ctrlPr>
                          <a:rPr lang="en-US" altLang="zh-CN" sz="2400" i="1">
                            <a:latin typeface="Cambria Math" panose="02040503050406030204" pitchFamily="18" charset="0"/>
                            <a:ea typeface="黑体" panose="02010609060101010101" pitchFamily="49" charset="-122"/>
                            <a:cs typeface="Times New Roman" panose="02020603050405020304" pitchFamily="18" charset="0"/>
                          </a:rPr>
                        </m:ctrlPr>
                      </m:sSupPr>
                      <m:e>
                        <m:r>
                          <a:rPr lang="en-US" altLang="zh-CN" sz="2400" i="1">
                            <a:latin typeface="Cambria Math" panose="02040503050406030204" pitchFamily="18" charset="0"/>
                            <a:ea typeface="黑体" panose="02010609060101010101" pitchFamily="49" charset="-122"/>
                            <a:cs typeface="Times New Roman" panose="02020603050405020304" pitchFamily="18" charset="0"/>
                          </a:rPr>
                          <m:t>𝑫</m:t>
                        </m:r>
                      </m:e>
                      <m:sup>
                        <m:r>
                          <a:rPr lang="en-US" altLang="zh-CN" sz="2400" i="1">
                            <a:latin typeface="Cambria Math" panose="02040503050406030204" pitchFamily="18" charset="0"/>
                            <a:ea typeface="黑体" panose="02010609060101010101" pitchFamily="49" charset="-122"/>
                            <a:cs typeface="Times New Roman" panose="02020603050405020304" pitchFamily="18" charset="0"/>
                          </a:rPr>
                          <m:t>𝟏</m:t>
                        </m:r>
                        <m:r>
                          <a:rPr lang="en-US" altLang="zh-CN" sz="2400" i="1">
                            <a:latin typeface="Cambria Math" panose="02040503050406030204" pitchFamily="18" charset="0"/>
                            <a:ea typeface="黑体" panose="02010609060101010101" pitchFamily="49" charset="-122"/>
                            <a:cs typeface="Times New Roman" panose="02020603050405020304" pitchFamily="18" charset="0"/>
                          </a:rPr>
                          <m:t>/</m:t>
                        </m:r>
                        <m:r>
                          <a:rPr lang="en-US" altLang="zh-CN" sz="2400" i="1">
                            <a:latin typeface="Cambria Math" panose="02040503050406030204" pitchFamily="18" charset="0"/>
                            <a:ea typeface="黑体" panose="02010609060101010101" pitchFamily="49" charset="-122"/>
                            <a:cs typeface="Times New Roman" panose="02020603050405020304" pitchFamily="18" charset="0"/>
                          </a:rPr>
                          <m:t>𝟐</m:t>
                        </m:r>
                      </m:sup>
                    </m:sSup>
                  </m:oMath>
                </a14:m>
                <a:endParaRPr lang="en-US" altLang="zh-CN" sz="2400" dirty="0">
                  <a:latin typeface="Times New Roman" panose="02020603050405020304" pitchFamily="18" charset="0"/>
                  <a:ea typeface="黑体" panose="02010609060101010101" pitchFamily="49" charset="-122"/>
                  <a:cs typeface="Times New Roman" panose="02020603050405020304" pitchFamily="18" charset="0"/>
                </a:endParaRPr>
              </a:p>
            </p:txBody>
          </p:sp>
        </mc:Choice>
        <mc:Fallback xmlns="">
          <p:sp>
            <p:nvSpPr>
              <p:cNvPr id="3" name="矩形 2">
                <a:extLst>
                  <a:ext uri="{FF2B5EF4-FFF2-40B4-BE49-F238E27FC236}">
                    <a16:creationId xmlns:a16="http://schemas.microsoft.com/office/drawing/2014/main" id="{540EC105-E72E-46FE-BADE-525C27723B6E}"/>
                  </a:ext>
                </a:extLst>
              </p:cNvPr>
              <p:cNvSpPr>
                <a:spLocks noRot="1" noChangeAspect="1" noMove="1" noResize="1" noEditPoints="1" noAdjustHandles="1" noChangeArrowheads="1" noChangeShapeType="1" noTextEdit="1"/>
              </p:cNvSpPr>
              <p:nvPr/>
            </p:nvSpPr>
            <p:spPr>
              <a:xfrm>
                <a:off x="323528" y="920230"/>
                <a:ext cx="8229600" cy="4613507"/>
              </a:xfrm>
              <a:prstGeom prst="rect">
                <a:avLst/>
              </a:prstGeom>
              <a:blipFill>
                <a:blip r:embed="rId3"/>
                <a:stretch>
                  <a:fillRect l="-963" b="-528"/>
                </a:stretch>
              </a:blipFill>
            </p:spPr>
            <p:txBody>
              <a:bodyPr/>
              <a:lstStyle/>
              <a:p>
                <a:r>
                  <a:rPr lang="zh-CN" altLang="en-US">
                    <a:noFill/>
                  </a:rPr>
                  <a:t> </a:t>
                </a:r>
              </a:p>
            </p:txBody>
          </p:sp>
        </mc:Fallback>
      </mc:AlternateContent>
      <p:pic>
        <p:nvPicPr>
          <p:cNvPr id="9" name="图片 8">
            <a:extLst>
              <a:ext uri="{FF2B5EF4-FFF2-40B4-BE49-F238E27FC236}">
                <a16:creationId xmlns:a16="http://schemas.microsoft.com/office/drawing/2014/main" id="{6AD2A680-3603-4387-9615-9F0A44D91D52}"/>
              </a:ext>
            </a:extLst>
          </p:cNvPr>
          <p:cNvPicPr>
            <a:picLocks noChangeAspect="1"/>
          </p:cNvPicPr>
          <p:nvPr/>
        </p:nvPicPr>
        <p:blipFill>
          <a:blip r:embed="rId4"/>
          <a:stretch>
            <a:fillRect/>
          </a:stretch>
        </p:blipFill>
        <p:spPr>
          <a:xfrm>
            <a:off x="2532683" y="2531199"/>
            <a:ext cx="2191717" cy="1474675"/>
          </a:xfrm>
          <a:prstGeom prst="rect">
            <a:avLst/>
          </a:prstGeom>
        </p:spPr>
      </p:pic>
      <p:pic>
        <p:nvPicPr>
          <p:cNvPr id="12" name="图片 11">
            <a:extLst>
              <a:ext uri="{FF2B5EF4-FFF2-40B4-BE49-F238E27FC236}">
                <a16:creationId xmlns:a16="http://schemas.microsoft.com/office/drawing/2014/main" id="{04172C3E-362F-4584-8EE2-AE060AD3DA67}"/>
              </a:ext>
            </a:extLst>
          </p:cNvPr>
          <p:cNvPicPr>
            <a:picLocks noChangeAspect="1"/>
          </p:cNvPicPr>
          <p:nvPr/>
        </p:nvPicPr>
        <p:blipFill>
          <a:blip r:embed="rId5"/>
          <a:stretch>
            <a:fillRect/>
          </a:stretch>
        </p:blipFill>
        <p:spPr>
          <a:xfrm>
            <a:off x="5105400" y="2965345"/>
            <a:ext cx="1152128" cy="606382"/>
          </a:xfrm>
          <a:prstGeom prst="rect">
            <a:avLst/>
          </a:prstGeom>
        </p:spPr>
      </p:pic>
    </p:spTree>
    <p:extLst>
      <p:ext uri="{BB962C8B-B14F-4D97-AF65-F5344CB8AC3E}">
        <p14:creationId xmlns:p14="http://schemas.microsoft.com/office/powerpoint/2010/main" val="670178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直接连接符 9"/>
          <p:cNvCxnSpPr/>
          <p:nvPr/>
        </p:nvCxnSpPr>
        <p:spPr>
          <a:xfrm>
            <a:off x="755576" y="6669360"/>
            <a:ext cx="8162925" cy="0"/>
          </a:xfrm>
          <a:prstGeom prst="line">
            <a:avLst/>
          </a:prstGeom>
          <a:ln w="254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Box 1"/>
          <p:cNvSpPr txBox="1">
            <a:spLocks noGrp="1" noChangeArrowheads="1"/>
          </p:cNvSpPr>
          <p:nvPr>
            <p:ph type="title"/>
          </p:nvPr>
        </p:nvSpPr>
        <p:spPr bwMode="auto">
          <a:xfrm>
            <a:off x="434975" y="184572"/>
            <a:ext cx="8229600" cy="551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b="1">
                <a:solidFill>
                  <a:schemeClr val="tx1"/>
                </a:solidFill>
                <a:latin typeface="Times New Roman" pitchFamily="18" charset="0"/>
                <a:ea typeface="华文中宋" pitchFamily="2" charset="-122"/>
              </a:defRPr>
            </a:lvl1pPr>
            <a:lvl2pPr marL="742950" indent="-285750" eaLnBrk="0" hangingPunct="0">
              <a:defRPr kumimoji="1" b="1">
                <a:solidFill>
                  <a:schemeClr val="tx1"/>
                </a:solidFill>
                <a:latin typeface="Times New Roman" pitchFamily="18" charset="0"/>
                <a:ea typeface="华文中宋" pitchFamily="2" charset="-122"/>
              </a:defRPr>
            </a:lvl2pPr>
            <a:lvl3pPr marL="1143000" indent="-228600" eaLnBrk="0" hangingPunct="0">
              <a:defRPr kumimoji="1" b="1">
                <a:solidFill>
                  <a:schemeClr val="tx1"/>
                </a:solidFill>
                <a:latin typeface="Times New Roman" pitchFamily="18" charset="0"/>
                <a:ea typeface="华文中宋" pitchFamily="2" charset="-122"/>
              </a:defRPr>
            </a:lvl3pPr>
            <a:lvl4pPr marL="1600200" indent="-228600" eaLnBrk="0" hangingPunct="0">
              <a:defRPr kumimoji="1" b="1">
                <a:solidFill>
                  <a:schemeClr val="tx1"/>
                </a:solidFill>
                <a:latin typeface="Times New Roman" pitchFamily="18" charset="0"/>
                <a:ea typeface="华文中宋" pitchFamily="2" charset="-122"/>
              </a:defRPr>
            </a:lvl4pPr>
            <a:lvl5pPr marL="2057400" indent="-228600" eaLnBrk="0" hangingPunct="0">
              <a:defRPr kumimoji="1" b="1">
                <a:solidFill>
                  <a:schemeClr val="tx1"/>
                </a:solidFill>
                <a:latin typeface="Times New Roman" pitchFamily="18" charset="0"/>
                <a:ea typeface="华文中宋" pitchFamily="2" charset="-122"/>
              </a:defRPr>
            </a:lvl5pPr>
            <a:lvl6pPr marL="25146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6pPr>
            <a:lvl7pPr marL="29718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7pPr>
            <a:lvl8pPr marL="34290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8pPr>
            <a:lvl9pPr marL="38862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9pPr>
          </a:lstStyle>
          <a:p>
            <a:pPr algn="ctr" eaLnBrk="1" hangingPunct="1"/>
            <a:r>
              <a:rPr lang="zh-CN" altLang="en-US" sz="3200" dirty="0">
                <a:latin typeface="黑体" pitchFamily="2" charset="-122"/>
                <a:ea typeface="黑体" pitchFamily="2" charset="-122"/>
              </a:rPr>
              <a:t>聚类算法</a:t>
            </a:r>
            <a:r>
              <a:rPr lang="zh-CN" altLang="en-US" sz="3200" dirty="0">
                <a:solidFill>
                  <a:srgbClr val="FF0000"/>
                </a:solidFill>
                <a:latin typeface="黑体" pitchFamily="2" charset="-122"/>
                <a:ea typeface="黑体" pitchFamily="2" charset="-122"/>
              </a:rPr>
              <a:t>之谱聚类</a:t>
            </a:r>
          </a:p>
        </p:txBody>
      </p:sp>
      <p:sp>
        <p:nvSpPr>
          <p:cNvPr id="2" name="灯片编号占位符 1">
            <a:extLst>
              <a:ext uri="{FF2B5EF4-FFF2-40B4-BE49-F238E27FC236}">
                <a16:creationId xmlns:a16="http://schemas.microsoft.com/office/drawing/2014/main" id="{CF08D87D-3CA5-4FE1-BA63-F8E9BFAFC4D0}"/>
              </a:ext>
            </a:extLst>
          </p:cNvPr>
          <p:cNvSpPr>
            <a:spLocks noGrp="1"/>
          </p:cNvSpPr>
          <p:nvPr>
            <p:ph type="sldNum" sz="quarter" idx="12"/>
          </p:nvPr>
        </p:nvSpPr>
        <p:spPr/>
        <p:txBody>
          <a:bodyPr/>
          <a:lstStyle/>
          <a:p>
            <a:fld id="{0C913308-F349-4B6D-A68A-DD1791B4A57B}" type="slidenum">
              <a:rPr lang="zh-CN" altLang="en-US" smtClean="0"/>
              <a:t>20</a:t>
            </a:fld>
            <a:endParaRPr lang="zh-CN" altLang="en-US"/>
          </a:p>
        </p:txBody>
      </p:sp>
      <p:sp>
        <p:nvSpPr>
          <p:cNvPr id="4" name="矩形 3">
            <a:extLst>
              <a:ext uri="{FF2B5EF4-FFF2-40B4-BE49-F238E27FC236}">
                <a16:creationId xmlns:a16="http://schemas.microsoft.com/office/drawing/2014/main" id="{AE086D3F-2F0C-4F96-B65E-1AE280DCBDFF}"/>
              </a:ext>
            </a:extLst>
          </p:cNvPr>
          <p:cNvSpPr/>
          <p:nvPr/>
        </p:nvSpPr>
        <p:spPr>
          <a:xfrm>
            <a:off x="304800" y="990600"/>
            <a:ext cx="8229600" cy="4546566"/>
          </a:xfrm>
          <a:prstGeom prst="rect">
            <a:avLst/>
          </a:prstGeom>
        </p:spPr>
        <p:txBody>
          <a:bodyPr wrap="square">
            <a:spAutoFit/>
          </a:bodyPr>
          <a:lstStyle/>
          <a:p>
            <a:pPr>
              <a:lnSpc>
                <a:spcPct val="150000"/>
              </a:lnSpc>
            </a:pP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谱聚类算法流程：</a:t>
            </a:r>
            <a:endParaRPr lang="en-US" altLang="zh-CN" sz="2800" b="1" dirty="0">
              <a:latin typeface="Times New Roman" panose="02020603050405020304" pitchFamily="18" charset="0"/>
              <a:ea typeface="黑体" panose="02010609060101010101" pitchFamily="49" charset="-122"/>
              <a:cs typeface="Times New Roman" panose="02020603050405020304" pitchFamily="18" charset="0"/>
            </a:endParaRPr>
          </a:p>
          <a:p>
            <a:pPr marL="457200" indent="-457200">
              <a:lnSpc>
                <a:spcPct val="150000"/>
              </a:lnSpc>
              <a:buFont typeface="Wingdings" panose="05000000000000000000" pitchFamily="2" charset="2"/>
              <a:buChar char="p"/>
            </a:pP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Step0</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：初始化。邻接矩阵生成方式，降维后的维度</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K</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，聚类算法</a:t>
            </a:r>
            <a:endParaRPr lang="en-US" altLang="zh-CN" sz="2400" b="1" dirty="0">
              <a:latin typeface="Times New Roman" panose="02020603050405020304" pitchFamily="18" charset="0"/>
              <a:ea typeface="黑体" panose="02010609060101010101" pitchFamily="49" charset="-122"/>
              <a:cs typeface="Times New Roman" panose="02020603050405020304" pitchFamily="18" charset="0"/>
            </a:endParaRPr>
          </a:p>
          <a:p>
            <a:pPr marL="457200" indent="-457200">
              <a:lnSpc>
                <a:spcPct val="150000"/>
              </a:lnSpc>
              <a:buFont typeface="Wingdings" panose="05000000000000000000" pitchFamily="2" charset="2"/>
              <a:buChar char="p"/>
            </a:pP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Step1</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：确定图上节点关系度量，得到相似性度量矩阵</a:t>
            </a:r>
            <a:endParaRPr lang="en-US" altLang="zh-CN" sz="2400" dirty="0">
              <a:latin typeface="Times New Roman" panose="02020603050405020304" pitchFamily="18" charset="0"/>
              <a:ea typeface="黑体" panose="02010609060101010101" pitchFamily="49" charset="-122"/>
              <a:cs typeface="Times New Roman" panose="02020603050405020304" pitchFamily="18" charset="0"/>
            </a:endParaRPr>
          </a:p>
          <a:p>
            <a:pPr marL="457200" indent="-457200">
              <a:lnSpc>
                <a:spcPct val="150000"/>
              </a:lnSpc>
              <a:buFont typeface="Wingdings" panose="05000000000000000000" pitchFamily="2" charset="2"/>
              <a:buChar char="p"/>
            </a:pPr>
            <a:r>
              <a:rPr lang="en-US" altLang="zh-CN" sz="24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Step2</a:t>
            </a:r>
            <a:r>
              <a:rPr lang="zh-CN" altLang="en-US" sz="24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：根据相似性度量矩阵得到拉普拉斯矩阵</a:t>
            </a:r>
            <a:endParaRPr lang="en-US" altLang="zh-CN" sz="24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endParaRPr>
          </a:p>
          <a:p>
            <a:pPr marL="457200" indent="-457200">
              <a:lnSpc>
                <a:spcPct val="150000"/>
              </a:lnSpc>
              <a:buFont typeface="Wingdings" panose="05000000000000000000" pitchFamily="2" charset="2"/>
              <a:buChar char="p"/>
            </a:pP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Step3</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：对拉普拉斯矩阵求解前K个最小特征值对应的特征向量，即为节点的向量表示</a:t>
            </a:r>
            <a:endParaRPr lang="en-US" altLang="zh-CN" sz="2400" dirty="0">
              <a:latin typeface="Times New Roman" panose="02020603050405020304" pitchFamily="18" charset="0"/>
              <a:ea typeface="黑体" panose="02010609060101010101" pitchFamily="49" charset="-122"/>
              <a:cs typeface="Times New Roman" panose="02020603050405020304" pitchFamily="18" charset="0"/>
            </a:endParaRPr>
          </a:p>
          <a:p>
            <a:pPr marL="457200" indent="-457200">
              <a:lnSpc>
                <a:spcPct val="150000"/>
              </a:lnSpc>
              <a:buFont typeface="Wingdings" panose="05000000000000000000" pitchFamily="2" charset="2"/>
              <a:buChar char="p"/>
            </a:pP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Step4</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：采用聚类算法对节点向量进行聚类</a:t>
            </a:r>
            <a:endParaRPr lang="zh-CN" altLang="en-US" dirty="0">
              <a:latin typeface="Times New Roman" panose="02020603050405020304" pitchFamily="18" charset="0"/>
              <a:ea typeface="黑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10930713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直接连接符 9"/>
          <p:cNvCxnSpPr/>
          <p:nvPr/>
        </p:nvCxnSpPr>
        <p:spPr>
          <a:xfrm>
            <a:off x="755576" y="6669360"/>
            <a:ext cx="8162925" cy="0"/>
          </a:xfrm>
          <a:prstGeom prst="line">
            <a:avLst/>
          </a:prstGeom>
          <a:ln w="254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Box 1"/>
          <p:cNvSpPr txBox="1">
            <a:spLocks noGrp="1" noChangeArrowheads="1"/>
          </p:cNvSpPr>
          <p:nvPr>
            <p:ph type="title"/>
          </p:nvPr>
        </p:nvSpPr>
        <p:spPr bwMode="auto">
          <a:xfrm>
            <a:off x="434975" y="184572"/>
            <a:ext cx="8229600" cy="551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b="1">
                <a:solidFill>
                  <a:schemeClr val="tx1"/>
                </a:solidFill>
                <a:latin typeface="Times New Roman" pitchFamily="18" charset="0"/>
                <a:ea typeface="华文中宋" pitchFamily="2" charset="-122"/>
              </a:defRPr>
            </a:lvl1pPr>
            <a:lvl2pPr marL="742950" indent="-285750" eaLnBrk="0" hangingPunct="0">
              <a:defRPr kumimoji="1" b="1">
                <a:solidFill>
                  <a:schemeClr val="tx1"/>
                </a:solidFill>
                <a:latin typeface="Times New Roman" pitchFamily="18" charset="0"/>
                <a:ea typeface="华文中宋" pitchFamily="2" charset="-122"/>
              </a:defRPr>
            </a:lvl2pPr>
            <a:lvl3pPr marL="1143000" indent="-228600" eaLnBrk="0" hangingPunct="0">
              <a:defRPr kumimoji="1" b="1">
                <a:solidFill>
                  <a:schemeClr val="tx1"/>
                </a:solidFill>
                <a:latin typeface="Times New Roman" pitchFamily="18" charset="0"/>
                <a:ea typeface="华文中宋" pitchFamily="2" charset="-122"/>
              </a:defRPr>
            </a:lvl3pPr>
            <a:lvl4pPr marL="1600200" indent="-228600" eaLnBrk="0" hangingPunct="0">
              <a:defRPr kumimoji="1" b="1">
                <a:solidFill>
                  <a:schemeClr val="tx1"/>
                </a:solidFill>
                <a:latin typeface="Times New Roman" pitchFamily="18" charset="0"/>
                <a:ea typeface="华文中宋" pitchFamily="2" charset="-122"/>
              </a:defRPr>
            </a:lvl4pPr>
            <a:lvl5pPr marL="2057400" indent="-228600" eaLnBrk="0" hangingPunct="0">
              <a:defRPr kumimoji="1" b="1">
                <a:solidFill>
                  <a:schemeClr val="tx1"/>
                </a:solidFill>
                <a:latin typeface="Times New Roman" pitchFamily="18" charset="0"/>
                <a:ea typeface="华文中宋" pitchFamily="2" charset="-122"/>
              </a:defRPr>
            </a:lvl5pPr>
            <a:lvl6pPr marL="25146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6pPr>
            <a:lvl7pPr marL="29718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7pPr>
            <a:lvl8pPr marL="34290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8pPr>
            <a:lvl9pPr marL="38862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9pPr>
          </a:lstStyle>
          <a:p>
            <a:pPr algn="ctr" eaLnBrk="1" hangingPunct="1"/>
            <a:r>
              <a:rPr lang="zh-CN" altLang="en-US" sz="3200" dirty="0">
                <a:latin typeface="黑体" pitchFamily="2" charset="-122"/>
                <a:ea typeface="黑体" pitchFamily="2" charset="-122"/>
              </a:rPr>
              <a:t>聚类算法</a:t>
            </a:r>
            <a:r>
              <a:rPr lang="zh-CN" altLang="en-US" sz="3200" dirty="0">
                <a:solidFill>
                  <a:srgbClr val="FF0000"/>
                </a:solidFill>
                <a:latin typeface="黑体" pitchFamily="2" charset="-122"/>
                <a:ea typeface="黑体" pitchFamily="2" charset="-122"/>
              </a:rPr>
              <a:t>之谱聚类</a:t>
            </a:r>
          </a:p>
        </p:txBody>
      </p:sp>
      <p:sp>
        <p:nvSpPr>
          <p:cNvPr id="2" name="灯片编号占位符 1">
            <a:extLst>
              <a:ext uri="{FF2B5EF4-FFF2-40B4-BE49-F238E27FC236}">
                <a16:creationId xmlns:a16="http://schemas.microsoft.com/office/drawing/2014/main" id="{CF08D87D-3CA5-4FE1-BA63-F8E9BFAFC4D0}"/>
              </a:ext>
            </a:extLst>
          </p:cNvPr>
          <p:cNvSpPr>
            <a:spLocks noGrp="1"/>
          </p:cNvSpPr>
          <p:nvPr>
            <p:ph type="sldNum" sz="quarter" idx="12"/>
          </p:nvPr>
        </p:nvSpPr>
        <p:spPr/>
        <p:txBody>
          <a:bodyPr/>
          <a:lstStyle/>
          <a:p>
            <a:fld id="{0C913308-F349-4B6D-A68A-DD1791B4A57B}" type="slidenum">
              <a:rPr lang="zh-CN" altLang="en-US" smtClean="0"/>
              <a:t>21</a:t>
            </a:fld>
            <a:endParaRPr lang="zh-CN" altLang="en-US"/>
          </a:p>
        </p:txBody>
      </p:sp>
      <p:sp>
        <p:nvSpPr>
          <p:cNvPr id="4" name="矩形 3">
            <a:extLst>
              <a:ext uri="{FF2B5EF4-FFF2-40B4-BE49-F238E27FC236}">
                <a16:creationId xmlns:a16="http://schemas.microsoft.com/office/drawing/2014/main" id="{AE086D3F-2F0C-4F96-B65E-1AE280DCBDFF}"/>
              </a:ext>
            </a:extLst>
          </p:cNvPr>
          <p:cNvSpPr/>
          <p:nvPr/>
        </p:nvSpPr>
        <p:spPr>
          <a:xfrm>
            <a:off x="304800" y="990600"/>
            <a:ext cx="8229600" cy="4993483"/>
          </a:xfrm>
          <a:prstGeom prst="rect">
            <a:avLst/>
          </a:prstGeom>
        </p:spPr>
        <p:txBody>
          <a:bodyPr wrap="square">
            <a:spAutoFit/>
          </a:bodyPr>
          <a:lstStyle/>
          <a:p>
            <a:pPr marL="342900" indent="-342900">
              <a:lnSpc>
                <a:spcPct val="150000"/>
              </a:lnSpc>
              <a:buFont typeface="Arial" panose="020B0604020202020204" pitchFamily="34" charset="0"/>
              <a:buChar char="•"/>
            </a:pPr>
            <a:r>
              <a:rPr lang="zh-CN" altLang="en-US" sz="2000" b="0" dirty="0"/>
              <a:t>谱聚类算法的</a:t>
            </a:r>
            <a:r>
              <a:rPr lang="zh-CN" altLang="en-US" sz="2000" dirty="0"/>
              <a:t>主要优点</a:t>
            </a:r>
            <a:r>
              <a:rPr lang="zh-CN" altLang="en-US" sz="2000" b="0" dirty="0"/>
              <a:t>有：</a:t>
            </a:r>
          </a:p>
          <a:p>
            <a:pPr>
              <a:lnSpc>
                <a:spcPct val="150000"/>
              </a:lnSpc>
            </a:pPr>
            <a:r>
              <a:rPr lang="en-US" altLang="zh-CN" sz="2000" b="0" dirty="0"/>
              <a:t>1</a:t>
            </a:r>
            <a:r>
              <a:rPr lang="zh-CN" altLang="en-US" sz="2000" b="0" dirty="0"/>
              <a:t>）谱聚类只需要数据之间的相似度矩阵，因此对于处理稀疏数据的聚类很有效。这点传统聚类算法比如</a:t>
            </a:r>
            <a:r>
              <a:rPr lang="en-US" altLang="zh-CN" sz="2000" b="0" dirty="0"/>
              <a:t>K-Means</a:t>
            </a:r>
            <a:r>
              <a:rPr lang="zh-CN" altLang="en-US" sz="2000" b="0" dirty="0"/>
              <a:t>很难做到。</a:t>
            </a:r>
          </a:p>
          <a:p>
            <a:pPr>
              <a:lnSpc>
                <a:spcPct val="150000"/>
              </a:lnSpc>
            </a:pPr>
            <a:r>
              <a:rPr lang="en-US" altLang="zh-CN" sz="2000" b="0" dirty="0"/>
              <a:t>2</a:t>
            </a:r>
            <a:r>
              <a:rPr lang="zh-CN" altLang="en-US" sz="2000" b="0" dirty="0"/>
              <a:t>）由于使用了降维，因此在处理高维数据聚类时的复杂度比传统聚类算法好。</a:t>
            </a:r>
          </a:p>
          <a:p>
            <a:pPr marL="342900" indent="-342900">
              <a:lnSpc>
                <a:spcPct val="150000"/>
              </a:lnSpc>
              <a:buFont typeface="Arial" panose="020B0604020202020204" pitchFamily="34" charset="0"/>
              <a:buChar char="•"/>
            </a:pPr>
            <a:r>
              <a:rPr lang="zh-CN" altLang="en-US" sz="2000" b="0" dirty="0"/>
              <a:t>谱聚类算法的</a:t>
            </a:r>
            <a:r>
              <a:rPr lang="zh-CN" altLang="en-US" sz="2000" dirty="0"/>
              <a:t>主要缺点</a:t>
            </a:r>
            <a:r>
              <a:rPr lang="zh-CN" altLang="en-US" sz="2000" b="0" dirty="0"/>
              <a:t>有：</a:t>
            </a:r>
          </a:p>
          <a:p>
            <a:pPr>
              <a:lnSpc>
                <a:spcPct val="150000"/>
              </a:lnSpc>
            </a:pPr>
            <a:r>
              <a:rPr lang="en-US" altLang="zh-CN" sz="2000" b="0" dirty="0"/>
              <a:t>1</a:t>
            </a:r>
            <a:r>
              <a:rPr lang="zh-CN" altLang="en-US" sz="2000" b="0" dirty="0"/>
              <a:t>）如果最终聚类的维度非常高，则由于降维的幅度不够，谱聚类的运行速度和最后的聚类效果均不好。</a:t>
            </a:r>
          </a:p>
          <a:p>
            <a:pPr>
              <a:lnSpc>
                <a:spcPct val="150000"/>
              </a:lnSpc>
            </a:pPr>
            <a:r>
              <a:rPr lang="en-US" altLang="zh-CN" sz="2000" b="0" dirty="0"/>
              <a:t>2)  </a:t>
            </a:r>
            <a:r>
              <a:rPr lang="zh-CN" altLang="en-US" sz="2000" b="0" dirty="0"/>
              <a:t>聚类效果依赖于相似矩阵，不同的相似矩阵得到的最终聚类效果可能很不同。</a:t>
            </a:r>
          </a:p>
          <a:p>
            <a:pPr>
              <a:lnSpc>
                <a:spcPct val="150000"/>
              </a:lnSpc>
            </a:pPr>
            <a:endParaRPr lang="zh-CN" altLang="en-US" dirty="0">
              <a:latin typeface="Times New Roman" panose="02020603050405020304" pitchFamily="18" charset="0"/>
              <a:ea typeface="黑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18095159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直接连接符 9"/>
          <p:cNvCxnSpPr/>
          <p:nvPr/>
        </p:nvCxnSpPr>
        <p:spPr>
          <a:xfrm>
            <a:off x="755576" y="6669360"/>
            <a:ext cx="8162925" cy="0"/>
          </a:xfrm>
          <a:prstGeom prst="line">
            <a:avLst/>
          </a:prstGeom>
          <a:ln w="254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Box 1"/>
          <p:cNvSpPr txBox="1">
            <a:spLocks noGrp="1" noChangeArrowheads="1"/>
          </p:cNvSpPr>
          <p:nvPr>
            <p:ph type="title"/>
          </p:nvPr>
        </p:nvSpPr>
        <p:spPr bwMode="auto">
          <a:xfrm>
            <a:off x="434975" y="184572"/>
            <a:ext cx="8229600" cy="551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b="1">
                <a:solidFill>
                  <a:schemeClr val="tx1"/>
                </a:solidFill>
                <a:latin typeface="Times New Roman" pitchFamily="18" charset="0"/>
                <a:ea typeface="华文中宋" pitchFamily="2" charset="-122"/>
              </a:defRPr>
            </a:lvl1pPr>
            <a:lvl2pPr marL="742950" indent="-285750" eaLnBrk="0" hangingPunct="0">
              <a:defRPr kumimoji="1" b="1">
                <a:solidFill>
                  <a:schemeClr val="tx1"/>
                </a:solidFill>
                <a:latin typeface="Times New Roman" pitchFamily="18" charset="0"/>
                <a:ea typeface="华文中宋" pitchFamily="2" charset="-122"/>
              </a:defRPr>
            </a:lvl2pPr>
            <a:lvl3pPr marL="1143000" indent="-228600" eaLnBrk="0" hangingPunct="0">
              <a:defRPr kumimoji="1" b="1">
                <a:solidFill>
                  <a:schemeClr val="tx1"/>
                </a:solidFill>
                <a:latin typeface="Times New Roman" pitchFamily="18" charset="0"/>
                <a:ea typeface="华文中宋" pitchFamily="2" charset="-122"/>
              </a:defRPr>
            </a:lvl3pPr>
            <a:lvl4pPr marL="1600200" indent="-228600" eaLnBrk="0" hangingPunct="0">
              <a:defRPr kumimoji="1" b="1">
                <a:solidFill>
                  <a:schemeClr val="tx1"/>
                </a:solidFill>
                <a:latin typeface="Times New Roman" pitchFamily="18" charset="0"/>
                <a:ea typeface="华文中宋" pitchFamily="2" charset="-122"/>
              </a:defRPr>
            </a:lvl4pPr>
            <a:lvl5pPr marL="2057400" indent="-228600" eaLnBrk="0" hangingPunct="0">
              <a:defRPr kumimoji="1" b="1">
                <a:solidFill>
                  <a:schemeClr val="tx1"/>
                </a:solidFill>
                <a:latin typeface="Times New Roman" pitchFamily="18" charset="0"/>
                <a:ea typeface="华文中宋" pitchFamily="2" charset="-122"/>
              </a:defRPr>
            </a:lvl5pPr>
            <a:lvl6pPr marL="25146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6pPr>
            <a:lvl7pPr marL="29718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7pPr>
            <a:lvl8pPr marL="34290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8pPr>
            <a:lvl9pPr marL="38862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9pPr>
          </a:lstStyle>
          <a:p>
            <a:pPr algn="ctr" eaLnBrk="1" hangingPunct="1"/>
            <a:r>
              <a:rPr lang="zh-CN" altLang="en-US" sz="3200" dirty="0">
                <a:latin typeface="黑体" pitchFamily="2" charset="-122"/>
                <a:ea typeface="黑体" pitchFamily="2" charset="-122"/>
              </a:rPr>
              <a:t>聚类算法</a:t>
            </a:r>
            <a:r>
              <a:rPr lang="zh-CN" altLang="en-US" sz="3200" dirty="0">
                <a:solidFill>
                  <a:srgbClr val="FF0000"/>
                </a:solidFill>
                <a:latin typeface="黑体" pitchFamily="2" charset="-122"/>
                <a:ea typeface="黑体" pitchFamily="2" charset="-122"/>
              </a:rPr>
              <a:t>之混合模型聚类</a:t>
            </a:r>
          </a:p>
        </p:txBody>
      </p:sp>
      <p:sp>
        <p:nvSpPr>
          <p:cNvPr id="2" name="灯片编号占位符 1">
            <a:extLst>
              <a:ext uri="{FF2B5EF4-FFF2-40B4-BE49-F238E27FC236}">
                <a16:creationId xmlns:a16="http://schemas.microsoft.com/office/drawing/2014/main" id="{B0290D7D-A83F-4807-84BD-D3FDCBBF298D}"/>
              </a:ext>
            </a:extLst>
          </p:cNvPr>
          <p:cNvSpPr>
            <a:spLocks noGrp="1"/>
          </p:cNvSpPr>
          <p:nvPr>
            <p:ph type="sldNum" sz="quarter" idx="12"/>
          </p:nvPr>
        </p:nvSpPr>
        <p:spPr/>
        <p:txBody>
          <a:bodyPr/>
          <a:lstStyle/>
          <a:p>
            <a:fld id="{0C913308-F349-4B6D-A68A-DD1791B4A57B}" type="slidenum">
              <a:rPr lang="zh-CN" altLang="en-US" smtClean="0"/>
              <a:t>22</a:t>
            </a:fld>
            <a:endParaRPr lang="zh-CN" altLang="en-US"/>
          </a:p>
        </p:txBody>
      </p:sp>
      <p:pic>
        <p:nvPicPr>
          <p:cNvPr id="4" name="图片 3">
            <a:extLst>
              <a:ext uri="{FF2B5EF4-FFF2-40B4-BE49-F238E27FC236}">
                <a16:creationId xmlns:a16="http://schemas.microsoft.com/office/drawing/2014/main" id="{2A9A2344-B45C-4986-8507-4FEBDF2CCB4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7038" y="1160708"/>
            <a:ext cx="7620000" cy="5095875"/>
          </a:xfrm>
          <a:prstGeom prst="rect">
            <a:avLst/>
          </a:prstGeom>
        </p:spPr>
      </p:pic>
    </p:spTree>
    <p:extLst>
      <p:ext uri="{BB962C8B-B14F-4D97-AF65-F5344CB8AC3E}">
        <p14:creationId xmlns:p14="http://schemas.microsoft.com/office/powerpoint/2010/main" val="41125686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直接连接符 9"/>
          <p:cNvCxnSpPr/>
          <p:nvPr/>
        </p:nvCxnSpPr>
        <p:spPr>
          <a:xfrm>
            <a:off x="755576" y="6669360"/>
            <a:ext cx="8162925" cy="0"/>
          </a:xfrm>
          <a:prstGeom prst="line">
            <a:avLst/>
          </a:prstGeom>
          <a:ln w="254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Box 1"/>
          <p:cNvSpPr txBox="1">
            <a:spLocks noGrp="1" noChangeArrowheads="1"/>
          </p:cNvSpPr>
          <p:nvPr>
            <p:ph type="title"/>
          </p:nvPr>
        </p:nvSpPr>
        <p:spPr bwMode="auto">
          <a:xfrm>
            <a:off x="434975" y="184572"/>
            <a:ext cx="8229600" cy="551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b="1">
                <a:solidFill>
                  <a:schemeClr val="tx1"/>
                </a:solidFill>
                <a:latin typeface="Times New Roman" pitchFamily="18" charset="0"/>
                <a:ea typeface="华文中宋" pitchFamily="2" charset="-122"/>
              </a:defRPr>
            </a:lvl1pPr>
            <a:lvl2pPr marL="742950" indent="-285750" eaLnBrk="0" hangingPunct="0">
              <a:defRPr kumimoji="1" b="1">
                <a:solidFill>
                  <a:schemeClr val="tx1"/>
                </a:solidFill>
                <a:latin typeface="Times New Roman" pitchFamily="18" charset="0"/>
                <a:ea typeface="华文中宋" pitchFamily="2" charset="-122"/>
              </a:defRPr>
            </a:lvl2pPr>
            <a:lvl3pPr marL="1143000" indent="-228600" eaLnBrk="0" hangingPunct="0">
              <a:defRPr kumimoji="1" b="1">
                <a:solidFill>
                  <a:schemeClr val="tx1"/>
                </a:solidFill>
                <a:latin typeface="Times New Roman" pitchFamily="18" charset="0"/>
                <a:ea typeface="华文中宋" pitchFamily="2" charset="-122"/>
              </a:defRPr>
            </a:lvl3pPr>
            <a:lvl4pPr marL="1600200" indent="-228600" eaLnBrk="0" hangingPunct="0">
              <a:defRPr kumimoji="1" b="1">
                <a:solidFill>
                  <a:schemeClr val="tx1"/>
                </a:solidFill>
                <a:latin typeface="Times New Roman" pitchFamily="18" charset="0"/>
                <a:ea typeface="华文中宋" pitchFamily="2" charset="-122"/>
              </a:defRPr>
            </a:lvl4pPr>
            <a:lvl5pPr marL="2057400" indent="-228600" eaLnBrk="0" hangingPunct="0">
              <a:defRPr kumimoji="1" b="1">
                <a:solidFill>
                  <a:schemeClr val="tx1"/>
                </a:solidFill>
                <a:latin typeface="Times New Roman" pitchFamily="18" charset="0"/>
                <a:ea typeface="华文中宋" pitchFamily="2" charset="-122"/>
              </a:defRPr>
            </a:lvl5pPr>
            <a:lvl6pPr marL="25146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6pPr>
            <a:lvl7pPr marL="29718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7pPr>
            <a:lvl8pPr marL="34290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8pPr>
            <a:lvl9pPr marL="38862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9pPr>
          </a:lstStyle>
          <a:p>
            <a:pPr algn="ctr" eaLnBrk="1" hangingPunct="1"/>
            <a:r>
              <a:rPr lang="zh-CN" altLang="en-US" sz="3200" dirty="0">
                <a:latin typeface="黑体" pitchFamily="2" charset="-122"/>
                <a:ea typeface="黑体" pitchFamily="2" charset="-122"/>
              </a:rPr>
              <a:t>聚类算法</a:t>
            </a:r>
            <a:r>
              <a:rPr lang="zh-CN" altLang="en-US" sz="3200" dirty="0">
                <a:solidFill>
                  <a:srgbClr val="FF0000"/>
                </a:solidFill>
                <a:latin typeface="黑体" pitchFamily="2" charset="-122"/>
                <a:ea typeface="黑体" pitchFamily="2" charset="-122"/>
              </a:rPr>
              <a:t>之混合模型聚类</a:t>
            </a:r>
          </a:p>
        </p:txBody>
      </p:sp>
      <p:sp>
        <p:nvSpPr>
          <p:cNvPr id="2" name="灯片编号占位符 1">
            <a:extLst>
              <a:ext uri="{FF2B5EF4-FFF2-40B4-BE49-F238E27FC236}">
                <a16:creationId xmlns:a16="http://schemas.microsoft.com/office/drawing/2014/main" id="{B0290D7D-A83F-4807-84BD-D3FDCBBF298D}"/>
              </a:ext>
            </a:extLst>
          </p:cNvPr>
          <p:cNvSpPr>
            <a:spLocks noGrp="1"/>
          </p:cNvSpPr>
          <p:nvPr>
            <p:ph type="sldNum" sz="quarter" idx="12"/>
          </p:nvPr>
        </p:nvSpPr>
        <p:spPr/>
        <p:txBody>
          <a:bodyPr/>
          <a:lstStyle/>
          <a:p>
            <a:fld id="{0C913308-F349-4B6D-A68A-DD1791B4A57B}" type="slidenum">
              <a:rPr lang="zh-CN" altLang="en-US" smtClean="0"/>
              <a:t>23</a:t>
            </a:fld>
            <a:endParaRPr lang="zh-CN" altLang="en-US"/>
          </a:p>
        </p:txBody>
      </p:sp>
      <p:sp>
        <p:nvSpPr>
          <p:cNvPr id="5" name="矩形 4">
            <a:extLst>
              <a:ext uri="{FF2B5EF4-FFF2-40B4-BE49-F238E27FC236}">
                <a16:creationId xmlns:a16="http://schemas.microsoft.com/office/drawing/2014/main" id="{4750DB9C-8A21-45C8-98F0-4C49F74645BA}"/>
              </a:ext>
            </a:extLst>
          </p:cNvPr>
          <p:cNvSpPr/>
          <p:nvPr/>
        </p:nvSpPr>
        <p:spPr>
          <a:xfrm>
            <a:off x="434974" y="1196752"/>
            <a:ext cx="8556625" cy="3883755"/>
          </a:xfrm>
          <a:prstGeom prst="rect">
            <a:avLst/>
          </a:prstGeom>
        </p:spPr>
        <p:txBody>
          <a:bodyPr wrap="square">
            <a:spAutoFit/>
          </a:bodyPr>
          <a:lstStyle/>
          <a:p>
            <a:pPr marL="342900" indent="-342900">
              <a:lnSpc>
                <a:spcPct val="150000"/>
              </a:lnSpc>
              <a:buClr>
                <a:schemeClr val="accent3">
                  <a:lumMod val="50000"/>
                </a:schemeClr>
              </a:buClr>
              <a:buFont typeface="Wingdings" panose="05000000000000000000" pitchFamily="2" charset="2"/>
              <a:buChar char="p"/>
            </a:pP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基于混合模型的聚类算法</a:t>
            </a:r>
            <a:endParaRPr lang="en-US" altLang="zh-CN" sz="2400" b="1" dirty="0">
              <a:latin typeface="Times New Roman" panose="02020603050405020304" pitchFamily="18" charset="0"/>
              <a:ea typeface="黑体" panose="02010609060101010101" pitchFamily="49" charset="-122"/>
              <a:cs typeface="Times New Roman" panose="02020603050405020304" pitchFamily="18" charset="0"/>
            </a:endParaRPr>
          </a:p>
          <a:p>
            <a:pPr marL="800100" lvl="1" indent="-342900">
              <a:lnSpc>
                <a:spcPct val="150000"/>
              </a:lnSpc>
              <a:buClr>
                <a:schemeClr val="accent3">
                  <a:lumMod val="50000"/>
                </a:schemeClr>
              </a:buClr>
              <a:buFont typeface="Wingdings" panose="05000000000000000000" pitchFamily="2" charset="2"/>
              <a:buChar char="ü"/>
            </a:pP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假定数据由一个统计过程产生，通过找到最佳拟合数据的统计模型来描述数据，统计模型用一种分布的一组参数描述</a:t>
            </a:r>
            <a:endParaRPr lang="en-US" altLang="zh-CN" sz="2400" b="1" dirty="0">
              <a:latin typeface="Times New Roman" panose="02020603050405020304" pitchFamily="18" charset="0"/>
              <a:ea typeface="黑体" panose="02010609060101010101" pitchFamily="49" charset="-122"/>
              <a:cs typeface="Times New Roman" panose="02020603050405020304" pitchFamily="18" charset="0"/>
            </a:endParaRPr>
          </a:p>
          <a:p>
            <a:pPr marL="800100" lvl="1" indent="-342900">
              <a:lnSpc>
                <a:spcPct val="150000"/>
              </a:lnSpc>
              <a:buClr>
                <a:schemeClr val="accent3">
                  <a:lumMod val="50000"/>
                </a:schemeClr>
              </a:buClr>
              <a:buFont typeface="Wingdings" panose="05000000000000000000" pitchFamily="2" charset="2"/>
              <a:buChar char="ü"/>
            </a:pP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EM</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（期望</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最大）算法基于混合模型</a:t>
            </a:r>
            <a:endParaRPr lang="en-US" altLang="zh-CN" sz="2400" b="1" dirty="0">
              <a:latin typeface="Times New Roman" panose="02020603050405020304" pitchFamily="18" charset="0"/>
              <a:ea typeface="黑体" panose="02010609060101010101" pitchFamily="49" charset="-122"/>
              <a:cs typeface="Times New Roman" panose="02020603050405020304" pitchFamily="18" charset="0"/>
            </a:endParaRPr>
          </a:p>
          <a:p>
            <a:pPr marL="800100" lvl="1" indent="-342900">
              <a:lnSpc>
                <a:spcPct val="150000"/>
              </a:lnSpc>
              <a:buClr>
                <a:schemeClr val="accent3">
                  <a:lumMod val="50000"/>
                </a:schemeClr>
              </a:buClr>
              <a:buFont typeface="Wingdings" panose="05000000000000000000" pitchFamily="2" charset="2"/>
              <a:buChar char="ü"/>
            </a:pP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使用若干统计分布对数据建模，每个分布对应一个簇，每个分布的参数提供对应簇的描述</a:t>
            </a:r>
            <a:endParaRPr lang="en-US" altLang="zh-CN" sz="2400" b="1" dirty="0">
              <a:latin typeface="Times New Roman" panose="02020603050405020304" pitchFamily="18" charset="0"/>
              <a:ea typeface="黑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29091092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直接连接符 9"/>
          <p:cNvCxnSpPr/>
          <p:nvPr/>
        </p:nvCxnSpPr>
        <p:spPr>
          <a:xfrm>
            <a:off x="755576" y="6669360"/>
            <a:ext cx="8162925" cy="0"/>
          </a:xfrm>
          <a:prstGeom prst="line">
            <a:avLst/>
          </a:prstGeom>
          <a:ln w="254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Box 1"/>
          <p:cNvSpPr txBox="1">
            <a:spLocks noGrp="1" noChangeArrowheads="1"/>
          </p:cNvSpPr>
          <p:nvPr>
            <p:ph type="title"/>
          </p:nvPr>
        </p:nvSpPr>
        <p:spPr bwMode="auto">
          <a:xfrm>
            <a:off x="434975" y="184572"/>
            <a:ext cx="8229600" cy="551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b="1">
                <a:solidFill>
                  <a:schemeClr val="tx1"/>
                </a:solidFill>
                <a:latin typeface="Times New Roman" pitchFamily="18" charset="0"/>
                <a:ea typeface="华文中宋" pitchFamily="2" charset="-122"/>
              </a:defRPr>
            </a:lvl1pPr>
            <a:lvl2pPr marL="742950" indent="-285750" eaLnBrk="0" hangingPunct="0">
              <a:defRPr kumimoji="1" b="1">
                <a:solidFill>
                  <a:schemeClr val="tx1"/>
                </a:solidFill>
                <a:latin typeface="Times New Roman" pitchFamily="18" charset="0"/>
                <a:ea typeface="华文中宋" pitchFamily="2" charset="-122"/>
              </a:defRPr>
            </a:lvl2pPr>
            <a:lvl3pPr marL="1143000" indent="-228600" eaLnBrk="0" hangingPunct="0">
              <a:defRPr kumimoji="1" b="1">
                <a:solidFill>
                  <a:schemeClr val="tx1"/>
                </a:solidFill>
                <a:latin typeface="Times New Roman" pitchFamily="18" charset="0"/>
                <a:ea typeface="华文中宋" pitchFamily="2" charset="-122"/>
              </a:defRPr>
            </a:lvl3pPr>
            <a:lvl4pPr marL="1600200" indent="-228600" eaLnBrk="0" hangingPunct="0">
              <a:defRPr kumimoji="1" b="1">
                <a:solidFill>
                  <a:schemeClr val="tx1"/>
                </a:solidFill>
                <a:latin typeface="Times New Roman" pitchFamily="18" charset="0"/>
                <a:ea typeface="华文中宋" pitchFamily="2" charset="-122"/>
              </a:defRPr>
            </a:lvl4pPr>
            <a:lvl5pPr marL="2057400" indent="-228600" eaLnBrk="0" hangingPunct="0">
              <a:defRPr kumimoji="1" b="1">
                <a:solidFill>
                  <a:schemeClr val="tx1"/>
                </a:solidFill>
                <a:latin typeface="Times New Roman" pitchFamily="18" charset="0"/>
                <a:ea typeface="华文中宋" pitchFamily="2" charset="-122"/>
              </a:defRPr>
            </a:lvl5pPr>
            <a:lvl6pPr marL="25146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6pPr>
            <a:lvl7pPr marL="29718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7pPr>
            <a:lvl8pPr marL="34290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8pPr>
            <a:lvl9pPr marL="38862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9pPr>
          </a:lstStyle>
          <a:p>
            <a:pPr algn="ctr" eaLnBrk="1" hangingPunct="1"/>
            <a:r>
              <a:rPr lang="zh-CN" altLang="en-US" sz="3200" dirty="0">
                <a:latin typeface="黑体" pitchFamily="2" charset="-122"/>
                <a:ea typeface="黑体" pitchFamily="2" charset="-122"/>
              </a:rPr>
              <a:t>聚类算法</a:t>
            </a:r>
            <a:r>
              <a:rPr lang="zh-CN" altLang="en-US" sz="3200" dirty="0">
                <a:solidFill>
                  <a:srgbClr val="FF0000"/>
                </a:solidFill>
                <a:latin typeface="黑体" pitchFamily="2" charset="-122"/>
                <a:ea typeface="黑体" pitchFamily="2" charset="-122"/>
              </a:rPr>
              <a:t>之混合模型聚类</a:t>
            </a:r>
          </a:p>
        </p:txBody>
      </p:sp>
      <p:sp>
        <p:nvSpPr>
          <p:cNvPr id="2" name="灯片编号占位符 1">
            <a:extLst>
              <a:ext uri="{FF2B5EF4-FFF2-40B4-BE49-F238E27FC236}">
                <a16:creationId xmlns:a16="http://schemas.microsoft.com/office/drawing/2014/main" id="{B0290D7D-A83F-4807-84BD-D3FDCBBF298D}"/>
              </a:ext>
            </a:extLst>
          </p:cNvPr>
          <p:cNvSpPr>
            <a:spLocks noGrp="1"/>
          </p:cNvSpPr>
          <p:nvPr>
            <p:ph type="sldNum" sz="quarter" idx="12"/>
          </p:nvPr>
        </p:nvSpPr>
        <p:spPr/>
        <p:txBody>
          <a:bodyPr/>
          <a:lstStyle/>
          <a:p>
            <a:fld id="{0C913308-F349-4B6D-A68A-DD1791B4A57B}" type="slidenum">
              <a:rPr lang="zh-CN" altLang="en-US" smtClean="0"/>
              <a:t>24</a:t>
            </a:fld>
            <a:endParaRPr lang="zh-CN" altLang="en-US"/>
          </a:p>
        </p:txBody>
      </p:sp>
      <p:sp>
        <p:nvSpPr>
          <p:cNvPr id="5" name="矩形 4">
            <a:extLst>
              <a:ext uri="{FF2B5EF4-FFF2-40B4-BE49-F238E27FC236}">
                <a16:creationId xmlns:a16="http://schemas.microsoft.com/office/drawing/2014/main" id="{4750DB9C-8A21-45C8-98F0-4C49F74645BA}"/>
              </a:ext>
            </a:extLst>
          </p:cNvPr>
          <p:cNvSpPr/>
          <p:nvPr/>
        </p:nvSpPr>
        <p:spPr>
          <a:xfrm>
            <a:off x="434975" y="1196752"/>
            <a:ext cx="8229600" cy="4991751"/>
          </a:xfrm>
          <a:prstGeom prst="rect">
            <a:avLst/>
          </a:prstGeom>
        </p:spPr>
        <p:txBody>
          <a:bodyPr wrap="square">
            <a:spAutoFit/>
          </a:bodyPr>
          <a:lstStyle/>
          <a:p>
            <a:pPr marL="342900" indent="-342900">
              <a:lnSpc>
                <a:spcPct val="150000"/>
              </a:lnSpc>
              <a:buClr>
                <a:schemeClr val="accent3">
                  <a:lumMod val="50000"/>
                </a:schemeClr>
              </a:buClr>
              <a:buFont typeface="Wingdings" panose="05000000000000000000" pitchFamily="2" charset="2"/>
              <a:buChar char="p"/>
            </a:pP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混合模型</a:t>
            </a:r>
            <a:endParaRPr lang="en-US" altLang="zh-CN" sz="2400" b="1" dirty="0">
              <a:latin typeface="Times New Roman" panose="02020603050405020304" pitchFamily="18" charset="0"/>
              <a:ea typeface="黑体" panose="02010609060101010101" pitchFamily="49" charset="-122"/>
              <a:cs typeface="Times New Roman" panose="02020603050405020304" pitchFamily="18" charset="0"/>
            </a:endParaRPr>
          </a:p>
          <a:p>
            <a:pPr marL="800100" lvl="1" indent="-342900">
              <a:lnSpc>
                <a:spcPct val="150000"/>
              </a:lnSpc>
              <a:buClr>
                <a:schemeClr val="accent3">
                  <a:lumMod val="50000"/>
                </a:schemeClr>
              </a:buClr>
              <a:buFont typeface="Wingdings" panose="05000000000000000000" pitchFamily="2" charset="2"/>
              <a:buChar char="ü"/>
            </a:pP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混合模型将数据看做从不同的概率分布得到的观测值的集合，概率分布可以是任意分布</a:t>
            </a:r>
            <a:endParaRPr lang="en-US" altLang="zh-CN" sz="2400" b="1" dirty="0">
              <a:latin typeface="Times New Roman" panose="02020603050405020304" pitchFamily="18" charset="0"/>
              <a:ea typeface="黑体" panose="02010609060101010101" pitchFamily="49" charset="-122"/>
              <a:cs typeface="Times New Roman" panose="02020603050405020304" pitchFamily="18" charset="0"/>
            </a:endParaRPr>
          </a:p>
          <a:p>
            <a:pPr marL="800100" lvl="1" indent="-342900">
              <a:lnSpc>
                <a:spcPct val="150000"/>
              </a:lnSpc>
              <a:buClr>
                <a:schemeClr val="accent3">
                  <a:lumMod val="50000"/>
                </a:schemeClr>
              </a:buClr>
              <a:buFont typeface="Wingdings" panose="05000000000000000000" pitchFamily="2" charset="2"/>
              <a:buChar char="ü"/>
            </a:pP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高斯混合模型（</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GMM</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）认为数据是从</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K</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个高斯函数组合而来的：</a:t>
            </a:r>
            <a:endParaRPr lang="en-US" altLang="zh-CN" sz="2400" b="1" dirty="0">
              <a:latin typeface="Times New Roman" panose="02020603050405020304" pitchFamily="18" charset="0"/>
              <a:ea typeface="黑体" panose="02010609060101010101" pitchFamily="49" charset="-122"/>
              <a:cs typeface="Times New Roman" panose="02020603050405020304" pitchFamily="18" charset="0"/>
            </a:endParaRPr>
          </a:p>
          <a:p>
            <a:pPr marL="800100" lvl="1" indent="-342900">
              <a:lnSpc>
                <a:spcPct val="150000"/>
              </a:lnSpc>
              <a:buClr>
                <a:schemeClr val="accent3">
                  <a:lumMod val="50000"/>
                </a:schemeClr>
              </a:buClr>
              <a:buFont typeface="Wingdings" panose="05000000000000000000" pitchFamily="2" charset="2"/>
              <a:buChar char="ü"/>
            </a:pPr>
            <a:endParaRPr lang="en-US" altLang="zh-CN" sz="2400" b="1" dirty="0">
              <a:latin typeface="Times New Roman" panose="02020603050405020304" pitchFamily="18" charset="0"/>
              <a:ea typeface="黑体" panose="02010609060101010101" pitchFamily="49" charset="-122"/>
              <a:cs typeface="Times New Roman" panose="02020603050405020304" pitchFamily="18" charset="0"/>
            </a:endParaRPr>
          </a:p>
          <a:p>
            <a:pPr marL="800100" lvl="1" indent="-342900">
              <a:lnSpc>
                <a:spcPct val="150000"/>
              </a:lnSpc>
              <a:buClr>
                <a:schemeClr val="accent3">
                  <a:lumMod val="50000"/>
                </a:schemeClr>
              </a:buClr>
              <a:buFont typeface="Wingdings" panose="05000000000000000000" pitchFamily="2" charset="2"/>
              <a:buChar char="ü"/>
            </a:pP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最大似然估计：</a:t>
            </a:r>
            <a:endParaRPr lang="en-US" altLang="zh-CN" sz="2400" b="1" dirty="0">
              <a:latin typeface="Times New Roman" panose="02020603050405020304" pitchFamily="18" charset="0"/>
              <a:ea typeface="黑体" panose="02010609060101010101" pitchFamily="49" charset="-122"/>
              <a:cs typeface="Times New Roman" panose="02020603050405020304" pitchFamily="18" charset="0"/>
            </a:endParaRPr>
          </a:p>
          <a:p>
            <a:pPr marL="800100" lvl="1" indent="-342900">
              <a:lnSpc>
                <a:spcPct val="150000"/>
              </a:lnSpc>
              <a:buClr>
                <a:schemeClr val="accent3">
                  <a:lumMod val="50000"/>
                </a:schemeClr>
              </a:buClr>
              <a:buFont typeface="Wingdings" panose="05000000000000000000" pitchFamily="2" charset="2"/>
              <a:buChar char="ü"/>
            </a:pPr>
            <a:endParaRPr lang="en-US" altLang="zh-CN" sz="2400" b="1" dirty="0">
              <a:latin typeface="Times New Roman" panose="02020603050405020304" pitchFamily="18" charset="0"/>
              <a:ea typeface="黑体" panose="02010609060101010101" pitchFamily="49" charset="-122"/>
              <a:cs typeface="Times New Roman" panose="02020603050405020304" pitchFamily="18" charset="0"/>
            </a:endParaRPr>
          </a:p>
          <a:p>
            <a:pPr marL="342900" indent="-342900">
              <a:lnSpc>
                <a:spcPct val="150000"/>
              </a:lnSpc>
              <a:buClr>
                <a:schemeClr val="accent3">
                  <a:lumMod val="50000"/>
                </a:schemeClr>
              </a:buClr>
              <a:buFont typeface="Wingdings" panose="05000000000000000000" pitchFamily="2" charset="2"/>
              <a:buChar char="p"/>
            </a:pPr>
            <a:endParaRPr lang="en-US" altLang="zh-CN" sz="2400" b="1" dirty="0">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3" name="图片 2">
            <a:extLst>
              <a:ext uri="{FF2B5EF4-FFF2-40B4-BE49-F238E27FC236}">
                <a16:creationId xmlns:a16="http://schemas.microsoft.com/office/drawing/2014/main" id="{1851C00F-DDC4-4830-A94B-00E471670390}"/>
              </a:ext>
            </a:extLst>
          </p:cNvPr>
          <p:cNvPicPr>
            <a:picLocks noChangeAspect="1"/>
          </p:cNvPicPr>
          <p:nvPr/>
        </p:nvPicPr>
        <p:blipFill>
          <a:blip r:embed="rId3"/>
          <a:stretch>
            <a:fillRect/>
          </a:stretch>
        </p:blipFill>
        <p:spPr>
          <a:xfrm>
            <a:off x="2987824" y="3933056"/>
            <a:ext cx="3332340" cy="454320"/>
          </a:xfrm>
          <a:prstGeom prst="rect">
            <a:avLst/>
          </a:prstGeom>
        </p:spPr>
      </p:pic>
      <p:pic>
        <p:nvPicPr>
          <p:cNvPr id="8" name="图片 7">
            <a:extLst>
              <a:ext uri="{FF2B5EF4-FFF2-40B4-BE49-F238E27FC236}">
                <a16:creationId xmlns:a16="http://schemas.microsoft.com/office/drawing/2014/main" id="{CEC3D994-042C-47A9-9F49-9D58D100206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07383" y="5066869"/>
            <a:ext cx="4729233" cy="1366223"/>
          </a:xfrm>
          <a:prstGeom prst="rect">
            <a:avLst/>
          </a:prstGeom>
        </p:spPr>
      </p:pic>
    </p:spTree>
    <p:extLst>
      <p:ext uri="{BB962C8B-B14F-4D97-AF65-F5344CB8AC3E}">
        <p14:creationId xmlns:p14="http://schemas.microsoft.com/office/powerpoint/2010/main" val="33000652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直接连接符 9"/>
          <p:cNvCxnSpPr/>
          <p:nvPr/>
        </p:nvCxnSpPr>
        <p:spPr>
          <a:xfrm>
            <a:off x="755576" y="6669360"/>
            <a:ext cx="8162925" cy="0"/>
          </a:xfrm>
          <a:prstGeom prst="line">
            <a:avLst/>
          </a:prstGeom>
          <a:ln w="254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Box 1"/>
          <p:cNvSpPr txBox="1">
            <a:spLocks noGrp="1" noChangeArrowheads="1"/>
          </p:cNvSpPr>
          <p:nvPr>
            <p:ph type="title"/>
          </p:nvPr>
        </p:nvSpPr>
        <p:spPr bwMode="auto">
          <a:xfrm>
            <a:off x="434975" y="184572"/>
            <a:ext cx="8229600" cy="551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b="1">
                <a:solidFill>
                  <a:schemeClr val="tx1"/>
                </a:solidFill>
                <a:latin typeface="Times New Roman" pitchFamily="18" charset="0"/>
                <a:ea typeface="华文中宋" pitchFamily="2" charset="-122"/>
              </a:defRPr>
            </a:lvl1pPr>
            <a:lvl2pPr marL="742950" indent="-285750" eaLnBrk="0" hangingPunct="0">
              <a:defRPr kumimoji="1" b="1">
                <a:solidFill>
                  <a:schemeClr val="tx1"/>
                </a:solidFill>
                <a:latin typeface="Times New Roman" pitchFamily="18" charset="0"/>
                <a:ea typeface="华文中宋" pitchFamily="2" charset="-122"/>
              </a:defRPr>
            </a:lvl2pPr>
            <a:lvl3pPr marL="1143000" indent="-228600" eaLnBrk="0" hangingPunct="0">
              <a:defRPr kumimoji="1" b="1">
                <a:solidFill>
                  <a:schemeClr val="tx1"/>
                </a:solidFill>
                <a:latin typeface="Times New Roman" pitchFamily="18" charset="0"/>
                <a:ea typeface="华文中宋" pitchFamily="2" charset="-122"/>
              </a:defRPr>
            </a:lvl3pPr>
            <a:lvl4pPr marL="1600200" indent="-228600" eaLnBrk="0" hangingPunct="0">
              <a:defRPr kumimoji="1" b="1">
                <a:solidFill>
                  <a:schemeClr val="tx1"/>
                </a:solidFill>
                <a:latin typeface="Times New Roman" pitchFamily="18" charset="0"/>
                <a:ea typeface="华文中宋" pitchFamily="2" charset="-122"/>
              </a:defRPr>
            </a:lvl4pPr>
            <a:lvl5pPr marL="2057400" indent="-228600" eaLnBrk="0" hangingPunct="0">
              <a:defRPr kumimoji="1" b="1">
                <a:solidFill>
                  <a:schemeClr val="tx1"/>
                </a:solidFill>
                <a:latin typeface="Times New Roman" pitchFamily="18" charset="0"/>
                <a:ea typeface="华文中宋" pitchFamily="2" charset="-122"/>
              </a:defRPr>
            </a:lvl5pPr>
            <a:lvl6pPr marL="25146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6pPr>
            <a:lvl7pPr marL="29718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7pPr>
            <a:lvl8pPr marL="34290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8pPr>
            <a:lvl9pPr marL="38862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9pPr>
          </a:lstStyle>
          <a:p>
            <a:pPr algn="ctr" eaLnBrk="1" hangingPunct="1"/>
            <a:r>
              <a:rPr lang="zh-CN" altLang="en-US" sz="3200" dirty="0">
                <a:latin typeface="黑体" pitchFamily="2" charset="-122"/>
                <a:ea typeface="黑体" pitchFamily="2" charset="-122"/>
              </a:rPr>
              <a:t>聚类算法</a:t>
            </a:r>
            <a:r>
              <a:rPr lang="zh-CN" altLang="en-US" sz="3200" dirty="0">
                <a:solidFill>
                  <a:srgbClr val="FF0000"/>
                </a:solidFill>
                <a:latin typeface="黑体" pitchFamily="2" charset="-122"/>
                <a:ea typeface="黑体" pitchFamily="2" charset="-122"/>
              </a:rPr>
              <a:t>之混合模型聚类</a:t>
            </a:r>
          </a:p>
        </p:txBody>
      </p:sp>
      <p:sp>
        <p:nvSpPr>
          <p:cNvPr id="2" name="灯片编号占位符 1">
            <a:extLst>
              <a:ext uri="{FF2B5EF4-FFF2-40B4-BE49-F238E27FC236}">
                <a16:creationId xmlns:a16="http://schemas.microsoft.com/office/drawing/2014/main" id="{B0290D7D-A83F-4807-84BD-D3FDCBBF298D}"/>
              </a:ext>
            </a:extLst>
          </p:cNvPr>
          <p:cNvSpPr>
            <a:spLocks noGrp="1"/>
          </p:cNvSpPr>
          <p:nvPr>
            <p:ph type="sldNum" sz="quarter" idx="12"/>
          </p:nvPr>
        </p:nvSpPr>
        <p:spPr/>
        <p:txBody>
          <a:bodyPr/>
          <a:lstStyle/>
          <a:p>
            <a:fld id="{0C913308-F349-4B6D-A68A-DD1791B4A57B}" type="slidenum">
              <a:rPr lang="zh-CN" altLang="en-US" smtClean="0"/>
              <a:t>25</a:t>
            </a:fld>
            <a:endParaRPr lang="zh-CN" altLang="en-US"/>
          </a:p>
        </p:txBody>
      </p:sp>
      <p:sp>
        <p:nvSpPr>
          <p:cNvPr id="5" name="矩形 4">
            <a:extLst>
              <a:ext uri="{FF2B5EF4-FFF2-40B4-BE49-F238E27FC236}">
                <a16:creationId xmlns:a16="http://schemas.microsoft.com/office/drawing/2014/main" id="{4750DB9C-8A21-45C8-98F0-4C49F74645BA}"/>
              </a:ext>
            </a:extLst>
          </p:cNvPr>
          <p:cNvSpPr/>
          <p:nvPr/>
        </p:nvSpPr>
        <p:spPr>
          <a:xfrm>
            <a:off x="434975" y="1196752"/>
            <a:ext cx="8229600" cy="3329758"/>
          </a:xfrm>
          <a:prstGeom prst="rect">
            <a:avLst/>
          </a:prstGeom>
        </p:spPr>
        <p:txBody>
          <a:bodyPr wrap="square">
            <a:spAutoFit/>
          </a:bodyPr>
          <a:lstStyle/>
          <a:p>
            <a:pPr marL="342900" indent="-342900">
              <a:lnSpc>
                <a:spcPct val="150000"/>
              </a:lnSpc>
              <a:buClr>
                <a:schemeClr val="accent3">
                  <a:lumMod val="50000"/>
                </a:schemeClr>
              </a:buClr>
              <a:buFont typeface="Wingdings" panose="05000000000000000000" pitchFamily="2" charset="2"/>
              <a:buChar char="p"/>
            </a:pP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EM</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算法</a:t>
            </a:r>
            <a:endParaRPr lang="en-US" altLang="zh-CN" sz="2400" b="1" dirty="0">
              <a:latin typeface="Times New Roman" panose="02020603050405020304" pitchFamily="18" charset="0"/>
              <a:ea typeface="黑体" panose="02010609060101010101" pitchFamily="49" charset="-122"/>
              <a:cs typeface="Times New Roman" panose="02020603050405020304" pitchFamily="18" charset="0"/>
            </a:endParaRPr>
          </a:p>
          <a:p>
            <a:pPr marL="800100" lvl="1" indent="-342900">
              <a:lnSpc>
                <a:spcPct val="150000"/>
              </a:lnSpc>
              <a:buClr>
                <a:schemeClr val="accent3">
                  <a:lumMod val="50000"/>
                </a:schemeClr>
              </a:buClr>
              <a:buFont typeface="Wingdings" panose="05000000000000000000" pitchFamily="2" charset="2"/>
              <a:buChar char="ü"/>
            </a:pP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E-step</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a:t>
            </a:r>
            <a:endParaRPr lang="en-US" altLang="zh-CN" sz="2400" b="1" dirty="0">
              <a:latin typeface="Times New Roman" panose="02020603050405020304" pitchFamily="18" charset="0"/>
              <a:ea typeface="黑体" panose="02010609060101010101" pitchFamily="49" charset="-122"/>
              <a:cs typeface="Times New Roman" panose="02020603050405020304" pitchFamily="18" charset="0"/>
            </a:endParaRPr>
          </a:p>
          <a:p>
            <a:pPr marL="800100" lvl="1" indent="-342900">
              <a:lnSpc>
                <a:spcPct val="150000"/>
              </a:lnSpc>
              <a:buClr>
                <a:schemeClr val="accent3">
                  <a:lumMod val="50000"/>
                </a:schemeClr>
              </a:buClr>
              <a:buFont typeface="Wingdings" panose="05000000000000000000" pitchFamily="2" charset="2"/>
              <a:buChar char="ü"/>
            </a:pPr>
            <a:endParaRPr lang="en-US" altLang="zh-CN" sz="2400" b="1" dirty="0">
              <a:latin typeface="Times New Roman" panose="02020603050405020304" pitchFamily="18" charset="0"/>
              <a:ea typeface="黑体" panose="02010609060101010101" pitchFamily="49" charset="-122"/>
              <a:cs typeface="Times New Roman" panose="02020603050405020304" pitchFamily="18" charset="0"/>
            </a:endParaRPr>
          </a:p>
          <a:p>
            <a:pPr marL="800100" lvl="1" indent="-342900">
              <a:lnSpc>
                <a:spcPct val="150000"/>
              </a:lnSpc>
              <a:buClr>
                <a:schemeClr val="accent3">
                  <a:lumMod val="50000"/>
                </a:schemeClr>
              </a:buClr>
              <a:buFont typeface="Wingdings" panose="05000000000000000000" pitchFamily="2" charset="2"/>
              <a:buChar char="ü"/>
            </a:pP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M-step</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a:t>
            </a:r>
            <a:endParaRPr lang="en-US" altLang="zh-CN" sz="2400" b="1" dirty="0">
              <a:latin typeface="Times New Roman" panose="02020603050405020304" pitchFamily="18" charset="0"/>
              <a:ea typeface="黑体" panose="02010609060101010101" pitchFamily="49" charset="-122"/>
              <a:cs typeface="Times New Roman" panose="02020603050405020304" pitchFamily="18" charset="0"/>
            </a:endParaRPr>
          </a:p>
          <a:p>
            <a:pPr marL="800100" lvl="1" indent="-342900">
              <a:lnSpc>
                <a:spcPct val="150000"/>
              </a:lnSpc>
              <a:buClr>
                <a:schemeClr val="accent3">
                  <a:lumMod val="50000"/>
                </a:schemeClr>
              </a:buClr>
              <a:buFont typeface="Wingdings" panose="05000000000000000000" pitchFamily="2" charset="2"/>
              <a:buChar char="ü"/>
            </a:pPr>
            <a:endParaRPr lang="en-US" altLang="zh-CN" sz="2400" b="1" dirty="0">
              <a:latin typeface="Times New Roman" panose="02020603050405020304" pitchFamily="18" charset="0"/>
              <a:ea typeface="黑体" panose="02010609060101010101" pitchFamily="49" charset="-122"/>
              <a:cs typeface="Times New Roman" panose="02020603050405020304" pitchFamily="18" charset="0"/>
            </a:endParaRPr>
          </a:p>
          <a:p>
            <a:pPr marL="342900" indent="-342900">
              <a:lnSpc>
                <a:spcPct val="150000"/>
              </a:lnSpc>
              <a:buClr>
                <a:schemeClr val="accent3">
                  <a:lumMod val="50000"/>
                </a:schemeClr>
              </a:buClr>
              <a:buFont typeface="Wingdings" panose="05000000000000000000" pitchFamily="2" charset="2"/>
              <a:buChar char="p"/>
            </a:pPr>
            <a:endParaRPr lang="en-US" altLang="zh-CN" sz="2400" b="1" dirty="0">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8" name="图片 7">
            <a:extLst>
              <a:ext uri="{FF2B5EF4-FFF2-40B4-BE49-F238E27FC236}">
                <a16:creationId xmlns:a16="http://schemas.microsoft.com/office/drawing/2014/main" id="{895241A4-FF44-4216-B20D-F3B2E2754745}"/>
              </a:ext>
            </a:extLst>
          </p:cNvPr>
          <p:cNvPicPr>
            <a:picLocks noChangeAspect="1"/>
          </p:cNvPicPr>
          <p:nvPr/>
        </p:nvPicPr>
        <p:blipFill rotWithShape="1">
          <a:blip r:embed="rId3"/>
          <a:srcRect b="5055"/>
          <a:stretch/>
        </p:blipFill>
        <p:spPr>
          <a:xfrm>
            <a:off x="2771800" y="2366105"/>
            <a:ext cx="3317804" cy="486832"/>
          </a:xfrm>
          <a:prstGeom prst="rect">
            <a:avLst/>
          </a:prstGeom>
        </p:spPr>
      </p:pic>
      <p:pic>
        <p:nvPicPr>
          <p:cNvPr id="12" name="图片 11">
            <a:extLst>
              <a:ext uri="{FF2B5EF4-FFF2-40B4-BE49-F238E27FC236}">
                <a16:creationId xmlns:a16="http://schemas.microsoft.com/office/drawing/2014/main" id="{C3FE5E30-7B65-4ABA-84BD-C5E90EBB2FD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571268" y="3501008"/>
            <a:ext cx="3718868" cy="2282539"/>
          </a:xfrm>
          <a:prstGeom prst="rect">
            <a:avLst/>
          </a:prstGeom>
        </p:spPr>
      </p:pic>
    </p:spTree>
    <p:extLst>
      <p:ext uri="{BB962C8B-B14F-4D97-AF65-F5344CB8AC3E}">
        <p14:creationId xmlns:p14="http://schemas.microsoft.com/office/powerpoint/2010/main" val="38530429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直接连接符 9"/>
          <p:cNvCxnSpPr/>
          <p:nvPr/>
        </p:nvCxnSpPr>
        <p:spPr>
          <a:xfrm>
            <a:off x="755576" y="6669360"/>
            <a:ext cx="8162925" cy="0"/>
          </a:xfrm>
          <a:prstGeom prst="line">
            <a:avLst/>
          </a:prstGeom>
          <a:ln w="254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Box 1"/>
          <p:cNvSpPr txBox="1">
            <a:spLocks noGrp="1" noChangeArrowheads="1"/>
          </p:cNvSpPr>
          <p:nvPr>
            <p:ph type="title"/>
          </p:nvPr>
        </p:nvSpPr>
        <p:spPr bwMode="auto">
          <a:xfrm>
            <a:off x="434975" y="184572"/>
            <a:ext cx="8229600" cy="551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b="1">
                <a:solidFill>
                  <a:schemeClr val="tx1"/>
                </a:solidFill>
                <a:latin typeface="Times New Roman" pitchFamily="18" charset="0"/>
                <a:ea typeface="华文中宋" pitchFamily="2" charset="-122"/>
              </a:defRPr>
            </a:lvl1pPr>
            <a:lvl2pPr marL="742950" indent="-285750" eaLnBrk="0" hangingPunct="0">
              <a:defRPr kumimoji="1" b="1">
                <a:solidFill>
                  <a:schemeClr val="tx1"/>
                </a:solidFill>
                <a:latin typeface="Times New Roman" pitchFamily="18" charset="0"/>
                <a:ea typeface="华文中宋" pitchFamily="2" charset="-122"/>
              </a:defRPr>
            </a:lvl2pPr>
            <a:lvl3pPr marL="1143000" indent="-228600" eaLnBrk="0" hangingPunct="0">
              <a:defRPr kumimoji="1" b="1">
                <a:solidFill>
                  <a:schemeClr val="tx1"/>
                </a:solidFill>
                <a:latin typeface="Times New Roman" pitchFamily="18" charset="0"/>
                <a:ea typeface="华文中宋" pitchFamily="2" charset="-122"/>
              </a:defRPr>
            </a:lvl3pPr>
            <a:lvl4pPr marL="1600200" indent="-228600" eaLnBrk="0" hangingPunct="0">
              <a:defRPr kumimoji="1" b="1">
                <a:solidFill>
                  <a:schemeClr val="tx1"/>
                </a:solidFill>
                <a:latin typeface="Times New Roman" pitchFamily="18" charset="0"/>
                <a:ea typeface="华文中宋" pitchFamily="2" charset="-122"/>
              </a:defRPr>
            </a:lvl4pPr>
            <a:lvl5pPr marL="2057400" indent="-228600" eaLnBrk="0" hangingPunct="0">
              <a:defRPr kumimoji="1" b="1">
                <a:solidFill>
                  <a:schemeClr val="tx1"/>
                </a:solidFill>
                <a:latin typeface="Times New Roman" pitchFamily="18" charset="0"/>
                <a:ea typeface="华文中宋" pitchFamily="2" charset="-122"/>
              </a:defRPr>
            </a:lvl5pPr>
            <a:lvl6pPr marL="25146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6pPr>
            <a:lvl7pPr marL="29718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7pPr>
            <a:lvl8pPr marL="34290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8pPr>
            <a:lvl9pPr marL="38862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9pPr>
          </a:lstStyle>
          <a:p>
            <a:pPr algn="ctr" eaLnBrk="1" hangingPunct="1"/>
            <a:r>
              <a:rPr lang="zh-CN" altLang="en-US" sz="3200" dirty="0">
                <a:latin typeface="黑体" pitchFamily="2" charset="-122"/>
                <a:ea typeface="黑体" pitchFamily="2" charset="-122"/>
              </a:rPr>
              <a:t>聚类算法</a:t>
            </a:r>
            <a:r>
              <a:rPr lang="zh-CN" altLang="en-US" sz="3200" dirty="0">
                <a:solidFill>
                  <a:srgbClr val="FF0000"/>
                </a:solidFill>
                <a:latin typeface="黑体" pitchFamily="2" charset="-122"/>
                <a:ea typeface="黑体" pitchFamily="2" charset="-122"/>
              </a:rPr>
              <a:t>之混合模型聚类</a:t>
            </a:r>
          </a:p>
        </p:txBody>
      </p:sp>
      <p:sp>
        <p:nvSpPr>
          <p:cNvPr id="2" name="灯片编号占位符 1">
            <a:extLst>
              <a:ext uri="{FF2B5EF4-FFF2-40B4-BE49-F238E27FC236}">
                <a16:creationId xmlns:a16="http://schemas.microsoft.com/office/drawing/2014/main" id="{B0290D7D-A83F-4807-84BD-D3FDCBBF298D}"/>
              </a:ext>
            </a:extLst>
          </p:cNvPr>
          <p:cNvSpPr>
            <a:spLocks noGrp="1"/>
          </p:cNvSpPr>
          <p:nvPr>
            <p:ph type="sldNum" sz="quarter" idx="12"/>
          </p:nvPr>
        </p:nvSpPr>
        <p:spPr/>
        <p:txBody>
          <a:bodyPr/>
          <a:lstStyle/>
          <a:p>
            <a:fld id="{0C913308-F349-4B6D-A68A-DD1791B4A57B}" type="slidenum">
              <a:rPr lang="zh-CN" altLang="en-US" smtClean="0"/>
              <a:t>26</a:t>
            </a:fld>
            <a:endParaRPr lang="zh-CN" altLang="en-US"/>
          </a:p>
        </p:txBody>
      </p:sp>
      <p:pic>
        <p:nvPicPr>
          <p:cNvPr id="18434" name="Picture 2" descr="https://timgsa.baidu.com/timg?image&amp;quality=80&amp;size=b9999_10000&amp;sec=1542024241047&amp;di=6670c884512378f3cadf9f42de721b9d&amp;imgtype=0&amp;src=http%3A%2F%2Fs15.sinaimg.cn%2Fmw690%2F5309cefcgde4b05b8aeee%26690">
            <a:extLst>
              <a:ext uri="{FF2B5EF4-FFF2-40B4-BE49-F238E27FC236}">
                <a16:creationId xmlns:a16="http://schemas.microsoft.com/office/drawing/2014/main" id="{249F057F-B842-4658-AE7D-516C2BE455B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4701" y="1173119"/>
            <a:ext cx="7534597" cy="53397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420196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直接连接符 9"/>
          <p:cNvCxnSpPr/>
          <p:nvPr/>
        </p:nvCxnSpPr>
        <p:spPr>
          <a:xfrm>
            <a:off x="755576" y="6669360"/>
            <a:ext cx="8162925" cy="0"/>
          </a:xfrm>
          <a:prstGeom prst="line">
            <a:avLst/>
          </a:prstGeom>
          <a:ln w="254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Box 1"/>
          <p:cNvSpPr txBox="1">
            <a:spLocks noGrp="1" noChangeArrowheads="1"/>
          </p:cNvSpPr>
          <p:nvPr>
            <p:ph type="title"/>
          </p:nvPr>
        </p:nvSpPr>
        <p:spPr bwMode="auto">
          <a:xfrm>
            <a:off x="434975" y="184572"/>
            <a:ext cx="8229600" cy="551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b="1">
                <a:solidFill>
                  <a:schemeClr val="tx1"/>
                </a:solidFill>
                <a:latin typeface="Times New Roman" pitchFamily="18" charset="0"/>
                <a:ea typeface="华文中宋" pitchFamily="2" charset="-122"/>
              </a:defRPr>
            </a:lvl1pPr>
            <a:lvl2pPr marL="742950" indent="-285750" eaLnBrk="0" hangingPunct="0">
              <a:defRPr kumimoji="1" b="1">
                <a:solidFill>
                  <a:schemeClr val="tx1"/>
                </a:solidFill>
                <a:latin typeface="Times New Roman" pitchFamily="18" charset="0"/>
                <a:ea typeface="华文中宋" pitchFamily="2" charset="-122"/>
              </a:defRPr>
            </a:lvl2pPr>
            <a:lvl3pPr marL="1143000" indent="-228600" eaLnBrk="0" hangingPunct="0">
              <a:defRPr kumimoji="1" b="1">
                <a:solidFill>
                  <a:schemeClr val="tx1"/>
                </a:solidFill>
                <a:latin typeface="Times New Roman" pitchFamily="18" charset="0"/>
                <a:ea typeface="华文中宋" pitchFamily="2" charset="-122"/>
              </a:defRPr>
            </a:lvl3pPr>
            <a:lvl4pPr marL="1600200" indent="-228600" eaLnBrk="0" hangingPunct="0">
              <a:defRPr kumimoji="1" b="1">
                <a:solidFill>
                  <a:schemeClr val="tx1"/>
                </a:solidFill>
                <a:latin typeface="Times New Roman" pitchFamily="18" charset="0"/>
                <a:ea typeface="华文中宋" pitchFamily="2" charset="-122"/>
              </a:defRPr>
            </a:lvl4pPr>
            <a:lvl5pPr marL="2057400" indent="-228600" eaLnBrk="0" hangingPunct="0">
              <a:defRPr kumimoji="1" b="1">
                <a:solidFill>
                  <a:schemeClr val="tx1"/>
                </a:solidFill>
                <a:latin typeface="Times New Roman" pitchFamily="18" charset="0"/>
                <a:ea typeface="华文中宋" pitchFamily="2" charset="-122"/>
              </a:defRPr>
            </a:lvl5pPr>
            <a:lvl6pPr marL="25146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6pPr>
            <a:lvl7pPr marL="29718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7pPr>
            <a:lvl8pPr marL="34290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8pPr>
            <a:lvl9pPr marL="38862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9pPr>
          </a:lstStyle>
          <a:p>
            <a:pPr algn="ctr" eaLnBrk="1" hangingPunct="1"/>
            <a:r>
              <a:rPr lang="zh-CN" altLang="en-US" sz="3200" dirty="0">
                <a:latin typeface="黑体" pitchFamily="2" charset="-122"/>
                <a:ea typeface="黑体" pitchFamily="2" charset="-122"/>
              </a:rPr>
              <a:t>聚类算法</a:t>
            </a:r>
            <a:r>
              <a:rPr lang="zh-CN" altLang="en-US" sz="3200" dirty="0">
                <a:solidFill>
                  <a:srgbClr val="FF0000"/>
                </a:solidFill>
                <a:latin typeface="黑体" pitchFamily="2" charset="-122"/>
                <a:ea typeface="黑体" pitchFamily="2" charset="-122"/>
              </a:rPr>
              <a:t>之深度聚类</a:t>
            </a:r>
          </a:p>
        </p:txBody>
      </p:sp>
      <p:sp>
        <p:nvSpPr>
          <p:cNvPr id="2" name="灯片编号占位符 1">
            <a:extLst>
              <a:ext uri="{FF2B5EF4-FFF2-40B4-BE49-F238E27FC236}">
                <a16:creationId xmlns:a16="http://schemas.microsoft.com/office/drawing/2014/main" id="{B0290D7D-A83F-4807-84BD-D3FDCBBF298D}"/>
              </a:ext>
            </a:extLst>
          </p:cNvPr>
          <p:cNvSpPr>
            <a:spLocks noGrp="1"/>
          </p:cNvSpPr>
          <p:nvPr>
            <p:ph type="sldNum" sz="quarter" idx="12"/>
          </p:nvPr>
        </p:nvSpPr>
        <p:spPr/>
        <p:txBody>
          <a:bodyPr/>
          <a:lstStyle/>
          <a:p>
            <a:fld id="{0C913308-F349-4B6D-A68A-DD1791B4A57B}" type="slidenum">
              <a:rPr lang="zh-CN" altLang="en-US" smtClean="0"/>
              <a:t>27</a:t>
            </a:fld>
            <a:endParaRPr lang="zh-CN" altLang="en-US"/>
          </a:p>
        </p:txBody>
      </p:sp>
      <p:sp>
        <p:nvSpPr>
          <p:cNvPr id="3" name="矩形 2">
            <a:extLst>
              <a:ext uri="{FF2B5EF4-FFF2-40B4-BE49-F238E27FC236}">
                <a16:creationId xmlns:a16="http://schemas.microsoft.com/office/drawing/2014/main" id="{D018040D-63B0-4887-B1A9-768C89299954}"/>
              </a:ext>
            </a:extLst>
          </p:cNvPr>
          <p:cNvSpPr/>
          <p:nvPr/>
        </p:nvSpPr>
        <p:spPr>
          <a:xfrm>
            <a:off x="323528" y="1100448"/>
            <a:ext cx="8053015" cy="4770537"/>
          </a:xfrm>
          <a:prstGeom prst="rect">
            <a:avLst/>
          </a:prstGeom>
        </p:spPr>
        <p:txBody>
          <a:bodyPr wrap="square">
            <a:spAutoFit/>
          </a:bodyPr>
          <a:lstStyle/>
          <a:p>
            <a:pPr marL="285750" indent="-285750">
              <a:spcAft>
                <a:spcPts val="2400"/>
              </a:spcAft>
              <a:buFont typeface="Wingdings" panose="05000000000000000000" pitchFamily="2" charset="2"/>
              <a:buChar char="p"/>
            </a:pPr>
            <a:r>
              <a:rPr lang="en-US" altLang="zh-CN" sz="2400" dirty="0">
                <a:latin typeface="Times New Roman" panose="02020603050405020304" pitchFamily="18" charset="0"/>
                <a:ea typeface="黑体" panose="02010609060101010101" pitchFamily="49" charset="-122"/>
                <a:cs typeface="Times New Roman" panose="02020603050405020304" pitchFamily="18" charset="0"/>
                <a:sym typeface="华文楷体" panose="02010600040101010101" pitchFamily="2" charset="-122"/>
              </a:rPr>
              <a:t>2006</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sym typeface="华文楷体" panose="02010600040101010101" pitchFamily="2" charset="-122"/>
              </a:rPr>
              <a:t>年，加拿大多伦多大学的</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sym typeface="华文楷体" panose="02010600040101010101" pitchFamily="2" charset="-122"/>
              </a:rPr>
              <a:t>Hinton</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sym typeface="华文楷体" panose="02010600040101010101" pitchFamily="2" charset="-122"/>
              </a:rPr>
              <a:t>教授在“</a:t>
            </a:r>
            <a:r>
              <a:rPr lang="en-US" altLang="zh-CN" sz="2400" b="1" i="1" dirty="0">
                <a:latin typeface="Times New Roman" panose="02020603050405020304" pitchFamily="18" charset="0"/>
                <a:ea typeface="黑体" panose="02010609060101010101" pitchFamily="49" charset="-122"/>
                <a:cs typeface="Times New Roman" panose="02020603050405020304" pitchFamily="18" charset="0"/>
                <a:sym typeface="华文楷体" panose="02010600040101010101" pitchFamily="2" charset="-122"/>
              </a:rPr>
              <a:t>Science</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sym typeface="华文楷体" panose="02010600040101010101" pitchFamily="2" charset="-122"/>
              </a:rPr>
              <a:t>”发表题为“</a:t>
            </a:r>
            <a:r>
              <a:rPr lang="en-US" altLang="zh-CN" sz="2400" i="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华文楷体" panose="02010600040101010101" pitchFamily="2" charset="-122"/>
              </a:rPr>
              <a:t>Reducing the Dimensionality of Data with Neural Networks</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sym typeface="华文楷体" panose="02010600040101010101" pitchFamily="2" charset="-122"/>
              </a:rPr>
              <a:t>”的文章，拉开了深度学习研究的大幕。</a:t>
            </a:r>
            <a:endParaRPr lang="en-US" altLang="zh-CN" sz="2400" dirty="0">
              <a:latin typeface="Times New Roman" panose="02020603050405020304" pitchFamily="18" charset="0"/>
              <a:ea typeface="黑体" panose="02010609060101010101" pitchFamily="49" charset="-122"/>
              <a:cs typeface="Times New Roman" panose="02020603050405020304" pitchFamily="18" charset="0"/>
              <a:sym typeface="华文楷体" panose="02010600040101010101" pitchFamily="2" charset="-122"/>
            </a:endParaRPr>
          </a:p>
          <a:p>
            <a:pPr marL="285750" indent="-285750">
              <a:spcAft>
                <a:spcPts val="2400"/>
              </a:spcAft>
              <a:buFont typeface="Wingdings" panose="05000000000000000000" pitchFamily="2" charset="2"/>
              <a:buChar char="p"/>
            </a:pPr>
            <a:r>
              <a:rPr lang="zh-CN" altLang="en-US" sz="2400" dirty="0">
                <a:latin typeface="Times New Roman" panose="02020603050405020304" pitchFamily="18" charset="0"/>
                <a:ea typeface="黑体" panose="02010609060101010101" pitchFamily="49" charset="-122"/>
                <a:cs typeface="Times New Roman" panose="02020603050405020304" pitchFamily="18" charset="0"/>
                <a:sym typeface="华文楷体" panose="02010600040101010101" pitchFamily="2" charset="-122"/>
              </a:rPr>
              <a:t>深度学习（</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sym typeface="华文楷体" panose="02010600040101010101" pitchFamily="2" charset="-122"/>
              </a:rPr>
              <a:t>Deep Learning</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sym typeface="华文楷体" panose="02010600040101010101" pitchFamily="2" charset="-122"/>
              </a:rPr>
              <a:t>）也叫做</a:t>
            </a:r>
            <a:r>
              <a:rPr lang="zh-CN" altLang="en-US" sz="24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华文楷体" panose="02010600040101010101" pitchFamily="2" charset="-122"/>
              </a:rPr>
              <a:t>深层结构学习或分层学习</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sym typeface="华文楷体" panose="02010600040101010101" pitchFamily="2" charset="-122"/>
              </a:rPr>
              <a:t>。其动机在于建立、模拟人脑进行分析学习的神经网络，它模拟人脑的机制来解释数据，例如图像，声音和文本。</a:t>
            </a:r>
            <a:endParaRPr lang="en-US" altLang="zh-CN" sz="2400" dirty="0">
              <a:latin typeface="Times New Roman" panose="02020603050405020304" pitchFamily="18" charset="0"/>
              <a:ea typeface="黑体" panose="02010609060101010101" pitchFamily="49" charset="-122"/>
              <a:cs typeface="Times New Roman" panose="02020603050405020304" pitchFamily="18" charset="0"/>
              <a:sym typeface="华文楷体" panose="02010600040101010101" pitchFamily="2" charset="-122"/>
            </a:endParaRPr>
          </a:p>
          <a:p>
            <a:pPr marL="285750" indent="-285750">
              <a:spcAft>
                <a:spcPts val="2400"/>
              </a:spcAft>
              <a:buFont typeface="Wingdings" panose="05000000000000000000" pitchFamily="2" charset="2"/>
              <a:buChar char="p"/>
            </a:pPr>
            <a:r>
              <a:rPr lang="zh-CN" altLang="en-US" sz="2400" dirty="0">
                <a:latin typeface="Times New Roman" panose="02020603050405020304" pitchFamily="18" charset="0"/>
                <a:ea typeface="黑体" panose="02010609060101010101" pitchFamily="49" charset="-122"/>
                <a:cs typeface="Times New Roman" panose="02020603050405020304" pitchFamily="18" charset="0"/>
                <a:sym typeface="华文楷体" panose="02010600040101010101" pitchFamily="2" charset="-122"/>
              </a:rPr>
              <a:t>深度学习的概念源于人工神经网络，含多隐层的多层感知器就是一种深度学习结构。深度学习通过组合低层特征形成更加抽象的高层表示属性类别或特征，以发现数据的分布式特征表示。</a:t>
            </a:r>
          </a:p>
        </p:txBody>
      </p:sp>
    </p:spTree>
    <p:extLst>
      <p:ext uri="{BB962C8B-B14F-4D97-AF65-F5344CB8AC3E}">
        <p14:creationId xmlns:p14="http://schemas.microsoft.com/office/powerpoint/2010/main" val="12674733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直接连接符 9"/>
          <p:cNvCxnSpPr/>
          <p:nvPr/>
        </p:nvCxnSpPr>
        <p:spPr>
          <a:xfrm>
            <a:off x="755576" y="6669360"/>
            <a:ext cx="8162925" cy="0"/>
          </a:xfrm>
          <a:prstGeom prst="line">
            <a:avLst/>
          </a:prstGeom>
          <a:ln w="254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Box 1"/>
          <p:cNvSpPr txBox="1">
            <a:spLocks noGrp="1" noChangeArrowheads="1"/>
          </p:cNvSpPr>
          <p:nvPr>
            <p:ph type="title"/>
          </p:nvPr>
        </p:nvSpPr>
        <p:spPr bwMode="auto">
          <a:xfrm>
            <a:off x="434975" y="184572"/>
            <a:ext cx="8229600" cy="551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b="1">
                <a:solidFill>
                  <a:schemeClr val="tx1"/>
                </a:solidFill>
                <a:latin typeface="Times New Roman" pitchFamily="18" charset="0"/>
                <a:ea typeface="华文中宋" pitchFamily="2" charset="-122"/>
              </a:defRPr>
            </a:lvl1pPr>
            <a:lvl2pPr marL="742950" indent="-285750" eaLnBrk="0" hangingPunct="0">
              <a:defRPr kumimoji="1" b="1">
                <a:solidFill>
                  <a:schemeClr val="tx1"/>
                </a:solidFill>
                <a:latin typeface="Times New Roman" pitchFamily="18" charset="0"/>
                <a:ea typeface="华文中宋" pitchFamily="2" charset="-122"/>
              </a:defRPr>
            </a:lvl2pPr>
            <a:lvl3pPr marL="1143000" indent="-228600" eaLnBrk="0" hangingPunct="0">
              <a:defRPr kumimoji="1" b="1">
                <a:solidFill>
                  <a:schemeClr val="tx1"/>
                </a:solidFill>
                <a:latin typeface="Times New Roman" pitchFamily="18" charset="0"/>
                <a:ea typeface="华文中宋" pitchFamily="2" charset="-122"/>
              </a:defRPr>
            </a:lvl3pPr>
            <a:lvl4pPr marL="1600200" indent="-228600" eaLnBrk="0" hangingPunct="0">
              <a:defRPr kumimoji="1" b="1">
                <a:solidFill>
                  <a:schemeClr val="tx1"/>
                </a:solidFill>
                <a:latin typeface="Times New Roman" pitchFamily="18" charset="0"/>
                <a:ea typeface="华文中宋" pitchFamily="2" charset="-122"/>
              </a:defRPr>
            </a:lvl4pPr>
            <a:lvl5pPr marL="2057400" indent="-228600" eaLnBrk="0" hangingPunct="0">
              <a:defRPr kumimoji="1" b="1">
                <a:solidFill>
                  <a:schemeClr val="tx1"/>
                </a:solidFill>
                <a:latin typeface="Times New Roman" pitchFamily="18" charset="0"/>
                <a:ea typeface="华文中宋" pitchFamily="2" charset="-122"/>
              </a:defRPr>
            </a:lvl5pPr>
            <a:lvl6pPr marL="25146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6pPr>
            <a:lvl7pPr marL="29718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7pPr>
            <a:lvl8pPr marL="34290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8pPr>
            <a:lvl9pPr marL="38862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9pPr>
          </a:lstStyle>
          <a:p>
            <a:pPr algn="ctr" eaLnBrk="1" hangingPunct="1"/>
            <a:r>
              <a:rPr lang="zh-CN" altLang="en-US" sz="3200" dirty="0">
                <a:latin typeface="黑体" pitchFamily="2" charset="-122"/>
                <a:ea typeface="黑体" pitchFamily="2" charset="-122"/>
              </a:rPr>
              <a:t>聚类算法</a:t>
            </a:r>
            <a:r>
              <a:rPr lang="zh-CN" altLang="en-US" sz="3200" dirty="0">
                <a:solidFill>
                  <a:srgbClr val="FF0000"/>
                </a:solidFill>
                <a:latin typeface="黑体" pitchFamily="2" charset="-122"/>
                <a:ea typeface="黑体" pitchFamily="2" charset="-122"/>
              </a:rPr>
              <a:t>之深度聚类</a:t>
            </a:r>
          </a:p>
        </p:txBody>
      </p:sp>
      <p:sp>
        <p:nvSpPr>
          <p:cNvPr id="2" name="灯片编号占位符 1">
            <a:extLst>
              <a:ext uri="{FF2B5EF4-FFF2-40B4-BE49-F238E27FC236}">
                <a16:creationId xmlns:a16="http://schemas.microsoft.com/office/drawing/2014/main" id="{B0290D7D-A83F-4807-84BD-D3FDCBBF298D}"/>
              </a:ext>
            </a:extLst>
          </p:cNvPr>
          <p:cNvSpPr>
            <a:spLocks noGrp="1"/>
          </p:cNvSpPr>
          <p:nvPr>
            <p:ph type="sldNum" sz="quarter" idx="12"/>
          </p:nvPr>
        </p:nvSpPr>
        <p:spPr/>
        <p:txBody>
          <a:bodyPr/>
          <a:lstStyle/>
          <a:p>
            <a:fld id="{0C913308-F349-4B6D-A68A-DD1791B4A57B}" type="slidenum">
              <a:rPr lang="zh-CN" altLang="en-US" smtClean="0"/>
              <a:t>28</a:t>
            </a:fld>
            <a:endParaRPr lang="zh-CN" altLang="en-US"/>
          </a:p>
        </p:txBody>
      </p:sp>
      <p:grpSp>
        <p:nvGrpSpPr>
          <p:cNvPr id="17" name="组合 16">
            <a:extLst>
              <a:ext uri="{FF2B5EF4-FFF2-40B4-BE49-F238E27FC236}">
                <a16:creationId xmlns:a16="http://schemas.microsoft.com/office/drawing/2014/main" id="{5ABFCE60-4EED-41A3-A055-A649FE16D792}"/>
              </a:ext>
            </a:extLst>
          </p:cNvPr>
          <p:cNvGrpSpPr/>
          <p:nvPr/>
        </p:nvGrpSpPr>
        <p:grpSpPr>
          <a:xfrm>
            <a:off x="1387543" y="995588"/>
            <a:ext cx="6898989" cy="5325888"/>
            <a:chOff x="1489434" y="1124751"/>
            <a:chExt cx="6898989" cy="5325888"/>
          </a:xfrm>
        </p:grpSpPr>
        <p:sp>
          <p:nvSpPr>
            <p:cNvPr id="3" name="椭圆 2">
              <a:extLst>
                <a:ext uri="{FF2B5EF4-FFF2-40B4-BE49-F238E27FC236}">
                  <a16:creationId xmlns:a16="http://schemas.microsoft.com/office/drawing/2014/main" id="{D594BC86-3D42-46BF-BCF0-5C2F7F78B40F}"/>
                </a:ext>
              </a:extLst>
            </p:cNvPr>
            <p:cNvSpPr/>
            <p:nvPr/>
          </p:nvSpPr>
          <p:spPr>
            <a:xfrm>
              <a:off x="1489434" y="1124751"/>
              <a:ext cx="6394933" cy="5325888"/>
            </a:xfrm>
            <a:prstGeom prst="ellipse">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zh-CN" altLang="en-US" b="0" dirty="0">
                <a:ln w="0"/>
                <a:solidFill>
                  <a:schemeClr val="tx1"/>
                </a:solidFill>
                <a:effectLst>
                  <a:outerShdw blurRad="38100" dist="19050" dir="2700000" algn="tl" rotWithShape="0">
                    <a:schemeClr val="dk1">
                      <a:alpha val="40000"/>
                    </a:schemeClr>
                  </a:outerShdw>
                </a:effectLst>
              </a:endParaRPr>
            </a:p>
          </p:txBody>
        </p:sp>
        <p:sp>
          <p:nvSpPr>
            <p:cNvPr id="4" name="椭圆 3">
              <a:extLst>
                <a:ext uri="{FF2B5EF4-FFF2-40B4-BE49-F238E27FC236}">
                  <a16:creationId xmlns:a16="http://schemas.microsoft.com/office/drawing/2014/main" id="{732F61F1-4562-41A0-8D05-32E7169690CB}"/>
                </a:ext>
              </a:extLst>
            </p:cNvPr>
            <p:cNvSpPr/>
            <p:nvPr/>
          </p:nvSpPr>
          <p:spPr>
            <a:xfrm>
              <a:off x="2483768" y="2780928"/>
              <a:ext cx="2160240" cy="2160235"/>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b="0">
                <a:ln w="0"/>
                <a:solidFill>
                  <a:schemeClr val="tx1"/>
                </a:solidFill>
                <a:effectLst>
                  <a:outerShdw blurRad="38100" dist="19050" dir="2700000" algn="tl" rotWithShape="0">
                    <a:schemeClr val="dk1">
                      <a:alpha val="40000"/>
                    </a:schemeClr>
                  </a:outerShdw>
                </a:effectLst>
              </a:endParaRPr>
            </a:p>
          </p:txBody>
        </p:sp>
        <p:sp>
          <p:nvSpPr>
            <p:cNvPr id="7" name="椭圆 6">
              <a:extLst>
                <a:ext uri="{FF2B5EF4-FFF2-40B4-BE49-F238E27FC236}">
                  <a16:creationId xmlns:a16="http://schemas.microsoft.com/office/drawing/2014/main" id="{7BDE4834-0587-460C-ABE0-4659EA7F647E}"/>
                </a:ext>
              </a:extLst>
            </p:cNvPr>
            <p:cNvSpPr/>
            <p:nvPr/>
          </p:nvSpPr>
          <p:spPr>
            <a:xfrm>
              <a:off x="4644008" y="2890288"/>
              <a:ext cx="2160240" cy="2160235"/>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b="0">
                <a:ln w="0"/>
                <a:solidFill>
                  <a:schemeClr val="tx1"/>
                </a:solidFill>
                <a:effectLst>
                  <a:outerShdw blurRad="38100" dist="19050" dir="2700000" algn="tl" rotWithShape="0">
                    <a:schemeClr val="dk1">
                      <a:alpha val="40000"/>
                    </a:schemeClr>
                  </a:outerShdw>
                </a:effectLst>
              </a:endParaRPr>
            </a:p>
          </p:txBody>
        </p:sp>
        <p:sp>
          <p:nvSpPr>
            <p:cNvPr id="5" name="椭圆 4">
              <a:extLst>
                <a:ext uri="{FF2B5EF4-FFF2-40B4-BE49-F238E27FC236}">
                  <a16:creationId xmlns:a16="http://schemas.microsoft.com/office/drawing/2014/main" id="{E04F5EAD-078D-42DB-9B24-7E8D8B307F3A}"/>
                </a:ext>
              </a:extLst>
            </p:cNvPr>
            <p:cNvSpPr/>
            <p:nvPr/>
          </p:nvSpPr>
          <p:spPr>
            <a:xfrm>
              <a:off x="3772775" y="2553767"/>
              <a:ext cx="1742466" cy="2722256"/>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a:ln w="0"/>
                <a:solidFill>
                  <a:schemeClr val="tx1"/>
                </a:solidFill>
                <a:effectLst>
                  <a:outerShdw blurRad="38100" dist="19050" dir="2700000" algn="tl" rotWithShape="0">
                    <a:schemeClr val="dk1">
                      <a:alpha val="40000"/>
                    </a:schemeClr>
                  </a:outerShdw>
                </a:effectLst>
              </a:endParaRPr>
            </a:p>
          </p:txBody>
        </p:sp>
        <p:sp>
          <p:nvSpPr>
            <p:cNvPr id="6" name="文本框 5">
              <a:extLst>
                <a:ext uri="{FF2B5EF4-FFF2-40B4-BE49-F238E27FC236}">
                  <a16:creationId xmlns:a16="http://schemas.microsoft.com/office/drawing/2014/main" id="{F77E83A5-C5A1-4EEE-BA37-6E03AB2020A3}"/>
                </a:ext>
              </a:extLst>
            </p:cNvPr>
            <p:cNvSpPr txBox="1"/>
            <p:nvPr/>
          </p:nvSpPr>
          <p:spPr>
            <a:xfrm>
              <a:off x="3841575" y="1886738"/>
              <a:ext cx="1620957" cy="523220"/>
            </a:xfrm>
            <a:prstGeom prst="rect">
              <a:avLst/>
            </a:prstGeom>
            <a:noFill/>
          </p:spPr>
          <p:txBody>
            <a:bodyPr wrap="none" rtlCol="0">
              <a:spAutoFit/>
            </a:bodyPr>
            <a:lstStyle/>
            <a:p>
              <a:r>
                <a:rPr lang="zh-CN" altLang="en-US" sz="2800" b="0" dirty="0">
                  <a:ln w="0"/>
                  <a:effectLst>
                    <a:outerShdw blurRad="38100" dist="19050" dir="2700000" algn="tl" rotWithShape="0">
                      <a:schemeClr val="dk1">
                        <a:alpha val="40000"/>
                      </a:schemeClr>
                    </a:outerShdw>
                  </a:effectLst>
                </a:rPr>
                <a:t>机器学习</a:t>
              </a:r>
            </a:p>
          </p:txBody>
        </p:sp>
        <p:sp>
          <p:nvSpPr>
            <p:cNvPr id="12" name="文本框 11">
              <a:extLst>
                <a:ext uri="{FF2B5EF4-FFF2-40B4-BE49-F238E27FC236}">
                  <a16:creationId xmlns:a16="http://schemas.microsoft.com/office/drawing/2014/main" id="{A8E27B8E-3BA9-400C-858C-41BF62BF7070}"/>
                </a:ext>
              </a:extLst>
            </p:cNvPr>
            <p:cNvSpPr txBox="1"/>
            <p:nvPr/>
          </p:nvSpPr>
          <p:spPr>
            <a:xfrm>
              <a:off x="2483768" y="3599435"/>
              <a:ext cx="1217000" cy="400110"/>
            </a:xfrm>
            <a:prstGeom prst="rect">
              <a:avLst/>
            </a:prstGeom>
            <a:noFill/>
          </p:spPr>
          <p:txBody>
            <a:bodyPr wrap="none" rtlCol="0">
              <a:spAutoFit/>
            </a:bodyPr>
            <a:lstStyle/>
            <a:p>
              <a:r>
                <a:rPr lang="zh-CN" altLang="en-US" sz="2000" b="0" dirty="0">
                  <a:ln w="0"/>
                  <a:effectLst>
                    <a:outerShdw blurRad="38100" dist="19050" dir="2700000" algn="tl" rotWithShape="0">
                      <a:schemeClr val="dk1">
                        <a:alpha val="40000"/>
                      </a:schemeClr>
                    </a:outerShdw>
                  </a:effectLst>
                </a:rPr>
                <a:t>监督学习</a:t>
              </a:r>
            </a:p>
          </p:txBody>
        </p:sp>
        <p:sp>
          <p:nvSpPr>
            <p:cNvPr id="14" name="文本框 13">
              <a:extLst>
                <a:ext uri="{FF2B5EF4-FFF2-40B4-BE49-F238E27FC236}">
                  <a16:creationId xmlns:a16="http://schemas.microsoft.com/office/drawing/2014/main" id="{6721D17F-2374-4406-AC2C-9B82D83351B9}"/>
                </a:ext>
              </a:extLst>
            </p:cNvPr>
            <p:cNvSpPr txBox="1"/>
            <p:nvPr/>
          </p:nvSpPr>
          <p:spPr>
            <a:xfrm>
              <a:off x="5421945" y="3714840"/>
              <a:ext cx="1475084" cy="400110"/>
            </a:xfrm>
            <a:prstGeom prst="rect">
              <a:avLst/>
            </a:prstGeom>
            <a:noFill/>
          </p:spPr>
          <p:txBody>
            <a:bodyPr wrap="none" rtlCol="0">
              <a:spAutoFit/>
            </a:bodyPr>
            <a:lstStyle/>
            <a:p>
              <a:r>
                <a:rPr lang="zh-CN" altLang="en-US" sz="2000" b="0" dirty="0">
                  <a:ln w="0"/>
                  <a:effectLst>
                    <a:outerShdw blurRad="38100" dist="19050" dir="2700000" algn="tl" rotWithShape="0">
                      <a:schemeClr val="dk1">
                        <a:alpha val="40000"/>
                      </a:schemeClr>
                    </a:outerShdw>
                  </a:effectLst>
                </a:rPr>
                <a:t>无监督学习</a:t>
              </a:r>
            </a:p>
          </p:txBody>
        </p:sp>
        <p:sp>
          <p:nvSpPr>
            <p:cNvPr id="15" name="文本框 14">
              <a:extLst>
                <a:ext uri="{FF2B5EF4-FFF2-40B4-BE49-F238E27FC236}">
                  <a16:creationId xmlns:a16="http://schemas.microsoft.com/office/drawing/2014/main" id="{5FE62CFB-720E-4F43-B8FC-77D324387FD9}"/>
                </a:ext>
              </a:extLst>
            </p:cNvPr>
            <p:cNvSpPr txBox="1"/>
            <p:nvPr/>
          </p:nvSpPr>
          <p:spPr>
            <a:xfrm>
              <a:off x="4003071" y="4741108"/>
              <a:ext cx="1217000" cy="400110"/>
            </a:xfrm>
            <a:prstGeom prst="rect">
              <a:avLst/>
            </a:prstGeom>
            <a:noFill/>
          </p:spPr>
          <p:txBody>
            <a:bodyPr wrap="none" rtlCol="0">
              <a:spAutoFit/>
            </a:bodyPr>
            <a:lstStyle/>
            <a:p>
              <a:r>
                <a:rPr lang="zh-CN" altLang="en-US" sz="2000" b="0" dirty="0">
                  <a:ln w="0"/>
                  <a:effectLst>
                    <a:outerShdw blurRad="38100" dist="19050" dir="2700000" algn="tl" rotWithShape="0">
                      <a:schemeClr val="dk1">
                        <a:alpha val="40000"/>
                      </a:schemeClr>
                    </a:outerShdw>
                  </a:effectLst>
                </a:rPr>
                <a:t>深度学习</a:t>
              </a:r>
            </a:p>
          </p:txBody>
        </p:sp>
        <p:sp>
          <p:nvSpPr>
            <p:cNvPr id="16" name="文本框 15">
              <a:extLst>
                <a:ext uri="{FF2B5EF4-FFF2-40B4-BE49-F238E27FC236}">
                  <a16:creationId xmlns:a16="http://schemas.microsoft.com/office/drawing/2014/main" id="{44A55F32-6D6D-4106-A185-F9AC914A70D0}"/>
                </a:ext>
              </a:extLst>
            </p:cNvPr>
            <p:cNvSpPr txBox="1"/>
            <p:nvPr/>
          </p:nvSpPr>
          <p:spPr>
            <a:xfrm>
              <a:off x="7171423" y="1626913"/>
              <a:ext cx="1217000" cy="400110"/>
            </a:xfrm>
            <a:prstGeom prst="rect">
              <a:avLst/>
            </a:prstGeom>
            <a:noFill/>
          </p:spPr>
          <p:txBody>
            <a:bodyPr wrap="none" rtlCol="0">
              <a:spAutoFit/>
            </a:bodyPr>
            <a:lstStyle/>
            <a:p>
              <a:r>
                <a:rPr lang="zh-CN" altLang="en-US" sz="2000" b="0" dirty="0">
                  <a:ln w="0"/>
                  <a:effectLst>
                    <a:outerShdw blurRad="38100" dist="19050" dir="2700000" algn="tl" rotWithShape="0">
                      <a:schemeClr val="dk1">
                        <a:alpha val="40000"/>
                      </a:schemeClr>
                    </a:outerShdw>
                  </a:effectLst>
                </a:rPr>
                <a:t>深度聚类</a:t>
              </a:r>
            </a:p>
          </p:txBody>
        </p:sp>
        <p:cxnSp>
          <p:nvCxnSpPr>
            <p:cNvPr id="9" name="直接连接符 8">
              <a:extLst>
                <a:ext uri="{FF2B5EF4-FFF2-40B4-BE49-F238E27FC236}">
                  <a16:creationId xmlns:a16="http://schemas.microsoft.com/office/drawing/2014/main" id="{DC30C6BD-6FA3-4D1E-99DA-F3FFD9828955}"/>
                </a:ext>
              </a:extLst>
            </p:cNvPr>
            <p:cNvCxnSpPr/>
            <p:nvPr/>
          </p:nvCxnSpPr>
          <p:spPr>
            <a:xfrm flipV="1">
              <a:off x="5148064" y="1988840"/>
              <a:ext cx="2471936" cy="1926055"/>
            </a:xfrm>
            <a:prstGeom prst="line">
              <a:avLst/>
            </a:prstGeom>
            <a:ln>
              <a:headEnd type="none" w="med" len="med"/>
              <a:tailEnd type="arrow" w="med" len="med"/>
            </a:ln>
          </p:spPr>
          <p:style>
            <a:lnRef idx="3">
              <a:schemeClr val="accent3"/>
            </a:lnRef>
            <a:fillRef idx="0">
              <a:schemeClr val="accent3"/>
            </a:fillRef>
            <a:effectRef idx="2">
              <a:schemeClr val="accent3"/>
            </a:effectRef>
            <a:fontRef idx="minor">
              <a:schemeClr val="tx1"/>
            </a:fontRef>
          </p:style>
        </p:cxnSp>
      </p:grpSp>
    </p:spTree>
    <p:extLst>
      <p:ext uri="{BB962C8B-B14F-4D97-AF65-F5344CB8AC3E}">
        <p14:creationId xmlns:p14="http://schemas.microsoft.com/office/powerpoint/2010/main" val="18278973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直接连接符 9"/>
          <p:cNvCxnSpPr/>
          <p:nvPr/>
        </p:nvCxnSpPr>
        <p:spPr>
          <a:xfrm>
            <a:off x="755576" y="6669360"/>
            <a:ext cx="8162925" cy="0"/>
          </a:xfrm>
          <a:prstGeom prst="line">
            <a:avLst/>
          </a:prstGeom>
          <a:ln w="254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Box 1"/>
          <p:cNvSpPr txBox="1">
            <a:spLocks noGrp="1" noChangeArrowheads="1"/>
          </p:cNvSpPr>
          <p:nvPr>
            <p:ph type="title"/>
          </p:nvPr>
        </p:nvSpPr>
        <p:spPr bwMode="auto">
          <a:xfrm>
            <a:off x="434975" y="184572"/>
            <a:ext cx="8229600" cy="551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b="1">
                <a:solidFill>
                  <a:schemeClr val="tx1"/>
                </a:solidFill>
                <a:latin typeface="Times New Roman" pitchFamily="18" charset="0"/>
                <a:ea typeface="华文中宋" pitchFamily="2" charset="-122"/>
              </a:defRPr>
            </a:lvl1pPr>
            <a:lvl2pPr marL="742950" indent="-285750" eaLnBrk="0" hangingPunct="0">
              <a:defRPr kumimoji="1" b="1">
                <a:solidFill>
                  <a:schemeClr val="tx1"/>
                </a:solidFill>
                <a:latin typeface="Times New Roman" pitchFamily="18" charset="0"/>
                <a:ea typeface="华文中宋" pitchFamily="2" charset="-122"/>
              </a:defRPr>
            </a:lvl2pPr>
            <a:lvl3pPr marL="1143000" indent="-228600" eaLnBrk="0" hangingPunct="0">
              <a:defRPr kumimoji="1" b="1">
                <a:solidFill>
                  <a:schemeClr val="tx1"/>
                </a:solidFill>
                <a:latin typeface="Times New Roman" pitchFamily="18" charset="0"/>
                <a:ea typeface="华文中宋" pitchFamily="2" charset="-122"/>
              </a:defRPr>
            </a:lvl3pPr>
            <a:lvl4pPr marL="1600200" indent="-228600" eaLnBrk="0" hangingPunct="0">
              <a:defRPr kumimoji="1" b="1">
                <a:solidFill>
                  <a:schemeClr val="tx1"/>
                </a:solidFill>
                <a:latin typeface="Times New Roman" pitchFamily="18" charset="0"/>
                <a:ea typeface="华文中宋" pitchFamily="2" charset="-122"/>
              </a:defRPr>
            </a:lvl4pPr>
            <a:lvl5pPr marL="2057400" indent="-228600" eaLnBrk="0" hangingPunct="0">
              <a:defRPr kumimoji="1" b="1">
                <a:solidFill>
                  <a:schemeClr val="tx1"/>
                </a:solidFill>
                <a:latin typeface="Times New Roman" pitchFamily="18" charset="0"/>
                <a:ea typeface="华文中宋" pitchFamily="2" charset="-122"/>
              </a:defRPr>
            </a:lvl5pPr>
            <a:lvl6pPr marL="25146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6pPr>
            <a:lvl7pPr marL="29718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7pPr>
            <a:lvl8pPr marL="34290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8pPr>
            <a:lvl9pPr marL="38862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9pPr>
          </a:lstStyle>
          <a:p>
            <a:pPr algn="ctr" eaLnBrk="1" hangingPunct="1"/>
            <a:r>
              <a:rPr lang="zh-CN" altLang="en-US" sz="3200" dirty="0">
                <a:latin typeface="黑体" pitchFamily="2" charset="-122"/>
                <a:ea typeface="黑体" pitchFamily="2" charset="-122"/>
              </a:rPr>
              <a:t>聚类算法</a:t>
            </a:r>
            <a:r>
              <a:rPr lang="zh-CN" altLang="en-US" sz="3200" dirty="0">
                <a:solidFill>
                  <a:srgbClr val="FF0000"/>
                </a:solidFill>
                <a:latin typeface="黑体" pitchFamily="2" charset="-122"/>
                <a:ea typeface="黑体" pitchFamily="2" charset="-122"/>
              </a:rPr>
              <a:t>之深度聚类</a:t>
            </a:r>
          </a:p>
        </p:txBody>
      </p:sp>
      <p:sp>
        <p:nvSpPr>
          <p:cNvPr id="2" name="灯片编号占位符 1">
            <a:extLst>
              <a:ext uri="{FF2B5EF4-FFF2-40B4-BE49-F238E27FC236}">
                <a16:creationId xmlns:a16="http://schemas.microsoft.com/office/drawing/2014/main" id="{B0290D7D-A83F-4807-84BD-D3FDCBBF298D}"/>
              </a:ext>
            </a:extLst>
          </p:cNvPr>
          <p:cNvSpPr>
            <a:spLocks noGrp="1"/>
          </p:cNvSpPr>
          <p:nvPr>
            <p:ph type="sldNum" sz="quarter" idx="12"/>
          </p:nvPr>
        </p:nvSpPr>
        <p:spPr/>
        <p:txBody>
          <a:bodyPr/>
          <a:lstStyle/>
          <a:p>
            <a:fld id="{0C913308-F349-4B6D-A68A-DD1791B4A57B}" type="slidenum">
              <a:rPr lang="zh-CN" altLang="en-US" smtClean="0"/>
              <a:t>29</a:t>
            </a:fld>
            <a:endParaRPr lang="zh-CN" altLang="en-US"/>
          </a:p>
        </p:txBody>
      </p:sp>
      <p:sp>
        <p:nvSpPr>
          <p:cNvPr id="18" name="矩形 17">
            <a:extLst>
              <a:ext uri="{FF2B5EF4-FFF2-40B4-BE49-F238E27FC236}">
                <a16:creationId xmlns:a16="http://schemas.microsoft.com/office/drawing/2014/main" id="{159AB712-B07D-40FF-A78B-76886510E8EA}"/>
              </a:ext>
            </a:extLst>
          </p:cNvPr>
          <p:cNvSpPr/>
          <p:nvPr/>
        </p:nvSpPr>
        <p:spPr>
          <a:xfrm>
            <a:off x="323528" y="1100448"/>
            <a:ext cx="8053015" cy="5201424"/>
          </a:xfrm>
          <a:prstGeom prst="rect">
            <a:avLst/>
          </a:prstGeom>
        </p:spPr>
        <p:txBody>
          <a:bodyPr wrap="square">
            <a:spAutoFit/>
          </a:bodyPr>
          <a:lstStyle/>
          <a:p>
            <a:pPr marL="285750" indent="-285750" algn="just">
              <a:spcAft>
                <a:spcPts val="2400"/>
              </a:spcAft>
              <a:buFont typeface="Wingdings" panose="05000000000000000000" pitchFamily="2" charset="2"/>
              <a:buChar char="p"/>
            </a:pPr>
            <a:r>
              <a:rPr lang="zh-CN" altLang="en-US" sz="2400" dirty="0">
                <a:latin typeface="Times New Roman" panose="02020603050405020304" pitchFamily="18" charset="0"/>
                <a:ea typeface="黑体" panose="02010609060101010101" pitchFamily="49" charset="-122"/>
                <a:cs typeface="Times New Roman" panose="02020603050405020304" pitchFamily="18" charset="0"/>
                <a:sym typeface="华文楷体" panose="02010600040101010101" pitchFamily="2" charset="-122"/>
              </a:rPr>
              <a:t>深度聚类算法也叫做无监督深度学习算法，是以无监督的形式开展特征学习。</a:t>
            </a:r>
            <a:endParaRPr lang="en-US" altLang="zh-CN" sz="2400" dirty="0">
              <a:latin typeface="Times New Roman" panose="02020603050405020304" pitchFamily="18" charset="0"/>
              <a:ea typeface="黑体" panose="02010609060101010101" pitchFamily="49" charset="-122"/>
              <a:cs typeface="Times New Roman" panose="02020603050405020304" pitchFamily="18" charset="0"/>
              <a:sym typeface="华文楷体" panose="02010600040101010101" pitchFamily="2" charset="-122"/>
            </a:endParaRPr>
          </a:p>
          <a:p>
            <a:pPr marL="285750" indent="-285750" algn="just">
              <a:spcAft>
                <a:spcPts val="2400"/>
              </a:spcAft>
              <a:buFont typeface="Wingdings" panose="05000000000000000000" pitchFamily="2" charset="2"/>
              <a:buChar char="p"/>
            </a:pPr>
            <a:r>
              <a:rPr lang="en-US" altLang="zh-CN" sz="2400" dirty="0">
                <a:latin typeface="Times New Roman" panose="02020603050405020304" pitchFamily="18" charset="0"/>
                <a:ea typeface="黑体" panose="02010609060101010101" pitchFamily="49" charset="-122"/>
                <a:cs typeface="Times New Roman" panose="02020603050405020304" pitchFamily="18" charset="0"/>
                <a:sym typeface="华文楷体" panose="02010600040101010101" pitchFamily="2" charset="-122"/>
              </a:rPr>
              <a:t>2015</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sym typeface="华文楷体" panose="02010600040101010101" pitchFamily="2" charset="-122"/>
              </a:rPr>
              <a:t>年，深度学习三巨头</a:t>
            </a:r>
            <a:r>
              <a:rPr lang="en-US" altLang="zh-CN" sz="2400" dirty="0" err="1">
                <a:latin typeface="Times New Roman" panose="02020603050405020304" pitchFamily="18" charset="0"/>
                <a:ea typeface="黑体" panose="02010609060101010101" pitchFamily="49" charset="-122"/>
                <a:cs typeface="Times New Roman" panose="02020603050405020304" pitchFamily="18" charset="0"/>
                <a:sym typeface="华文楷体" panose="02010600040101010101" pitchFamily="2" charset="-122"/>
              </a:rPr>
              <a:t>LeCun</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sym typeface="华文楷体" panose="02010600040101010101" pitchFamily="2" charset="-122"/>
              </a:rPr>
              <a:t>、</a:t>
            </a:r>
            <a:r>
              <a:rPr lang="en-US" altLang="zh-CN" sz="2400" dirty="0" err="1">
                <a:latin typeface="Times New Roman" panose="02020603050405020304" pitchFamily="18" charset="0"/>
                <a:ea typeface="黑体" panose="02010609060101010101" pitchFamily="49" charset="-122"/>
                <a:cs typeface="Times New Roman" panose="02020603050405020304" pitchFamily="18" charset="0"/>
                <a:sym typeface="华文楷体" panose="02010600040101010101" pitchFamily="2" charset="-122"/>
              </a:rPr>
              <a:t>Bengio</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sym typeface="华文楷体" panose="02010600040101010101" pitchFamily="2" charset="-122"/>
              </a:rPr>
              <a:t>、</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sym typeface="华文楷体" panose="02010600040101010101" pitchFamily="2" charset="-122"/>
              </a:rPr>
              <a:t>Hinton</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sym typeface="华文楷体" panose="02010600040101010101" pitchFamily="2" charset="-122"/>
              </a:rPr>
              <a:t>在“</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sym typeface="华文楷体" panose="02010600040101010101" pitchFamily="2" charset="-122"/>
              </a:rPr>
              <a:t>Nature</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sym typeface="华文楷体" panose="02010600040101010101" pitchFamily="2" charset="-122"/>
              </a:rPr>
              <a:t>”发表题为“</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sym typeface="华文楷体" panose="02010600040101010101" pitchFamily="2" charset="-122"/>
              </a:rPr>
              <a:t>Deep Learning</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sym typeface="华文楷体" panose="02010600040101010101" pitchFamily="2" charset="-122"/>
              </a:rPr>
              <a:t>”的综述，文末提及：</a:t>
            </a:r>
            <a:r>
              <a:rPr lang="en-US" altLang="zh-CN" sz="2400" b="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sym typeface="华文楷体" panose="02010600040101010101" pitchFamily="2" charset="-122"/>
              </a:rPr>
              <a:t>Unsupervised learning </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sym typeface="华文楷体" panose="02010600040101010101" pitchFamily="2" charset="-122"/>
              </a:rPr>
              <a:t>had a catalytic effect in reviving interest in deep learning, but has since been </a:t>
            </a:r>
            <a:r>
              <a:rPr lang="en-US" altLang="zh-CN" sz="2400" b="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sym typeface="华文楷体" panose="02010600040101010101" pitchFamily="2" charset="-122"/>
              </a:rPr>
              <a:t>overshadowed</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sym typeface="华文楷体" panose="02010600040101010101" pitchFamily="2" charset="-122"/>
              </a:rPr>
              <a:t> by the successes of purely supervised learning. Although we have not focused on it in this Review, we expect unsupervised learning to become far more important in the longer term. </a:t>
            </a:r>
            <a:r>
              <a:rPr lang="en-US" altLang="zh-CN" sz="2400" b="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sym typeface="华文楷体" panose="02010600040101010101" pitchFamily="2" charset="-122"/>
              </a:rPr>
              <a:t>Human and animal learning is largely unsupervised</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sym typeface="华文楷体" panose="02010600040101010101" pitchFamily="2" charset="-122"/>
              </a:rPr>
              <a:t>: we discover the structure of the world by observing it, not by being told the name of every object.</a:t>
            </a:r>
          </a:p>
        </p:txBody>
      </p:sp>
    </p:spTree>
    <p:extLst>
      <p:ext uri="{BB962C8B-B14F-4D97-AF65-F5344CB8AC3E}">
        <p14:creationId xmlns:p14="http://schemas.microsoft.com/office/powerpoint/2010/main" val="38526585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直接连接符 9"/>
          <p:cNvCxnSpPr/>
          <p:nvPr/>
        </p:nvCxnSpPr>
        <p:spPr>
          <a:xfrm>
            <a:off x="755576" y="6669360"/>
            <a:ext cx="8162925" cy="0"/>
          </a:xfrm>
          <a:prstGeom prst="line">
            <a:avLst/>
          </a:prstGeom>
          <a:ln w="254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Box 1"/>
          <p:cNvSpPr txBox="1">
            <a:spLocks noGrp="1" noChangeArrowheads="1"/>
          </p:cNvSpPr>
          <p:nvPr>
            <p:ph type="title"/>
          </p:nvPr>
        </p:nvSpPr>
        <p:spPr bwMode="auto">
          <a:xfrm>
            <a:off x="434975" y="184572"/>
            <a:ext cx="8229600" cy="551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b="1">
                <a:solidFill>
                  <a:schemeClr val="tx1"/>
                </a:solidFill>
                <a:latin typeface="Times New Roman" pitchFamily="18" charset="0"/>
                <a:ea typeface="华文中宋" pitchFamily="2" charset="-122"/>
              </a:defRPr>
            </a:lvl1pPr>
            <a:lvl2pPr marL="742950" indent="-285750" eaLnBrk="0" hangingPunct="0">
              <a:defRPr kumimoji="1" b="1">
                <a:solidFill>
                  <a:schemeClr val="tx1"/>
                </a:solidFill>
                <a:latin typeface="Times New Roman" pitchFamily="18" charset="0"/>
                <a:ea typeface="华文中宋" pitchFamily="2" charset="-122"/>
              </a:defRPr>
            </a:lvl2pPr>
            <a:lvl3pPr marL="1143000" indent="-228600" eaLnBrk="0" hangingPunct="0">
              <a:defRPr kumimoji="1" b="1">
                <a:solidFill>
                  <a:schemeClr val="tx1"/>
                </a:solidFill>
                <a:latin typeface="Times New Roman" pitchFamily="18" charset="0"/>
                <a:ea typeface="华文中宋" pitchFamily="2" charset="-122"/>
              </a:defRPr>
            </a:lvl3pPr>
            <a:lvl4pPr marL="1600200" indent="-228600" eaLnBrk="0" hangingPunct="0">
              <a:defRPr kumimoji="1" b="1">
                <a:solidFill>
                  <a:schemeClr val="tx1"/>
                </a:solidFill>
                <a:latin typeface="Times New Roman" pitchFamily="18" charset="0"/>
                <a:ea typeface="华文中宋" pitchFamily="2" charset="-122"/>
              </a:defRPr>
            </a:lvl4pPr>
            <a:lvl5pPr marL="2057400" indent="-228600" eaLnBrk="0" hangingPunct="0">
              <a:defRPr kumimoji="1" b="1">
                <a:solidFill>
                  <a:schemeClr val="tx1"/>
                </a:solidFill>
                <a:latin typeface="Times New Roman" pitchFamily="18" charset="0"/>
                <a:ea typeface="华文中宋" pitchFamily="2" charset="-122"/>
              </a:defRPr>
            </a:lvl5pPr>
            <a:lvl6pPr marL="25146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6pPr>
            <a:lvl7pPr marL="29718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7pPr>
            <a:lvl8pPr marL="34290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8pPr>
            <a:lvl9pPr marL="38862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9pPr>
          </a:lstStyle>
          <a:p>
            <a:pPr algn="ctr" eaLnBrk="1" hangingPunct="1"/>
            <a:r>
              <a:rPr lang="zh-CN" altLang="en-US" sz="3200" dirty="0">
                <a:latin typeface="黑体" pitchFamily="2" charset="-122"/>
                <a:ea typeface="黑体" pitchFamily="2" charset="-122"/>
              </a:rPr>
              <a:t>聚类算法</a:t>
            </a:r>
            <a:r>
              <a:rPr lang="zh-CN" altLang="en-US" sz="3200" dirty="0">
                <a:solidFill>
                  <a:srgbClr val="FF0000"/>
                </a:solidFill>
                <a:latin typeface="黑体" pitchFamily="2" charset="-122"/>
                <a:ea typeface="黑体" pitchFamily="2" charset="-122"/>
              </a:rPr>
              <a:t>之深度聚类</a:t>
            </a:r>
          </a:p>
        </p:txBody>
      </p:sp>
      <p:sp>
        <p:nvSpPr>
          <p:cNvPr id="2" name="灯片编号占位符 1">
            <a:extLst>
              <a:ext uri="{FF2B5EF4-FFF2-40B4-BE49-F238E27FC236}">
                <a16:creationId xmlns:a16="http://schemas.microsoft.com/office/drawing/2014/main" id="{B0290D7D-A83F-4807-84BD-D3FDCBBF298D}"/>
              </a:ext>
            </a:extLst>
          </p:cNvPr>
          <p:cNvSpPr>
            <a:spLocks noGrp="1"/>
          </p:cNvSpPr>
          <p:nvPr>
            <p:ph type="sldNum" sz="quarter" idx="12"/>
          </p:nvPr>
        </p:nvSpPr>
        <p:spPr/>
        <p:txBody>
          <a:bodyPr/>
          <a:lstStyle/>
          <a:p>
            <a:fld id="{0C913308-F349-4B6D-A68A-DD1791B4A57B}" type="slidenum">
              <a:rPr lang="zh-CN" altLang="en-US" smtClean="0"/>
              <a:t>30</a:t>
            </a:fld>
            <a:endParaRPr lang="zh-CN" altLang="en-US"/>
          </a:p>
        </p:txBody>
      </p:sp>
      <p:pic>
        <p:nvPicPr>
          <p:cNvPr id="13" name="图片 12">
            <a:extLst>
              <a:ext uri="{FF2B5EF4-FFF2-40B4-BE49-F238E27FC236}">
                <a16:creationId xmlns:a16="http://schemas.microsoft.com/office/drawing/2014/main" id="{6F58A1F2-E003-408C-918B-02D6E1ADD0F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48179" y="1719541"/>
            <a:ext cx="3070322" cy="3418917"/>
          </a:xfrm>
          <a:prstGeom prst="rect">
            <a:avLst/>
          </a:prstGeom>
        </p:spPr>
      </p:pic>
      <p:sp>
        <p:nvSpPr>
          <p:cNvPr id="18" name="矩形 17">
            <a:extLst>
              <a:ext uri="{FF2B5EF4-FFF2-40B4-BE49-F238E27FC236}">
                <a16:creationId xmlns:a16="http://schemas.microsoft.com/office/drawing/2014/main" id="{D7A16183-6258-49D5-9824-57364A82FC57}"/>
              </a:ext>
            </a:extLst>
          </p:cNvPr>
          <p:cNvSpPr/>
          <p:nvPr/>
        </p:nvSpPr>
        <p:spPr>
          <a:xfrm>
            <a:off x="434975" y="1268760"/>
            <a:ext cx="5312915" cy="4678204"/>
          </a:xfrm>
          <a:prstGeom prst="rect">
            <a:avLst/>
          </a:prstGeom>
        </p:spPr>
        <p:txBody>
          <a:bodyPr wrap="square">
            <a:spAutoFit/>
          </a:bodyPr>
          <a:lstStyle/>
          <a:p>
            <a:pPr marL="285750" indent="-285750">
              <a:spcAft>
                <a:spcPts val="1200"/>
              </a:spcAft>
              <a:buFont typeface="Wingdings" panose="05000000000000000000" pitchFamily="2" charset="2"/>
              <a:buChar char="p"/>
            </a:pPr>
            <a:r>
              <a:rPr lang="zh-CN" altLang="en-US" sz="2400" b="1" dirty="0">
                <a:solidFill>
                  <a:srgbClr val="C00000"/>
                </a:solidFill>
                <a:latin typeface="黑体" panose="02010609060101010101" pitchFamily="49" charset="-122"/>
                <a:ea typeface="黑体" panose="02010609060101010101" pitchFamily="49" charset="-122"/>
              </a:rPr>
              <a:t>自编码器（</a:t>
            </a:r>
            <a:r>
              <a:rPr lang="en-US" altLang="zh-CN" sz="2400" b="1" dirty="0" err="1">
                <a:solidFill>
                  <a:srgbClr val="C00000"/>
                </a:solidFill>
                <a:latin typeface="黑体" panose="02010609060101010101" pitchFamily="49" charset="-122"/>
                <a:ea typeface="黑体" panose="02010609060101010101" pitchFamily="49" charset="-122"/>
              </a:rPr>
              <a:t>AutoEncoder</a:t>
            </a:r>
            <a:r>
              <a:rPr lang="zh-CN" altLang="en-US" sz="2400" b="1" dirty="0">
                <a:solidFill>
                  <a:srgbClr val="C00000"/>
                </a:solidFill>
                <a:latin typeface="黑体" panose="02010609060101010101" pitchFamily="49" charset="-122"/>
                <a:ea typeface="黑体" panose="02010609060101010101" pitchFamily="49" charset="-122"/>
              </a:rPr>
              <a:t>）</a:t>
            </a:r>
            <a:r>
              <a:rPr lang="zh-CN" altLang="en-US" sz="2400" dirty="0">
                <a:latin typeface="黑体" panose="02010609060101010101" pitchFamily="49" charset="-122"/>
                <a:ea typeface="黑体" panose="02010609060101010101" pitchFamily="49" charset="-122"/>
              </a:rPr>
              <a:t>是神经网络的一种，是一种无监督学习方法，使用了反向传播算法，目标是使</a:t>
            </a:r>
            <a:r>
              <a:rPr lang="zh-CN" altLang="en-US" sz="2400" b="1" dirty="0">
                <a:solidFill>
                  <a:srgbClr val="C00000"/>
                </a:solidFill>
                <a:latin typeface="黑体" panose="02010609060101010101" pitchFamily="49" charset="-122"/>
                <a:ea typeface="黑体" panose="02010609060101010101" pitchFamily="49" charset="-122"/>
              </a:rPr>
              <a:t>输出=输入</a:t>
            </a:r>
            <a:r>
              <a:rPr lang="zh-CN" altLang="en-US" sz="2400" dirty="0">
                <a:latin typeface="黑体" panose="02010609060101010101" pitchFamily="49" charset="-122"/>
                <a:ea typeface="黑体" panose="02010609060101010101" pitchFamily="49" charset="-122"/>
              </a:rPr>
              <a:t>。 自编码器内部有隐藏层 ，可以产生编码表示输入。1986 年Rumelhart 提出。</a:t>
            </a:r>
            <a:endParaRPr lang="en-US" altLang="zh-CN" sz="2400" dirty="0">
              <a:latin typeface="黑体" panose="02010609060101010101" pitchFamily="49" charset="-122"/>
              <a:ea typeface="黑体" panose="02010609060101010101" pitchFamily="49" charset="-122"/>
            </a:endParaRPr>
          </a:p>
          <a:p>
            <a:pPr marL="285750" indent="-285750">
              <a:spcAft>
                <a:spcPts val="1200"/>
              </a:spcAft>
              <a:buFont typeface="Wingdings" panose="05000000000000000000" pitchFamily="2" charset="2"/>
              <a:buChar char="p"/>
            </a:pPr>
            <a:r>
              <a:rPr lang="zh-CN" altLang="en-US" sz="2400" dirty="0">
                <a:latin typeface="黑体" panose="02010609060101010101" pitchFamily="49" charset="-122"/>
                <a:ea typeface="黑体" panose="02010609060101010101" pitchFamily="49" charset="-122"/>
              </a:rPr>
              <a:t>自编码器主要作用在于通过复现输出而捕捉可以代表输入的重要因素，利用中间隐层对输入的压缩表达，达到像PCA那样的找到原始信息主成分的效果。传统自编码器被用于</a:t>
            </a:r>
            <a:r>
              <a:rPr lang="zh-CN" altLang="en-US" sz="2400" b="1" dirty="0">
                <a:solidFill>
                  <a:srgbClr val="C00000"/>
                </a:solidFill>
                <a:latin typeface="黑体" panose="02010609060101010101" pitchFamily="49" charset="-122"/>
                <a:ea typeface="黑体" panose="02010609060101010101" pitchFamily="49" charset="-122"/>
              </a:rPr>
              <a:t>降维或特征学习。 </a:t>
            </a:r>
            <a:endParaRPr lang="en-US" altLang="zh-CN" sz="2400" b="1" dirty="0">
              <a:solidFill>
                <a:srgbClr val="C00000"/>
              </a:solidFill>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165586549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直接连接符 9"/>
          <p:cNvCxnSpPr/>
          <p:nvPr/>
        </p:nvCxnSpPr>
        <p:spPr>
          <a:xfrm>
            <a:off x="755576" y="6669360"/>
            <a:ext cx="8162925" cy="0"/>
          </a:xfrm>
          <a:prstGeom prst="line">
            <a:avLst/>
          </a:prstGeom>
          <a:ln w="254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Box 1"/>
          <p:cNvSpPr txBox="1">
            <a:spLocks noGrp="1" noChangeArrowheads="1"/>
          </p:cNvSpPr>
          <p:nvPr>
            <p:ph type="title"/>
          </p:nvPr>
        </p:nvSpPr>
        <p:spPr bwMode="auto">
          <a:xfrm>
            <a:off x="434975" y="184572"/>
            <a:ext cx="8229600" cy="551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b="1">
                <a:solidFill>
                  <a:schemeClr val="tx1"/>
                </a:solidFill>
                <a:latin typeface="Times New Roman" pitchFamily="18" charset="0"/>
                <a:ea typeface="华文中宋" pitchFamily="2" charset="-122"/>
              </a:defRPr>
            </a:lvl1pPr>
            <a:lvl2pPr marL="742950" indent="-285750" eaLnBrk="0" hangingPunct="0">
              <a:defRPr kumimoji="1" b="1">
                <a:solidFill>
                  <a:schemeClr val="tx1"/>
                </a:solidFill>
                <a:latin typeface="Times New Roman" pitchFamily="18" charset="0"/>
                <a:ea typeface="华文中宋" pitchFamily="2" charset="-122"/>
              </a:defRPr>
            </a:lvl2pPr>
            <a:lvl3pPr marL="1143000" indent="-228600" eaLnBrk="0" hangingPunct="0">
              <a:defRPr kumimoji="1" b="1">
                <a:solidFill>
                  <a:schemeClr val="tx1"/>
                </a:solidFill>
                <a:latin typeface="Times New Roman" pitchFamily="18" charset="0"/>
                <a:ea typeface="华文中宋" pitchFamily="2" charset="-122"/>
              </a:defRPr>
            </a:lvl3pPr>
            <a:lvl4pPr marL="1600200" indent="-228600" eaLnBrk="0" hangingPunct="0">
              <a:defRPr kumimoji="1" b="1">
                <a:solidFill>
                  <a:schemeClr val="tx1"/>
                </a:solidFill>
                <a:latin typeface="Times New Roman" pitchFamily="18" charset="0"/>
                <a:ea typeface="华文中宋" pitchFamily="2" charset="-122"/>
              </a:defRPr>
            </a:lvl4pPr>
            <a:lvl5pPr marL="2057400" indent="-228600" eaLnBrk="0" hangingPunct="0">
              <a:defRPr kumimoji="1" b="1">
                <a:solidFill>
                  <a:schemeClr val="tx1"/>
                </a:solidFill>
                <a:latin typeface="Times New Roman" pitchFamily="18" charset="0"/>
                <a:ea typeface="华文中宋" pitchFamily="2" charset="-122"/>
              </a:defRPr>
            </a:lvl5pPr>
            <a:lvl6pPr marL="25146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6pPr>
            <a:lvl7pPr marL="29718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7pPr>
            <a:lvl8pPr marL="34290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8pPr>
            <a:lvl9pPr marL="38862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9pPr>
          </a:lstStyle>
          <a:p>
            <a:pPr algn="ctr" eaLnBrk="1" hangingPunct="1"/>
            <a:r>
              <a:rPr lang="zh-CN" altLang="en-US" sz="3200" dirty="0">
                <a:latin typeface="黑体" pitchFamily="2" charset="-122"/>
                <a:ea typeface="黑体" pitchFamily="2" charset="-122"/>
              </a:rPr>
              <a:t>聚类算法</a:t>
            </a:r>
            <a:r>
              <a:rPr lang="zh-CN" altLang="en-US" sz="3200" dirty="0">
                <a:solidFill>
                  <a:srgbClr val="FF0000"/>
                </a:solidFill>
                <a:latin typeface="黑体" pitchFamily="2" charset="-122"/>
                <a:ea typeface="黑体" pitchFamily="2" charset="-122"/>
              </a:rPr>
              <a:t>之深度聚类</a:t>
            </a:r>
          </a:p>
        </p:txBody>
      </p:sp>
      <p:sp>
        <p:nvSpPr>
          <p:cNvPr id="2" name="灯片编号占位符 1">
            <a:extLst>
              <a:ext uri="{FF2B5EF4-FFF2-40B4-BE49-F238E27FC236}">
                <a16:creationId xmlns:a16="http://schemas.microsoft.com/office/drawing/2014/main" id="{B0290D7D-A83F-4807-84BD-D3FDCBBF298D}"/>
              </a:ext>
            </a:extLst>
          </p:cNvPr>
          <p:cNvSpPr>
            <a:spLocks noGrp="1"/>
          </p:cNvSpPr>
          <p:nvPr>
            <p:ph type="sldNum" sz="quarter" idx="12"/>
          </p:nvPr>
        </p:nvSpPr>
        <p:spPr/>
        <p:txBody>
          <a:bodyPr/>
          <a:lstStyle/>
          <a:p>
            <a:fld id="{0C913308-F349-4B6D-A68A-DD1791B4A57B}" type="slidenum">
              <a:rPr lang="zh-CN" altLang="en-US" smtClean="0"/>
              <a:t>31</a:t>
            </a:fld>
            <a:endParaRPr lang="zh-CN" altLang="en-US"/>
          </a:p>
        </p:txBody>
      </p:sp>
      <p:pic>
        <p:nvPicPr>
          <p:cNvPr id="3" name="图片 2">
            <a:extLst>
              <a:ext uri="{FF2B5EF4-FFF2-40B4-BE49-F238E27FC236}">
                <a16:creationId xmlns:a16="http://schemas.microsoft.com/office/drawing/2014/main" id="{AD089114-B0F3-4631-A8FB-FF95AD7AB60C}"/>
              </a:ext>
            </a:extLst>
          </p:cNvPr>
          <p:cNvPicPr>
            <a:picLocks noChangeAspect="1"/>
          </p:cNvPicPr>
          <p:nvPr/>
        </p:nvPicPr>
        <p:blipFill>
          <a:blip r:embed="rId3"/>
          <a:stretch>
            <a:fillRect/>
          </a:stretch>
        </p:blipFill>
        <p:spPr>
          <a:xfrm>
            <a:off x="352462" y="1636332"/>
            <a:ext cx="8439075" cy="4896539"/>
          </a:xfrm>
          <a:prstGeom prst="rect">
            <a:avLst/>
          </a:prstGeom>
        </p:spPr>
      </p:pic>
      <p:sp>
        <p:nvSpPr>
          <p:cNvPr id="4" name="文本框 3">
            <a:extLst>
              <a:ext uri="{FF2B5EF4-FFF2-40B4-BE49-F238E27FC236}">
                <a16:creationId xmlns:a16="http://schemas.microsoft.com/office/drawing/2014/main" id="{A9EBB414-93DB-4F31-95BF-CC9296E688EA}"/>
              </a:ext>
            </a:extLst>
          </p:cNvPr>
          <p:cNvSpPr txBox="1"/>
          <p:nvPr/>
        </p:nvSpPr>
        <p:spPr>
          <a:xfrm>
            <a:off x="2248829" y="1038178"/>
            <a:ext cx="4867038" cy="461665"/>
          </a:xfrm>
          <a:prstGeom prst="rect">
            <a:avLst/>
          </a:prstGeom>
          <a:noFill/>
        </p:spPr>
        <p:txBody>
          <a:bodyPr wrap="none" rtlCol="0">
            <a:spAutoFit/>
          </a:bodyPr>
          <a:lstStyle/>
          <a:p>
            <a:r>
              <a:rPr lang="en-US" altLang="zh-CN" sz="2400" b="1" dirty="0">
                <a:solidFill>
                  <a:srgbClr val="C00000"/>
                </a:solidFill>
                <a:latin typeface="Times New Roman" panose="02020603050405020304" pitchFamily="18" charset="0"/>
                <a:cs typeface="Times New Roman" panose="02020603050405020304" pitchFamily="18" charset="0"/>
              </a:rPr>
              <a:t>2006</a:t>
            </a:r>
            <a:r>
              <a:rPr lang="zh-CN" altLang="en-US" sz="2400" b="1" dirty="0">
                <a:solidFill>
                  <a:srgbClr val="C00000"/>
                </a:solidFill>
                <a:latin typeface="Times New Roman" panose="02020603050405020304" pitchFamily="18" charset="0"/>
                <a:cs typeface="Times New Roman" panose="02020603050405020304" pitchFamily="18" charset="0"/>
              </a:rPr>
              <a:t>年“</a:t>
            </a:r>
            <a:r>
              <a:rPr lang="en-US" altLang="zh-CN" sz="2400" b="1" dirty="0">
                <a:solidFill>
                  <a:srgbClr val="C00000"/>
                </a:solidFill>
                <a:latin typeface="Times New Roman" panose="02020603050405020304" pitchFamily="18" charset="0"/>
                <a:cs typeface="Times New Roman" panose="02020603050405020304" pitchFamily="18" charset="0"/>
              </a:rPr>
              <a:t>Science</a:t>
            </a:r>
            <a:r>
              <a:rPr lang="zh-CN" altLang="en-US" sz="2400" b="1" dirty="0">
                <a:solidFill>
                  <a:srgbClr val="C00000"/>
                </a:solidFill>
                <a:latin typeface="Times New Roman" panose="02020603050405020304" pitchFamily="18" charset="0"/>
                <a:cs typeface="Times New Roman" panose="02020603050405020304" pitchFamily="18" charset="0"/>
              </a:rPr>
              <a:t>”文章的核心思想</a:t>
            </a:r>
          </a:p>
        </p:txBody>
      </p:sp>
    </p:spTree>
    <p:extLst>
      <p:ext uri="{BB962C8B-B14F-4D97-AF65-F5344CB8AC3E}">
        <p14:creationId xmlns:p14="http://schemas.microsoft.com/office/powerpoint/2010/main" val="13319377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直接连接符 9"/>
          <p:cNvCxnSpPr/>
          <p:nvPr/>
        </p:nvCxnSpPr>
        <p:spPr>
          <a:xfrm>
            <a:off x="755576" y="6669360"/>
            <a:ext cx="8162925" cy="0"/>
          </a:xfrm>
          <a:prstGeom prst="line">
            <a:avLst/>
          </a:prstGeom>
          <a:ln w="254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Box 1"/>
          <p:cNvSpPr txBox="1">
            <a:spLocks noGrp="1" noChangeArrowheads="1"/>
          </p:cNvSpPr>
          <p:nvPr>
            <p:ph type="title"/>
          </p:nvPr>
        </p:nvSpPr>
        <p:spPr bwMode="auto">
          <a:xfrm>
            <a:off x="434975" y="184572"/>
            <a:ext cx="8229600" cy="551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b="1">
                <a:solidFill>
                  <a:schemeClr val="tx1"/>
                </a:solidFill>
                <a:latin typeface="Times New Roman" pitchFamily="18" charset="0"/>
                <a:ea typeface="华文中宋" pitchFamily="2" charset="-122"/>
              </a:defRPr>
            </a:lvl1pPr>
            <a:lvl2pPr marL="742950" indent="-285750" eaLnBrk="0" hangingPunct="0">
              <a:defRPr kumimoji="1" b="1">
                <a:solidFill>
                  <a:schemeClr val="tx1"/>
                </a:solidFill>
                <a:latin typeface="Times New Roman" pitchFamily="18" charset="0"/>
                <a:ea typeface="华文中宋" pitchFamily="2" charset="-122"/>
              </a:defRPr>
            </a:lvl2pPr>
            <a:lvl3pPr marL="1143000" indent="-228600" eaLnBrk="0" hangingPunct="0">
              <a:defRPr kumimoji="1" b="1">
                <a:solidFill>
                  <a:schemeClr val="tx1"/>
                </a:solidFill>
                <a:latin typeface="Times New Roman" pitchFamily="18" charset="0"/>
                <a:ea typeface="华文中宋" pitchFamily="2" charset="-122"/>
              </a:defRPr>
            </a:lvl3pPr>
            <a:lvl4pPr marL="1600200" indent="-228600" eaLnBrk="0" hangingPunct="0">
              <a:defRPr kumimoji="1" b="1">
                <a:solidFill>
                  <a:schemeClr val="tx1"/>
                </a:solidFill>
                <a:latin typeface="Times New Roman" pitchFamily="18" charset="0"/>
                <a:ea typeface="华文中宋" pitchFamily="2" charset="-122"/>
              </a:defRPr>
            </a:lvl4pPr>
            <a:lvl5pPr marL="2057400" indent="-228600" eaLnBrk="0" hangingPunct="0">
              <a:defRPr kumimoji="1" b="1">
                <a:solidFill>
                  <a:schemeClr val="tx1"/>
                </a:solidFill>
                <a:latin typeface="Times New Roman" pitchFamily="18" charset="0"/>
                <a:ea typeface="华文中宋" pitchFamily="2" charset="-122"/>
              </a:defRPr>
            </a:lvl5pPr>
            <a:lvl6pPr marL="25146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6pPr>
            <a:lvl7pPr marL="29718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7pPr>
            <a:lvl8pPr marL="34290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8pPr>
            <a:lvl9pPr marL="38862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9pPr>
          </a:lstStyle>
          <a:p>
            <a:pPr algn="ctr" eaLnBrk="1" hangingPunct="1"/>
            <a:r>
              <a:rPr lang="zh-CN" altLang="en-US" sz="3200" dirty="0">
                <a:latin typeface="黑体" pitchFamily="2" charset="-122"/>
                <a:ea typeface="黑体" pitchFamily="2" charset="-122"/>
              </a:rPr>
              <a:t>聚类算法</a:t>
            </a:r>
            <a:r>
              <a:rPr lang="zh-CN" altLang="en-US" sz="3200" dirty="0">
                <a:solidFill>
                  <a:srgbClr val="FF0000"/>
                </a:solidFill>
                <a:latin typeface="黑体" pitchFamily="2" charset="-122"/>
                <a:ea typeface="黑体" pitchFamily="2" charset="-122"/>
              </a:rPr>
              <a:t>之深度聚类</a:t>
            </a:r>
          </a:p>
        </p:txBody>
      </p:sp>
      <p:sp>
        <p:nvSpPr>
          <p:cNvPr id="2" name="灯片编号占位符 1">
            <a:extLst>
              <a:ext uri="{FF2B5EF4-FFF2-40B4-BE49-F238E27FC236}">
                <a16:creationId xmlns:a16="http://schemas.microsoft.com/office/drawing/2014/main" id="{B0290D7D-A83F-4807-84BD-D3FDCBBF298D}"/>
              </a:ext>
            </a:extLst>
          </p:cNvPr>
          <p:cNvSpPr>
            <a:spLocks noGrp="1"/>
          </p:cNvSpPr>
          <p:nvPr>
            <p:ph type="sldNum" sz="quarter" idx="12"/>
          </p:nvPr>
        </p:nvSpPr>
        <p:spPr/>
        <p:txBody>
          <a:bodyPr/>
          <a:lstStyle/>
          <a:p>
            <a:fld id="{0C913308-F349-4B6D-A68A-DD1791B4A57B}" type="slidenum">
              <a:rPr lang="zh-CN" altLang="en-US" smtClean="0"/>
              <a:t>32</a:t>
            </a:fld>
            <a:endParaRPr lang="zh-CN" altLang="en-US"/>
          </a:p>
        </p:txBody>
      </p:sp>
      <p:sp>
        <p:nvSpPr>
          <p:cNvPr id="4" name="文本框 3">
            <a:extLst>
              <a:ext uri="{FF2B5EF4-FFF2-40B4-BE49-F238E27FC236}">
                <a16:creationId xmlns:a16="http://schemas.microsoft.com/office/drawing/2014/main" id="{A9EBB414-93DB-4F31-95BF-CC9296E688EA}"/>
              </a:ext>
            </a:extLst>
          </p:cNvPr>
          <p:cNvSpPr txBox="1"/>
          <p:nvPr/>
        </p:nvSpPr>
        <p:spPr>
          <a:xfrm>
            <a:off x="323528" y="1049015"/>
            <a:ext cx="2969083" cy="461665"/>
          </a:xfrm>
          <a:prstGeom prst="rect">
            <a:avLst/>
          </a:prstGeom>
          <a:noFill/>
        </p:spPr>
        <p:txBody>
          <a:bodyPr wrap="none" rtlCol="0">
            <a:spAutoFit/>
          </a:bodyPr>
          <a:lstStyle/>
          <a:p>
            <a:r>
              <a:rPr lang="zh-CN" altLang="en-US" sz="2400" b="1" dirty="0">
                <a:solidFill>
                  <a:srgbClr val="C00000"/>
                </a:solidFill>
                <a:latin typeface="Times New Roman" panose="02020603050405020304" pitchFamily="18" charset="0"/>
                <a:cs typeface="Times New Roman" panose="02020603050405020304" pitchFamily="18" charset="0"/>
              </a:rPr>
              <a:t>深度聚类的两种方式</a:t>
            </a:r>
          </a:p>
        </p:txBody>
      </p:sp>
      <p:pic>
        <p:nvPicPr>
          <p:cNvPr id="5" name="图片 4">
            <a:extLst>
              <a:ext uri="{FF2B5EF4-FFF2-40B4-BE49-F238E27FC236}">
                <a16:creationId xmlns:a16="http://schemas.microsoft.com/office/drawing/2014/main" id="{EA404062-D559-43D1-88B5-963960EF3481}"/>
              </a:ext>
            </a:extLst>
          </p:cNvPr>
          <p:cNvPicPr>
            <a:picLocks noChangeAspect="1"/>
          </p:cNvPicPr>
          <p:nvPr/>
        </p:nvPicPr>
        <p:blipFill>
          <a:blip r:embed="rId3"/>
          <a:stretch>
            <a:fillRect/>
          </a:stretch>
        </p:blipFill>
        <p:spPr>
          <a:xfrm>
            <a:off x="3227713" y="4201339"/>
            <a:ext cx="5690788" cy="2311516"/>
          </a:xfrm>
          <a:prstGeom prst="rect">
            <a:avLst/>
          </a:prstGeom>
        </p:spPr>
      </p:pic>
      <p:pic>
        <p:nvPicPr>
          <p:cNvPr id="6" name="图片 5">
            <a:extLst>
              <a:ext uri="{FF2B5EF4-FFF2-40B4-BE49-F238E27FC236}">
                <a16:creationId xmlns:a16="http://schemas.microsoft.com/office/drawing/2014/main" id="{AF2BF16C-36F2-406F-BA2A-A719AC65D993}"/>
              </a:ext>
            </a:extLst>
          </p:cNvPr>
          <p:cNvPicPr>
            <a:picLocks noChangeAspect="1"/>
          </p:cNvPicPr>
          <p:nvPr/>
        </p:nvPicPr>
        <p:blipFill>
          <a:blip r:embed="rId4"/>
          <a:stretch>
            <a:fillRect/>
          </a:stretch>
        </p:blipFill>
        <p:spPr>
          <a:xfrm>
            <a:off x="3102022" y="1932337"/>
            <a:ext cx="5322378" cy="1480308"/>
          </a:xfrm>
          <a:prstGeom prst="rect">
            <a:avLst/>
          </a:prstGeom>
        </p:spPr>
      </p:pic>
      <p:sp>
        <p:nvSpPr>
          <p:cNvPr id="12" name="矩形 11">
            <a:extLst>
              <a:ext uri="{FF2B5EF4-FFF2-40B4-BE49-F238E27FC236}">
                <a16:creationId xmlns:a16="http://schemas.microsoft.com/office/drawing/2014/main" id="{E640309F-87EB-4C1D-91BA-D81DFC15D924}"/>
              </a:ext>
            </a:extLst>
          </p:cNvPr>
          <p:cNvSpPr/>
          <p:nvPr/>
        </p:nvSpPr>
        <p:spPr>
          <a:xfrm>
            <a:off x="445566" y="2498419"/>
            <a:ext cx="5312915" cy="461665"/>
          </a:xfrm>
          <a:prstGeom prst="rect">
            <a:avLst/>
          </a:prstGeom>
        </p:spPr>
        <p:txBody>
          <a:bodyPr wrap="square">
            <a:spAutoFit/>
          </a:bodyPr>
          <a:lstStyle/>
          <a:p>
            <a:pPr marL="285750" indent="-285750">
              <a:spcAft>
                <a:spcPts val="1200"/>
              </a:spcAft>
              <a:buFont typeface="Wingdings" panose="05000000000000000000" pitchFamily="2" charset="2"/>
              <a:buChar char="p"/>
            </a:pPr>
            <a:r>
              <a:rPr lang="zh-CN" altLang="en-US" sz="2400" dirty="0">
                <a:latin typeface="黑体" panose="02010609060101010101" pitchFamily="49" charset="-122"/>
                <a:ea typeface="黑体" panose="02010609060101010101" pitchFamily="49" charset="-122"/>
              </a:rPr>
              <a:t>先学习再聚类</a:t>
            </a:r>
            <a:endParaRPr lang="en-US" altLang="zh-CN" sz="2400" dirty="0">
              <a:latin typeface="黑体" panose="02010609060101010101" pitchFamily="49" charset="-122"/>
              <a:ea typeface="黑体" panose="02010609060101010101" pitchFamily="49" charset="-122"/>
            </a:endParaRPr>
          </a:p>
        </p:txBody>
      </p:sp>
      <p:sp>
        <p:nvSpPr>
          <p:cNvPr id="13" name="矩形 12">
            <a:extLst>
              <a:ext uri="{FF2B5EF4-FFF2-40B4-BE49-F238E27FC236}">
                <a16:creationId xmlns:a16="http://schemas.microsoft.com/office/drawing/2014/main" id="{AD18435F-31F4-4867-9251-C18C7F4E8E59}"/>
              </a:ext>
            </a:extLst>
          </p:cNvPr>
          <p:cNvSpPr/>
          <p:nvPr/>
        </p:nvSpPr>
        <p:spPr>
          <a:xfrm>
            <a:off x="445565" y="4627608"/>
            <a:ext cx="5312915" cy="461665"/>
          </a:xfrm>
          <a:prstGeom prst="rect">
            <a:avLst/>
          </a:prstGeom>
        </p:spPr>
        <p:txBody>
          <a:bodyPr wrap="square">
            <a:spAutoFit/>
          </a:bodyPr>
          <a:lstStyle/>
          <a:p>
            <a:pPr marL="285750" indent="-285750">
              <a:spcAft>
                <a:spcPts val="1200"/>
              </a:spcAft>
              <a:buFont typeface="Wingdings" panose="05000000000000000000" pitchFamily="2" charset="2"/>
              <a:buChar char="p"/>
            </a:pP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DNN</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与聚类同步</a:t>
            </a:r>
            <a:endParaRPr lang="en-US" altLang="zh-CN" sz="2400" dirty="0">
              <a:latin typeface="Times New Roman" panose="02020603050405020304" pitchFamily="18" charset="0"/>
              <a:ea typeface="黑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426491682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直接连接符 9"/>
          <p:cNvCxnSpPr/>
          <p:nvPr/>
        </p:nvCxnSpPr>
        <p:spPr>
          <a:xfrm>
            <a:off x="755576" y="6669360"/>
            <a:ext cx="8162925" cy="0"/>
          </a:xfrm>
          <a:prstGeom prst="line">
            <a:avLst/>
          </a:prstGeom>
          <a:ln w="254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Box 1"/>
          <p:cNvSpPr txBox="1">
            <a:spLocks noGrp="1" noChangeArrowheads="1"/>
          </p:cNvSpPr>
          <p:nvPr>
            <p:ph type="title"/>
          </p:nvPr>
        </p:nvSpPr>
        <p:spPr bwMode="auto">
          <a:xfrm>
            <a:off x="434975" y="184572"/>
            <a:ext cx="8229600" cy="551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b="1">
                <a:solidFill>
                  <a:schemeClr val="tx1"/>
                </a:solidFill>
                <a:latin typeface="Times New Roman" pitchFamily="18" charset="0"/>
                <a:ea typeface="华文中宋" pitchFamily="2" charset="-122"/>
              </a:defRPr>
            </a:lvl1pPr>
            <a:lvl2pPr marL="742950" indent="-285750" eaLnBrk="0" hangingPunct="0">
              <a:defRPr kumimoji="1" b="1">
                <a:solidFill>
                  <a:schemeClr val="tx1"/>
                </a:solidFill>
                <a:latin typeface="Times New Roman" pitchFamily="18" charset="0"/>
                <a:ea typeface="华文中宋" pitchFamily="2" charset="-122"/>
              </a:defRPr>
            </a:lvl2pPr>
            <a:lvl3pPr marL="1143000" indent="-228600" eaLnBrk="0" hangingPunct="0">
              <a:defRPr kumimoji="1" b="1">
                <a:solidFill>
                  <a:schemeClr val="tx1"/>
                </a:solidFill>
                <a:latin typeface="Times New Roman" pitchFamily="18" charset="0"/>
                <a:ea typeface="华文中宋" pitchFamily="2" charset="-122"/>
              </a:defRPr>
            </a:lvl3pPr>
            <a:lvl4pPr marL="1600200" indent="-228600" eaLnBrk="0" hangingPunct="0">
              <a:defRPr kumimoji="1" b="1">
                <a:solidFill>
                  <a:schemeClr val="tx1"/>
                </a:solidFill>
                <a:latin typeface="Times New Roman" pitchFamily="18" charset="0"/>
                <a:ea typeface="华文中宋" pitchFamily="2" charset="-122"/>
              </a:defRPr>
            </a:lvl4pPr>
            <a:lvl5pPr marL="2057400" indent="-228600" eaLnBrk="0" hangingPunct="0">
              <a:defRPr kumimoji="1" b="1">
                <a:solidFill>
                  <a:schemeClr val="tx1"/>
                </a:solidFill>
                <a:latin typeface="Times New Roman" pitchFamily="18" charset="0"/>
                <a:ea typeface="华文中宋" pitchFamily="2" charset="-122"/>
              </a:defRPr>
            </a:lvl5pPr>
            <a:lvl6pPr marL="25146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6pPr>
            <a:lvl7pPr marL="29718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7pPr>
            <a:lvl8pPr marL="34290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8pPr>
            <a:lvl9pPr marL="38862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9pPr>
          </a:lstStyle>
          <a:p>
            <a:pPr algn="ctr" eaLnBrk="1" hangingPunct="1"/>
            <a:r>
              <a:rPr lang="zh-CN" altLang="en-US" sz="3200" dirty="0">
                <a:latin typeface="黑体" pitchFamily="2" charset="-122"/>
                <a:ea typeface="黑体" pitchFamily="2" charset="-122"/>
              </a:rPr>
              <a:t>聚类算法</a:t>
            </a:r>
            <a:r>
              <a:rPr lang="zh-CN" altLang="en-US" sz="3200" dirty="0">
                <a:solidFill>
                  <a:srgbClr val="FF0000"/>
                </a:solidFill>
                <a:latin typeface="黑体" pitchFamily="2" charset="-122"/>
                <a:ea typeface="黑体" pitchFamily="2" charset="-122"/>
              </a:rPr>
              <a:t>之深度聚类</a:t>
            </a:r>
          </a:p>
        </p:txBody>
      </p:sp>
      <p:sp>
        <p:nvSpPr>
          <p:cNvPr id="2" name="灯片编号占位符 1">
            <a:extLst>
              <a:ext uri="{FF2B5EF4-FFF2-40B4-BE49-F238E27FC236}">
                <a16:creationId xmlns:a16="http://schemas.microsoft.com/office/drawing/2014/main" id="{B0290D7D-A83F-4807-84BD-D3FDCBBF298D}"/>
              </a:ext>
            </a:extLst>
          </p:cNvPr>
          <p:cNvSpPr>
            <a:spLocks noGrp="1"/>
          </p:cNvSpPr>
          <p:nvPr>
            <p:ph type="sldNum" sz="quarter" idx="12"/>
          </p:nvPr>
        </p:nvSpPr>
        <p:spPr/>
        <p:txBody>
          <a:bodyPr/>
          <a:lstStyle/>
          <a:p>
            <a:fld id="{0C913308-F349-4B6D-A68A-DD1791B4A57B}" type="slidenum">
              <a:rPr lang="zh-CN" altLang="en-US" smtClean="0"/>
              <a:t>33</a:t>
            </a:fld>
            <a:endParaRPr lang="zh-CN" altLang="en-US"/>
          </a:p>
        </p:txBody>
      </p:sp>
      <p:sp>
        <p:nvSpPr>
          <p:cNvPr id="4" name="文本框 3">
            <a:extLst>
              <a:ext uri="{FF2B5EF4-FFF2-40B4-BE49-F238E27FC236}">
                <a16:creationId xmlns:a16="http://schemas.microsoft.com/office/drawing/2014/main" id="{A9EBB414-93DB-4F31-95BF-CC9296E688EA}"/>
              </a:ext>
            </a:extLst>
          </p:cNvPr>
          <p:cNvSpPr txBox="1"/>
          <p:nvPr/>
        </p:nvSpPr>
        <p:spPr>
          <a:xfrm>
            <a:off x="323528" y="1049015"/>
            <a:ext cx="4374916" cy="461665"/>
          </a:xfrm>
          <a:prstGeom prst="rect">
            <a:avLst/>
          </a:prstGeom>
          <a:noFill/>
        </p:spPr>
        <p:txBody>
          <a:bodyPr wrap="none" rtlCol="0">
            <a:spAutoFit/>
          </a:bodyPr>
          <a:lstStyle/>
          <a:p>
            <a:r>
              <a:rPr lang="zh-CN" altLang="en-US" sz="2400" b="1" dirty="0">
                <a:solidFill>
                  <a:srgbClr val="C00000"/>
                </a:solidFill>
                <a:latin typeface="Times New Roman" panose="02020603050405020304" pitchFamily="18" charset="0"/>
                <a:cs typeface="Times New Roman" panose="02020603050405020304" pitchFamily="18" charset="0"/>
              </a:rPr>
              <a:t>自编码器（</a:t>
            </a:r>
            <a:r>
              <a:rPr lang="en-US" altLang="zh-CN" sz="2400" b="1" dirty="0">
                <a:solidFill>
                  <a:srgbClr val="C00000"/>
                </a:solidFill>
                <a:latin typeface="Times New Roman" panose="02020603050405020304" pitchFamily="18" charset="0"/>
                <a:cs typeface="Times New Roman" panose="02020603050405020304" pitchFamily="18" charset="0"/>
              </a:rPr>
              <a:t>AE</a:t>
            </a:r>
            <a:r>
              <a:rPr lang="zh-CN" altLang="en-US" sz="2400" b="1" dirty="0">
                <a:solidFill>
                  <a:srgbClr val="C00000"/>
                </a:solidFill>
                <a:latin typeface="Times New Roman" panose="02020603050405020304" pitchFamily="18" charset="0"/>
                <a:cs typeface="Times New Roman" panose="02020603050405020304" pitchFamily="18" charset="0"/>
              </a:rPr>
              <a:t>）</a:t>
            </a:r>
            <a:r>
              <a:rPr lang="en-US" altLang="zh-CN" sz="2400" b="1" dirty="0">
                <a:solidFill>
                  <a:srgbClr val="C00000"/>
                </a:solidFill>
                <a:latin typeface="Times New Roman" panose="02020603050405020304" pitchFamily="18" charset="0"/>
                <a:cs typeface="Times New Roman" panose="02020603050405020304" pitchFamily="18" charset="0"/>
              </a:rPr>
              <a:t>+k-means</a:t>
            </a:r>
            <a:r>
              <a:rPr lang="zh-CN" altLang="en-US" sz="2400" b="1" dirty="0">
                <a:solidFill>
                  <a:srgbClr val="C00000"/>
                </a:solidFill>
                <a:latin typeface="Times New Roman" panose="02020603050405020304" pitchFamily="18" charset="0"/>
                <a:cs typeface="Times New Roman" panose="02020603050405020304" pitchFamily="18" charset="0"/>
              </a:rPr>
              <a:t>聚类</a:t>
            </a:r>
          </a:p>
        </p:txBody>
      </p:sp>
      <p:sp>
        <p:nvSpPr>
          <p:cNvPr id="3" name="矩形 2">
            <a:extLst>
              <a:ext uri="{FF2B5EF4-FFF2-40B4-BE49-F238E27FC236}">
                <a16:creationId xmlns:a16="http://schemas.microsoft.com/office/drawing/2014/main" id="{66219C00-3CAB-433C-A5C5-DCCF70179DE9}"/>
              </a:ext>
            </a:extLst>
          </p:cNvPr>
          <p:cNvSpPr/>
          <p:nvPr/>
        </p:nvSpPr>
        <p:spPr>
          <a:xfrm>
            <a:off x="430074" y="1693412"/>
            <a:ext cx="8256726" cy="369332"/>
          </a:xfrm>
          <a:prstGeom prst="rect">
            <a:avLst/>
          </a:prstGeom>
        </p:spPr>
        <p:txBody>
          <a:bodyPr wrap="square">
            <a:spAutoFit/>
          </a:bodyPr>
          <a:lstStyle/>
          <a:p>
            <a:r>
              <a:rPr lang="en-US" altLang="zh-CN" i="1" dirty="0">
                <a:latin typeface="Times New Roman" panose="02020603050405020304" pitchFamily="18" charset="0"/>
                <a:cs typeface="Times New Roman" panose="02020603050405020304" pitchFamily="18" charset="0"/>
              </a:rPr>
              <a:t>Song, C. F. et. al</a:t>
            </a:r>
            <a:r>
              <a:rPr lang="en-US" altLang="zh-CN" i="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a:t>
            </a:r>
            <a:r>
              <a:rPr lang="zh-CN" altLang="en-US" i="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a:t>
            </a:r>
            <a:r>
              <a:rPr lang="en-US" altLang="zh-CN" b="1" i="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D</a:t>
            </a:r>
            <a:r>
              <a:rPr lang="zh-CN" altLang="zh-CN" b="1" i="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eep auto-encoder based clustering</a:t>
            </a:r>
            <a:r>
              <a:rPr lang="en-US" altLang="zh-CN" i="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a:t>
            </a:r>
            <a:r>
              <a:rPr lang="zh-CN" altLang="zh-CN" i="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Intelligent Data Analysis</a:t>
            </a:r>
            <a:r>
              <a:rPr lang="en-US" altLang="zh-CN" i="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2014</a:t>
            </a:r>
            <a:endParaRPr lang="zh-CN" altLang="zh-CN" i="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p:txBody>
      </p:sp>
      <p:sp>
        <p:nvSpPr>
          <p:cNvPr id="7" name="矩形 6">
            <a:extLst>
              <a:ext uri="{FF2B5EF4-FFF2-40B4-BE49-F238E27FC236}">
                <a16:creationId xmlns:a16="http://schemas.microsoft.com/office/drawing/2014/main" id="{5CDE2A7D-6014-4B51-8037-A32C40A50083}"/>
              </a:ext>
            </a:extLst>
          </p:cNvPr>
          <p:cNvSpPr/>
          <p:nvPr/>
        </p:nvSpPr>
        <p:spPr>
          <a:xfrm>
            <a:off x="404320" y="2501313"/>
            <a:ext cx="8125023" cy="707886"/>
          </a:xfrm>
          <a:prstGeom prst="rect">
            <a:avLst/>
          </a:prstGeom>
        </p:spPr>
        <p:txBody>
          <a:bodyPr wrap="square">
            <a:spAutoFit/>
          </a:bodyPr>
          <a:lstStyle/>
          <a:p>
            <a:pPr marL="285750" indent="-285750">
              <a:buFont typeface="Wingdings" panose="05000000000000000000" pitchFamily="2" charset="2"/>
              <a:buChar char="Ø"/>
            </a:pPr>
            <a:r>
              <a:rPr lang="zh-CN" altLang="zh-CN" sz="2000" dirty="0">
                <a:solidFill>
                  <a:srgbClr val="000000"/>
                </a:solidFill>
                <a:latin typeface="Times New Roman" panose="02020603050405020304" pitchFamily="18" charset="0"/>
                <a:ea typeface="SimSun" panose="02010600030101010101" pitchFamily="2" charset="-122"/>
                <a:cs typeface="Times New Roman" panose="02020603050405020304" pitchFamily="18" charset="0"/>
              </a:rPr>
              <a:t>主要思想是：</a:t>
            </a:r>
            <a:r>
              <a:rPr lang="en-US" altLang="zh-CN" sz="2000" dirty="0">
                <a:solidFill>
                  <a:srgbClr val="000000"/>
                </a:solidFill>
                <a:latin typeface="Times New Roman" panose="02020603050405020304" pitchFamily="18" charset="0"/>
                <a:ea typeface="SimSun" panose="02010600030101010101" pitchFamily="2" charset="-122"/>
                <a:cs typeface="Times New Roman" panose="02020603050405020304" pitchFamily="18" charset="0"/>
              </a:rPr>
              <a:t>AE</a:t>
            </a:r>
            <a:r>
              <a:rPr lang="zh-CN" altLang="zh-CN" sz="2000" dirty="0">
                <a:solidFill>
                  <a:srgbClr val="000000"/>
                </a:solidFill>
                <a:latin typeface="Times New Roman" panose="02020603050405020304" pitchFamily="18" charset="0"/>
                <a:ea typeface="SimSun" panose="02010600030101010101" pitchFamily="2" charset="-122"/>
                <a:cs typeface="Times New Roman" panose="02020603050405020304" pitchFamily="18" charset="0"/>
              </a:rPr>
              <a:t>降维与</a:t>
            </a:r>
            <a:r>
              <a:rPr lang="en-US" altLang="zh-CN" sz="2000" dirty="0">
                <a:solidFill>
                  <a:srgbClr val="000000"/>
                </a:solidFill>
                <a:latin typeface="Times New Roman" panose="02020603050405020304" pitchFamily="18" charset="0"/>
                <a:ea typeface="SimSun" panose="02010600030101010101" pitchFamily="2" charset="-122"/>
                <a:cs typeface="Times New Roman" panose="02020603050405020304" pitchFamily="18" charset="0"/>
              </a:rPr>
              <a:t>k-means</a:t>
            </a:r>
            <a:r>
              <a:rPr lang="zh-CN" altLang="zh-CN" sz="2000" dirty="0">
                <a:solidFill>
                  <a:srgbClr val="000000"/>
                </a:solidFill>
                <a:latin typeface="Times New Roman" panose="02020603050405020304" pitchFamily="18" charset="0"/>
                <a:ea typeface="SimSun" panose="02010600030101010101" pitchFamily="2" charset="-122"/>
                <a:cs typeface="Times New Roman" panose="02020603050405020304" pitchFamily="18" charset="0"/>
              </a:rPr>
              <a:t>聚类同步，构建了一个新的代价函数，第一项是</a:t>
            </a:r>
            <a:r>
              <a:rPr lang="en-US" altLang="zh-CN" sz="2000" dirty="0">
                <a:solidFill>
                  <a:srgbClr val="000000"/>
                </a:solidFill>
                <a:latin typeface="Times New Roman" panose="02020603050405020304" pitchFamily="18" charset="0"/>
                <a:ea typeface="SimSun" panose="02010600030101010101" pitchFamily="2" charset="-122"/>
                <a:cs typeface="Times New Roman" panose="02020603050405020304" pitchFamily="18" charset="0"/>
              </a:rPr>
              <a:t>AE</a:t>
            </a:r>
            <a:r>
              <a:rPr lang="zh-CN" altLang="zh-CN" sz="2000" dirty="0">
                <a:solidFill>
                  <a:srgbClr val="000000"/>
                </a:solidFill>
                <a:latin typeface="Times New Roman" panose="02020603050405020304" pitchFamily="18" charset="0"/>
                <a:ea typeface="SimSun" panose="02010600030101010101" pitchFamily="2" charset="-122"/>
                <a:cs typeface="Times New Roman" panose="02020603050405020304" pitchFamily="18" charset="0"/>
              </a:rPr>
              <a:t>的构造误差，第二项是</a:t>
            </a:r>
            <a:r>
              <a:rPr lang="en-US" altLang="zh-CN" sz="2000" dirty="0">
                <a:solidFill>
                  <a:srgbClr val="000000"/>
                </a:solidFill>
                <a:latin typeface="Times New Roman" panose="02020603050405020304" pitchFamily="18" charset="0"/>
                <a:ea typeface="SimSun" panose="02010600030101010101" pitchFamily="2" charset="-122"/>
                <a:cs typeface="Times New Roman" panose="02020603050405020304" pitchFamily="18" charset="0"/>
              </a:rPr>
              <a:t>k-means</a:t>
            </a:r>
            <a:r>
              <a:rPr lang="zh-CN" altLang="zh-CN" sz="2000" dirty="0">
                <a:solidFill>
                  <a:srgbClr val="000000"/>
                </a:solidFill>
                <a:latin typeface="Times New Roman" panose="02020603050405020304" pitchFamily="18" charset="0"/>
                <a:ea typeface="SimSun" panose="02010600030101010101" pitchFamily="2" charset="-122"/>
                <a:cs typeface="Times New Roman" panose="02020603050405020304" pitchFamily="18" charset="0"/>
              </a:rPr>
              <a:t>的代价函数</a:t>
            </a:r>
            <a:endParaRPr lang="zh-CN" altLang="en-US" sz="2000" dirty="0">
              <a:latin typeface="Times New Roman" panose="02020603050405020304" pitchFamily="18" charset="0"/>
              <a:cs typeface="Times New Roman" panose="02020603050405020304" pitchFamily="18" charset="0"/>
            </a:endParaRPr>
          </a:p>
        </p:txBody>
      </p:sp>
      <p:pic>
        <p:nvPicPr>
          <p:cNvPr id="13313" name="Picture 1" descr="İlci - x'i112+A Ellft@i) - &#10;Ci argıpi41 llft@i) — ">
            <a:extLst>
              <a:ext uri="{FF2B5EF4-FFF2-40B4-BE49-F238E27FC236}">
                <a16:creationId xmlns:a16="http://schemas.microsoft.com/office/drawing/2014/main" id="{57F78A7F-22F9-40B2-9249-7D1E91691D3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9632" y="3647768"/>
            <a:ext cx="6624736" cy="18732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9013191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直接连接符 9"/>
          <p:cNvCxnSpPr/>
          <p:nvPr/>
        </p:nvCxnSpPr>
        <p:spPr>
          <a:xfrm>
            <a:off x="755576" y="6669360"/>
            <a:ext cx="8162925" cy="0"/>
          </a:xfrm>
          <a:prstGeom prst="line">
            <a:avLst/>
          </a:prstGeom>
          <a:ln w="254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Box 1"/>
          <p:cNvSpPr txBox="1">
            <a:spLocks noGrp="1" noChangeArrowheads="1"/>
          </p:cNvSpPr>
          <p:nvPr>
            <p:ph type="title"/>
          </p:nvPr>
        </p:nvSpPr>
        <p:spPr bwMode="auto">
          <a:xfrm>
            <a:off x="434975" y="184572"/>
            <a:ext cx="8229600" cy="551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b="1">
                <a:solidFill>
                  <a:schemeClr val="tx1"/>
                </a:solidFill>
                <a:latin typeface="Times New Roman" pitchFamily="18" charset="0"/>
                <a:ea typeface="华文中宋" pitchFamily="2" charset="-122"/>
              </a:defRPr>
            </a:lvl1pPr>
            <a:lvl2pPr marL="742950" indent="-285750" eaLnBrk="0" hangingPunct="0">
              <a:defRPr kumimoji="1" b="1">
                <a:solidFill>
                  <a:schemeClr val="tx1"/>
                </a:solidFill>
                <a:latin typeface="Times New Roman" pitchFamily="18" charset="0"/>
                <a:ea typeface="华文中宋" pitchFamily="2" charset="-122"/>
              </a:defRPr>
            </a:lvl2pPr>
            <a:lvl3pPr marL="1143000" indent="-228600" eaLnBrk="0" hangingPunct="0">
              <a:defRPr kumimoji="1" b="1">
                <a:solidFill>
                  <a:schemeClr val="tx1"/>
                </a:solidFill>
                <a:latin typeface="Times New Roman" pitchFamily="18" charset="0"/>
                <a:ea typeface="华文中宋" pitchFamily="2" charset="-122"/>
              </a:defRPr>
            </a:lvl3pPr>
            <a:lvl4pPr marL="1600200" indent="-228600" eaLnBrk="0" hangingPunct="0">
              <a:defRPr kumimoji="1" b="1">
                <a:solidFill>
                  <a:schemeClr val="tx1"/>
                </a:solidFill>
                <a:latin typeface="Times New Roman" pitchFamily="18" charset="0"/>
                <a:ea typeface="华文中宋" pitchFamily="2" charset="-122"/>
              </a:defRPr>
            </a:lvl4pPr>
            <a:lvl5pPr marL="2057400" indent="-228600" eaLnBrk="0" hangingPunct="0">
              <a:defRPr kumimoji="1" b="1">
                <a:solidFill>
                  <a:schemeClr val="tx1"/>
                </a:solidFill>
                <a:latin typeface="Times New Roman" pitchFamily="18" charset="0"/>
                <a:ea typeface="华文中宋" pitchFamily="2" charset="-122"/>
              </a:defRPr>
            </a:lvl5pPr>
            <a:lvl6pPr marL="25146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6pPr>
            <a:lvl7pPr marL="29718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7pPr>
            <a:lvl8pPr marL="34290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8pPr>
            <a:lvl9pPr marL="38862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9pPr>
          </a:lstStyle>
          <a:p>
            <a:pPr algn="ctr" eaLnBrk="1" hangingPunct="1"/>
            <a:r>
              <a:rPr lang="zh-CN" altLang="en-US" sz="3200" dirty="0">
                <a:latin typeface="黑体" pitchFamily="2" charset="-122"/>
                <a:ea typeface="黑体" pitchFamily="2" charset="-122"/>
              </a:rPr>
              <a:t>聚类算法</a:t>
            </a:r>
            <a:r>
              <a:rPr lang="zh-CN" altLang="en-US" sz="3200" dirty="0">
                <a:solidFill>
                  <a:srgbClr val="FF0000"/>
                </a:solidFill>
                <a:latin typeface="黑体" pitchFamily="2" charset="-122"/>
                <a:ea typeface="黑体" pitchFamily="2" charset="-122"/>
              </a:rPr>
              <a:t>之深度聚类</a:t>
            </a:r>
          </a:p>
        </p:txBody>
      </p:sp>
      <p:sp>
        <p:nvSpPr>
          <p:cNvPr id="2" name="灯片编号占位符 1">
            <a:extLst>
              <a:ext uri="{FF2B5EF4-FFF2-40B4-BE49-F238E27FC236}">
                <a16:creationId xmlns:a16="http://schemas.microsoft.com/office/drawing/2014/main" id="{B0290D7D-A83F-4807-84BD-D3FDCBBF298D}"/>
              </a:ext>
            </a:extLst>
          </p:cNvPr>
          <p:cNvSpPr>
            <a:spLocks noGrp="1"/>
          </p:cNvSpPr>
          <p:nvPr>
            <p:ph type="sldNum" sz="quarter" idx="12"/>
          </p:nvPr>
        </p:nvSpPr>
        <p:spPr/>
        <p:txBody>
          <a:bodyPr/>
          <a:lstStyle/>
          <a:p>
            <a:fld id="{0C913308-F349-4B6D-A68A-DD1791B4A57B}" type="slidenum">
              <a:rPr lang="zh-CN" altLang="en-US" smtClean="0"/>
              <a:t>34</a:t>
            </a:fld>
            <a:endParaRPr lang="zh-CN" altLang="en-US"/>
          </a:p>
        </p:txBody>
      </p:sp>
      <p:sp>
        <p:nvSpPr>
          <p:cNvPr id="4" name="文本框 3">
            <a:extLst>
              <a:ext uri="{FF2B5EF4-FFF2-40B4-BE49-F238E27FC236}">
                <a16:creationId xmlns:a16="http://schemas.microsoft.com/office/drawing/2014/main" id="{A9EBB414-93DB-4F31-95BF-CC9296E688EA}"/>
              </a:ext>
            </a:extLst>
          </p:cNvPr>
          <p:cNvSpPr txBox="1"/>
          <p:nvPr/>
        </p:nvSpPr>
        <p:spPr>
          <a:xfrm>
            <a:off x="323528" y="1049015"/>
            <a:ext cx="4374916" cy="461665"/>
          </a:xfrm>
          <a:prstGeom prst="rect">
            <a:avLst/>
          </a:prstGeom>
          <a:noFill/>
        </p:spPr>
        <p:txBody>
          <a:bodyPr wrap="none" rtlCol="0">
            <a:spAutoFit/>
          </a:bodyPr>
          <a:lstStyle/>
          <a:p>
            <a:r>
              <a:rPr lang="zh-CN" altLang="en-US" sz="2400" b="1" dirty="0">
                <a:solidFill>
                  <a:srgbClr val="C00000"/>
                </a:solidFill>
                <a:latin typeface="Times New Roman" panose="02020603050405020304" pitchFamily="18" charset="0"/>
                <a:cs typeface="Times New Roman" panose="02020603050405020304" pitchFamily="18" charset="0"/>
              </a:rPr>
              <a:t>自编码器（</a:t>
            </a:r>
            <a:r>
              <a:rPr lang="en-US" altLang="zh-CN" sz="2400" b="1" dirty="0">
                <a:solidFill>
                  <a:srgbClr val="C00000"/>
                </a:solidFill>
                <a:latin typeface="Times New Roman" panose="02020603050405020304" pitchFamily="18" charset="0"/>
                <a:cs typeface="Times New Roman" panose="02020603050405020304" pitchFamily="18" charset="0"/>
              </a:rPr>
              <a:t>AE</a:t>
            </a:r>
            <a:r>
              <a:rPr lang="zh-CN" altLang="en-US" sz="2400" b="1" dirty="0">
                <a:solidFill>
                  <a:srgbClr val="C00000"/>
                </a:solidFill>
                <a:latin typeface="Times New Roman" panose="02020603050405020304" pitchFamily="18" charset="0"/>
                <a:cs typeface="Times New Roman" panose="02020603050405020304" pitchFamily="18" charset="0"/>
              </a:rPr>
              <a:t>）</a:t>
            </a:r>
            <a:r>
              <a:rPr lang="en-US" altLang="zh-CN" sz="2400" b="1" dirty="0">
                <a:solidFill>
                  <a:srgbClr val="C00000"/>
                </a:solidFill>
                <a:latin typeface="Times New Roman" panose="02020603050405020304" pitchFamily="18" charset="0"/>
                <a:cs typeface="Times New Roman" panose="02020603050405020304" pitchFamily="18" charset="0"/>
              </a:rPr>
              <a:t>+k-means</a:t>
            </a:r>
            <a:r>
              <a:rPr lang="zh-CN" altLang="en-US" sz="2400" b="1" dirty="0">
                <a:solidFill>
                  <a:srgbClr val="C00000"/>
                </a:solidFill>
                <a:latin typeface="Times New Roman" panose="02020603050405020304" pitchFamily="18" charset="0"/>
                <a:cs typeface="Times New Roman" panose="02020603050405020304" pitchFamily="18" charset="0"/>
              </a:rPr>
              <a:t>聚类</a:t>
            </a:r>
          </a:p>
        </p:txBody>
      </p:sp>
      <p:sp>
        <p:nvSpPr>
          <p:cNvPr id="3" name="矩形 2">
            <a:extLst>
              <a:ext uri="{FF2B5EF4-FFF2-40B4-BE49-F238E27FC236}">
                <a16:creationId xmlns:a16="http://schemas.microsoft.com/office/drawing/2014/main" id="{66219C00-3CAB-433C-A5C5-DCCF70179DE9}"/>
              </a:ext>
            </a:extLst>
          </p:cNvPr>
          <p:cNvSpPr/>
          <p:nvPr/>
        </p:nvSpPr>
        <p:spPr>
          <a:xfrm>
            <a:off x="430074" y="1693412"/>
            <a:ext cx="8256726" cy="369332"/>
          </a:xfrm>
          <a:prstGeom prst="rect">
            <a:avLst/>
          </a:prstGeom>
        </p:spPr>
        <p:txBody>
          <a:bodyPr wrap="square">
            <a:spAutoFit/>
          </a:bodyPr>
          <a:lstStyle/>
          <a:p>
            <a:r>
              <a:rPr lang="en-US" altLang="zh-CN" i="1" dirty="0">
                <a:latin typeface="Times New Roman" panose="02020603050405020304" pitchFamily="18" charset="0"/>
                <a:cs typeface="Times New Roman" panose="02020603050405020304" pitchFamily="18" charset="0"/>
              </a:rPr>
              <a:t>Song, C. F. et. al</a:t>
            </a:r>
            <a:r>
              <a:rPr lang="en-US" altLang="zh-CN" i="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a:t>
            </a:r>
            <a:r>
              <a:rPr lang="zh-CN" altLang="en-US" i="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a:t>
            </a:r>
            <a:r>
              <a:rPr lang="en-US" altLang="zh-CN" b="1" i="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D</a:t>
            </a:r>
            <a:r>
              <a:rPr lang="zh-CN" altLang="zh-CN" b="1" i="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eep auto-encoder based clustering</a:t>
            </a:r>
            <a:r>
              <a:rPr lang="en-US" altLang="zh-CN" i="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a:t>
            </a:r>
            <a:r>
              <a:rPr lang="zh-CN" altLang="zh-CN" i="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Intelligent Data Analysis</a:t>
            </a:r>
            <a:r>
              <a:rPr lang="en-US" altLang="zh-CN" i="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2014</a:t>
            </a:r>
            <a:endParaRPr lang="zh-CN" altLang="zh-CN" i="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5" name="图片 4">
            <a:extLst>
              <a:ext uri="{FF2B5EF4-FFF2-40B4-BE49-F238E27FC236}">
                <a16:creationId xmlns:a16="http://schemas.microsoft.com/office/drawing/2014/main" id="{44A57BD5-B4D8-4799-8C6E-3239AA80B7BB}"/>
              </a:ext>
            </a:extLst>
          </p:cNvPr>
          <p:cNvPicPr>
            <a:picLocks noChangeAspect="1"/>
          </p:cNvPicPr>
          <p:nvPr/>
        </p:nvPicPr>
        <p:blipFill>
          <a:blip r:embed="rId3"/>
          <a:stretch>
            <a:fillRect/>
          </a:stretch>
        </p:blipFill>
        <p:spPr>
          <a:xfrm>
            <a:off x="1135311" y="2232544"/>
            <a:ext cx="6484689" cy="4423570"/>
          </a:xfrm>
          <a:prstGeom prst="rect">
            <a:avLst/>
          </a:prstGeom>
        </p:spPr>
      </p:pic>
    </p:spTree>
    <p:extLst>
      <p:ext uri="{BB962C8B-B14F-4D97-AF65-F5344CB8AC3E}">
        <p14:creationId xmlns:p14="http://schemas.microsoft.com/office/powerpoint/2010/main" val="176299730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直接连接符 9"/>
          <p:cNvCxnSpPr/>
          <p:nvPr/>
        </p:nvCxnSpPr>
        <p:spPr>
          <a:xfrm>
            <a:off x="755576" y="6669360"/>
            <a:ext cx="8162925" cy="0"/>
          </a:xfrm>
          <a:prstGeom prst="line">
            <a:avLst/>
          </a:prstGeom>
          <a:ln w="254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Box 1"/>
          <p:cNvSpPr txBox="1">
            <a:spLocks noGrp="1" noChangeArrowheads="1"/>
          </p:cNvSpPr>
          <p:nvPr>
            <p:ph type="title"/>
          </p:nvPr>
        </p:nvSpPr>
        <p:spPr bwMode="auto">
          <a:xfrm>
            <a:off x="434975" y="184572"/>
            <a:ext cx="8229600" cy="551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b="1">
                <a:solidFill>
                  <a:schemeClr val="tx1"/>
                </a:solidFill>
                <a:latin typeface="Times New Roman" pitchFamily="18" charset="0"/>
                <a:ea typeface="华文中宋" pitchFamily="2" charset="-122"/>
              </a:defRPr>
            </a:lvl1pPr>
            <a:lvl2pPr marL="742950" indent="-285750" eaLnBrk="0" hangingPunct="0">
              <a:defRPr kumimoji="1" b="1">
                <a:solidFill>
                  <a:schemeClr val="tx1"/>
                </a:solidFill>
                <a:latin typeface="Times New Roman" pitchFamily="18" charset="0"/>
                <a:ea typeface="华文中宋" pitchFamily="2" charset="-122"/>
              </a:defRPr>
            </a:lvl2pPr>
            <a:lvl3pPr marL="1143000" indent="-228600" eaLnBrk="0" hangingPunct="0">
              <a:defRPr kumimoji="1" b="1">
                <a:solidFill>
                  <a:schemeClr val="tx1"/>
                </a:solidFill>
                <a:latin typeface="Times New Roman" pitchFamily="18" charset="0"/>
                <a:ea typeface="华文中宋" pitchFamily="2" charset="-122"/>
              </a:defRPr>
            </a:lvl3pPr>
            <a:lvl4pPr marL="1600200" indent="-228600" eaLnBrk="0" hangingPunct="0">
              <a:defRPr kumimoji="1" b="1">
                <a:solidFill>
                  <a:schemeClr val="tx1"/>
                </a:solidFill>
                <a:latin typeface="Times New Roman" pitchFamily="18" charset="0"/>
                <a:ea typeface="华文中宋" pitchFamily="2" charset="-122"/>
              </a:defRPr>
            </a:lvl4pPr>
            <a:lvl5pPr marL="2057400" indent="-228600" eaLnBrk="0" hangingPunct="0">
              <a:defRPr kumimoji="1" b="1">
                <a:solidFill>
                  <a:schemeClr val="tx1"/>
                </a:solidFill>
                <a:latin typeface="Times New Roman" pitchFamily="18" charset="0"/>
                <a:ea typeface="华文中宋" pitchFamily="2" charset="-122"/>
              </a:defRPr>
            </a:lvl5pPr>
            <a:lvl6pPr marL="25146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6pPr>
            <a:lvl7pPr marL="29718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7pPr>
            <a:lvl8pPr marL="34290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8pPr>
            <a:lvl9pPr marL="38862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9pPr>
          </a:lstStyle>
          <a:p>
            <a:pPr algn="ctr" eaLnBrk="1" hangingPunct="1"/>
            <a:r>
              <a:rPr lang="zh-CN" altLang="en-US" sz="3200" dirty="0">
                <a:latin typeface="黑体" pitchFamily="2" charset="-122"/>
                <a:ea typeface="黑体" pitchFamily="2" charset="-122"/>
              </a:rPr>
              <a:t>聚类算法</a:t>
            </a:r>
            <a:r>
              <a:rPr lang="zh-CN" altLang="en-US" sz="3200" dirty="0">
                <a:solidFill>
                  <a:srgbClr val="FF0000"/>
                </a:solidFill>
                <a:latin typeface="黑体" pitchFamily="2" charset="-122"/>
                <a:ea typeface="黑体" pitchFamily="2" charset="-122"/>
              </a:rPr>
              <a:t>之深度聚类</a:t>
            </a:r>
          </a:p>
        </p:txBody>
      </p:sp>
      <p:sp>
        <p:nvSpPr>
          <p:cNvPr id="2" name="灯片编号占位符 1">
            <a:extLst>
              <a:ext uri="{FF2B5EF4-FFF2-40B4-BE49-F238E27FC236}">
                <a16:creationId xmlns:a16="http://schemas.microsoft.com/office/drawing/2014/main" id="{B0290D7D-A83F-4807-84BD-D3FDCBBF298D}"/>
              </a:ext>
            </a:extLst>
          </p:cNvPr>
          <p:cNvSpPr>
            <a:spLocks noGrp="1"/>
          </p:cNvSpPr>
          <p:nvPr>
            <p:ph type="sldNum" sz="quarter" idx="12"/>
          </p:nvPr>
        </p:nvSpPr>
        <p:spPr/>
        <p:txBody>
          <a:bodyPr/>
          <a:lstStyle/>
          <a:p>
            <a:fld id="{0C913308-F349-4B6D-A68A-DD1791B4A57B}" type="slidenum">
              <a:rPr lang="zh-CN" altLang="en-US" smtClean="0"/>
              <a:t>35</a:t>
            </a:fld>
            <a:endParaRPr lang="zh-CN" altLang="en-US"/>
          </a:p>
        </p:txBody>
      </p:sp>
      <p:sp>
        <p:nvSpPr>
          <p:cNvPr id="4" name="文本框 3">
            <a:extLst>
              <a:ext uri="{FF2B5EF4-FFF2-40B4-BE49-F238E27FC236}">
                <a16:creationId xmlns:a16="http://schemas.microsoft.com/office/drawing/2014/main" id="{A9EBB414-93DB-4F31-95BF-CC9296E688EA}"/>
              </a:ext>
            </a:extLst>
          </p:cNvPr>
          <p:cNvSpPr txBox="1"/>
          <p:nvPr/>
        </p:nvSpPr>
        <p:spPr>
          <a:xfrm>
            <a:off x="323528" y="1049015"/>
            <a:ext cx="4374916" cy="461665"/>
          </a:xfrm>
          <a:prstGeom prst="rect">
            <a:avLst/>
          </a:prstGeom>
          <a:noFill/>
        </p:spPr>
        <p:txBody>
          <a:bodyPr wrap="none" rtlCol="0">
            <a:spAutoFit/>
          </a:bodyPr>
          <a:lstStyle/>
          <a:p>
            <a:r>
              <a:rPr lang="zh-CN" altLang="en-US" sz="2400" b="1" dirty="0">
                <a:solidFill>
                  <a:srgbClr val="C00000"/>
                </a:solidFill>
                <a:latin typeface="Times New Roman" panose="02020603050405020304" pitchFamily="18" charset="0"/>
                <a:cs typeface="Times New Roman" panose="02020603050405020304" pitchFamily="18" charset="0"/>
              </a:rPr>
              <a:t>自编码器（</a:t>
            </a:r>
            <a:r>
              <a:rPr lang="en-US" altLang="zh-CN" sz="2400" b="1" dirty="0">
                <a:solidFill>
                  <a:srgbClr val="C00000"/>
                </a:solidFill>
                <a:latin typeface="Times New Roman" panose="02020603050405020304" pitchFamily="18" charset="0"/>
                <a:cs typeface="Times New Roman" panose="02020603050405020304" pitchFamily="18" charset="0"/>
              </a:rPr>
              <a:t>AE</a:t>
            </a:r>
            <a:r>
              <a:rPr lang="zh-CN" altLang="en-US" sz="2400" b="1" dirty="0">
                <a:solidFill>
                  <a:srgbClr val="C00000"/>
                </a:solidFill>
                <a:latin typeface="Times New Roman" panose="02020603050405020304" pitchFamily="18" charset="0"/>
                <a:cs typeface="Times New Roman" panose="02020603050405020304" pitchFamily="18" charset="0"/>
              </a:rPr>
              <a:t>）</a:t>
            </a:r>
            <a:r>
              <a:rPr lang="en-US" altLang="zh-CN" sz="2400" b="1" dirty="0">
                <a:solidFill>
                  <a:srgbClr val="C00000"/>
                </a:solidFill>
                <a:latin typeface="Times New Roman" panose="02020603050405020304" pitchFamily="18" charset="0"/>
                <a:cs typeface="Times New Roman" panose="02020603050405020304" pitchFamily="18" charset="0"/>
              </a:rPr>
              <a:t>+k-means</a:t>
            </a:r>
            <a:r>
              <a:rPr lang="zh-CN" altLang="en-US" sz="2400" b="1" dirty="0">
                <a:solidFill>
                  <a:srgbClr val="C00000"/>
                </a:solidFill>
                <a:latin typeface="Times New Roman" panose="02020603050405020304" pitchFamily="18" charset="0"/>
                <a:cs typeface="Times New Roman" panose="02020603050405020304" pitchFamily="18" charset="0"/>
              </a:rPr>
              <a:t>聚类</a:t>
            </a:r>
          </a:p>
        </p:txBody>
      </p:sp>
      <p:sp>
        <p:nvSpPr>
          <p:cNvPr id="3" name="矩形 2">
            <a:extLst>
              <a:ext uri="{FF2B5EF4-FFF2-40B4-BE49-F238E27FC236}">
                <a16:creationId xmlns:a16="http://schemas.microsoft.com/office/drawing/2014/main" id="{66219C00-3CAB-433C-A5C5-DCCF70179DE9}"/>
              </a:ext>
            </a:extLst>
          </p:cNvPr>
          <p:cNvSpPr/>
          <p:nvPr/>
        </p:nvSpPr>
        <p:spPr>
          <a:xfrm>
            <a:off x="430074" y="1693412"/>
            <a:ext cx="8256726" cy="369332"/>
          </a:xfrm>
          <a:prstGeom prst="rect">
            <a:avLst/>
          </a:prstGeom>
        </p:spPr>
        <p:txBody>
          <a:bodyPr wrap="square">
            <a:spAutoFit/>
          </a:bodyPr>
          <a:lstStyle/>
          <a:p>
            <a:r>
              <a:rPr lang="en-US" altLang="zh-CN" i="1" dirty="0">
                <a:latin typeface="Times New Roman" panose="02020603050405020304" pitchFamily="18" charset="0"/>
                <a:cs typeface="Times New Roman" panose="02020603050405020304" pitchFamily="18" charset="0"/>
              </a:rPr>
              <a:t>Song, C. F. et. al</a:t>
            </a:r>
            <a:r>
              <a:rPr lang="en-US" altLang="zh-CN" i="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a:t>
            </a:r>
            <a:r>
              <a:rPr lang="zh-CN" altLang="en-US" i="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a:t>
            </a:r>
            <a:r>
              <a:rPr lang="en-US" altLang="zh-CN" b="1" i="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D</a:t>
            </a:r>
            <a:r>
              <a:rPr lang="zh-CN" altLang="zh-CN" b="1" i="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eep auto-encoder based clustering</a:t>
            </a:r>
            <a:r>
              <a:rPr lang="en-US" altLang="zh-CN" i="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a:t>
            </a:r>
            <a:r>
              <a:rPr lang="zh-CN" altLang="zh-CN" i="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Intelligent Data Analysis</a:t>
            </a:r>
            <a:r>
              <a:rPr lang="en-US" altLang="zh-CN" i="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2014</a:t>
            </a:r>
            <a:endParaRPr lang="zh-CN" altLang="zh-CN" i="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6" name="图片 5">
            <a:extLst>
              <a:ext uri="{FF2B5EF4-FFF2-40B4-BE49-F238E27FC236}">
                <a16:creationId xmlns:a16="http://schemas.microsoft.com/office/drawing/2014/main" id="{89BFF779-197A-4173-97B1-8989150936A0}"/>
              </a:ext>
            </a:extLst>
          </p:cNvPr>
          <p:cNvPicPr>
            <a:picLocks noChangeAspect="1"/>
          </p:cNvPicPr>
          <p:nvPr/>
        </p:nvPicPr>
        <p:blipFill>
          <a:blip r:embed="rId3"/>
          <a:stretch>
            <a:fillRect/>
          </a:stretch>
        </p:blipFill>
        <p:spPr>
          <a:xfrm>
            <a:off x="1471545" y="2689663"/>
            <a:ext cx="7452320" cy="2726759"/>
          </a:xfrm>
          <a:prstGeom prst="rect">
            <a:avLst/>
          </a:prstGeom>
        </p:spPr>
      </p:pic>
      <p:sp>
        <p:nvSpPr>
          <p:cNvPr id="7" name="文本框 6">
            <a:extLst>
              <a:ext uri="{FF2B5EF4-FFF2-40B4-BE49-F238E27FC236}">
                <a16:creationId xmlns:a16="http://schemas.microsoft.com/office/drawing/2014/main" id="{E83E8D12-B3A7-4B35-B94D-1FF78620482B}"/>
              </a:ext>
            </a:extLst>
          </p:cNvPr>
          <p:cNvSpPr txBox="1"/>
          <p:nvPr/>
        </p:nvSpPr>
        <p:spPr>
          <a:xfrm>
            <a:off x="437464" y="2960820"/>
            <a:ext cx="1210588" cy="400110"/>
          </a:xfrm>
          <a:prstGeom prst="rect">
            <a:avLst/>
          </a:prstGeom>
          <a:noFill/>
          <a:ln w="28575">
            <a:solidFill>
              <a:srgbClr val="0000FF"/>
            </a:solidFill>
            <a:prstDash val="solid"/>
          </a:ln>
        </p:spPr>
        <p:txBody>
          <a:bodyPr wrap="square" rtlCol="0">
            <a:spAutoFit/>
          </a:bodyPr>
          <a:lstStyle/>
          <a:p>
            <a:pPr algn="ctr"/>
            <a:r>
              <a:rPr lang="en-US" altLang="zh-CN" sz="2000" dirty="0">
                <a:latin typeface="Times New Roman" panose="02020603050405020304" pitchFamily="18" charset="0"/>
                <a:cs typeface="Times New Roman" panose="02020603050405020304" pitchFamily="18" charset="0"/>
              </a:rPr>
              <a:t>K-means</a:t>
            </a:r>
            <a:endParaRPr lang="zh-CN" altLang="en-US" sz="2000" dirty="0">
              <a:latin typeface="Times New Roman" panose="02020603050405020304" pitchFamily="18" charset="0"/>
              <a:cs typeface="Times New Roman" panose="02020603050405020304" pitchFamily="18" charset="0"/>
            </a:endParaRPr>
          </a:p>
        </p:txBody>
      </p:sp>
      <p:sp>
        <p:nvSpPr>
          <p:cNvPr id="14" name="文本框 13">
            <a:extLst>
              <a:ext uri="{FF2B5EF4-FFF2-40B4-BE49-F238E27FC236}">
                <a16:creationId xmlns:a16="http://schemas.microsoft.com/office/drawing/2014/main" id="{DCA14430-AFB6-4305-834D-3C6D4186032A}"/>
              </a:ext>
            </a:extLst>
          </p:cNvPr>
          <p:cNvSpPr txBox="1"/>
          <p:nvPr/>
        </p:nvSpPr>
        <p:spPr>
          <a:xfrm>
            <a:off x="437464" y="3830742"/>
            <a:ext cx="1210588" cy="400110"/>
          </a:xfrm>
          <a:prstGeom prst="rect">
            <a:avLst/>
          </a:prstGeom>
          <a:noFill/>
          <a:ln w="28575">
            <a:solidFill>
              <a:srgbClr val="0000FF"/>
            </a:solidFill>
            <a:prstDash val="solid"/>
          </a:ln>
        </p:spPr>
        <p:txBody>
          <a:bodyPr wrap="square" rtlCol="0">
            <a:spAutoFit/>
          </a:bodyPr>
          <a:lstStyle/>
          <a:p>
            <a:pPr algn="ctr"/>
            <a:r>
              <a:rPr lang="zh-CN" altLang="en-US" sz="2000" dirty="0">
                <a:latin typeface="Times New Roman" panose="02020603050405020304" pitchFamily="18" charset="0"/>
                <a:cs typeface="Times New Roman" panose="02020603050405020304" pitchFamily="18" charset="0"/>
              </a:rPr>
              <a:t>谱聚类</a:t>
            </a:r>
          </a:p>
        </p:txBody>
      </p:sp>
      <p:sp>
        <p:nvSpPr>
          <p:cNvPr id="15" name="文本框 14">
            <a:extLst>
              <a:ext uri="{FF2B5EF4-FFF2-40B4-BE49-F238E27FC236}">
                <a16:creationId xmlns:a16="http://schemas.microsoft.com/office/drawing/2014/main" id="{C5D8C165-2D47-4E2F-B115-4C167106AF5A}"/>
              </a:ext>
            </a:extLst>
          </p:cNvPr>
          <p:cNvSpPr txBox="1"/>
          <p:nvPr/>
        </p:nvSpPr>
        <p:spPr>
          <a:xfrm>
            <a:off x="437464" y="4707679"/>
            <a:ext cx="1210588" cy="400110"/>
          </a:xfrm>
          <a:prstGeom prst="rect">
            <a:avLst/>
          </a:prstGeom>
          <a:noFill/>
          <a:ln w="28575">
            <a:solidFill>
              <a:srgbClr val="0000FF"/>
            </a:solidFill>
            <a:prstDash val="solid"/>
          </a:ln>
        </p:spPr>
        <p:txBody>
          <a:bodyPr wrap="none" rtlCol="0">
            <a:spAutoFit/>
          </a:bodyPr>
          <a:lstStyle/>
          <a:p>
            <a:r>
              <a:rPr lang="zh-CN" altLang="en-US" sz="2000" dirty="0">
                <a:latin typeface="Times New Roman" panose="02020603050405020304" pitchFamily="18" charset="0"/>
                <a:cs typeface="Times New Roman" panose="02020603050405020304" pitchFamily="18" charset="0"/>
              </a:rPr>
              <a:t>深度聚类</a:t>
            </a:r>
          </a:p>
        </p:txBody>
      </p:sp>
      <p:sp>
        <p:nvSpPr>
          <p:cNvPr id="8" name="文本框 7">
            <a:extLst>
              <a:ext uri="{FF2B5EF4-FFF2-40B4-BE49-F238E27FC236}">
                <a16:creationId xmlns:a16="http://schemas.microsoft.com/office/drawing/2014/main" id="{7D1877EE-275E-436B-A17A-B9487CB8A96B}"/>
              </a:ext>
            </a:extLst>
          </p:cNvPr>
          <p:cNvSpPr txBox="1"/>
          <p:nvPr/>
        </p:nvSpPr>
        <p:spPr>
          <a:xfrm>
            <a:off x="2979256" y="5729432"/>
            <a:ext cx="4185761" cy="461665"/>
          </a:xfrm>
          <a:prstGeom prst="rect">
            <a:avLst/>
          </a:prstGeom>
          <a:solidFill>
            <a:srgbClr val="0070C0"/>
          </a:solidFill>
        </p:spPr>
        <p:txBody>
          <a:bodyPr wrap="none" rtlCol="0">
            <a:spAutoFit/>
          </a:bodyPr>
          <a:lstStyle/>
          <a:p>
            <a:r>
              <a:rPr lang="zh-CN" altLang="en-US" sz="2400" b="1" dirty="0">
                <a:solidFill>
                  <a:schemeClr val="bg1"/>
                </a:solidFill>
                <a:latin typeface="黑体" panose="02010609060101010101" pitchFamily="49" charset="-122"/>
                <a:ea typeface="黑体" panose="02010609060101010101" pitchFamily="49" charset="-122"/>
                <a:cs typeface="Arial" panose="020B0604020202020204" pitchFamily="34" charset="0"/>
              </a:rPr>
              <a:t>聚类效果得到了很大的提升！</a:t>
            </a:r>
          </a:p>
        </p:txBody>
      </p:sp>
    </p:spTree>
    <p:extLst>
      <p:ext uri="{BB962C8B-B14F-4D97-AF65-F5344CB8AC3E}">
        <p14:creationId xmlns:p14="http://schemas.microsoft.com/office/powerpoint/2010/main" val="290397924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直接连接符 9"/>
          <p:cNvCxnSpPr/>
          <p:nvPr/>
        </p:nvCxnSpPr>
        <p:spPr>
          <a:xfrm>
            <a:off x="755576" y="6669360"/>
            <a:ext cx="8162925" cy="0"/>
          </a:xfrm>
          <a:prstGeom prst="line">
            <a:avLst/>
          </a:prstGeom>
          <a:ln w="254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Box 1"/>
          <p:cNvSpPr txBox="1">
            <a:spLocks noGrp="1" noChangeArrowheads="1"/>
          </p:cNvSpPr>
          <p:nvPr>
            <p:ph type="title"/>
          </p:nvPr>
        </p:nvSpPr>
        <p:spPr bwMode="auto">
          <a:xfrm>
            <a:off x="434975" y="184572"/>
            <a:ext cx="8229600" cy="551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b="1">
                <a:solidFill>
                  <a:schemeClr val="tx1"/>
                </a:solidFill>
                <a:latin typeface="Times New Roman" pitchFamily="18" charset="0"/>
                <a:ea typeface="华文中宋" pitchFamily="2" charset="-122"/>
              </a:defRPr>
            </a:lvl1pPr>
            <a:lvl2pPr marL="742950" indent="-285750" eaLnBrk="0" hangingPunct="0">
              <a:defRPr kumimoji="1" b="1">
                <a:solidFill>
                  <a:schemeClr val="tx1"/>
                </a:solidFill>
                <a:latin typeface="Times New Roman" pitchFamily="18" charset="0"/>
                <a:ea typeface="华文中宋" pitchFamily="2" charset="-122"/>
              </a:defRPr>
            </a:lvl2pPr>
            <a:lvl3pPr marL="1143000" indent="-228600" eaLnBrk="0" hangingPunct="0">
              <a:defRPr kumimoji="1" b="1">
                <a:solidFill>
                  <a:schemeClr val="tx1"/>
                </a:solidFill>
                <a:latin typeface="Times New Roman" pitchFamily="18" charset="0"/>
                <a:ea typeface="华文中宋" pitchFamily="2" charset="-122"/>
              </a:defRPr>
            </a:lvl3pPr>
            <a:lvl4pPr marL="1600200" indent="-228600" eaLnBrk="0" hangingPunct="0">
              <a:defRPr kumimoji="1" b="1">
                <a:solidFill>
                  <a:schemeClr val="tx1"/>
                </a:solidFill>
                <a:latin typeface="Times New Roman" pitchFamily="18" charset="0"/>
                <a:ea typeface="华文中宋" pitchFamily="2" charset="-122"/>
              </a:defRPr>
            </a:lvl4pPr>
            <a:lvl5pPr marL="2057400" indent="-228600" eaLnBrk="0" hangingPunct="0">
              <a:defRPr kumimoji="1" b="1">
                <a:solidFill>
                  <a:schemeClr val="tx1"/>
                </a:solidFill>
                <a:latin typeface="Times New Roman" pitchFamily="18" charset="0"/>
                <a:ea typeface="华文中宋" pitchFamily="2" charset="-122"/>
              </a:defRPr>
            </a:lvl5pPr>
            <a:lvl6pPr marL="25146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6pPr>
            <a:lvl7pPr marL="29718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7pPr>
            <a:lvl8pPr marL="34290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8pPr>
            <a:lvl9pPr marL="3886200" indent="-228600" eaLnBrk="0" fontAlgn="base" hangingPunct="0">
              <a:lnSpc>
                <a:spcPct val="140000"/>
              </a:lnSpc>
              <a:spcBef>
                <a:spcPct val="0"/>
              </a:spcBef>
              <a:spcAft>
                <a:spcPct val="0"/>
              </a:spcAft>
              <a:defRPr kumimoji="1" b="1">
                <a:solidFill>
                  <a:schemeClr val="tx1"/>
                </a:solidFill>
                <a:latin typeface="Times New Roman" pitchFamily="18" charset="0"/>
                <a:ea typeface="华文中宋" pitchFamily="2" charset="-122"/>
              </a:defRPr>
            </a:lvl9pPr>
          </a:lstStyle>
          <a:p>
            <a:pPr algn="ctr" eaLnBrk="1" hangingPunct="1"/>
            <a:r>
              <a:rPr lang="zh-CN" altLang="en-US" sz="3200" dirty="0">
                <a:latin typeface="黑体" pitchFamily="2" charset="-122"/>
                <a:ea typeface="黑体" pitchFamily="2" charset="-122"/>
              </a:rPr>
              <a:t>聚类算法</a:t>
            </a:r>
            <a:r>
              <a:rPr lang="zh-CN" altLang="en-US" sz="3200" dirty="0">
                <a:solidFill>
                  <a:srgbClr val="FF0000"/>
                </a:solidFill>
                <a:latin typeface="黑体" pitchFamily="2" charset="-122"/>
                <a:ea typeface="黑体" pitchFamily="2" charset="-122"/>
              </a:rPr>
              <a:t>之深度聚类</a:t>
            </a:r>
          </a:p>
        </p:txBody>
      </p:sp>
      <p:sp>
        <p:nvSpPr>
          <p:cNvPr id="2" name="灯片编号占位符 1">
            <a:extLst>
              <a:ext uri="{FF2B5EF4-FFF2-40B4-BE49-F238E27FC236}">
                <a16:creationId xmlns:a16="http://schemas.microsoft.com/office/drawing/2014/main" id="{B0290D7D-A83F-4807-84BD-D3FDCBBF298D}"/>
              </a:ext>
            </a:extLst>
          </p:cNvPr>
          <p:cNvSpPr>
            <a:spLocks noGrp="1"/>
          </p:cNvSpPr>
          <p:nvPr>
            <p:ph type="sldNum" sz="quarter" idx="12"/>
          </p:nvPr>
        </p:nvSpPr>
        <p:spPr/>
        <p:txBody>
          <a:bodyPr/>
          <a:lstStyle/>
          <a:p>
            <a:fld id="{0C913308-F349-4B6D-A68A-DD1791B4A57B}" type="slidenum">
              <a:rPr lang="zh-CN" altLang="en-US" smtClean="0"/>
              <a:t>36</a:t>
            </a:fld>
            <a:endParaRPr lang="zh-CN" altLang="en-US"/>
          </a:p>
        </p:txBody>
      </p:sp>
      <p:sp>
        <p:nvSpPr>
          <p:cNvPr id="4" name="文本框 3">
            <a:extLst>
              <a:ext uri="{FF2B5EF4-FFF2-40B4-BE49-F238E27FC236}">
                <a16:creationId xmlns:a16="http://schemas.microsoft.com/office/drawing/2014/main" id="{A9EBB414-93DB-4F31-95BF-CC9296E688EA}"/>
              </a:ext>
            </a:extLst>
          </p:cNvPr>
          <p:cNvSpPr txBox="1"/>
          <p:nvPr/>
        </p:nvSpPr>
        <p:spPr>
          <a:xfrm>
            <a:off x="323528" y="1049015"/>
            <a:ext cx="4374916" cy="461665"/>
          </a:xfrm>
          <a:prstGeom prst="rect">
            <a:avLst/>
          </a:prstGeom>
          <a:noFill/>
        </p:spPr>
        <p:txBody>
          <a:bodyPr wrap="none" rtlCol="0">
            <a:spAutoFit/>
          </a:bodyPr>
          <a:lstStyle/>
          <a:p>
            <a:r>
              <a:rPr lang="zh-CN" altLang="en-US" sz="2400" b="1" dirty="0">
                <a:solidFill>
                  <a:srgbClr val="C00000"/>
                </a:solidFill>
                <a:latin typeface="Times New Roman" panose="02020603050405020304" pitchFamily="18" charset="0"/>
                <a:cs typeface="Times New Roman" panose="02020603050405020304" pitchFamily="18" charset="0"/>
              </a:rPr>
              <a:t>自编码器（</a:t>
            </a:r>
            <a:r>
              <a:rPr lang="en-US" altLang="zh-CN" sz="2400" b="1" dirty="0">
                <a:solidFill>
                  <a:srgbClr val="C00000"/>
                </a:solidFill>
                <a:latin typeface="Times New Roman" panose="02020603050405020304" pitchFamily="18" charset="0"/>
                <a:cs typeface="Times New Roman" panose="02020603050405020304" pitchFamily="18" charset="0"/>
              </a:rPr>
              <a:t>AE</a:t>
            </a:r>
            <a:r>
              <a:rPr lang="zh-CN" altLang="en-US" sz="2400" b="1" dirty="0">
                <a:solidFill>
                  <a:srgbClr val="C00000"/>
                </a:solidFill>
                <a:latin typeface="Times New Roman" panose="02020603050405020304" pitchFamily="18" charset="0"/>
                <a:cs typeface="Times New Roman" panose="02020603050405020304" pitchFamily="18" charset="0"/>
              </a:rPr>
              <a:t>）</a:t>
            </a:r>
            <a:r>
              <a:rPr lang="en-US" altLang="zh-CN" sz="2400" b="1" dirty="0">
                <a:solidFill>
                  <a:srgbClr val="C00000"/>
                </a:solidFill>
                <a:latin typeface="Times New Roman" panose="02020603050405020304" pitchFamily="18" charset="0"/>
                <a:cs typeface="Times New Roman" panose="02020603050405020304" pitchFamily="18" charset="0"/>
              </a:rPr>
              <a:t>+k-means</a:t>
            </a:r>
            <a:r>
              <a:rPr lang="zh-CN" altLang="en-US" sz="2400" b="1" dirty="0">
                <a:solidFill>
                  <a:srgbClr val="C00000"/>
                </a:solidFill>
                <a:latin typeface="Times New Roman" panose="02020603050405020304" pitchFamily="18" charset="0"/>
                <a:cs typeface="Times New Roman" panose="02020603050405020304" pitchFamily="18" charset="0"/>
              </a:rPr>
              <a:t>聚类</a:t>
            </a:r>
          </a:p>
        </p:txBody>
      </p:sp>
      <p:sp>
        <p:nvSpPr>
          <p:cNvPr id="3" name="矩形 2">
            <a:extLst>
              <a:ext uri="{FF2B5EF4-FFF2-40B4-BE49-F238E27FC236}">
                <a16:creationId xmlns:a16="http://schemas.microsoft.com/office/drawing/2014/main" id="{66219C00-3CAB-433C-A5C5-DCCF70179DE9}"/>
              </a:ext>
            </a:extLst>
          </p:cNvPr>
          <p:cNvSpPr/>
          <p:nvPr/>
        </p:nvSpPr>
        <p:spPr>
          <a:xfrm>
            <a:off x="430074" y="1693412"/>
            <a:ext cx="8256726" cy="646331"/>
          </a:xfrm>
          <a:prstGeom prst="rect">
            <a:avLst/>
          </a:prstGeom>
        </p:spPr>
        <p:txBody>
          <a:bodyPr wrap="square">
            <a:spAutoFit/>
          </a:bodyPr>
          <a:lstStyle/>
          <a:p>
            <a:r>
              <a:rPr lang="en-US" altLang="zh-CN" i="1" dirty="0">
                <a:latin typeface="Times New Roman" panose="02020603050405020304" pitchFamily="18" charset="0"/>
                <a:cs typeface="Times New Roman" panose="02020603050405020304" pitchFamily="18" charset="0"/>
              </a:rPr>
              <a:t>Bo Yang et. al</a:t>
            </a:r>
            <a:r>
              <a:rPr lang="en-US" altLang="zh-CN" i="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a:t>
            </a:r>
            <a:r>
              <a:rPr lang="zh-CN" altLang="en-US" i="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a:t>
            </a:r>
            <a:r>
              <a:rPr lang="en-US" altLang="zh-CN" b="1" i="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Towards K-means-friendly Spaces: Simultaneous Deep Learning and Clustering</a:t>
            </a:r>
            <a:r>
              <a:rPr lang="en-US" altLang="zh-CN" i="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ICML, 2017</a:t>
            </a:r>
            <a:endParaRPr lang="zh-CN" altLang="zh-CN" i="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p:txBody>
      </p:sp>
      <p:sp>
        <p:nvSpPr>
          <p:cNvPr id="7" name="矩形 6">
            <a:extLst>
              <a:ext uri="{FF2B5EF4-FFF2-40B4-BE49-F238E27FC236}">
                <a16:creationId xmlns:a16="http://schemas.microsoft.com/office/drawing/2014/main" id="{5CDE2A7D-6014-4B51-8037-A32C40A50083}"/>
              </a:ext>
            </a:extLst>
          </p:cNvPr>
          <p:cNvSpPr/>
          <p:nvPr/>
        </p:nvSpPr>
        <p:spPr>
          <a:xfrm>
            <a:off x="404320" y="2501313"/>
            <a:ext cx="8125023" cy="707886"/>
          </a:xfrm>
          <a:prstGeom prst="rect">
            <a:avLst/>
          </a:prstGeom>
        </p:spPr>
        <p:txBody>
          <a:bodyPr wrap="square">
            <a:spAutoFit/>
          </a:bodyPr>
          <a:lstStyle/>
          <a:p>
            <a:pPr marL="285750" indent="-285750">
              <a:buFont typeface="Wingdings" panose="05000000000000000000" pitchFamily="2" charset="2"/>
              <a:buChar char="Ø"/>
            </a:pPr>
            <a:r>
              <a:rPr lang="zh-CN" altLang="zh-CN" sz="2000" dirty="0">
                <a:solidFill>
                  <a:srgbClr val="000000"/>
                </a:solidFill>
                <a:latin typeface="Times New Roman" panose="02020603050405020304" pitchFamily="18" charset="0"/>
                <a:ea typeface="SimSun" panose="02010600030101010101" pitchFamily="2" charset="-122"/>
                <a:cs typeface="Times New Roman" panose="02020603050405020304" pitchFamily="18" charset="0"/>
              </a:rPr>
              <a:t>主要思想是：</a:t>
            </a:r>
            <a:r>
              <a:rPr lang="en-US" altLang="zh-CN" sz="2000" dirty="0">
                <a:solidFill>
                  <a:srgbClr val="000000"/>
                </a:solidFill>
                <a:latin typeface="Times New Roman" panose="02020603050405020304" pitchFamily="18" charset="0"/>
                <a:ea typeface="SimSun" panose="02010600030101010101" pitchFamily="2" charset="-122"/>
                <a:cs typeface="Times New Roman" panose="02020603050405020304" pitchFamily="18" charset="0"/>
              </a:rPr>
              <a:t>AE</a:t>
            </a:r>
            <a:r>
              <a:rPr lang="zh-CN" altLang="zh-CN" sz="2000" dirty="0">
                <a:solidFill>
                  <a:srgbClr val="000000"/>
                </a:solidFill>
                <a:latin typeface="Times New Roman" panose="02020603050405020304" pitchFamily="18" charset="0"/>
                <a:ea typeface="SimSun" panose="02010600030101010101" pitchFamily="2" charset="-122"/>
                <a:cs typeface="Times New Roman" panose="02020603050405020304" pitchFamily="18" charset="0"/>
              </a:rPr>
              <a:t>降维与</a:t>
            </a:r>
            <a:r>
              <a:rPr lang="en-US" altLang="zh-CN" sz="2000" dirty="0">
                <a:solidFill>
                  <a:srgbClr val="000000"/>
                </a:solidFill>
                <a:latin typeface="Times New Roman" panose="02020603050405020304" pitchFamily="18" charset="0"/>
                <a:ea typeface="SimSun" panose="02010600030101010101" pitchFamily="2" charset="-122"/>
                <a:cs typeface="Times New Roman" panose="02020603050405020304" pitchFamily="18" charset="0"/>
              </a:rPr>
              <a:t>k-means</a:t>
            </a:r>
            <a:r>
              <a:rPr lang="zh-CN" altLang="zh-CN" sz="2000" dirty="0">
                <a:solidFill>
                  <a:srgbClr val="000000"/>
                </a:solidFill>
                <a:latin typeface="Times New Roman" panose="02020603050405020304" pitchFamily="18" charset="0"/>
                <a:ea typeface="SimSun" panose="02010600030101010101" pitchFamily="2" charset="-122"/>
                <a:cs typeface="Times New Roman" panose="02020603050405020304" pitchFamily="18" charset="0"/>
              </a:rPr>
              <a:t>聚类同步，构建了一个新的代价函数，第一项是</a:t>
            </a:r>
            <a:r>
              <a:rPr lang="en-US" altLang="zh-CN" sz="2000" dirty="0">
                <a:solidFill>
                  <a:srgbClr val="000000"/>
                </a:solidFill>
                <a:latin typeface="Times New Roman" panose="02020603050405020304" pitchFamily="18" charset="0"/>
                <a:ea typeface="SimSun" panose="02010600030101010101" pitchFamily="2" charset="-122"/>
                <a:cs typeface="Times New Roman" panose="02020603050405020304" pitchFamily="18" charset="0"/>
              </a:rPr>
              <a:t>AE</a:t>
            </a:r>
            <a:r>
              <a:rPr lang="zh-CN" altLang="zh-CN" sz="2000" dirty="0">
                <a:solidFill>
                  <a:srgbClr val="000000"/>
                </a:solidFill>
                <a:latin typeface="Times New Roman" panose="02020603050405020304" pitchFamily="18" charset="0"/>
                <a:ea typeface="SimSun" panose="02010600030101010101" pitchFamily="2" charset="-122"/>
                <a:cs typeface="Times New Roman" panose="02020603050405020304" pitchFamily="18" charset="0"/>
              </a:rPr>
              <a:t>的构造误差，第二项是</a:t>
            </a:r>
            <a:r>
              <a:rPr lang="en-US" altLang="zh-CN" sz="2000" dirty="0">
                <a:solidFill>
                  <a:srgbClr val="000000"/>
                </a:solidFill>
                <a:latin typeface="Times New Roman" panose="02020603050405020304" pitchFamily="18" charset="0"/>
                <a:ea typeface="SimSun" panose="02010600030101010101" pitchFamily="2" charset="-122"/>
                <a:cs typeface="Times New Roman" panose="02020603050405020304" pitchFamily="18" charset="0"/>
              </a:rPr>
              <a:t>k-means</a:t>
            </a:r>
            <a:r>
              <a:rPr lang="zh-CN" altLang="zh-CN" sz="2000" dirty="0">
                <a:solidFill>
                  <a:srgbClr val="000000"/>
                </a:solidFill>
                <a:latin typeface="Times New Roman" panose="02020603050405020304" pitchFamily="18" charset="0"/>
                <a:ea typeface="SimSun" panose="02010600030101010101" pitchFamily="2" charset="-122"/>
                <a:cs typeface="Times New Roman" panose="02020603050405020304" pitchFamily="18" charset="0"/>
              </a:rPr>
              <a:t>的代价函数</a:t>
            </a:r>
            <a:endParaRPr lang="zh-CN" altLang="en-US" sz="2000" dirty="0">
              <a:latin typeface="Times New Roman" panose="02020603050405020304" pitchFamily="18" charset="0"/>
              <a:cs typeface="Times New Roman" panose="02020603050405020304" pitchFamily="18" charset="0"/>
            </a:endParaRPr>
          </a:p>
        </p:txBody>
      </p:sp>
      <p:pic>
        <p:nvPicPr>
          <p:cNvPr id="5" name="图片 4">
            <a:extLst>
              <a:ext uri="{FF2B5EF4-FFF2-40B4-BE49-F238E27FC236}">
                <a16:creationId xmlns:a16="http://schemas.microsoft.com/office/drawing/2014/main" id="{FF3149BE-1C49-45AB-9667-AC2C9EC24A25}"/>
              </a:ext>
            </a:extLst>
          </p:cNvPr>
          <p:cNvPicPr>
            <a:picLocks noChangeAspect="1"/>
          </p:cNvPicPr>
          <p:nvPr/>
        </p:nvPicPr>
        <p:blipFill>
          <a:blip r:embed="rId3"/>
          <a:stretch>
            <a:fillRect/>
          </a:stretch>
        </p:blipFill>
        <p:spPr>
          <a:xfrm>
            <a:off x="1604767" y="3522209"/>
            <a:ext cx="5724128" cy="1574135"/>
          </a:xfrm>
          <a:prstGeom prst="rect">
            <a:avLst/>
          </a:prstGeom>
        </p:spPr>
      </p:pic>
    </p:spTree>
    <p:extLst>
      <p:ext uri="{BB962C8B-B14F-4D97-AF65-F5344CB8AC3E}">
        <p14:creationId xmlns:p14="http://schemas.microsoft.com/office/powerpoint/2010/main" val="141465589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C9D6DF3-6BD9-4737-BF85-16016879E169}"/>
              </a:ext>
            </a:extLst>
          </p:cNvPr>
          <p:cNvSpPr>
            <a:spLocks noGrp="1"/>
          </p:cNvSpPr>
          <p:nvPr>
            <p:ph type="title"/>
          </p:nvPr>
        </p:nvSpPr>
        <p:spPr/>
        <p:txBody>
          <a:bodyPr/>
          <a:lstStyle/>
          <a:p>
            <a:pPr algn="ctr"/>
            <a:r>
              <a:rPr lang="zh-CN" altLang="en-US" dirty="0"/>
              <a:t>聚类总结</a:t>
            </a:r>
          </a:p>
        </p:txBody>
      </p:sp>
      <p:sp>
        <p:nvSpPr>
          <p:cNvPr id="3" name="内容占位符 2">
            <a:extLst>
              <a:ext uri="{FF2B5EF4-FFF2-40B4-BE49-F238E27FC236}">
                <a16:creationId xmlns:a16="http://schemas.microsoft.com/office/drawing/2014/main" id="{705E2655-E9D6-4CA0-B6F5-5483109670EA}"/>
              </a:ext>
            </a:extLst>
          </p:cNvPr>
          <p:cNvSpPr>
            <a:spLocks noGrp="1"/>
          </p:cNvSpPr>
          <p:nvPr>
            <p:ph idx="1"/>
          </p:nvPr>
        </p:nvSpPr>
        <p:spPr/>
        <p:txBody>
          <a:bodyPr/>
          <a:lstStyle/>
          <a:p>
            <a:pPr>
              <a:lnSpc>
                <a:spcPct val="150000"/>
              </a:lnSpc>
              <a:buFont typeface="Wingdings" panose="05000000000000000000" pitchFamily="2" charset="2"/>
              <a:buChar char="p"/>
            </a:pPr>
            <a:r>
              <a:rPr lang="zh-CN" altLang="en-US" dirty="0"/>
              <a:t>了解手中的数据</a:t>
            </a:r>
            <a:endParaRPr lang="en-US" altLang="zh-CN" dirty="0"/>
          </a:p>
          <a:p>
            <a:pPr>
              <a:lnSpc>
                <a:spcPct val="150000"/>
              </a:lnSpc>
              <a:buFont typeface="Wingdings" panose="05000000000000000000" pitchFamily="2" charset="2"/>
              <a:buChar char="p"/>
            </a:pPr>
            <a:r>
              <a:rPr lang="zh-CN" altLang="en-US" dirty="0"/>
              <a:t>了解各类聚类算法的优点、缺点</a:t>
            </a:r>
            <a:endParaRPr lang="en-US" altLang="zh-CN" dirty="0"/>
          </a:p>
          <a:p>
            <a:pPr>
              <a:lnSpc>
                <a:spcPct val="150000"/>
              </a:lnSpc>
              <a:buFont typeface="Wingdings" panose="05000000000000000000" pitchFamily="2" charset="2"/>
              <a:buChar char="p"/>
            </a:pPr>
            <a:r>
              <a:rPr lang="zh-CN" altLang="en-US" dirty="0"/>
              <a:t>选择最合适的方法，必要的时候可以改进</a:t>
            </a:r>
          </a:p>
        </p:txBody>
      </p:sp>
    </p:spTree>
    <p:extLst>
      <p:ext uri="{BB962C8B-B14F-4D97-AF65-F5344CB8AC3E}">
        <p14:creationId xmlns:p14="http://schemas.microsoft.com/office/powerpoint/2010/main" val="91172964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RAINPROBLEM" val="FillBlank"/>
  <p:tag name="PROBLEMBLANKKEYWORD" val="填空"/>
  <p:tag name="PROBLEMSCORE" val="3.0"/>
  <p:tag name="PROBLEMBLANK" val="[{&quot;num&quot;:1,&quot;caseSensitive&quot;:false,&quot;fuzzyMatch&quot;:false,&quot;Score&quot;:1.0,&quot;answers&quot;:[&quot;A&quot;]},{&quot;num&quot;:2,&quot;caseSensitive&quot;:false,&quot;fuzzyMatch&quot;:false,&quot;Score&quot;:1.0,&quot;answers&quot;:[&quot;B&quot;]},{&quot;num&quot;:3,&quot;caseSensitive&quot;:false,&quot;fuzzyMatch&quot;:false,&quot;Score&quot;:1.0,&quot;answers&quot;:[&quot;C&quot;]}]"/>
</p:tagLst>
</file>

<file path=ppt/tags/tag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xml><?xml version="1.0" encoding="utf-8"?>
<p:tagLst xmlns:a="http://schemas.openxmlformats.org/drawingml/2006/main" xmlns:r="http://schemas.openxmlformats.org/officeDocument/2006/relationships" xmlns:p="http://schemas.openxmlformats.org/presentationml/2006/main">
  <p:tag name="RAINPROBLEM" val="ProblemSubmit"/>
  <p:tag name="RAINPROBLEMTYPE" val="FillBlank"/>
</p:tagLst>
</file>

<file path=ppt/tags/tag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FillBlank"/>
</p:tagLst>
</file>

<file path=ppt/tags/tag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xml><?xml version="1.0" encoding="utf-8"?>
<p:tagLst xmlns:a="http://schemas.openxmlformats.org/drawingml/2006/main" xmlns:r="http://schemas.openxmlformats.org/officeDocument/2006/relationships" xmlns:p="http://schemas.openxmlformats.org/presentationml/2006/main">
  <p:tag name="RAINPROBLEM" val="FillBlank"/>
  <p:tag name="PROBLEMBLANKKEYWORD" val="填空"/>
  <p:tag name="PROBLEMSCORE" val="2.0"/>
  <p:tag name="PROBLEMBLANK" val="[{&quot;num&quot;:1,&quot;caseSensitive&quot;:false,&quot;fuzzyMatch&quot;:false,&quot;Score&quot;:1.0,&quot;answers&quot;:[&quot;密度可达&quot;]},{&quot;num&quot;:2,&quot;caseSensitive&quot;:false,&quot;fuzzyMatch&quot;:false,&quot;Score&quot;:1.0,&quot;answers&quot;:[&quot;密度相连&quot;]}]"/>
</p:tagLst>
</file>

<file path=ppt/tags/tag11.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2.xml><?xml version="1.0" encoding="utf-8"?>
<p:tagLst xmlns:a="http://schemas.openxmlformats.org/drawingml/2006/main" xmlns:r="http://schemas.openxmlformats.org/officeDocument/2006/relationships" xmlns:p="http://schemas.openxmlformats.org/presentationml/2006/main">
  <p:tag name="RAINPROBLEM" val="ProblemSubmit"/>
  <p:tag name="RAINPROBLEMTYPE" val="FillBlank"/>
</p:tagLst>
</file>

<file path=ppt/tags/tag1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FillBlank"/>
</p:tagLst>
</file>

<file path=ppt/tags/tag1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heme/theme1.xml><?xml version="1.0" encoding="utf-8"?>
<a:theme xmlns:a="http://schemas.openxmlformats.org/drawingml/2006/main" name="LC.BRev.FY97">
  <a:themeElements>
    <a:clrScheme name="">
      <a:dk1>
        <a:srgbClr val="000000"/>
      </a:dk1>
      <a:lt1>
        <a:srgbClr val="FFFFFF"/>
      </a:lt1>
      <a:dk2>
        <a:srgbClr val="006B61"/>
      </a:dk2>
      <a:lt2>
        <a:srgbClr val="C0C0C0"/>
      </a:lt2>
      <a:accent1>
        <a:srgbClr val="FF00FF"/>
      </a:accent1>
      <a:accent2>
        <a:srgbClr val="00C0C0"/>
      </a:accent2>
      <a:accent3>
        <a:srgbClr val="FFFFFF"/>
      </a:accent3>
      <a:accent4>
        <a:srgbClr val="000000"/>
      </a:accent4>
      <a:accent5>
        <a:srgbClr val="FFAAFF"/>
      </a:accent5>
      <a:accent6>
        <a:srgbClr val="00AEAE"/>
      </a:accent6>
      <a:hlink>
        <a:srgbClr val="00C000"/>
      </a:hlink>
      <a:folHlink>
        <a:srgbClr val="800080"/>
      </a:folHlink>
    </a:clrScheme>
    <a:fontScheme name="LC.BRev.FY97">
      <a:majorFont>
        <a:latin typeface="Tahoma"/>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400" b="1"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400" b="1" i="0" u="none" strike="noStrike" cap="none" normalizeH="0" baseline="0" smtClean="0">
            <a:ln>
              <a:noFill/>
            </a:ln>
            <a:solidFill>
              <a:schemeClr val="tx1"/>
            </a:solidFill>
            <a:effectLst/>
            <a:latin typeface="Arial" charset="0"/>
          </a:defRPr>
        </a:defPPr>
      </a:lstStyle>
    </a:lnDef>
  </a:objectDefaults>
  <a:extraClrSchemeLst>
    <a:extraClrScheme>
      <a:clrScheme name="LC.BRev.FY97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LC.BRev.FY97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LC.BRev.FY97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LC.BRev.FY97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LC.BRev.FY97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LC.BRev.FY97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LC.BRev.FY97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Porky:Words:ASCI:PSE:Budgets FY97:LC.BRev.FY97</Template>
  <TotalTime>146490458</TotalTime>
  <Pages>3</Pages>
  <Words>1973</Words>
  <Application>Microsoft Office PowerPoint</Application>
  <PresentationFormat>全屏显示(4:3)</PresentationFormat>
  <Paragraphs>246</Paragraphs>
  <Slides>37</Slides>
  <Notes>26</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2</vt:i4>
      </vt:variant>
      <vt:variant>
        <vt:lpstr>幻灯片标题</vt:lpstr>
      </vt:variant>
      <vt:variant>
        <vt:i4>37</vt:i4>
      </vt:variant>
    </vt:vector>
  </HeadingPairs>
  <TitlesOfParts>
    <vt:vector size="48" baseType="lpstr">
      <vt:lpstr>Monotype Sorts</vt:lpstr>
      <vt:lpstr>黑体</vt:lpstr>
      <vt:lpstr>Microsoft Yahei</vt:lpstr>
      <vt:lpstr>Arial</vt:lpstr>
      <vt:lpstr>Cambria Math</vt:lpstr>
      <vt:lpstr>Tahoma</vt:lpstr>
      <vt:lpstr>Times New Roman</vt:lpstr>
      <vt:lpstr>Wingdings</vt:lpstr>
      <vt:lpstr>LC.BRev.FY97</vt:lpstr>
      <vt:lpstr>Equation</vt:lpstr>
      <vt:lpstr>MSPhotoEd.3</vt:lpstr>
      <vt:lpstr>数据挖掘：聚类</vt:lpstr>
      <vt:lpstr>基于密度的聚类</vt:lpstr>
      <vt:lpstr>DBSCAN-最基本、常用的密度聚类方法</vt:lpstr>
      <vt:lpstr>PowerPoint 演示文稿</vt:lpstr>
      <vt:lpstr>DBSCAN: Core, Border and Noise Points</vt:lpstr>
      <vt:lpstr>几个关于密度的概念</vt:lpstr>
      <vt:lpstr>几个关于密度的概念</vt:lpstr>
      <vt:lpstr>DBSCAN Algorithm</vt:lpstr>
      <vt:lpstr>PowerPoint 演示文稿</vt:lpstr>
      <vt:lpstr>When DBSCAN Works Well</vt:lpstr>
      <vt:lpstr>When DBSCAN Does NOT Work Well</vt:lpstr>
      <vt:lpstr>When DBSCAN Does NOT Work Well</vt:lpstr>
      <vt:lpstr>DBSCAN: 确定参数 EPS 和 MinPts</vt:lpstr>
      <vt:lpstr>密度的计算</vt:lpstr>
      <vt:lpstr>DBSCAN：总结</vt:lpstr>
      <vt:lpstr>聚类算法之谱聚类</vt:lpstr>
      <vt:lpstr>聚类算法之谱聚类</vt:lpstr>
      <vt:lpstr>聚类算法之谱聚类——邻接矩阵构建</vt:lpstr>
      <vt:lpstr>聚类算法之谱聚类</vt:lpstr>
      <vt:lpstr>聚类算法之谱聚类</vt:lpstr>
      <vt:lpstr>聚类算法之谱聚类</vt:lpstr>
      <vt:lpstr>聚类算法之混合模型聚类</vt:lpstr>
      <vt:lpstr>聚类算法之混合模型聚类</vt:lpstr>
      <vt:lpstr>聚类算法之混合模型聚类</vt:lpstr>
      <vt:lpstr>聚类算法之混合模型聚类</vt:lpstr>
      <vt:lpstr>聚类算法之混合模型聚类</vt:lpstr>
      <vt:lpstr>聚类算法之深度聚类</vt:lpstr>
      <vt:lpstr>聚类算法之深度聚类</vt:lpstr>
      <vt:lpstr>聚类算法之深度聚类</vt:lpstr>
      <vt:lpstr>聚类算法之深度聚类</vt:lpstr>
      <vt:lpstr>聚类算法之深度聚类</vt:lpstr>
      <vt:lpstr>聚类算法之深度聚类</vt:lpstr>
      <vt:lpstr>聚类算法之深度聚类</vt:lpstr>
      <vt:lpstr>聚类算法之深度聚类</vt:lpstr>
      <vt:lpstr>聚类算法之深度聚类</vt:lpstr>
      <vt:lpstr>聚类算法之深度聚类</vt:lpstr>
      <vt:lpstr>聚类总结</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Steven F. Ashby Center for Applied Scientific Computing  Month DD, 1997</dc:title>
  <dc:creator>Computations</dc:creator>
  <cp:lastModifiedBy>Yun Liu</cp:lastModifiedBy>
  <cp:revision>672</cp:revision>
  <cp:lastPrinted>2017-03-24T21:43:53Z</cp:lastPrinted>
  <dcterms:created xsi:type="dcterms:W3CDTF">1998-03-18T13:44:31Z</dcterms:created>
  <dcterms:modified xsi:type="dcterms:W3CDTF">2024-03-23T11:54:58Z</dcterms:modified>
</cp:coreProperties>
</file>