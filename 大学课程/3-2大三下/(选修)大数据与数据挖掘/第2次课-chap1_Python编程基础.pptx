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515" r:id="rId2"/>
    <p:sldId id="588" r:id="rId3"/>
    <p:sldId id="589" r:id="rId4"/>
    <p:sldId id="590" r:id="rId5"/>
    <p:sldId id="591" r:id="rId6"/>
    <p:sldId id="592" r:id="rId7"/>
    <p:sldId id="593" r:id="rId8"/>
    <p:sldId id="594" r:id="rId9"/>
    <p:sldId id="595" r:id="rId10"/>
    <p:sldId id="596" r:id="rId11"/>
    <p:sldId id="597" r:id="rId12"/>
    <p:sldId id="598" r:id="rId13"/>
    <p:sldId id="599" r:id="rId14"/>
    <p:sldId id="600" r:id="rId15"/>
    <p:sldId id="601" r:id="rId16"/>
    <p:sldId id="602" r:id="rId17"/>
    <p:sldId id="603" r:id="rId18"/>
    <p:sldId id="626" r:id="rId19"/>
    <p:sldId id="627" r:id="rId20"/>
    <p:sldId id="604" r:id="rId21"/>
    <p:sldId id="605" r:id="rId22"/>
    <p:sldId id="606" r:id="rId23"/>
    <p:sldId id="607" r:id="rId24"/>
    <p:sldId id="608" r:id="rId25"/>
    <p:sldId id="609" r:id="rId26"/>
    <p:sldId id="610" r:id="rId27"/>
    <p:sldId id="611" r:id="rId28"/>
    <p:sldId id="612" r:id="rId29"/>
    <p:sldId id="613" r:id="rId30"/>
    <p:sldId id="614" r:id="rId31"/>
    <p:sldId id="615" r:id="rId32"/>
    <p:sldId id="616" r:id="rId33"/>
    <p:sldId id="617" r:id="rId34"/>
    <p:sldId id="618" r:id="rId35"/>
    <p:sldId id="619" r:id="rId36"/>
    <p:sldId id="620" r:id="rId37"/>
    <p:sldId id="621" r:id="rId38"/>
    <p:sldId id="622" r:id="rId39"/>
    <p:sldId id="623" r:id="rId40"/>
    <p:sldId id="624" r:id="rId41"/>
    <p:sldId id="625" r:id="rId42"/>
    <p:sldId id="628" r:id="rId43"/>
    <p:sldId id="629" r:id="rId44"/>
    <p:sldId id="630" r:id="rId45"/>
  </p:sldIdLst>
  <p:sldSz cx="9144000" cy="6858000" type="screen4x3"/>
  <p:notesSz cx="6934200" cy="9220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>
          <p15:clr>
            <a:srgbClr val="A4A3A4"/>
          </p15:clr>
        </p15:guide>
        <p15:guide id="2" pos="218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2A8487"/>
    <a:srgbClr val="1C5A61"/>
    <a:srgbClr val="0C6D9C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65969" autoAdjust="0"/>
  </p:normalViewPr>
  <p:slideViewPr>
    <p:cSldViewPr>
      <p:cViewPr varScale="1">
        <p:scale>
          <a:sx n="80" d="100"/>
          <a:sy n="80" d="100"/>
        </p:scale>
        <p:origin x="861" y="102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F8A0DCA-A24E-4B38-BDE4-F7F837B319C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379913"/>
            <a:ext cx="5087937" cy="414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901" tIns="47952" rIns="95901" bIns="47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EBAA231-AB97-456F-843D-09B7545C2A4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700088"/>
            <a:ext cx="4591050" cy="3443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C699FB14-F579-468E-8C9B-E417550D4D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5325"/>
            <a:ext cx="4605337" cy="3454400"/>
          </a:xfrm>
          <a:solidFill>
            <a:srgbClr val="FFFFFF"/>
          </a:solidFill>
          <a:ln/>
        </p:spPr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728E09C1-0672-4FEF-B0D4-8D2A79CF2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4962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715" tIns="45354" rIns="90715" bIns="45354"/>
          <a:lstStyle/>
          <a:p>
            <a:r>
              <a:rPr lang="zh-CN" altLang="en-US" dirty="0">
                <a:latin typeface="Arial" panose="020B0604020202020204" pitchFamily="34" charset="0"/>
              </a:rPr>
              <a:t>本学期由我来和大家一起学习大数据与数据挖掘这门课。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调研一下学生选择该课程的动机，凑学分？前沿知识？兴趣？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6184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22B01FC6-699F-49B7-8F9C-25701234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B3117957-4102-4152-9511-6A2D8452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B761CE8-5ACF-4086-B319-DF28CF61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2123DC-DFBA-4B53-859F-D576C850A3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8818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92100" indent="-292100"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D011C0F4-A3D7-43F1-BAEF-9F4DBE6C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58583683-79E4-4784-ABE4-70446FD5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FA437EA-A9A6-4B5C-B95E-437257CE3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664E48-8EBF-45D4-86A6-5BE608535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969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EE064036-A042-4113-975C-D76A3649A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9B147E8E-F86A-4774-8D73-6FE3C77D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4EEA2EB-317C-4B1E-B1C8-0E0FC2C8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ED179D-0692-4F36-8F87-24A7D81E41E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968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A7971844-4CB4-4ECB-9E1C-A3DF3AF7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BAC8536-041E-402E-A442-25C4A80B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44090ABC-BA65-4379-91B6-854FBE19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406F3-FDF8-41E1-AD13-82948F2FCA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0405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859B0-126F-4BFF-B699-BE2C69117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6A513-321A-4EA0-AE52-91FAD8FD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C8DDFD-33AF-4D51-A783-6BF653EA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40B3D3-437E-4EF5-8B9B-4613008D4C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164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4A136CB0-DB4A-456D-8188-F5395553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61944C8-6F59-4CE6-91A8-8DE1B11B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BD66B6DA-5BBB-4267-A1CA-1AB7006C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762368-7041-4862-85B1-46B2CE2296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43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1CC76518-94F5-430B-8269-487369ED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61D03084-C5B2-4825-80A0-9C8CF8CD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0C2E84D-775D-40F9-AF46-5C2567F4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C5D0A-68C6-4F5E-8CA4-09CFA6B2E2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855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560DB81E-E90B-415B-8CEB-3AD41C91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48A6511-7667-462C-AB86-CB62951BA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D7A10B0C-2780-4D92-A33E-15513B7C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FE8911-AB9F-4C99-AEC6-0A0FC62501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7963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E2E6433-A668-4571-8366-99B3FC5B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D44604E-C32E-4096-B1BF-25ADE7A2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04170D21-281D-43C0-9E15-4498BD3C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9B355-62F4-4B95-9A45-052A9753D3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62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5AD772FD-3338-4EDA-AD8B-5BF72CD2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29F2BB22-BFF5-4FB2-B7D4-11CF281F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227B879-3707-4624-A2EA-7AA1989D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4B62A1-22B8-42FD-9E04-8138F77E95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03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71E59568-71B5-40E4-820C-9A24BD1C5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578E8C8-960B-4B8D-8F0A-66346630A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4559B14-3CDC-4C94-A4A1-C6E75B4B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B7742-315A-4223-A578-4A01A42EE7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274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5EC695CA-D314-40D9-A89D-EB35F49A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EDD70CF-0016-4814-B9EA-199B604CD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A0872A6-FCE4-442D-974F-9A0EF495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A7EB2A-6236-4A15-9E28-8DA517D22E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515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502A3E25-37E2-4EBF-AA00-20427AD6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3D181E6C-6CD9-453F-9DFC-071F945A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8EC058AC-8AA5-4208-8257-0025469E5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323DAB-C2B0-4648-82BD-93DD305D8B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540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1D03D88-203D-4D90-A5F8-3075BB602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C337DF7-7AE7-4A85-9AB5-C075431783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 Third Level</a:t>
            </a:r>
          </a:p>
        </p:txBody>
      </p:sp>
      <p:grpSp>
        <p:nvGrpSpPr>
          <p:cNvPr id="1028" name="Group 16">
            <a:extLst>
              <a:ext uri="{FF2B5EF4-FFF2-40B4-BE49-F238E27FC236}">
                <a16:creationId xmlns:a16="http://schemas.microsoft.com/office/drawing/2014/main" id="{79A345F1-6B59-44A5-A4AB-70C24FF0D87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2" name="Rectangle 17">
              <a:extLst>
                <a:ext uri="{FF2B5EF4-FFF2-40B4-BE49-F238E27FC236}">
                  <a16:creationId xmlns:a16="http://schemas.microsoft.com/office/drawing/2014/main" id="{BD383B36-B313-4AA9-9734-0C1E41612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3" name="Rectangle 18">
              <a:extLst>
                <a:ext uri="{FF2B5EF4-FFF2-40B4-BE49-F238E27FC236}">
                  <a16:creationId xmlns:a16="http://schemas.microsoft.com/office/drawing/2014/main" id="{D2E097D8-70EE-4739-BF27-511BF22A6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BAA8FC-8B9A-4F89-B53E-DA8A78061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B32BAC-A326-4F1C-931E-786ECA143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3D021-AF87-4F25-983B-0FADEE545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4E630134-C3B3-4B59-A84B-52E65CCBE6D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393113910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aistudio.baidu.com/index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aistudio.baidu.com/aistudio/education/group/invitation/30650?code=pgvzI5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aistudio.baidu.com/projectdetail/747936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>
            <a:extLst>
              <a:ext uri="{FF2B5EF4-FFF2-40B4-BE49-F238E27FC236}">
                <a16:creationId xmlns:a16="http://schemas.microsoft.com/office/drawing/2014/main" id="{D4B4E482-64A6-49FD-B0F9-49F701E10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pPr algn="ctr"/>
            <a:r>
              <a:rPr lang="zh-CN" altLang="en-US" dirty="0"/>
              <a:t>数据挖掘</a:t>
            </a:r>
            <a:r>
              <a:rPr lang="en-US" altLang="en-US" dirty="0"/>
              <a:t>: </a:t>
            </a:r>
            <a:r>
              <a:rPr lang="en-US" altLang="zh-CN" dirty="0"/>
              <a:t>Python</a:t>
            </a:r>
            <a:r>
              <a:rPr lang="zh-CN" altLang="en-US" dirty="0"/>
              <a:t>编程基础</a:t>
            </a:r>
            <a:endParaRPr lang="en-US" altLang="en-US" dirty="0"/>
          </a:p>
        </p:txBody>
      </p:sp>
      <p:sp>
        <p:nvSpPr>
          <p:cNvPr id="3075" name="Rectangle 1027">
            <a:extLst>
              <a:ext uri="{FF2B5EF4-FFF2-40B4-BE49-F238E27FC236}">
                <a16:creationId xmlns:a16="http://schemas.microsoft.com/office/drawing/2014/main" id="{23794AE8-7F0B-44B0-8DCA-F4F17DB69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72281"/>
            <a:ext cx="8153400" cy="4967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3200" b="0" dirty="0"/>
              <a:t>Chapter 1: Python</a:t>
            </a:r>
            <a:r>
              <a:rPr lang="zh-CN" altLang="en-US" sz="3200" b="0" dirty="0"/>
              <a:t>编程基础</a:t>
            </a: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0" dirty="0"/>
              <a:t>刘云 博士</a:t>
            </a:r>
            <a:endParaRPr lang="en-US" altLang="zh-CN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0" dirty="0"/>
              <a:t>吉林大学</a:t>
            </a:r>
            <a:endParaRPr lang="en-US" altLang="zh-CN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b="0" dirty="0"/>
              <a:t>控制科学与工程系</a:t>
            </a:r>
            <a:endParaRPr lang="en-US" altLang="en-US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>
              <a:solidFill>
                <a:srgbClr val="0000FF"/>
              </a:solidFill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 dirty="0"/>
          </a:p>
        </p:txBody>
      </p:sp>
      <p:sp>
        <p:nvSpPr>
          <p:cNvPr id="3076" name="Slide Number Placeholder 6">
            <a:extLst>
              <a:ext uri="{FF2B5EF4-FFF2-40B4-BE49-F238E27FC236}">
                <a16:creationId xmlns:a16="http://schemas.microsoft.com/office/drawing/2014/main" id="{07D6713F-E355-468F-B722-773F596B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117A7A0-6EFA-49E2-9643-E6DCA302B19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</a:t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608DEB-201A-426A-B6F5-A7BA7013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F667C-05BF-40C7-8AC6-AD630088E1F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教学内容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90600"/>
            <a:ext cx="8153400" cy="53657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Python</a:t>
            </a:r>
            <a:r>
              <a:rPr lang="zh-CN" altLang="en-US" sz="2400" dirty="0"/>
              <a:t>简介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基本数据类型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基本语法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常用调试方法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面向数据挖掘的</a:t>
            </a:r>
            <a:r>
              <a:rPr lang="en-US" altLang="zh-CN" sz="2400" dirty="0"/>
              <a:t>Python</a:t>
            </a:r>
            <a:r>
              <a:rPr lang="zh-CN" altLang="en-US" sz="2400" dirty="0"/>
              <a:t>编程基础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常用库介绍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百度飞浆平台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简介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用法举例</a:t>
            </a:r>
            <a:endParaRPr lang="en-US" altLang="zh-CN" sz="2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09/09/2020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9382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744F5-744C-55D7-360B-87FC4E73A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364858-8324-49B3-BD6D-D0817C49C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Microsoft YaHei"/>
                <a:cs typeface="Microsoft YaHei"/>
              </a:rPr>
              <a:t>创立者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Guido</a:t>
            </a:r>
            <a:r>
              <a:rPr lang="en-US" altLang="zh-CN" sz="2800" spc="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lang="en-US" altLang="zh-CN" sz="2800" spc="-34" dirty="0">
                <a:solidFill>
                  <a:srgbClr val="000000"/>
                </a:solidFill>
                <a:latin typeface="Microsoft YaHei"/>
                <a:cs typeface="Microsoft YaHei"/>
              </a:rPr>
              <a:t>van</a:t>
            </a:r>
            <a:r>
              <a:rPr lang="en-US" altLang="zh-CN" sz="2800" spc="5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lang="en-US" altLang="zh-CN"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Rossum</a:t>
            </a:r>
            <a:r>
              <a:rPr lang="zh-CN" altLang="en-US"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（吉多</a:t>
            </a:r>
            <a:r>
              <a:rPr lang="en-US" altLang="zh-CN"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·</a:t>
            </a:r>
            <a:r>
              <a:rPr lang="zh-CN" altLang="en-US" sz="2800" spc="-18" dirty="0">
                <a:solidFill>
                  <a:srgbClr val="000000"/>
                </a:solidFill>
                <a:latin typeface="Microsoft YaHei"/>
                <a:cs typeface="Microsoft YaHei"/>
              </a:rPr>
              <a:t>范罗苏姆）</a:t>
            </a:r>
          </a:p>
          <a:p>
            <a:pPr>
              <a:lnSpc>
                <a:spcPts val="3690"/>
              </a:lnSpc>
              <a:spcBef>
                <a:spcPts val="3031"/>
              </a:spcBef>
            </a:pP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1989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年，创立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</a:p>
          <a:p>
            <a:pPr marL="0" marR="0">
              <a:lnSpc>
                <a:spcPts val="3690"/>
              </a:lnSpc>
              <a:spcBef>
                <a:spcPts val="3031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2002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年，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lang="en-US" altLang="zh-CN" sz="2800" spc="-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2.x</a:t>
            </a:r>
          </a:p>
          <a:p>
            <a:pPr marL="0" marR="0">
              <a:lnSpc>
                <a:spcPts val="3690"/>
              </a:lnSpc>
              <a:spcBef>
                <a:spcPts val="3082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2008</a:t>
            </a:r>
            <a:r>
              <a:rPr lang="zh-CN" altLang="en-US" sz="2800" dirty="0">
                <a:solidFill>
                  <a:srgbClr val="000000"/>
                </a:solidFill>
                <a:latin typeface="Microsoft YaHei"/>
                <a:cs typeface="Microsoft YaHei"/>
              </a:rPr>
              <a:t>年，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lang="en-US" altLang="zh-CN" sz="2800" spc="-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Microsoft YaHei"/>
                <a:cs typeface="Microsoft YaHei"/>
              </a:rPr>
              <a:t>3.x</a:t>
            </a:r>
          </a:p>
          <a:p>
            <a:pPr marL="0" marR="0">
              <a:lnSpc>
                <a:spcPts val="3690"/>
              </a:lnSpc>
              <a:spcBef>
                <a:spcPts val="3082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Microsoft YaHei"/>
                <a:cs typeface="Microsoft YaHei"/>
              </a:rPr>
              <a:t>不向下兼容，目前使用</a:t>
            </a:r>
            <a:r>
              <a:rPr lang="en-US" altLang="zh-CN" dirty="0">
                <a:solidFill>
                  <a:srgbClr val="000000"/>
                </a:solidFill>
                <a:latin typeface="Microsoft YaHei"/>
                <a:cs typeface="Microsoft YaHei"/>
              </a:rPr>
              <a:t>3.0</a:t>
            </a:r>
            <a:r>
              <a:rPr lang="zh-CN" altLang="en-US" dirty="0">
                <a:solidFill>
                  <a:srgbClr val="000000"/>
                </a:solidFill>
                <a:latin typeface="Microsoft YaHei"/>
                <a:cs typeface="Microsoft YaHei"/>
              </a:rPr>
              <a:t>版本</a:t>
            </a:r>
            <a:endParaRPr lang="en-US" altLang="zh-CN" sz="28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131754-3320-E3B0-9337-984B8B6B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99FE18-6054-1996-91C5-A89718F2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2746F9-68B5-6BBF-F238-C8DA9ED8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611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E0B2A-199E-D3A0-605D-584ADB52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语言的优势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C8903F-ED6D-F88C-2CD4-87D35ACF3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3" y="1143000"/>
            <a:ext cx="8318500" cy="1371600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代码简洁优美。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采用缩进来标识代码块，减少了无用的大括号和语句末尾的分号，使得代码的可读性显著提高。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B44FE4-12D7-FC73-C561-35AF6F9F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FBE7F-5D1A-D5B2-5F83-321901B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8FF12-983D-CDF9-71AB-0425A740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8E481F3-CF42-3133-78D8-020C38874985}"/>
              </a:ext>
            </a:extLst>
          </p:cNvPr>
          <p:cNvSpPr txBox="1"/>
          <p:nvPr/>
        </p:nvSpPr>
        <p:spPr>
          <a:xfrm>
            <a:off x="76200" y="3275312"/>
            <a:ext cx="4432300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&gt;&gt;&gt;print("Hello</a:t>
            </a:r>
            <a:r>
              <a:rPr sz="2400" b="1" spc="11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0000"/>
                </a:solidFill>
                <a:latin typeface="Courier New"/>
                <a:cs typeface="Courier New"/>
              </a:rPr>
              <a:t>World")</a:t>
            </a:r>
            <a:endParaRPr lang="en-US" sz="2400" b="1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urier New"/>
                <a:cs typeface="Courier New"/>
              </a:rPr>
              <a:t>Hello World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AD51ADAD-942A-4613-4422-B7AE16424D72}"/>
              </a:ext>
            </a:extLst>
          </p:cNvPr>
          <p:cNvSpPr txBox="1"/>
          <p:nvPr/>
        </p:nvSpPr>
        <p:spPr>
          <a:xfrm>
            <a:off x="4635500" y="3272894"/>
            <a:ext cx="4432300" cy="2746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#include &lt;</a:t>
            </a:r>
            <a:r>
              <a:rPr sz="2400" dirty="0" err="1">
                <a:solidFill>
                  <a:srgbClr val="000000"/>
                </a:solidFill>
                <a:latin typeface="Courier New"/>
                <a:cs typeface="Courier New"/>
              </a:rPr>
              <a:t>stdio.h</a:t>
            </a:r>
            <a:r>
              <a:rPr sz="2400" dirty="0">
                <a:solidFill>
                  <a:srgbClr val="000000"/>
                </a:solidFill>
                <a:latin typeface="Courier New"/>
                <a:cs typeface="Courier New"/>
              </a:rPr>
              <a:t>&gt;</a:t>
            </a:r>
            <a:endParaRPr lang="en-US" sz="24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pPr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urier New"/>
                <a:cs typeface="Courier New"/>
              </a:rPr>
              <a:t>int main(void)</a:t>
            </a:r>
          </a:p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pPr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altLang="zh-CN" sz="2400" dirty="0">
                <a:solidFill>
                  <a:srgbClr val="000000"/>
                </a:solidFill>
                <a:latin typeface="Courier New"/>
                <a:cs typeface="Courier New"/>
              </a:rPr>
              <a:t>("Hello World\n");</a:t>
            </a:r>
          </a:p>
          <a:p>
            <a:pPr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urier New"/>
                <a:cs typeface="Courier New"/>
              </a:rPr>
              <a:t>return 0;</a:t>
            </a:r>
          </a:p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sz="2400" dirty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AACEC2-B0D3-FF12-2AD9-736D5F89B651}"/>
              </a:ext>
            </a:extLst>
          </p:cNvPr>
          <p:cNvSpPr txBox="1"/>
          <p:nvPr/>
        </p:nvSpPr>
        <p:spPr>
          <a:xfrm>
            <a:off x="3312862" y="2514600"/>
            <a:ext cx="2645276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3200" dirty="0"/>
              <a:t>Python VS C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75587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D3243-0A7C-5010-B8AB-9A6A7306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语言的优势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5E63D9-28B3-74F2-2B54-FD1E6EE8E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简单易学。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的语法简洁易懂，适合初学者快速入门，丰富的第三方库和工具也方便开发者快速构建应用程序。</a:t>
            </a:r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强大的标准库和生态系统。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拥有丰富的标准库，如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-apple-system"/>
              </a:rPr>
              <a:t>numpy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pandas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matplotlib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等，可以轻松处理各种任务，如数据分析、数据可视化等。此外，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还拥有庞大的生态系统，包括各种第三方库和工具，让开发者在解决问题时更加得心应手。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40FB87-7E20-D9E6-8872-FA7A2A02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AE8F8B-562A-B27F-17F5-48DD3A44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A28F7B-2D24-9E36-A431-FE6965A3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2511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8882F-DD7D-D139-7052-7002725E1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语言的优势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1CD304-19D9-50E9-A305-080D64E84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广泛的应用领域。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在多个领域都有广泛的应用，如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Web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开发、数据科学、机器学习、网络爬虫、自动化脚本等。</a:t>
            </a: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跨平台兼容性强。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可移植性高，可在多个操作系统上运行，如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Windows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Linux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MacOS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等，这使得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成为嵌入式系统和移动设备的理想选择。</a:t>
            </a: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面向对象、过程编程。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支持面向对象编程，可以使用类、对象、继承等概念来组织和管理代码，使得代码更加模块化、可重用和易于维护。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319999-E71E-2ACA-E107-4F559D96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88265-5641-2BDF-1F21-9A70158C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AE93F-5495-E5FC-BADA-4AEE7057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355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0533B-10E4-0DFD-78BD-4116ED7EA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语言的优势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0DC81-8243-0BFD-EF8D-172EBA8F7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可扩展性。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可以通过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C/C++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扩展模块来提高性能和功能，开发人员可以使用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C/C++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编写扩展模块，然后在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中调用，从而充分利用现有的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C/C++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代码和库。</a:t>
            </a: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社区支持和活跃度。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拥有庞大而活跃的开发者社区，提供了丰富的资源和支持，开发人员可以在社区中获取帮助、分享经验和学习最新的开发技术。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313008-AAE6-AC37-CB79-5086CBFCF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AA8090-1091-27A7-289C-E16E2BF5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526728-AB03-9A16-1FFC-3E0F9D610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529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3F876-C33E-6891-6772-37BF6D77E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4D605-054F-6CD0-F65A-A15C9401E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数值型：整型、浮点型、复数</a:t>
            </a:r>
            <a:endParaRPr lang="en-US" altLang="zh-CN" dirty="0"/>
          </a:p>
          <a:p>
            <a:r>
              <a:rPr lang="zh-CN" altLang="en-US" dirty="0"/>
              <a:t>字符串</a:t>
            </a:r>
            <a:endParaRPr lang="en-US" altLang="zh-CN" dirty="0"/>
          </a:p>
          <a:p>
            <a:pPr lvl="1"/>
            <a:r>
              <a:rPr lang="zh-CN" altLang="en-US" dirty="0"/>
              <a:t>定义：</a:t>
            </a:r>
            <a:r>
              <a:rPr lang="en-US" altLang="zh-CN" dirty="0"/>
              <a:t>s=</a:t>
            </a:r>
            <a:r>
              <a:rPr lang="zh-CN" altLang="en-US" dirty="0"/>
              <a:t>‘</a:t>
            </a:r>
            <a:r>
              <a:rPr lang="en-US" altLang="zh-CN" dirty="0"/>
              <a:t>big data</a:t>
            </a:r>
            <a:r>
              <a:rPr lang="zh-CN" altLang="en-US" dirty="0"/>
              <a:t>’  </a:t>
            </a:r>
            <a:r>
              <a:rPr lang="en-US" altLang="zh-CN" dirty="0"/>
              <a:t>#</a:t>
            </a:r>
            <a:r>
              <a:rPr lang="zh-CN" altLang="en-US" dirty="0"/>
              <a:t>单双引号均可</a:t>
            </a:r>
            <a:endParaRPr lang="en-US" altLang="zh-CN" dirty="0"/>
          </a:p>
          <a:p>
            <a:pPr lvl="1"/>
            <a:r>
              <a:rPr lang="zh-CN" altLang="en-US" dirty="0"/>
              <a:t>两套索引：正向</a:t>
            </a:r>
            <a:r>
              <a:rPr lang="en-US" altLang="zh-CN" dirty="0"/>
              <a:t>0-n</a:t>
            </a:r>
            <a:r>
              <a:rPr lang="zh-CN" altLang="en-US" dirty="0"/>
              <a:t>，反向从</a:t>
            </a:r>
            <a:r>
              <a:rPr lang="en-US" altLang="zh-CN" dirty="0"/>
              <a:t>-1</a:t>
            </a:r>
            <a:r>
              <a:rPr lang="zh-CN" altLang="en-US" dirty="0"/>
              <a:t>开始，例如</a:t>
            </a:r>
            <a:r>
              <a:rPr lang="en-US" altLang="zh-CN" dirty="0"/>
              <a:t>s[-2]</a:t>
            </a:r>
          </a:p>
          <a:p>
            <a:pPr lvl="1"/>
            <a:r>
              <a:rPr lang="zh-CN" altLang="en-US" dirty="0"/>
              <a:t>切片：</a:t>
            </a:r>
            <a:r>
              <a:rPr lang="en-US" altLang="zh-CN" dirty="0"/>
              <a:t>s[</a:t>
            </a:r>
            <a:r>
              <a:rPr lang="en-US" altLang="zh-CN" dirty="0" err="1"/>
              <a:t>m:n</a:t>
            </a:r>
            <a:r>
              <a:rPr lang="en-US" altLang="zh-CN" dirty="0"/>
              <a:t>]</a:t>
            </a:r>
            <a:r>
              <a:rPr lang="zh-CN" altLang="en-US" dirty="0"/>
              <a:t>，表示从</a:t>
            </a:r>
            <a:r>
              <a:rPr lang="en-US" altLang="zh-CN" dirty="0"/>
              <a:t>m</a:t>
            </a:r>
            <a:r>
              <a:rPr lang="zh-CN" altLang="en-US" dirty="0"/>
              <a:t>到</a:t>
            </a:r>
            <a:r>
              <a:rPr lang="en-US" altLang="zh-CN" dirty="0"/>
              <a:t>n-1</a:t>
            </a:r>
            <a:r>
              <a:rPr lang="zh-CN" altLang="en-US" dirty="0"/>
              <a:t>的子串，不含</a:t>
            </a:r>
            <a:r>
              <a:rPr lang="en-US" altLang="zh-CN" dirty="0"/>
              <a:t>n</a:t>
            </a:r>
          </a:p>
          <a:p>
            <a:r>
              <a:rPr lang="zh-CN" altLang="en-US" dirty="0"/>
              <a:t>组合数据类型：列表、集合、字典</a:t>
            </a:r>
            <a:endParaRPr lang="en-US" altLang="zh-CN" dirty="0"/>
          </a:p>
          <a:p>
            <a:pPr lvl="1"/>
            <a:endParaRPr lang="en-US" altLang="zh-CN" dirty="0">
              <a:ea typeface="+mn-ea"/>
              <a:cs typeface="+mn-cs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82C7D-B1E0-CE54-989C-1D2717E4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C31D5C-EF73-F039-7631-2C36D13F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1EAAE1-EF89-FC4C-8949-7501190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8389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83B1F-0531-D287-9E95-68B1A1DF1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A9ED29-271E-3722-CA91-741FB1D8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DDE0D-2334-EE2F-71A8-A02DC96C6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b="1" i="0" u="none" strike="noStrike" dirty="0">
                <a:solidFill>
                  <a:srgbClr val="000000"/>
                </a:solidFill>
                <a:effectLst/>
                <a:latin typeface="Helvetica Neue"/>
              </a:rPr>
              <a:t>Pandas </a:t>
            </a:r>
            <a:r>
              <a:rPr lang="zh-CN" altLang="en-US" b="1" i="0" u="none" strike="noStrike" dirty="0">
                <a:solidFill>
                  <a:srgbClr val="000000"/>
                </a:solidFill>
                <a:effectLst/>
                <a:latin typeface="Helvetica Neue"/>
              </a:rPr>
              <a:t>数据结构 </a:t>
            </a:r>
            <a:r>
              <a:rPr lang="en-US" altLang="zh-CN" b="1" i="0" u="none" strike="noStrike" dirty="0">
                <a:solidFill>
                  <a:srgbClr val="000000"/>
                </a:solidFill>
                <a:effectLst/>
                <a:latin typeface="Helvetica Neue"/>
              </a:rPr>
              <a:t>– </a:t>
            </a:r>
            <a:r>
              <a:rPr lang="en-US" altLang="zh-CN" b="1" i="0" u="none" strike="noStrike" dirty="0" err="1">
                <a:solidFill>
                  <a:srgbClr val="000000"/>
                </a:solidFill>
                <a:effectLst/>
                <a:latin typeface="Helvetica Neue"/>
              </a:rPr>
              <a:t>DataFrame</a:t>
            </a:r>
            <a:endParaRPr lang="en-US" altLang="zh-CN" b="1" i="0" u="none" strike="noStrike" dirty="0">
              <a:solidFill>
                <a:srgbClr val="000000"/>
              </a:solidFill>
              <a:effectLst/>
              <a:latin typeface="Helvetica Neue"/>
            </a:endParaRPr>
          </a:p>
          <a:p>
            <a:pPr algn="l"/>
            <a:r>
              <a:rPr lang="en-US" altLang="zh-CN" b="1" dirty="0" err="1">
                <a:solidFill>
                  <a:srgbClr val="000000"/>
                </a:solidFill>
                <a:latin typeface="Helvetica Neue"/>
              </a:rPr>
              <a:t>DataFrame</a:t>
            </a:r>
            <a:r>
              <a:rPr lang="zh-CN" altLang="en-US" b="1" dirty="0">
                <a:solidFill>
                  <a:srgbClr val="000000"/>
                </a:solidFill>
                <a:latin typeface="Helvetica Neue"/>
              </a:rPr>
              <a:t>特点：</a:t>
            </a:r>
            <a:endParaRPr lang="en-US" altLang="zh-CN" b="1" dirty="0">
              <a:solidFill>
                <a:srgbClr val="000000"/>
              </a:solidFill>
              <a:latin typeface="Helvetica Neue"/>
            </a:endParaRPr>
          </a:p>
          <a:p>
            <a:pPr lvl="1"/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列和行：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 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Helvetica Neue"/>
              </a:rPr>
              <a:t>DataFrame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ea typeface="Helvetica Neue"/>
              </a:rPr>
              <a:t> 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由多个列组成，每一列都有一个名称，可以看作是一个 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Helvetica Neue"/>
              </a:rPr>
              <a:t>Series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ea typeface="Helvetica Neue"/>
              </a:rPr>
              <a:t>。同时，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Helvetica Neue"/>
              </a:rPr>
              <a:t>DataFrame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ea typeface="Helvetica Neue"/>
              </a:rPr>
              <a:t> 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有一个行索引，用于标识每一行。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lvl="1"/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二维结构：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 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Helvetica Neue"/>
              </a:rPr>
              <a:t>DataFrame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ea typeface="Helvetica Neue"/>
              </a:rPr>
              <a:t> 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是一个二维表格，具有行和列。可以将其视为多个 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Helvetica Neue"/>
              </a:rPr>
              <a:t>Series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ea typeface="Helvetica Neue"/>
              </a:rPr>
              <a:t> 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对象组成的字典。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lvl="1"/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列的数据类型：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 不同列可以包含不同的数据类型，例如整数、浮点数、字符串等。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Helvetica Neu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altLang="zh-CN" b="1" dirty="0">
              <a:solidFill>
                <a:srgbClr val="000000"/>
              </a:solidFill>
              <a:latin typeface="Helvetica Neue"/>
            </a:endParaRPr>
          </a:p>
          <a:p>
            <a:pPr algn="l"/>
            <a:endParaRPr lang="en-US" altLang="zh-CN" b="1" i="0" u="none" strike="noStrike" dirty="0">
              <a:solidFill>
                <a:srgbClr val="000000"/>
              </a:solidFill>
              <a:effectLst/>
              <a:latin typeface="Helvetica Neue"/>
            </a:endParaRPr>
          </a:p>
          <a:p>
            <a:pPr lvl="1"/>
            <a:endParaRPr lang="en-US" altLang="zh-CN" dirty="0">
              <a:ea typeface="+mn-ea"/>
              <a:cs typeface="+mn-cs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EBB467-AB80-EAA6-D82B-31BA92B4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DB683A-35E7-E2D6-346B-371C853C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393F40-689B-0A75-9E95-17B44577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009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3DBEC-5C4A-9535-3933-03A34F2FD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DataFrame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F35D16-1531-A9F6-CD5F-55769932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1ADD25-8C37-0BDE-D699-B7310BE6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D49BE5-5797-5068-BCC9-600558BE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0BA2FB7-8FED-B965-8BD9-2D9997F009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08" y="1524000"/>
            <a:ext cx="7559145" cy="358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713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55AFF-16A9-F235-84FF-8CAE3678F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本地安装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7FF7490D-0ACB-3710-4A21-0F205422AE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8" y="968592"/>
            <a:ext cx="9081002" cy="4920816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D4BC4C-F336-3B4E-C6D0-0E8BBBBAF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EF8EB8-F44E-BC09-76C0-002F51F1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0A214-2794-E043-7AB6-480A75F9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276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E7298-B1AE-7A4D-4465-DC447639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及其</a:t>
            </a:r>
            <a:r>
              <a:rPr lang="en-US" altLang="zh-CN" dirty="0"/>
              <a:t>IDE</a:t>
            </a:r>
            <a:r>
              <a:rPr lang="zh-CN" altLang="en-US" dirty="0"/>
              <a:t>安装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E60AA8A-13B3-9668-6699-6C65D63F8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29" y="1447799"/>
            <a:ext cx="8807471" cy="4825289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E7C068-DC92-E68F-BE8A-65E5722C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51F845-D36B-FE69-FCCC-B85CD494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F426CD-4367-AFC8-25BD-DBBD8F176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621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04884-4C5B-79A9-4FB1-2EEF648BD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</a:t>
            </a:r>
            <a:r>
              <a:rPr lang="zh-CN" altLang="en-US" dirty="0"/>
              <a:t>对比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68150B5-90B8-1318-7279-ADF26D497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89" y="1295400"/>
            <a:ext cx="8791022" cy="4913956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065E93-5ED1-AE87-5470-39532E26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C8B8B-8FB7-9F22-9C10-FB7364B29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29A589-6CDE-BE03-424E-DFD34C86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183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55A72-2CA5-06A1-F4B0-A3373D11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</a:t>
            </a:r>
            <a:r>
              <a:rPr lang="en-US" altLang="zh-CN" dirty="0" err="1"/>
              <a:t>numpy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3625BEED-6394-3BBC-8203-407A20195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28" y="1143000"/>
            <a:ext cx="8915944" cy="4999024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8FD85-7AF0-C3A4-92F2-C30C6FF73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74A40-B442-C3BB-9421-EE46CBBEA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0AD885-8FAB-C4D3-3457-9D5F1312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0280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4E280-75EF-CF33-E999-C4085F75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</a:t>
            </a:r>
            <a:r>
              <a:rPr lang="en-US" altLang="zh-CN" dirty="0" err="1"/>
              <a:t>numpy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79D6298-689D-13D6-2870-269252D8B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54" y="1040205"/>
            <a:ext cx="8787091" cy="4919269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F90E94-7585-38B1-4814-981C95271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39AD4A-F499-DB91-9E8E-D3E874A2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4F7FDD-CE70-4A1B-5635-761B0925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3380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19B1A-0BE3-BAEB-031C-BF96D6A6E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</a:t>
            </a:r>
            <a:r>
              <a:rPr lang="en-US" altLang="zh-CN" dirty="0" err="1"/>
              <a:t>numpy</a:t>
            </a:r>
            <a:endParaRPr lang="zh-CN" altLang="en-US" dirty="0"/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5B8A116A-2E0C-A4A7-EDBF-7D091B266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07" y="1143000"/>
            <a:ext cx="8808386" cy="4908604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4807D-2DA0-1CE3-2F55-DCDACDC9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059E98-FB6A-0900-927B-84F56A87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2FCD48-78D8-0A62-4DE3-3D54477A4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1597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FDA09-F7BE-5505-A358-A8C4A205E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</a:t>
            </a:r>
            <a:r>
              <a:rPr lang="en-US" altLang="zh-CN" dirty="0" err="1"/>
              <a:t>numpy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BAC444F-DCBD-9E84-D4A6-79BAF4EA9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22" y="1143000"/>
            <a:ext cx="8713556" cy="4811074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8BC329-5ADE-D767-4B72-626C0E6F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CFC487-EF35-06F5-A6CB-20FBB9E64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31DBB1-5A4F-B1A8-FAE7-73492887D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383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21CC-3E32-EF19-0DBE-68F16F575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ED8F8-037D-9D24-629D-2B42BF83D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</a:t>
            </a:r>
            <a:r>
              <a:rPr lang="en-US" altLang="zh-CN" dirty="0" err="1"/>
              <a:t>sklearn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2203C7-1040-B925-B45A-9DF82D1D4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2A6BA6-52E9-20C4-B379-8B60DADE6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FE8634-020A-BF3F-F8F9-1DA148C5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9587E8-3BD2-ADE4-2320-CD2F6D400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sklearn</a:t>
            </a:r>
            <a:r>
              <a:rPr lang="zh-CN" altLang="en-US" dirty="0"/>
              <a:t>是基于</a:t>
            </a:r>
            <a:r>
              <a:rPr lang="en-US" altLang="zh-CN" dirty="0"/>
              <a:t>python</a:t>
            </a:r>
            <a:r>
              <a:rPr lang="zh-CN" altLang="en-US" dirty="0"/>
              <a:t>语言的机器学习工具包，是目前做机器学习项目当之无愧的第一工具。 </a:t>
            </a:r>
            <a:r>
              <a:rPr lang="en-US" altLang="zh-CN" dirty="0" err="1"/>
              <a:t>sklearn</a:t>
            </a:r>
            <a:r>
              <a:rPr lang="zh-CN" altLang="en-US" dirty="0"/>
              <a:t>自带了大量的数据集，可供我们练习各种机器学习算法。 </a:t>
            </a:r>
            <a:r>
              <a:rPr lang="en-US" altLang="zh-CN" dirty="0" err="1"/>
              <a:t>sklearn</a:t>
            </a:r>
            <a:r>
              <a:rPr lang="zh-CN" altLang="en-US" dirty="0"/>
              <a:t>集成了数据预处理、数据特征选择、数据特征降维、分类</a:t>
            </a:r>
            <a:r>
              <a:rPr lang="en-US" altLang="zh-CN" dirty="0"/>
              <a:t>\</a:t>
            </a:r>
            <a:r>
              <a:rPr lang="zh-CN" altLang="en-US" dirty="0"/>
              <a:t>回归</a:t>
            </a:r>
            <a:r>
              <a:rPr lang="en-US" altLang="zh-CN" dirty="0"/>
              <a:t>\</a:t>
            </a:r>
            <a:r>
              <a:rPr lang="zh-CN" altLang="en-US" dirty="0"/>
              <a:t>聚类模型、模型评估等非常全面算法。</a:t>
            </a:r>
            <a:endParaRPr lang="en-US" altLang="zh-CN" dirty="0"/>
          </a:p>
          <a:p>
            <a:r>
              <a:rPr lang="zh-CN" altLang="en-US" dirty="0"/>
              <a:t>参考：</a:t>
            </a:r>
            <a:r>
              <a:rPr lang="en-US" altLang="zh-CN" dirty="0">
                <a:hlinkClick r:id="rId2"/>
              </a:rPr>
              <a:t>https://zhuanlan.zhihu.com/p/393113910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6773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45EC-4835-3FB0-8404-E2BDF8FF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90799-4E43-BF8A-D74B-DECEDDDFB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</a:t>
            </a:r>
            <a:r>
              <a:rPr lang="en-US" altLang="zh-CN" dirty="0" err="1"/>
              <a:t>sklearn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AF84C-C247-63A6-7F68-B9C6FEFF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43F142-1281-1EE2-8DBC-178A7D1A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E58184-9512-F62D-6CE5-7782169B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BD3692D-E65E-2F00-F20C-F6A32AECDE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AE226480-B4DE-DD2B-9351-F50D3332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1028443"/>
            <a:ext cx="6868772" cy="541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8">
            <a:extLst>
              <a:ext uri="{FF2B5EF4-FFF2-40B4-BE49-F238E27FC236}">
                <a16:creationId xmlns:a16="http://schemas.microsoft.com/office/drawing/2014/main" id="{21A29585-4006-B695-26C2-E5153DFF29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236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65A182-98E4-1CB4-FFC4-FB83DFB2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——matplotlib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7B329954-FDB6-62B4-8626-55C1F9AAF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01776"/>
            <a:ext cx="8318500" cy="4664047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3E9D1-6081-6888-1F79-97E257F81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92B0E-5D89-8AEB-0532-2E5341FE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729F47-B541-5948-01F0-45B25DE2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4307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78DFB-9173-7F19-0522-33D4C575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——matplotlib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926A857F-03D6-A76F-4293-F5CB671D3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69319"/>
            <a:ext cx="8318500" cy="4528961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817CB-DD26-485D-C796-B51BF54B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61FA2B-8E8A-4586-85F0-FA02A3296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98FFAA-C2D5-9D8E-2146-D3C133C8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541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69D58-D11D-BD71-76A1-808474B7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——matplotlib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24CED00-0C5D-8235-E320-6E344F633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387556"/>
            <a:ext cx="8318500" cy="4692487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525B96-9590-7243-6829-0049B6DA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D7B74-4D61-858C-49B3-B5882356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A43F4-A11E-1B93-5A0D-26B7003C4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80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6DCBE-DF0D-7D37-F977-1D855891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——matplotlib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3914E75-7B28-D71F-94DB-822EAC1D2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33770"/>
            <a:ext cx="8318500" cy="4600059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C27776-9B6A-8A98-B303-1C44AC194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ED526-C4A3-68C3-9CBB-9A69D293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8202E8-681C-36E6-6694-69FD828F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7046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EFC6D9-64BA-5FB8-E226-F1BDD940B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——matplotlib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A1ADE678-C2DE-2FAD-7216-3C4CB7DF8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51545"/>
            <a:ext cx="8318500" cy="4564510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CCB03D-AB3A-BBC4-BF63-FC5037F5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7257B-448E-7060-975B-E6F75492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6430D8-C50E-AC98-3B77-0F792D5A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985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05D3E-CC3D-7BA8-3BBD-10D4627D4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88BE01FF-377A-5DCA-3CA3-105840D2B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15996"/>
            <a:ext cx="8318500" cy="4635608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0325C5-7B99-CD0C-B0BC-98274DF0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F8D9D8-397D-890B-B30B-DBC4C034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553D73-7CBD-65C7-5782-FA4D0F75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8166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7A2831-ED43-618F-62F5-EE9907D9B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67B42778-B34F-9309-A139-F025BE0A3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40880"/>
            <a:ext cx="8318500" cy="4585839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6AF4CF-5279-4D3E-8237-A8C37CC26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ECCF6-139E-9EB9-D611-2D2F007B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987D0B-4FFA-189B-3141-786CA951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347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38470-6E6C-93C4-6EFC-68F60E2F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BFB4CEC-3078-5E6C-5123-F16DE6C49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58655"/>
            <a:ext cx="8318500" cy="4550290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613D39-35E0-1AE2-14AE-CDD2E697E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B5725-64CE-7AC8-4F1F-1ED7E35A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A39B0F-5906-5150-DB6A-B55F60F3E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868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D4E06-0463-0CB5-972F-B00C126D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E87D09E4-B8E0-50E4-643E-595A6E743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05331"/>
            <a:ext cx="8318500" cy="4656938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DC068-29CE-D860-8A2E-19CE2BD5C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1D7FB7-9F50-4DFC-CC4F-239E66E8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A96D4B-EA69-EDD5-65C7-CE4E2073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4911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F89CE-5B94-24C1-28F3-9236596A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4E190E9E-F429-3AD2-E497-9712705EF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26660"/>
            <a:ext cx="8318500" cy="4614279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19C1CB-8041-4020-B4CC-2BC2E080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8296A-0166-02E7-FC67-D47C55A4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FE6404-387E-146E-9215-194C7CC5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2097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93BA3-02CF-0BBD-A522-32708987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5BA0A093-D1F8-6E9A-8453-50F939C91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47990"/>
            <a:ext cx="8318500" cy="4571620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CD086B-D7F3-785D-74C9-1E3EBF8F5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C40B6-6D8D-A11D-5291-50499961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864C2F-64F3-A3F1-51C7-C4B0122AA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196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6D543-E40D-2CD9-9212-40DC686D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50083DF3-D166-7467-19F7-E43DDB635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387556"/>
            <a:ext cx="8318500" cy="4692487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E22049-9A8D-5CE2-B65F-DA57D4D33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3C3557-FA41-34C3-F6DF-88B246EE9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A530EE-8C9D-B134-B1C0-F22EB122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5272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41475-9259-9924-AC58-FA5EC07C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7C18C38F-2A88-C223-E79F-2316A2943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391111"/>
            <a:ext cx="8318500" cy="4685377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10043-04C2-5C51-C3E0-EA0675E4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3D60D-695F-B516-94A0-27D02639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1B4AEB-20B9-7B50-71E7-7A58AC38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7105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DA945-F07C-3095-E56B-D7B82D1EE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3237AF77-82AE-7434-5D6C-13CD4FF43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394666"/>
            <a:ext cx="8318500" cy="4678267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8C0510-35ED-C74A-1C8C-4B00D075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E0520-0DE1-A224-9ABC-B8CD3EA0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CBB05-25AF-AE0C-19D7-14D26E94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46269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D06867-1A9A-58E4-467C-CD53C0B25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49DE39F2-1944-D57A-B8A0-215AB72BF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391111"/>
            <a:ext cx="8318500" cy="4685377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6D0595-0322-E0CF-3C4F-E47CD06C4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147196-72C4-A2FC-81DF-5F3495FF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2A354C-2D0D-9118-6E5B-8E6FE1FE6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540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D045A-D0E5-3863-EA47-5ADC5287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C0BF1A6-A8CE-C931-B6D7-D758A6BDF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01776"/>
            <a:ext cx="8318500" cy="4664047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2E7A85-73A9-D4A5-1930-DAB4FDEA6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F794DA-D6F9-9C60-C8E5-EE211DC0F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764831-C74C-E034-FD53-BA8580A9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8086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B833F-D2EC-A484-513D-7C0CE6F9C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36C3C60-A7C1-394D-54F9-554B1DB01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37325"/>
            <a:ext cx="8318500" cy="4592949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738796-A6B1-60CA-0B32-774C195C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4318A-CB7F-4BF6-C479-2D72ED58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1A36F1-6329-3DA4-22C4-43A79CD6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996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87BEF-9220-81D7-9FEC-666747E7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78BACB29-B737-918B-1DB2-7EBD75F80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12441"/>
            <a:ext cx="8318500" cy="4642718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58E03D-40D5-C73B-DDAE-B2B2E43B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B60E9E-230B-B2F9-504F-4C43F66D8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5D355C-E5E4-DC46-6B19-3B635253B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803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1DD13-5454-7B42-6846-EEAADDE6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3A66FD9-9A99-F90E-B94A-41D222141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01776"/>
            <a:ext cx="8318500" cy="4664047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4003C-3A5D-A860-1A42-1C0BD8E2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97215-05CE-CCF3-35F0-B66FE7B9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BE25E2-CC79-F287-5349-768E28AE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10468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E7E80B-5356-8F05-827F-3D0F695F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D44D920E-E179-2EC7-9093-FA7E0DE68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437325"/>
            <a:ext cx="8318500" cy="4592949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D47987-4C22-59B9-9575-BCC3F1DB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DD4216-B798-5994-6EBF-F32E4855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A617C1-6D93-2834-3FAF-1608671A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18858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920EE-37D9-39B2-1585-C18EE90B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数据挖掘常用的库</a:t>
            </a:r>
            <a:r>
              <a:rPr lang="en-US" altLang="zh-CN" dirty="0"/>
              <a:t>——pandas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1875525-FB45-155D-713D-773D6B858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3" y="1391111"/>
            <a:ext cx="8318500" cy="4685377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55AB15-F040-0882-CEAC-D40EC659F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4767A-17A0-5F6E-EEFE-936DCA1A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5CFED3-843F-90E4-FAB1-9210B3BA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99226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39D78-1ADE-4C72-3636-E5486AD5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百度飞浆</a:t>
            </a:r>
            <a:r>
              <a:rPr lang="en-US" altLang="zh-CN" dirty="0"/>
              <a:t>AI Studio——</a:t>
            </a:r>
            <a:r>
              <a:rPr lang="zh-CN" altLang="en-US" dirty="0"/>
              <a:t>平台简介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2150FB-1570-C1EC-EE92-D3CDE5862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b="0" i="0" dirty="0">
                <a:effectLst/>
                <a:latin typeface="Helvetica Neue"/>
              </a:rPr>
              <a:t>AI Studio</a:t>
            </a:r>
            <a:r>
              <a:rPr lang="zh-CN" altLang="en-US" b="0" i="0" dirty="0">
                <a:effectLst/>
                <a:latin typeface="Helvetica Neue"/>
              </a:rPr>
              <a:t>（</a:t>
            </a:r>
            <a:r>
              <a:rPr lang="en-US" altLang="zh-CN" dirty="0">
                <a:latin typeface="Helvetica Neue"/>
                <a:hlinkClick r:id="rId2"/>
              </a:rPr>
              <a:t>https://aistudio.baidu.com/index</a:t>
            </a:r>
            <a:r>
              <a:rPr lang="zh-CN" altLang="en-US" b="0" i="0" dirty="0">
                <a:effectLst/>
                <a:latin typeface="Helvetica Neue"/>
              </a:rPr>
              <a:t>）是基于</a:t>
            </a:r>
            <a:r>
              <a:rPr lang="zh-CN" altLang="en-US" b="0" i="0" u="none" strike="noStrike" dirty="0">
                <a:effectLst/>
                <a:latin typeface="Helvetica Neue"/>
              </a:rPr>
              <a:t>百度</a:t>
            </a:r>
            <a:r>
              <a:rPr lang="zh-CN" altLang="en-US" b="0" i="0" dirty="0">
                <a:effectLst/>
                <a:latin typeface="Helvetica Neue"/>
              </a:rPr>
              <a:t>深度学习开源平台</a:t>
            </a:r>
            <a:r>
              <a:rPr lang="zh-CN" altLang="en-US" b="0" i="0" u="none" strike="noStrike" dirty="0">
                <a:effectLst/>
                <a:latin typeface="Helvetica Neue"/>
              </a:rPr>
              <a:t>飞桨</a:t>
            </a:r>
            <a:r>
              <a:rPr lang="zh-CN" altLang="en-US" b="0" i="0" dirty="0">
                <a:effectLst/>
                <a:latin typeface="Helvetica Neue"/>
              </a:rPr>
              <a:t>的人工智能学习与实训社区，为开发者提供了功能强大的线上训练环境、免费</a:t>
            </a:r>
            <a:r>
              <a:rPr lang="en-US" altLang="zh-CN" b="0" i="0" u="none" strike="noStrike" dirty="0">
                <a:effectLst/>
                <a:latin typeface="Helvetica Neue"/>
              </a:rPr>
              <a:t>GPU</a:t>
            </a:r>
            <a:r>
              <a:rPr lang="zh-CN" altLang="en-US" b="0" i="0" dirty="0">
                <a:effectLst/>
                <a:latin typeface="Helvetica Neue"/>
              </a:rPr>
              <a:t>算力及存储资源。</a:t>
            </a:r>
            <a:endParaRPr lang="en-US" altLang="zh-CN" b="0" i="0" dirty="0">
              <a:effectLst/>
              <a:latin typeface="Helvetica Neue"/>
            </a:endParaRPr>
          </a:p>
          <a:p>
            <a:pPr algn="just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根据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AI Studio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官方数据，其人工智能开发者已经达到将近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100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万，并积累上万的实训项目（包括数据集），包含比赛基线、论文复现、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GAN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网络系列、实战系列等，其中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Deepfake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图片唱歌、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Deepfake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换脸等爆款项目获得上万的开发者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Fork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学习。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just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涵盖本课程数据挖掘的四大类方法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95CD8-EBA0-3106-2A3F-86C8394F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E1167B-D7F4-238E-02BF-A238CAF2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5695BE-4695-BDCC-852E-F9718A6F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4524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98C18-6C36-ABF0-FF1A-498BD8D96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百度飞浆</a:t>
            </a:r>
            <a:r>
              <a:rPr lang="en-US" altLang="zh-CN" dirty="0"/>
              <a:t>AI Studio——</a:t>
            </a:r>
            <a:r>
              <a:rPr lang="zh-CN" altLang="en-US" dirty="0"/>
              <a:t>本课程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C576EA-58EF-C8AA-C86C-E4F4EC1B3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加入课程</a:t>
            </a:r>
            <a:endParaRPr lang="en-US" altLang="zh-CN" dirty="0"/>
          </a:p>
          <a:p>
            <a:pPr lvl="1"/>
            <a:r>
              <a:rPr lang="zh-CN" altLang="en-US" dirty="0"/>
              <a:t>课程链接：</a:t>
            </a:r>
            <a:r>
              <a:rPr lang="en-US" altLang="zh-CN" dirty="0">
                <a:hlinkClick r:id="rId2"/>
              </a:rPr>
              <a:t>https://aistudio.baidu.com/aistudio/education/group/invitation/30650?code=pgvzI5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9055C6-DF27-71C1-875B-B83B1D17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39CAE-22AF-3701-DF48-E40D59D2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130A41-89F5-840A-24FA-E68D8891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42</a:t>
            </a:fld>
            <a:endParaRPr lang="en-US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B7DD73-32DF-6CC4-8C32-54FD22125B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03" t="8472" r="5362" b="7912"/>
          <a:stretch/>
        </p:blipFill>
        <p:spPr>
          <a:xfrm>
            <a:off x="1828800" y="3048000"/>
            <a:ext cx="5943600" cy="372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068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D6C90-AD44-0866-DC2B-8703C93C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百度飞浆</a:t>
            </a:r>
            <a:r>
              <a:rPr lang="en-US" altLang="zh-CN" dirty="0"/>
              <a:t>AI Studio——</a:t>
            </a:r>
            <a:r>
              <a:rPr lang="zh-CN" altLang="en-US" dirty="0"/>
              <a:t>本课程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D3CCE3-7848-3A0B-C2BE-19A77BC2E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68C1F9-E23F-74B2-13EA-A36E52EC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45472-BAE4-0639-C536-605D74080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 to Data Mining, 2nd Edition   Tan, Steinbach, Karpatne, Kumar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2409A0-7B70-7B2D-EFE1-7256A84C5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43</a:t>
            </a:fld>
            <a:endParaRPr lang="en-US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716F735-59AF-E9DA-0A13-89A65B231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219200"/>
            <a:ext cx="7924800" cy="518914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5ECDE93-A0A7-5B92-AE2B-B8466196EB4C}"/>
              </a:ext>
            </a:extLst>
          </p:cNvPr>
          <p:cNvSpPr/>
          <p:nvPr/>
        </p:nvSpPr>
        <p:spPr bwMode="auto">
          <a:xfrm>
            <a:off x="685800" y="3810000"/>
            <a:ext cx="2209800" cy="2546350"/>
          </a:xfrm>
          <a:prstGeom prst="rect">
            <a:avLst/>
          </a:prstGeom>
          <a:noFill/>
          <a:ln w="381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1" i="0" u="none" strike="noStrike" cap="none" normalizeH="0" baseline="0">
              <a:ln>
                <a:noFill/>
              </a:ln>
              <a:noFill/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1578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3F69A-5251-5DCA-8F9E-B149F0F2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1</a:t>
            </a:r>
            <a:r>
              <a:rPr lang="zh-CN" altLang="en-US" dirty="0"/>
              <a:t>：数据读取与可视化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73295B-CC88-1CEF-CC06-EB514122D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02323"/>
            <a:ext cx="8318500" cy="457200"/>
          </a:xfrm>
        </p:spPr>
        <p:txBody>
          <a:bodyPr/>
          <a:lstStyle/>
          <a:p>
            <a:r>
              <a:rPr lang="en-US" altLang="zh-CN" dirty="0">
                <a:hlinkClick r:id="rId2"/>
              </a:rPr>
              <a:t>https://aistudio.baidu.com/projectdetail/7479366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974142-AAB0-9845-95B8-DEEBEBDA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09/09/2020</a:t>
            </a:r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2DE1D8-89B2-935A-882A-B142DC64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313412-24CF-41E6-04C7-D4A1C30F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64E48-8EBF-45D4-86A6-5BE608535861}" type="slidenum">
              <a:rPr lang="en-US" altLang="en-US" smtClean="0"/>
              <a:pPr/>
              <a:t>44</a:t>
            </a:fld>
            <a:endParaRPr lang="en-US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7119EC6-7F62-88F3-A661-646F42247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1143000"/>
            <a:ext cx="7734300" cy="436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64126"/>
      </p:ext>
    </p:extLst>
  </p:cSld>
  <p:clrMapOvr>
    <a:masterClrMapping/>
  </p:clrMapOvr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146478502</TotalTime>
  <Pages>3</Pages>
  <Words>1823</Words>
  <Application>Microsoft Office PowerPoint</Application>
  <PresentationFormat>全屏显示(4:3)</PresentationFormat>
  <Paragraphs>241</Paragraphs>
  <Slides>44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5" baseType="lpstr">
      <vt:lpstr>-apple-system</vt:lpstr>
      <vt:lpstr>Arial Unicode MS</vt:lpstr>
      <vt:lpstr>Helvetica Neue</vt:lpstr>
      <vt:lpstr>Monotype Sorts</vt:lpstr>
      <vt:lpstr>Microsoft YaHei</vt:lpstr>
      <vt:lpstr>Arial</vt:lpstr>
      <vt:lpstr>Courier New</vt:lpstr>
      <vt:lpstr>Tahoma</vt:lpstr>
      <vt:lpstr>Times New Roman</vt:lpstr>
      <vt:lpstr>Wingdings</vt:lpstr>
      <vt:lpstr>LC.BRev.FY97</vt:lpstr>
      <vt:lpstr>数据挖掘: Python编程基础</vt:lpstr>
      <vt:lpstr>教学内容</vt:lpstr>
      <vt:lpstr>Python简介</vt:lpstr>
      <vt:lpstr>Python语言的优势</vt:lpstr>
      <vt:lpstr>Python语言的优势</vt:lpstr>
      <vt:lpstr>Python语言的优势</vt:lpstr>
      <vt:lpstr>Python语言的优势</vt:lpstr>
      <vt:lpstr>Python数据类型</vt:lpstr>
      <vt:lpstr>Python数据类型</vt:lpstr>
      <vt:lpstr>DataFrame</vt:lpstr>
      <vt:lpstr>Python本地安装</vt:lpstr>
      <vt:lpstr>Python及其IDE安装</vt:lpstr>
      <vt:lpstr>IDE对比</vt:lpstr>
      <vt:lpstr>数据挖掘常用的库——numpy</vt:lpstr>
      <vt:lpstr>数据挖掘常用的库——numpy</vt:lpstr>
      <vt:lpstr>数据挖掘常用的库——numpy</vt:lpstr>
      <vt:lpstr>数据挖掘常用的库——numpy</vt:lpstr>
      <vt:lpstr>数据挖掘常用的库——sklearn</vt:lpstr>
      <vt:lpstr>数据挖掘常用的库——sklearn</vt:lpstr>
      <vt:lpstr>数据挖掘常用的库——matplotlib</vt:lpstr>
      <vt:lpstr>数据挖掘常用的库——matplotlib</vt:lpstr>
      <vt:lpstr>数据挖掘常用的库——matplotlib</vt:lpstr>
      <vt:lpstr>数据挖掘常用的库——matplotlib</vt:lpstr>
      <vt:lpstr>数据挖掘常用的库——matplotlib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数据挖掘常用的库——pandas</vt:lpstr>
      <vt:lpstr>百度飞浆AI Studio——平台简介</vt:lpstr>
      <vt:lpstr>百度飞浆AI Studio——本课程</vt:lpstr>
      <vt:lpstr>百度飞浆AI Studio——本课程</vt:lpstr>
      <vt:lpstr>作业1：数据读取与可视化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subject/>
  <dc:creator>Computations</dc:creator>
  <cp:keywords/>
  <dc:description/>
  <cp:lastModifiedBy>Yun Liu</cp:lastModifiedBy>
  <cp:revision>470</cp:revision>
  <cp:lastPrinted>2001-08-28T17:59:37Z</cp:lastPrinted>
  <dcterms:created xsi:type="dcterms:W3CDTF">1998-03-18T13:44:31Z</dcterms:created>
  <dcterms:modified xsi:type="dcterms:W3CDTF">2024-03-01T14:54:09Z</dcterms:modified>
</cp:coreProperties>
</file>