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2"/>
  </p:notesMasterIdLst>
  <p:handoutMasterIdLst>
    <p:handoutMasterId r:id="rId33"/>
  </p:handoutMasterIdLst>
  <p:sldIdLst>
    <p:sldId id="515" r:id="rId2"/>
    <p:sldId id="619" r:id="rId3"/>
    <p:sldId id="620" r:id="rId4"/>
    <p:sldId id="621" r:id="rId5"/>
    <p:sldId id="578" r:id="rId6"/>
    <p:sldId id="685" r:id="rId7"/>
    <p:sldId id="587" r:id="rId8"/>
    <p:sldId id="588" r:id="rId9"/>
    <p:sldId id="589" r:id="rId10"/>
    <p:sldId id="623" r:id="rId11"/>
    <p:sldId id="624" r:id="rId12"/>
    <p:sldId id="625" r:id="rId13"/>
    <p:sldId id="626" r:id="rId14"/>
    <p:sldId id="627" r:id="rId15"/>
    <p:sldId id="628" r:id="rId16"/>
    <p:sldId id="629" r:id="rId17"/>
    <p:sldId id="591" r:id="rId18"/>
    <p:sldId id="590" r:id="rId19"/>
    <p:sldId id="592" r:id="rId20"/>
    <p:sldId id="593" r:id="rId21"/>
    <p:sldId id="594" r:id="rId22"/>
    <p:sldId id="596" r:id="rId23"/>
    <p:sldId id="595" r:id="rId24"/>
    <p:sldId id="597" r:id="rId25"/>
    <p:sldId id="687" r:id="rId26"/>
    <p:sldId id="688" r:id="rId27"/>
    <p:sldId id="690" r:id="rId28"/>
    <p:sldId id="691" r:id="rId29"/>
    <p:sldId id="692" r:id="rId30"/>
    <p:sldId id="640" r:id="rId31"/>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2A8487"/>
    <a:srgbClr val="1C5A61"/>
    <a:srgbClr val="0C6D9C"/>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21" autoAdjust="0"/>
    <p:restoredTop sz="94568" autoAdjust="0"/>
  </p:normalViewPr>
  <p:slideViewPr>
    <p:cSldViewPr>
      <p:cViewPr varScale="1">
        <p:scale>
          <a:sx n="76" d="100"/>
          <a:sy n="76" d="100"/>
        </p:scale>
        <p:origin x="1026" y="27"/>
      </p:cViewPr>
      <p:guideLst>
        <p:guide orient="horz" pos="2160"/>
        <p:guide pos="2736"/>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8932"/>
    </p:cViewPr>
  </p:sorterViewPr>
  <p:notesViewPr>
    <p:cSldViewPr>
      <p:cViewPr varScale="1">
        <p:scale>
          <a:sx n="83" d="100"/>
          <a:sy n="83" d="100"/>
        </p:scale>
        <p:origin x="-840" y="-66"/>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5406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2474" y="4416111"/>
            <a:ext cx="5143848" cy="4180819"/>
          </a:xfrm>
          <a:prstGeom prst="rect">
            <a:avLst/>
          </a:prstGeom>
          <a:noFill/>
          <a:ln w="12700">
            <a:noFill/>
            <a:miter lim="800000"/>
            <a:headEnd/>
            <a:tailEnd/>
          </a:ln>
          <a:effectLst/>
        </p:spPr>
        <p:txBody>
          <a:bodyPr vert="horz" wrap="square" lIns="96805" tIns="48406" rIns="96805" bIns="48406"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1619" name="Rectangle 3"/>
          <p:cNvSpPr>
            <a:spLocks noGrp="1" noRot="1" noChangeAspect="1" noChangeArrowheads="1" noTextEdit="1"/>
          </p:cNvSpPr>
          <p:nvPr>
            <p:ph type="sldImg" idx="2"/>
          </p:nvPr>
        </p:nvSpPr>
        <p:spPr bwMode="auto">
          <a:xfrm>
            <a:off x="1193800" y="706438"/>
            <a:ext cx="4625975" cy="3470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327074573"/>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85863" y="700088"/>
            <a:ext cx="4643437" cy="3482975"/>
          </a:xfrm>
          <a:solidFill>
            <a:srgbClr val="FFFFFF"/>
          </a:solidFill>
          <a:ln/>
        </p:spPr>
      </p:sp>
      <p:sp>
        <p:nvSpPr>
          <p:cNvPr id="112643" name="Rectangle 3"/>
          <p:cNvSpPr>
            <a:spLocks noGrp="1" noChangeArrowheads="1"/>
          </p:cNvSpPr>
          <p:nvPr>
            <p:ph type="body" idx="1"/>
          </p:nvPr>
        </p:nvSpPr>
        <p:spPr>
          <a:xfrm>
            <a:off x="934078" y="4416111"/>
            <a:ext cx="5142244" cy="4180819"/>
          </a:xfrm>
          <a:solidFill>
            <a:srgbClr val="FFFFFF"/>
          </a:solidFill>
          <a:ln>
            <a:solidFill>
              <a:srgbClr val="000000"/>
            </a:solidFill>
          </a:ln>
        </p:spPr>
        <p:txBody>
          <a:bodyPr lIns="91572" tIns="45782" rIns="91572" bIns="45782"/>
          <a:lstStyle/>
          <a:p>
            <a:endParaRPr lang="en-US" altLang="en-US"/>
          </a:p>
        </p:txBody>
      </p:sp>
    </p:spTree>
    <p:extLst>
      <p:ext uri="{BB962C8B-B14F-4D97-AF65-F5344CB8AC3E}">
        <p14:creationId xmlns:p14="http://schemas.microsoft.com/office/powerpoint/2010/main" val="398802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5</a:t>
            </a:fld>
            <a:endParaRPr lang="zh-CN" altLang="en-US"/>
          </a:p>
        </p:txBody>
      </p:sp>
    </p:spTree>
    <p:extLst>
      <p:ext uri="{BB962C8B-B14F-4D97-AF65-F5344CB8AC3E}">
        <p14:creationId xmlns:p14="http://schemas.microsoft.com/office/powerpoint/2010/main" val="3955035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6</a:t>
            </a:fld>
            <a:endParaRPr lang="zh-CN" altLang="en-US"/>
          </a:p>
        </p:txBody>
      </p:sp>
    </p:spTree>
    <p:extLst>
      <p:ext uri="{BB962C8B-B14F-4D97-AF65-F5344CB8AC3E}">
        <p14:creationId xmlns:p14="http://schemas.microsoft.com/office/powerpoint/2010/main" val="4162795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7</a:t>
            </a:fld>
            <a:endParaRPr lang="zh-CN" altLang="en-US"/>
          </a:p>
        </p:txBody>
      </p:sp>
    </p:spTree>
    <p:extLst>
      <p:ext uri="{BB962C8B-B14F-4D97-AF65-F5344CB8AC3E}">
        <p14:creationId xmlns:p14="http://schemas.microsoft.com/office/powerpoint/2010/main" val="265613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8</a:t>
            </a:fld>
            <a:endParaRPr lang="zh-CN" altLang="en-US"/>
          </a:p>
        </p:txBody>
      </p:sp>
    </p:spTree>
    <p:extLst>
      <p:ext uri="{BB962C8B-B14F-4D97-AF65-F5344CB8AC3E}">
        <p14:creationId xmlns:p14="http://schemas.microsoft.com/office/powerpoint/2010/main" val="227707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9</a:t>
            </a:fld>
            <a:endParaRPr lang="zh-CN" altLang="en-US"/>
          </a:p>
        </p:txBody>
      </p:sp>
    </p:spTree>
    <p:extLst>
      <p:ext uri="{BB962C8B-B14F-4D97-AF65-F5344CB8AC3E}">
        <p14:creationId xmlns:p14="http://schemas.microsoft.com/office/powerpoint/2010/main" val="2942769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17</a:t>
            </a:fld>
            <a:endParaRPr lang="zh-CN" altLang="en-US"/>
          </a:p>
        </p:txBody>
      </p:sp>
    </p:spTree>
    <p:extLst>
      <p:ext uri="{BB962C8B-B14F-4D97-AF65-F5344CB8AC3E}">
        <p14:creationId xmlns:p14="http://schemas.microsoft.com/office/powerpoint/2010/main" val="1127190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18</a:t>
            </a:fld>
            <a:endParaRPr lang="zh-CN" altLang="en-US"/>
          </a:p>
        </p:txBody>
      </p:sp>
    </p:spTree>
    <p:extLst>
      <p:ext uri="{BB962C8B-B14F-4D97-AF65-F5344CB8AC3E}">
        <p14:creationId xmlns:p14="http://schemas.microsoft.com/office/powerpoint/2010/main" val="161229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19</a:t>
            </a:fld>
            <a:endParaRPr lang="zh-CN" altLang="en-US"/>
          </a:p>
        </p:txBody>
      </p:sp>
    </p:spTree>
    <p:extLst>
      <p:ext uri="{BB962C8B-B14F-4D97-AF65-F5344CB8AC3E}">
        <p14:creationId xmlns:p14="http://schemas.microsoft.com/office/powerpoint/2010/main" val="931112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20</a:t>
            </a:fld>
            <a:endParaRPr lang="zh-CN" altLang="en-US"/>
          </a:p>
        </p:txBody>
      </p:sp>
    </p:spTree>
    <p:extLst>
      <p:ext uri="{BB962C8B-B14F-4D97-AF65-F5344CB8AC3E}">
        <p14:creationId xmlns:p14="http://schemas.microsoft.com/office/powerpoint/2010/main" val="457766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21</a:t>
            </a:fld>
            <a:endParaRPr lang="zh-CN" altLang="en-US"/>
          </a:p>
        </p:txBody>
      </p:sp>
    </p:spTree>
    <p:extLst>
      <p:ext uri="{BB962C8B-B14F-4D97-AF65-F5344CB8AC3E}">
        <p14:creationId xmlns:p14="http://schemas.microsoft.com/office/powerpoint/2010/main" val="2601981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22</a:t>
            </a:fld>
            <a:endParaRPr lang="zh-CN" altLang="en-US"/>
          </a:p>
        </p:txBody>
      </p:sp>
    </p:spTree>
    <p:extLst>
      <p:ext uri="{BB962C8B-B14F-4D97-AF65-F5344CB8AC3E}">
        <p14:creationId xmlns:p14="http://schemas.microsoft.com/office/powerpoint/2010/main" val="676455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23</a:t>
            </a:fld>
            <a:endParaRPr lang="zh-CN" altLang="en-US"/>
          </a:p>
        </p:txBody>
      </p:sp>
    </p:spTree>
    <p:extLst>
      <p:ext uri="{BB962C8B-B14F-4D97-AF65-F5344CB8AC3E}">
        <p14:creationId xmlns:p14="http://schemas.microsoft.com/office/powerpoint/2010/main" val="616134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24</a:t>
            </a:fld>
            <a:endParaRPr lang="zh-CN" altLang="en-US"/>
          </a:p>
        </p:txBody>
      </p:sp>
    </p:spTree>
    <p:extLst>
      <p:ext uri="{BB962C8B-B14F-4D97-AF65-F5344CB8AC3E}">
        <p14:creationId xmlns:p14="http://schemas.microsoft.com/office/powerpoint/2010/main" val="1449286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25</a:t>
            </a:fld>
            <a:endParaRPr lang="zh-CN" altLang="en-US"/>
          </a:p>
        </p:txBody>
      </p:sp>
    </p:spTree>
    <p:extLst>
      <p:ext uri="{BB962C8B-B14F-4D97-AF65-F5344CB8AC3E}">
        <p14:creationId xmlns:p14="http://schemas.microsoft.com/office/powerpoint/2010/main" val="2199811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302840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8337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9530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109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1128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108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028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4687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75692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81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5202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7931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1486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8" name="Text Box 10"/>
          <p:cNvSpPr txBox="1">
            <a:spLocks noChangeArrowheads="1"/>
          </p:cNvSpPr>
          <p:nvPr userDrawn="1"/>
        </p:nvSpPr>
        <p:spPr bwMode="auto">
          <a:xfrm>
            <a:off x="457200" y="6400800"/>
            <a:ext cx="1219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defRPr/>
            </a:pPr>
            <a:r>
              <a:rPr lang="en-US" dirty="0"/>
              <a:t>11/16/2020	</a:t>
            </a:r>
          </a:p>
        </p:txBody>
      </p:sp>
      <p:sp>
        <p:nvSpPr>
          <p:cNvPr id="9" name="Rectangle 8"/>
          <p:cNvSpPr/>
          <p:nvPr userDrawn="1"/>
        </p:nvSpPr>
        <p:spPr>
          <a:xfrm>
            <a:off x="8454919" y="6400800"/>
            <a:ext cx="402674" cy="307777"/>
          </a:xfrm>
          <a:prstGeom prst="rect">
            <a:avLst/>
          </a:prstGeom>
        </p:spPr>
        <p:txBody>
          <a:bodyPr wrap="none">
            <a:spAutoFit/>
          </a:bodyPr>
          <a:lstStyle/>
          <a:p>
            <a:pPr>
              <a:spcBef>
                <a:spcPct val="50000"/>
              </a:spcBef>
              <a:defRPr/>
            </a:pPr>
            <a:fld id="{20C2B3EF-A58E-4072-B0B8-DA68EAC103CC}" type="slidenum">
              <a:rPr lang="en-US" smtClean="0"/>
              <a:pPr>
                <a:spcBef>
                  <a:spcPct val="50000"/>
                </a:spcBef>
                <a:defRPr/>
              </a:pPr>
              <a:t>‹#›</a:t>
            </a:fld>
            <a:endParaRPr lang="en-US" dirty="0"/>
          </a:p>
        </p:txBody>
      </p:sp>
      <p:sp>
        <p:nvSpPr>
          <p:cNvPr id="10" name="Rectangle 9"/>
          <p:cNvSpPr/>
          <p:nvPr userDrawn="1"/>
        </p:nvSpPr>
        <p:spPr>
          <a:xfrm>
            <a:off x="2514600" y="6334780"/>
            <a:ext cx="3733800" cy="523220"/>
          </a:xfrm>
          <a:prstGeom prst="rect">
            <a:avLst/>
          </a:prstGeom>
        </p:spPr>
        <p:txBody>
          <a:bodyPr wrap="square">
            <a:spAutoFit/>
          </a:bodyPr>
          <a:lstStyle/>
          <a:p>
            <a:pPr>
              <a:defRPr/>
            </a:pPr>
            <a:r>
              <a:rPr lang="en-US" dirty="0"/>
              <a:t>Introduction to Data Mining, 2nd Edition   Tan, Steinbach, </a:t>
            </a:r>
            <a:r>
              <a:rPr lang="en-US" dirty="0" err="1"/>
              <a:t>Karpatne</a:t>
            </a:r>
            <a:r>
              <a:rPr lang="en-US" dirty="0"/>
              <a:t>, Kumar</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4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0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228600" y="609600"/>
            <a:ext cx="8763000" cy="838200"/>
          </a:xfrm>
        </p:spPr>
        <p:txBody>
          <a:bodyPr/>
          <a:lstStyle/>
          <a:p>
            <a:pPr algn="ctr"/>
            <a:r>
              <a:rPr lang="zh-CN" altLang="en-US" sz="2800" dirty="0"/>
              <a:t>数据挖掘：聚类</a:t>
            </a:r>
            <a:endParaRPr lang="en-US" altLang="en-US" sz="2800" dirty="0"/>
          </a:p>
        </p:txBody>
      </p:sp>
      <p:sp>
        <p:nvSpPr>
          <p:cNvPr id="2051" name="Rectangle 3"/>
          <p:cNvSpPr>
            <a:spLocks noChangeArrowheads="1"/>
          </p:cNvSpPr>
          <p:nvPr/>
        </p:nvSpPr>
        <p:spPr bwMode="auto">
          <a:xfrm>
            <a:off x="381000" y="2401050"/>
            <a:ext cx="8229600" cy="291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eaLnBrk="1" hangingPunct="1">
              <a:spcBef>
                <a:spcPct val="20000"/>
              </a:spcBef>
              <a:buClr>
                <a:schemeClr val="folHlink"/>
              </a:buClr>
              <a:buSzPct val="60000"/>
              <a:buFont typeface="Wingdings" pitchFamily="2" charset="2"/>
              <a:buNone/>
            </a:pPr>
            <a:r>
              <a:rPr lang="zh-CN" altLang="en-US" sz="3200" b="0" dirty="0"/>
              <a:t>聚类有效性评价</a:t>
            </a:r>
            <a:endParaRPr lang="en-US" altLang="zh-CN" sz="3200" b="0" dirty="0"/>
          </a:p>
          <a:p>
            <a:pPr algn="ctr" eaLnBrk="1" hangingPunct="1">
              <a:spcBef>
                <a:spcPct val="20000"/>
              </a:spcBef>
              <a:buClr>
                <a:schemeClr val="folHlink"/>
              </a:buClr>
              <a:buSzPct val="60000"/>
              <a:buFont typeface="Wingdings" pitchFamily="2" charset="2"/>
              <a:buNone/>
            </a:pPr>
            <a:endParaRPr lang="en-US" altLang="zh-CN" sz="3200" b="0" dirty="0"/>
          </a:p>
          <a:p>
            <a:pPr algn="ctr" eaLnBrk="1" hangingPunct="1">
              <a:spcBef>
                <a:spcPct val="20000"/>
              </a:spcBef>
              <a:buClr>
                <a:schemeClr val="folHlink"/>
              </a:buClr>
              <a:buSzPct val="60000"/>
              <a:buFont typeface="Wingdings" pitchFamily="2" charset="2"/>
              <a:buNone/>
            </a:pPr>
            <a:r>
              <a:rPr lang="zh-CN" altLang="en-US" sz="3200" b="0" dirty="0"/>
              <a:t>吉林大学 </a:t>
            </a:r>
            <a:endParaRPr lang="en-US" altLang="zh-CN" sz="3200" b="0" dirty="0"/>
          </a:p>
          <a:p>
            <a:pPr algn="ctr" eaLnBrk="1" hangingPunct="1">
              <a:spcBef>
                <a:spcPct val="20000"/>
              </a:spcBef>
              <a:buClr>
                <a:schemeClr val="folHlink"/>
              </a:buClr>
              <a:buSzPct val="60000"/>
              <a:buFont typeface="Wingdings" pitchFamily="2" charset="2"/>
              <a:buNone/>
            </a:pPr>
            <a:r>
              <a:rPr lang="zh-CN" altLang="en-US" sz="3200" b="0" dirty="0"/>
              <a:t>刘    云</a:t>
            </a:r>
            <a:endParaRPr lang="en-US" altLang="en-US" sz="1600" b="0" dirty="0"/>
          </a:p>
          <a:p>
            <a:pPr algn="ctr"/>
            <a:endParaRPr lang="en-US" altLang="en-US" sz="1600" b="0" dirty="0"/>
          </a:p>
          <a:p>
            <a:endParaRPr lang="en-US" altLang="en-US" sz="2000" b="0" dirty="0"/>
          </a:p>
        </p:txBody>
      </p:sp>
      <p:grpSp>
        <p:nvGrpSpPr>
          <p:cNvPr id="2052" name="Group 7"/>
          <p:cNvGrpSpPr>
            <a:grpSpLocks/>
          </p:cNvGrpSpPr>
          <p:nvPr/>
        </p:nvGrpSpPr>
        <p:grpSpPr bwMode="auto">
          <a:xfrm>
            <a:off x="304800" y="1447800"/>
            <a:ext cx="8534400" cy="152400"/>
            <a:chOff x="264" y="788"/>
            <a:chExt cx="5232" cy="124"/>
          </a:xfrm>
        </p:grpSpPr>
        <p:sp>
          <p:nvSpPr>
            <p:cNvPr id="2053" name="Rectangle 8"/>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2054" name="Rectangle 9"/>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7" name="Text Box 10"/>
          <p:cNvSpPr txBox="1">
            <a:spLocks noChangeArrowheads="1"/>
          </p:cNvSpPr>
          <p:nvPr/>
        </p:nvSpPr>
        <p:spPr bwMode="auto">
          <a:xfrm>
            <a:off x="457200" y="6400800"/>
            <a:ext cx="1219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defRPr/>
            </a:pPr>
            <a:r>
              <a:rPr lang="en-US" dirty="0"/>
              <a:t>11/16/2020	</a:t>
            </a:r>
          </a:p>
        </p:txBody>
      </p:sp>
      <p:sp>
        <p:nvSpPr>
          <p:cNvPr id="9" name="Rectangle 8"/>
          <p:cNvSpPr/>
          <p:nvPr/>
        </p:nvSpPr>
        <p:spPr>
          <a:xfrm>
            <a:off x="2514600" y="6334780"/>
            <a:ext cx="3733800" cy="523220"/>
          </a:xfrm>
          <a:prstGeom prst="rect">
            <a:avLst/>
          </a:prstGeom>
        </p:spPr>
        <p:txBody>
          <a:bodyPr wrap="square">
            <a:spAutoFit/>
          </a:bodyPr>
          <a:lstStyle/>
          <a:p>
            <a:pPr>
              <a:defRPr/>
            </a:pPr>
            <a:r>
              <a:rPr lang="en-US" dirty="0"/>
              <a:t>Introduction to Data Mining, 2nd Edition   Tan, Steinbach, </a:t>
            </a:r>
            <a:r>
              <a:rPr lang="en-US" dirty="0" err="1"/>
              <a:t>Karpatne</a:t>
            </a:r>
            <a:r>
              <a:rPr lang="en-US" dirty="0"/>
              <a:t>, Kumar</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dirty="0"/>
              <a:t>聚类有效性</a:t>
            </a:r>
            <a:endParaRPr lang="en-US" altLang="en-US" dirty="0"/>
          </a:p>
        </p:txBody>
      </p:sp>
      <p:sp>
        <p:nvSpPr>
          <p:cNvPr id="1656835" name="Rectangle 3"/>
          <p:cNvSpPr>
            <a:spLocks noGrp="1" noChangeArrowheads="1"/>
          </p:cNvSpPr>
          <p:nvPr>
            <p:ph type="body" idx="1"/>
          </p:nvPr>
        </p:nvSpPr>
        <p:spPr/>
        <p:txBody>
          <a:bodyPr>
            <a:normAutofit/>
          </a:bodyPr>
          <a:lstStyle/>
          <a:p>
            <a:pPr>
              <a:lnSpc>
                <a:spcPct val="80000"/>
              </a:lnSpc>
            </a:pPr>
            <a:r>
              <a:rPr lang="zh-CN" altLang="en-US" sz="2400" dirty="0"/>
              <a:t>有监督学习领域，基于标签可以计算很多指标</a:t>
            </a:r>
            <a:endParaRPr lang="en-US" altLang="en-US" sz="2400" dirty="0"/>
          </a:p>
          <a:p>
            <a:pPr lvl="1">
              <a:lnSpc>
                <a:spcPct val="80000"/>
              </a:lnSpc>
            </a:pPr>
            <a:r>
              <a:rPr lang="en-US" altLang="en-US" sz="2000" dirty="0"/>
              <a:t>Accuracy, precision, recall, F1-score, ……</a:t>
            </a:r>
          </a:p>
          <a:p>
            <a:pPr lvl="1">
              <a:lnSpc>
                <a:spcPct val="80000"/>
              </a:lnSpc>
            </a:pPr>
            <a:endParaRPr lang="en-US" altLang="en-US" sz="2000" dirty="0"/>
          </a:p>
          <a:p>
            <a:pPr>
              <a:lnSpc>
                <a:spcPct val="80000"/>
              </a:lnSpc>
            </a:pPr>
            <a:r>
              <a:rPr lang="zh-CN" altLang="en-US" sz="2400" dirty="0"/>
              <a:t>聚类领域，如何评价聚类结果的好坏？</a:t>
            </a:r>
            <a:endParaRPr lang="en-US" altLang="en-US" sz="2400" dirty="0"/>
          </a:p>
          <a:p>
            <a:pPr lvl="1">
              <a:lnSpc>
                <a:spcPct val="80000"/>
              </a:lnSpc>
            </a:pPr>
            <a:r>
              <a:rPr lang="zh-CN" altLang="en-US" sz="2000" dirty="0"/>
              <a:t>没有标签，聚类的定义是将一组无标签数据集分为若干个类</a:t>
            </a:r>
            <a:endParaRPr lang="en-US" altLang="zh-CN" sz="2000" dirty="0"/>
          </a:p>
          <a:p>
            <a:pPr lvl="1">
              <a:lnSpc>
                <a:spcPct val="80000"/>
              </a:lnSpc>
            </a:pPr>
            <a:endParaRPr lang="en-US" altLang="en-US" sz="2000" dirty="0"/>
          </a:p>
          <a:p>
            <a:pPr>
              <a:lnSpc>
                <a:spcPct val="80000"/>
              </a:lnSpc>
            </a:pPr>
            <a:r>
              <a:rPr lang="zh-CN" altLang="en-US" sz="2400" dirty="0"/>
              <a:t>数据集中是否存在聚类结构？</a:t>
            </a:r>
            <a:r>
              <a:rPr lang="en-US" altLang="en-US" sz="2400" dirty="0"/>
              <a:t> </a:t>
            </a:r>
          </a:p>
          <a:p>
            <a:pPr lvl="1">
              <a:lnSpc>
                <a:spcPct val="80000"/>
              </a:lnSpc>
            </a:pPr>
            <a:r>
              <a:rPr lang="zh-CN" altLang="en-US" sz="2000" dirty="0"/>
              <a:t>我们得到的聚类结果都是从聚类算法来的</a:t>
            </a:r>
            <a:endParaRPr lang="en-US" altLang="en-US" sz="2000" dirty="0"/>
          </a:p>
          <a:p>
            <a:pPr>
              <a:lnSpc>
                <a:spcPct val="80000"/>
              </a:lnSpc>
            </a:pPr>
            <a:endParaRPr lang="en-US" altLang="en-US" sz="2400" dirty="0"/>
          </a:p>
          <a:p>
            <a:pPr>
              <a:lnSpc>
                <a:spcPct val="80000"/>
              </a:lnSpc>
            </a:pPr>
            <a:r>
              <a:rPr lang="zh-CN" altLang="en-US" sz="2400" dirty="0"/>
              <a:t>为什么需要评价聚类有效性</a:t>
            </a:r>
            <a:r>
              <a:rPr lang="en-US" altLang="en-US" sz="2400" dirty="0"/>
              <a:t>?</a:t>
            </a:r>
          </a:p>
          <a:p>
            <a:pPr lvl="1">
              <a:lnSpc>
                <a:spcPct val="80000"/>
              </a:lnSpc>
            </a:pPr>
            <a:r>
              <a:rPr lang="zh-CN" altLang="en-US" sz="2000" dirty="0"/>
              <a:t>保证高质量的聚类，</a:t>
            </a:r>
            <a:r>
              <a:rPr lang="en-US" altLang="zh-CN" sz="2000" dirty="0" err="1"/>
              <a:t>eg</a:t>
            </a:r>
            <a:r>
              <a:rPr lang="zh-CN" altLang="en-US" sz="2000" dirty="0"/>
              <a:t> 噪声</a:t>
            </a:r>
            <a:endParaRPr lang="en-US" altLang="en-US" sz="2000" dirty="0"/>
          </a:p>
          <a:p>
            <a:pPr lvl="1">
              <a:lnSpc>
                <a:spcPct val="80000"/>
              </a:lnSpc>
            </a:pPr>
            <a:r>
              <a:rPr lang="zh-CN" altLang="en-US" sz="2000" dirty="0"/>
              <a:t>比较不同的聚类算法</a:t>
            </a:r>
            <a:endParaRPr lang="en-US" altLang="en-US" sz="2000" dirty="0"/>
          </a:p>
          <a:p>
            <a:pPr lvl="1">
              <a:lnSpc>
                <a:spcPct val="80000"/>
              </a:lnSpc>
            </a:pPr>
            <a:r>
              <a:rPr lang="zh-CN" altLang="en-US" sz="2000" dirty="0"/>
              <a:t>比较两组聚类结果</a:t>
            </a:r>
            <a:endParaRPr lang="en-US" altLang="en-US" sz="2000" dirty="0"/>
          </a:p>
          <a:p>
            <a:pPr lvl="1">
              <a:lnSpc>
                <a:spcPct val="80000"/>
              </a:lnSpc>
            </a:pPr>
            <a:r>
              <a:rPr lang="zh-CN" altLang="en-US" sz="2000" dirty="0"/>
              <a:t>比较两个类</a:t>
            </a:r>
            <a:endParaRPr lang="en-US"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56835">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56835">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56835">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5683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en-US" sz="2800"/>
              <a:t>Clusters found in Random Data</a:t>
            </a:r>
          </a:p>
        </p:txBody>
      </p:sp>
      <p:pic>
        <p:nvPicPr>
          <p:cNvPr id="901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90600"/>
            <a:ext cx="3648075"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0116" name="Text Box 4"/>
          <p:cNvSpPr txBox="1">
            <a:spLocks noChangeArrowheads="1"/>
          </p:cNvSpPr>
          <p:nvPr/>
        </p:nvSpPr>
        <p:spPr bwMode="auto">
          <a:xfrm>
            <a:off x="152400" y="1905000"/>
            <a:ext cx="990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a:t>Random Points</a:t>
            </a:r>
          </a:p>
        </p:txBody>
      </p:sp>
      <p:grpSp>
        <p:nvGrpSpPr>
          <p:cNvPr id="2" name="Group 5"/>
          <p:cNvGrpSpPr>
            <a:grpSpLocks/>
          </p:cNvGrpSpPr>
          <p:nvPr/>
        </p:nvGrpSpPr>
        <p:grpSpPr bwMode="auto">
          <a:xfrm>
            <a:off x="152400" y="3657600"/>
            <a:ext cx="4113213" cy="2743200"/>
            <a:chOff x="96" y="2304"/>
            <a:chExt cx="2591" cy="1728"/>
          </a:xfrm>
        </p:grpSpPr>
        <p:pic>
          <p:nvPicPr>
            <p:cNvPr id="9012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2304"/>
              <a:ext cx="2303"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0125" name="Text Box 7"/>
            <p:cNvSpPr txBox="1">
              <a:spLocks noChangeArrowheads="1"/>
            </p:cNvSpPr>
            <p:nvPr/>
          </p:nvSpPr>
          <p:spPr bwMode="auto">
            <a:xfrm>
              <a:off x="96" y="2640"/>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a:t>K-means</a:t>
              </a:r>
            </a:p>
          </p:txBody>
        </p:sp>
      </p:grpSp>
      <p:grpSp>
        <p:nvGrpSpPr>
          <p:cNvPr id="3" name="Group 8"/>
          <p:cNvGrpSpPr>
            <a:grpSpLocks/>
          </p:cNvGrpSpPr>
          <p:nvPr/>
        </p:nvGrpSpPr>
        <p:grpSpPr bwMode="auto">
          <a:xfrm>
            <a:off x="4116388" y="990600"/>
            <a:ext cx="4341812" cy="2743200"/>
            <a:chOff x="2593" y="624"/>
            <a:chExt cx="2735" cy="1728"/>
          </a:xfrm>
        </p:grpSpPr>
        <p:pic>
          <p:nvPicPr>
            <p:cNvPr id="90122"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3" y="624"/>
              <a:ext cx="2303"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0123" name="Text Box 10"/>
            <p:cNvSpPr txBox="1">
              <a:spLocks noChangeArrowheads="1"/>
            </p:cNvSpPr>
            <p:nvPr/>
          </p:nvSpPr>
          <p:spPr bwMode="auto">
            <a:xfrm>
              <a:off x="4704" y="1200"/>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a:t>DBSCAN</a:t>
              </a:r>
            </a:p>
          </p:txBody>
        </p:sp>
      </p:grpSp>
      <p:grpSp>
        <p:nvGrpSpPr>
          <p:cNvPr id="4" name="Group 11"/>
          <p:cNvGrpSpPr>
            <a:grpSpLocks/>
          </p:cNvGrpSpPr>
          <p:nvPr/>
        </p:nvGrpSpPr>
        <p:grpSpPr bwMode="auto">
          <a:xfrm>
            <a:off x="4116388" y="3657600"/>
            <a:ext cx="4646612" cy="2743200"/>
            <a:chOff x="2593" y="2304"/>
            <a:chExt cx="2927" cy="1728"/>
          </a:xfrm>
        </p:grpSpPr>
        <p:pic>
          <p:nvPicPr>
            <p:cNvPr id="9012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3" y="2304"/>
              <a:ext cx="2303"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0121" name="Text Box 13"/>
            <p:cNvSpPr txBox="1">
              <a:spLocks noChangeArrowheads="1"/>
            </p:cNvSpPr>
            <p:nvPr/>
          </p:nvSpPr>
          <p:spPr bwMode="auto">
            <a:xfrm>
              <a:off x="4800" y="2640"/>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a:t>Complete Link</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882" name="Rectangle 2"/>
          <p:cNvSpPr>
            <a:spLocks noGrp="1" noChangeArrowheads="1"/>
          </p:cNvSpPr>
          <p:nvPr>
            <p:ph type="body" idx="1"/>
          </p:nvPr>
        </p:nvSpPr>
        <p:spPr>
          <a:xfrm>
            <a:off x="457200" y="1066800"/>
            <a:ext cx="8458200" cy="5257800"/>
          </a:xfrm>
        </p:spPr>
        <p:txBody>
          <a:bodyPr/>
          <a:lstStyle/>
          <a:p>
            <a:pPr marL="533400" indent="-533400">
              <a:lnSpc>
                <a:spcPct val="150000"/>
              </a:lnSpc>
              <a:buSzTx/>
              <a:buFont typeface="Monotype Sorts" pitchFamily="2" charset="2"/>
              <a:buAutoNum type="arabicPeriod"/>
            </a:pPr>
            <a:r>
              <a:rPr lang="zh-CN" altLang="en-US" sz="2400" dirty="0"/>
              <a:t>确定一组数据的聚类倾向，</a:t>
            </a:r>
            <a:r>
              <a:rPr lang="en-US" altLang="en-US" sz="2400" dirty="0"/>
              <a:t>i.e. </a:t>
            </a:r>
            <a:r>
              <a:rPr lang="zh-CN" altLang="en-US" sz="2400" dirty="0"/>
              <a:t>判断是否具有聚类结构，而不是随机分布的</a:t>
            </a:r>
            <a:r>
              <a:rPr lang="en-US" altLang="en-US" sz="2400" dirty="0"/>
              <a:t> </a:t>
            </a:r>
          </a:p>
          <a:p>
            <a:pPr marL="533400" indent="-533400">
              <a:lnSpc>
                <a:spcPct val="150000"/>
              </a:lnSpc>
              <a:buSzTx/>
              <a:buFont typeface="Monotype Sorts" pitchFamily="2" charset="2"/>
              <a:buAutoNum type="arabicPeriod"/>
            </a:pPr>
            <a:r>
              <a:rPr lang="zh-CN" altLang="en-US" sz="2400" dirty="0"/>
              <a:t>给定类标签的情况下，比较多个聚类结果</a:t>
            </a:r>
            <a:endParaRPr lang="en-US" altLang="en-US" sz="1800" dirty="0"/>
          </a:p>
          <a:p>
            <a:pPr marL="533400" indent="-533400">
              <a:lnSpc>
                <a:spcPct val="150000"/>
              </a:lnSpc>
              <a:buSzTx/>
              <a:buFont typeface="Monotype Sorts" pitchFamily="2" charset="2"/>
              <a:buAutoNum type="arabicPeriod"/>
            </a:pPr>
            <a:r>
              <a:rPr lang="zh-CN" altLang="en-US" sz="2400" dirty="0"/>
              <a:t>在无需外部信息的情况下，评价聚类对数据的拟合程度</a:t>
            </a:r>
            <a:endParaRPr lang="en-US" altLang="en-US" sz="2400" dirty="0"/>
          </a:p>
          <a:p>
            <a:pPr marL="990600" lvl="1" indent="-533400">
              <a:lnSpc>
                <a:spcPct val="150000"/>
              </a:lnSpc>
              <a:buSzTx/>
              <a:buFont typeface="Arial" charset="0"/>
              <a:buNone/>
            </a:pPr>
            <a:r>
              <a:rPr lang="en-US" altLang="en-US" sz="2000" dirty="0"/>
              <a:t>	- Use only the data</a:t>
            </a:r>
          </a:p>
          <a:p>
            <a:pPr marL="533400" indent="-533400">
              <a:lnSpc>
                <a:spcPct val="150000"/>
              </a:lnSpc>
              <a:buSzTx/>
              <a:buFont typeface="Monotype Sorts" pitchFamily="2" charset="2"/>
              <a:buAutoNum type="arabicPeriod"/>
            </a:pPr>
            <a:r>
              <a:rPr lang="zh-CN" altLang="en-US" sz="2400" dirty="0"/>
              <a:t>比较两个不同的聚类结果孰优孰劣</a:t>
            </a:r>
            <a:endParaRPr lang="en-US" altLang="zh-CN" sz="2400" dirty="0"/>
          </a:p>
          <a:p>
            <a:pPr marL="533400" indent="-533400">
              <a:lnSpc>
                <a:spcPct val="150000"/>
              </a:lnSpc>
              <a:buSzTx/>
              <a:buFont typeface="Monotype Sorts" pitchFamily="2" charset="2"/>
              <a:buAutoNum type="arabicPeriod"/>
            </a:pPr>
            <a:r>
              <a:rPr lang="zh-CN" altLang="en-US" sz="2400" dirty="0"/>
              <a:t>确定聚类个数</a:t>
            </a:r>
            <a:endParaRPr lang="en-US" altLang="en-US" sz="2400" dirty="0"/>
          </a:p>
        </p:txBody>
      </p:sp>
      <p:sp>
        <p:nvSpPr>
          <p:cNvPr id="91139" name="Rectangle 3"/>
          <p:cNvSpPr>
            <a:spLocks noGrp="1" noChangeArrowheads="1"/>
          </p:cNvSpPr>
          <p:nvPr>
            <p:ph type="title"/>
          </p:nvPr>
        </p:nvSpPr>
        <p:spPr/>
        <p:txBody>
          <a:bodyPr/>
          <a:lstStyle/>
          <a:p>
            <a:r>
              <a:rPr lang="en-US" altLang="en-US" sz="2800" dirty="0"/>
              <a:t>Different Aspects of Cluster Validation</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588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588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5888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658882">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65888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6588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882"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之有效性指标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5</a:t>
            </a:fld>
            <a:endParaRPr lang="zh-CN" altLang="en-US"/>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2831544"/>
          </a:xfrm>
          <a:prstGeom prst="rect">
            <a:avLst/>
          </a:prstGeom>
        </p:spPr>
        <p:txBody>
          <a:bodyPr wrap="square">
            <a:spAutoFit/>
          </a:bodyPr>
          <a:lstStyle/>
          <a:p>
            <a:pPr marL="285750" indent="-285750">
              <a:spcAft>
                <a:spcPts val="1200"/>
              </a:spcAft>
              <a:buFont typeface="Wingdings" panose="05000000000000000000" pitchFamily="2" charset="2"/>
              <a:buChar char="p"/>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聚类有效性指标（</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Cluster Validity Index</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CVI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）用于度量聚类的效果。聚类的目的：同一簇的样本彼此之间得相似性尽可能大，不同簇样本的相似性尽可能小。</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外部指标：</a:t>
            </a:r>
            <a:r>
              <a:rPr lang="zh-CN" altLang="en-US" sz="2400" dirty="0">
                <a:latin typeface="华文楷体" panose="02010600040101010101" pitchFamily="2" charset="-122"/>
                <a:ea typeface="华文楷体" panose="02010600040101010101" pitchFamily="2" charset="-122"/>
              </a:rPr>
              <a:t>该指标由聚类结果和某个参考模型</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标签进行比较而获得</a:t>
            </a:r>
          </a:p>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r>
              <a:rPr lang="zh-CN" altLang="en-US" sz="2400" dirty="0">
                <a:latin typeface="华文楷体" panose="02010600040101010101" pitchFamily="2" charset="-122"/>
                <a:ea typeface="华文楷体" panose="02010600040101010101" pitchFamily="2" charset="-122"/>
              </a:rPr>
              <a:t>该指标由本身的聚类结果而得到，不利用任何参考模型</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标签</a:t>
            </a:r>
            <a:endParaRPr lang="en-US" altLang="zh-CN" sz="2400" dirty="0">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930224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外部指标</a:t>
            </a:r>
            <a:endParaRPr lang="zh-CN" altLang="en-US" sz="3200" dirty="0">
              <a:solidFill>
                <a:srgbClr val="FF0000"/>
              </a:solidFill>
              <a:latin typeface="黑体" pitchFamily="2" charset="-122"/>
              <a:ea typeface="黑体" pitchFamily="2" charset="-122"/>
            </a:endParaRP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6</a:t>
            </a:fld>
            <a:endParaRPr lang="zh-CN" altLang="en-US"/>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471545"/>
          </a:xfrm>
          <a:prstGeom prst="rect">
            <a:avLst/>
          </a:prstGeom>
        </p:spPr>
        <p:txBody>
          <a:bodyPr wrap="square">
            <a:spAutoFit/>
          </a:bodyPr>
          <a:lstStyle/>
          <a:p>
            <a:pPr marL="800100" lvl="1" indent="-342900">
              <a:lnSpc>
                <a:spcPct val="150000"/>
              </a:lnSpc>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给定标签：</a:t>
            </a:r>
            <a:r>
              <a:rPr lang="en-US" altLang="zh-CN" sz="2400" dirty="0">
                <a:latin typeface="华文楷体" panose="02010600040101010101" pitchFamily="2" charset="-122"/>
                <a:ea typeface="华文楷体" panose="02010600040101010101" pitchFamily="2" charset="-122"/>
              </a:rPr>
              <a:t>[1 1 1 2 2 2 3 3 3]</a:t>
            </a:r>
            <a:endParaRPr lang="zh-CN" altLang="en-US" sz="2400" dirty="0">
              <a:latin typeface="华文楷体" panose="02010600040101010101" pitchFamily="2" charset="-122"/>
              <a:ea typeface="华文楷体" panose="02010600040101010101" pitchFamily="2" charset="-122"/>
            </a:endParaRPr>
          </a:p>
          <a:p>
            <a:pPr marL="800100" lvl="1" indent="-342900">
              <a:lnSpc>
                <a:spcPct val="150000"/>
              </a:lnSpc>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聚类标签：</a:t>
            </a:r>
            <a:r>
              <a:rPr lang="zh-CN" altLang="en-US" sz="2400" dirty="0">
                <a:latin typeface="华文楷体" panose="02010600040101010101" pitchFamily="2" charset="-122"/>
                <a:ea typeface="华文楷体" panose="02010600040101010101" pitchFamily="2" charset="-122"/>
              </a:rPr>
              <a:t>由聚类算法得出，可能不会与给定标签对应</a:t>
            </a:r>
            <a:endParaRPr lang="en-US" altLang="zh-CN" sz="2400" dirty="0">
              <a:latin typeface="华文楷体" panose="02010600040101010101" pitchFamily="2" charset="-122"/>
              <a:ea typeface="华文楷体" panose="02010600040101010101" pitchFamily="2" charset="-122"/>
            </a:endParaRPr>
          </a:p>
          <a:p>
            <a:pPr marL="1257300" lvl="2" indent="-342900">
              <a:lnSpc>
                <a:spcPct val="150000"/>
              </a:lnSpc>
              <a:buFont typeface="Wingdings" panose="05000000000000000000" pitchFamily="2" charset="2"/>
              <a:buChar char="p"/>
            </a:pP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例如：</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[2 2 2 1 1 1 3 3 3]</a:t>
            </a:r>
          </a:p>
          <a:p>
            <a:pPr marL="1257300" lvl="2" indent="-342900">
              <a:lnSpc>
                <a:spcPct val="150000"/>
              </a:lnSpc>
              <a:buFont typeface="Wingdings" panose="05000000000000000000" pitchFamily="2" charset="2"/>
              <a:buChar char="p"/>
            </a:pP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每一次运行聚类算法，可能得到的标签都不一样</a:t>
            </a:r>
            <a:endParaRPr lang="en-US" altLang="zh-CN" sz="2400" dirty="0">
              <a:latin typeface="华文楷体" panose="02010600040101010101" pitchFamily="2" charset="-122"/>
              <a:ea typeface="华文楷体" panose="02010600040101010101" pitchFamily="2" charset="-122"/>
              <a:cs typeface="Times New Roman" panose="02020603050405020304" pitchFamily="18" charset="0"/>
            </a:endParaRPr>
          </a:p>
          <a:p>
            <a:pPr marL="1257300" lvl="2" indent="-342900">
              <a:lnSpc>
                <a:spcPct val="150000"/>
              </a:lnSpc>
              <a:buFont typeface="Wingdings" panose="05000000000000000000" pitchFamily="2" charset="2"/>
              <a:buChar char="p"/>
            </a:pP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需要进行标签比对</a:t>
            </a:r>
            <a:endParaRPr lang="en-US" altLang="zh-CN" sz="2400" dirty="0">
              <a:latin typeface="华文楷体" panose="02010600040101010101" pitchFamily="2" charset="-122"/>
              <a:ea typeface="华文楷体" panose="02010600040101010101" pitchFamily="2" charset="-122"/>
              <a:cs typeface="Times New Roman" panose="02020603050405020304" pitchFamily="18" charset="0"/>
            </a:endParaRPr>
          </a:p>
          <a:p>
            <a:pPr marL="1714500" lvl="3"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Python  </a:t>
            </a:r>
            <a:r>
              <a:rPr lang="en-US" altLang="zh-CN" sz="2400" dirty="0" err="1">
                <a:latin typeface="华文楷体" panose="02010600040101010101" pitchFamily="2" charset="-122"/>
                <a:ea typeface="华文楷体" panose="02010600040101010101" pitchFamily="2" charset="-122"/>
                <a:cs typeface="Times New Roman" panose="02020603050405020304" pitchFamily="18" charset="0"/>
              </a:rPr>
              <a:t>bestMap</a:t>
            </a: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函数</a:t>
            </a:r>
            <a:endParaRPr lang="en-US" altLang="zh-CN" sz="2400" dirty="0">
              <a:latin typeface="华文楷体" panose="02010600040101010101" pitchFamily="2" charset="-122"/>
              <a:ea typeface="华文楷体" panose="02010600040101010101" pitchFamily="2" charset="-122"/>
              <a:cs typeface="Times New Roman" panose="02020603050405020304" pitchFamily="18" charset="0"/>
            </a:endParaRPr>
          </a:p>
          <a:p>
            <a:pPr marL="1257300" lvl="2" indent="-342900">
              <a:lnSpc>
                <a:spcPct val="150000"/>
              </a:lnSpc>
              <a:buFont typeface="Wingdings" panose="05000000000000000000" pitchFamily="2" charset="2"/>
              <a:buChar char="p"/>
            </a:pP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Precision</a:t>
            </a: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recall</a:t>
            </a: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accuracy</a:t>
            </a: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378495668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solidFill>
                  <a:srgbClr val="FF0000"/>
                </a:solidFill>
                <a:latin typeface="黑体" pitchFamily="2" charset="-122"/>
                <a:ea typeface="黑体" pitchFamily="2" charset="-122"/>
              </a:rPr>
              <a:t>外部指标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外部指标</a:t>
            </a:r>
            <a:endParaRPr lang="zh-CN" altLang="en-US" sz="2400" dirty="0">
              <a:latin typeface="华文楷体" panose="02010600040101010101" pitchFamily="2" charset="-122"/>
              <a:ea typeface="华文楷体" panose="02010600040101010101" pitchFamily="2" charset="-122"/>
            </a:endParaRPr>
          </a:p>
        </p:txBody>
      </p:sp>
      <p:pic>
        <p:nvPicPr>
          <p:cNvPr id="3" name="图片 2">
            <a:extLst>
              <a:ext uri="{FF2B5EF4-FFF2-40B4-BE49-F238E27FC236}">
                <a16:creationId xmlns:a16="http://schemas.microsoft.com/office/drawing/2014/main" id="{6FA013F2-2FF5-4B50-97D3-565BE98D954D}"/>
              </a:ext>
            </a:extLst>
          </p:cNvPr>
          <p:cNvPicPr>
            <a:picLocks noChangeAspect="1"/>
          </p:cNvPicPr>
          <p:nvPr/>
        </p:nvPicPr>
        <p:blipFill>
          <a:blip r:embed="rId3"/>
          <a:stretch>
            <a:fillRect/>
          </a:stretch>
        </p:blipFill>
        <p:spPr>
          <a:xfrm>
            <a:off x="152400" y="3878251"/>
            <a:ext cx="4118593" cy="1710989"/>
          </a:xfrm>
          <a:prstGeom prst="rect">
            <a:avLst/>
          </a:prstGeom>
        </p:spPr>
      </p:pic>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701556"/>
            <a:chOff x="755577" y="1934046"/>
            <a:chExt cx="8162924" cy="1701556"/>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4"/>
            <a:stretch>
              <a:fillRect/>
            </a:stretch>
          </p:blipFill>
          <p:spPr>
            <a:xfrm>
              <a:off x="3437957" y="2126901"/>
              <a:ext cx="1996245" cy="352278"/>
            </a:xfrm>
            <a:prstGeom prst="rect">
              <a:avLst/>
            </a:prstGeom>
          </p:spPr>
        </p:pic>
        <p:pic>
          <p:nvPicPr>
            <p:cNvPr id="5" name="图片 4">
              <a:extLst>
                <a:ext uri="{FF2B5EF4-FFF2-40B4-BE49-F238E27FC236}">
                  <a16:creationId xmlns:a16="http://schemas.microsoft.com/office/drawing/2014/main" id="{66E38931-F55F-4A46-8470-8E7266B66A85}"/>
                </a:ext>
              </a:extLst>
            </p:cNvPr>
            <p:cNvPicPr>
              <a:picLocks noChangeAspect="1"/>
            </p:cNvPicPr>
            <p:nvPr/>
          </p:nvPicPr>
          <p:blipFill>
            <a:blip r:embed="rId5"/>
            <a:stretch>
              <a:fillRect/>
            </a:stretch>
          </p:blipFill>
          <p:spPr>
            <a:xfrm>
              <a:off x="3965436" y="2694430"/>
              <a:ext cx="1727838"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6"/>
            <a:stretch>
              <a:fillRect/>
            </a:stretch>
          </p:blipFill>
          <p:spPr>
            <a:xfrm>
              <a:off x="3965436" y="3232351"/>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701556"/>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参考模型的划分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pic>
        <p:nvPicPr>
          <p:cNvPr id="13" name="图片 12">
            <a:extLst>
              <a:ext uri="{FF2B5EF4-FFF2-40B4-BE49-F238E27FC236}">
                <a16:creationId xmlns:a16="http://schemas.microsoft.com/office/drawing/2014/main" id="{16CFBC18-0F42-4130-8532-51BC01AD3690}"/>
              </a:ext>
            </a:extLst>
          </p:cNvPr>
          <p:cNvPicPr>
            <a:picLocks noChangeAspect="1"/>
          </p:cNvPicPr>
          <p:nvPr/>
        </p:nvPicPr>
        <p:blipFill>
          <a:blip r:embed="rId7"/>
          <a:stretch>
            <a:fillRect/>
          </a:stretch>
        </p:blipFill>
        <p:spPr>
          <a:xfrm>
            <a:off x="766840" y="5756808"/>
            <a:ext cx="2534885" cy="637882"/>
          </a:xfrm>
          <a:prstGeom prst="rect">
            <a:avLst/>
          </a:prstGeom>
        </p:spPr>
      </p:pic>
      <p:sp>
        <p:nvSpPr>
          <p:cNvPr id="14" name="文本框 13">
            <a:extLst>
              <a:ext uri="{FF2B5EF4-FFF2-40B4-BE49-F238E27FC236}">
                <a16:creationId xmlns:a16="http://schemas.microsoft.com/office/drawing/2014/main" id="{3E9A8114-BDE1-420B-85E7-D6A6816A6497}"/>
              </a:ext>
            </a:extLst>
          </p:cNvPr>
          <p:cNvSpPr txBox="1"/>
          <p:nvPr/>
        </p:nvSpPr>
        <p:spPr>
          <a:xfrm>
            <a:off x="4549775" y="3988088"/>
            <a:ext cx="4147289" cy="1323439"/>
          </a:xfrm>
          <a:prstGeom prst="rect">
            <a:avLst/>
          </a:prstGeom>
          <a:noFill/>
        </p:spPr>
        <p:txBody>
          <a:bodyPr wrap="none" rtlCol="0">
            <a:spAutoFit/>
          </a:bodyPr>
          <a:lstStyle/>
          <a:p>
            <a:r>
              <a:rPr lang="en-US" altLang="zh-CN" sz="2000" dirty="0"/>
              <a:t>SS</a:t>
            </a:r>
            <a:r>
              <a:rPr lang="zh-CN" altLang="en-US" sz="2000" dirty="0"/>
              <a:t>：属于一类，也被聚为一类</a:t>
            </a:r>
            <a:endParaRPr lang="en-US" altLang="zh-CN" sz="2000" dirty="0"/>
          </a:p>
          <a:p>
            <a:r>
              <a:rPr lang="en-US" altLang="zh-CN" sz="2000" dirty="0"/>
              <a:t>SD</a:t>
            </a:r>
            <a:r>
              <a:rPr lang="zh-CN" altLang="en-US" sz="2000" dirty="0"/>
              <a:t>：不属于一类，但被聚类一类</a:t>
            </a:r>
            <a:endParaRPr lang="en-US" altLang="zh-CN" sz="2000" dirty="0"/>
          </a:p>
          <a:p>
            <a:r>
              <a:rPr lang="en-US" altLang="zh-CN" sz="2000" dirty="0"/>
              <a:t>DS</a:t>
            </a:r>
            <a:r>
              <a:rPr lang="zh-CN" altLang="en-US" sz="2000" dirty="0"/>
              <a:t>：属于一类，但没被聚为一类</a:t>
            </a:r>
            <a:endParaRPr lang="en-US" altLang="zh-CN" sz="2000" dirty="0"/>
          </a:p>
          <a:p>
            <a:r>
              <a:rPr lang="en-US" altLang="zh-CN" sz="2000" dirty="0"/>
              <a:t>DD</a:t>
            </a:r>
            <a:r>
              <a:rPr lang="zh-CN" altLang="en-US" sz="2000" dirty="0"/>
              <a:t>：不属于一类，也没被聚为一类</a:t>
            </a:r>
            <a:endParaRPr lang="zh-CN" altLang="en-US" dirty="0"/>
          </a:p>
        </p:txBody>
      </p:sp>
    </p:spTree>
    <p:extLst>
      <p:ext uri="{BB962C8B-B14F-4D97-AF65-F5344CB8AC3E}">
        <p14:creationId xmlns:p14="http://schemas.microsoft.com/office/powerpoint/2010/main" val="3498380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外部指标</a:t>
            </a:r>
            <a:endParaRPr lang="zh-CN" altLang="en-US" sz="3200" dirty="0">
              <a:solidFill>
                <a:srgbClr val="FF0000"/>
              </a:solidFill>
              <a:latin typeface="黑体" pitchFamily="2" charset="-122"/>
              <a:ea typeface="黑体" pitchFamily="2" charset="-122"/>
            </a:endParaRP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8</a:t>
            </a:fld>
            <a:endParaRPr lang="zh-CN" altLang="en-US"/>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外部指标</a:t>
            </a:r>
            <a:endParaRPr lang="zh-CN" altLang="en-US" sz="2400" dirty="0">
              <a:latin typeface="华文楷体" panose="02010600040101010101" pitchFamily="2" charset="-122"/>
              <a:ea typeface="华文楷体" panose="02010600040101010101" pitchFamily="2" charset="-122"/>
            </a:endParaRPr>
          </a:p>
        </p:txBody>
      </p:sp>
      <p:sp>
        <p:nvSpPr>
          <p:cNvPr id="12" name="矩形 11">
            <a:extLst>
              <a:ext uri="{FF2B5EF4-FFF2-40B4-BE49-F238E27FC236}">
                <a16:creationId xmlns:a16="http://schemas.microsoft.com/office/drawing/2014/main" id="{EF409B8B-957B-45BF-B262-E96019FDF406}"/>
              </a:ext>
            </a:extLst>
          </p:cNvPr>
          <p:cNvSpPr/>
          <p:nvPr/>
        </p:nvSpPr>
        <p:spPr>
          <a:xfrm>
            <a:off x="728646" y="1690186"/>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Jaccard</a:t>
            </a:r>
            <a:r>
              <a:rPr lang="zh-CN" altLang="en-US" sz="2400" dirty="0">
                <a:latin typeface="华文楷体" panose="02010600040101010101" pitchFamily="2" charset="-122"/>
                <a:ea typeface="华文楷体" panose="02010600040101010101" pitchFamily="2" charset="-122"/>
              </a:rPr>
              <a:t>系数（</a:t>
            </a:r>
            <a:r>
              <a:rPr lang="en-US" altLang="zh-CN" sz="2400" dirty="0">
                <a:latin typeface="华文楷体" panose="02010600040101010101" pitchFamily="2" charset="-122"/>
                <a:ea typeface="华文楷体" panose="02010600040101010101" pitchFamily="2" charset="-122"/>
              </a:rPr>
              <a:t>Jaccard </a:t>
            </a:r>
            <a:r>
              <a:rPr lang="en-US" altLang="zh-CN" sz="2400" dirty="0" err="1">
                <a:latin typeface="华文楷体" panose="02010600040101010101" pitchFamily="2" charset="-122"/>
                <a:ea typeface="华文楷体" panose="02010600040101010101" pitchFamily="2" charset="-122"/>
              </a:rPr>
              <a:t>Cofficient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JC</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pic>
        <p:nvPicPr>
          <p:cNvPr id="13" name="图片 12">
            <a:extLst>
              <a:ext uri="{FF2B5EF4-FFF2-40B4-BE49-F238E27FC236}">
                <a16:creationId xmlns:a16="http://schemas.microsoft.com/office/drawing/2014/main" id="{80FDA5F9-8FAF-46A1-8E65-72BA4A56D449}"/>
              </a:ext>
            </a:extLst>
          </p:cNvPr>
          <p:cNvPicPr>
            <a:picLocks noChangeAspect="1"/>
          </p:cNvPicPr>
          <p:nvPr/>
        </p:nvPicPr>
        <p:blipFill>
          <a:blip r:embed="rId3"/>
          <a:stretch>
            <a:fillRect/>
          </a:stretch>
        </p:blipFill>
        <p:spPr>
          <a:xfrm>
            <a:off x="3521188" y="2583864"/>
            <a:ext cx="2101623" cy="845136"/>
          </a:xfrm>
          <a:prstGeom prst="rect">
            <a:avLst/>
          </a:prstGeom>
        </p:spPr>
      </p:pic>
      <p:sp>
        <p:nvSpPr>
          <p:cNvPr id="14" name="Rectangle 1">
            <a:extLst>
              <a:ext uri="{FF2B5EF4-FFF2-40B4-BE49-F238E27FC236}">
                <a16:creationId xmlns:a16="http://schemas.microsoft.com/office/drawing/2014/main" id="{393BB6B7-C2FC-4B00-9EC1-5E885F01FCD0}"/>
              </a:ext>
            </a:extLst>
          </p:cNvPr>
          <p:cNvSpPr>
            <a:spLocks noChangeArrowheads="1"/>
          </p:cNvSpPr>
          <p:nvPr/>
        </p:nvSpPr>
        <p:spPr bwMode="auto">
          <a:xfrm>
            <a:off x="725663" y="3420815"/>
            <a:ext cx="78337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Arial" panose="020B0604020202020204" pitchFamily="34" charset="0"/>
                <a:ea typeface="-apple-system"/>
              </a:rPr>
              <a:t>它刻画了</a:t>
            </a:r>
            <a:r>
              <a:rPr kumimoji="0" lang="zh-CN" altLang="en-US" sz="2000" b="0" i="0" u="none" strike="noStrike" cap="none" normalizeH="0" baseline="0" dirty="0">
                <a:ln>
                  <a:noFill/>
                </a:ln>
                <a:solidFill>
                  <a:schemeClr val="tx1"/>
                </a:solidFill>
                <a:effectLst/>
                <a:latin typeface="Arial" panose="020B0604020202020204" pitchFamily="34" charset="0"/>
                <a:ea typeface="-apple-system"/>
              </a:rPr>
              <a:t>正确分类的</a:t>
            </a:r>
            <a:r>
              <a:rPr kumimoji="0" lang="zh-CN" altLang="zh-CN" sz="2000" b="0" i="0" u="none" strike="noStrike" cap="none" normalizeH="0" baseline="0" dirty="0">
                <a:ln>
                  <a:noFill/>
                </a:ln>
                <a:solidFill>
                  <a:schemeClr val="tx1"/>
                </a:solidFill>
                <a:effectLst/>
                <a:latin typeface="Arial" panose="020B0604020202020204" pitchFamily="34" charset="0"/>
                <a:ea typeface="-apple-system"/>
              </a:rPr>
              <a:t>样本对的比值</a:t>
            </a:r>
            <a:r>
              <a:rPr kumimoji="0" lang="zh-CN" altLang="zh-CN" sz="1200" b="0" i="0" u="none" strike="noStrike" cap="none" normalizeH="0" baseline="0" dirty="0">
                <a:ln>
                  <a:noFill/>
                </a:ln>
                <a:solidFill>
                  <a:schemeClr val="tx1"/>
                </a:solidFill>
                <a:effectLst/>
                <a:latin typeface="Arial" panose="020B0604020202020204" pitchFamily="34" charset="0"/>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
        <p:nvSpPr>
          <p:cNvPr id="15" name="矩形 14">
            <a:extLst>
              <a:ext uri="{FF2B5EF4-FFF2-40B4-BE49-F238E27FC236}">
                <a16:creationId xmlns:a16="http://schemas.microsoft.com/office/drawing/2014/main" id="{7C43EF32-2550-4807-8D23-03A87251BCF3}"/>
              </a:ext>
            </a:extLst>
          </p:cNvPr>
          <p:cNvSpPr/>
          <p:nvPr/>
        </p:nvSpPr>
        <p:spPr>
          <a:xfrm>
            <a:off x="725663" y="3733800"/>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FM</a:t>
            </a:r>
            <a:r>
              <a:rPr lang="zh-CN" altLang="en-US" sz="2400" dirty="0">
                <a:latin typeface="华文楷体" panose="02010600040101010101" pitchFamily="2" charset="-122"/>
                <a:ea typeface="华文楷体" panose="02010600040101010101" pitchFamily="2" charset="-122"/>
              </a:rPr>
              <a:t>指数（</a:t>
            </a:r>
            <a:r>
              <a:rPr lang="en-US" altLang="zh-CN" sz="2400" dirty="0">
                <a:latin typeface="华文楷体" panose="02010600040101010101" pitchFamily="2" charset="-122"/>
                <a:ea typeface="华文楷体" panose="02010600040101010101" pitchFamily="2" charset="-122"/>
              </a:rPr>
              <a:t>Fowlkes and Mallows Index</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FMI</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pic>
        <p:nvPicPr>
          <p:cNvPr id="16" name="图片 15">
            <a:extLst>
              <a:ext uri="{FF2B5EF4-FFF2-40B4-BE49-F238E27FC236}">
                <a16:creationId xmlns:a16="http://schemas.microsoft.com/office/drawing/2014/main" id="{D4F8EE11-F796-4C76-B198-5C650AE6FDE6}"/>
              </a:ext>
            </a:extLst>
          </p:cNvPr>
          <p:cNvPicPr>
            <a:picLocks noChangeAspect="1"/>
          </p:cNvPicPr>
          <p:nvPr/>
        </p:nvPicPr>
        <p:blipFill>
          <a:blip r:embed="rId4"/>
          <a:stretch>
            <a:fillRect/>
          </a:stretch>
        </p:blipFill>
        <p:spPr>
          <a:xfrm>
            <a:off x="3138484" y="4419681"/>
            <a:ext cx="2867030" cy="872296"/>
          </a:xfrm>
          <a:prstGeom prst="rect">
            <a:avLst/>
          </a:prstGeom>
        </p:spPr>
      </p:pic>
      <p:sp>
        <p:nvSpPr>
          <p:cNvPr id="17" name="Rectangle 2">
            <a:extLst>
              <a:ext uri="{FF2B5EF4-FFF2-40B4-BE49-F238E27FC236}">
                <a16:creationId xmlns:a16="http://schemas.microsoft.com/office/drawing/2014/main" id="{E05310AE-F4D4-4EAB-8AA0-D91B5F599150}"/>
              </a:ext>
            </a:extLst>
          </p:cNvPr>
          <p:cNvSpPr>
            <a:spLocks noChangeArrowheads="1"/>
          </p:cNvSpPr>
          <p:nvPr/>
        </p:nvSpPr>
        <p:spPr bwMode="auto">
          <a:xfrm>
            <a:off x="725663" y="5231136"/>
            <a:ext cx="804779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000" b="0" dirty="0"/>
              <a:t>它刻画的是：在C中属于同一类的样本对中，同时属于C∗的样本对的比例为p1，在C∗中属于同一类的样本对中，同时属于C的样本对的比例为p2，FMI就是p1和p2的几何平均。 </a:t>
            </a:r>
          </a:p>
        </p:txBody>
      </p:sp>
    </p:spTree>
    <p:extLst>
      <p:ext uri="{BB962C8B-B14F-4D97-AF65-F5344CB8AC3E}">
        <p14:creationId xmlns:p14="http://schemas.microsoft.com/office/powerpoint/2010/main" val="722888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外部指标</a:t>
            </a:r>
            <a:endParaRPr lang="zh-CN" altLang="en-US" sz="3200" dirty="0">
              <a:solidFill>
                <a:srgbClr val="FF0000"/>
              </a:solidFill>
              <a:latin typeface="黑体" pitchFamily="2" charset="-122"/>
              <a:ea typeface="黑体" pitchFamily="2" charset="-122"/>
            </a:endParaRP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9</a:t>
            </a:fld>
            <a:endParaRPr lang="zh-CN" altLang="en-US"/>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外部指标</a:t>
            </a:r>
            <a:endParaRPr lang="zh-CN" altLang="en-US" sz="2400" dirty="0">
              <a:latin typeface="华文楷体" panose="02010600040101010101" pitchFamily="2" charset="-122"/>
              <a:ea typeface="华文楷体" panose="02010600040101010101" pitchFamily="2" charset="-122"/>
            </a:endParaRPr>
          </a:p>
        </p:txBody>
      </p:sp>
      <p:sp>
        <p:nvSpPr>
          <p:cNvPr id="15" name="矩形 14">
            <a:extLst>
              <a:ext uri="{FF2B5EF4-FFF2-40B4-BE49-F238E27FC236}">
                <a16:creationId xmlns:a16="http://schemas.microsoft.com/office/drawing/2014/main" id="{7C43EF32-2550-4807-8D23-03A87251BCF3}"/>
              </a:ext>
            </a:extLst>
          </p:cNvPr>
          <p:cNvSpPr/>
          <p:nvPr/>
        </p:nvSpPr>
        <p:spPr>
          <a:xfrm>
            <a:off x="725663" y="4018196"/>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ARI</a:t>
            </a:r>
            <a:r>
              <a:rPr lang="zh-CN" altLang="en-US" sz="2400" dirty="0">
                <a:latin typeface="华文楷体" panose="02010600040101010101" pitchFamily="2" charset="-122"/>
                <a:ea typeface="华文楷体" panose="02010600040101010101" pitchFamily="2" charset="-122"/>
              </a:rPr>
              <a:t>指数（</a:t>
            </a:r>
            <a:r>
              <a:rPr lang="en-US" altLang="zh-CN" sz="2400" dirty="0">
                <a:latin typeface="华文楷体" panose="02010600040101010101" pitchFamily="2" charset="-122"/>
                <a:ea typeface="华文楷体" panose="02010600040101010101" pitchFamily="2" charset="-122"/>
              </a:rPr>
              <a:t>Adjusted Rand Index</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ARI</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17" name="Rectangle 2">
            <a:extLst>
              <a:ext uri="{FF2B5EF4-FFF2-40B4-BE49-F238E27FC236}">
                <a16:creationId xmlns:a16="http://schemas.microsoft.com/office/drawing/2014/main" id="{E05310AE-F4D4-4EAB-8AA0-D91B5F599150}"/>
              </a:ext>
            </a:extLst>
          </p:cNvPr>
          <p:cNvSpPr>
            <a:spLocks noChangeArrowheads="1"/>
          </p:cNvSpPr>
          <p:nvPr/>
        </p:nvSpPr>
        <p:spPr bwMode="auto">
          <a:xfrm>
            <a:off x="725663" y="5669419"/>
            <a:ext cx="826593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0" dirty="0"/>
              <a:t>使用</a:t>
            </a:r>
            <a:r>
              <a:rPr lang="en-US" altLang="zh-CN" sz="2000" b="0" dirty="0"/>
              <a:t>RI</a:t>
            </a:r>
            <a:r>
              <a:rPr lang="zh-CN" altLang="en-US" sz="2000" b="0" dirty="0"/>
              <a:t>时有个问题，就是对于随机聚类，</a:t>
            </a:r>
            <a:r>
              <a:rPr lang="en-US" altLang="zh-CN" sz="2000" b="0" dirty="0"/>
              <a:t>RI</a:t>
            </a:r>
            <a:r>
              <a:rPr lang="zh-CN" altLang="en-US" sz="2000" b="0" dirty="0"/>
              <a:t>不保证接近</a:t>
            </a:r>
            <a:r>
              <a:rPr lang="en-US" altLang="zh-CN" sz="2000" b="0" dirty="0"/>
              <a:t>0</a:t>
            </a:r>
            <a:r>
              <a:rPr lang="zh-CN" altLang="en-US" sz="2000" b="0" dirty="0"/>
              <a:t>（可能还很大）。而</a:t>
            </a:r>
            <a:r>
              <a:rPr lang="en-US" altLang="zh-CN" sz="2000" b="0" dirty="0"/>
              <a:t>ARI</a:t>
            </a:r>
            <a:r>
              <a:rPr lang="zh-CN" altLang="en-US" sz="2000" b="0" dirty="0"/>
              <a:t>指数就可以利用随机聚类情况下的</a:t>
            </a:r>
            <a:r>
              <a:rPr lang="en-US" altLang="zh-CN" sz="2000" b="0" dirty="0"/>
              <a:t>RI</a:t>
            </a:r>
            <a:r>
              <a:rPr lang="zh-CN" altLang="en-US" sz="2000" b="0" dirty="0"/>
              <a:t>即</a:t>
            </a:r>
            <a:r>
              <a:rPr lang="en-US" altLang="zh-CN" sz="2000" b="0" dirty="0"/>
              <a:t>E[RI]</a:t>
            </a:r>
            <a:r>
              <a:rPr lang="zh-CN" altLang="en-US" sz="2000" b="0" dirty="0"/>
              <a:t>来解决这个问题</a:t>
            </a:r>
            <a:r>
              <a:rPr lang="en-US" altLang="zh-CN" sz="2000" b="0" dirty="0"/>
              <a:t>.</a:t>
            </a:r>
            <a:endParaRPr lang="zh-CN" altLang="zh-CN" sz="2000" b="0" dirty="0"/>
          </a:p>
        </p:txBody>
      </p:sp>
      <p:grpSp>
        <p:nvGrpSpPr>
          <p:cNvPr id="5" name="组合 4">
            <a:extLst>
              <a:ext uri="{FF2B5EF4-FFF2-40B4-BE49-F238E27FC236}">
                <a16:creationId xmlns:a16="http://schemas.microsoft.com/office/drawing/2014/main" id="{30AFD0EC-FF89-4AAB-932B-BC072C48D4A8}"/>
              </a:ext>
            </a:extLst>
          </p:cNvPr>
          <p:cNvGrpSpPr/>
          <p:nvPr/>
        </p:nvGrpSpPr>
        <p:grpSpPr>
          <a:xfrm>
            <a:off x="725663" y="1690186"/>
            <a:ext cx="8165907" cy="2284628"/>
            <a:chOff x="725663" y="1690186"/>
            <a:chExt cx="8165907" cy="2284628"/>
          </a:xfrm>
        </p:grpSpPr>
        <p:sp>
          <p:nvSpPr>
            <p:cNvPr id="12" name="矩形 11">
              <a:extLst>
                <a:ext uri="{FF2B5EF4-FFF2-40B4-BE49-F238E27FC236}">
                  <a16:creationId xmlns:a16="http://schemas.microsoft.com/office/drawing/2014/main" id="{EF409B8B-957B-45BF-B262-E96019FDF406}"/>
                </a:ext>
              </a:extLst>
            </p:cNvPr>
            <p:cNvSpPr/>
            <p:nvPr/>
          </p:nvSpPr>
          <p:spPr>
            <a:xfrm>
              <a:off x="728646" y="1690186"/>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Rand</a:t>
              </a:r>
              <a:r>
                <a:rPr lang="zh-CN" altLang="en-US" sz="2400" dirty="0">
                  <a:latin typeface="华文楷体" panose="02010600040101010101" pitchFamily="2" charset="-122"/>
                  <a:ea typeface="华文楷体" panose="02010600040101010101" pitchFamily="2" charset="-122"/>
                </a:rPr>
                <a:t>指数（</a:t>
              </a:r>
              <a:r>
                <a:rPr lang="en-US" altLang="zh-CN" sz="2400" dirty="0">
                  <a:latin typeface="华文楷体" panose="02010600040101010101" pitchFamily="2" charset="-122"/>
                  <a:ea typeface="华文楷体" panose="02010600040101010101" pitchFamily="2" charset="-122"/>
                </a:rPr>
                <a:t>Rand Index</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RI</a:t>
              </a:r>
              <a:r>
                <a:rPr lang="zh-CN" altLang="en-US" sz="2400" dirty="0">
                  <a:latin typeface="华文楷体" panose="02010600040101010101" pitchFamily="2" charset="-122"/>
                  <a:ea typeface="华文楷体" panose="02010600040101010101" pitchFamily="2" charset="-122"/>
                </a:rPr>
                <a:t>）：</a:t>
              </a:r>
            </a:p>
          </p:txBody>
        </p:sp>
        <p:sp>
          <p:nvSpPr>
            <p:cNvPr id="14" name="Rectangle 1">
              <a:extLst>
                <a:ext uri="{FF2B5EF4-FFF2-40B4-BE49-F238E27FC236}">
                  <a16:creationId xmlns:a16="http://schemas.microsoft.com/office/drawing/2014/main" id="{393BB6B7-C2FC-4B00-9EC1-5E885F01FCD0}"/>
                </a:ext>
              </a:extLst>
            </p:cNvPr>
            <p:cNvSpPr>
              <a:spLocks noChangeArrowheads="1"/>
            </p:cNvSpPr>
            <p:nvPr/>
          </p:nvSpPr>
          <p:spPr bwMode="auto">
            <a:xfrm>
              <a:off x="725663" y="3266928"/>
              <a:ext cx="783372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000" b="0" dirty="0"/>
                <a:t>它刻画的是同时隶属</a:t>
              </a:r>
              <a:r>
                <a:rPr lang="en-US" altLang="zh-CN" sz="2000" b="0" dirty="0"/>
                <a:t>C,C∗</a:t>
              </a:r>
              <a:r>
                <a:rPr lang="zh-CN" altLang="en-US" sz="2000" b="0" dirty="0"/>
                <a:t>的样本对与同时不隶属于</a:t>
              </a:r>
              <a:r>
                <a:rPr lang="en-US" altLang="zh-CN" sz="2000" b="0" dirty="0"/>
                <a:t>C,C∗</a:t>
              </a:r>
              <a:r>
                <a:rPr lang="zh-CN" altLang="en-US" sz="2000" b="0" dirty="0"/>
                <a:t>的样本对之和占所有样本对的比例。</a:t>
              </a:r>
              <a:endParaRPr lang="zh-CN" altLang="zh-CN" sz="2000" b="0" dirty="0"/>
            </a:p>
          </p:txBody>
        </p:sp>
        <p:pic>
          <p:nvPicPr>
            <p:cNvPr id="3" name="图片 2">
              <a:extLst>
                <a:ext uri="{FF2B5EF4-FFF2-40B4-BE49-F238E27FC236}">
                  <a16:creationId xmlns:a16="http://schemas.microsoft.com/office/drawing/2014/main" id="{19FF7373-8674-4B93-AFBE-DCCB85BA1558}"/>
                </a:ext>
              </a:extLst>
            </p:cNvPr>
            <p:cNvPicPr>
              <a:picLocks noChangeAspect="1"/>
            </p:cNvPicPr>
            <p:nvPr/>
          </p:nvPicPr>
          <p:blipFill>
            <a:blip r:embed="rId3"/>
            <a:stretch>
              <a:fillRect/>
            </a:stretch>
          </p:blipFill>
          <p:spPr>
            <a:xfrm>
              <a:off x="3811470" y="2401462"/>
              <a:ext cx="1991309" cy="843775"/>
            </a:xfrm>
            <a:prstGeom prst="rect">
              <a:avLst/>
            </a:prstGeom>
          </p:spPr>
        </p:pic>
      </p:grpSp>
      <p:pic>
        <p:nvPicPr>
          <p:cNvPr id="4" name="图片 3">
            <a:extLst>
              <a:ext uri="{FF2B5EF4-FFF2-40B4-BE49-F238E27FC236}">
                <a16:creationId xmlns:a16="http://schemas.microsoft.com/office/drawing/2014/main" id="{30D55B82-17A3-44B4-B5FF-1CDF50459448}"/>
              </a:ext>
            </a:extLst>
          </p:cNvPr>
          <p:cNvPicPr>
            <a:picLocks noChangeAspect="1"/>
          </p:cNvPicPr>
          <p:nvPr/>
        </p:nvPicPr>
        <p:blipFill>
          <a:blip r:embed="rId4"/>
          <a:stretch>
            <a:fillRect/>
          </a:stretch>
        </p:blipFill>
        <p:spPr>
          <a:xfrm>
            <a:off x="3220727" y="4683887"/>
            <a:ext cx="3057662" cy="825697"/>
          </a:xfrm>
          <a:prstGeom prst="rect">
            <a:avLst/>
          </a:prstGeom>
        </p:spPr>
      </p:pic>
    </p:spTree>
    <p:extLst>
      <p:ext uri="{BB962C8B-B14F-4D97-AF65-F5344CB8AC3E}">
        <p14:creationId xmlns:p14="http://schemas.microsoft.com/office/powerpoint/2010/main" val="1577450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0930" name="Rectangle 2"/>
          <p:cNvSpPr>
            <a:spLocks noGrp="1" noChangeArrowheads="1"/>
          </p:cNvSpPr>
          <p:nvPr>
            <p:ph type="body" idx="1"/>
          </p:nvPr>
        </p:nvSpPr>
        <p:spPr>
          <a:xfrm>
            <a:off x="457200" y="990600"/>
            <a:ext cx="8458200" cy="5334000"/>
          </a:xfrm>
        </p:spPr>
        <p:txBody>
          <a:bodyPr>
            <a:normAutofit/>
          </a:bodyPr>
          <a:lstStyle/>
          <a:p>
            <a:pPr marL="533400" indent="-533400"/>
            <a:r>
              <a:rPr lang="zh-CN" altLang="en-US" sz="2400" dirty="0"/>
              <a:t>两个矩阵</a:t>
            </a:r>
            <a:r>
              <a:rPr lang="en-US" altLang="en-US" sz="2400" dirty="0"/>
              <a:t> </a:t>
            </a:r>
          </a:p>
          <a:p>
            <a:pPr marL="990600" lvl="1" indent="-533400"/>
            <a:r>
              <a:rPr lang="zh-CN" altLang="en-US" sz="1800" dirty="0"/>
              <a:t>邻接矩阵</a:t>
            </a:r>
            <a:endParaRPr lang="en-US" altLang="en-US" sz="1800" dirty="0"/>
          </a:p>
          <a:p>
            <a:pPr marL="990600" lvl="1" indent="-533400"/>
            <a:r>
              <a:rPr lang="zh-CN" altLang="en-US" sz="1800" dirty="0"/>
              <a:t>理想相似性矩阵</a:t>
            </a:r>
            <a:r>
              <a:rPr lang="en-US" altLang="zh-CN" sz="1800" dirty="0"/>
              <a:t>X</a:t>
            </a:r>
            <a:endParaRPr lang="en-US" altLang="en-US" sz="1800" dirty="0"/>
          </a:p>
          <a:p>
            <a:pPr marL="1371600" lvl="2" indent="-457200"/>
            <a:r>
              <a:rPr lang="zh-CN" altLang="en-US" sz="1600" dirty="0"/>
              <a:t>每一行、每一列都代表一个数据样本</a:t>
            </a:r>
            <a:endParaRPr lang="en-US" altLang="en-US" sz="1600" dirty="0"/>
          </a:p>
          <a:p>
            <a:pPr marL="1371600" lvl="2" indent="-457200"/>
            <a:r>
              <a:rPr lang="en-US" altLang="zh-CN" sz="1600" dirty="0" err="1"/>
              <a:t>X_ij</a:t>
            </a:r>
            <a:r>
              <a:rPr lang="en-US" altLang="zh-CN" sz="1600" dirty="0"/>
              <a:t>=1</a:t>
            </a:r>
            <a:r>
              <a:rPr lang="zh-CN" altLang="en-US" sz="1600" dirty="0"/>
              <a:t>，代表第</a:t>
            </a:r>
            <a:r>
              <a:rPr lang="en-US" altLang="zh-CN" sz="1600" dirty="0" err="1"/>
              <a:t>i</a:t>
            </a:r>
            <a:r>
              <a:rPr lang="zh-CN" altLang="en-US" sz="1600" dirty="0"/>
              <a:t>个样本第</a:t>
            </a:r>
            <a:r>
              <a:rPr lang="en-US" altLang="zh-CN" sz="1600" dirty="0"/>
              <a:t>j</a:t>
            </a:r>
            <a:r>
              <a:rPr lang="zh-CN" altLang="en-US" sz="1600" dirty="0"/>
              <a:t>个样本被聚为一类</a:t>
            </a:r>
            <a:endParaRPr lang="en-US" altLang="en-US" sz="1600" dirty="0"/>
          </a:p>
          <a:p>
            <a:pPr marL="1371600" lvl="2" indent="-457200"/>
            <a:r>
              <a:rPr lang="en-US" altLang="zh-CN" sz="1600" dirty="0" err="1"/>
              <a:t>X_ij</a:t>
            </a:r>
            <a:r>
              <a:rPr lang="en-US" altLang="zh-CN" sz="1600" dirty="0"/>
              <a:t>=0</a:t>
            </a:r>
            <a:r>
              <a:rPr lang="zh-CN" altLang="en-US" sz="1600" dirty="0"/>
              <a:t>，代表第</a:t>
            </a:r>
            <a:r>
              <a:rPr lang="en-US" altLang="zh-CN" sz="1600" dirty="0" err="1"/>
              <a:t>i</a:t>
            </a:r>
            <a:r>
              <a:rPr lang="zh-CN" altLang="en-US" sz="1600" dirty="0"/>
              <a:t>个样本第</a:t>
            </a:r>
            <a:r>
              <a:rPr lang="en-US" altLang="zh-CN" sz="1600" dirty="0"/>
              <a:t>j</a:t>
            </a:r>
            <a:r>
              <a:rPr lang="zh-CN" altLang="en-US" sz="1600" dirty="0"/>
              <a:t>个样本被聚为不同的类</a:t>
            </a:r>
            <a:endParaRPr lang="en-US" altLang="en-US" sz="1600" dirty="0"/>
          </a:p>
          <a:p>
            <a:pPr marL="533400" indent="-533400"/>
            <a:r>
              <a:rPr lang="zh-CN" altLang="en-US" sz="2400" dirty="0"/>
              <a:t>计算两个矩阵的相关性</a:t>
            </a:r>
            <a:endParaRPr lang="en-US" altLang="en-US" sz="2400" dirty="0"/>
          </a:p>
          <a:p>
            <a:pPr marL="990600" lvl="1" indent="-533400"/>
            <a:r>
              <a:rPr lang="zh-CN" altLang="en-US" sz="1800" dirty="0"/>
              <a:t>两个对称矩阵，</a:t>
            </a:r>
            <a:r>
              <a:rPr lang="en-US" altLang="en-US" sz="1800" dirty="0"/>
              <a:t>n(n-1) / 2 </a:t>
            </a:r>
            <a:r>
              <a:rPr lang="zh-CN" altLang="en-US" sz="1800" dirty="0"/>
              <a:t>次计算</a:t>
            </a:r>
            <a:r>
              <a:rPr lang="en-US" altLang="en-US" sz="1800" dirty="0"/>
              <a:t>.</a:t>
            </a:r>
          </a:p>
          <a:p>
            <a:pPr marL="533400" indent="-533400"/>
            <a:r>
              <a:rPr lang="zh-CN" altLang="en-US" sz="2400" dirty="0"/>
              <a:t>高相关性表示属于一类的样本之间相似性大</a:t>
            </a:r>
            <a:r>
              <a:rPr lang="en-US" altLang="en-US" sz="2400" dirty="0"/>
              <a:t>. </a:t>
            </a:r>
          </a:p>
          <a:p>
            <a:pPr marL="1041400" lvl="1" indent="-533400"/>
            <a:r>
              <a:rPr lang="zh-CN" altLang="en-US" sz="2000" dirty="0"/>
              <a:t>相关性可正可负，取决于相似性矩阵利用了相似性测度或者不相似性测度</a:t>
            </a:r>
            <a:endParaRPr lang="en-US" altLang="en-US" sz="2000" dirty="0"/>
          </a:p>
          <a:p>
            <a:pPr marL="533400" indent="-533400"/>
            <a:r>
              <a:rPr lang="zh-CN" altLang="en-US" sz="2400" dirty="0"/>
              <a:t>是一种基于距离的评价方法，对密度聚类效果不好</a:t>
            </a:r>
            <a:endParaRPr lang="en-US" altLang="en-US" sz="2000" dirty="0"/>
          </a:p>
        </p:txBody>
      </p:sp>
      <p:sp>
        <p:nvSpPr>
          <p:cNvPr id="93187" name="Rectangle 3"/>
          <p:cNvSpPr>
            <a:spLocks noGrp="1" noChangeArrowheads="1"/>
          </p:cNvSpPr>
          <p:nvPr>
            <p:ph type="title"/>
          </p:nvPr>
        </p:nvSpPr>
        <p:spPr/>
        <p:txBody>
          <a:bodyPr/>
          <a:lstStyle/>
          <a:p>
            <a:r>
              <a:rPr lang="zh-CN" altLang="en-US" sz="2800" dirty="0"/>
              <a:t>利用相关性计算聚类有效性</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609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66093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66093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66093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66093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66093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660930">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660930">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60930">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1660930">
                                            <p:txEl>
                                              <p:pRg st="9" end="9"/>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66093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30"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sz="2800" dirty="0"/>
              <a:t>利用相关性计算聚类有效性</a:t>
            </a:r>
            <a:endParaRPr lang="en-US" altLang="en-US" sz="2800" dirty="0"/>
          </a:p>
        </p:txBody>
      </p:sp>
      <p:sp>
        <p:nvSpPr>
          <p:cNvPr id="94211" name="Rectangle 3"/>
          <p:cNvSpPr>
            <a:spLocks noGrp="1" noChangeArrowheads="1"/>
          </p:cNvSpPr>
          <p:nvPr>
            <p:ph type="body" idx="1"/>
          </p:nvPr>
        </p:nvSpPr>
        <p:spPr/>
        <p:txBody>
          <a:bodyPr/>
          <a:lstStyle/>
          <a:p>
            <a:r>
              <a:rPr lang="en-US" altLang="zh-CN" dirty="0"/>
              <a:t>K-means</a:t>
            </a:r>
            <a:r>
              <a:rPr lang="zh-CN" altLang="en-US" dirty="0"/>
              <a:t>算法在两个数据集上的聚类结果</a:t>
            </a:r>
            <a:r>
              <a:rPr lang="en-US" altLang="en-US" dirty="0"/>
              <a:t> </a:t>
            </a:r>
          </a:p>
          <a:p>
            <a:endParaRPr lang="en-US" altLang="en-US" dirty="0"/>
          </a:p>
        </p:txBody>
      </p:sp>
      <p:pic>
        <p:nvPicPr>
          <p:cNvPr id="942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788" y="2667000"/>
            <a:ext cx="36560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421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788" y="2667000"/>
            <a:ext cx="36560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4214" name="Text Box 6"/>
          <p:cNvSpPr txBox="1">
            <a:spLocks noChangeArrowheads="1"/>
          </p:cNvSpPr>
          <p:nvPr/>
        </p:nvSpPr>
        <p:spPr bwMode="auto">
          <a:xfrm>
            <a:off x="1373188" y="5867400"/>
            <a:ext cx="2362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dirty="0" err="1"/>
              <a:t>Corr</a:t>
            </a:r>
            <a:r>
              <a:rPr lang="en-US" altLang="en-US" dirty="0"/>
              <a:t> = -0.9235</a:t>
            </a:r>
          </a:p>
        </p:txBody>
      </p:sp>
      <p:sp>
        <p:nvSpPr>
          <p:cNvPr id="94215" name="Text Box 7"/>
          <p:cNvSpPr txBox="1">
            <a:spLocks noChangeArrowheads="1"/>
          </p:cNvSpPr>
          <p:nvPr/>
        </p:nvSpPr>
        <p:spPr bwMode="auto">
          <a:xfrm>
            <a:off x="5030788" y="5867400"/>
            <a:ext cx="2362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a:t>Corr = -0.5810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idx="1"/>
          </p:nvPr>
        </p:nvSpPr>
        <p:spPr>
          <a:xfrm>
            <a:off x="457200" y="990600"/>
            <a:ext cx="8458200" cy="5334000"/>
          </a:xfrm>
        </p:spPr>
        <p:txBody>
          <a:bodyPr/>
          <a:lstStyle/>
          <a:p>
            <a:pPr marL="342900" indent="-342900"/>
            <a:r>
              <a:rPr lang="zh-CN" altLang="en-US" sz="2600" dirty="0"/>
              <a:t>根据聚类标签对相似性矩阵进行排序，绘制热图</a:t>
            </a:r>
            <a:endParaRPr lang="en-US" altLang="zh-CN" sz="2600" dirty="0"/>
          </a:p>
          <a:p>
            <a:pPr marL="342900" indent="-342900"/>
            <a:r>
              <a:rPr lang="zh-CN" altLang="en-US" sz="2600" dirty="0"/>
              <a:t>能看到明显的聚类结构</a:t>
            </a:r>
            <a:r>
              <a:rPr lang="en-US" altLang="en-US" sz="2600" dirty="0"/>
              <a:t> </a:t>
            </a:r>
          </a:p>
          <a:p>
            <a:pPr marL="342900" indent="-342900"/>
            <a:endParaRPr lang="en-US" altLang="en-US" sz="2600" dirty="0"/>
          </a:p>
        </p:txBody>
      </p:sp>
      <p:sp>
        <p:nvSpPr>
          <p:cNvPr id="95235" name="Rectangle 3"/>
          <p:cNvSpPr>
            <a:spLocks noGrp="1" noChangeArrowheads="1"/>
          </p:cNvSpPr>
          <p:nvPr>
            <p:ph type="title"/>
          </p:nvPr>
        </p:nvSpPr>
        <p:spPr>
          <a:xfrm>
            <a:off x="152400" y="152400"/>
            <a:ext cx="8686800" cy="533400"/>
          </a:xfrm>
        </p:spPr>
        <p:txBody>
          <a:bodyPr/>
          <a:lstStyle/>
          <a:p>
            <a:r>
              <a:rPr lang="zh-CN" altLang="en-US" sz="2800" dirty="0"/>
              <a:t>利用相关性计算聚类有效性</a:t>
            </a:r>
            <a:endParaRPr lang="en-US" altLang="en-US" sz="2800" dirty="0"/>
          </a:p>
        </p:txBody>
      </p:sp>
      <p:pic>
        <p:nvPicPr>
          <p:cNvPr id="952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4413"/>
            <a:ext cx="4268788" cy="320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52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2208213"/>
            <a:ext cx="4268788" cy="320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zh-CN" altLang="en-US" sz="2800" dirty="0"/>
              <a:t>利用相关性计算聚类有效性</a:t>
            </a:r>
            <a:endParaRPr lang="en-US" altLang="en-US" sz="2800" dirty="0"/>
          </a:p>
        </p:txBody>
      </p:sp>
      <p:sp>
        <p:nvSpPr>
          <p:cNvPr id="96259" name="Rectangle 3"/>
          <p:cNvSpPr>
            <a:spLocks noGrp="1" noChangeArrowheads="1"/>
          </p:cNvSpPr>
          <p:nvPr>
            <p:ph type="body" idx="1"/>
          </p:nvPr>
        </p:nvSpPr>
        <p:spPr/>
        <p:txBody>
          <a:bodyPr/>
          <a:lstStyle/>
          <a:p>
            <a:r>
              <a:rPr lang="zh-CN" altLang="en-US" dirty="0"/>
              <a:t>在随机数据上并不明显</a:t>
            </a:r>
            <a:endParaRPr lang="en-US" altLang="en-US" dirty="0"/>
          </a:p>
        </p:txBody>
      </p:sp>
      <p:pic>
        <p:nvPicPr>
          <p:cNvPr id="962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087563"/>
            <a:ext cx="3656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6261" name="Text Box 5"/>
          <p:cNvSpPr txBox="1">
            <a:spLocks noChangeArrowheads="1"/>
          </p:cNvSpPr>
          <p:nvPr/>
        </p:nvSpPr>
        <p:spPr bwMode="auto">
          <a:xfrm>
            <a:off x="3429000" y="5287963"/>
            <a:ext cx="2895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2200"/>
              <a:t>DBSCAN</a:t>
            </a:r>
          </a:p>
        </p:txBody>
      </p:sp>
      <p:pic>
        <p:nvPicPr>
          <p:cNvPr id="962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2087563"/>
            <a:ext cx="3656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788" y="2011363"/>
            <a:ext cx="36560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7283" name="Rectangle 3"/>
          <p:cNvSpPr>
            <a:spLocks noGrp="1" noChangeArrowheads="1"/>
          </p:cNvSpPr>
          <p:nvPr>
            <p:ph type="title"/>
          </p:nvPr>
        </p:nvSpPr>
        <p:spPr/>
        <p:txBody>
          <a:bodyPr/>
          <a:lstStyle/>
          <a:p>
            <a:r>
              <a:rPr lang="zh-CN" altLang="en-US" sz="2800" dirty="0"/>
              <a:t>利用相关性计算聚类有效性</a:t>
            </a:r>
            <a:endParaRPr lang="en-US" altLang="en-US" sz="2800" dirty="0"/>
          </a:p>
        </p:txBody>
      </p:sp>
      <p:sp>
        <p:nvSpPr>
          <p:cNvPr id="97284" name="Rectangle 4"/>
          <p:cNvSpPr>
            <a:spLocks noGrp="1" noChangeArrowheads="1"/>
          </p:cNvSpPr>
          <p:nvPr>
            <p:ph type="body" idx="1"/>
          </p:nvPr>
        </p:nvSpPr>
        <p:spPr/>
        <p:txBody>
          <a:bodyPr/>
          <a:lstStyle/>
          <a:p>
            <a:r>
              <a:rPr lang="zh-CN" altLang="en-US" dirty="0"/>
              <a:t>在随机数据上并不明显</a:t>
            </a:r>
            <a:endParaRPr lang="en-US" altLang="en-US" dirty="0"/>
          </a:p>
          <a:p>
            <a:endParaRPr lang="en-US" altLang="en-US" dirty="0"/>
          </a:p>
        </p:txBody>
      </p:sp>
      <p:sp>
        <p:nvSpPr>
          <p:cNvPr id="97285" name="Text Box 5"/>
          <p:cNvSpPr txBox="1">
            <a:spLocks noChangeArrowheads="1"/>
          </p:cNvSpPr>
          <p:nvPr/>
        </p:nvSpPr>
        <p:spPr bwMode="auto">
          <a:xfrm>
            <a:off x="3505200" y="5211763"/>
            <a:ext cx="2895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2200"/>
              <a:t>K-means</a:t>
            </a:r>
          </a:p>
        </p:txBody>
      </p:sp>
      <p:pic>
        <p:nvPicPr>
          <p:cNvPr id="9728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3588" y="2006600"/>
            <a:ext cx="36560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zh-CN" altLang="en-US" sz="2800" dirty="0"/>
              <a:t>利用相关性计算聚类有效性</a:t>
            </a:r>
            <a:endParaRPr lang="en-US" altLang="en-US" sz="2800" dirty="0"/>
          </a:p>
        </p:txBody>
      </p:sp>
      <p:sp>
        <p:nvSpPr>
          <p:cNvPr id="98307" name="Rectangle 3"/>
          <p:cNvSpPr>
            <a:spLocks noGrp="1" noChangeArrowheads="1"/>
          </p:cNvSpPr>
          <p:nvPr>
            <p:ph type="body" idx="1"/>
          </p:nvPr>
        </p:nvSpPr>
        <p:spPr/>
        <p:txBody>
          <a:bodyPr/>
          <a:lstStyle/>
          <a:p>
            <a:r>
              <a:rPr lang="zh-CN" altLang="en-US" dirty="0"/>
              <a:t>在随机数据上并不明显</a:t>
            </a:r>
            <a:endParaRPr lang="en-US" altLang="en-US" dirty="0"/>
          </a:p>
          <a:p>
            <a:endParaRPr lang="en-US" altLang="en-US" dirty="0"/>
          </a:p>
        </p:txBody>
      </p:sp>
      <p:pic>
        <p:nvPicPr>
          <p:cNvPr id="983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3588" y="2082800"/>
            <a:ext cx="36560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83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2082800"/>
            <a:ext cx="36560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8310" name="Text Box 6"/>
          <p:cNvSpPr txBox="1">
            <a:spLocks noChangeArrowheads="1"/>
          </p:cNvSpPr>
          <p:nvPr/>
        </p:nvSpPr>
        <p:spPr bwMode="auto">
          <a:xfrm>
            <a:off x="3505200" y="5287963"/>
            <a:ext cx="2895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2200"/>
              <a:t>Complete Link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zh-CN" altLang="en-US" sz="2800" dirty="0"/>
              <a:t>在密度聚类情况下的相似性矩阵</a:t>
            </a:r>
            <a:endParaRPr lang="en-US" altLang="en-US" dirty="0"/>
          </a:p>
        </p:txBody>
      </p:sp>
      <p:pic>
        <p:nvPicPr>
          <p:cNvPr id="99331" name="Picture 3"/>
          <p:cNvPicPr>
            <a:picLocks noChangeAspect="1" noChangeArrowheads="1"/>
          </p:cNvPicPr>
          <p:nvPr/>
        </p:nvPicPr>
        <p:blipFill>
          <a:blip r:embed="rId2">
            <a:extLst>
              <a:ext uri="{28A0092B-C50C-407E-A947-70E740481C1C}">
                <a14:useLocalDpi xmlns:a14="http://schemas.microsoft.com/office/drawing/2010/main" val="0"/>
              </a:ext>
            </a:extLst>
          </a:blip>
          <a:srcRect l="14105" t="18518" r="12798" b="20370"/>
          <a:stretch>
            <a:fillRect/>
          </a:stretch>
        </p:blipFill>
        <p:spPr bwMode="auto">
          <a:xfrm>
            <a:off x="228600" y="1905000"/>
            <a:ext cx="4800600" cy="27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9332" name="Text Box 4"/>
          <p:cNvSpPr txBox="1">
            <a:spLocks noChangeArrowheads="1"/>
          </p:cNvSpPr>
          <p:nvPr/>
        </p:nvSpPr>
        <p:spPr bwMode="auto">
          <a:xfrm>
            <a:off x="3429000" y="4876800"/>
            <a:ext cx="2895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2200"/>
              <a:t>DBSCAN</a:t>
            </a:r>
          </a:p>
        </p:txBody>
      </p:sp>
      <p:pic>
        <p:nvPicPr>
          <p:cNvPr id="993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600200"/>
            <a:ext cx="4259263"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17</a:t>
            </a:fld>
            <a:endParaRPr lang="zh-CN" altLang="en-US"/>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sp>
        <p:nvSpPr>
          <p:cNvPr id="14" name="矩形 13">
            <a:extLst>
              <a:ext uri="{FF2B5EF4-FFF2-40B4-BE49-F238E27FC236}">
                <a16:creationId xmlns:a16="http://schemas.microsoft.com/office/drawing/2014/main" id="{072E7995-7511-4EE6-91A7-E73A6C043D5E}"/>
              </a:ext>
            </a:extLst>
          </p:cNvPr>
          <p:cNvSpPr/>
          <p:nvPr/>
        </p:nvSpPr>
        <p:spPr>
          <a:xfrm>
            <a:off x="426381" y="2263180"/>
            <a:ext cx="8162924" cy="1701556"/>
          </a:xfrm>
          <a:prstGeom prst="rect">
            <a:avLst/>
          </a:prstGeom>
        </p:spPr>
        <p:txBody>
          <a:bodyPr wrap="square">
            <a:spAutoFit/>
          </a:bodyPr>
          <a:lstStyle/>
          <a:p>
            <a:pPr marL="800100" lvl="1" indent="-342900">
              <a:lnSpc>
                <a:spcPct val="150000"/>
              </a:lnSpc>
              <a:buFont typeface="Wingdings" panose="05000000000000000000" pitchFamily="2" charset="2"/>
              <a:buChar char="p"/>
            </a:pPr>
            <a:r>
              <a:rPr lang="zh-CN" altLang="en-US" sz="2400" dirty="0">
                <a:latin typeface="华文楷体" panose="02010600040101010101" pitchFamily="2" charset="-122"/>
                <a:ea typeface="华文楷体" panose="02010600040101010101" pitchFamily="2" charset="-122"/>
              </a:rPr>
              <a:t>聚类的目的：</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类内样本的相似度尽可能大</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类内聚合度</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类间样本的相似度尽可能小</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类间分离度</a:t>
            </a:r>
          </a:p>
        </p:txBody>
      </p:sp>
    </p:spTree>
    <p:extLst>
      <p:ext uri="{BB962C8B-B14F-4D97-AF65-F5344CB8AC3E}">
        <p14:creationId xmlns:p14="http://schemas.microsoft.com/office/powerpoint/2010/main" val="1657211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147558"/>
            <a:chOff x="755577" y="1934046"/>
            <a:chExt cx="8162924" cy="1147558"/>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3"/>
            <a:stretch>
              <a:fillRect/>
            </a:stretch>
          </p:blipFill>
          <p:spPr>
            <a:xfrm>
              <a:off x="3437957" y="2126901"/>
              <a:ext cx="1996245"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4"/>
            <a:stretch>
              <a:fillRect/>
            </a:stretch>
          </p:blipFill>
          <p:spPr>
            <a:xfrm>
              <a:off x="3950859" y="2678578"/>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147558"/>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sp>
        <p:nvSpPr>
          <p:cNvPr id="15" name="矩形 14">
            <a:extLst>
              <a:ext uri="{FF2B5EF4-FFF2-40B4-BE49-F238E27FC236}">
                <a16:creationId xmlns:a16="http://schemas.microsoft.com/office/drawing/2014/main" id="{A1E54003-EF0F-45F3-8258-0E11DD541674}"/>
              </a:ext>
            </a:extLst>
          </p:cNvPr>
          <p:cNvSpPr/>
          <p:nvPr/>
        </p:nvSpPr>
        <p:spPr>
          <a:xfrm>
            <a:off x="694653" y="2913128"/>
            <a:ext cx="8162924" cy="461665"/>
          </a:xfrm>
          <a:prstGeom prst="rect">
            <a:avLst/>
          </a:prstGeom>
        </p:spPr>
        <p:txBody>
          <a:bodyPr wrap="square">
            <a:spAutoFit/>
          </a:bodyPr>
          <a:lstStyle/>
          <a:p>
            <a:pPr marL="800100" lvl="1" indent="-342900">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rPr>
              <a:t>类间分离度</a:t>
            </a:r>
            <a:endParaRPr lang="zh-CN" altLang="en-US" sz="2400" dirty="0">
              <a:latin typeface="华文楷体" panose="02010600040101010101" pitchFamily="2" charset="-122"/>
              <a:ea typeface="华文楷体" panose="02010600040101010101" pitchFamily="2" charset="-122"/>
            </a:endParaRPr>
          </a:p>
        </p:txBody>
      </p:sp>
      <p:pic>
        <p:nvPicPr>
          <p:cNvPr id="16" name="图片 15">
            <a:extLst>
              <a:ext uri="{FF2B5EF4-FFF2-40B4-BE49-F238E27FC236}">
                <a16:creationId xmlns:a16="http://schemas.microsoft.com/office/drawing/2014/main" id="{BBB5EE87-538D-4AC8-BFD5-4AC6AA4AEB75}"/>
              </a:ext>
            </a:extLst>
          </p:cNvPr>
          <p:cNvPicPr>
            <a:picLocks noChangeAspect="1"/>
          </p:cNvPicPr>
          <p:nvPr/>
        </p:nvPicPr>
        <p:blipFill>
          <a:blip r:embed="rId5"/>
          <a:stretch>
            <a:fillRect/>
          </a:stretch>
        </p:blipFill>
        <p:spPr>
          <a:xfrm>
            <a:off x="566759" y="3450177"/>
            <a:ext cx="6714338" cy="2574294"/>
          </a:xfrm>
          <a:prstGeom prst="rect">
            <a:avLst/>
          </a:prstGeom>
        </p:spPr>
      </p:pic>
      <p:sp>
        <p:nvSpPr>
          <p:cNvPr id="17" name="文本框 16">
            <a:extLst>
              <a:ext uri="{FF2B5EF4-FFF2-40B4-BE49-F238E27FC236}">
                <a16:creationId xmlns:a16="http://schemas.microsoft.com/office/drawing/2014/main" id="{D09E325D-1BF6-454B-97AC-75CC10FF7730}"/>
              </a:ext>
            </a:extLst>
          </p:cNvPr>
          <p:cNvSpPr txBox="1"/>
          <p:nvPr/>
        </p:nvSpPr>
        <p:spPr>
          <a:xfrm>
            <a:off x="7469245" y="3607259"/>
            <a:ext cx="1107996" cy="369332"/>
          </a:xfrm>
          <a:prstGeom prst="rect">
            <a:avLst/>
          </a:prstGeom>
          <a:noFill/>
        </p:spPr>
        <p:txBody>
          <a:bodyPr wrap="none" rtlCol="0">
            <a:spAutoFit/>
          </a:bodyPr>
          <a:lstStyle/>
          <a:p>
            <a:r>
              <a:rPr lang="zh-CN" altLang="en-US" dirty="0"/>
              <a:t>平均距离</a:t>
            </a:r>
          </a:p>
        </p:txBody>
      </p:sp>
      <p:sp>
        <p:nvSpPr>
          <p:cNvPr id="18" name="文本框 17">
            <a:extLst>
              <a:ext uri="{FF2B5EF4-FFF2-40B4-BE49-F238E27FC236}">
                <a16:creationId xmlns:a16="http://schemas.microsoft.com/office/drawing/2014/main" id="{9C58AFA8-162E-48C6-9531-8915CF3E89A8}"/>
              </a:ext>
            </a:extLst>
          </p:cNvPr>
          <p:cNvSpPr txBox="1"/>
          <p:nvPr/>
        </p:nvSpPr>
        <p:spPr>
          <a:xfrm>
            <a:off x="7469245" y="4308470"/>
            <a:ext cx="1107996" cy="369332"/>
          </a:xfrm>
          <a:prstGeom prst="rect">
            <a:avLst/>
          </a:prstGeom>
          <a:noFill/>
        </p:spPr>
        <p:txBody>
          <a:bodyPr wrap="none" rtlCol="0">
            <a:spAutoFit/>
          </a:bodyPr>
          <a:lstStyle/>
          <a:p>
            <a:r>
              <a:rPr lang="zh-CN" altLang="en-US" dirty="0"/>
              <a:t>最大距离</a:t>
            </a:r>
          </a:p>
        </p:txBody>
      </p:sp>
      <p:sp>
        <p:nvSpPr>
          <p:cNvPr id="19" name="文本框 18">
            <a:extLst>
              <a:ext uri="{FF2B5EF4-FFF2-40B4-BE49-F238E27FC236}">
                <a16:creationId xmlns:a16="http://schemas.microsoft.com/office/drawing/2014/main" id="{F1BC7A09-20EE-43E6-B34C-8350B06D16AC}"/>
              </a:ext>
            </a:extLst>
          </p:cNvPr>
          <p:cNvSpPr txBox="1"/>
          <p:nvPr/>
        </p:nvSpPr>
        <p:spPr>
          <a:xfrm>
            <a:off x="7469245" y="4983148"/>
            <a:ext cx="1107996" cy="369332"/>
          </a:xfrm>
          <a:prstGeom prst="rect">
            <a:avLst/>
          </a:prstGeom>
          <a:noFill/>
        </p:spPr>
        <p:txBody>
          <a:bodyPr wrap="none" rtlCol="0">
            <a:spAutoFit/>
          </a:bodyPr>
          <a:lstStyle/>
          <a:p>
            <a:r>
              <a:rPr lang="zh-CN" altLang="en-US" dirty="0"/>
              <a:t>最小距离</a:t>
            </a:r>
          </a:p>
        </p:txBody>
      </p:sp>
      <p:sp>
        <p:nvSpPr>
          <p:cNvPr id="20" name="文本框 19">
            <a:extLst>
              <a:ext uri="{FF2B5EF4-FFF2-40B4-BE49-F238E27FC236}">
                <a16:creationId xmlns:a16="http://schemas.microsoft.com/office/drawing/2014/main" id="{EA835EC0-7824-430B-BF85-B2DF7B80BD3C}"/>
              </a:ext>
            </a:extLst>
          </p:cNvPr>
          <p:cNvSpPr txBox="1"/>
          <p:nvPr/>
        </p:nvSpPr>
        <p:spPr>
          <a:xfrm>
            <a:off x="7469245" y="5681672"/>
            <a:ext cx="1107996" cy="369332"/>
          </a:xfrm>
          <a:prstGeom prst="rect">
            <a:avLst/>
          </a:prstGeom>
          <a:noFill/>
        </p:spPr>
        <p:txBody>
          <a:bodyPr wrap="none" rtlCol="0">
            <a:spAutoFit/>
          </a:bodyPr>
          <a:lstStyle/>
          <a:p>
            <a:r>
              <a:rPr lang="zh-CN" altLang="en-US" dirty="0"/>
              <a:t>中心距离</a:t>
            </a:r>
          </a:p>
        </p:txBody>
      </p:sp>
    </p:spTree>
    <p:extLst>
      <p:ext uri="{BB962C8B-B14F-4D97-AF65-F5344CB8AC3E}">
        <p14:creationId xmlns:p14="http://schemas.microsoft.com/office/powerpoint/2010/main" val="2077419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19</a:t>
            </a:fld>
            <a:endParaRPr lang="zh-CN" altLang="en-US" dirty="0"/>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147558"/>
            <a:chOff x="755577" y="1934046"/>
            <a:chExt cx="8162924" cy="1147558"/>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3"/>
            <a:stretch>
              <a:fillRect/>
            </a:stretch>
          </p:blipFill>
          <p:spPr>
            <a:xfrm>
              <a:off x="3437957" y="2126901"/>
              <a:ext cx="1996245"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4"/>
            <a:stretch>
              <a:fillRect/>
            </a:stretch>
          </p:blipFill>
          <p:spPr>
            <a:xfrm>
              <a:off x="3950859" y="2678578"/>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147558"/>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sp>
        <p:nvSpPr>
          <p:cNvPr id="15" name="矩形 14">
            <a:extLst>
              <a:ext uri="{FF2B5EF4-FFF2-40B4-BE49-F238E27FC236}">
                <a16:creationId xmlns:a16="http://schemas.microsoft.com/office/drawing/2014/main" id="{A1E54003-EF0F-45F3-8258-0E11DD541674}"/>
              </a:ext>
            </a:extLst>
          </p:cNvPr>
          <p:cNvSpPr/>
          <p:nvPr/>
        </p:nvSpPr>
        <p:spPr>
          <a:xfrm>
            <a:off x="694653" y="2913128"/>
            <a:ext cx="8162924" cy="461665"/>
          </a:xfrm>
          <a:prstGeom prst="rect">
            <a:avLst/>
          </a:prstGeom>
        </p:spPr>
        <p:txBody>
          <a:bodyPr wrap="square">
            <a:spAutoFit/>
          </a:bodyPr>
          <a:lstStyle/>
          <a:p>
            <a:pPr marL="800100" lvl="1" indent="-342900">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rPr>
              <a:t>类间分离度</a:t>
            </a:r>
            <a:endParaRPr lang="zh-CN" altLang="en-US" sz="2400" dirty="0">
              <a:latin typeface="华文楷体" panose="02010600040101010101" pitchFamily="2" charset="-122"/>
              <a:ea typeface="华文楷体" panose="02010600040101010101" pitchFamily="2" charset="-122"/>
            </a:endParaRPr>
          </a:p>
        </p:txBody>
      </p:sp>
      <p:grpSp>
        <p:nvGrpSpPr>
          <p:cNvPr id="21" name="组合 20">
            <a:extLst>
              <a:ext uri="{FF2B5EF4-FFF2-40B4-BE49-F238E27FC236}">
                <a16:creationId xmlns:a16="http://schemas.microsoft.com/office/drawing/2014/main" id="{CBBB9C1D-AEC2-4885-BBDE-8143AB2EB427}"/>
              </a:ext>
            </a:extLst>
          </p:cNvPr>
          <p:cNvGrpSpPr/>
          <p:nvPr/>
        </p:nvGrpSpPr>
        <p:grpSpPr>
          <a:xfrm>
            <a:off x="694653" y="3374793"/>
            <a:ext cx="8196917" cy="3076328"/>
            <a:chOff x="694653" y="1690186"/>
            <a:chExt cx="8196917" cy="3076328"/>
          </a:xfrm>
        </p:grpSpPr>
        <p:sp>
          <p:nvSpPr>
            <p:cNvPr id="22" name="矩形 21">
              <a:extLst>
                <a:ext uri="{FF2B5EF4-FFF2-40B4-BE49-F238E27FC236}">
                  <a16:creationId xmlns:a16="http://schemas.microsoft.com/office/drawing/2014/main" id="{7A38A852-4797-485A-9F6D-1453C1A0A0C3}"/>
                </a:ext>
              </a:extLst>
            </p:cNvPr>
            <p:cNvSpPr/>
            <p:nvPr/>
          </p:nvSpPr>
          <p:spPr>
            <a:xfrm>
              <a:off x="728646" y="1690186"/>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DB</a:t>
              </a:r>
              <a:r>
                <a:rPr lang="zh-CN" altLang="en-US" sz="2400" dirty="0">
                  <a:latin typeface="华文楷体" panose="02010600040101010101" pitchFamily="2" charset="-122"/>
                  <a:ea typeface="华文楷体" panose="02010600040101010101" pitchFamily="2" charset="-122"/>
                </a:rPr>
                <a:t>指数（</a:t>
              </a:r>
              <a:r>
                <a:rPr lang="en-US" altLang="zh-CN" sz="2400" dirty="0">
                  <a:latin typeface="华文楷体" panose="02010600040101010101" pitchFamily="2" charset="-122"/>
                  <a:ea typeface="华文楷体" panose="02010600040101010101" pitchFamily="2" charset="-122"/>
                </a:rPr>
                <a:t>Davies-Bouldin Index </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DBI</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23" name="Rectangle 1">
              <a:extLst>
                <a:ext uri="{FF2B5EF4-FFF2-40B4-BE49-F238E27FC236}">
                  <a16:creationId xmlns:a16="http://schemas.microsoft.com/office/drawing/2014/main" id="{0DE370C3-67B0-467A-99F5-E67FD78589AA}"/>
                </a:ext>
              </a:extLst>
            </p:cNvPr>
            <p:cNvSpPr>
              <a:spLocks noChangeArrowheads="1"/>
            </p:cNvSpPr>
            <p:nvPr/>
          </p:nvSpPr>
          <p:spPr bwMode="auto">
            <a:xfrm>
              <a:off x="694653" y="3135298"/>
              <a:ext cx="783372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000" dirty="0">
                  <a:ea typeface="-apple-system"/>
                </a:rPr>
                <a:t>它刻画的是：给定两个簇，每个簇样本之间平均值之和与两个簇的中心点之间的距离之比的最大值的平均值。显然</a:t>
              </a:r>
              <a:r>
                <a:rPr lang="en-US" altLang="zh-CN" sz="2000" dirty="0">
                  <a:ea typeface="-apple-system"/>
                </a:rPr>
                <a:t>DBIDBI</a:t>
              </a:r>
              <a:r>
                <a:rPr lang="zh-CN" altLang="en-US" sz="2000" dirty="0">
                  <a:ea typeface="-apple-system"/>
                </a:rPr>
                <a:t>越小越好。如果每个簇样本之间的平均值越小（即簇内样本距离都很近），则</a:t>
              </a:r>
              <a:r>
                <a:rPr lang="en-US" altLang="zh-CN" sz="2000" dirty="0">
                  <a:ea typeface="-apple-system"/>
                </a:rPr>
                <a:t>DBI</a:t>
              </a:r>
              <a:r>
                <a:rPr lang="zh-CN" altLang="en-US" sz="2000" dirty="0">
                  <a:ea typeface="-apple-system"/>
                </a:rPr>
                <a:t>越小；如果簇间中心点的距离越大（即簇样本距离互相都很远），则</a:t>
              </a:r>
              <a:r>
                <a:rPr lang="en-US" altLang="zh-CN" sz="2000" dirty="0">
                  <a:ea typeface="-apple-system"/>
                </a:rPr>
                <a:t>DBI</a:t>
              </a:r>
              <a:r>
                <a:rPr lang="zh-CN" altLang="en-US" sz="2000" dirty="0">
                  <a:ea typeface="-apple-system"/>
                </a:rPr>
                <a:t>越小。</a:t>
              </a:r>
            </a:p>
          </p:txBody>
        </p:sp>
      </p:grpSp>
      <p:pic>
        <p:nvPicPr>
          <p:cNvPr id="3" name="图片 2">
            <a:extLst>
              <a:ext uri="{FF2B5EF4-FFF2-40B4-BE49-F238E27FC236}">
                <a16:creationId xmlns:a16="http://schemas.microsoft.com/office/drawing/2014/main" id="{10DC7620-3B2C-44F2-A810-C71BCBC38303}"/>
              </a:ext>
            </a:extLst>
          </p:cNvPr>
          <p:cNvPicPr>
            <a:picLocks noChangeAspect="1"/>
          </p:cNvPicPr>
          <p:nvPr/>
        </p:nvPicPr>
        <p:blipFill>
          <a:blip r:embed="rId5"/>
          <a:stretch>
            <a:fillRect/>
          </a:stretch>
        </p:blipFill>
        <p:spPr>
          <a:xfrm>
            <a:off x="2524105" y="3984421"/>
            <a:ext cx="4236844" cy="921053"/>
          </a:xfrm>
          <a:prstGeom prst="rect">
            <a:avLst/>
          </a:prstGeom>
        </p:spPr>
      </p:pic>
    </p:spTree>
    <p:extLst>
      <p:ext uri="{BB962C8B-B14F-4D97-AF65-F5344CB8AC3E}">
        <p14:creationId xmlns:p14="http://schemas.microsoft.com/office/powerpoint/2010/main" val="1367950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20</a:t>
            </a:fld>
            <a:endParaRPr lang="zh-CN" altLang="en-US" dirty="0"/>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147558"/>
            <a:chOff x="755577" y="1934046"/>
            <a:chExt cx="8162924" cy="1147558"/>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3"/>
            <a:stretch>
              <a:fillRect/>
            </a:stretch>
          </p:blipFill>
          <p:spPr>
            <a:xfrm>
              <a:off x="3437957" y="2126901"/>
              <a:ext cx="1996245"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4"/>
            <a:stretch>
              <a:fillRect/>
            </a:stretch>
          </p:blipFill>
          <p:spPr>
            <a:xfrm>
              <a:off x="3950859" y="2678578"/>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147558"/>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sp>
        <p:nvSpPr>
          <p:cNvPr id="15" name="矩形 14">
            <a:extLst>
              <a:ext uri="{FF2B5EF4-FFF2-40B4-BE49-F238E27FC236}">
                <a16:creationId xmlns:a16="http://schemas.microsoft.com/office/drawing/2014/main" id="{A1E54003-EF0F-45F3-8258-0E11DD541674}"/>
              </a:ext>
            </a:extLst>
          </p:cNvPr>
          <p:cNvSpPr/>
          <p:nvPr/>
        </p:nvSpPr>
        <p:spPr>
          <a:xfrm>
            <a:off x="694653" y="2913128"/>
            <a:ext cx="8162924" cy="461665"/>
          </a:xfrm>
          <a:prstGeom prst="rect">
            <a:avLst/>
          </a:prstGeom>
        </p:spPr>
        <p:txBody>
          <a:bodyPr wrap="square">
            <a:spAutoFit/>
          </a:bodyPr>
          <a:lstStyle/>
          <a:p>
            <a:pPr marL="800100" lvl="1" indent="-342900">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rPr>
              <a:t>类间分离度</a:t>
            </a:r>
            <a:endParaRPr lang="zh-CN" altLang="en-US" sz="2400" dirty="0">
              <a:latin typeface="华文楷体" panose="02010600040101010101" pitchFamily="2" charset="-122"/>
              <a:ea typeface="华文楷体" panose="02010600040101010101" pitchFamily="2" charset="-122"/>
            </a:endParaRPr>
          </a:p>
        </p:txBody>
      </p:sp>
      <p:grpSp>
        <p:nvGrpSpPr>
          <p:cNvPr id="21" name="组合 20">
            <a:extLst>
              <a:ext uri="{FF2B5EF4-FFF2-40B4-BE49-F238E27FC236}">
                <a16:creationId xmlns:a16="http://schemas.microsoft.com/office/drawing/2014/main" id="{CBBB9C1D-AEC2-4885-BBDE-8143AB2EB427}"/>
              </a:ext>
            </a:extLst>
          </p:cNvPr>
          <p:cNvGrpSpPr/>
          <p:nvPr/>
        </p:nvGrpSpPr>
        <p:grpSpPr>
          <a:xfrm>
            <a:off x="694653" y="3374793"/>
            <a:ext cx="8196917" cy="2999384"/>
            <a:chOff x="694653" y="1690186"/>
            <a:chExt cx="8196917" cy="2999384"/>
          </a:xfrm>
        </p:grpSpPr>
        <p:sp>
          <p:nvSpPr>
            <p:cNvPr id="22" name="矩形 21">
              <a:extLst>
                <a:ext uri="{FF2B5EF4-FFF2-40B4-BE49-F238E27FC236}">
                  <a16:creationId xmlns:a16="http://schemas.microsoft.com/office/drawing/2014/main" id="{7A38A852-4797-485A-9F6D-1453C1A0A0C3}"/>
                </a:ext>
              </a:extLst>
            </p:cNvPr>
            <p:cNvSpPr/>
            <p:nvPr/>
          </p:nvSpPr>
          <p:spPr>
            <a:xfrm>
              <a:off x="728646" y="1690186"/>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Dunn</a:t>
              </a:r>
              <a:r>
                <a:rPr lang="zh-CN" altLang="en-US" sz="2400" dirty="0">
                  <a:latin typeface="华文楷体" panose="02010600040101010101" pitchFamily="2" charset="-122"/>
                  <a:ea typeface="华文楷体" panose="02010600040101010101" pitchFamily="2" charset="-122"/>
                </a:rPr>
                <a:t>指数（</a:t>
              </a:r>
              <a:r>
                <a:rPr lang="en-US" altLang="zh-CN" sz="2400" dirty="0">
                  <a:latin typeface="华文楷体" panose="02010600040101010101" pitchFamily="2" charset="-122"/>
                  <a:ea typeface="华文楷体" panose="02010600040101010101" pitchFamily="2" charset="-122"/>
                </a:rPr>
                <a:t>Dunn Index</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DI</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23" name="Rectangle 1">
              <a:extLst>
                <a:ext uri="{FF2B5EF4-FFF2-40B4-BE49-F238E27FC236}">
                  <a16:creationId xmlns:a16="http://schemas.microsoft.com/office/drawing/2014/main" id="{0DE370C3-67B0-467A-99F5-E67FD78589AA}"/>
                </a:ext>
              </a:extLst>
            </p:cNvPr>
            <p:cNvSpPr>
              <a:spLocks noChangeArrowheads="1"/>
            </p:cNvSpPr>
            <p:nvPr/>
          </p:nvSpPr>
          <p:spPr bwMode="auto">
            <a:xfrm>
              <a:off x="694653" y="3212242"/>
              <a:ext cx="783372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1800" dirty="0">
                  <a:ea typeface="-apple-system"/>
                </a:rPr>
                <a:t>它刻画的是任意两个簇之间最近的距离的最小值，除以任意一个簇内距离最远的两个点的距离的最大值。显然</a:t>
              </a:r>
              <a:r>
                <a:rPr lang="en-US" altLang="zh-CN" sz="1800" dirty="0">
                  <a:ea typeface="-apple-system"/>
                </a:rPr>
                <a:t>DIDI</a:t>
              </a:r>
              <a:r>
                <a:rPr lang="zh-CN" altLang="en-US" sz="1800" dirty="0">
                  <a:ea typeface="-apple-system"/>
                </a:rPr>
                <a:t>越大越好。如果任意两个簇之间最近的距离的最小值越大（即簇间样本距离相互都很远），则</a:t>
              </a:r>
              <a:r>
                <a:rPr lang="en-US" altLang="zh-CN" sz="1800" dirty="0">
                  <a:ea typeface="-apple-system"/>
                </a:rPr>
                <a:t>DI</a:t>
              </a:r>
              <a:r>
                <a:rPr lang="zh-CN" altLang="en-US" sz="1800" dirty="0">
                  <a:ea typeface="-apple-system"/>
                </a:rPr>
                <a:t>越大；如果任意一个簇内距离最远的两个点的距离的最大值越小（即簇内样本距离都很近），则</a:t>
              </a:r>
              <a:r>
                <a:rPr lang="en-US" altLang="zh-CN" sz="1800" dirty="0">
                  <a:ea typeface="-apple-system"/>
                </a:rPr>
                <a:t>DI</a:t>
              </a:r>
              <a:r>
                <a:rPr lang="zh-CN" altLang="en-US" sz="1800" dirty="0">
                  <a:ea typeface="-apple-system"/>
                </a:rPr>
                <a:t>越大。</a:t>
              </a:r>
            </a:p>
          </p:txBody>
        </p:sp>
      </p:grpSp>
      <p:pic>
        <p:nvPicPr>
          <p:cNvPr id="5" name="图片 4">
            <a:extLst>
              <a:ext uri="{FF2B5EF4-FFF2-40B4-BE49-F238E27FC236}">
                <a16:creationId xmlns:a16="http://schemas.microsoft.com/office/drawing/2014/main" id="{01D4841E-E765-4404-89B3-3CE0C1105451}"/>
              </a:ext>
            </a:extLst>
          </p:cNvPr>
          <p:cNvPicPr>
            <a:picLocks noChangeAspect="1"/>
          </p:cNvPicPr>
          <p:nvPr/>
        </p:nvPicPr>
        <p:blipFill>
          <a:blip r:embed="rId5"/>
          <a:stretch>
            <a:fillRect/>
          </a:stretch>
        </p:blipFill>
        <p:spPr>
          <a:xfrm>
            <a:off x="3125881" y="4054359"/>
            <a:ext cx="3300468" cy="851507"/>
          </a:xfrm>
          <a:prstGeom prst="rect">
            <a:avLst/>
          </a:prstGeom>
        </p:spPr>
      </p:pic>
    </p:spTree>
    <p:extLst>
      <p:ext uri="{BB962C8B-B14F-4D97-AF65-F5344CB8AC3E}">
        <p14:creationId xmlns:p14="http://schemas.microsoft.com/office/powerpoint/2010/main" val="1886865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21</a:t>
            </a:fld>
            <a:endParaRPr lang="zh-CN" altLang="en-US" dirty="0"/>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147558"/>
            <a:chOff x="755577" y="1934046"/>
            <a:chExt cx="8162924" cy="1147558"/>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3"/>
            <a:stretch>
              <a:fillRect/>
            </a:stretch>
          </p:blipFill>
          <p:spPr>
            <a:xfrm>
              <a:off x="3437957" y="2126901"/>
              <a:ext cx="1996245"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4"/>
            <a:stretch>
              <a:fillRect/>
            </a:stretch>
          </p:blipFill>
          <p:spPr>
            <a:xfrm>
              <a:off x="3950859" y="2678578"/>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147558"/>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sp>
        <p:nvSpPr>
          <p:cNvPr id="15" name="矩形 14">
            <a:extLst>
              <a:ext uri="{FF2B5EF4-FFF2-40B4-BE49-F238E27FC236}">
                <a16:creationId xmlns:a16="http://schemas.microsoft.com/office/drawing/2014/main" id="{A1E54003-EF0F-45F3-8258-0E11DD541674}"/>
              </a:ext>
            </a:extLst>
          </p:cNvPr>
          <p:cNvSpPr/>
          <p:nvPr/>
        </p:nvSpPr>
        <p:spPr>
          <a:xfrm>
            <a:off x="694653" y="2913128"/>
            <a:ext cx="8162924" cy="461665"/>
          </a:xfrm>
          <a:prstGeom prst="rect">
            <a:avLst/>
          </a:prstGeom>
        </p:spPr>
        <p:txBody>
          <a:bodyPr wrap="square">
            <a:spAutoFit/>
          </a:bodyPr>
          <a:lstStyle/>
          <a:p>
            <a:pPr marL="800100" lvl="1" indent="-342900">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rPr>
              <a:t>类内聚合度</a:t>
            </a:r>
            <a:endParaRPr lang="zh-CN" altLang="en-US" sz="2400" dirty="0">
              <a:latin typeface="华文楷体" panose="02010600040101010101" pitchFamily="2" charset="-122"/>
              <a:ea typeface="华文楷体" panose="02010600040101010101" pitchFamily="2" charset="-122"/>
            </a:endParaRPr>
          </a:p>
        </p:txBody>
      </p:sp>
      <p:pic>
        <p:nvPicPr>
          <p:cNvPr id="3" name="图片 2">
            <a:extLst>
              <a:ext uri="{FF2B5EF4-FFF2-40B4-BE49-F238E27FC236}">
                <a16:creationId xmlns:a16="http://schemas.microsoft.com/office/drawing/2014/main" id="{C06D26C9-8BC1-484E-B20E-601179CD21C1}"/>
              </a:ext>
            </a:extLst>
          </p:cNvPr>
          <p:cNvPicPr>
            <a:picLocks noChangeAspect="1"/>
          </p:cNvPicPr>
          <p:nvPr/>
        </p:nvPicPr>
        <p:blipFill>
          <a:blip r:embed="rId5"/>
          <a:stretch>
            <a:fillRect/>
          </a:stretch>
        </p:blipFill>
        <p:spPr>
          <a:xfrm>
            <a:off x="2355792" y="3698673"/>
            <a:ext cx="4106711" cy="893285"/>
          </a:xfrm>
          <a:prstGeom prst="rect">
            <a:avLst/>
          </a:prstGeom>
        </p:spPr>
      </p:pic>
      <p:sp>
        <p:nvSpPr>
          <p:cNvPr id="16" name="Rectangle 1">
            <a:extLst>
              <a:ext uri="{FF2B5EF4-FFF2-40B4-BE49-F238E27FC236}">
                <a16:creationId xmlns:a16="http://schemas.microsoft.com/office/drawing/2014/main" id="{4B9B77CA-0287-431D-915D-66B2E72C3006}"/>
              </a:ext>
            </a:extLst>
          </p:cNvPr>
          <p:cNvSpPr>
            <a:spLocks noChangeArrowheads="1"/>
          </p:cNvSpPr>
          <p:nvPr/>
        </p:nvSpPr>
        <p:spPr bwMode="auto">
          <a:xfrm>
            <a:off x="2777342" y="4967759"/>
            <a:ext cx="4233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000" dirty="0">
                <a:ea typeface="-apple-system"/>
              </a:rPr>
              <a:t>模糊</a:t>
            </a:r>
            <a:r>
              <a:rPr lang="en-US" altLang="zh-CN" sz="2000" dirty="0">
                <a:ea typeface="-apple-system"/>
              </a:rPr>
              <a:t>c</a:t>
            </a:r>
            <a:r>
              <a:rPr lang="zh-CN" altLang="en-US" sz="2000" dirty="0">
                <a:ea typeface="-apple-system"/>
              </a:rPr>
              <a:t>均值的代价函数的归一化！</a:t>
            </a:r>
          </a:p>
        </p:txBody>
      </p:sp>
    </p:spTree>
    <p:extLst>
      <p:ext uri="{BB962C8B-B14F-4D97-AF65-F5344CB8AC3E}">
        <p14:creationId xmlns:p14="http://schemas.microsoft.com/office/powerpoint/2010/main" val="3037342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22</a:t>
            </a:fld>
            <a:endParaRPr lang="zh-CN" altLang="en-US" dirty="0"/>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147558"/>
            <a:chOff x="755577" y="1934046"/>
            <a:chExt cx="8162924" cy="1147558"/>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3"/>
            <a:stretch>
              <a:fillRect/>
            </a:stretch>
          </p:blipFill>
          <p:spPr>
            <a:xfrm>
              <a:off x="3437957" y="2126901"/>
              <a:ext cx="1996245"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4"/>
            <a:stretch>
              <a:fillRect/>
            </a:stretch>
          </p:blipFill>
          <p:spPr>
            <a:xfrm>
              <a:off x="3950859" y="2678578"/>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147558"/>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sp>
        <p:nvSpPr>
          <p:cNvPr id="15" name="矩形 14">
            <a:extLst>
              <a:ext uri="{FF2B5EF4-FFF2-40B4-BE49-F238E27FC236}">
                <a16:creationId xmlns:a16="http://schemas.microsoft.com/office/drawing/2014/main" id="{A1E54003-EF0F-45F3-8258-0E11DD541674}"/>
              </a:ext>
            </a:extLst>
          </p:cNvPr>
          <p:cNvSpPr/>
          <p:nvPr/>
        </p:nvSpPr>
        <p:spPr>
          <a:xfrm>
            <a:off x="694653" y="2913128"/>
            <a:ext cx="8162924" cy="461665"/>
          </a:xfrm>
          <a:prstGeom prst="rect">
            <a:avLst/>
          </a:prstGeom>
        </p:spPr>
        <p:txBody>
          <a:bodyPr wrap="square">
            <a:spAutoFit/>
          </a:bodyPr>
          <a:lstStyle/>
          <a:p>
            <a:pPr marL="800100" lvl="1" indent="-342900">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rPr>
              <a:t>类间分离度</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类内聚合度</a:t>
            </a:r>
            <a:endParaRPr lang="zh-CN" altLang="en-US" sz="2400" dirty="0">
              <a:latin typeface="华文楷体" panose="02010600040101010101" pitchFamily="2" charset="-122"/>
              <a:ea typeface="华文楷体" panose="02010600040101010101" pitchFamily="2" charset="-122"/>
            </a:endParaRPr>
          </a:p>
        </p:txBody>
      </p:sp>
      <p:sp>
        <p:nvSpPr>
          <p:cNvPr id="14" name="矩形 13">
            <a:extLst>
              <a:ext uri="{FF2B5EF4-FFF2-40B4-BE49-F238E27FC236}">
                <a16:creationId xmlns:a16="http://schemas.microsoft.com/office/drawing/2014/main" id="{5830624C-8436-4A7C-8F59-9672267DF29E}"/>
              </a:ext>
            </a:extLst>
          </p:cNvPr>
          <p:cNvSpPr/>
          <p:nvPr/>
        </p:nvSpPr>
        <p:spPr>
          <a:xfrm>
            <a:off x="728646" y="3374793"/>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XBI</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1991</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pic>
        <p:nvPicPr>
          <p:cNvPr id="3" name="图片 2">
            <a:extLst>
              <a:ext uri="{FF2B5EF4-FFF2-40B4-BE49-F238E27FC236}">
                <a16:creationId xmlns:a16="http://schemas.microsoft.com/office/drawing/2014/main" id="{62F70086-73AE-4AF2-B34E-82A0902C7EB9}"/>
              </a:ext>
            </a:extLst>
          </p:cNvPr>
          <p:cNvPicPr>
            <a:picLocks noChangeAspect="1"/>
          </p:cNvPicPr>
          <p:nvPr/>
        </p:nvPicPr>
        <p:blipFill>
          <a:blip r:embed="rId5"/>
          <a:stretch>
            <a:fillRect/>
          </a:stretch>
        </p:blipFill>
        <p:spPr>
          <a:xfrm>
            <a:off x="1825877" y="4167039"/>
            <a:ext cx="5492246" cy="1173026"/>
          </a:xfrm>
          <a:prstGeom prst="rect">
            <a:avLst/>
          </a:prstGeom>
        </p:spPr>
      </p:pic>
    </p:spTree>
    <p:extLst>
      <p:ext uri="{BB962C8B-B14F-4D97-AF65-F5344CB8AC3E}">
        <p14:creationId xmlns:p14="http://schemas.microsoft.com/office/powerpoint/2010/main" val="1381083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23</a:t>
            </a:fld>
            <a:endParaRPr lang="zh-CN" altLang="en-US" dirty="0"/>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147558"/>
            <a:chOff x="755577" y="1934046"/>
            <a:chExt cx="8162924" cy="1147558"/>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3"/>
            <a:stretch>
              <a:fillRect/>
            </a:stretch>
          </p:blipFill>
          <p:spPr>
            <a:xfrm>
              <a:off x="3437957" y="2126901"/>
              <a:ext cx="1996245"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4"/>
            <a:stretch>
              <a:fillRect/>
            </a:stretch>
          </p:blipFill>
          <p:spPr>
            <a:xfrm>
              <a:off x="3950859" y="2678578"/>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147558"/>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sp>
        <p:nvSpPr>
          <p:cNvPr id="15" name="矩形 14">
            <a:extLst>
              <a:ext uri="{FF2B5EF4-FFF2-40B4-BE49-F238E27FC236}">
                <a16:creationId xmlns:a16="http://schemas.microsoft.com/office/drawing/2014/main" id="{A1E54003-EF0F-45F3-8258-0E11DD541674}"/>
              </a:ext>
            </a:extLst>
          </p:cNvPr>
          <p:cNvSpPr/>
          <p:nvPr/>
        </p:nvSpPr>
        <p:spPr>
          <a:xfrm>
            <a:off x="694653" y="2913128"/>
            <a:ext cx="8162924" cy="461665"/>
          </a:xfrm>
          <a:prstGeom prst="rect">
            <a:avLst/>
          </a:prstGeom>
        </p:spPr>
        <p:txBody>
          <a:bodyPr wrap="square">
            <a:spAutoFit/>
          </a:bodyPr>
          <a:lstStyle/>
          <a:p>
            <a:pPr marL="800100" lvl="1" indent="-342900">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rPr>
              <a:t>类间分离度</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类内聚合度</a:t>
            </a:r>
            <a:endParaRPr lang="zh-CN" altLang="en-US" sz="2400" dirty="0">
              <a:latin typeface="华文楷体" panose="02010600040101010101" pitchFamily="2" charset="-122"/>
              <a:ea typeface="华文楷体" panose="02010600040101010101" pitchFamily="2" charset="-122"/>
            </a:endParaRPr>
          </a:p>
        </p:txBody>
      </p:sp>
      <p:sp>
        <p:nvSpPr>
          <p:cNvPr id="14" name="矩形 13">
            <a:extLst>
              <a:ext uri="{FF2B5EF4-FFF2-40B4-BE49-F238E27FC236}">
                <a16:creationId xmlns:a16="http://schemas.microsoft.com/office/drawing/2014/main" id="{5830624C-8436-4A7C-8F59-9672267DF29E}"/>
              </a:ext>
            </a:extLst>
          </p:cNvPr>
          <p:cNvSpPr/>
          <p:nvPr/>
        </p:nvSpPr>
        <p:spPr>
          <a:xfrm>
            <a:off x="728646" y="3374793"/>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DBI</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1979</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3B0DD54C-5BF3-4C7C-852F-6157A76A4E44}"/>
              </a:ext>
            </a:extLst>
          </p:cNvPr>
          <p:cNvPicPr>
            <a:picLocks noChangeAspect="1"/>
          </p:cNvPicPr>
          <p:nvPr/>
        </p:nvPicPr>
        <p:blipFill>
          <a:blip r:embed="rId5"/>
          <a:stretch>
            <a:fillRect/>
          </a:stretch>
        </p:blipFill>
        <p:spPr>
          <a:xfrm>
            <a:off x="2112762" y="4011310"/>
            <a:ext cx="4874026" cy="837416"/>
          </a:xfrm>
          <a:prstGeom prst="rect">
            <a:avLst/>
          </a:prstGeom>
        </p:spPr>
      </p:pic>
      <p:pic>
        <p:nvPicPr>
          <p:cNvPr id="9" name="图片 8">
            <a:extLst>
              <a:ext uri="{FF2B5EF4-FFF2-40B4-BE49-F238E27FC236}">
                <a16:creationId xmlns:a16="http://schemas.microsoft.com/office/drawing/2014/main" id="{654857B0-2889-4056-A5A3-1288F7D545E5}"/>
              </a:ext>
            </a:extLst>
          </p:cNvPr>
          <p:cNvPicPr>
            <a:picLocks noChangeAspect="1"/>
          </p:cNvPicPr>
          <p:nvPr/>
        </p:nvPicPr>
        <p:blipFill>
          <a:blip r:embed="rId6"/>
          <a:stretch>
            <a:fillRect/>
          </a:stretch>
        </p:blipFill>
        <p:spPr>
          <a:xfrm>
            <a:off x="2641578" y="4945927"/>
            <a:ext cx="4018654" cy="609126"/>
          </a:xfrm>
          <a:prstGeom prst="rect">
            <a:avLst/>
          </a:prstGeom>
        </p:spPr>
      </p:pic>
    </p:spTree>
    <p:extLst>
      <p:ext uri="{BB962C8B-B14F-4D97-AF65-F5344CB8AC3E}">
        <p14:creationId xmlns:p14="http://schemas.microsoft.com/office/powerpoint/2010/main" val="1661762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24</a:t>
            </a:fld>
            <a:endParaRPr lang="zh-CN" altLang="en-US" dirty="0"/>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内部指标</a:t>
            </a:r>
            <a:endParaRPr lang="zh-CN" altLang="en-US" sz="2400" dirty="0">
              <a:latin typeface="华文楷体" panose="02010600040101010101" pitchFamily="2" charset="-122"/>
              <a:ea typeface="华文楷体" panose="02010600040101010101" pitchFamily="2" charset="-122"/>
            </a:endParaRPr>
          </a:p>
        </p:txBody>
      </p:sp>
      <p:grpSp>
        <p:nvGrpSpPr>
          <p:cNvPr id="7" name="组合 6">
            <a:extLst>
              <a:ext uri="{FF2B5EF4-FFF2-40B4-BE49-F238E27FC236}">
                <a16:creationId xmlns:a16="http://schemas.microsoft.com/office/drawing/2014/main" id="{1BCCD622-0ACE-40CA-AAF8-E70A51C926A5}"/>
              </a:ext>
            </a:extLst>
          </p:cNvPr>
          <p:cNvGrpSpPr/>
          <p:nvPr/>
        </p:nvGrpSpPr>
        <p:grpSpPr>
          <a:xfrm>
            <a:off x="728646" y="1690186"/>
            <a:ext cx="8162924" cy="1147558"/>
            <a:chOff x="755577" y="1934046"/>
            <a:chExt cx="8162924" cy="1147558"/>
          </a:xfrm>
        </p:grpSpPr>
        <p:pic>
          <p:nvPicPr>
            <p:cNvPr id="4" name="图片 3">
              <a:extLst>
                <a:ext uri="{FF2B5EF4-FFF2-40B4-BE49-F238E27FC236}">
                  <a16:creationId xmlns:a16="http://schemas.microsoft.com/office/drawing/2014/main" id="{A474F960-B422-4D37-BF3B-EC2D9E820414}"/>
                </a:ext>
              </a:extLst>
            </p:cNvPr>
            <p:cNvPicPr>
              <a:picLocks noChangeAspect="1"/>
            </p:cNvPicPr>
            <p:nvPr/>
          </p:nvPicPr>
          <p:blipFill>
            <a:blip r:embed="rId3"/>
            <a:stretch>
              <a:fillRect/>
            </a:stretch>
          </p:blipFill>
          <p:spPr>
            <a:xfrm>
              <a:off x="3437957" y="2126901"/>
              <a:ext cx="1996245" cy="352278"/>
            </a:xfrm>
            <a:prstGeom prst="rect">
              <a:avLst/>
            </a:prstGeom>
          </p:spPr>
        </p:pic>
        <p:pic>
          <p:nvPicPr>
            <p:cNvPr id="6" name="图片 5">
              <a:extLst>
                <a:ext uri="{FF2B5EF4-FFF2-40B4-BE49-F238E27FC236}">
                  <a16:creationId xmlns:a16="http://schemas.microsoft.com/office/drawing/2014/main" id="{EE5B9020-E0BA-45AB-9E2C-21E40BB93C63}"/>
                </a:ext>
              </a:extLst>
            </p:cNvPr>
            <p:cNvPicPr>
              <a:picLocks noChangeAspect="1"/>
            </p:cNvPicPr>
            <p:nvPr/>
          </p:nvPicPr>
          <p:blipFill>
            <a:blip r:embed="rId4"/>
            <a:stretch>
              <a:fillRect/>
            </a:stretch>
          </p:blipFill>
          <p:spPr>
            <a:xfrm>
              <a:off x="3950859" y="2678578"/>
              <a:ext cx="2335425" cy="365125"/>
            </a:xfrm>
            <a:prstGeom prst="rect">
              <a:avLst/>
            </a:prstGeom>
          </p:spPr>
        </p:pic>
        <p:sp>
          <p:nvSpPr>
            <p:cNvPr id="12" name="矩形 11">
              <a:extLst>
                <a:ext uri="{FF2B5EF4-FFF2-40B4-BE49-F238E27FC236}">
                  <a16:creationId xmlns:a16="http://schemas.microsoft.com/office/drawing/2014/main" id="{EF409B8B-957B-45BF-B262-E96019FDF406}"/>
                </a:ext>
              </a:extLst>
            </p:cNvPr>
            <p:cNvSpPr/>
            <p:nvPr/>
          </p:nvSpPr>
          <p:spPr>
            <a:xfrm>
              <a:off x="755577" y="1934046"/>
              <a:ext cx="8162924" cy="1147558"/>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给定数据集</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聚类算法的划分</a:t>
              </a:r>
            </a:p>
          </p:txBody>
        </p:sp>
      </p:grpSp>
      <p:sp>
        <p:nvSpPr>
          <p:cNvPr id="15" name="矩形 14">
            <a:extLst>
              <a:ext uri="{FF2B5EF4-FFF2-40B4-BE49-F238E27FC236}">
                <a16:creationId xmlns:a16="http://schemas.microsoft.com/office/drawing/2014/main" id="{A1E54003-EF0F-45F3-8258-0E11DD541674}"/>
              </a:ext>
            </a:extLst>
          </p:cNvPr>
          <p:cNvSpPr/>
          <p:nvPr/>
        </p:nvSpPr>
        <p:spPr>
          <a:xfrm>
            <a:off x="694653" y="2913128"/>
            <a:ext cx="8162924" cy="461665"/>
          </a:xfrm>
          <a:prstGeom prst="rect">
            <a:avLst/>
          </a:prstGeom>
        </p:spPr>
        <p:txBody>
          <a:bodyPr wrap="square">
            <a:spAutoFit/>
          </a:bodyPr>
          <a:lstStyle/>
          <a:p>
            <a:pPr marL="800100" lvl="1" indent="-342900">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rPr>
              <a:t>类间分离度</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类内聚合度</a:t>
            </a:r>
            <a:endParaRPr lang="zh-CN" altLang="en-US" sz="2400" dirty="0">
              <a:latin typeface="华文楷体" panose="02010600040101010101" pitchFamily="2" charset="-122"/>
              <a:ea typeface="华文楷体" panose="02010600040101010101" pitchFamily="2" charset="-122"/>
            </a:endParaRPr>
          </a:p>
        </p:txBody>
      </p:sp>
      <p:sp>
        <p:nvSpPr>
          <p:cNvPr id="14" name="矩形 13">
            <a:extLst>
              <a:ext uri="{FF2B5EF4-FFF2-40B4-BE49-F238E27FC236}">
                <a16:creationId xmlns:a16="http://schemas.microsoft.com/office/drawing/2014/main" id="{5830624C-8436-4A7C-8F59-9672267DF29E}"/>
              </a:ext>
            </a:extLst>
          </p:cNvPr>
          <p:cNvSpPr/>
          <p:nvPr/>
        </p:nvSpPr>
        <p:spPr>
          <a:xfrm>
            <a:off x="728646" y="3374793"/>
            <a:ext cx="8162924" cy="593560"/>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altLang="zh-CN" sz="2400" dirty="0">
                <a:latin typeface="华文楷体" panose="02010600040101010101" pitchFamily="2" charset="-122"/>
                <a:ea typeface="华文楷体" panose="02010600040101010101" pitchFamily="2" charset="-122"/>
              </a:rPr>
              <a:t>CSI</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2004</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pic>
        <p:nvPicPr>
          <p:cNvPr id="18" name="图片 17">
            <a:extLst>
              <a:ext uri="{FF2B5EF4-FFF2-40B4-BE49-F238E27FC236}">
                <a16:creationId xmlns:a16="http://schemas.microsoft.com/office/drawing/2014/main" id="{66EB0080-33E9-4027-8B83-1C20DD5303F3}"/>
              </a:ext>
            </a:extLst>
          </p:cNvPr>
          <p:cNvPicPr>
            <a:picLocks noChangeAspect="1"/>
          </p:cNvPicPr>
          <p:nvPr/>
        </p:nvPicPr>
        <p:blipFill>
          <a:blip r:embed="rId5"/>
          <a:stretch>
            <a:fillRect/>
          </a:stretch>
        </p:blipFill>
        <p:spPr>
          <a:xfrm>
            <a:off x="1388484" y="4065142"/>
            <a:ext cx="6775261" cy="1097209"/>
          </a:xfrm>
          <a:prstGeom prst="rect">
            <a:avLst/>
          </a:prstGeom>
        </p:spPr>
      </p:pic>
    </p:spTree>
    <p:extLst>
      <p:ext uri="{BB962C8B-B14F-4D97-AF65-F5344CB8AC3E}">
        <p14:creationId xmlns:p14="http://schemas.microsoft.com/office/powerpoint/2010/main" val="10785953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dirty="0">
                <a:solidFill>
                  <a:srgbClr val="FF0000"/>
                </a:solidFill>
                <a:latin typeface="黑体" pitchFamily="2" charset="-122"/>
                <a:ea typeface="黑体" pitchFamily="2" charset="-122"/>
              </a:rPr>
              <a:t>内部</a:t>
            </a:r>
            <a:r>
              <a:rPr lang="zh-CN" altLang="en-US" sz="3200" dirty="0">
                <a:solidFill>
                  <a:srgbClr val="FF0000"/>
                </a:solidFill>
                <a:latin typeface="黑体" pitchFamily="2" charset="-122"/>
                <a:ea typeface="黑体" pitchFamily="2" charset="-122"/>
              </a:rPr>
              <a:t>指标</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25</a:t>
            </a:fld>
            <a:endParaRPr lang="zh-CN" altLang="en-US" dirty="0"/>
          </a:p>
        </p:txBody>
      </p:sp>
      <p:sp>
        <p:nvSpPr>
          <p:cNvPr id="8" name="矩形 7">
            <a:extLst>
              <a:ext uri="{FF2B5EF4-FFF2-40B4-BE49-F238E27FC236}">
                <a16:creationId xmlns:a16="http://schemas.microsoft.com/office/drawing/2014/main" id="{710FDD76-3B00-439C-B458-AB594E251127}"/>
              </a:ext>
            </a:extLst>
          </p:cNvPr>
          <p:cNvSpPr/>
          <p:nvPr/>
        </p:nvSpPr>
        <p:spPr>
          <a:xfrm>
            <a:off x="426381" y="1268760"/>
            <a:ext cx="8162924" cy="461665"/>
          </a:xfrm>
          <a:prstGeom prst="rect">
            <a:avLst/>
          </a:prstGeom>
        </p:spPr>
        <p:txBody>
          <a:bodyPr wrap="square">
            <a:spAutoFit/>
          </a:bodyPr>
          <a:lstStyle/>
          <a:p>
            <a:pPr marL="800100" lvl="1" indent="-342900">
              <a:buFont typeface="Wingdings" panose="05000000000000000000" pitchFamily="2" charset="2"/>
              <a:buChar char="n"/>
            </a:pPr>
            <a:r>
              <a:rPr lang="zh-CN" altLang="en-US" sz="2400" b="1" dirty="0">
                <a:latin typeface="华文楷体" panose="02010600040101010101" pitchFamily="2" charset="-122"/>
                <a:ea typeface="华文楷体" panose="02010600040101010101" pitchFamily="2" charset="-122"/>
              </a:rPr>
              <a:t>确定聚类个数</a:t>
            </a:r>
            <a:endParaRPr lang="zh-CN" altLang="en-US" sz="2400" dirty="0">
              <a:latin typeface="华文楷体" panose="02010600040101010101" pitchFamily="2" charset="-122"/>
              <a:ea typeface="华文楷体" panose="02010600040101010101" pitchFamily="2" charset="-122"/>
            </a:endParaRPr>
          </a:p>
        </p:txBody>
      </p:sp>
      <p:sp>
        <p:nvSpPr>
          <p:cNvPr id="12" name="矩形 11">
            <a:extLst>
              <a:ext uri="{FF2B5EF4-FFF2-40B4-BE49-F238E27FC236}">
                <a16:creationId xmlns:a16="http://schemas.microsoft.com/office/drawing/2014/main" id="{EF409B8B-957B-45BF-B262-E96019FDF406}"/>
              </a:ext>
            </a:extLst>
          </p:cNvPr>
          <p:cNvSpPr/>
          <p:nvPr/>
        </p:nvSpPr>
        <p:spPr>
          <a:xfrm>
            <a:off x="728646" y="1690186"/>
            <a:ext cx="8162924" cy="2255554"/>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给定一组聚类个数</a:t>
            </a:r>
            <a:r>
              <a:rPr lang="en-US" altLang="zh-CN" sz="2400" dirty="0">
                <a:latin typeface="华文楷体" panose="02010600040101010101" pitchFamily="2" charset="-122"/>
                <a:ea typeface="华文楷体" panose="02010600040101010101" pitchFamily="2" charset="-122"/>
              </a:rPr>
              <a:t>[2, sqrt(N)]</a:t>
            </a: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分别以不同的聚类个数运行聚类算法，如</a:t>
            </a:r>
            <a:r>
              <a:rPr lang="en-US" altLang="zh-CN" sz="2400" dirty="0">
                <a:latin typeface="华文楷体" panose="02010600040101010101" pitchFamily="2" charset="-122"/>
                <a:ea typeface="华文楷体" panose="02010600040101010101" pitchFamily="2" charset="-122"/>
              </a:rPr>
              <a:t>k</a:t>
            </a:r>
            <a:r>
              <a:rPr lang="zh-CN" altLang="en-US" sz="2400" dirty="0">
                <a:latin typeface="华文楷体" panose="02010600040101010101" pitchFamily="2" charset="-122"/>
                <a:ea typeface="华文楷体" panose="02010600040101010101" pitchFamily="2" charset="-122"/>
              </a:rPr>
              <a:t>均值</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选择一种</a:t>
            </a:r>
            <a:r>
              <a:rPr lang="en-US" altLang="zh-CN" sz="2400" dirty="0">
                <a:latin typeface="华文楷体" panose="02010600040101010101" pitchFamily="2" charset="-122"/>
                <a:ea typeface="华文楷体" panose="02010600040101010101" pitchFamily="2" charset="-122"/>
              </a:rPr>
              <a:t>CVI</a:t>
            </a:r>
            <a:r>
              <a:rPr lang="zh-CN" altLang="en-US" sz="2400" dirty="0">
                <a:latin typeface="华文楷体" panose="02010600040101010101" pitchFamily="2" charset="-122"/>
                <a:ea typeface="华文楷体" panose="02010600040101010101" pitchFamily="2" charset="-122"/>
              </a:rPr>
              <a:t>，计算每个聚类结果的值</a:t>
            </a:r>
            <a:endParaRPr lang="en-US" altLang="zh-CN" sz="2400" dirty="0">
              <a:latin typeface="华文楷体" panose="02010600040101010101" pitchFamily="2" charset="-122"/>
              <a:ea typeface="华文楷体" panose="02010600040101010101" pitchFamily="2" charset="-122"/>
            </a:endParaRPr>
          </a:p>
          <a:p>
            <a:pPr marL="800100" lvl="1" indent="-342900">
              <a:lnSpc>
                <a:spcPct val="150000"/>
              </a:lnSpc>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确定最优的结果，及其对应的聚类个数</a:t>
            </a:r>
          </a:p>
        </p:txBody>
      </p:sp>
    </p:spTree>
    <p:extLst>
      <p:ext uri="{BB962C8B-B14F-4D97-AF65-F5344CB8AC3E}">
        <p14:creationId xmlns:p14="http://schemas.microsoft.com/office/powerpoint/2010/main" val="293944132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C1709B-F968-4CBA-9B67-D3DB0AF1BAB2}"/>
              </a:ext>
            </a:extLst>
          </p:cNvPr>
          <p:cNvSpPr>
            <a:spLocks noGrp="1"/>
          </p:cNvSpPr>
          <p:nvPr>
            <p:ph type="title"/>
          </p:nvPr>
        </p:nvSpPr>
        <p:spPr/>
        <p:txBody>
          <a:bodyPr/>
          <a:lstStyle/>
          <a:p>
            <a:r>
              <a:rPr lang="en-US" altLang="zh-CN" dirty="0"/>
              <a:t>My work</a:t>
            </a:r>
            <a:endParaRPr lang="zh-CN" altLang="en-US" dirty="0"/>
          </a:p>
        </p:txBody>
      </p:sp>
      <p:sp>
        <p:nvSpPr>
          <p:cNvPr id="3" name="内容占位符 2">
            <a:extLst>
              <a:ext uri="{FF2B5EF4-FFF2-40B4-BE49-F238E27FC236}">
                <a16:creationId xmlns:a16="http://schemas.microsoft.com/office/drawing/2014/main" id="{252DE364-4F24-46A0-BF78-450BC9F6564F}"/>
              </a:ext>
            </a:extLst>
          </p:cNvPr>
          <p:cNvSpPr>
            <a:spLocks noGrp="1"/>
          </p:cNvSpPr>
          <p:nvPr>
            <p:ph idx="1"/>
          </p:nvPr>
        </p:nvSpPr>
        <p:spPr>
          <a:xfrm>
            <a:off x="411163" y="1143000"/>
            <a:ext cx="8318500" cy="5181600"/>
          </a:xfrm>
        </p:spPr>
        <p:txBody>
          <a:bodyPr/>
          <a:lstStyle/>
          <a:p>
            <a:endParaRPr lang="zh-CN" altLang="en-US" dirty="0"/>
          </a:p>
        </p:txBody>
      </p:sp>
      <p:pic>
        <p:nvPicPr>
          <p:cNvPr id="5" name="图片 4">
            <a:extLst>
              <a:ext uri="{FF2B5EF4-FFF2-40B4-BE49-F238E27FC236}">
                <a16:creationId xmlns:a16="http://schemas.microsoft.com/office/drawing/2014/main" id="{144F5E3D-4EEF-42C0-A945-3226B0699BE8}"/>
              </a:ext>
            </a:extLst>
          </p:cNvPr>
          <p:cNvPicPr>
            <a:picLocks noChangeAspect="1"/>
          </p:cNvPicPr>
          <p:nvPr/>
        </p:nvPicPr>
        <p:blipFill>
          <a:blip r:embed="rId2"/>
          <a:stretch>
            <a:fillRect/>
          </a:stretch>
        </p:blipFill>
        <p:spPr>
          <a:xfrm>
            <a:off x="0" y="990600"/>
            <a:ext cx="9144000" cy="4023360"/>
          </a:xfrm>
          <a:prstGeom prst="rect">
            <a:avLst/>
          </a:prstGeom>
        </p:spPr>
      </p:pic>
    </p:spTree>
    <p:extLst>
      <p:ext uri="{BB962C8B-B14F-4D97-AF65-F5344CB8AC3E}">
        <p14:creationId xmlns:p14="http://schemas.microsoft.com/office/powerpoint/2010/main" val="2470434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C1709B-F968-4CBA-9B67-D3DB0AF1BAB2}"/>
              </a:ext>
            </a:extLst>
          </p:cNvPr>
          <p:cNvSpPr>
            <a:spLocks noGrp="1"/>
          </p:cNvSpPr>
          <p:nvPr>
            <p:ph type="title"/>
          </p:nvPr>
        </p:nvSpPr>
        <p:spPr/>
        <p:txBody>
          <a:bodyPr/>
          <a:lstStyle/>
          <a:p>
            <a:r>
              <a:rPr lang="en-US" altLang="zh-CN" dirty="0"/>
              <a:t>My work</a:t>
            </a:r>
            <a:endParaRPr lang="zh-CN" altLang="en-US" dirty="0"/>
          </a:p>
        </p:txBody>
      </p:sp>
      <p:sp>
        <p:nvSpPr>
          <p:cNvPr id="3" name="内容占位符 2">
            <a:extLst>
              <a:ext uri="{FF2B5EF4-FFF2-40B4-BE49-F238E27FC236}">
                <a16:creationId xmlns:a16="http://schemas.microsoft.com/office/drawing/2014/main" id="{252DE364-4F24-46A0-BF78-450BC9F6564F}"/>
              </a:ext>
            </a:extLst>
          </p:cNvPr>
          <p:cNvSpPr>
            <a:spLocks noGrp="1"/>
          </p:cNvSpPr>
          <p:nvPr>
            <p:ph idx="1"/>
          </p:nvPr>
        </p:nvSpPr>
        <p:spPr>
          <a:xfrm>
            <a:off x="411162" y="1143000"/>
            <a:ext cx="8580437" cy="5181600"/>
          </a:xfrm>
        </p:spPr>
        <p:txBody>
          <a:bodyPr/>
          <a:lstStyle/>
          <a:p>
            <a:r>
              <a:rPr lang="zh-CN" altLang="en-US" dirty="0"/>
              <a:t>问题的提出：模糊</a:t>
            </a:r>
            <a:r>
              <a:rPr lang="en-US" altLang="zh-CN" dirty="0"/>
              <a:t>c</a:t>
            </a:r>
            <a:r>
              <a:rPr lang="zh-CN" altLang="en-US" dirty="0"/>
              <a:t>均值算法对不平衡数据的聚类结果不理想，如何在此情况下确定正确的聚类个数？</a:t>
            </a:r>
          </a:p>
        </p:txBody>
      </p:sp>
      <p:pic>
        <p:nvPicPr>
          <p:cNvPr id="6" name="图片 5">
            <a:extLst>
              <a:ext uri="{FF2B5EF4-FFF2-40B4-BE49-F238E27FC236}">
                <a16:creationId xmlns:a16="http://schemas.microsoft.com/office/drawing/2014/main" id="{52C99CB6-8115-4936-8BF9-5E7D49AC546D}"/>
              </a:ext>
            </a:extLst>
          </p:cNvPr>
          <p:cNvPicPr>
            <a:picLocks noChangeAspect="1"/>
          </p:cNvPicPr>
          <p:nvPr/>
        </p:nvPicPr>
        <p:blipFill rotWithShape="1">
          <a:blip r:embed="rId2">
            <a:extLst>
              <a:ext uri="{28A0092B-C50C-407E-A947-70E740481C1C}">
                <a14:useLocalDpi xmlns:a14="http://schemas.microsoft.com/office/drawing/2010/main" val="0"/>
              </a:ext>
            </a:extLst>
          </a:blip>
          <a:srcRect t="11963" r="53000" b="25233"/>
          <a:stretch/>
        </p:blipFill>
        <p:spPr>
          <a:xfrm>
            <a:off x="2910680" y="2286000"/>
            <a:ext cx="3581400" cy="3200400"/>
          </a:xfrm>
          <a:prstGeom prst="rect">
            <a:avLst/>
          </a:prstGeom>
        </p:spPr>
      </p:pic>
    </p:spTree>
    <p:extLst>
      <p:ext uri="{BB962C8B-B14F-4D97-AF65-F5344CB8AC3E}">
        <p14:creationId xmlns:p14="http://schemas.microsoft.com/office/powerpoint/2010/main" val="5333388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C1709B-F968-4CBA-9B67-D3DB0AF1BAB2}"/>
              </a:ext>
            </a:extLst>
          </p:cNvPr>
          <p:cNvSpPr>
            <a:spLocks noGrp="1"/>
          </p:cNvSpPr>
          <p:nvPr>
            <p:ph type="title"/>
          </p:nvPr>
        </p:nvSpPr>
        <p:spPr/>
        <p:txBody>
          <a:bodyPr/>
          <a:lstStyle/>
          <a:p>
            <a:r>
              <a:rPr lang="en-US" altLang="zh-CN" dirty="0"/>
              <a:t>My work</a:t>
            </a:r>
            <a:endParaRPr lang="zh-CN" altLang="en-US" dirty="0"/>
          </a:p>
        </p:txBody>
      </p:sp>
      <p:sp>
        <p:nvSpPr>
          <p:cNvPr id="3" name="内容占位符 2">
            <a:extLst>
              <a:ext uri="{FF2B5EF4-FFF2-40B4-BE49-F238E27FC236}">
                <a16:creationId xmlns:a16="http://schemas.microsoft.com/office/drawing/2014/main" id="{252DE364-4F24-46A0-BF78-450BC9F6564F}"/>
              </a:ext>
            </a:extLst>
          </p:cNvPr>
          <p:cNvSpPr>
            <a:spLocks noGrp="1"/>
          </p:cNvSpPr>
          <p:nvPr>
            <p:ph idx="1"/>
          </p:nvPr>
        </p:nvSpPr>
        <p:spPr>
          <a:xfrm>
            <a:off x="411162" y="1143000"/>
            <a:ext cx="8580437" cy="5181600"/>
          </a:xfrm>
        </p:spPr>
        <p:txBody>
          <a:bodyPr/>
          <a:lstStyle/>
          <a:p>
            <a:r>
              <a:rPr lang="zh-CN" altLang="en-US" dirty="0"/>
              <a:t>方法：</a:t>
            </a:r>
            <a:endParaRPr lang="en-US" altLang="zh-CN" dirty="0"/>
          </a:p>
          <a:p>
            <a:pPr lvl="1"/>
            <a:r>
              <a:rPr lang="zh-CN" altLang="en-US" dirty="0"/>
              <a:t>证明了两类中心的聚类与它们的不平衡成一次反比关系</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设计了补偿因子，提出了新的</a:t>
            </a:r>
            <a:r>
              <a:rPr lang="en-US" altLang="zh-CN" dirty="0"/>
              <a:t>CVI</a:t>
            </a:r>
            <a:endParaRPr lang="zh-CN" altLang="en-US" dirty="0"/>
          </a:p>
        </p:txBody>
      </p:sp>
      <p:pic>
        <p:nvPicPr>
          <p:cNvPr id="4" name="图片 3">
            <a:extLst>
              <a:ext uri="{FF2B5EF4-FFF2-40B4-BE49-F238E27FC236}">
                <a16:creationId xmlns:a16="http://schemas.microsoft.com/office/drawing/2014/main" id="{3A4F668F-F861-41EE-B3E9-5AFEBCC3A0F1}"/>
              </a:ext>
            </a:extLst>
          </p:cNvPr>
          <p:cNvPicPr>
            <a:picLocks noChangeAspect="1"/>
          </p:cNvPicPr>
          <p:nvPr/>
        </p:nvPicPr>
        <p:blipFill>
          <a:blip r:embed="rId2"/>
          <a:stretch>
            <a:fillRect/>
          </a:stretch>
        </p:blipFill>
        <p:spPr>
          <a:xfrm>
            <a:off x="0" y="2480236"/>
            <a:ext cx="9144000" cy="1225072"/>
          </a:xfrm>
          <a:prstGeom prst="rect">
            <a:avLst/>
          </a:prstGeom>
        </p:spPr>
      </p:pic>
      <p:pic>
        <p:nvPicPr>
          <p:cNvPr id="5" name="图片 4">
            <a:extLst>
              <a:ext uri="{FF2B5EF4-FFF2-40B4-BE49-F238E27FC236}">
                <a16:creationId xmlns:a16="http://schemas.microsoft.com/office/drawing/2014/main" id="{F2BDAFDB-573E-4A4E-8D03-54B42D5C0A21}"/>
              </a:ext>
            </a:extLst>
          </p:cNvPr>
          <p:cNvPicPr>
            <a:picLocks noChangeAspect="1"/>
          </p:cNvPicPr>
          <p:nvPr/>
        </p:nvPicPr>
        <p:blipFill>
          <a:blip r:embed="rId3"/>
          <a:stretch>
            <a:fillRect/>
          </a:stretch>
        </p:blipFill>
        <p:spPr>
          <a:xfrm>
            <a:off x="663" y="4648200"/>
            <a:ext cx="9144000" cy="1272000"/>
          </a:xfrm>
          <a:prstGeom prst="rect">
            <a:avLst/>
          </a:prstGeom>
        </p:spPr>
      </p:pic>
    </p:spTree>
    <p:extLst>
      <p:ext uri="{BB962C8B-B14F-4D97-AF65-F5344CB8AC3E}">
        <p14:creationId xmlns:p14="http://schemas.microsoft.com/office/powerpoint/2010/main" val="5150772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C1709B-F968-4CBA-9B67-D3DB0AF1BAB2}"/>
              </a:ext>
            </a:extLst>
          </p:cNvPr>
          <p:cNvSpPr>
            <a:spLocks noGrp="1"/>
          </p:cNvSpPr>
          <p:nvPr>
            <p:ph type="title"/>
          </p:nvPr>
        </p:nvSpPr>
        <p:spPr/>
        <p:txBody>
          <a:bodyPr/>
          <a:lstStyle/>
          <a:p>
            <a:r>
              <a:rPr lang="en-US" altLang="zh-CN" dirty="0"/>
              <a:t>My work</a:t>
            </a:r>
            <a:endParaRPr lang="zh-CN" altLang="en-US" dirty="0"/>
          </a:p>
        </p:txBody>
      </p:sp>
      <p:sp>
        <p:nvSpPr>
          <p:cNvPr id="3" name="内容占位符 2">
            <a:extLst>
              <a:ext uri="{FF2B5EF4-FFF2-40B4-BE49-F238E27FC236}">
                <a16:creationId xmlns:a16="http://schemas.microsoft.com/office/drawing/2014/main" id="{252DE364-4F24-46A0-BF78-450BC9F6564F}"/>
              </a:ext>
            </a:extLst>
          </p:cNvPr>
          <p:cNvSpPr>
            <a:spLocks noGrp="1"/>
          </p:cNvSpPr>
          <p:nvPr>
            <p:ph idx="1"/>
          </p:nvPr>
        </p:nvSpPr>
        <p:spPr>
          <a:xfrm>
            <a:off x="411162" y="1143000"/>
            <a:ext cx="8580437" cy="5181600"/>
          </a:xfrm>
        </p:spPr>
        <p:txBody>
          <a:bodyPr/>
          <a:lstStyle/>
          <a:p>
            <a:endParaRPr lang="en-US" altLang="zh-CN" dirty="0"/>
          </a:p>
          <a:p>
            <a:pPr lvl="1"/>
            <a:endParaRPr lang="en-US" altLang="zh-CN" dirty="0"/>
          </a:p>
          <a:p>
            <a:pPr lvl="1"/>
            <a:endParaRPr lang="en-US" altLang="zh-CN" dirty="0"/>
          </a:p>
          <a:p>
            <a:pPr lvl="1"/>
            <a:r>
              <a:rPr lang="zh-CN" altLang="en-US" dirty="0"/>
              <a:t>设计了补偿因子，提出了新的</a:t>
            </a:r>
            <a:r>
              <a:rPr lang="en-US" altLang="zh-CN" dirty="0"/>
              <a:t>CVI</a:t>
            </a:r>
            <a:endParaRPr lang="zh-CN" altLang="en-US" dirty="0"/>
          </a:p>
        </p:txBody>
      </p:sp>
      <p:pic>
        <p:nvPicPr>
          <p:cNvPr id="6" name="图片 5">
            <a:extLst>
              <a:ext uri="{FF2B5EF4-FFF2-40B4-BE49-F238E27FC236}">
                <a16:creationId xmlns:a16="http://schemas.microsoft.com/office/drawing/2014/main" id="{C47C6628-0E21-43B1-B146-C1642DC80597}"/>
              </a:ext>
            </a:extLst>
          </p:cNvPr>
          <p:cNvPicPr>
            <a:picLocks noChangeAspect="1"/>
          </p:cNvPicPr>
          <p:nvPr/>
        </p:nvPicPr>
        <p:blipFill>
          <a:blip r:embed="rId2"/>
          <a:stretch>
            <a:fillRect/>
          </a:stretch>
        </p:blipFill>
        <p:spPr>
          <a:xfrm>
            <a:off x="0" y="1059970"/>
            <a:ext cx="9144000" cy="2247544"/>
          </a:xfrm>
          <a:prstGeom prst="rect">
            <a:avLst/>
          </a:prstGeom>
        </p:spPr>
      </p:pic>
      <p:pic>
        <p:nvPicPr>
          <p:cNvPr id="7" name="图片 6">
            <a:extLst>
              <a:ext uri="{FF2B5EF4-FFF2-40B4-BE49-F238E27FC236}">
                <a16:creationId xmlns:a16="http://schemas.microsoft.com/office/drawing/2014/main" id="{C0ECFC93-721A-4B01-AC4D-111AAAA10CA3}"/>
              </a:ext>
            </a:extLst>
          </p:cNvPr>
          <p:cNvPicPr>
            <a:picLocks noChangeAspect="1"/>
          </p:cNvPicPr>
          <p:nvPr/>
        </p:nvPicPr>
        <p:blipFill>
          <a:blip r:embed="rId3"/>
          <a:stretch>
            <a:fillRect/>
          </a:stretch>
        </p:blipFill>
        <p:spPr>
          <a:xfrm>
            <a:off x="35118" y="3285444"/>
            <a:ext cx="9144000" cy="2235387"/>
          </a:xfrm>
          <a:prstGeom prst="rect">
            <a:avLst/>
          </a:prstGeom>
        </p:spPr>
      </p:pic>
      <p:sp>
        <p:nvSpPr>
          <p:cNvPr id="8" name="文本框 7">
            <a:extLst>
              <a:ext uri="{FF2B5EF4-FFF2-40B4-BE49-F238E27FC236}">
                <a16:creationId xmlns:a16="http://schemas.microsoft.com/office/drawing/2014/main" id="{AEE6F441-5DE4-4D91-BA0F-6AF25AA3AB6F}"/>
              </a:ext>
            </a:extLst>
          </p:cNvPr>
          <p:cNvSpPr txBox="1"/>
          <p:nvPr/>
        </p:nvSpPr>
        <p:spPr>
          <a:xfrm>
            <a:off x="1685169" y="5502278"/>
            <a:ext cx="603242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zh-CN" altLang="en-US" sz="2400" dirty="0"/>
              <a:t>聚类结果不理想，也能发现准确的聚类个数</a:t>
            </a:r>
          </a:p>
        </p:txBody>
      </p:sp>
    </p:spTree>
    <p:extLst>
      <p:ext uri="{BB962C8B-B14F-4D97-AF65-F5344CB8AC3E}">
        <p14:creationId xmlns:p14="http://schemas.microsoft.com/office/powerpoint/2010/main" val="363351867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body" idx="1"/>
          </p:nvPr>
        </p:nvSpPr>
        <p:spPr>
          <a:xfrm>
            <a:off x="457200" y="1219200"/>
            <a:ext cx="8458200" cy="5334000"/>
          </a:xfrm>
        </p:spPr>
        <p:txBody>
          <a:bodyPr>
            <a:normAutofit/>
          </a:bodyPr>
          <a:lstStyle/>
          <a:p>
            <a:pPr marL="342900" indent="-342900">
              <a:lnSpc>
                <a:spcPts val="3200"/>
              </a:lnSpc>
              <a:spcBef>
                <a:spcPts val="800"/>
              </a:spcBef>
              <a:spcAft>
                <a:spcPts val="800"/>
              </a:spcAft>
              <a:buSzPct val="85000"/>
              <a:buFont typeface="Monotype Sorts" pitchFamily="2" charset="2"/>
              <a:buNone/>
            </a:pPr>
            <a:r>
              <a:rPr lang="en-US" altLang="en-US" dirty="0"/>
              <a:t>   “The validation of clustering structures is the most difficult and frustrating part of cluster analysis. </a:t>
            </a:r>
          </a:p>
          <a:p>
            <a:pPr marL="342900" indent="-342900">
              <a:lnSpc>
                <a:spcPts val="3200"/>
              </a:lnSpc>
              <a:spcBef>
                <a:spcPts val="800"/>
              </a:spcBef>
              <a:spcAft>
                <a:spcPts val="800"/>
              </a:spcAft>
              <a:buSzPct val="85000"/>
              <a:buFont typeface="Monotype Sorts" pitchFamily="2" charset="2"/>
              <a:buNone/>
            </a:pPr>
            <a:r>
              <a:rPr lang="en-US" altLang="en-US" dirty="0"/>
              <a:t>   Without a strong effort in this direction, cluster analysis will remain a black art accessible only to those true believers who have experience and great courage.”</a:t>
            </a:r>
          </a:p>
          <a:p>
            <a:pPr marL="850900" lvl="1">
              <a:spcBef>
                <a:spcPct val="0"/>
              </a:spcBef>
              <a:buSzPct val="85000"/>
              <a:buFont typeface="Monotype Sorts" pitchFamily="2" charset="2"/>
              <a:buNone/>
            </a:pPr>
            <a:r>
              <a:rPr lang="en-US" altLang="en-US" sz="2000" b="1" i="1" dirty="0"/>
              <a:t>Algorithms for Clustering Data</a:t>
            </a:r>
            <a:r>
              <a:rPr lang="en-US" altLang="en-US" sz="2000" b="1" dirty="0"/>
              <a:t>, Jain and </a:t>
            </a:r>
            <a:r>
              <a:rPr lang="en-US" altLang="en-US" sz="2000" b="1" dirty="0" err="1"/>
              <a:t>Dubes</a:t>
            </a:r>
            <a:endParaRPr lang="en-US" altLang="en-US" sz="2000" b="1" dirty="0"/>
          </a:p>
          <a:p>
            <a:pPr marL="342900" indent="-342900">
              <a:spcBef>
                <a:spcPct val="0"/>
              </a:spcBef>
              <a:buSzPct val="85000"/>
              <a:buFont typeface="Monotype Sorts" pitchFamily="2" charset="2"/>
              <a:buNone/>
            </a:pPr>
            <a:endParaRPr lang="en-US" altLang="en-US" sz="900" dirty="0"/>
          </a:p>
          <a:p>
            <a:pPr>
              <a:spcBef>
                <a:spcPct val="0"/>
              </a:spcBef>
              <a:buSzPct val="85000"/>
            </a:pPr>
            <a:r>
              <a:rPr lang="en-US" sz="1600" dirty="0"/>
              <a:t>H. </a:t>
            </a:r>
            <a:r>
              <a:rPr lang="en-US" sz="1600" dirty="0" err="1"/>
              <a:t>Xiong</a:t>
            </a:r>
            <a:r>
              <a:rPr lang="en-US" sz="1600" dirty="0"/>
              <a:t> and Z. Li. </a:t>
            </a:r>
            <a:r>
              <a:rPr lang="en-US" sz="1600" i="1" dirty="0"/>
              <a:t>Clustering Validation Measures</a:t>
            </a:r>
            <a:r>
              <a:rPr lang="en-US" sz="1600" dirty="0"/>
              <a:t>. In C. C. Aggarwal and C. K. Reddy, editors, Data Clustering: Algorithms and Applications, pages 571–605. Chapman &amp; Hall/CRC, 2013</a:t>
            </a:r>
            <a:r>
              <a:rPr lang="en-US" sz="2400" dirty="0"/>
              <a:t>.</a:t>
            </a:r>
          </a:p>
          <a:p>
            <a:pPr>
              <a:spcBef>
                <a:spcPct val="0"/>
              </a:spcBef>
              <a:buSzPct val="85000"/>
            </a:pPr>
            <a:r>
              <a:rPr lang="en-US" sz="1600" dirty="0"/>
              <a:t>Liu, Y., et al. (2021). "A new robust fuzzy clustering validity index for imbalanced data sets." Information Sciences 547: 579-591.</a:t>
            </a:r>
          </a:p>
          <a:p>
            <a:pPr>
              <a:spcBef>
                <a:spcPct val="0"/>
              </a:spcBef>
              <a:buSzPct val="85000"/>
            </a:pPr>
            <a:endParaRPr lang="en-US" sz="2400" dirty="0"/>
          </a:p>
          <a:p>
            <a:pPr>
              <a:spcBef>
                <a:spcPct val="0"/>
              </a:spcBef>
              <a:buSzPct val="85000"/>
            </a:pPr>
            <a:endParaRPr lang="en-US" altLang="en-US" dirty="0"/>
          </a:p>
        </p:txBody>
      </p:sp>
      <p:sp>
        <p:nvSpPr>
          <p:cNvPr id="110595" name="Rectangle 3"/>
          <p:cNvSpPr>
            <a:spLocks noGrp="1" noChangeArrowheads="1"/>
          </p:cNvSpPr>
          <p:nvPr>
            <p:ph type="title"/>
          </p:nvPr>
        </p:nvSpPr>
        <p:spPr/>
        <p:txBody>
          <a:bodyPr/>
          <a:lstStyle/>
          <a:p>
            <a:r>
              <a:rPr lang="en-US" altLang="en-US" sz="2800"/>
              <a:t>Final Comment on Cluster Validity</a:t>
            </a:r>
          </a:p>
        </p:txBody>
      </p:sp>
    </p:spTree>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146490821</TotalTime>
  <Pages>3</Pages>
  <Words>1505</Words>
  <Application>Microsoft Office PowerPoint</Application>
  <PresentationFormat>全屏显示(4:3)</PresentationFormat>
  <Paragraphs>207</Paragraphs>
  <Slides>30</Slides>
  <Notes>15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Monotype Sorts</vt:lpstr>
      <vt:lpstr>黑体</vt:lpstr>
      <vt:lpstr>华文楷体</vt:lpstr>
      <vt:lpstr>Arial</vt:lpstr>
      <vt:lpstr>Tahoma</vt:lpstr>
      <vt:lpstr>Times New Roman</vt:lpstr>
      <vt:lpstr>Wingdings</vt:lpstr>
      <vt:lpstr>LC.BRev.FY97</vt:lpstr>
      <vt:lpstr>数据挖掘：聚类</vt:lpstr>
      <vt:lpstr>聚类有效性</vt:lpstr>
      <vt:lpstr>Clusters found in Random Data</vt:lpstr>
      <vt:lpstr>Different Aspects of Cluster Validation</vt:lpstr>
      <vt:lpstr>聚类算法之有效性指标</vt:lpstr>
      <vt:lpstr>外部指标</vt:lpstr>
      <vt:lpstr>外部指标</vt:lpstr>
      <vt:lpstr>外部指标</vt:lpstr>
      <vt:lpstr>外部指标</vt:lpstr>
      <vt:lpstr>利用相关性计算聚类有效性</vt:lpstr>
      <vt:lpstr>利用相关性计算聚类有效性</vt:lpstr>
      <vt:lpstr>利用相关性计算聚类有效性</vt:lpstr>
      <vt:lpstr>利用相关性计算聚类有效性</vt:lpstr>
      <vt:lpstr>利用相关性计算聚类有效性</vt:lpstr>
      <vt:lpstr>利用相关性计算聚类有效性</vt:lpstr>
      <vt:lpstr>在密度聚类情况下的相似性矩阵</vt:lpstr>
      <vt:lpstr>内部指标</vt:lpstr>
      <vt:lpstr>内部指标</vt:lpstr>
      <vt:lpstr>内部指标</vt:lpstr>
      <vt:lpstr>内部指标</vt:lpstr>
      <vt:lpstr>内部指标</vt:lpstr>
      <vt:lpstr>内部指标</vt:lpstr>
      <vt:lpstr>内部指标</vt:lpstr>
      <vt:lpstr>内部指标</vt:lpstr>
      <vt:lpstr>内部指标</vt:lpstr>
      <vt:lpstr>My work</vt:lpstr>
      <vt:lpstr>My work</vt:lpstr>
      <vt:lpstr>My work</vt:lpstr>
      <vt:lpstr>My work</vt:lpstr>
      <vt:lpstr>Final Comment on Cluster Validity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Yun Liu</cp:lastModifiedBy>
  <cp:revision>680</cp:revision>
  <cp:lastPrinted>2017-03-24T21:43:53Z</cp:lastPrinted>
  <dcterms:created xsi:type="dcterms:W3CDTF">1998-03-18T13:44:31Z</dcterms:created>
  <dcterms:modified xsi:type="dcterms:W3CDTF">2024-03-23T14:24:29Z</dcterms:modified>
</cp:coreProperties>
</file>