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36"/>
  </p:notesMasterIdLst>
  <p:handoutMasterIdLst>
    <p:handoutMasterId r:id="rId37"/>
  </p:handoutMasterIdLst>
  <p:sldIdLst>
    <p:sldId id="687" r:id="rId2"/>
    <p:sldId id="688" r:id="rId3"/>
    <p:sldId id="689" r:id="rId4"/>
    <p:sldId id="690" r:id="rId5"/>
    <p:sldId id="691" r:id="rId6"/>
    <p:sldId id="692" r:id="rId7"/>
    <p:sldId id="693" r:id="rId8"/>
    <p:sldId id="694" r:id="rId9"/>
    <p:sldId id="695" r:id="rId10"/>
    <p:sldId id="696" r:id="rId11"/>
    <p:sldId id="697" r:id="rId12"/>
    <p:sldId id="698" r:id="rId13"/>
    <p:sldId id="699" r:id="rId14"/>
    <p:sldId id="700" r:id="rId15"/>
    <p:sldId id="701" r:id="rId16"/>
    <p:sldId id="702" r:id="rId17"/>
    <p:sldId id="703" r:id="rId18"/>
    <p:sldId id="704" r:id="rId19"/>
    <p:sldId id="705" r:id="rId20"/>
    <p:sldId id="706" r:id="rId21"/>
    <p:sldId id="707" r:id="rId22"/>
    <p:sldId id="708" r:id="rId23"/>
    <p:sldId id="709" r:id="rId24"/>
    <p:sldId id="711" r:id="rId25"/>
    <p:sldId id="762" r:id="rId26"/>
    <p:sldId id="753" r:id="rId27"/>
    <p:sldId id="754" r:id="rId28"/>
    <p:sldId id="713" r:id="rId29"/>
    <p:sldId id="714" r:id="rId30"/>
    <p:sldId id="726" r:id="rId31"/>
    <p:sldId id="727" r:id="rId32"/>
    <p:sldId id="728" r:id="rId33"/>
    <p:sldId id="763" r:id="rId34"/>
    <p:sldId id="764" r:id="rId35"/>
  </p:sldIdLst>
  <p:sldSz cx="9144000" cy="6858000" type="screen4x3"/>
  <p:notesSz cx="6934200" cy="92202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400"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400"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400"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400" b="1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73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05">
          <p15:clr>
            <a:srgbClr val="A4A3A4"/>
          </p15:clr>
        </p15:guide>
        <p15:guide id="2" pos="218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A8487"/>
    <a:srgbClr val="1C5A61"/>
    <a:srgbClr val="0C6D9C"/>
    <a:srgbClr val="FF0000"/>
    <a:srgbClr val="CC3300"/>
    <a:srgbClr val="F5F5F5"/>
    <a:srgbClr val="F4F4F4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02" autoAdjust="0"/>
    <p:restoredTop sz="94551" autoAdjust="0"/>
  </p:normalViewPr>
  <p:slideViewPr>
    <p:cSldViewPr>
      <p:cViewPr varScale="1">
        <p:scale>
          <a:sx n="76" d="100"/>
          <a:sy n="76" d="100"/>
        </p:scale>
        <p:origin x="834" y="39"/>
      </p:cViewPr>
      <p:guideLst>
        <p:guide orient="horz" pos="2160"/>
        <p:guide pos="273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18776"/>
    </p:cViewPr>
  </p:sorterViewPr>
  <p:notesViewPr>
    <p:cSldViewPr>
      <p:cViewPr varScale="1">
        <p:scale>
          <a:sx n="83" d="100"/>
          <a:sy n="83" d="100"/>
        </p:scale>
        <p:origin x="-840" y="-66"/>
      </p:cViewPr>
      <p:guideLst>
        <p:guide orient="horz" pos="2905"/>
        <p:guide pos="2185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4" Type="http://schemas.openxmlformats.org/officeDocument/2006/relationships/image" Target="../media/image6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image" Target="../media/image13.e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image" Target="../media/image15.e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image" Target="../media/image15.e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image" Target="../media/image18.e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image" Target="../media/image20.e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emf"/><Relationship Id="rId1" Type="http://schemas.openxmlformats.org/officeDocument/2006/relationships/image" Target="../media/image17.e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2.emf"/><Relationship Id="rId1" Type="http://schemas.openxmlformats.org/officeDocument/2006/relationships/image" Target="../media/image20.e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22.emf"/><Relationship Id="rId1" Type="http://schemas.openxmlformats.org/officeDocument/2006/relationships/image" Target="../media/image20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22.emf"/><Relationship Id="rId1" Type="http://schemas.openxmlformats.org/officeDocument/2006/relationships/image" Target="../media/image20.e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image" Target="../media/image3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22369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2338" y="4379913"/>
            <a:ext cx="5087937" cy="414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5912" tIns="47958" rIns="95912" bIns="4795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notes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51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3163" y="698500"/>
            <a:ext cx="4591050" cy="34432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86012077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69900"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38213"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408113"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76425"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693738"/>
            <a:ext cx="4605337" cy="3454400"/>
          </a:xfrm>
          <a:solidFill>
            <a:srgbClr val="FFFFFF"/>
          </a:solidFill>
          <a:ln/>
        </p:spPr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925" y="4379913"/>
            <a:ext cx="5086350" cy="414655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0727" tIns="45359" rIns="90727" bIns="45359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664117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984833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18258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81166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143000"/>
            <a:ext cx="408305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9827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62174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679522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3525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55071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10913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62213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43688" y="152400"/>
            <a:ext cx="2085975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152400"/>
            <a:ext cx="6110288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680675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80400" cy="533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46613" y="1143000"/>
            <a:ext cx="4083050" cy="5181600"/>
          </a:xfrm>
        </p:spPr>
        <p:txBody>
          <a:bodyPr/>
          <a:lstStyle/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551883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152400"/>
            <a:ext cx="8280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11163" y="1143000"/>
            <a:ext cx="83185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 Third Level</a:t>
            </a:r>
          </a:p>
        </p:txBody>
      </p:sp>
      <p:grpSp>
        <p:nvGrpSpPr>
          <p:cNvPr id="1029" name="Group 16"/>
          <p:cNvGrpSpPr>
            <a:grpSpLocks/>
          </p:cNvGrpSpPr>
          <p:nvPr userDrawn="1"/>
        </p:nvGrpSpPr>
        <p:grpSpPr bwMode="auto">
          <a:xfrm>
            <a:off x="304800" y="838200"/>
            <a:ext cx="8534400" cy="152400"/>
            <a:chOff x="264" y="788"/>
            <a:chExt cx="5232" cy="124"/>
          </a:xfrm>
        </p:grpSpPr>
        <p:sp>
          <p:nvSpPr>
            <p:cNvPr id="1030" name="Rectangle 17"/>
            <p:cNvSpPr>
              <a:spLocks noChangeArrowheads="1"/>
            </p:cNvSpPr>
            <p:nvPr/>
          </p:nvSpPr>
          <p:spPr bwMode="auto">
            <a:xfrm>
              <a:off x="264" y="788"/>
              <a:ext cx="5232" cy="61"/>
            </a:xfrm>
            <a:prstGeom prst="rect">
              <a:avLst/>
            </a:prstGeom>
            <a:gradFill rotWithShape="0">
              <a:gsLst>
                <a:gs pos="0">
                  <a:srgbClr val="0E9BBA"/>
                </a:gs>
                <a:gs pos="50000">
                  <a:srgbClr val="12C2E9"/>
                </a:gs>
                <a:gs pos="100000">
                  <a:srgbClr val="0E9BBA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1031" name="Rectangle 18"/>
            <p:cNvSpPr>
              <a:spLocks noChangeArrowheads="1"/>
            </p:cNvSpPr>
            <p:nvPr/>
          </p:nvSpPr>
          <p:spPr bwMode="auto">
            <a:xfrm>
              <a:off x="264" y="881"/>
              <a:ext cx="5232" cy="31"/>
            </a:xfrm>
            <a:prstGeom prst="rect">
              <a:avLst/>
            </a:prstGeom>
            <a:gradFill rotWithShape="0">
              <a:gsLst>
                <a:gs pos="0">
                  <a:srgbClr val="B200B2"/>
                </a:gs>
                <a:gs pos="50000">
                  <a:srgbClr val="FF00FF"/>
                </a:gs>
                <a:gs pos="100000">
                  <a:srgbClr val="B200B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11" name="Text Box 10"/>
          <p:cNvSpPr txBox="1">
            <a:spLocks noChangeArrowheads="1"/>
          </p:cNvSpPr>
          <p:nvPr userDrawn="1"/>
        </p:nvSpPr>
        <p:spPr bwMode="auto">
          <a:xfrm>
            <a:off x="457200" y="6400800"/>
            <a:ext cx="85344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/>
              <a:t>10/26/2020             </a:t>
            </a:r>
            <a:r>
              <a:rPr lang="en-US" baseline="0"/>
              <a:t>         </a:t>
            </a:r>
            <a:r>
              <a:rPr lang="en-US" dirty="0"/>
              <a:t>Introduction to Data Mining, 2</a:t>
            </a:r>
            <a:r>
              <a:rPr lang="en-US" baseline="30000" dirty="0"/>
              <a:t>nd</a:t>
            </a:r>
            <a:r>
              <a:rPr lang="en-US" dirty="0"/>
              <a:t> Edition 			</a:t>
            </a:r>
            <a:r>
              <a:rPr lang="en-US" baseline="0" dirty="0"/>
              <a:t>           </a:t>
            </a:r>
            <a:fld id="{7C9F7F48-2944-4AF0-87BF-27ECBE076434}" type="slidenum">
              <a:rPr lang="en-US" smtClean="0"/>
              <a:pPr>
                <a:spcBef>
                  <a:spcPct val="50000"/>
                </a:spcBef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2pPr>
      <a:lvl3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3pPr>
      <a:lvl4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4pPr>
      <a:lvl5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5pPr>
      <a:lvl6pPr marL="4572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6pPr>
      <a:lvl7pPr marL="9144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7pPr>
      <a:lvl8pPr marL="13716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8pPr>
      <a:lvl9pPr marL="18288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9pPr>
    </p:titleStyle>
    <p:bodyStyle>
      <a:lvl1pPr marL="292100" indent="-2921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75000"/>
        <a:buFont typeface="Monotype Sorts" pitchFamily="2" charset="2"/>
        <a:buChar char="l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800100" indent="-3429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100000"/>
        <a:buFont typeface="Arial" charset="0"/>
        <a:buChar char="–"/>
        <a:defRPr sz="2400">
          <a:solidFill>
            <a:schemeClr val="tx1"/>
          </a:solidFill>
          <a:latin typeface="+mn-lt"/>
        </a:defRPr>
      </a:lvl2pPr>
      <a:lvl3pPr marL="9144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70000"/>
        <a:buFont typeface="Wingdings" pitchFamily="2" charset="2"/>
        <a:buChar char="u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2000">
          <a:solidFill>
            <a:schemeClr val="tx1"/>
          </a:solidFill>
          <a:latin typeface="Times New Roman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4.bin"/><Relationship Id="rId10" Type="http://schemas.openxmlformats.org/officeDocument/2006/relationships/image" Target="../media/image6.emf"/><Relationship Id="rId4" Type="http://schemas.openxmlformats.org/officeDocument/2006/relationships/image" Target="../media/image3.wmf"/><Relationship Id="rId9" Type="http://schemas.openxmlformats.org/officeDocument/2006/relationships/oleObject" Target="../embeddings/oleObject6.bin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8.png"/><Relationship Id="rId4" Type="http://schemas.openxmlformats.org/officeDocument/2006/relationships/image" Target="../media/image7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9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0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1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12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4.e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13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6.e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15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7.e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15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9.e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18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21.e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20.e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emf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22.e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17.e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emf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22.e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20.e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emf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8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22.e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20.e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5.e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27.e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image" Target="../media/image29.tmp"/><Relationship Id="rId2" Type="http://schemas.openxmlformats.org/officeDocument/2006/relationships/tags" Target="../tags/tag2.xml"/><Relationship Id="rId16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emf"/><Relationship Id="rId3" Type="http://schemas.openxmlformats.org/officeDocument/2006/relationships/oleObject" Target="../embeddings/oleObject29.bin"/><Relationship Id="rId7" Type="http://schemas.openxmlformats.org/officeDocument/2006/relationships/oleObject" Target="../embeddings/oleObject3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22.emf"/><Relationship Id="rId5" Type="http://schemas.openxmlformats.org/officeDocument/2006/relationships/oleObject" Target="../embeddings/oleObject30.bin"/><Relationship Id="rId4" Type="http://schemas.openxmlformats.org/officeDocument/2006/relationships/image" Target="../media/image20.e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33.emf"/><Relationship Id="rId5" Type="http://schemas.openxmlformats.org/officeDocument/2006/relationships/oleObject" Target="../embeddings/oleObject33.bin"/><Relationship Id="rId4" Type="http://schemas.openxmlformats.org/officeDocument/2006/relationships/image" Target="../media/image32.emf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228600" y="-152400"/>
            <a:ext cx="8763000" cy="838200"/>
          </a:xfrm>
        </p:spPr>
        <p:txBody>
          <a:bodyPr/>
          <a:lstStyle/>
          <a:p>
            <a:r>
              <a:rPr lang="en-US" altLang="en-US" dirty="0"/>
              <a:t>Data Mining</a:t>
            </a:r>
            <a:endParaRPr lang="en-US" altLang="en-US" sz="2800" dirty="0"/>
          </a:p>
        </p:txBody>
      </p:sp>
      <p:sp>
        <p:nvSpPr>
          <p:cNvPr id="3075" name="Rectangle 1027"/>
          <p:cNvSpPr>
            <a:spLocks noChangeArrowheads="1"/>
          </p:cNvSpPr>
          <p:nvPr/>
        </p:nvSpPr>
        <p:spPr bwMode="auto">
          <a:xfrm>
            <a:off x="0" y="2405616"/>
            <a:ext cx="8991600" cy="2899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zh-CN" altLang="en-US" sz="3200" b="0" dirty="0"/>
              <a:t>关联分析：基本概念与方法</a:t>
            </a:r>
            <a:endParaRPr lang="en-US" altLang="zh-CN" sz="3200" b="0" dirty="0"/>
          </a:p>
          <a:p>
            <a:pPr algn="ctr" eaLnBrk="1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None/>
            </a:pPr>
            <a:endParaRPr lang="en-US" altLang="en-US" sz="3200" b="0" dirty="0"/>
          </a:p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400" b="0" dirty="0"/>
              <a:t>吉林大学控制系</a:t>
            </a:r>
            <a:endParaRPr lang="en-US" altLang="zh-CN" sz="2400" b="0" dirty="0"/>
          </a:p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2400" b="0" dirty="0"/>
          </a:p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400" b="0" dirty="0"/>
              <a:t>刘云</a:t>
            </a:r>
            <a:endParaRPr lang="en-US" altLang="en-US" sz="2400" b="0" dirty="0"/>
          </a:p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4000" b="0" dirty="0"/>
          </a:p>
        </p:txBody>
      </p:sp>
    </p:spTree>
    <p:extLst>
      <p:ext uri="{BB962C8B-B14F-4D97-AF65-F5344CB8AC3E}">
        <p14:creationId xmlns:p14="http://schemas.microsoft.com/office/powerpoint/2010/main" val="3926944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关联规则挖掘</a:t>
            </a:r>
            <a:endParaRPr lang="en-US" altLang="en-US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143000"/>
            <a:ext cx="8318500" cy="1143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400" dirty="0"/>
              <a:t>给定一组交易清单，找到能够利用</a:t>
            </a:r>
            <a:r>
              <a:rPr lang="en-US" altLang="zh-CN" sz="2400" dirty="0"/>
              <a:t>A</a:t>
            </a:r>
            <a:r>
              <a:rPr lang="zh-CN" altLang="en-US" sz="2400" dirty="0"/>
              <a:t>条目预测</a:t>
            </a:r>
            <a:r>
              <a:rPr lang="en-US" altLang="zh-CN" sz="2400" dirty="0"/>
              <a:t>B</a:t>
            </a:r>
            <a:r>
              <a:rPr lang="zh-CN" altLang="en-US" sz="2400" dirty="0"/>
              <a:t>条目出现的规则</a:t>
            </a:r>
            <a:endParaRPr lang="en-US" altLang="en-US" sz="2400" dirty="0"/>
          </a:p>
        </p:txBody>
      </p:sp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304800" y="2819400"/>
            <a:ext cx="419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>
                <a:solidFill>
                  <a:srgbClr val="0C6D9C"/>
                </a:solidFill>
              </a:rPr>
              <a:t>Market-Basket transactions</a:t>
            </a:r>
          </a:p>
        </p:txBody>
      </p:sp>
      <p:graphicFrame>
        <p:nvGraphicFramePr>
          <p:cNvPr id="5125" name="Object 5"/>
          <p:cNvGraphicFramePr>
            <a:graphicFrameLocks noChangeAspect="1"/>
          </p:cNvGraphicFramePr>
          <p:nvPr/>
        </p:nvGraphicFramePr>
        <p:xfrm>
          <a:off x="228600" y="3429000"/>
          <a:ext cx="4343400" cy="2532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350" name="Document" r:id="rId3" imgW="3433292" imgH="1998228" progId="Word.Document.8">
                  <p:embed/>
                </p:oleObj>
              </mc:Choice>
              <mc:Fallback>
                <p:oleObj name="Document" r:id="rId3" imgW="3433292" imgH="1998228" progId="Word.Document.8">
                  <p:embed/>
                  <p:pic>
                    <p:nvPicPr>
                      <p:cNvPr id="512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3429000"/>
                        <a:ext cx="4343400" cy="2532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6" name="Text Box 6"/>
          <p:cNvSpPr txBox="1">
            <a:spLocks noChangeArrowheads="1"/>
          </p:cNvSpPr>
          <p:nvPr/>
        </p:nvSpPr>
        <p:spPr bwMode="auto">
          <a:xfrm>
            <a:off x="4876800" y="3048000"/>
            <a:ext cx="3810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/>
              <a:t>Example of Association Rules</a:t>
            </a:r>
          </a:p>
        </p:txBody>
      </p:sp>
      <p:sp>
        <p:nvSpPr>
          <p:cNvPr id="5127" name="Text Box 7"/>
          <p:cNvSpPr txBox="1">
            <a:spLocks noChangeArrowheads="1"/>
          </p:cNvSpPr>
          <p:nvPr/>
        </p:nvSpPr>
        <p:spPr bwMode="auto">
          <a:xfrm>
            <a:off x="5334000" y="3657600"/>
            <a:ext cx="327660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 dirty="0"/>
              <a:t>{Diaper} </a:t>
            </a:r>
            <a:r>
              <a:rPr lang="en-US" altLang="en-US" sz="1800" b="0" dirty="0">
                <a:sym typeface="Symbol" pitchFamily="18" charset="2"/>
              </a:rPr>
              <a:t> {Beer},</a:t>
            </a:r>
            <a:br>
              <a:rPr lang="en-US" altLang="en-US" sz="1800" b="0" dirty="0">
                <a:sym typeface="Symbol" pitchFamily="18" charset="2"/>
              </a:rPr>
            </a:br>
            <a:r>
              <a:rPr lang="en-US" altLang="en-US" sz="1800" b="0" dirty="0">
                <a:sym typeface="Symbol" pitchFamily="18" charset="2"/>
              </a:rPr>
              <a:t>{Milk, Bread}  {</a:t>
            </a:r>
            <a:r>
              <a:rPr lang="en-US" altLang="en-US" sz="1800" b="0" dirty="0" err="1">
                <a:sym typeface="Symbol" pitchFamily="18" charset="2"/>
              </a:rPr>
              <a:t>Eggs,Coke</a:t>
            </a:r>
            <a:r>
              <a:rPr lang="en-US" altLang="en-US" sz="1800" b="0" dirty="0">
                <a:sym typeface="Symbol" pitchFamily="18" charset="2"/>
              </a:rPr>
              <a:t>},</a:t>
            </a:r>
            <a:br>
              <a:rPr lang="en-US" altLang="en-US" sz="1800" b="0" dirty="0">
                <a:sym typeface="Symbol" pitchFamily="18" charset="2"/>
              </a:rPr>
            </a:br>
            <a:r>
              <a:rPr lang="en-US" altLang="en-US" sz="1800" b="0" dirty="0">
                <a:sym typeface="Symbol" pitchFamily="18" charset="2"/>
              </a:rPr>
              <a:t>{Beer, Bread}  {Milk},</a:t>
            </a:r>
          </a:p>
        </p:txBody>
      </p:sp>
      <p:sp>
        <p:nvSpPr>
          <p:cNvPr id="5128" name="Text Box 8"/>
          <p:cNvSpPr txBox="1">
            <a:spLocks noChangeArrowheads="1"/>
          </p:cNvSpPr>
          <p:nvPr/>
        </p:nvSpPr>
        <p:spPr bwMode="auto">
          <a:xfrm>
            <a:off x="4876800" y="4953000"/>
            <a:ext cx="40386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 b="0" dirty="0"/>
              <a:t>表示共同出现，而不是因果关系！</a:t>
            </a:r>
            <a:endParaRPr lang="en-US" altLang="en-US" sz="2000" b="0" dirty="0"/>
          </a:p>
        </p:txBody>
      </p:sp>
    </p:spTree>
    <p:extLst>
      <p:ext uri="{BB962C8B-B14F-4D97-AF65-F5344CB8AC3E}">
        <p14:creationId xmlns:p14="http://schemas.microsoft.com/office/powerpoint/2010/main" val="3466195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Definition: </a:t>
            </a:r>
            <a:r>
              <a:rPr lang="zh-CN" altLang="en-US" dirty="0"/>
              <a:t>频繁项集</a:t>
            </a:r>
            <a:endParaRPr lang="en-US" altLang="en-US" dirty="0"/>
          </a:p>
        </p:txBody>
      </p:sp>
      <p:sp>
        <p:nvSpPr>
          <p:cNvPr id="123187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066800"/>
            <a:ext cx="4876800" cy="5334000"/>
          </a:xfrm>
          <a:noFill/>
        </p:spPr>
        <p:txBody>
          <a:bodyPr/>
          <a:lstStyle/>
          <a:p>
            <a:pPr marL="342900" indent="-342900"/>
            <a:r>
              <a:rPr lang="en-US" altLang="en-US" sz="2000" b="1" dirty="0" err="1"/>
              <a:t>Itemset</a:t>
            </a:r>
            <a:r>
              <a:rPr lang="en-US" altLang="zh-CN" sz="2000" b="1" dirty="0"/>
              <a:t>-</a:t>
            </a:r>
            <a:r>
              <a:rPr lang="zh-CN" altLang="en-US" sz="2000" b="1" dirty="0"/>
              <a:t>项集</a:t>
            </a:r>
            <a:endParaRPr lang="en-US" altLang="en-US" sz="2000" b="1" dirty="0"/>
          </a:p>
          <a:p>
            <a:pPr marL="742950" lvl="1" indent="-285750"/>
            <a:r>
              <a:rPr lang="en-US" altLang="en-US" sz="1800" dirty="0"/>
              <a:t>A collection of one or more items</a:t>
            </a:r>
          </a:p>
          <a:p>
            <a:pPr marL="1143000" lvl="2" indent="-228600"/>
            <a:r>
              <a:rPr lang="en-US" altLang="en-US" sz="1600" dirty="0"/>
              <a:t>Example: {Milk, Bread, Diaper}</a:t>
            </a:r>
          </a:p>
          <a:p>
            <a:pPr marL="742950" lvl="1" indent="-285750"/>
            <a:r>
              <a:rPr lang="en-US" altLang="en-US" sz="1800" dirty="0"/>
              <a:t>k-</a:t>
            </a:r>
            <a:r>
              <a:rPr lang="en-US" altLang="en-US" sz="1800" dirty="0" err="1"/>
              <a:t>itemset</a:t>
            </a:r>
            <a:endParaRPr lang="en-US" altLang="en-US" sz="1800" dirty="0"/>
          </a:p>
          <a:p>
            <a:pPr marL="1143000" lvl="2" indent="-228600"/>
            <a:r>
              <a:rPr lang="en-US" altLang="en-US" sz="1600" dirty="0"/>
              <a:t>An </a:t>
            </a:r>
            <a:r>
              <a:rPr lang="en-US" altLang="en-US" sz="1600" dirty="0" err="1"/>
              <a:t>itemset</a:t>
            </a:r>
            <a:r>
              <a:rPr lang="en-US" altLang="en-US" sz="1600" dirty="0"/>
              <a:t> that contains k items</a:t>
            </a:r>
            <a:endParaRPr lang="en-US" altLang="en-US" sz="1600" b="1" dirty="0"/>
          </a:p>
          <a:p>
            <a:pPr marL="342900" indent="-342900"/>
            <a:r>
              <a:rPr lang="en-US" altLang="en-US" sz="2000" b="1" dirty="0"/>
              <a:t>Support count (</a:t>
            </a:r>
            <a:r>
              <a:rPr lang="en-US" altLang="en-US" sz="2000" b="1" dirty="0">
                <a:sym typeface="Symbol" pitchFamily="18" charset="2"/>
              </a:rPr>
              <a:t>)</a:t>
            </a:r>
            <a:r>
              <a:rPr lang="en-US" altLang="zh-CN" sz="2000" b="1" dirty="0">
                <a:sym typeface="Symbol" pitchFamily="18" charset="2"/>
              </a:rPr>
              <a:t>-</a:t>
            </a:r>
            <a:r>
              <a:rPr lang="zh-CN" altLang="en-US" sz="2000" b="1" dirty="0">
                <a:sym typeface="Symbol" pitchFamily="18" charset="2"/>
              </a:rPr>
              <a:t>支持数</a:t>
            </a:r>
            <a:endParaRPr lang="en-US" altLang="en-US" sz="2000" b="1" dirty="0">
              <a:sym typeface="Symbol" pitchFamily="18" charset="2"/>
            </a:endParaRPr>
          </a:p>
          <a:p>
            <a:pPr marL="742950" lvl="1" indent="-285750"/>
            <a:r>
              <a:rPr lang="en-US" altLang="en-US" sz="1800" dirty="0"/>
              <a:t>Frequency of occurrence of an </a:t>
            </a:r>
            <a:r>
              <a:rPr lang="en-US" altLang="en-US" sz="1800" dirty="0" err="1"/>
              <a:t>itemset</a:t>
            </a:r>
            <a:endParaRPr lang="en-US" altLang="en-US" sz="1800" dirty="0"/>
          </a:p>
          <a:p>
            <a:pPr marL="742950" lvl="1" indent="-285750"/>
            <a:r>
              <a:rPr lang="en-US" altLang="en-US" sz="1800" dirty="0"/>
              <a:t>E.g.   </a:t>
            </a:r>
            <a:r>
              <a:rPr lang="en-US" altLang="en-US" sz="1800" dirty="0">
                <a:sym typeface="Symbol" pitchFamily="18" charset="2"/>
              </a:rPr>
              <a:t>({Milk, </a:t>
            </a:r>
            <a:r>
              <a:rPr lang="en-US" altLang="en-US" sz="1800" dirty="0" err="1">
                <a:sym typeface="Symbol" pitchFamily="18" charset="2"/>
              </a:rPr>
              <a:t>Bread,Diaper</a:t>
            </a:r>
            <a:r>
              <a:rPr lang="en-US" altLang="en-US" sz="1800" dirty="0">
                <a:sym typeface="Symbol" pitchFamily="18" charset="2"/>
              </a:rPr>
              <a:t>}) = 2 </a:t>
            </a:r>
            <a:endParaRPr lang="en-US" altLang="en-US" sz="1800" dirty="0"/>
          </a:p>
          <a:p>
            <a:pPr marL="342900" indent="-342900"/>
            <a:r>
              <a:rPr lang="en-US" altLang="en-US" sz="2000" b="1" dirty="0"/>
              <a:t>Support</a:t>
            </a:r>
            <a:r>
              <a:rPr lang="en-US" altLang="zh-CN" sz="2000" b="1" dirty="0"/>
              <a:t>-</a:t>
            </a:r>
            <a:r>
              <a:rPr lang="zh-CN" altLang="en-US" sz="2000" b="1" dirty="0"/>
              <a:t>支持度</a:t>
            </a:r>
            <a:endParaRPr lang="en-US" altLang="en-US" sz="2000" b="1" dirty="0"/>
          </a:p>
          <a:p>
            <a:pPr marL="742950" lvl="1" indent="-285750"/>
            <a:r>
              <a:rPr lang="en-US" altLang="en-US" sz="1800" dirty="0"/>
              <a:t>Fraction of transactions that contain an </a:t>
            </a:r>
            <a:r>
              <a:rPr lang="en-US" altLang="en-US" sz="1800" dirty="0" err="1"/>
              <a:t>itemset</a:t>
            </a:r>
            <a:endParaRPr lang="en-US" altLang="en-US" sz="1800" dirty="0"/>
          </a:p>
          <a:p>
            <a:pPr marL="742950" lvl="1" indent="-285750"/>
            <a:r>
              <a:rPr lang="en-US" altLang="en-US" sz="1800" dirty="0"/>
              <a:t>E.g.   s({Milk, Bread, Diaper}) = 2/5</a:t>
            </a:r>
          </a:p>
          <a:p>
            <a:pPr marL="342900" indent="-342900"/>
            <a:r>
              <a:rPr lang="en-US" altLang="en-US" sz="2000" b="1" dirty="0"/>
              <a:t>Frequent </a:t>
            </a:r>
            <a:r>
              <a:rPr lang="en-US" altLang="en-US" sz="2000" b="1" dirty="0" err="1"/>
              <a:t>Itemset</a:t>
            </a:r>
            <a:r>
              <a:rPr lang="en-US" altLang="zh-CN" sz="2000" b="1" dirty="0"/>
              <a:t>-</a:t>
            </a:r>
            <a:r>
              <a:rPr lang="zh-CN" altLang="en-US" sz="2000" b="1" dirty="0"/>
              <a:t>频繁项集</a:t>
            </a:r>
            <a:endParaRPr lang="en-US" altLang="en-US" sz="2000" b="1" dirty="0"/>
          </a:p>
          <a:p>
            <a:pPr marL="742950" lvl="1" indent="-285750"/>
            <a:r>
              <a:rPr lang="en-US" altLang="en-US" sz="1800" dirty="0"/>
              <a:t>An </a:t>
            </a:r>
            <a:r>
              <a:rPr lang="en-US" altLang="en-US" sz="1800" dirty="0" err="1"/>
              <a:t>itemset</a:t>
            </a:r>
            <a:r>
              <a:rPr lang="en-US" altLang="en-US" sz="1800" dirty="0"/>
              <a:t> whose support is greater than or equal to a </a:t>
            </a:r>
            <a:r>
              <a:rPr lang="en-US" altLang="en-US" sz="1800" i="1" dirty="0" err="1"/>
              <a:t>minsup</a:t>
            </a:r>
            <a:r>
              <a:rPr lang="en-US" altLang="en-US" sz="1800" dirty="0"/>
              <a:t> threshold</a:t>
            </a:r>
          </a:p>
        </p:txBody>
      </p:sp>
      <p:graphicFrame>
        <p:nvGraphicFramePr>
          <p:cNvPr id="6148" name="Object 45"/>
          <p:cNvGraphicFramePr>
            <a:graphicFrameLocks noGrp="1" noChangeAspect="1"/>
          </p:cNvGraphicFramePr>
          <p:nvPr>
            <p:ph type="clipArt" sz="half" idx="2"/>
          </p:nvPr>
        </p:nvGraphicFramePr>
        <p:xfrm>
          <a:off x="5410200" y="2089150"/>
          <a:ext cx="3657600" cy="219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74" name="Document" r:id="rId3" imgW="3359338" imgH="2015504" progId="Word.Document.8">
                  <p:embed/>
                </p:oleObj>
              </mc:Choice>
              <mc:Fallback>
                <p:oleObj name="Document" r:id="rId3" imgW="3359338" imgH="2015504" progId="Word.Document.8">
                  <p:embed/>
                  <p:pic>
                    <p:nvPicPr>
                      <p:cNvPr id="6148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2089150"/>
                        <a:ext cx="3657600" cy="2195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1842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7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187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Definition: </a:t>
            </a:r>
            <a:r>
              <a:rPr lang="zh-CN" altLang="en-US" dirty="0"/>
              <a:t>关联规则</a:t>
            </a:r>
            <a:endParaRPr lang="en-US" altLang="en-US" dirty="0"/>
          </a:p>
        </p:txBody>
      </p:sp>
      <p:grpSp>
        <p:nvGrpSpPr>
          <p:cNvPr id="2" name="Group 23"/>
          <p:cNvGrpSpPr>
            <a:grpSpLocks/>
          </p:cNvGrpSpPr>
          <p:nvPr/>
        </p:nvGrpSpPr>
        <p:grpSpPr bwMode="auto">
          <a:xfrm>
            <a:off x="4784725" y="3733800"/>
            <a:ext cx="3978275" cy="2451100"/>
            <a:chOff x="3014" y="2304"/>
            <a:chExt cx="2574" cy="1592"/>
          </a:xfrm>
        </p:grpSpPr>
        <p:sp>
          <p:nvSpPr>
            <p:cNvPr id="7174" name="Text Box 11"/>
            <p:cNvSpPr txBox="1">
              <a:spLocks noChangeArrowheads="1"/>
            </p:cNvSpPr>
            <p:nvPr/>
          </p:nvSpPr>
          <p:spPr bwMode="auto">
            <a:xfrm>
              <a:off x="3264" y="2304"/>
              <a:ext cx="747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000" b="0">
                  <a:solidFill>
                    <a:srgbClr val="FF0000"/>
                  </a:solidFill>
                  <a:latin typeface="Times New Roman" pitchFamily="18" charset="0"/>
                </a:rPr>
                <a:t>Example:</a:t>
              </a:r>
              <a:endParaRPr lang="en-US" altLang="en-US" b="0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  <p:graphicFrame>
          <p:nvGraphicFramePr>
            <p:cNvPr id="7175" name="Object 12"/>
            <p:cNvGraphicFramePr>
              <a:graphicFrameLocks noChangeAspect="1"/>
            </p:cNvGraphicFramePr>
            <p:nvPr/>
          </p:nvGraphicFramePr>
          <p:xfrm>
            <a:off x="3711" y="2545"/>
            <a:ext cx="1877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9610" name="Equation" r:id="rId3" imgW="1574800" imgH="203200" progId="Equation.3">
                    <p:embed/>
                  </p:oleObj>
                </mc:Choice>
                <mc:Fallback>
                  <p:oleObj name="Equation" r:id="rId3" imgW="1574800" imgH="203200" progId="Equation.3">
                    <p:embed/>
                    <p:pic>
                      <p:nvPicPr>
                        <p:cNvPr id="7175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11" y="2545"/>
                          <a:ext cx="1877" cy="2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76" name="Object 13"/>
            <p:cNvGraphicFramePr>
              <a:graphicFrameLocks noChangeAspect="1"/>
            </p:cNvGraphicFramePr>
            <p:nvPr/>
          </p:nvGraphicFramePr>
          <p:xfrm>
            <a:off x="3060" y="2928"/>
            <a:ext cx="2460" cy="4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9611" name="Equation" r:id="rId5" imgW="4318000" imgH="787400" progId="Equation.3">
                    <p:embed/>
                  </p:oleObj>
                </mc:Choice>
                <mc:Fallback>
                  <p:oleObj name="Equation" r:id="rId5" imgW="4318000" imgH="787400" progId="Equation.3">
                    <p:embed/>
                    <p:pic>
                      <p:nvPicPr>
                        <p:cNvPr id="7176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60" y="2928"/>
                          <a:ext cx="2460" cy="4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77" name="Object 14"/>
            <p:cNvGraphicFramePr>
              <a:graphicFrameLocks noChangeAspect="1"/>
            </p:cNvGraphicFramePr>
            <p:nvPr/>
          </p:nvGraphicFramePr>
          <p:xfrm>
            <a:off x="3014" y="3456"/>
            <a:ext cx="2475" cy="4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9612" name="Equation" r:id="rId7" imgW="4470400" imgH="787400" progId="Equation.3">
                    <p:embed/>
                  </p:oleObj>
                </mc:Choice>
                <mc:Fallback>
                  <p:oleObj name="Equation" r:id="rId7" imgW="4470400" imgH="787400" progId="Equation.3">
                    <p:embed/>
                    <p:pic>
                      <p:nvPicPr>
                        <p:cNvPr id="7177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14" y="3456"/>
                          <a:ext cx="2475" cy="4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10387" name="Rectangle 19"/>
          <p:cNvSpPr>
            <a:spLocks noChangeArrowheads="1"/>
          </p:cNvSpPr>
          <p:nvPr/>
        </p:nvSpPr>
        <p:spPr bwMode="auto">
          <a:xfrm>
            <a:off x="304800" y="1066800"/>
            <a:ext cx="4876800" cy="533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en-US" sz="2000" dirty="0"/>
              <a:t>Association Rule</a:t>
            </a:r>
          </a:p>
          <a:p>
            <a:pPr lvl="1"/>
            <a:r>
              <a:rPr lang="zh-CN" altLang="en-US" sz="1800" b="0" dirty="0"/>
              <a:t>形式为</a:t>
            </a:r>
            <a:r>
              <a:rPr lang="en-US" altLang="en-US" sz="1800" b="0" dirty="0"/>
              <a:t>X </a:t>
            </a:r>
            <a:r>
              <a:rPr lang="en-US" altLang="en-US" sz="1800" b="0" dirty="0">
                <a:sym typeface="Symbol" pitchFamily="18" charset="2"/>
              </a:rPr>
              <a:t> Y</a:t>
            </a:r>
            <a:r>
              <a:rPr lang="zh-CN" altLang="en-US" sz="1800" b="0" dirty="0">
                <a:sym typeface="Symbol" pitchFamily="18" charset="2"/>
              </a:rPr>
              <a:t>的蕴含式</a:t>
            </a:r>
            <a:r>
              <a:rPr lang="en-US" altLang="en-US" sz="1800" b="0" dirty="0">
                <a:sym typeface="Symbol" pitchFamily="18" charset="2"/>
              </a:rPr>
              <a:t>, where X and Y are </a:t>
            </a:r>
            <a:r>
              <a:rPr lang="en-US" altLang="en-US" sz="1800" b="0" dirty="0" err="1">
                <a:sym typeface="Symbol" pitchFamily="18" charset="2"/>
              </a:rPr>
              <a:t>itemsets</a:t>
            </a:r>
            <a:endParaRPr lang="en-US" altLang="en-US" sz="1800" b="0" dirty="0">
              <a:sym typeface="Symbol" pitchFamily="18" charset="2"/>
            </a:endParaRPr>
          </a:p>
          <a:p>
            <a:pPr lvl="1"/>
            <a:r>
              <a:rPr lang="en-US" altLang="en-US" sz="1800" b="0" dirty="0"/>
              <a:t>Example:</a:t>
            </a:r>
            <a:br>
              <a:rPr lang="en-US" altLang="en-US" sz="1800" b="0" dirty="0"/>
            </a:br>
            <a:r>
              <a:rPr lang="en-US" altLang="en-US" sz="1800" b="0" dirty="0"/>
              <a:t>   {Milk, Diaper} </a:t>
            </a:r>
            <a:r>
              <a:rPr lang="en-US" altLang="en-US" sz="1800" b="0" dirty="0">
                <a:sym typeface="Symbol" pitchFamily="18" charset="2"/>
              </a:rPr>
              <a:t> {Beer}</a:t>
            </a:r>
            <a:r>
              <a:rPr lang="en-US" altLang="en-US" sz="1800" b="0" dirty="0"/>
              <a:t> </a:t>
            </a:r>
          </a:p>
          <a:p>
            <a:pPr lvl="1">
              <a:buFont typeface="Arial" charset="0"/>
              <a:buNone/>
            </a:pPr>
            <a:endParaRPr lang="en-US" altLang="en-US" sz="1800" dirty="0"/>
          </a:p>
          <a:p>
            <a:r>
              <a:rPr lang="en-US" altLang="en-US" sz="2000" dirty="0"/>
              <a:t>Rule Evaluation Metrics</a:t>
            </a:r>
            <a:endParaRPr lang="en-US" altLang="en-US" sz="2000" dirty="0">
              <a:sym typeface="Symbol" pitchFamily="18" charset="2"/>
            </a:endParaRPr>
          </a:p>
          <a:p>
            <a:pPr lvl="1"/>
            <a:r>
              <a:rPr lang="en-US" altLang="en-US" sz="1800" b="0" dirty="0"/>
              <a:t>Support (s)</a:t>
            </a:r>
            <a:r>
              <a:rPr lang="en-US" altLang="zh-CN" sz="1800" b="0" dirty="0"/>
              <a:t>-</a:t>
            </a:r>
            <a:r>
              <a:rPr lang="zh-CN" altLang="en-US" sz="1800" b="0" dirty="0"/>
              <a:t>支持度</a:t>
            </a:r>
            <a:endParaRPr lang="en-US" altLang="en-US" sz="1800" b="0" dirty="0"/>
          </a:p>
          <a:p>
            <a:pPr lvl="2"/>
            <a:r>
              <a:rPr lang="en-US" altLang="en-US" sz="1600" b="0" dirty="0"/>
              <a:t>Fraction of transactions that contain both X and Y</a:t>
            </a:r>
          </a:p>
          <a:p>
            <a:pPr lvl="2"/>
            <a:r>
              <a:rPr lang="en-US" altLang="zh-CN" sz="1600" b="0" dirty="0"/>
              <a:t>=P(X,Y)/N</a:t>
            </a:r>
            <a:endParaRPr lang="en-US" altLang="en-US" sz="1600" b="0" dirty="0"/>
          </a:p>
          <a:p>
            <a:pPr lvl="1"/>
            <a:r>
              <a:rPr lang="en-US" altLang="en-US" sz="1800" b="0" dirty="0"/>
              <a:t>Confidence (c)</a:t>
            </a:r>
            <a:r>
              <a:rPr lang="en-US" altLang="zh-CN" sz="1800" b="0" dirty="0"/>
              <a:t>-</a:t>
            </a:r>
            <a:r>
              <a:rPr lang="zh-CN" altLang="en-US" sz="1800" b="0" dirty="0"/>
              <a:t>置信度</a:t>
            </a:r>
            <a:endParaRPr lang="en-US" altLang="en-US" sz="1800" b="0" dirty="0"/>
          </a:p>
          <a:p>
            <a:pPr lvl="2"/>
            <a:r>
              <a:rPr lang="en-US" altLang="en-US" sz="1600" b="0" dirty="0"/>
              <a:t>Measures how often items in Y </a:t>
            </a:r>
            <a:br>
              <a:rPr lang="en-US" altLang="en-US" sz="1600" b="0" dirty="0"/>
            </a:br>
            <a:r>
              <a:rPr lang="en-US" altLang="en-US" sz="1600" b="0" dirty="0"/>
              <a:t>appear in transactions that</a:t>
            </a:r>
            <a:br>
              <a:rPr lang="en-US" altLang="en-US" sz="1600" b="0" dirty="0"/>
            </a:br>
            <a:r>
              <a:rPr lang="en-US" altLang="en-US" sz="1600" b="0" dirty="0"/>
              <a:t>contain X</a:t>
            </a:r>
          </a:p>
          <a:p>
            <a:pPr lvl="2"/>
            <a:r>
              <a:rPr lang="en-US" altLang="en-US" sz="1600" b="0" dirty="0"/>
              <a:t>=P(X,Y)/P(X)</a:t>
            </a:r>
          </a:p>
        </p:txBody>
      </p:sp>
      <p:graphicFrame>
        <p:nvGraphicFramePr>
          <p:cNvPr id="7173" name="Object 21"/>
          <p:cNvGraphicFramePr>
            <a:graphicFrameLocks noGrp="1" noChangeAspect="1"/>
          </p:cNvGraphicFramePr>
          <p:nvPr>
            <p:ph idx="1"/>
          </p:nvPr>
        </p:nvGraphicFramePr>
        <p:xfrm>
          <a:off x="5413375" y="1352550"/>
          <a:ext cx="3579813" cy="215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613" name="Document" r:id="rId9" imgW="3352666" imgH="2016134" progId="Word.Document.8">
                  <p:embed/>
                </p:oleObj>
              </mc:Choice>
              <mc:Fallback>
                <p:oleObj name="Document" r:id="rId9" imgW="3352666" imgH="2016134" progId="Word.Document.8">
                  <p:embed/>
                  <p:pic>
                    <p:nvPicPr>
                      <p:cNvPr id="7173" name="Object 2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3375" y="1352550"/>
                        <a:ext cx="3579813" cy="2152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51498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3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3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0387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Association Rule Mining Task</a:t>
            </a:r>
          </a:p>
        </p:txBody>
      </p:sp>
      <p:sp>
        <p:nvSpPr>
          <p:cNvPr id="1236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给定一组交易记录</a:t>
            </a:r>
            <a:r>
              <a:rPr lang="en-US" altLang="en-US" dirty="0"/>
              <a:t>T, </a:t>
            </a:r>
            <a:r>
              <a:rPr lang="zh-CN" altLang="en-US" dirty="0"/>
              <a:t>关联分析的任务是挖据出符合以下两个条件的所有的规则：</a:t>
            </a:r>
            <a:r>
              <a:rPr lang="en-US" altLang="en-US" dirty="0"/>
              <a:t> </a:t>
            </a:r>
          </a:p>
          <a:p>
            <a:pPr lvl="1"/>
            <a:r>
              <a:rPr lang="zh-CN" altLang="en-US" dirty="0"/>
              <a:t>支持数</a:t>
            </a:r>
            <a:r>
              <a:rPr lang="en-US" altLang="en-US" dirty="0"/>
              <a:t> </a:t>
            </a:r>
            <a:r>
              <a:rPr lang="en-US" altLang="en-US" dirty="0">
                <a:cs typeface="Arial" charset="0"/>
              </a:rPr>
              <a:t>≥ </a:t>
            </a:r>
            <a:r>
              <a:rPr lang="en-US" altLang="en-US" i="1" dirty="0" err="1">
                <a:cs typeface="Arial" charset="0"/>
              </a:rPr>
              <a:t>minsup</a:t>
            </a:r>
            <a:r>
              <a:rPr lang="en-US" altLang="en-US" i="1" dirty="0">
                <a:cs typeface="Arial" charset="0"/>
              </a:rPr>
              <a:t> </a:t>
            </a:r>
            <a:r>
              <a:rPr lang="en-US" altLang="en-US" dirty="0">
                <a:cs typeface="Arial" charset="0"/>
              </a:rPr>
              <a:t>threshold</a:t>
            </a:r>
          </a:p>
          <a:p>
            <a:pPr lvl="1"/>
            <a:r>
              <a:rPr lang="zh-CN" altLang="en-US" dirty="0">
                <a:cs typeface="Arial" charset="0"/>
              </a:rPr>
              <a:t>置信度</a:t>
            </a:r>
            <a:r>
              <a:rPr lang="en-US" altLang="en-US" dirty="0">
                <a:cs typeface="Arial" charset="0"/>
              </a:rPr>
              <a:t> ≥ </a:t>
            </a:r>
            <a:r>
              <a:rPr lang="en-US" altLang="en-US" i="1" dirty="0" err="1">
                <a:cs typeface="Arial" charset="0"/>
              </a:rPr>
              <a:t>minconf</a:t>
            </a:r>
            <a:r>
              <a:rPr lang="en-US" altLang="en-US" i="1" dirty="0">
                <a:cs typeface="Arial" charset="0"/>
              </a:rPr>
              <a:t> </a:t>
            </a:r>
            <a:r>
              <a:rPr lang="en-US" altLang="en-US" dirty="0">
                <a:cs typeface="Arial" charset="0"/>
              </a:rPr>
              <a:t>threshold</a:t>
            </a:r>
          </a:p>
          <a:p>
            <a:pPr lvl="1"/>
            <a:endParaRPr lang="en-US" altLang="en-US" dirty="0">
              <a:cs typeface="Arial" charset="0"/>
            </a:endParaRPr>
          </a:p>
          <a:p>
            <a:r>
              <a:rPr lang="en-US" altLang="en-US" dirty="0">
                <a:cs typeface="Arial" charset="0"/>
              </a:rPr>
              <a:t>Brute-force approach</a:t>
            </a:r>
            <a:r>
              <a:rPr lang="en-US" altLang="zh-CN" dirty="0">
                <a:cs typeface="Arial" charset="0"/>
              </a:rPr>
              <a:t>-</a:t>
            </a:r>
            <a:r>
              <a:rPr lang="zh-CN" altLang="en-US" dirty="0">
                <a:cs typeface="Arial" charset="0"/>
              </a:rPr>
              <a:t>蛮力法</a:t>
            </a:r>
            <a:r>
              <a:rPr lang="en-US" altLang="en-US" dirty="0">
                <a:cs typeface="Arial" charset="0"/>
              </a:rPr>
              <a:t>:</a:t>
            </a:r>
          </a:p>
          <a:p>
            <a:pPr lvl="1"/>
            <a:r>
              <a:rPr lang="en-US" altLang="en-US" dirty="0">
                <a:cs typeface="Arial" charset="0"/>
              </a:rPr>
              <a:t>List all possible association rules</a:t>
            </a:r>
          </a:p>
          <a:p>
            <a:pPr lvl="1"/>
            <a:r>
              <a:rPr lang="en-US" altLang="en-US" dirty="0">
                <a:cs typeface="Arial" charset="0"/>
              </a:rPr>
              <a:t>Compute the support and confidence for each rule</a:t>
            </a:r>
          </a:p>
          <a:p>
            <a:pPr lvl="1"/>
            <a:r>
              <a:rPr lang="en-US" altLang="en-US" dirty="0">
                <a:cs typeface="Arial" charset="0"/>
              </a:rPr>
              <a:t>Prune rules that fail the </a:t>
            </a:r>
            <a:r>
              <a:rPr lang="en-US" altLang="en-US" i="1" dirty="0" err="1">
                <a:cs typeface="Arial" charset="0"/>
              </a:rPr>
              <a:t>minsup</a:t>
            </a:r>
            <a:r>
              <a:rPr lang="en-US" altLang="en-US" dirty="0">
                <a:cs typeface="Arial" charset="0"/>
              </a:rPr>
              <a:t> and </a:t>
            </a:r>
            <a:r>
              <a:rPr lang="en-US" altLang="en-US" i="1" dirty="0" err="1">
                <a:cs typeface="Arial" charset="0"/>
              </a:rPr>
              <a:t>minconf</a:t>
            </a:r>
            <a:r>
              <a:rPr lang="en-US" altLang="en-US" dirty="0">
                <a:cs typeface="Arial" charset="0"/>
              </a:rPr>
              <a:t> thresholds</a:t>
            </a:r>
          </a:p>
          <a:p>
            <a:pPr lvl="1">
              <a:buFont typeface="Arial" charset="0"/>
              <a:buNone/>
            </a:pPr>
            <a:r>
              <a:rPr lang="en-US" altLang="en-US" dirty="0">
                <a:cs typeface="Arial" charset="0"/>
                <a:sym typeface="Symbol" pitchFamily="18" charset="2"/>
              </a:rPr>
              <a:t> </a:t>
            </a:r>
            <a:r>
              <a:rPr lang="en-US" altLang="en-US" dirty="0">
                <a:solidFill>
                  <a:srgbClr val="FF0000"/>
                </a:solidFill>
                <a:cs typeface="Arial" charset="0"/>
              </a:rPr>
              <a:t>Computationally prohibitive</a:t>
            </a:r>
            <a:r>
              <a:rPr lang="en-US" altLang="en-US" dirty="0">
                <a:cs typeface="Arial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639611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9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9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699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Computational Complexity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1163" y="990600"/>
            <a:ext cx="8318500" cy="1371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Given d unique items: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Total number of </a:t>
            </a:r>
            <a:r>
              <a:rPr lang="en-US" altLang="en-US" dirty="0" err="1"/>
              <a:t>itemsets</a:t>
            </a:r>
            <a:r>
              <a:rPr lang="en-US" altLang="en-US" dirty="0"/>
              <a:t> = 2</a:t>
            </a:r>
            <a:r>
              <a:rPr lang="en-US" altLang="en-US" baseline="30000" dirty="0"/>
              <a:t>d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Total number of possible association rules: </a:t>
            </a:r>
          </a:p>
        </p:txBody>
      </p:sp>
      <p:graphicFrame>
        <p:nvGraphicFramePr>
          <p:cNvPr id="9220" name="Object 2"/>
          <p:cNvGraphicFramePr>
            <a:graphicFrameLocks noChangeAspect="1"/>
          </p:cNvGraphicFramePr>
          <p:nvPr/>
        </p:nvGraphicFramePr>
        <p:xfrm>
          <a:off x="5257800" y="2514600"/>
          <a:ext cx="3662363" cy="164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422" name="Equation" r:id="rId3" imgW="2832100" imgH="1270000" progId="Equation.3">
                  <p:embed/>
                </p:oleObj>
              </mc:Choice>
              <mc:Fallback>
                <p:oleObj name="Equation" r:id="rId3" imgW="2832100" imgH="1270000" progId="Equation.3">
                  <p:embed/>
                  <p:pic>
                    <p:nvPicPr>
                      <p:cNvPr id="922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2514600"/>
                        <a:ext cx="3662363" cy="164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1" name="Text Box 5"/>
          <p:cNvSpPr txBox="1">
            <a:spLocks noChangeArrowheads="1"/>
          </p:cNvSpPr>
          <p:nvPr/>
        </p:nvSpPr>
        <p:spPr bwMode="auto">
          <a:xfrm>
            <a:off x="5410200" y="4648200"/>
            <a:ext cx="3200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/>
              <a:t>If d=</a:t>
            </a:r>
            <a:r>
              <a:rPr lang="en-US" altLang="en-US" sz="2000">
                <a:sym typeface="Symbol" pitchFamily="18" charset="2"/>
              </a:rPr>
              <a:t>6,  R = 602 rules</a:t>
            </a:r>
          </a:p>
        </p:txBody>
      </p:sp>
      <p:pic>
        <p:nvPicPr>
          <p:cNvPr id="9222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14" t="1904" r="7143" b="952"/>
          <a:stretch>
            <a:fillRect/>
          </a:stretch>
        </p:blipFill>
        <p:spPr bwMode="auto">
          <a:xfrm>
            <a:off x="152400" y="2324100"/>
            <a:ext cx="4876800" cy="407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8780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Mining Association Rules</a:t>
            </a:r>
          </a:p>
        </p:txBody>
      </p:sp>
      <p:sp>
        <p:nvSpPr>
          <p:cNvPr id="10243" name="Text Box 4"/>
          <p:cNvSpPr txBox="1">
            <a:spLocks noChangeArrowheads="1"/>
          </p:cNvSpPr>
          <p:nvPr/>
        </p:nvSpPr>
        <p:spPr bwMode="auto">
          <a:xfrm>
            <a:off x="4267200" y="1219200"/>
            <a:ext cx="47244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b="0">
                <a:solidFill>
                  <a:srgbClr val="CC3300"/>
                </a:solidFill>
                <a:sym typeface="Symbol" pitchFamily="18" charset="2"/>
              </a:rPr>
              <a:t>Example of Rules:</a:t>
            </a:r>
            <a:br>
              <a:rPr lang="en-US" altLang="en-US" sz="2400" b="0">
                <a:solidFill>
                  <a:srgbClr val="CC3300"/>
                </a:solidFill>
                <a:sym typeface="Symbol" pitchFamily="18" charset="2"/>
              </a:rPr>
            </a:br>
            <a:endParaRPr lang="en-US" altLang="en-US" sz="1000" b="0">
              <a:solidFill>
                <a:srgbClr val="CC3300"/>
              </a:solidFill>
              <a:sym typeface="Symbol" pitchFamily="18" charset="2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/>
              <a:t>{Milk,Diaper} </a:t>
            </a:r>
            <a:r>
              <a:rPr lang="en-US" altLang="en-US" sz="2000" b="0">
                <a:sym typeface="Symbol" pitchFamily="18" charset="2"/>
              </a:rPr>
              <a:t> {Beer} (s=0.4, c=0.67)</a:t>
            </a:r>
            <a:br>
              <a:rPr lang="en-US" altLang="en-US" sz="2000" b="0">
                <a:sym typeface="Symbol" pitchFamily="18" charset="2"/>
              </a:rPr>
            </a:br>
            <a:r>
              <a:rPr lang="en-US" altLang="en-US" sz="2000" b="0"/>
              <a:t>{Milk,Beer} </a:t>
            </a:r>
            <a:r>
              <a:rPr lang="en-US" altLang="en-US" sz="2000" b="0">
                <a:sym typeface="Symbol" pitchFamily="18" charset="2"/>
              </a:rPr>
              <a:t> {Diaper} (s=0.4, c=1.0)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/>
              <a:t>{Diaper,Beer} </a:t>
            </a:r>
            <a:r>
              <a:rPr lang="en-US" altLang="en-US" sz="2000" b="0">
                <a:sym typeface="Symbol" pitchFamily="18" charset="2"/>
              </a:rPr>
              <a:t> {Milk} (s=0.4, c=0.67)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>
                <a:sym typeface="Symbol" pitchFamily="18" charset="2"/>
              </a:rPr>
              <a:t>{Beer}  {Milk,Diaper} (s=0.4, c=0.67) </a:t>
            </a:r>
            <a:br>
              <a:rPr lang="en-US" altLang="en-US" sz="2000" b="0">
                <a:sym typeface="Symbol" pitchFamily="18" charset="2"/>
              </a:rPr>
            </a:br>
            <a:r>
              <a:rPr lang="en-US" altLang="en-US" sz="2000" b="0">
                <a:sym typeface="Symbol" pitchFamily="18" charset="2"/>
              </a:rPr>
              <a:t>{Diaper}  {Milk,Beer} (s=0.4, c=0.5) 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>
                <a:sym typeface="Symbol" pitchFamily="18" charset="2"/>
              </a:rPr>
              <a:t>{Milk}  {Diaper,Beer} (s=0.4, c=0.5)</a:t>
            </a:r>
          </a:p>
        </p:txBody>
      </p:sp>
      <p:graphicFrame>
        <p:nvGraphicFramePr>
          <p:cNvPr id="10244" name="Object 5"/>
          <p:cNvGraphicFramePr>
            <a:graphicFrameLocks noGrp="1" noChangeAspect="1"/>
          </p:cNvGraphicFramePr>
          <p:nvPr>
            <p:ph idx="1"/>
          </p:nvPr>
        </p:nvGraphicFramePr>
        <p:xfrm>
          <a:off x="307975" y="1371600"/>
          <a:ext cx="3727450" cy="224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448" name="Document" r:id="rId3" imgW="3352666" imgH="2016134" progId="Word.Document.8">
                  <p:embed/>
                </p:oleObj>
              </mc:Choice>
              <mc:Fallback>
                <p:oleObj name="Document" r:id="rId3" imgW="3352666" imgH="2016134" progId="Word.Document.8">
                  <p:embed/>
                  <p:pic>
                    <p:nvPicPr>
                      <p:cNvPr id="1024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975" y="1371600"/>
                        <a:ext cx="3727450" cy="224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11399" name="Text Box 7"/>
          <p:cNvSpPr txBox="1">
            <a:spLocks noChangeArrowheads="1"/>
          </p:cNvSpPr>
          <p:nvPr/>
        </p:nvSpPr>
        <p:spPr bwMode="auto">
          <a:xfrm>
            <a:off x="381000" y="3886200"/>
            <a:ext cx="7924800" cy="246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b="0" dirty="0">
                <a:solidFill>
                  <a:srgbClr val="CC3300"/>
                </a:solidFill>
                <a:sym typeface="Symbol" pitchFamily="18" charset="2"/>
              </a:rPr>
              <a:t>Observations: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b="0" dirty="0">
                <a:sym typeface="Symbol" pitchFamily="18" charset="2"/>
              </a:rPr>
              <a:t> All the above rules are binary partitions of the same </a:t>
            </a:r>
            <a:r>
              <a:rPr lang="en-US" altLang="en-US" sz="2000" b="0" dirty="0" err="1">
                <a:sym typeface="Symbol" pitchFamily="18" charset="2"/>
              </a:rPr>
              <a:t>itemset</a:t>
            </a:r>
            <a:r>
              <a:rPr lang="en-US" altLang="en-US" sz="2000" b="0" dirty="0">
                <a:sym typeface="Symbol" pitchFamily="18" charset="2"/>
              </a:rPr>
              <a:t>: </a:t>
            </a:r>
            <a:br>
              <a:rPr lang="en-US" altLang="en-US" sz="2000" b="0" dirty="0">
                <a:sym typeface="Symbol" pitchFamily="18" charset="2"/>
              </a:rPr>
            </a:br>
            <a:r>
              <a:rPr lang="en-US" altLang="en-US" sz="2000" b="0" dirty="0">
                <a:sym typeface="Symbol" pitchFamily="18" charset="2"/>
              </a:rPr>
              <a:t>	{Milk, Diaper, Beer}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b="0" dirty="0">
                <a:sym typeface="Symbol" pitchFamily="18" charset="2"/>
              </a:rPr>
              <a:t> </a:t>
            </a:r>
            <a:r>
              <a:rPr lang="en-US" altLang="en-US" sz="2000" dirty="0">
                <a:solidFill>
                  <a:srgbClr val="FF0000"/>
                </a:solidFill>
                <a:sym typeface="Symbol" pitchFamily="18" charset="2"/>
              </a:rPr>
              <a:t>Rules originating from the same </a:t>
            </a:r>
            <a:r>
              <a:rPr lang="en-US" altLang="en-US" sz="2000" dirty="0" err="1">
                <a:solidFill>
                  <a:srgbClr val="FF0000"/>
                </a:solidFill>
                <a:sym typeface="Symbol" pitchFamily="18" charset="2"/>
              </a:rPr>
              <a:t>itemset</a:t>
            </a:r>
            <a:r>
              <a:rPr lang="en-US" altLang="en-US" sz="2000" dirty="0">
                <a:solidFill>
                  <a:srgbClr val="FF0000"/>
                </a:solidFill>
                <a:sym typeface="Symbol" pitchFamily="18" charset="2"/>
              </a:rPr>
              <a:t> have identical support but can have different confidence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b="0" dirty="0">
                <a:sym typeface="Symbol" pitchFamily="18" charset="2"/>
              </a:rPr>
              <a:t> Thus, we may </a:t>
            </a:r>
            <a:r>
              <a:rPr lang="en-US" altLang="en-US" sz="2000" dirty="0">
                <a:solidFill>
                  <a:srgbClr val="FF0000"/>
                </a:solidFill>
                <a:sym typeface="Symbol" pitchFamily="18" charset="2"/>
              </a:rPr>
              <a:t>decouple</a:t>
            </a:r>
            <a:r>
              <a:rPr lang="en-US" altLang="en-US" sz="2000" b="0" dirty="0">
                <a:sym typeface="Symbol" pitchFamily="18" charset="2"/>
              </a:rPr>
              <a:t> the support and confidence requirements</a:t>
            </a:r>
          </a:p>
        </p:txBody>
      </p:sp>
    </p:spTree>
    <p:extLst>
      <p:ext uri="{BB962C8B-B14F-4D97-AF65-F5344CB8AC3E}">
        <p14:creationId xmlns:p14="http://schemas.microsoft.com/office/powerpoint/2010/main" val="1976968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139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Mining Association Rules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33400" indent="-533400"/>
            <a:r>
              <a:rPr lang="en-US" altLang="en-US" dirty="0"/>
              <a:t>Two-step approach: </a:t>
            </a:r>
          </a:p>
          <a:p>
            <a:pPr marL="914400" lvl="1" indent="-457200">
              <a:buFont typeface="Arial" charset="0"/>
              <a:buAutoNum type="arabicPeriod"/>
            </a:pPr>
            <a:r>
              <a:rPr lang="en-US" altLang="en-US" dirty="0">
                <a:solidFill>
                  <a:srgbClr val="FF0000"/>
                </a:solidFill>
              </a:rPr>
              <a:t>Frequent </a:t>
            </a:r>
            <a:r>
              <a:rPr lang="en-US" altLang="en-US" dirty="0" err="1">
                <a:solidFill>
                  <a:srgbClr val="FF0000"/>
                </a:solidFill>
              </a:rPr>
              <a:t>Itemset</a:t>
            </a:r>
            <a:r>
              <a:rPr lang="en-US" altLang="en-US" dirty="0">
                <a:solidFill>
                  <a:srgbClr val="FF0000"/>
                </a:solidFill>
              </a:rPr>
              <a:t> Generation</a:t>
            </a:r>
            <a:r>
              <a:rPr lang="en-US" altLang="zh-CN" dirty="0">
                <a:solidFill>
                  <a:srgbClr val="FF0000"/>
                </a:solidFill>
              </a:rPr>
              <a:t>-</a:t>
            </a:r>
            <a:r>
              <a:rPr lang="zh-CN" altLang="en-US" dirty="0">
                <a:solidFill>
                  <a:srgbClr val="FF0000"/>
                </a:solidFill>
              </a:rPr>
              <a:t>频繁项集的生成</a:t>
            </a:r>
            <a:endParaRPr lang="en-US" altLang="en-US" dirty="0"/>
          </a:p>
          <a:p>
            <a:pPr marL="1295400" lvl="2" indent="-381000">
              <a:buFont typeface="Arial" charset="0"/>
              <a:buChar char="–"/>
            </a:pPr>
            <a:r>
              <a:rPr lang="en-US" altLang="en-US" dirty="0"/>
              <a:t>Generate all </a:t>
            </a:r>
            <a:r>
              <a:rPr lang="en-US" altLang="en-US" dirty="0" err="1"/>
              <a:t>itemsets</a:t>
            </a:r>
            <a:r>
              <a:rPr lang="en-US" altLang="en-US" dirty="0"/>
              <a:t> whose support </a:t>
            </a:r>
            <a:r>
              <a:rPr lang="en-US" altLang="en-US" dirty="0">
                <a:sym typeface="Symbol" pitchFamily="18" charset="2"/>
              </a:rPr>
              <a:t> </a:t>
            </a:r>
            <a:r>
              <a:rPr lang="en-US" altLang="en-US" dirty="0" err="1"/>
              <a:t>minsup</a:t>
            </a:r>
            <a:endParaRPr lang="en-US" altLang="en-US" dirty="0"/>
          </a:p>
          <a:p>
            <a:pPr marL="1295400" lvl="2" indent="-381000">
              <a:buFont typeface="Arial" charset="0"/>
              <a:buNone/>
            </a:pPr>
            <a:endParaRPr lang="en-US" altLang="en-US" dirty="0"/>
          </a:p>
          <a:p>
            <a:pPr marL="914400" lvl="1" indent="-457200">
              <a:buFont typeface="Arial" charset="0"/>
              <a:buAutoNum type="arabicPeriod"/>
            </a:pPr>
            <a:r>
              <a:rPr lang="en-US" altLang="en-US" dirty="0">
                <a:solidFill>
                  <a:srgbClr val="FF0000"/>
                </a:solidFill>
              </a:rPr>
              <a:t>Rule Generation</a:t>
            </a:r>
            <a:r>
              <a:rPr lang="en-US" altLang="zh-CN" dirty="0">
                <a:solidFill>
                  <a:srgbClr val="FF0000"/>
                </a:solidFill>
              </a:rPr>
              <a:t>-</a:t>
            </a:r>
            <a:r>
              <a:rPr lang="zh-CN" altLang="en-US" dirty="0">
                <a:solidFill>
                  <a:srgbClr val="FF0000"/>
                </a:solidFill>
              </a:rPr>
              <a:t>规则的生成</a:t>
            </a:r>
            <a:endParaRPr lang="en-US" altLang="en-US" dirty="0"/>
          </a:p>
          <a:p>
            <a:pPr marL="1295400" lvl="2" indent="-381000">
              <a:buFont typeface="Arial" charset="0"/>
              <a:buChar char="–"/>
            </a:pPr>
            <a:r>
              <a:rPr lang="en-US" altLang="en-US" dirty="0"/>
              <a:t>Generate high confidence rules from each frequent </a:t>
            </a:r>
            <a:r>
              <a:rPr lang="en-US" altLang="en-US" dirty="0" err="1"/>
              <a:t>itemset</a:t>
            </a:r>
            <a:r>
              <a:rPr lang="en-US" altLang="en-US" dirty="0"/>
              <a:t>, where each rule is a binary partitioning of a frequent </a:t>
            </a:r>
            <a:r>
              <a:rPr lang="en-US" altLang="en-US" dirty="0" err="1"/>
              <a:t>itemset</a:t>
            </a:r>
            <a:endParaRPr lang="en-US" altLang="en-US" dirty="0"/>
          </a:p>
          <a:p>
            <a:pPr marL="533400" indent="-533400"/>
            <a:endParaRPr lang="en-US" altLang="en-US" dirty="0"/>
          </a:p>
          <a:p>
            <a:pPr marL="533400" indent="-533400"/>
            <a:r>
              <a:rPr lang="en-US" altLang="en-US" b="1" dirty="0"/>
              <a:t>Frequent </a:t>
            </a:r>
            <a:r>
              <a:rPr lang="en-US" altLang="en-US" b="1" dirty="0" err="1"/>
              <a:t>itemset</a:t>
            </a:r>
            <a:r>
              <a:rPr lang="en-US" altLang="en-US" b="1" dirty="0"/>
              <a:t> generation is still computationally expensive</a:t>
            </a:r>
          </a:p>
          <a:p>
            <a:pPr marL="533400" indent="-533400">
              <a:buFont typeface="Monotype Sorts" pitchFamily="2" charset="2"/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103467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Frequent Itemset Generation</a:t>
            </a:r>
          </a:p>
        </p:txBody>
      </p:sp>
      <p:graphicFrame>
        <p:nvGraphicFramePr>
          <p:cNvPr id="12291" name="Object 3"/>
          <p:cNvGraphicFramePr>
            <a:graphicFrameLocks noChangeAspect="1"/>
          </p:cNvGraphicFramePr>
          <p:nvPr/>
        </p:nvGraphicFramePr>
        <p:xfrm>
          <a:off x="304800" y="990600"/>
          <a:ext cx="7034213" cy="5313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70" name="VISIO" r:id="rId3" imgW="9811512" imgH="7395972" progId="Visio.Drawing.6">
                  <p:embed/>
                </p:oleObj>
              </mc:Choice>
              <mc:Fallback>
                <p:oleObj name="VISIO" r:id="rId3" imgW="9811512" imgH="7395972" progId="Visio.Drawing.6">
                  <p:embed/>
                  <p:pic>
                    <p:nvPicPr>
                      <p:cNvPr id="1229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990600"/>
                        <a:ext cx="7034213" cy="5313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6248400" y="5257800"/>
            <a:ext cx="27432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/>
              <a:t>Given d items, there are 2</a:t>
            </a:r>
            <a:r>
              <a:rPr lang="en-US" altLang="en-US" sz="2000" baseline="30000"/>
              <a:t>d</a:t>
            </a:r>
            <a:r>
              <a:rPr lang="en-US" altLang="en-US" sz="2000"/>
              <a:t> possible candidate itemsets</a:t>
            </a:r>
            <a:endParaRPr lang="en-US" altLang="en-US" sz="2000"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2581671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Frequent </a:t>
            </a:r>
            <a:r>
              <a:rPr lang="en-US" altLang="en-US" dirty="0" err="1"/>
              <a:t>Itemset</a:t>
            </a:r>
            <a:r>
              <a:rPr lang="en-US" altLang="en-US" dirty="0"/>
              <a:t> Generation</a:t>
            </a:r>
            <a:r>
              <a:rPr lang="en-US" altLang="zh-CN" dirty="0"/>
              <a:t>-</a:t>
            </a:r>
            <a:r>
              <a:rPr lang="zh-CN" altLang="en-US" dirty="0"/>
              <a:t>生成</a:t>
            </a:r>
            <a:endParaRPr lang="en-US" altLang="en-US" dirty="0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990600"/>
            <a:ext cx="8839200" cy="5410200"/>
          </a:xfrm>
        </p:spPr>
        <p:txBody>
          <a:bodyPr/>
          <a:lstStyle/>
          <a:p>
            <a:r>
              <a:rPr lang="en-US" altLang="en-US" dirty="0"/>
              <a:t>Brute-force approach</a:t>
            </a:r>
            <a:r>
              <a:rPr lang="en-US" altLang="zh-CN" dirty="0"/>
              <a:t>-</a:t>
            </a:r>
            <a:r>
              <a:rPr lang="zh-CN" altLang="en-US" dirty="0"/>
              <a:t>蛮力法</a:t>
            </a:r>
            <a:r>
              <a:rPr lang="en-US" altLang="en-US" dirty="0"/>
              <a:t>: </a:t>
            </a:r>
          </a:p>
          <a:p>
            <a:pPr lvl="1"/>
            <a:r>
              <a:rPr lang="en-US" altLang="en-US" dirty="0"/>
              <a:t>Each </a:t>
            </a:r>
            <a:r>
              <a:rPr lang="en-US" altLang="en-US" dirty="0" err="1"/>
              <a:t>itemset</a:t>
            </a:r>
            <a:r>
              <a:rPr lang="en-US" altLang="en-US" dirty="0"/>
              <a:t> in the lattice is a </a:t>
            </a:r>
            <a:r>
              <a:rPr lang="en-US" altLang="en-US" dirty="0">
                <a:solidFill>
                  <a:srgbClr val="FF0000"/>
                </a:solidFill>
              </a:rPr>
              <a:t>candidate</a:t>
            </a:r>
            <a:r>
              <a:rPr lang="en-US" altLang="en-US" dirty="0"/>
              <a:t> frequent </a:t>
            </a:r>
            <a:r>
              <a:rPr lang="en-US" altLang="en-US" dirty="0" err="1"/>
              <a:t>itemset</a:t>
            </a:r>
            <a:endParaRPr lang="en-US" altLang="en-US" dirty="0"/>
          </a:p>
          <a:p>
            <a:pPr lvl="1"/>
            <a:r>
              <a:rPr lang="en-US" altLang="en-US" dirty="0"/>
              <a:t>Count the support of each candidate by scanning the database</a:t>
            </a:r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pPr lvl="1"/>
            <a:r>
              <a:rPr lang="en-US" altLang="en-US" dirty="0"/>
              <a:t>Match each transaction against every candidate</a:t>
            </a:r>
          </a:p>
          <a:p>
            <a:pPr lvl="1"/>
            <a:r>
              <a:rPr lang="en-US" altLang="en-US" dirty="0"/>
              <a:t>Complexity ~ O(</a:t>
            </a:r>
            <a:r>
              <a:rPr lang="en-US" altLang="en-US" dirty="0" err="1"/>
              <a:t>NMw</a:t>
            </a:r>
            <a:r>
              <a:rPr lang="en-US" altLang="en-US" dirty="0"/>
              <a:t>) =&gt; </a:t>
            </a:r>
            <a:r>
              <a:rPr lang="en-US" altLang="en-US" dirty="0">
                <a:solidFill>
                  <a:srgbClr val="FF0000"/>
                </a:solidFill>
              </a:rPr>
              <a:t>Expensive since M = 2</a:t>
            </a:r>
            <a:r>
              <a:rPr lang="en-US" altLang="en-US" baseline="30000" dirty="0">
                <a:solidFill>
                  <a:srgbClr val="FF0000"/>
                </a:solidFill>
              </a:rPr>
              <a:t>d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/>
              <a:t>!!!</a:t>
            </a:r>
          </a:p>
        </p:txBody>
      </p:sp>
      <p:graphicFrame>
        <p:nvGraphicFramePr>
          <p:cNvPr id="13316" name="Object 4"/>
          <p:cNvGraphicFramePr>
            <a:graphicFrameLocks noChangeAspect="1"/>
          </p:cNvGraphicFramePr>
          <p:nvPr/>
        </p:nvGraphicFramePr>
        <p:xfrm>
          <a:off x="1144588" y="2743200"/>
          <a:ext cx="7281862" cy="266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96" name="Visio" r:id="rId3" imgW="7643978" imgH="2744343" progId="Visio.Drawing.6">
                  <p:embed/>
                </p:oleObj>
              </mc:Choice>
              <mc:Fallback>
                <p:oleObj name="Visio" r:id="rId3" imgW="7643978" imgH="2744343" progId="Visio.Drawing.6">
                  <p:embed/>
                  <p:pic>
                    <p:nvPicPr>
                      <p:cNvPr id="1331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4588" y="2743200"/>
                        <a:ext cx="7281862" cy="2667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524592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534400" cy="533400"/>
          </a:xfrm>
        </p:spPr>
        <p:txBody>
          <a:bodyPr/>
          <a:lstStyle/>
          <a:p>
            <a:r>
              <a:rPr lang="en-US" altLang="en-US"/>
              <a:t>Frequent Itemset Generation Strategies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1163" y="1066800"/>
            <a:ext cx="8318500" cy="5257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Reduce the </a:t>
            </a:r>
            <a:r>
              <a:rPr lang="en-US" altLang="en-US" dirty="0">
                <a:solidFill>
                  <a:srgbClr val="FF0000"/>
                </a:solidFill>
              </a:rPr>
              <a:t>number of candidates</a:t>
            </a:r>
            <a:r>
              <a:rPr lang="en-US" altLang="en-US" dirty="0"/>
              <a:t> (M)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Complete search: M=2</a:t>
            </a:r>
            <a:r>
              <a:rPr lang="en-US" altLang="en-US" baseline="30000" dirty="0"/>
              <a:t>d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Use pruning techniques to reduce M</a:t>
            </a:r>
          </a:p>
          <a:p>
            <a:pPr lvl="4">
              <a:lnSpc>
                <a:spcPct val="90000"/>
              </a:lnSpc>
            </a:pPr>
            <a:endParaRPr lang="en-US" altLang="en-US" sz="1200" dirty="0"/>
          </a:p>
          <a:p>
            <a:pPr>
              <a:lnSpc>
                <a:spcPct val="90000"/>
              </a:lnSpc>
            </a:pPr>
            <a:r>
              <a:rPr lang="en-US" altLang="en-US" dirty="0"/>
              <a:t>Reduce the </a:t>
            </a:r>
            <a:r>
              <a:rPr lang="en-US" altLang="en-US" dirty="0">
                <a:solidFill>
                  <a:srgbClr val="FF0000"/>
                </a:solidFill>
              </a:rPr>
              <a:t>number of transactions </a:t>
            </a:r>
            <a:r>
              <a:rPr lang="en-US" altLang="en-US" dirty="0"/>
              <a:t>(N)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Reduce size of N as the size of </a:t>
            </a:r>
            <a:r>
              <a:rPr lang="en-US" altLang="en-US" dirty="0" err="1"/>
              <a:t>itemset</a:t>
            </a:r>
            <a:r>
              <a:rPr lang="en-US" altLang="en-US" dirty="0"/>
              <a:t> increases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Used by </a:t>
            </a:r>
            <a:r>
              <a:rPr lang="en-US" altLang="en-US" dirty="0">
                <a:solidFill>
                  <a:srgbClr val="FF0000"/>
                </a:solidFill>
              </a:rPr>
              <a:t>DHP and vertical-based </a:t>
            </a:r>
            <a:r>
              <a:rPr lang="en-US" altLang="en-US" dirty="0"/>
              <a:t>mining algorithms</a:t>
            </a:r>
          </a:p>
          <a:p>
            <a:pPr lvl="4">
              <a:lnSpc>
                <a:spcPct val="90000"/>
              </a:lnSpc>
            </a:pPr>
            <a:endParaRPr lang="en-US" altLang="en-US" sz="1000" dirty="0"/>
          </a:p>
          <a:p>
            <a:pPr>
              <a:lnSpc>
                <a:spcPct val="90000"/>
              </a:lnSpc>
            </a:pPr>
            <a:r>
              <a:rPr lang="en-US" altLang="en-US" dirty="0"/>
              <a:t>Reduce the </a:t>
            </a:r>
            <a:r>
              <a:rPr lang="en-US" altLang="en-US" dirty="0">
                <a:solidFill>
                  <a:srgbClr val="FF0000"/>
                </a:solidFill>
              </a:rPr>
              <a:t>number of comparisons</a:t>
            </a:r>
            <a:r>
              <a:rPr lang="en-US" altLang="en-US" dirty="0"/>
              <a:t> (NM)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Use efficient data structures to store the candidates or transactions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No need to match every candidate against every transaction</a:t>
            </a:r>
          </a:p>
        </p:txBody>
      </p:sp>
    </p:spTree>
    <p:extLst>
      <p:ext uri="{BB962C8B-B14F-4D97-AF65-F5344CB8AC3E}">
        <p14:creationId xmlns:p14="http://schemas.microsoft.com/office/powerpoint/2010/main" val="1036179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Reducing Number of Candidates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1163" y="1143000"/>
            <a:ext cx="8580437" cy="5181600"/>
          </a:xfrm>
        </p:spPr>
        <p:txBody>
          <a:bodyPr/>
          <a:lstStyle/>
          <a:p>
            <a:r>
              <a:rPr lang="en-US" altLang="en-US" dirty="0" err="1">
                <a:solidFill>
                  <a:srgbClr val="CC3300"/>
                </a:solidFill>
              </a:rPr>
              <a:t>Apriori</a:t>
            </a:r>
            <a:r>
              <a:rPr lang="en-US" altLang="en-US" dirty="0">
                <a:solidFill>
                  <a:srgbClr val="CC3300"/>
                </a:solidFill>
              </a:rPr>
              <a:t> principle</a:t>
            </a:r>
            <a:r>
              <a:rPr lang="en-US" altLang="zh-CN" dirty="0">
                <a:solidFill>
                  <a:srgbClr val="CC3300"/>
                </a:solidFill>
              </a:rPr>
              <a:t>-</a:t>
            </a:r>
            <a:r>
              <a:rPr lang="zh-CN" altLang="en-US" dirty="0">
                <a:solidFill>
                  <a:srgbClr val="CC3300"/>
                </a:solidFill>
              </a:rPr>
              <a:t>先验原则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dirty="0"/>
              <a:t>If an </a:t>
            </a:r>
            <a:r>
              <a:rPr lang="en-US" altLang="en-US" dirty="0" err="1"/>
              <a:t>itemset</a:t>
            </a:r>
            <a:r>
              <a:rPr lang="en-US" altLang="en-US" dirty="0"/>
              <a:t> is frequent, then all of its subsets must also be frequent</a:t>
            </a:r>
            <a:r>
              <a:rPr lang="en-US" altLang="zh-CN" dirty="0"/>
              <a:t>-</a:t>
            </a:r>
            <a:r>
              <a:rPr lang="zh-CN" altLang="en-US" dirty="0"/>
              <a:t>一个频繁项集的所有子集都是频繁项集</a:t>
            </a:r>
            <a:endParaRPr lang="en-US" altLang="zh-CN" dirty="0"/>
          </a:p>
          <a:p>
            <a:pPr lvl="1"/>
            <a:r>
              <a:rPr lang="zh-CN" altLang="en-US" dirty="0"/>
              <a:t>逆反命题也成立</a:t>
            </a:r>
            <a:endParaRPr lang="en-US" altLang="en-US" dirty="0"/>
          </a:p>
          <a:p>
            <a:r>
              <a:rPr lang="en-US" altLang="en-US" dirty="0" err="1"/>
              <a:t>Apriori</a:t>
            </a:r>
            <a:r>
              <a:rPr lang="en-US" altLang="en-US" dirty="0"/>
              <a:t> principle holds due to the following property of the support measure:</a:t>
            </a:r>
          </a:p>
          <a:p>
            <a:endParaRPr lang="en-US" altLang="en-US" dirty="0"/>
          </a:p>
          <a:p>
            <a:endParaRPr lang="en-US" altLang="en-US" dirty="0"/>
          </a:p>
          <a:p>
            <a:pPr lvl="1"/>
            <a:r>
              <a:rPr lang="zh-CN" altLang="en-US" dirty="0"/>
              <a:t>一个项集的支持数永远不会超过它的任一子集</a:t>
            </a:r>
            <a:endParaRPr lang="en-US" altLang="en-US" dirty="0"/>
          </a:p>
          <a:p>
            <a:pPr lvl="1"/>
            <a:r>
              <a:rPr lang="en-US" altLang="en-US" dirty="0"/>
              <a:t>This is known as the </a:t>
            </a:r>
            <a:r>
              <a:rPr lang="en-US" altLang="en-US" dirty="0">
                <a:solidFill>
                  <a:srgbClr val="CC3300"/>
                </a:solidFill>
              </a:rPr>
              <a:t>anti-monotone</a:t>
            </a:r>
            <a:r>
              <a:rPr lang="en-US" altLang="en-US" dirty="0"/>
              <a:t> property</a:t>
            </a:r>
            <a:r>
              <a:rPr lang="en-US" altLang="zh-CN" dirty="0"/>
              <a:t>-</a:t>
            </a:r>
            <a:r>
              <a:rPr lang="zh-CN" altLang="en-US" dirty="0"/>
              <a:t>反单调性质</a:t>
            </a:r>
            <a:r>
              <a:rPr lang="en-US" altLang="en-US" dirty="0"/>
              <a:t> of support</a:t>
            </a:r>
          </a:p>
        </p:txBody>
      </p:sp>
      <p:graphicFrame>
        <p:nvGraphicFramePr>
          <p:cNvPr id="15364" name="Object 4"/>
          <p:cNvGraphicFramePr>
            <a:graphicFrameLocks noChangeAspect="1"/>
          </p:cNvGraphicFramePr>
          <p:nvPr/>
        </p:nvGraphicFramePr>
        <p:xfrm>
          <a:off x="1981200" y="3984625"/>
          <a:ext cx="5715000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23" name="Equation" r:id="rId3" imgW="1993900" imgH="203200" progId="Equation.3">
                  <p:embed/>
                </p:oleObj>
              </mc:Choice>
              <mc:Fallback>
                <p:oleObj name="Equation" r:id="rId3" imgW="1993900" imgH="203200" progId="Equation.3">
                  <p:embed/>
                  <p:pic>
                    <p:nvPicPr>
                      <p:cNvPr id="1536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3984625"/>
                        <a:ext cx="5715000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689319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86" name="Group 2"/>
          <p:cNvGrpSpPr>
            <a:grpSpLocks/>
          </p:cNvGrpSpPr>
          <p:nvPr/>
        </p:nvGrpSpPr>
        <p:grpSpPr bwMode="auto">
          <a:xfrm>
            <a:off x="228600" y="1089025"/>
            <a:ext cx="8831263" cy="5235575"/>
            <a:chOff x="144" y="686"/>
            <a:chExt cx="5563" cy="3298"/>
          </a:xfrm>
        </p:grpSpPr>
        <p:sp>
          <p:nvSpPr>
            <p:cNvPr id="16391" name="Line 3"/>
            <p:cNvSpPr>
              <a:spLocks noChangeShapeType="1"/>
            </p:cNvSpPr>
            <p:nvPr/>
          </p:nvSpPr>
          <p:spPr bwMode="auto">
            <a:xfrm flipV="1">
              <a:off x="864" y="1920"/>
              <a:ext cx="576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2" name="Text Box 4"/>
            <p:cNvSpPr txBox="1">
              <a:spLocks noChangeArrowheads="1"/>
            </p:cNvSpPr>
            <p:nvPr/>
          </p:nvSpPr>
          <p:spPr bwMode="auto">
            <a:xfrm>
              <a:off x="144" y="2112"/>
              <a:ext cx="1008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000" b="0">
                  <a:solidFill>
                    <a:srgbClr val="0C6D9C"/>
                  </a:solidFill>
                </a:rPr>
                <a:t>Found to be Infrequent</a:t>
              </a:r>
              <a:endParaRPr lang="en-US" altLang="en-US" sz="2000" b="0">
                <a:solidFill>
                  <a:srgbClr val="0C6D9C"/>
                </a:solidFill>
                <a:sym typeface="Symbol" pitchFamily="18" charset="2"/>
              </a:endParaRPr>
            </a:p>
          </p:txBody>
        </p:sp>
        <p:graphicFrame>
          <p:nvGraphicFramePr>
            <p:cNvPr id="16393" name="Object 5"/>
            <p:cNvGraphicFramePr>
              <a:graphicFrameLocks noChangeAspect="1"/>
            </p:cNvGraphicFramePr>
            <p:nvPr/>
          </p:nvGraphicFramePr>
          <p:xfrm>
            <a:off x="1392" y="686"/>
            <a:ext cx="4315" cy="32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612" name="Visio" r:id="rId3" imgW="9866478" imgH="7377618" progId="Visio.Drawing.6">
                    <p:embed/>
                  </p:oleObj>
                </mc:Choice>
                <mc:Fallback>
                  <p:oleObj name="Visio" r:id="rId3" imgW="9866478" imgH="7377618" progId="Visio.Drawing.6">
                    <p:embed/>
                    <p:pic>
                      <p:nvPicPr>
                        <p:cNvPr id="16393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686"/>
                          <a:ext cx="4315" cy="32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387" name="Rectangle 6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en-US" sz="2800"/>
              <a:t>Illustrating Apriori Principle</a:t>
            </a:r>
          </a:p>
        </p:txBody>
      </p: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2209800" y="1089025"/>
            <a:ext cx="6850063" cy="5235575"/>
            <a:chOff x="1392" y="686"/>
            <a:chExt cx="4315" cy="3298"/>
          </a:xfrm>
        </p:grpSpPr>
        <p:graphicFrame>
          <p:nvGraphicFramePr>
            <p:cNvPr id="16389" name="Object 8"/>
            <p:cNvGraphicFramePr>
              <a:graphicFrameLocks noChangeAspect="1"/>
            </p:cNvGraphicFramePr>
            <p:nvPr/>
          </p:nvGraphicFramePr>
          <p:xfrm>
            <a:off x="1392" y="686"/>
            <a:ext cx="4315" cy="32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613" name="Visio" r:id="rId5" imgW="9866478" imgH="7377618" progId="Visio.Drawing.6">
                    <p:embed/>
                  </p:oleObj>
                </mc:Choice>
                <mc:Fallback>
                  <p:oleObj name="Visio" r:id="rId5" imgW="9866478" imgH="7377618" progId="Visio.Drawing.6">
                    <p:embed/>
                    <p:pic>
                      <p:nvPicPr>
                        <p:cNvPr id="16389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686"/>
                          <a:ext cx="4315" cy="32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390" name="Text Box 9"/>
            <p:cNvSpPr txBox="1">
              <a:spLocks noChangeArrowheads="1"/>
            </p:cNvSpPr>
            <p:nvPr/>
          </p:nvSpPr>
          <p:spPr bwMode="auto">
            <a:xfrm>
              <a:off x="1488" y="3494"/>
              <a:ext cx="912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000" b="0">
                  <a:solidFill>
                    <a:srgbClr val="FF0000"/>
                  </a:solidFill>
                </a:rPr>
                <a:t>Pruned supersets</a:t>
              </a:r>
              <a:endParaRPr lang="en-US" altLang="en-US" sz="2000" b="0">
                <a:solidFill>
                  <a:srgbClr val="FF0000"/>
                </a:solidFill>
                <a:sym typeface="Symbol" pitchFamily="18" charset="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78879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Illustrating Apriori Principle</a:t>
            </a:r>
          </a:p>
        </p:txBody>
      </p:sp>
      <p:sp>
        <p:nvSpPr>
          <p:cNvPr id="17411" name="Text Box 12"/>
          <p:cNvSpPr txBox="1">
            <a:spLocks noChangeArrowheads="1"/>
          </p:cNvSpPr>
          <p:nvPr/>
        </p:nvSpPr>
        <p:spPr bwMode="auto">
          <a:xfrm>
            <a:off x="304800" y="3810000"/>
            <a:ext cx="2659063" cy="412750"/>
          </a:xfrm>
          <a:prstGeom prst="rect">
            <a:avLst/>
          </a:prstGeom>
          <a:solidFill>
            <a:srgbClr val="FFFF99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>
                <a:latin typeface="Tahoma" pitchFamily="34" charset="0"/>
              </a:rPr>
              <a:t>Minimum Support = 3</a:t>
            </a:r>
          </a:p>
        </p:txBody>
      </p:sp>
      <p:graphicFrame>
        <p:nvGraphicFramePr>
          <p:cNvPr id="17412" name="Object 21"/>
          <p:cNvGraphicFramePr>
            <a:graphicFrameLocks noGrp="1" noChangeAspect="1"/>
          </p:cNvGraphicFramePr>
          <p:nvPr/>
        </p:nvGraphicFramePr>
        <p:xfrm>
          <a:off x="381000" y="1402914"/>
          <a:ext cx="3568700" cy="20542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636" name="Document" r:id="rId3" imgW="3352666" imgH="2016134" progId="Word.Document.8">
                  <p:embed/>
                </p:oleObj>
              </mc:Choice>
              <mc:Fallback>
                <p:oleObj name="Document" r:id="rId3" imgW="3352666" imgH="2016134" progId="Word.Document.8">
                  <p:embed/>
                  <p:pic>
                    <p:nvPicPr>
                      <p:cNvPr id="17412" name="Object 2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402914"/>
                        <a:ext cx="3568700" cy="20542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3" name="Text Box 6"/>
          <p:cNvSpPr txBox="1">
            <a:spLocks noChangeArrowheads="1"/>
          </p:cNvSpPr>
          <p:nvPr/>
        </p:nvSpPr>
        <p:spPr bwMode="auto">
          <a:xfrm>
            <a:off x="5410200" y="1371600"/>
            <a:ext cx="20558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itchFamily="34" charset="0"/>
              </a:rPr>
              <a:t>Items (1-itemsets)</a:t>
            </a:r>
          </a:p>
        </p:txBody>
      </p:sp>
      <p:sp>
        <p:nvSpPr>
          <p:cNvPr id="17414" name="Right Arrow 16"/>
          <p:cNvSpPr>
            <a:spLocks noChangeArrowheads="1"/>
          </p:cNvSpPr>
          <p:nvPr/>
        </p:nvSpPr>
        <p:spPr bwMode="auto">
          <a:xfrm>
            <a:off x="4114800" y="2286000"/>
            <a:ext cx="685800" cy="3048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 w="12700" algn="ctr">
            <a:solidFill>
              <a:schemeClr val="accent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7415" name="Text Box 13"/>
          <p:cNvSpPr txBox="1">
            <a:spLocks noChangeArrowheads="1"/>
          </p:cNvSpPr>
          <p:nvPr/>
        </p:nvSpPr>
        <p:spPr bwMode="auto">
          <a:xfrm>
            <a:off x="304800" y="4381500"/>
            <a:ext cx="3244850" cy="1476375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itchFamily="34" charset="0"/>
              </a:rPr>
              <a:t>If every subset is considered, 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itchFamily="34" charset="0"/>
              </a:rPr>
              <a:t>	</a:t>
            </a:r>
            <a:r>
              <a:rPr lang="en-US" altLang="en-US" sz="1800" b="0" baseline="30000">
                <a:latin typeface="Tahoma" pitchFamily="34" charset="0"/>
              </a:rPr>
              <a:t>6</a:t>
            </a:r>
            <a:r>
              <a:rPr lang="en-US" altLang="en-US" sz="1800" b="0">
                <a:latin typeface="Tahoma" pitchFamily="34" charset="0"/>
              </a:rPr>
              <a:t>C</a:t>
            </a:r>
            <a:r>
              <a:rPr lang="en-US" altLang="en-US" sz="1800" b="0" baseline="-25000">
                <a:latin typeface="Tahoma" pitchFamily="34" charset="0"/>
              </a:rPr>
              <a:t>1</a:t>
            </a:r>
            <a:r>
              <a:rPr lang="en-US" altLang="en-US" sz="1800" b="0">
                <a:latin typeface="Tahoma" pitchFamily="34" charset="0"/>
              </a:rPr>
              <a:t> + </a:t>
            </a:r>
            <a:r>
              <a:rPr lang="en-US" altLang="en-US" sz="1800" b="0" baseline="30000">
                <a:latin typeface="Tahoma" pitchFamily="34" charset="0"/>
              </a:rPr>
              <a:t>6</a:t>
            </a:r>
            <a:r>
              <a:rPr lang="en-US" altLang="en-US" sz="1800" b="0">
                <a:latin typeface="Tahoma" pitchFamily="34" charset="0"/>
              </a:rPr>
              <a:t>C</a:t>
            </a:r>
            <a:r>
              <a:rPr lang="en-US" altLang="en-US" sz="1800" b="0" baseline="-25000">
                <a:latin typeface="Tahoma" pitchFamily="34" charset="0"/>
              </a:rPr>
              <a:t>2</a:t>
            </a:r>
            <a:r>
              <a:rPr lang="en-US" altLang="en-US" sz="1800" b="0">
                <a:latin typeface="Tahoma" pitchFamily="34" charset="0"/>
              </a:rPr>
              <a:t> + </a:t>
            </a:r>
            <a:r>
              <a:rPr lang="en-US" altLang="en-US" sz="1800" b="0" baseline="30000">
                <a:latin typeface="Tahoma" pitchFamily="34" charset="0"/>
              </a:rPr>
              <a:t>6</a:t>
            </a:r>
            <a:r>
              <a:rPr lang="en-US" altLang="en-US" sz="1800" b="0">
                <a:latin typeface="Tahoma" pitchFamily="34" charset="0"/>
              </a:rPr>
              <a:t>C</a:t>
            </a:r>
            <a:r>
              <a:rPr lang="en-US" altLang="en-US" sz="1800" b="0" baseline="-25000">
                <a:latin typeface="Tahoma" pitchFamily="34" charset="0"/>
              </a:rPr>
              <a:t>3</a:t>
            </a:r>
            <a:r>
              <a:rPr lang="en-US" altLang="en-US" sz="1800" b="0">
                <a:latin typeface="Tahoma" pitchFamily="34" charset="0"/>
              </a:rPr>
              <a:t> 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itchFamily="34" charset="0"/>
              </a:rPr>
              <a:t>	6 + 15 + 20 = 41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itchFamily="34" charset="0"/>
              </a:rPr>
              <a:t>With support-based pruning,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itchFamily="34" charset="0"/>
              </a:rPr>
              <a:t>	6 + 6 + 4 = 16</a:t>
            </a:r>
          </a:p>
        </p:txBody>
      </p:sp>
      <p:graphicFrame>
        <p:nvGraphicFramePr>
          <p:cNvPr id="17416" name="Object 3"/>
          <p:cNvGraphicFramePr>
            <a:graphicFrameLocks noChangeAspect="1"/>
          </p:cNvGraphicFramePr>
          <p:nvPr/>
        </p:nvGraphicFramePr>
        <p:xfrm>
          <a:off x="5502275" y="1905000"/>
          <a:ext cx="2270125" cy="2468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637" name="Document" r:id="rId5" imgW="2289908" imgH="2495536" progId="Word.Document.8">
                  <p:embed/>
                </p:oleObj>
              </mc:Choice>
              <mc:Fallback>
                <p:oleObj name="Document" r:id="rId5" imgW="2289908" imgH="2495536" progId="Word.Document.8">
                  <p:embed/>
                  <p:pic>
                    <p:nvPicPr>
                      <p:cNvPr id="1741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2275" y="1905000"/>
                        <a:ext cx="2270125" cy="2468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967271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Illustrating Apriori Principle</a:t>
            </a:r>
          </a:p>
        </p:txBody>
      </p:sp>
      <p:sp>
        <p:nvSpPr>
          <p:cNvPr id="18435" name="Text Box 12"/>
          <p:cNvSpPr txBox="1">
            <a:spLocks noChangeArrowheads="1"/>
          </p:cNvSpPr>
          <p:nvPr/>
        </p:nvSpPr>
        <p:spPr bwMode="auto">
          <a:xfrm>
            <a:off x="304800" y="3810000"/>
            <a:ext cx="2659063" cy="412750"/>
          </a:xfrm>
          <a:prstGeom prst="rect">
            <a:avLst/>
          </a:prstGeom>
          <a:solidFill>
            <a:srgbClr val="FFFF99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>
                <a:latin typeface="Tahoma" pitchFamily="34" charset="0"/>
              </a:rPr>
              <a:t>Minimum Support = 3</a:t>
            </a:r>
          </a:p>
        </p:txBody>
      </p:sp>
      <p:sp>
        <p:nvSpPr>
          <p:cNvPr id="18436" name="Text Box 13"/>
          <p:cNvSpPr txBox="1">
            <a:spLocks noChangeArrowheads="1"/>
          </p:cNvSpPr>
          <p:nvPr/>
        </p:nvSpPr>
        <p:spPr bwMode="auto">
          <a:xfrm>
            <a:off x="304800" y="4381500"/>
            <a:ext cx="3244850" cy="1476375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itchFamily="34" charset="0"/>
              </a:rPr>
              <a:t>If every subset is considered, 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itchFamily="34" charset="0"/>
              </a:rPr>
              <a:t>	</a:t>
            </a:r>
            <a:r>
              <a:rPr lang="en-US" altLang="en-US" sz="1800" b="0" baseline="30000">
                <a:latin typeface="Tahoma" pitchFamily="34" charset="0"/>
              </a:rPr>
              <a:t>6</a:t>
            </a:r>
            <a:r>
              <a:rPr lang="en-US" altLang="en-US" sz="1800" b="0">
                <a:latin typeface="Tahoma" pitchFamily="34" charset="0"/>
              </a:rPr>
              <a:t>C</a:t>
            </a:r>
            <a:r>
              <a:rPr lang="en-US" altLang="en-US" sz="1800" b="0" baseline="-25000">
                <a:latin typeface="Tahoma" pitchFamily="34" charset="0"/>
              </a:rPr>
              <a:t>1</a:t>
            </a:r>
            <a:r>
              <a:rPr lang="en-US" altLang="en-US" sz="1800" b="0">
                <a:latin typeface="Tahoma" pitchFamily="34" charset="0"/>
              </a:rPr>
              <a:t> + </a:t>
            </a:r>
            <a:r>
              <a:rPr lang="en-US" altLang="en-US" sz="1800" b="0" baseline="30000">
                <a:latin typeface="Tahoma" pitchFamily="34" charset="0"/>
              </a:rPr>
              <a:t>6</a:t>
            </a:r>
            <a:r>
              <a:rPr lang="en-US" altLang="en-US" sz="1800" b="0">
                <a:latin typeface="Tahoma" pitchFamily="34" charset="0"/>
              </a:rPr>
              <a:t>C</a:t>
            </a:r>
            <a:r>
              <a:rPr lang="en-US" altLang="en-US" sz="1800" b="0" baseline="-25000">
                <a:latin typeface="Tahoma" pitchFamily="34" charset="0"/>
              </a:rPr>
              <a:t>2</a:t>
            </a:r>
            <a:r>
              <a:rPr lang="en-US" altLang="en-US" sz="1800" b="0">
                <a:latin typeface="Tahoma" pitchFamily="34" charset="0"/>
              </a:rPr>
              <a:t> + </a:t>
            </a:r>
            <a:r>
              <a:rPr lang="en-US" altLang="en-US" sz="1800" b="0" baseline="30000">
                <a:latin typeface="Tahoma" pitchFamily="34" charset="0"/>
              </a:rPr>
              <a:t>6</a:t>
            </a:r>
            <a:r>
              <a:rPr lang="en-US" altLang="en-US" sz="1800" b="0">
                <a:latin typeface="Tahoma" pitchFamily="34" charset="0"/>
              </a:rPr>
              <a:t>C</a:t>
            </a:r>
            <a:r>
              <a:rPr lang="en-US" altLang="en-US" sz="1800" b="0" baseline="-25000">
                <a:latin typeface="Tahoma" pitchFamily="34" charset="0"/>
              </a:rPr>
              <a:t>3</a:t>
            </a:r>
            <a:r>
              <a:rPr lang="en-US" altLang="en-US" sz="1800" b="0">
                <a:latin typeface="Tahoma" pitchFamily="34" charset="0"/>
              </a:rPr>
              <a:t> 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itchFamily="34" charset="0"/>
              </a:rPr>
              <a:t>	6 + 15 + 20 = 41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itchFamily="34" charset="0"/>
              </a:rPr>
              <a:t>With support-based pruning,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itchFamily="34" charset="0"/>
              </a:rPr>
              <a:t>	6 + 6 + 4 = 16</a:t>
            </a:r>
          </a:p>
        </p:txBody>
      </p:sp>
      <p:graphicFrame>
        <p:nvGraphicFramePr>
          <p:cNvPr id="18437" name="Object 21"/>
          <p:cNvGraphicFramePr>
            <a:graphicFrameLocks noGrp="1" noChangeAspect="1"/>
          </p:cNvGraphicFramePr>
          <p:nvPr/>
        </p:nvGraphicFramePr>
        <p:xfrm>
          <a:off x="381000" y="1295400"/>
          <a:ext cx="3568700" cy="214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660" name="Document" r:id="rId3" imgW="3352666" imgH="2016134" progId="Word.Document.8">
                  <p:embed/>
                </p:oleObj>
              </mc:Choice>
              <mc:Fallback>
                <p:oleObj name="Document" r:id="rId3" imgW="3352666" imgH="2016134" progId="Word.Document.8">
                  <p:embed/>
                  <p:pic>
                    <p:nvPicPr>
                      <p:cNvPr id="18437" name="Object 2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295400"/>
                        <a:ext cx="3568700" cy="214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8" name="Text Box 6"/>
          <p:cNvSpPr txBox="1">
            <a:spLocks noChangeArrowheads="1"/>
          </p:cNvSpPr>
          <p:nvPr/>
        </p:nvSpPr>
        <p:spPr bwMode="auto">
          <a:xfrm>
            <a:off x="5410200" y="1371600"/>
            <a:ext cx="20558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itchFamily="34" charset="0"/>
              </a:rPr>
              <a:t>Items (1-itemsets)</a:t>
            </a:r>
          </a:p>
        </p:txBody>
      </p:sp>
      <p:sp>
        <p:nvSpPr>
          <p:cNvPr id="18439" name="Right Arrow 16"/>
          <p:cNvSpPr>
            <a:spLocks noChangeArrowheads="1"/>
          </p:cNvSpPr>
          <p:nvPr/>
        </p:nvSpPr>
        <p:spPr bwMode="auto">
          <a:xfrm>
            <a:off x="4114800" y="2286000"/>
            <a:ext cx="685800" cy="3048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 w="12700" algn="ctr">
            <a:solidFill>
              <a:schemeClr val="accent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graphicFrame>
        <p:nvGraphicFramePr>
          <p:cNvPr id="18440" name="Object 3"/>
          <p:cNvGraphicFramePr>
            <a:graphicFrameLocks noChangeAspect="1"/>
          </p:cNvGraphicFramePr>
          <p:nvPr/>
        </p:nvGraphicFramePr>
        <p:xfrm>
          <a:off x="5407025" y="1905000"/>
          <a:ext cx="2289175" cy="2498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661" name="Document" r:id="rId5" imgW="2289908" imgH="2495536" progId="Word.Document.8">
                  <p:embed/>
                </p:oleObj>
              </mc:Choice>
              <mc:Fallback>
                <p:oleObj name="Document" r:id="rId5" imgW="2289908" imgH="2495536" progId="Word.Document.8">
                  <p:embed/>
                  <p:pic>
                    <p:nvPicPr>
                      <p:cNvPr id="1844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7025" y="1905000"/>
                        <a:ext cx="2289175" cy="2498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85500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Illustrating Apriori Principle</a:t>
            </a:r>
          </a:p>
        </p:txBody>
      </p:sp>
      <p:graphicFrame>
        <p:nvGraphicFramePr>
          <p:cNvPr id="19459" name="Object 3"/>
          <p:cNvGraphicFramePr>
            <a:graphicFrameLocks noChangeAspect="1"/>
          </p:cNvGraphicFramePr>
          <p:nvPr/>
        </p:nvGraphicFramePr>
        <p:xfrm>
          <a:off x="304800" y="1387475"/>
          <a:ext cx="2289175" cy="2498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686" name="Document" r:id="rId3" imgW="2289908" imgH="2495536" progId="Word.Document.8">
                  <p:embed/>
                </p:oleObj>
              </mc:Choice>
              <mc:Fallback>
                <p:oleObj name="Document" r:id="rId3" imgW="2289908" imgH="2495536" progId="Word.Document.8">
                  <p:embed/>
                  <p:pic>
                    <p:nvPicPr>
                      <p:cNvPr id="1945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387475"/>
                        <a:ext cx="2289175" cy="2498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0" name="Object 4"/>
          <p:cNvGraphicFramePr>
            <a:graphicFrameLocks noChangeAspect="1"/>
          </p:cNvGraphicFramePr>
          <p:nvPr/>
        </p:nvGraphicFramePr>
        <p:xfrm>
          <a:off x="3352800" y="2133600"/>
          <a:ext cx="3246438" cy="1951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687" name="Document" r:id="rId5" imgW="3328641" imgH="2008846" progId="Word.Document.8">
                  <p:embed/>
                </p:oleObj>
              </mc:Choice>
              <mc:Fallback>
                <p:oleObj name="Document" r:id="rId5" imgW="3328641" imgH="2008846" progId="Word.Document.8">
                  <p:embed/>
                  <p:pic>
                    <p:nvPicPr>
                      <p:cNvPr id="1946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2133600"/>
                        <a:ext cx="3246438" cy="1951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1" name="Text Box 6"/>
          <p:cNvSpPr txBox="1">
            <a:spLocks noChangeArrowheads="1"/>
          </p:cNvSpPr>
          <p:nvPr/>
        </p:nvSpPr>
        <p:spPr bwMode="auto">
          <a:xfrm>
            <a:off x="2514600" y="1295400"/>
            <a:ext cx="20558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itchFamily="34" charset="0"/>
              </a:rPr>
              <a:t>Items (1-itemsets)</a:t>
            </a:r>
          </a:p>
        </p:txBody>
      </p:sp>
      <p:sp>
        <p:nvSpPr>
          <p:cNvPr id="19462" name="Text Box 7"/>
          <p:cNvSpPr txBox="1">
            <a:spLocks noChangeArrowheads="1"/>
          </p:cNvSpPr>
          <p:nvPr/>
        </p:nvSpPr>
        <p:spPr bwMode="auto">
          <a:xfrm>
            <a:off x="6096000" y="2055813"/>
            <a:ext cx="2790825" cy="146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itchFamily="34" charset="0"/>
              </a:rPr>
              <a:t>Pairs (2-itemsets)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 b="0">
              <a:latin typeface="Tahoma" pitchFamily="34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itchFamily="34" charset="0"/>
              </a:rPr>
              <a:t>(No need to generate</a:t>
            </a:r>
            <a:br>
              <a:rPr lang="en-US" altLang="en-US" sz="1800" b="0">
                <a:latin typeface="Tahoma" pitchFamily="34" charset="0"/>
              </a:rPr>
            </a:br>
            <a:r>
              <a:rPr lang="en-US" altLang="en-US" sz="1800" b="0">
                <a:latin typeface="Tahoma" pitchFamily="34" charset="0"/>
              </a:rPr>
              <a:t>candidates involving Coke</a:t>
            </a:r>
            <a:br>
              <a:rPr lang="en-US" altLang="en-US" sz="1800" b="0">
                <a:latin typeface="Tahoma" pitchFamily="34" charset="0"/>
              </a:rPr>
            </a:br>
            <a:r>
              <a:rPr lang="en-US" altLang="en-US" sz="1800" b="0">
                <a:latin typeface="Tahoma" pitchFamily="34" charset="0"/>
              </a:rPr>
              <a:t>or Eggs)</a:t>
            </a:r>
            <a:endParaRPr lang="en-US" altLang="en-US" sz="2400" b="0">
              <a:latin typeface="Times New Roman" pitchFamily="18" charset="0"/>
            </a:endParaRPr>
          </a:p>
        </p:txBody>
      </p:sp>
      <p:sp>
        <p:nvSpPr>
          <p:cNvPr id="19463" name="Line 10"/>
          <p:cNvSpPr>
            <a:spLocks noChangeShapeType="1"/>
          </p:cNvSpPr>
          <p:nvPr/>
        </p:nvSpPr>
        <p:spPr bwMode="auto">
          <a:xfrm>
            <a:off x="2819400" y="1981200"/>
            <a:ext cx="304800" cy="304800"/>
          </a:xfrm>
          <a:prstGeom prst="line">
            <a:avLst/>
          </a:prstGeom>
          <a:noFill/>
          <a:ln w="73025" cmpd="tri">
            <a:solidFill>
              <a:srgbClr val="CC0000"/>
            </a:solidFill>
            <a:round/>
            <a:headEnd/>
            <a:tailEnd type="arrow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64" name="Text Box 12"/>
          <p:cNvSpPr txBox="1">
            <a:spLocks noChangeArrowheads="1"/>
          </p:cNvSpPr>
          <p:nvPr/>
        </p:nvSpPr>
        <p:spPr bwMode="auto">
          <a:xfrm>
            <a:off x="304800" y="3810000"/>
            <a:ext cx="2659063" cy="412750"/>
          </a:xfrm>
          <a:prstGeom prst="rect">
            <a:avLst/>
          </a:prstGeom>
          <a:solidFill>
            <a:srgbClr val="FFFF99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>
                <a:latin typeface="Tahoma" pitchFamily="34" charset="0"/>
              </a:rPr>
              <a:t>Minimum Support = 3</a:t>
            </a:r>
          </a:p>
        </p:txBody>
      </p:sp>
      <p:sp>
        <p:nvSpPr>
          <p:cNvPr id="19465" name="Text Box 13"/>
          <p:cNvSpPr txBox="1">
            <a:spLocks noChangeArrowheads="1"/>
          </p:cNvSpPr>
          <p:nvPr/>
        </p:nvSpPr>
        <p:spPr bwMode="auto">
          <a:xfrm>
            <a:off x="304800" y="4381500"/>
            <a:ext cx="3244850" cy="1476375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itchFamily="34" charset="0"/>
              </a:rPr>
              <a:t>If every subset is considered, 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itchFamily="34" charset="0"/>
              </a:rPr>
              <a:t>	</a:t>
            </a:r>
            <a:r>
              <a:rPr lang="en-US" altLang="en-US" sz="1800" b="0" baseline="30000">
                <a:latin typeface="Tahoma" pitchFamily="34" charset="0"/>
              </a:rPr>
              <a:t>6</a:t>
            </a:r>
            <a:r>
              <a:rPr lang="en-US" altLang="en-US" sz="1800" b="0">
                <a:latin typeface="Tahoma" pitchFamily="34" charset="0"/>
              </a:rPr>
              <a:t>C</a:t>
            </a:r>
            <a:r>
              <a:rPr lang="en-US" altLang="en-US" sz="1800" b="0" baseline="-25000">
                <a:latin typeface="Tahoma" pitchFamily="34" charset="0"/>
              </a:rPr>
              <a:t>1</a:t>
            </a:r>
            <a:r>
              <a:rPr lang="en-US" altLang="en-US" sz="1800" b="0">
                <a:latin typeface="Tahoma" pitchFamily="34" charset="0"/>
              </a:rPr>
              <a:t> + </a:t>
            </a:r>
            <a:r>
              <a:rPr lang="en-US" altLang="en-US" sz="1800" b="0" baseline="30000">
                <a:latin typeface="Tahoma" pitchFamily="34" charset="0"/>
              </a:rPr>
              <a:t>6</a:t>
            </a:r>
            <a:r>
              <a:rPr lang="en-US" altLang="en-US" sz="1800" b="0">
                <a:latin typeface="Tahoma" pitchFamily="34" charset="0"/>
              </a:rPr>
              <a:t>C</a:t>
            </a:r>
            <a:r>
              <a:rPr lang="en-US" altLang="en-US" sz="1800" b="0" baseline="-25000">
                <a:latin typeface="Tahoma" pitchFamily="34" charset="0"/>
              </a:rPr>
              <a:t>2</a:t>
            </a:r>
            <a:r>
              <a:rPr lang="en-US" altLang="en-US" sz="1800" b="0">
                <a:latin typeface="Tahoma" pitchFamily="34" charset="0"/>
              </a:rPr>
              <a:t> + </a:t>
            </a:r>
            <a:r>
              <a:rPr lang="en-US" altLang="en-US" sz="1800" b="0" baseline="30000">
                <a:latin typeface="Tahoma" pitchFamily="34" charset="0"/>
              </a:rPr>
              <a:t>6</a:t>
            </a:r>
            <a:r>
              <a:rPr lang="en-US" altLang="en-US" sz="1800" b="0">
                <a:latin typeface="Tahoma" pitchFamily="34" charset="0"/>
              </a:rPr>
              <a:t>C</a:t>
            </a:r>
            <a:r>
              <a:rPr lang="en-US" altLang="en-US" sz="1800" b="0" baseline="-25000">
                <a:latin typeface="Tahoma" pitchFamily="34" charset="0"/>
              </a:rPr>
              <a:t>3</a:t>
            </a:r>
            <a:r>
              <a:rPr lang="en-US" altLang="en-US" sz="1800" b="0">
                <a:latin typeface="Tahoma" pitchFamily="34" charset="0"/>
              </a:rPr>
              <a:t> 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itchFamily="34" charset="0"/>
              </a:rPr>
              <a:t>	6 + 15 + 20 = 41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itchFamily="34" charset="0"/>
              </a:rPr>
              <a:t>With support-based pruning,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itchFamily="34" charset="0"/>
              </a:rPr>
              <a:t>	6 + 6 + 4 = 16</a:t>
            </a:r>
          </a:p>
        </p:txBody>
      </p:sp>
    </p:spTree>
    <p:extLst>
      <p:ext uri="{BB962C8B-B14F-4D97-AF65-F5344CB8AC3E}">
        <p14:creationId xmlns:p14="http://schemas.microsoft.com/office/powerpoint/2010/main" val="13673364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Illustrating Apriori Principle</a:t>
            </a:r>
          </a:p>
        </p:txBody>
      </p:sp>
      <p:graphicFrame>
        <p:nvGraphicFramePr>
          <p:cNvPr id="20483" name="Object 3"/>
          <p:cNvGraphicFramePr>
            <a:graphicFrameLocks noChangeAspect="1"/>
          </p:cNvGraphicFramePr>
          <p:nvPr/>
        </p:nvGraphicFramePr>
        <p:xfrm>
          <a:off x="304800" y="1387475"/>
          <a:ext cx="2289175" cy="2498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710" name="Document" r:id="rId3" imgW="2289908" imgH="2495536" progId="Word.Document.8">
                  <p:embed/>
                </p:oleObj>
              </mc:Choice>
              <mc:Fallback>
                <p:oleObj name="Document" r:id="rId3" imgW="2289908" imgH="2495536" progId="Word.Document.8">
                  <p:embed/>
                  <p:pic>
                    <p:nvPicPr>
                      <p:cNvPr id="2048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387475"/>
                        <a:ext cx="2289175" cy="2498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4" name="Object 4"/>
          <p:cNvGraphicFramePr>
            <a:graphicFrameLocks noChangeAspect="1"/>
          </p:cNvGraphicFramePr>
          <p:nvPr/>
        </p:nvGraphicFramePr>
        <p:xfrm>
          <a:off x="3352800" y="2133600"/>
          <a:ext cx="3292475" cy="198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711" name="Document" r:id="rId5" imgW="3328641" imgH="2008846" progId="Word.Document.8">
                  <p:embed/>
                </p:oleObj>
              </mc:Choice>
              <mc:Fallback>
                <p:oleObj name="Document" r:id="rId5" imgW="3328641" imgH="2008846" progId="Word.Document.8">
                  <p:embed/>
                  <p:pic>
                    <p:nvPicPr>
                      <p:cNvPr id="2048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2133600"/>
                        <a:ext cx="3292475" cy="198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5" name="Text Box 6"/>
          <p:cNvSpPr txBox="1">
            <a:spLocks noChangeArrowheads="1"/>
          </p:cNvSpPr>
          <p:nvPr/>
        </p:nvSpPr>
        <p:spPr bwMode="auto">
          <a:xfrm>
            <a:off x="2514600" y="1295400"/>
            <a:ext cx="20558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itchFamily="34" charset="0"/>
              </a:rPr>
              <a:t>Items (1-itemsets)</a:t>
            </a:r>
          </a:p>
        </p:txBody>
      </p:sp>
      <p:sp>
        <p:nvSpPr>
          <p:cNvPr id="20486" name="Text Box 7"/>
          <p:cNvSpPr txBox="1">
            <a:spLocks noChangeArrowheads="1"/>
          </p:cNvSpPr>
          <p:nvPr/>
        </p:nvSpPr>
        <p:spPr bwMode="auto">
          <a:xfrm>
            <a:off x="6096000" y="2055813"/>
            <a:ext cx="2790825" cy="146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itchFamily="34" charset="0"/>
              </a:rPr>
              <a:t>Pairs (2-itemsets)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 b="0">
              <a:latin typeface="Tahoma" pitchFamily="34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itchFamily="34" charset="0"/>
              </a:rPr>
              <a:t>(No need to generate</a:t>
            </a:r>
            <a:br>
              <a:rPr lang="en-US" altLang="en-US" sz="1800" b="0">
                <a:latin typeface="Tahoma" pitchFamily="34" charset="0"/>
              </a:rPr>
            </a:br>
            <a:r>
              <a:rPr lang="en-US" altLang="en-US" sz="1800" b="0">
                <a:latin typeface="Tahoma" pitchFamily="34" charset="0"/>
              </a:rPr>
              <a:t>candidates involving Coke</a:t>
            </a:r>
            <a:br>
              <a:rPr lang="en-US" altLang="en-US" sz="1800" b="0">
                <a:latin typeface="Tahoma" pitchFamily="34" charset="0"/>
              </a:rPr>
            </a:br>
            <a:r>
              <a:rPr lang="en-US" altLang="en-US" sz="1800" b="0">
                <a:latin typeface="Tahoma" pitchFamily="34" charset="0"/>
              </a:rPr>
              <a:t>or Eggs)</a:t>
            </a:r>
            <a:endParaRPr lang="en-US" altLang="en-US" sz="2400" b="0">
              <a:latin typeface="Times New Roman" pitchFamily="18" charset="0"/>
            </a:endParaRPr>
          </a:p>
        </p:txBody>
      </p:sp>
      <p:sp>
        <p:nvSpPr>
          <p:cNvPr id="20487" name="Line 10"/>
          <p:cNvSpPr>
            <a:spLocks noChangeShapeType="1"/>
          </p:cNvSpPr>
          <p:nvPr/>
        </p:nvSpPr>
        <p:spPr bwMode="auto">
          <a:xfrm>
            <a:off x="2819400" y="1981200"/>
            <a:ext cx="304800" cy="304800"/>
          </a:xfrm>
          <a:prstGeom prst="line">
            <a:avLst/>
          </a:prstGeom>
          <a:noFill/>
          <a:ln w="73025" cmpd="tri">
            <a:solidFill>
              <a:srgbClr val="CC0000"/>
            </a:solidFill>
            <a:round/>
            <a:headEnd/>
            <a:tailEnd type="arrow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88" name="Text Box 12"/>
          <p:cNvSpPr txBox="1">
            <a:spLocks noChangeArrowheads="1"/>
          </p:cNvSpPr>
          <p:nvPr/>
        </p:nvSpPr>
        <p:spPr bwMode="auto">
          <a:xfrm>
            <a:off x="304800" y="3810000"/>
            <a:ext cx="2659063" cy="412750"/>
          </a:xfrm>
          <a:prstGeom prst="rect">
            <a:avLst/>
          </a:prstGeom>
          <a:solidFill>
            <a:srgbClr val="FFFF99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>
                <a:latin typeface="Tahoma" pitchFamily="34" charset="0"/>
              </a:rPr>
              <a:t>Minimum Support = 3</a:t>
            </a:r>
          </a:p>
        </p:txBody>
      </p:sp>
      <p:sp>
        <p:nvSpPr>
          <p:cNvPr id="20489" name="Text Box 13"/>
          <p:cNvSpPr txBox="1">
            <a:spLocks noChangeArrowheads="1"/>
          </p:cNvSpPr>
          <p:nvPr/>
        </p:nvSpPr>
        <p:spPr bwMode="auto">
          <a:xfrm>
            <a:off x="304800" y="4381500"/>
            <a:ext cx="3244850" cy="1476375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itchFamily="34" charset="0"/>
              </a:rPr>
              <a:t>If every subset is considered, 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itchFamily="34" charset="0"/>
              </a:rPr>
              <a:t>	</a:t>
            </a:r>
            <a:r>
              <a:rPr lang="en-US" altLang="en-US" sz="1800" b="0" baseline="30000">
                <a:latin typeface="Tahoma" pitchFamily="34" charset="0"/>
              </a:rPr>
              <a:t>6</a:t>
            </a:r>
            <a:r>
              <a:rPr lang="en-US" altLang="en-US" sz="1800" b="0">
                <a:latin typeface="Tahoma" pitchFamily="34" charset="0"/>
              </a:rPr>
              <a:t>C</a:t>
            </a:r>
            <a:r>
              <a:rPr lang="en-US" altLang="en-US" sz="1800" b="0" baseline="-25000">
                <a:latin typeface="Tahoma" pitchFamily="34" charset="0"/>
              </a:rPr>
              <a:t>1</a:t>
            </a:r>
            <a:r>
              <a:rPr lang="en-US" altLang="en-US" sz="1800" b="0">
                <a:latin typeface="Tahoma" pitchFamily="34" charset="0"/>
              </a:rPr>
              <a:t> + </a:t>
            </a:r>
            <a:r>
              <a:rPr lang="en-US" altLang="en-US" sz="1800" b="0" baseline="30000">
                <a:latin typeface="Tahoma" pitchFamily="34" charset="0"/>
              </a:rPr>
              <a:t>6</a:t>
            </a:r>
            <a:r>
              <a:rPr lang="en-US" altLang="en-US" sz="1800" b="0">
                <a:latin typeface="Tahoma" pitchFamily="34" charset="0"/>
              </a:rPr>
              <a:t>C</a:t>
            </a:r>
            <a:r>
              <a:rPr lang="en-US" altLang="en-US" sz="1800" b="0" baseline="-25000">
                <a:latin typeface="Tahoma" pitchFamily="34" charset="0"/>
              </a:rPr>
              <a:t>2</a:t>
            </a:r>
            <a:r>
              <a:rPr lang="en-US" altLang="en-US" sz="1800" b="0">
                <a:latin typeface="Tahoma" pitchFamily="34" charset="0"/>
              </a:rPr>
              <a:t> + </a:t>
            </a:r>
            <a:r>
              <a:rPr lang="en-US" altLang="en-US" sz="1800" b="0" baseline="30000">
                <a:latin typeface="Tahoma" pitchFamily="34" charset="0"/>
              </a:rPr>
              <a:t>6</a:t>
            </a:r>
            <a:r>
              <a:rPr lang="en-US" altLang="en-US" sz="1800" b="0">
                <a:latin typeface="Tahoma" pitchFamily="34" charset="0"/>
              </a:rPr>
              <a:t>C</a:t>
            </a:r>
            <a:r>
              <a:rPr lang="en-US" altLang="en-US" sz="1800" b="0" baseline="-25000">
                <a:latin typeface="Tahoma" pitchFamily="34" charset="0"/>
              </a:rPr>
              <a:t>3</a:t>
            </a:r>
            <a:r>
              <a:rPr lang="en-US" altLang="en-US" sz="1800" b="0">
                <a:latin typeface="Tahoma" pitchFamily="34" charset="0"/>
              </a:rPr>
              <a:t> 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itchFamily="34" charset="0"/>
              </a:rPr>
              <a:t>	6 + 15 + 20 = 41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itchFamily="34" charset="0"/>
              </a:rPr>
              <a:t>With support-based pruning,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itchFamily="34" charset="0"/>
              </a:rPr>
              <a:t>	6 + 6 + 4 = 16</a:t>
            </a:r>
          </a:p>
        </p:txBody>
      </p:sp>
    </p:spTree>
    <p:extLst>
      <p:ext uri="{BB962C8B-B14F-4D97-AF65-F5344CB8AC3E}">
        <p14:creationId xmlns:p14="http://schemas.microsoft.com/office/powerpoint/2010/main" val="23082824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Illustrating Apriori Principle</a:t>
            </a:r>
          </a:p>
        </p:txBody>
      </p:sp>
      <p:graphicFrame>
        <p:nvGraphicFramePr>
          <p:cNvPr id="21507" name="Object 3"/>
          <p:cNvGraphicFramePr>
            <a:graphicFrameLocks noChangeAspect="1"/>
          </p:cNvGraphicFramePr>
          <p:nvPr/>
        </p:nvGraphicFramePr>
        <p:xfrm>
          <a:off x="304800" y="1387475"/>
          <a:ext cx="2289175" cy="2498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804" name="Document" r:id="rId3" imgW="2289908" imgH="2495536" progId="Word.Document.8">
                  <p:embed/>
                </p:oleObj>
              </mc:Choice>
              <mc:Fallback>
                <p:oleObj name="Document" r:id="rId3" imgW="2289908" imgH="2495536" progId="Word.Document.8">
                  <p:embed/>
                  <p:pic>
                    <p:nvPicPr>
                      <p:cNvPr id="2150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387475"/>
                        <a:ext cx="2289175" cy="2498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8" name="Object 4"/>
          <p:cNvGraphicFramePr>
            <a:graphicFrameLocks noChangeAspect="1"/>
          </p:cNvGraphicFramePr>
          <p:nvPr/>
        </p:nvGraphicFramePr>
        <p:xfrm>
          <a:off x="3352800" y="2133600"/>
          <a:ext cx="3327400" cy="2128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805" name="Document" r:id="rId5" imgW="3328641" imgH="2008846" progId="Word.Document.8">
                  <p:embed/>
                </p:oleObj>
              </mc:Choice>
              <mc:Fallback>
                <p:oleObj name="Document" r:id="rId5" imgW="3328641" imgH="2008846" progId="Word.Document.8">
                  <p:embed/>
                  <p:pic>
                    <p:nvPicPr>
                      <p:cNvPr id="2150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2133600"/>
                        <a:ext cx="3327400" cy="2128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9" name="Object 5"/>
          <p:cNvGraphicFramePr>
            <a:graphicFrameLocks noChangeAspect="1"/>
          </p:cNvGraphicFramePr>
          <p:nvPr/>
        </p:nvGraphicFramePr>
        <p:xfrm>
          <a:off x="4700588" y="4406900"/>
          <a:ext cx="3556000" cy="213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806" name="Document" r:id="rId7" imgW="3637555" imgH="2179681" progId="Word.Document.8">
                  <p:embed/>
                </p:oleObj>
              </mc:Choice>
              <mc:Fallback>
                <p:oleObj name="Document" r:id="rId7" imgW="3637555" imgH="2179681" progId="Word.Document.8">
                  <p:embed/>
                  <p:pic>
                    <p:nvPicPr>
                      <p:cNvPr id="2150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0588" y="4406900"/>
                        <a:ext cx="3556000" cy="213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0" name="Text Box 6"/>
          <p:cNvSpPr txBox="1">
            <a:spLocks noChangeArrowheads="1"/>
          </p:cNvSpPr>
          <p:nvPr/>
        </p:nvSpPr>
        <p:spPr bwMode="auto">
          <a:xfrm>
            <a:off x="2514600" y="1295400"/>
            <a:ext cx="20558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itchFamily="34" charset="0"/>
              </a:rPr>
              <a:t>Items (1-itemsets)</a:t>
            </a:r>
          </a:p>
        </p:txBody>
      </p:sp>
      <p:sp>
        <p:nvSpPr>
          <p:cNvPr id="21511" name="Text Box 7"/>
          <p:cNvSpPr txBox="1">
            <a:spLocks noChangeArrowheads="1"/>
          </p:cNvSpPr>
          <p:nvPr/>
        </p:nvSpPr>
        <p:spPr bwMode="auto">
          <a:xfrm>
            <a:off x="6096000" y="2055813"/>
            <a:ext cx="2790825" cy="146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itchFamily="34" charset="0"/>
              </a:rPr>
              <a:t>Pairs (2-itemsets)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 b="0">
              <a:latin typeface="Tahoma" pitchFamily="34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itchFamily="34" charset="0"/>
              </a:rPr>
              <a:t>(No need to generate</a:t>
            </a:r>
            <a:br>
              <a:rPr lang="en-US" altLang="en-US" sz="1800" b="0">
                <a:latin typeface="Tahoma" pitchFamily="34" charset="0"/>
              </a:rPr>
            </a:br>
            <a:r>
              <a:rPr lang="en-US" altLang="en-US" sz="1800" b="0">
                <a:latin typeface="Tahoma" pitchFamily="34" charset="0"/>
              </a:rPr>
              <a:t>candidates involving Coke</a:t>
            </a:r>
            <a:br>
              <a:rPr lang="en-US" altLang="en-US" sz="1800" b="0">
                <a:latin typeface="Tahoma" pitchFamily="34" charset="0"/>
              </a:rPr>
            </a:br>
            <a:r>
              <a:rPr lang="en-US" altLang="en-US" sz="1800" b="0">
                <a:latin typeface="Tahoma" pitchFamily="34" charset="0"/>
              </a:rPr>
              <a:t>or Eggs)</a:t>
            </a:r>
            <a:endParaRPr lang="en-US" altLang="en-US" sz="2400" b="0">
              <a:latin typeface="Times New Roman" pitchFamily="18" charset="0"/>
            </a:endParaRPr>
          </a:p>
        </p:txBody>
      </p:sp>
      <p:sp>
        <p:nvSpPr>
          <p:cNvPr id="21512" name="Text Box 8"/>
          <p:cNvSpPr txBox="1">
            <a:spLocks noChangeArrowheads="1"/>
          </p:cNvSpPr>
          <p:nvPr/>
        </p:nvSpPr>
        <p:spPr bwMode="auto">
          <a:xfrm>
            <a:off x="6781800" y="4038600"/>
            <a:ext cx="22256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itchFamily="34" charset="0"/>
              </a:rPr>
              <a:t>Triplets (3-itemsets)</a:t>
            </a:r>
            <a:endParaRPr lang="en-US" altLang="en-US" sz="2400" b="0">
              <a:latin typeface="Times New Roman" pitchFamily="18" charset="0"/>
            </a:endParaRPr>
          </a:p>
        </p:txBody>
      </p:sp>
      <p:sp>
        <p:nvSpPr>
          <p:cNvPr id="21513" name="Line 9"/>
          <p:cNvSpPr>
            <a:spLocks noChangeShapeType="1"/>
          </p:cNvSpPr>
          <p:nvPr/>
        </p:nvSpPr>
        <p:spPr bwMode="auto">
          <a:xfrm>
            <a:off x="5410200" y="4038600"/>
            <a:ext cx="304800" cy="304800"/>
          </a:xfrm>
          <a:prstGeom prst="line">
            <a:avLst/>
          </a:prstGeom>
          <a:noFill/>
          <a:ln w="73025" cmpd="tri">
            <a:solidFill>
              <a:srgbClr val="CC0000"/>
            </a:solidFill>
            <a:round/>
            <a:headEnd/>
            <a:tailEnd type="arrow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14" name="Line 10"/>
          <p:cNvSpPr>
            <a:spLocks noChangeShapeType="1"/>
          </p:cNvSpPr>
          <p:nvPr/>
        </p:nvSpPr>
        <p:spPr bwMode="auto">
          <a:xfrm>
            <a:off x="2819400" y="1981200"/>
            <a:ext cx="304800" cy="304800"/>
          </a:xfrm>
          <a:prstGeom prst="line">
            <a:avLst/>
          </a:prstGeom>
          <a:noFill/>
          <a:ln w="73025" cmpd="tri">
            <a:solidFill>
              <a:srgbClr val="CC0000"/>
            </a:solidFill>
            <a:round/>
            <a:headEnd/>
            <a:tailEnd type="arrow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15" name="Text Box 12"/>
          <p:cNvSpPr txBox="1">
            <a:spLocks noChangeArrowheads="1"/>
          </p:cNvSpPr>
          <p:nvPr/>
        </p:nvSpPr>
        <p:spPr bwMode="auto">
          <a:xfrm>
            <a:off x="304800" y="3810000"/>
            <a:ext cx="2659063" cy="412750"/>
          </a:xfrm>
          <a:prstGeom prst="rect">
            <a:avLst/>
          </a:prstGeom>
          <a:solidFill>
            <a:srgbClr val="FFFF99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>
                <a:latin typeface="Tahoma" pitchFamily="34" charset="0"/>
              </a:rPr>
              <a:t>Minimum Support = 3</a:t>
            </a:r>
          </a:p>
        </p:txBody>
      </p:sp>
      <p:sp>
        <p:nvSpPr>
          <p:cNvPr id="21516" name="Text Box 13"/>
          <p:cNvSpPr txBox="1">
            <a:spLocks noChangeArrowheads="1"/>
          </p:cNvSpPr>
          <p:nvPr/>
        </p:nvSpPr>
        <p:spPr bwMode="auto">
          <a:xfrm>
            <a:off x="304800" y="4381500"/>
            <a:ext cx="3244850" cy="1476375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Tahoma" pitchFamily="34" charset="0"/>
              </a:rPr>
              <a:t>If every subset is considered, 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Tahoma" pitchFamily="34" charset="0"/>
              </a:rPr>
              <a:t>	</a:t>
            </a:r>
            <a:r>
              <a:rPr lang="en-US" altLang="en-US" sz="1800" b="0" baseline="30000" dirty="0">
                <a:latin typeface="Tahoma" pitchFamily="34" charset="0"/>
              </a:rPr>
              <a:t>6</a:t>
            </a:r>
            <a:r>
              <a:rPr lang="en-US" altLang="en-US" sz="1800" b="0" dirty="0">
                <a:latin typeface="Tahoma" pitchFamily="34" charset="0"/>
              </a:rPr>
              <a:t>C</a:t>
            </a:r>
            <a:r>
              <a:rPr lang="en-US" altLang="en-US" sz="1800" b="0" baseline="-25000" dirty="0">
                <a:latin typeface="Tahoma" pitchFamily="34" charset="0"/>
              </a:rPr>
              <a:t>1</a:t>
            </a:r>
            <a:r>
              <a:rPr lang="en-US" altLang="en-US" sz="1800" b="0" dirty="0">
                <a:latin typeface="Tahoma" pitchFamily="34" charset="0"/>
              </a:rPr>
              <a:t> + </a:t>
            </a:r>
            <a:r>
              <a:rPr lang="en-US" altLang="en-US" sz="1800" b="0" baseline="30000" dirty="0">
                <a:latin typeface="Tahoma" pitchFamily="34" charset="0"/>
              </a:rPr>
              <a:t>6</a:t>
            </a:r>
            <a:r>
              <a:rPr lang="en-US" altLang="en-US" sz="1800" b="0" dirty="0">
                <a:latin typeface="Tahoma" pitchFamily="34" charset="0"/>
              </a:rPr>
              <a:t>C</a:t>
            </a:r>
            <a:r>
              <a:rPr lang="en-US" altLang="en-US" sz="1800" b="0" baseline="-25000" dirty="0">
                <a:latin typeface="Tahoma" pitchFamily="34" charset="0"/>
              </a:rPr>
              <a:t>2</a:t>
            </a:r>
            <a:r>
              <a:rPr lang="en-US" altLang="en-US" sz="1800" b="0" dirty="0">
                <a:latin typeface="Tahoma" pitchFamily="34" charset="0"/>
              </a:rPr>
              <a:t> + </a:t>
            </a:r>
            <a:r>
              <a:rPr lang="en-US" altLang="en-US" sz="1800" b="0" baseline="30000" dirty="0">
                <a:latin typeface="Tahoma" pitchFamily="34" charset="0"/>
              </a:rPr>
              <a:t>6</a:t>
            </a:r>
            <a:r>
              <a:rPr lang="en-US" altLang="en-US" sz="1800" b="0" dirty="0">
                <a:latin typeface="Tahoma" pitchFamily="34" charset="0"/>
              </a:rPr>
              <a:t>C</a:t>
            </a:r>
            <a:r>
              <a:rPr lang="en-US" altLang="en-US" sz="1800" b="0" baseline="-25000" dirty="0">
                <a:latin typeface="Tahoma" pitchFamily="34" charset="0"/>
              </a:rPr>
              <a:t>3</a:t>
            </a:r>
            <a:r>
              <a:rPr lang="en-US" altLang="en-US" sz="1800" b="0" dirty="0">
                <a:latin typeface="Tahoma" pitchFamily="34" charset="0"/>
              </a:rPr>
              <a:t> 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Tahoma" pitchFamily="34" charset="0"/>
              </a:rPr>
              <a:t>	6 + 15 + 20 = 41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Tahoma" pitchFamily="34" charset="0"/>
              </a:rPr>
              <a:t>With support-based pruning,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Tahoma" pitchFamily="34" charset="0"/>
              </a:rPr>
              <a:t>	6 + 6 + 4 = 16</a:t>
            </a:r>
          </a:p>
        </p:txBody>
      </p:sp>
      <p:sp>
        <p:nvSpPr>
          <p:cNvPr id="13" name="Text Box 13"/>
          <p:cNvSpPr txBox="1">
            <a:spLocks noChangeArrowheads="1"/>
          </p:cNvSpPr>
          <p:nvPr/>
        </p:nvSpPr>
        <p:spPr bwMode="auto">
          <a:xfrm>
            <a:off x="304800" y="4384111"/>
            <a:ext cx="3290170" cy="178809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Tahoma" pitchFamily="34" charset="0"/>
              </a:rPr>
              <a:t>If every subset is considered, 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Tahoma" pitchFamily="34" charset="0"/>
              </a:rPr>
              <a:t>	</a:t>
            </a:r>
            <a:r>
              <a:rPr lang="en-US" altLang="en-US" sz="1800" b="0" baseline="30000" dirty="0">
                <a:latin typeface="Tahoma" pitchFamily="34" charset="0"/>
              </a:rPr>
              <a:t>6</a:t>
            </a:r>
            <a:r>
              <a:rPr lang="en-US" altLang="en-US" sz="1800" b="0" dirty="0">
                <a:latin typeface="Tahoma" pitchFamily="34" charset="0"/>
              </a:rPr>
              <a:t>C</a:t>
            </a:r>
            <a:r>
              <a:rPr lang="en-US" altLang="en-US" sz="1800" b="0" baseline="-25000" dirty="0">
                <a:latin typeface="Tahoma" pitchFamily="34" charset="0"/>
              </a:rPr>
              <a:t>1</a:t>
            </a:r>
            <a:r>
              <a:rPr lang="en-US" altLang="en-US" sz="1800" b="0" dirty="0">
                <a:latin typeface="Tahoma" pitchFamily="34" charset="0"/>
              </a:rPr>
              <a:t> + </a:t>
            </a:r>
            <a:r>
              <a:rPr lang="en-US" altLang="en-US" sz="1800" b="0" baseline="30000" dirty="0">
                <a:latin typeface="Tahoma" pitchFamily="34" charset="0"/>
              </a:rPr>
              <a:t>6</a:t>
            </a:r>
            <a:r>
              <a:rPr lang="en-US" altLang="en-US" sz="1800" b="0" dirty="0">
                <a:latin typeface="Tahoma" pitchFamily="34" charset="0"/>
              </a:rPr>
              <a:t>C</a:t>
            </a:r>
            <a:r>
              <a:rPr lang="en-US" altLang="en-US" sz="1800" b="0" baseline="-25000" dirty="0">
                <a:latin typeface="Tahoma" pitchFamily="34" charset="0"/>
              </a:rPr>
              <a:t>2</a:t>
            </a:r>
            <a:r>
              <a:rPr lang="en-US" altLang="en-US" sz="1800" b="0" dirty="0">
                <a:latin typeface="Tahoma" pitchFamily="34" charset="0"/>
              </a:rPr>
              <a:t> + </a:t>
            </a:r>
            <a:r>
              <a:rPr lang="en-US" altLang="en-US" sz="1800" b="0" baseline="30000" dirty="0">
                <a:latin typeface="Tahoma" pitchFamily="34" charset="0"/>
              </a:rPr>
              <a:t>6</a:t>
            </a:r>
            <a:r>
              <a:rPr lang="en-US" altLang="en-US" sz="1800" b="0" dirty="0">
                <a:latin typeface="Tahoma" pitchFamily="34" charset="0"/>
              </a:rPr>
              <a:t>C</a:t>
            </a:r>
            <a:r>
              <a:rPr lang="en-US" altLang="en-US" sz="1800" b="0" baseline="-25000" dirty="0">
                <a:latin typeface="Tahoma" pitchFamily="34" charset="0"/>
              </a:rPr>
              <a:t>3</a:t>
            </a:r>
            <a:r>
              <a:rPr lang="en-US" altLang="en-US" sz="1800" b="0" dirty="0">
                <a:latin typeface="Tahoma" pitchFamily="34" charset="0"/>
              </a:rPr>
              <a:t> 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Tahoma" pitchFamily="34" charset="0"/>
              </a:rPr>
              <a:t>	6 + 15 + 20 = 41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Tahoma" pitchFamily="34" charset="0"/>
              </a:rPr>
              <a:t>With support-based pruning,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Tahoma" pitchFamily="34" charset="0"/>
              </a:rPr>
              <a:t>	6 + 6 + 4 = 16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 b="0" dirty="0">
              <a:solidFill>
                <a:srgbClr val="FF0000"/>
              </a:solidFill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09061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Illustrating Apriori Principle</a:t>
            </a:r>
          </a:p>
        </p:txBody>
      </p:sp>
      <p:graphicFrame>
        <p:nvGraphicFramePr>
          <p:cNvPr id="22531" name="Object 3"/>
          <p:cNvGraphicFramePr>
            <a:graphicFrameLocks noChangeAspect="1"/>
          </p:cNvGraphicFramePr>
          <p:nvPr/>
        </p:nvGraphicFramePr>
        <p:xfrm>
          <a:off x="304800" y="1387475"/>
          <a:ext cx="2289175" cy="2498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28" name="Document" r:id="rId3" imgW="2289908" imgH="2495536" progId="Word.Document.8">
                  <p:embed/>
                </p:oleObj>
              </mc:Choice>
              <mc:Fallback>
                <p:oleObj name="Document" r:id="rId3" imgW="2289908" imgH="2495536" progId="Word.Document.8">
                  <p:embed/>
                  <p:pic>
                    <p:nvPicPr>
                      <p:cNvPr id="2253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387475"/>
                        <a:ext cx="2289175" cy="2498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2" name="Object 4"/>
          <p:cNvGraphicFramePr>
            <a:graphicFrameLocks noChangeAspect="1"/>
          </p:cNvGraphicFramePr>
          <p:nvPr/>
        </p:nvGraphicFramePr>
        <p:xfrm>
          <a:off x="3352800" y="2133600"/>
          <a:ext cx="3327400" cy="2128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29" name="Document" r:id="rId5" imgW="3328641" imgH="2008846" progId="Word.Document.8">
                  <p:embed/>
                </p:oleObj>
              </mc:Choice>
              <mc:Fallback>
                <p:oleObj name="Document" r:id="rId5" imgW="3328641" imgH="2008846" progId="Word.Document.8">
                  <p:embed/>
                  <p:pic>
                    <p:nvPicPr>
                      <p:cNvPr id="2253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2133600"/>
                        <a:ext cx="3327400" cy="2128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3" name="Object 5"/>
          <p:cNvGraphicFramePr>
            <a:graphicFrameLocks noChangeAspect="1"/>
          </p:cNvGraphicFramePr>
          <p:nvPr/>
        </p:nvGraphicFramePr>
        <p:xfrm>
          <a:off x="4876800" y="4572000"/>
          <a:ext cx="3094038" cy="150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30" name="Document" r:id="rId7" imgW="3122634" imgH="1524623" progId="Word.Document.8">
                  <p:embed/>
                </p:oleObj>
              </mc:Choice>
              <mc:Fallback>
                <p:oleObj name="Document" r:id="rId7" imgW="3122634" imgH="1524623" progId="Word.Document.8">
                  <p:embed/>
                  <p:pic>
                    <p:nvPicPr>
                      <p:cNvPr id="2253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4572000"/>
                        <a:ext cx="3094038" cy="1508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4" name="Text Box 6"/>
          <p:cNvSpPr txBox="1">
            <a:spLocks noChangeArrowheads="1"/>
          </p:cNvSpPr>
          <p:nvPr/>
        </p:nvSpPr>
        <p:spPr bwMode="auto">
          <a:xfrm>
            <a:off x="2514600" y="1295400"/>
            <a:ext cx="20558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itchFamily="34" charset="0"/>
              </a:rPr>
              <a:t>Items (1-itemsets)</a:t>
            </a:r>
          </a:p>
        </p:txBody>
      </p:sp>
      <p:sp>
        <p:nvSpPr>
          <p:cNvPr id="22535" name="Text Box 7"/>
          <p:cNvSpPr txBox="1">
            <a:spLocks noChangeArrowheads="1"/>
          </p:cNvSpPr>
          <p:nvPr/>
        </p:nvSpPr>
        <p:spPr bwMode="auto">
          <a:xfrm>
            <a:off x="6096000" y="2055813"/>
            <a:ext cx="2790825" cy="146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itchFamily="34" charset="0"/>
              </a:rPr>
              <a:t>Pairs (2-itemsets)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 b="0">
              <a:latin typeface="Tahoma" pitchFamily="34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itchFamily="34" charset="0"/>
              </a:rPr>
              <a:t>(No need to generate</a:t>
            </a:r>
            <a:br>
              <a:rPr lang="en-US" altLang="en-US" sz="1800" b="0">
                <a:latin typeface="Tahoma" pitchFamily="34" charset="0"/>
              </a:rPr>
            </a:br>
            <a:r>
              <a:rPr lang="en-US" altLang="en-US" sz="1800" b="0">
                <a:latin typeface="Tahoma" pitchFamily="34" charset="0"/>
              </a:rPr>
              <a:t>candidates involving Coke</a:t>
            </a:r>
            <a:br>
              <a:rPr lang="en-US" altLang="en-US" sz="1800" b="0">
                <a:latin typeface="Tahoma" pitchFamily="34" charset="0"/>
              </a:rPr>
            </a:br>
            <a:r>
              <a:rPr lang="en-US" altLang="en-US" sz="1800" b="0">
                <a:latin typeface="Tahoma" pitchFamily="34" charset="0"/>
              </a:rPr>
              <a:t>or Eggs)</a:t>
            </a:r>
            <a:endParaRPr lang="en-US" altLang="en-US" sz="2400" b="0">
              <a:latin typeface="Times New Roman" pitchFamily="18" charset="0"/>
            </a:endParaRPr>
          </a:p>
        </p:txBody>
      </p:sp>
      <p:sp>
        <p:nvSpPr>
          <p:cNvPr id="22536" name="Text Box 8"/>
          <p:cNvSpPr txBox="1">
            <a:spLocks noChangeArrowheads="1"/>
          </p:cNvSpPr>
          <p:nvPr/>
        </p:nvSpPr>
        <p:spPr bwMode="auto">
          <a:xfrm>
            <a:off x="6781800" y="4038600"/>
            <a:ext cx="22256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itchFamily="34" charset="0"/>
              </a:rPr>
              <a:t>Triplets (3-itemsets)</a:t>
            </a:r>
            <a:endParaRPr lang="en-US" altLang="en-US" sz="2400" b="0">
              <a:latin typeface="Times New Roman" pitchFamily="18" charset="0"/>
            </a:endParaRPr>
          </a:p>
        </p:txBody>
      </p:sp>
      <p:sp>
        <p:nvSpPr>
          <p:cNvPr id="22537" name="Line 9"/>
          <p:cNvSpPr>
            <a:spLocks noChangeShapeType="1"/>
          </p:cNvSpPr>
          <p:nvPr/>
        </p:nvSpPr>
        <p:spPr bwMode="auto">
          <a:xfrm>
            <a:off x="5410200" y="4038600"/>
            <a:ext cx="304800" cy="304800"/>
          </a:xfrm>
          <a:prstGeom prst="line">
            <a:avLst/>
          </a:prstGeom>
          <a:noFill/>
          <a:ln w="73025" cmpd="tri">
            <a:solidFill>
              <a:srgbClr val="CC0000"/>
            </a:solidFill>
            <a:round/>
            <a:headEnd/>
            <a:tailEnd type="arrow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38" name="Line 10"/>
          <p:cNvSpPr>
            <a:spLocks noChangeShapeType="1"/>
          </p:cNvSpPr>
          <p:nvPr/>
        </p:nvSpPr>
        <p:spPr bwMode="auto">
          <a:xfrm>
            <a:off x="2819400" y="1981200"/>
            <a:ext cx="304800" cy="304800"/>
          </a:xfrm>
          <a:prstGeom prst="line">
            <a:avLst/>
          </a:prstGeom>
          <a:noFill/>
          <a:ln w="73025" cmpd="tri">
            <a:solidFill>
              <a:srgbClr val="CC0000"/>
            </a:solidFill>
            <a:round/>
            <a:headEnd/>
            <a:tailEnd type="arrow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39" name="Text Box 12"/>
          <p:cNvSpPr txBox="1">
            <a:spLocks noChangeArrowheads="1"/>
          </p:cNvSpPr>
          <p:nvPr/>
        </p:nvSpPr>
        <p:spPr bwMode="auto">
          <a:xfrm>
            <a:off x="304800" y="3810000"/>
            <a:ext cx="2659063" cy="412750"/>
          </a:xfrm>
          <a:prstGeom prst="rect">
            <a:avLst/>
          </a:prstGeom>
          <a:solidFill>
            <a:srgbClr val="FFFF99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>
                <a:latin typeface="Tahoma" pitchFamily="34" charset="0"/>
              </a:rPr>
              <a:t>Minimum Support = 3</a:t>
            </a:r>
          </a:p>
        </p:txBody>
      </p:sp>
      <p:sp>
        <p:nvSpPr>
          <p:cNvPr id="22540" name="Text Box 13"/>
          <p:cNvSpPr txBox="1">
            <a:spLocks noChangeArrowheads="1"/>
          </p:cNvSpPr>
          <p:nvPr/>
        </p:nvSpPr>
        <p:spPr bwMode="auto">
          <a:xfrm>
            <a:off x="304800" y="4384111"/>
            <a:ext cx="3290170" cy="178809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Tahoma" pitchFamily="34" charset="0"/>
              </a:rPr>
              <a:t>If every subset is considered, 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Tahoma" pitchFamily="34" charset="0"/>
              </a:rPr>
              <a:t>	</a:t>
            </a:r>
            <a:r>
              <a:rPr lang="en-US" altLang="en-US" sz="1800" b="0" baseline="30000" dirty="0">
                <a:latin typeface="Tahoma" pitchFamily="34" charset="0"/>
              </a:rPr>
              <a:t>6</a:t>
            </a:r>
            <a:r>
              <a:rPr lang="en-US" altLang="en-US" sz="1800" b="0" dirty="0">
                <a:latin typeface="Tahoma" pitchFamily="34" charset="0"/>
              </a:rPr>
              <a:t>C</a:t>
            </a:r>
            <a:r>
              <a:rPr lang="en-US" altLang="en-US" sz="1800" b="0" baseline="-25000" dirty="0">
                <a:latin typeface="Tahoma" pitchFamily="34" charset="0"/>
              </a:rPr>
              <a:t>1</a:t>
            </a:r>
            <a:r>
              <a:rPr lang="en-US" altLang="en-US" sz="1800" b="0" dirty="0">
                <a:latin typeface="Tahoma" pitchFamily="34" charset="0"/>
              </a:rPr>
              <a:t> + </a:t>
            </a:r>
            <a:r>
              <a:rPr lang="en-US" altLang="en-US" sz="1800" b="0" baseline="30000" dirty="0">
                <a:latin typeface="Tahoma" pitchFamily="34" charset="0"/>
              </a:rPr>
              <a:t>6</a:t>
            </a:r>
            <a:r>
              <a:rPr lang="en-US" altLang="en-US" sz="1800" b="0" dirty="0">
                <a:latin typeface="Tahoma" pitchFamily="34" charset="0"/>
              </a:rPr>
              <a:t>C</a:t>
            </a:r>
            <a:r>
              <a:rPr lang="en-US" altLang="en-US" sz="1800" b="0" baseline="-25000" dirty="0">
                <a:latin typeface="Tahoma" pitchFamily="34" charset="0"/>
              </a:rPr>
              <a:t>2</a:t>
            </a:r>
            <a:r>
              <a:rPr lang="en-US" altLang="en-US" sz="1800" b="0" dirty="0">
                <a:latin typeface="Tahoma" pitchFamily="34" charset="0"/>
              </a:rPr>
              <a:t> + </a:t>
            </a:r>
            <a:r>
              <a:rPr lang="en-US" altLang="en-US" sz="1800" b="0" baseline="30000" dirty="0">
                <a:latin typeface="Tahoma" pitchFamily="34" charset="0"/>
              </a:rPr>
              <a:t>6</a:t>
            </a:r>
            <a:r>
              <a:rPr lang="en-US" altLang="en-US" sz="1800" b="0" dirty="0">
                <a:latin typeface="Tahoma" pitchFamily="34" charset="0"/>
              </a:rPr>
              <a:t>C</a:t>
            </a:r>
            <a:r>
              <a:rPr lang="en-US" altLang="en-US" sz="1800" b="0" baseline="-25000" dirty="0">
                <a:latin typeface="Tahoma" pitchFamily="34" charset="0"/>
              </a:rPr>
              <a:t>3</a:t>
            </a:r>
            <a:r>
              <a:rPr lang="en-US" altLang="en-US" sz="1800" b="0" dirty="0">
                <a:latin typeface="Tahoma" pitchFamily="34" charset="0"/>
              </a:rPr>
              <a:t> 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Tahoma" pitchFamily="34" charset="0"/>
              </a:rPr>
              <a:t>	6 + 15 + 20 = 41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Tahoma" pitchFamily="34" charset="0"/>
              </a:rPr>
              <a:t>With support-based pruning,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Tahoma" pitchFamily="34" charset="0"/>
              </a:rPr>
              <a:t>	6 + 6 + 4 = 16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Tahoma" pitchFamily="34" charset="0"/>
              </a:rPr>
              <a:t>	</a:t>
            </a:r>
            <a:endParaRPr lang="en-US" altLang="en-US" sz="1800" b="0" dirty="0">
              <a:solidFill>
                <a:srgbClr val="FF0000"/>
              </a:solidFill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75869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Illustrating Apriori Principle</a:t>
            </a:r>
          </a:p>
        </p:txBody>
      </p:sp>
      <p:graphicFrame>
        <p:nvGraphicFramePr>
          <p:cNvPr id="22531" name="Object 3"/>
          <p:cNvGraphicFramePr>
            <a:graphicFrameLocks noChangeAspect="1"/>
          </p:cNvGraphicFramePr>
          <p:nvPr/>
        </p:nvGraphicFramePr>
        <p:xfrm>
          <a:off x="304800" y="1387475"/>
          <a:ext cx="2289175" cy="2498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52" name="Document" r:id="rId3" imgW="2289908" imgH="2495536" progId="Word.Document.8">
                  <p:embed/>
                </p:oleObj>
              </mc:Choice>
              <mc:Fallback>
                <p:oleObj name="Document" r:id="rId3" imgW="2289908" imgH="2495536" progId="Word.Document.8">
                  <p:embed/>
                  <p:pic>
                    <p:nvPicPr>
                      <p:cNvPr id="2253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387475"/>
                        <a:ext cx="2289175" cy="2498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2" name="Object 4"/>
          <p:cNvGraphicFramePr>
            <a:graphicFrameLocks noChangeAspect="1"/>
          </p:cNvGraphicFramePr>
          <p:nvPr/>
        </p:nvGraphicFramePr>
        <p:xfrm>
          <a:off x="3352800" y="2133600"/>
          <a:ext cx="3327400" cy="2128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53" name="Document" r:id="rId5" imgW="3328641" imgH="2008846" progId="Word.Document.8">
                  <p:embed/>
                </p:oleObj>
              </mc:Choice>
              <mc:Fallback>
                <p:oleObj name="Document" r:id="rId5" imgW="3328641" imgH="2008846" progId="Word.Document.8">
                  <p:embed/>
                  <p:pic>
                    <p:nvPicPr>
                      <p:cNvPr id="2253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2133600"/>
                        <a:ext cx="3327400" cy="2128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3" name="Object 5"/>
          <p:cNvGraphicFramePr>
            <a:graphicFrameLocks noChangeAspect="1"/>
          </p:cNvGraphicFramePr>
          <p:nvPr/>
        </p:nvGraphicFramePr>
        <p:xfrm>
          <a:off x="4876800" y="4572000"/>
          <a:ext cx="3094038" cy="150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54" name="Document" r:id="rId7" imgW="3124026" imgH="1522425" progId="Word.Document.8">
                  <p:embed/>
                </p:oleObj>
              </mc:Choice>
              <mc:Fallback>
                <p:oleObj name="Document" r:id="rId7" imgW="3124026" imgH="1522425" progId="Word.Document.8">
                  <p:embed/>
                  <p:pic>
                    <p:nvPicPr>
                      <p:cNvPr id="2253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4572000"/>
                        <a:ext cx="3094038" cy="1508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4" name="Text Box 6"/>
          <p:cNvSpPr txBox="1">
            <a:spLocks noChangeArrowheads="1"/>
          </p:cNvSpPr>
          <p:nvPr/>
        </p:nvSpPr>
        <p:spPr bwMode="auto">
          <a:xfrm>
            <a:off x="2514600" y="1295400"/>
            <a:ext cx="20558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itchFamily="34" charset="0"/>
              </a:rPr>
              <a:t>Items (1-itemsets)</a:t>
            </a:r>
          </a:p>
        </p:txBody>
      </p:sp>
      <p:sp>
        <p:nvSpPr>
          <p:cNvPr id="22535" name="Text Box 7"/>
          <p:cNvSpPr txBox="1">
            <a:spLocks noChangeArrowheads="1"/>
          </p:cNvSpPr>
          <p:nvPr/>
        </p:nvSpPr>
        <p:spPr bwMode="auto">
          <a:xfrm>
            <a:off x="6096000" y="2055813"/>
            <a:ext cx="2790825" cy="146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itchFamily="34" charset="0"/>
              </a:rPr>
              <a:t>Pairs (2-itemsets)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 b="0">
              <a:latin typeface="Tahoma" pitchFamily="34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itchFamily="34" charset="0"/>
              </a:rPr>
              <a:t>(No need to generate</a:t>
            </a:r>
            <a:br>
              <a:rPr lang="en-US" altLang="en-US" sz="1800" b="0">
                <a:latin typeface="Tahoma" pitchFamily="34" charset="0"/>
              </a:rPr>
            </a:br>
            <a:r>
              <a:rPr lang="en-US" altLang="en-US" sz="1800" b="0">
                <a:latin typeface="Tahoma" pitchFamily="34" charset="0"/>
              </a:rPr>
              <a:t>candidates involving Coke</a:t>
            </a:r>
            <a:br>
              <a:rPr lang="en-US" altLang="en-US" sz="1800" b="0">
                <a:latin typeface="Tahoma" pitchFamily="34" charset="0"/>
              </a:rPr>
            </a:br>
            <a:r>
              <a:rPr lang="en-US" altLang="en-US" sz="1800" b="0">
                <a:latin typeface="Tahoma" pitchFamily="34" charset="0"/>
              </a:rPr>
              <a:t>or Eggs)</a:t>
            </a:r>
            <a:endParaRPr lang="en-US" altLang="en-US" sz="2400" b="0">
              <a:latin typeface="Times New Roman" pitchFamily="18" charset="0"/>
            </a:endParaRPr>
          </a:p>
        </p:txBody>
      </p:sp>
      <p:sp>
        <p:nvSpPr>
          <p:cNvPr id="22536" name="Text Box 8"/>
          <p:cNvSpPr txBox="1">
            <a:spLocks noChangeArrowheads="1"/>
          </p:cNvSpPr>
          <p:nvPr/>
        </p:nvSpPr>
        <p:spPr bwMode="auto">
          <a:xfrm>
            <a:off x="6781800" y="4038600"/>
            <a:ext cx="22256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itchFamily="34" charset="0"/>
              </a:rPr>
              <a:t>Triplets (3-itemsets)</a:t>
            </a:r>
            <a:endParaRPr lang="en-US" altLang="en-US" sz="2400" b="0">
              <a:latin typeface="Times New Roman" pitchFamily="18" charset="0"/>
            </a:endParaRPr>
          </a:p>
        </p:txBody>
      </p:sp>
      <p:sp>
        <p:nvSpPr>
          <p:cNvPr id="22537" name="Line 9"/>
          <p:cNvSpPr>
            <a:spLocks noChangeShapeType="1"/>
          </p:cNvSpPr>
          <p:nvPr/>
        </p:nvSpPr>
        <p:spPr bwMode="auto">
          <a:xfrm>
            <a:off x="5410200" y="4038600"/>
            <a:ext cx="304800" cy="304800"/>
          </a:xfrm>
          <a:prstGeom prst="line">
            <a:avLst/>
          </a:prstGeom>
          <a:noFill/>
          <a:ln w="73025" cmpd="tri">
            <a:solidFill>
              <a:srgbClr val="CC0000"/>
            </a:solidFill>
            <a:round/>
            <a:headEnd/>
            <a:tailEnd type="arrow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38" name="Line 10"/>
          <p:cNvSpPr>
            <a:spLocks noChangeShapeType="1"/>
          </p:cNvSpPr>
          <p:nvPr/>
        </p:nvSpPr>
        <p:spPr bwMode="auto">
          <a:xfrm>
            <a:off x="2819400" y="1981200"/>
            <a:ext cx="304800" cy="304800"/>
          </a:xfrm>
          <a:prstGeom prst="line">
            <a:avLst/>
          </a:prstGeom>
          <a:noFill/>
          <a:ln w="73025" cmpd="tri">
            <a:solidFill>
              <a:srgbClr val="CC0000"/>
            </a:solidFill>
            <a:round/>
            <a:headEnd/>
            <a:tailEnd type="arrow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39" name="Text Box 12"/>
          <p:cNvSpPr txBox="1">
            <a:spLocks noChangeArrowheads="1"/>
          </p:cNvSpPr>
          <p:nvPr/>
        </p:nvSpPr>
        <p:spPr bwMode="auto">
          <a:xfrm>
            <a:off x="304800" y="3810000"/>
            <a:ext cx="2659063" cy="412750"/>
          </a:xfrm>
          <a:prstGeom prst="rect">
            <a:avLst/>
          </a:prstGeom>
          <a:solidFill>
            <a:srgbClr val="FFFF99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>
                <a:latin typeface="Tahoma" pitchFamily="34" charset="0"/>
              </a:rPr>
              <a:t>Minimum Support = 3</a:t>
            </a:r>
          </a:p>
        </p:txBody>
      </p:sp>
      <p:sp>
        <p:nvSpPr>
          <p:cNvPr id="22540" name="Text Box 13"/>
          <p:cNvSpPr txBox="1">
            <a:spLocks noChangeArrowheads="1"/>
          </p:cNvSpPr>
          <p:nvPr/>
        </p:nvSpPr>
        <p:spPr bwMode="auto">
          <a:xfrm>
            <a:off x="304800" y="4384111"/>
            <a:ext cx="3290170" cy="178809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Tahoma" pitchFamily="34" charset="0"/>
              </a:rPr>
              <a:t>If every subset is considered, 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Tahoma" pitchFamily="34" charset="0"/>
              </a:rPr>
              <a:t>	</a:t>
            </a:r>
            <a:r>
              <a:rPr lang="en-US" altLang="en-US" sz="1800" b="0" baseline="30000" dirty="0">
                <a:latin typeface="Tahoma" pitchFamily="34" charset="0"/>
              </a:rPr>
              <a:t>6</a:t>
            </a:r>
            <a:r>
              <a:rPr lang="en-US" altLang="en-US" sz="1800" b="0" dirty="0">
                <a:latin typeface="Tahoma" pitchFamily="34" charset="0"/>
              </a:rPr>
              <a:t>C</a:t>
            </a:r>
            <a:r>
              <a:rPr lang="en-US" altLang="en-US" sz="1800" b="0" baseline="-25000" dirty="0">
                <a:latin typeface="Tahoma" pitchFamily="34" charset="0"/>
              </a:rPr>
              <a:t>1</a:t>
            </a:r>
            <a:r>
              <a:rPr lang="en-US" altLang="en-US" sz="1800" b="0" dirty="0">
                <a:latin typeface="Tahoma" pitchFamily="34" charset="0"/>
              </a:rPr>
              <a:t> + </a:t>
            </a:r>
            <a:r>
              <a:rPr lang="en-US" altLang="en-US" sz="1800" b="0" baseline="30000" dirty="0">
                <a:latin typeface="Tahoma" pitchFamily="34" charset="0"/>
              </a:rPr>
              <a:t>6</a:t>
            </a:r>
            <a:r>
              <a:rPr lang="en-US" altLang="en-US" sz="1800" b="0" dirty="0">
                <a:latin typeface="Tahoma" pitchFamily="34" charset="0"/>
              </a:rPr>
              <a:t>C</a:t>
            </a:r>
            <a:r>
              <a:rPr lang="en-US" altLang="en-US" sz="1800" b="0" baseline="-25000" dirty="0">
                <a:latin typeface="Tahoma" pitchFamily="34" charset="0"/>
              </a:rPr>
              <a:t>2</a:t>
            </a:r>
            <a:r>
              <a:rPr lang="en-US" altLang="en-US" sz="1800" b="0" dirty="0">
                <a:latin typeface="Tahoma" pitchFamily="34" charset="0"/>
              </a:rPr>
              <a:t> + </a:t>
            </a:r>
            <a:r>
              <a:rPr lang="en-US" altLang="en-US" sz="1800" b="0" baseline="30000" dirty="0">
                <a:latin typeface="Tahoma" pitchFamily="34" charset="0"/>
              </a:rPr>
              <a:t>6</a:t>
            </a:r>
            <a:r>
              <a:rPr lang="en-US" altLang="en-US" sz="1800" b="0" dirty="0">
                <a:latin typeface="Tahoma" pitchFamily="34" charset="0"/>
              </a:rPr>
              <a:t>C</a:t>
            </a:r>
            <a:r>
              <a:rPr lang="en-US" altLang="en-US" sz="1800" b="0" baseline="-25000" dirty="0">
                <a:latin typeface="Tahoma" pitchFamily="34" charset="0"/>
              </a:rPr>
              <a:t>3</a:t>
            </a:r>
            <a:r>
              <a:rPr lang="en-US" altLang="en-US" sz="1800" b="0" dirty="0">
                <a:latin typeface="Tahoma" pitchFamily="34" charset="0"/>
              </a:rPr>
              <a:t> 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Tahoma" pitchFamily="34" charset="0"/>
              </a:rPr>
              <a:t>	6 + 15 + 20 = 41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Tahoma" pitchFamily="34" charset="0"/>
              </a:rPr>
              <a:t>With support-based pruning,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Tahoma" pitchFamily="34" charset="0"/>
              </a:rPr>
              <a:t>	6 + 6 + 4 = 16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Tahoma" pitchFamily="34" charset="0"/>
              </a:rPr>
              <a:t>	</a:t>
            </a:r>
            <a:r>
              <a:rPr lang="en-US" altLang="en-US" sz="1800" b="0" dirty="0">
                <a:solidFill>
                  <a:srgbClr val="FF0000"/>
                </a:solidFill>
                <a:latin typeface="Tahoma" pitchFamily="34" charset="0"/>
              </a:rPr>
              <a:t>6 + 6 + 1 = 13</a:t>
            </a:r>
          </a:p>
        </p:txBody>
      </p:sp>
    </p:spTree>
    <p:extLst>
      <p:ext uri="{BB962C8B-B14F-4D97-AF65-F5344CB8AC3E}">
        <p14:creationId xmlns:p14="http://schemas.microsoft.com/office/powerpoint/2010/main" val="8203538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Apriori</a:t>
            </a:r>
            <a:r>
              <a:rPr lang="en-US" altLang="en-US" dirty="0"/>
              <a:t> Algorithm</a:t>
            </a:r>
            <a:r>
              <a:rPr lang="en-US" altLang="zh-CN" dirty="0"/>
              <a:t>-</a:t>
            </a:r>
            <a:r>
              <a:rPr lang="zh-CN" altLang="en-US" dirty="0"/>
              <a:t>先验算法</a:t>
            </a:r>
            <a:endParaRPr lang="en-US" altLang="en-US" dirty="0"/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742950" lvl="1" indent="-285750">
              <a:lnSpc>
                <a:spcPct val="90000"/>
              </a:lnSpc>
            </a:pPr>
            <a:r>
              <a:rPr lang="en-US" altLang="en-US" dirty="0" err="1"/>
              <a:t>F</a:t>
            </a:r>
            <a:r>
              <a:rPr lang="en-US" altLang="en-US" baseline="-25000" dirty="0" err="1"/>
              <a:t>k</a:t>
            </a:r>
            <a:r>
              <a:rPr lang="en-US" altLang="en-US" dirty="0"/>
              <a:t>: frequent k-</a:t>
            </a:r>
            <a:r>
              <a:rPr lang="en-US" altLang="en-US" dirty="0" err="1"/>
              <a:t>itemsets</a:t>
            </a:r>
            <a:endParaRPr lang="en-US" altLang="en-US" dirty="0"/>
          </a:p>
          <a:p>
            <a:pPr marL="742950" lvl="1" indent="-285750">
              <a:lnSpc>
                <a:spcPct val="90000"/>
              </a:lnSpc>
            </a:pPr>
            <a:r>
              <a:rPr lang="en-US" altLang="en-US" dirty="0"/>
              <a:t>L</a:t>
            </a:r>
            <a:r>
              <a:rPr lang="en-US" altLang="en-US" baseline="-25000" dirty="0"/>
              <a:t>k</a:t>
            </a:r>
            <a:r>
              <a:rPr lang="en-US" altLang="en-US" dirty="0"/>
              <a:t>: candidate k-</a:t>
            </a:r>
            <a:r>
              <a:rPr lang="en-US" altLang="en-US" dirty="0" err="1"/>
              <a:t>itemsets</a:t>
            </a:r>
            <a:endParaRPr lang="en-US" altLang="en-US" dirty="0"/>
          </a:p>
          <a:p>
            <a:pPr marL="1543050" lvl="3" indent="-285750">
              <a:lnSpc>
                <a:spcPct val="90000"/>
              </a:lnSpc>
            </a:pPr>
            <a:endParaRPr lang="en-US" altLang="en-US" sz="800" dirty="0"/>
          </a:p>
          <a:p>
            <a:pPr marL="234950" indent="-285750">
              <a:lnSpc>
                <a:spcPct val="90000"/>
              </a:lnSpc>
            </a:pPr>
            <a:r>
              <a:rPr lang="en-US" altLang="en-US" dirty="0"/>
              <a:t>Algorithm</a:t>
            </a:r>
          </a:p>
          <a:p>
            <a:pPr marL="742950" lvl="1" indent="-285750">
              <a:lnSpc>
                <a:spcPct val="90000"/>
              </a:lnSpc>
            </a:pPr>
            <a:r>
              <a:rPr lang="en-US" altLang="en-US" dirty="0"/>
              <a:t>Let k=1</a:t>
            </a:r>
          </a:p>
          <a:p>
            <a:pPr marL="742950" lvl="1" indent="-285750">
              <a:lnSpc>
                <a:spcPct val="90000"/>
              </a:lnSpc>
            </a:pPr>
            <a:r>
              <a:rPr lang="en-US" altLang="en-US" dirty="0"/>
              <a:t>Generate F</a:t>
            </a:r>
            <a:r>
              <a:rPr lang="en-US" altLang="en-US" baseline="-25000" dirty="0"/>
              <a:t>1</a:t>
            </a:r>
            <a:r>
              <a:rPr lang="en-US" altLang="en-US" dirty="0"/>
              <a:t> = {frequent 1-itemsets}</a:t>
            </a:r>
          </a:p>
          <a:p>
            <a:pPr marL="742950" lvl="1" indent="-285750">
              <a:lnSpc>
                <a:spcPct val="90000"/>
              </a:lnSpc>
            </a:pPr>
            <a:r>
              <a:rPr lang="en-US" altLang="en-US" dirty="0"/>
              <a:t>Repeat until </a:t>
            </a:r>
            <a:r>
              <a:rPr lang="en-US" altLang="en-US" dirty="0" err="1"/>
              <a:t>F</a:t>
            </a:r>
            <a:r>
              <a:rPr lang="en-US" altLang="en-US" baseline="-25000" dirty="0" err="1"/>
              <a:t>k</a:t>
            </a:r>
            <a:r>
              <a:rPr lang="en-US" altLang="en-US" dirty="0"/>
              <a:t> is empty</a:t>
            </a:r>
          </a:p>
          <a:p>
            <a:pPr marL="1143000" lvl="2" indent="-228600">
              <a:lnSpc>
                <a:spcPct val="90000"/>
              </a:lnSpc>
            </a:pPr>
            <a:r>
              <a:rPr lang="en-US" altLang="en-US" b="1" dirty="0"/>
              <a:t>Candidate Generation</a:t>
            </a:r>
            <a:r>
              <a:rPr lang="en-US" altLang="en-US" dirty="0"/>
              <a:t>: Generate L</a:t>
            </a:r>
            <a:r>
              <a:rPr lang="en-US" altLang="en-US" baseline="-25000" dirty="0"/>
              <a:t>k+1 </a:t>
            </a:r>
            <a:r>
              <a:rPr lang="en-US" altLang="en-US" dirty="0"/>
              <a:t>from </a:t>
            </a:r>
            <a:r>
              <a:rPr lang="en-US" altLang="en-US" dirty="0" err="1"/>
              <a:t>F</a:t>
            </a:r>
            <a:r>
              <a:rPr lang="en-US" altLang="en-US" baseline="-25000" dirty="0" err="1"/>
              <a:t>k</a:t>
            </a:r>
            <a:endParaRPr lang="en-US" altLang="en-US" baseline="-25000" dirty="0"/>
          </a:p>
          <a:p>
            <a:pPr marL="1143000" lvl="2" indent="-228600">
              <a:lnSpc>
                <a:spcPct val="90000"/>
              </a:lnSpc>
            </a:pPr>
            <a:r>
              <a:rPr lang="en-US" altLang="en-US" b="1" dirty="0"/>
              <a:t>Candidate Pruning</a:t>
            </a:r>
            <a:r>
              <a:rPr lang="en-US" altLang="en-US" dirty="0"/>
              <a:t>: Prune candidate </a:t>
            </a:r>
            <a:r>
              <a:rPr lang="en-US" altLang="en-US" dirty="0" err="1"/>
              <a:t>itemsets</a:t>
            </a:r>
            <a:r>
              <a:rPr lang="en-US" altLang="en-US" dirty="0"/>
              <a:t> in L</a:t>
            </a:r>
            <a:r>
              <a:rPr lang="en-US" altLang="en-US" baseline="-25000" dirty="0"/>
              <a:t>k+1 </a:t>
            </a:r>
            <a:r>
              <a:rPr lang="en-US" altLang="en-US" dirty="0"/>
              <a:t>containing subsets of length k that are infrequent </a:t>
            </a:r>
          </a:p>
          <a:p>
            <a:pPr marL="1143000" lvl="2" indent="-228600">
              <a:lnSpc>
                <a:spcPct val="90000"/>
              </a:lnSpc>
            </a:pPr>
            <a:r>
              <a:rPr lang="en-US" altLang="en-US" b="1" dirty="0"/>
              <a:t>Support Counting</a:t>
            </a:r>
            <a:r>
              <a:rPr lang="en-US" altLang="en-US" dirty="0"/>
              <a:t>: Count the support of each candidate in L</a:t>
            </a:r>
            <a:r>
              <a:rPr lang="en-US" altLang="en-US" baseline="-25000" dirty="0"/>
              <a:t>k+1 </a:t>
            </a:r>
            <a:r>
              <a:rPr lang="en-US" altLang="en-US" dirty="0"/>
              <a:t>by scanning the DB</a:t>
            </a:r>
          </a:p>
          <a:p>
            <a:pPr marL="1143000" lvl="2" indent="-228600">
              <a:lnSpc>
                <a:spcPct val="90000"/>
              </a:lnSpc>
            </a:pPr>
            <a:r>
              <a:rPr lang="en-US" altLang="en-US" b="1" dirty="0"/>
              <a:t>Candidate Elimination</a:t>
            </a:r>
            <a:r>
              <a:rPr lang="en-US" altLang="en-US" dirty="0"/>
              <a:t>: Eliminate candidates in L</a:t>
            </a:r>
            <a:r>
              <a:rPr lang="en-US" altLang="en-US" baseline="-25000" dirty="0"/>
              <a:t>k+1 </a:t>
            </a:r>
            <a:r>
              <a:rPr lang="en-US" altLang="en-US" dirty="0"/>
              <a:t>that are infrequent, leaving only those that are frequent =&gt; F</a:t>
            </a:r>
            <a:r>
              <a:rPr lang="en-US" altLang="en-US" baseline="-25000" dirty="0"/>
              <a:t>k+1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9749CB3-F9BB-4F2E-9FFE-94B36D854FB4}"/>
              </a:ext>
            </a:extLst>
          </p:cNvPr>
          <p:cNvSpPr txBox="1"/>
          <p:nvPr/>
        </p:nvSpPr>
        <p:spPr>
          <a:xfrm>
            <a:off x="1600200" y="6093767"/>
            <a:ext cx="5416868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2400" dirty="0"/>
              <a:t>生成</a:t>
            </a:r>
            <a:r>
              <a:rPr lang="en-US" altLang="zh-CN" sz="2400" dirty="0"/>
              <a:t>——</a:t>
            </a:r>
            <a:r>
              <a:rPr lang="zh-CN" altLang="en-US" sz="2400" dirty="0"/>
              <a:t>修剪</a:t>
            </a:r>
            <a:r>
              <a:rPr lang="en-US" altLang="zh-CN" sz="2400" dirty="0"/>
              <a:t>——</a:t>
            </a:r>
            <a:r>
              <a:rPr lang="zh-CN" altLang="en-US" sz="2400" dirty="0"/>
              <a:t>计算支持度</a:t>
            </a:r>
            <a:r>
              <a:rPr lang="en-US" altLang="zh-CN" sz="2400" dirty="0"/>
              <a:t>——</a:t>
            </a:r>
            <a:r>
              <a:rPr lang="zh-CN" altLang="en-US" sz="2400" dirty="0"/>
              <a:t>删除</a:t>
            </a:r>
          </a:p>
        </p:txBody>
      </p:sp>
    </p:spTree>
    <p:extLst>
      <p:ext uri="{BB962C8B-B14F-4D97-AF65-F5344CB8AC3E}">
        <p14:creationId xmlns:p14="http://schemas.microsoft.com/office/powerpoint/2010/main" val="1818651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400"/>
              <a:t>Candidate Generation: Brute-force method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lum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39" r="70956" b="62019"/>
          <a:stretch>
            <a:fillRect/>
          </a:stretch>
        </p:blipFill>
        <p:spPr bwMode="auto">
          <a:xfrm>
            <a:off x="7162800" y="1193800"/>
            <a:ext cx="1435100" cy="179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778" y="1193800"/>
            <a:ext cx="6492240" cy="5147367"/>
          </a:xfrm>
          <a:prstGeom prst="rect">
            <a:avLst/>
          </a:prstGeom>
        </p:spPr>
      </p:pic>
      <p:graphicFrame>
        <p:nvGraphicFramePr>
          <p:cNvPr id="6" name="Object 21"/>
          <p:cNvGraphicFramePr>
            <a:graphicFrameLocks noGrp="1" noChangeAspect="1"/>
          </p:cNvGraphicFramePr>
          <p:nvPr/>
        </p:nvGraphicFramePr>
        <p:xfrm>
          <a:off x="228600" y="1094459"/>
          <a:ext cx="1981200" cy="11915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36" name="Document" r:id="rId5" imgW="3352666" imgH="2016134" progId="Word.Document.8">
                  <p:embed/>
                </p:oleObj>
              </mc:Choice>
              <mc:Fallback>
                <p:oleObj name="Document" r:id="rId5" imgW="3352666" imgH="2016134" progId="Word.Document.8">
                  <p:embed/>
                  <p:pic>
                    <p:nvPicPr>
                      <p:cNvPr id="6" name="Object 2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094459"/>
                        <a:ext cx="1981200" cy="11915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046314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81000" y="228600"/>
            <a:ext cx="7924800" cy="8921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/>
              <a:t>Candidate Generation: </a:t>
            </a:r>
            <a:r>
              <a:rPr lang="en-US" sz="2400" kern="0" dirty="0"/>
              <a:t>Merge Fk-1 and F1 </a:t>
            </a:r>
            <a:r>
              <a:rPr lang="en-US" sz="2400" kern="0" dirty="0" err="1"/>
              <a:t>itemsets</a:t>
            </a:r>
            <a:endParaRPr lang="en-US" sz="2800" kern="0" dirty="0"/>
          </a:p>
          <a:p>
            <a:pPr>
              <a:defRPr/>
            </a:pPr>
            <a:endParaRPr lang="en-US" sz="2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273175"/>
            <a:ext cx="8436677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1707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/>
              <a:t>Candidate Generation: F</a:t>
            </a:r>
            <a:r>
              <a:rPr lang="en-US" altLang="en-US" sz="2800" baseline="-25000"/>
              <a:t>k-1</a:t>
            </a:r>
            <a:r>
              <a:rPr lang="en-US" altLang="en-US" sz="2800"/>
              <a:t> </a:t>
            </a:r>
            <a:r>
              <a:rPr lang="en-US" altLang="en-US" sz="2400" b="0"/>
              <a:t>x</a:t>
            </a:r>
            <a:r>
              <a:rPr lang="en-US" altLang="en-US" sz="2800"/>
              <a:t> F</a:t>
            </a:r>
            <a:r>
              <a:rPr lang="en-US" altLang="en-US" sz="2800" baseline="-25000"/>
              <a:t>k-1</a:t>
            </a:r>
            <a:r>
              <a:rPr lang="en-US" altLang="en-US" sz="2800"/>
              <a:t> Method</a:t>
            </a:r>
            <a:endParaRPr lang="en-US" altLang="en-US" sz="2800" baseline="-25000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400" dirty="0"/>
              <a:t>Merge two frequent (k-1)-</a:t>
            </a:r>
            <a:r>
              <a:rPr lang="en-US" altLang="en-US" sz="2400" dirty="0" err="1"/>
              <a:t>itemsets</a:t>
            </a:r>
            <a:r>
              <a:rPr lang="en-US" altLang="en-US" sz="2400" dirty="0"/>
              <a:t> if their first (k-2) items are identical</a:t>
            </a:r>
          </a:p>
          <a:p>
            <a:pPr lvl="1">
              <a:buFont typeface="Arial" charset="0"/>
              <a:buNone/>
            </a:pPr>
            <a:endParaRPr lang="en-US" altLang="en-US" dirty="0"/>
          </a:p>
          <a:p>
            <a:r>
              <a:rPr lang="en-US" altLang="en-US" dirty="0"/>
              <a:t>F</a:t>
            </a:r>
            <a:r>
              <a:rPr lang="en-US" altLang="en-US" baseline="-25000" dirty="0"/>
              <a:t>3</a:t>
            </a:r>
            <a:r>
              <a:rPr lang="en-US" altLang="en-US" dirty="0"/>
              <a:t> = {ABC,ABD,ABE,ACD,BCD,BDE,CDE}</a:t>
            </a:r>
          </a:p>
          <a:p>
            <a:pPr lvl="1"/>
            <a:r>
              <a:rPr lang="en-US" altLang="en-US" dirty="0"/>
              <a:t>Merge(</a:t>
            </a:r>
            <a:r>
              <a:rPr lang="en-US" altLang="en-US" b="1" u="sng" dirty="0"/>
              <a:t>AB</a:t>
            </a:r>
            <a:r>
              <a:rPr lang="en-US" altLang="en-US" dirty="0"/>
              <a:t>C, </a:t>
            </a:r>
            <a:r>
              <a:rPr lang="en-US" altLang="en-US" b="1" u="sng" dirty="0"/>
              <a:t>AB</a:t>
            </a:r>
            <a:r>
              <a:rPr lang="en-US" altLang="en-US" dirty="0"/>
              <a:t>D) = </a:t>
            </a:r>
            <a:r>
              <a:rPr lang="en-US" altLang="en-US" b="1" u="sng" dirty="0"/>
              <a:t>AB</a:t>
            </a:r>
            <a:r>
              <a:rPr lang="en-US" altLang="en-US" dirty="0"/>
              <a:t>CD</a:t>
            </a:r>
          </a:p>
          <a:p>
            <a:pPr lvl="1"/>
            <a:r>
              <a:rPr lang="en-US" altLang="en-US" dirty="0"/>
              <a:t>Merge(</a:t>
            </a:r>
            <a:r>
              <a:rPr lang="en-US" altLang="en-US" b="1" u="sng" dirty="0"/>
              <a:t>AB</a:t>
            </a:r>
            <a:r>
              <a:rPr lang="en-US" altLang="en-US" dirty="0"/>
              <a:t>C, </a:t>
            </a:r>
            <a:r>
              <a:rPr lang="en-US" altLang="en-US" b="1" u="sng" dirty="0"/>
              <a:t>AB</a:t>
            </a:r>
            <a:r>
              <a:rPr lang="en-US" altLang="en-US" dirty="0"/>
              <a:t>E) = </a:t>
            </a:r>
            <a:r>
              <a:rPr lang="en-US" altLang="en-US" b="1" u="sng" dirty="0"/>
              <a:t>AB</a:t>
            </a:r>
            <a:r>
              <a:rPr lang="en-US" altLang="en-US" dirty="0"/>
              <a:t>CE</a:t>
            </a:r>
          </a:p>
          <a:p>
            <a:pPr lvl="1"/>
            <a:r>
              <a:rPr lang="en-US" altLang="en-US" dirty="0"/>
              <a:t>Merge(</a:t>
            </a:r>
            <a:r>
              <a:rPr lang="en-US" altLang="en-US" b="1" u="sng" dirty="0"/>
              <a:t>AB</a:t>
            </a:r>
            <a:r>
              <a:rPr lang="en-US" altLang="en-US" dirty="0"/>
              <a:t>D, </a:t>
            </a:r>
            <a:r>
              <a:rPr lang="en-US" altLang="en-US" b="1" u="sng" dirty="0"/>
              <a:t>AB</a:t>
            </a:r>
            <a:r>
              <a:rPr lang="en-US" altLang="en-US" dirty="0"/>
              <a:t>E) = </a:t>
            </a:r>
            <a:r>
              <a:rPr lang="en-US" altLang="en-US" b="1" u="sng" dirty="0"/>
              <a:t>AB</a:t>
            </a:r>
            <a:r>
              <a:rPr lang="en-US" altLang="en-US" dirty="0"/>
              <a:t>DE</a:t>
            </a:r>
          </a:p>
          <a:p>
            <a:pPr lvl="2">
              <a:buFont typeface="Wingdings" pitchFamily="2" charset="2"/>
              <a:buNone/>
            </a:pPr>
            <a:endParaRPr lang="en-US" altLang="en-US" dirty="0"/>
          </a:p>
          <a:p>
            <a:pPr lvl="1"/>
            <a:r>
              <a:rPr lang="en-US" altLang="en-US" dirty="0"/>
              <a:t>Do not merge(</a:t>
            </a:r>
            <a:r>
              <a:rPr lang="en-US" altLang="en-US" b="1" u="sng" dirty="0"/>
              <a:t>A</a:t>
            </a:r>
            <a:r>
              <a:rPr lang="en-US" altLang="en-US" dirty="0"/>
              <a:t>BD,</a:t>
            </a:r>
            <a:r>
              <a:rPr lang="en-US" altLang="en-US" b="1" u="sng" dirty="0"/>
              <a:t>A</a:t>
            </a:r>
            <a:r>
              <a:rPr lang="en-US" altLang="en-US" dirty="0"/>
              <a:t>CD) because they share only prefix of length 1 instead of length 2</a:t>
            </a:r>
          </a:p>
        </p:txBody>
      </p:sp>
    </p:spTree>
    <p:extLst>
      <p:ext uri="{BB962C8B-B14F-4D97-AF65-F5344CB8AC3E}">
        <p14:creationId xmlns:p14="http://schemas.microsoft.com/office/powerpoint/2010/main" val="42477143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7F86C998-99E3-4043-8506-1DF2AF1AA83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54000" y="1225232"/>
            <a:ext cx="88138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en-US" sz="2000" dirty="0"/>
              <a:t>Let F</a:t>
            </a:r>
            <a:r>
              <a:rPr lang="en-US" altLang="en-US" sz="2000" baseline="-25000" dirty="0"/>
              <a:t>3</a:t>
            </a:r>
            <a:r>
              <a:rPr lang="en-US" altLang="en-US" sz="2000" dirty="0"/>
              <a:t> = {ABC,ABD,ABE,ACD,BCD,BDE,CDE} be the set of frequent 3-itemsets</a:t>
            </a:r>
          </a:p>
          <a:p>
            <a:pPr lvl="2"/>
            <a:endParaRPr lang="en-US" altLang="en-US" sz="2000" dirty="0"/>
          </a:p>
          <a:p>
            <a:r>
              <a:rPr lang="en-US" altLang="en-US" sz="2000" dirty="0"/>
              <a:t>L</a:t>
            </a:r>
            <a:r>
              <a:rPr lang="en-US" altLang="en-US" sz="2000" baseline="-25000" dirty="0"/>
              <a:t>4</a:t>
            </a:r>
            <a:r>
              <a:rPr lang="en-US" altLang="en-US" sz="2000" dirty="0"/>
              <a:t> = {ABCD,ABCE,ABDE} is the set of candidate 4-itemsets generated (from previous slide)</a:t>
            </a:r>
          </a:p>
          <a:p>
            <a:endParaRPr lang="en-US" altLang="en-US" sz="2000" dirty="0"/>
          </a:p>
          <a:p>
            <a:r>
              <a:rPr lang="zh-CN" altLang="en-US" sz="2000" dirty="0"/>
              <a:t>经过修剪后，还剩余哪些</a:t>
            </a:r>
            <a:r>
              <a:rPr lang="en-US" altLang="zh-CN" sz="2000" dirty="0"/>
              <a:t>candidate itemset</a:t>
            </a:r>
            <a:r>
              <a:rPr lang="zh-CN" altLang="en-US" sz="2000" dirty="0"/>
              <a:t>？</a:t>
            </a:r>
            <a:endParaRPr lang="en-US" altLang="en-US" sz="20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360D366-28AB-44FF-819D-420F07F53F8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3499" y="3467100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ABCD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EFCC28A-FC3B-4A4D-890A-658C4ED823EA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3499" y="4324350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ABCE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9EDC2B5-FD15-4207-8443-AFD47C123F5F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3499" y="5181600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ABDE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D1F0DF56-0BCE-4ECF-9F27-31FB3A712E04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1109124" y="3531393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5D7C0FFB-F017-4B6E-A07A-38B9DAFF4304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09124" y="4388643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7C13AF6C-2FA3-45AE-9734-8BA0729E8CAE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09124" y="5245893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EB384BE8-6A93-457A-A929-89BEDCC08828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8408FF67-3633-4E31-BE8D-7A1EABF5D4EF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D07854B2-255C-4756-B07E-07B8446943DD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3859BE0D-3BEC-43D3-9D7F-EA1A416462DF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3B7EC437-0F79-48E8-9F87-6DCF093CB238}"/>
                </a:ext>
              </a:extLst>
            </p:cNvPr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C459F7CF-4232-4799-9743-D49A2B785B9C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1CD2D5B7-3E25-412A-9781-87C603950B34}"/>
              </a:ext>
            </a:extLst>
          </p:cNvPr>
          <p:cNvPicPr>
            <a:picLocks/>
          </p:cNvPicPr>
          <p:nvPr>
            <p:custDataLst>
              <p:tags r:id="rId11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753915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62000" y="333499"/>
            <a:ext cx="7924800" cy="8921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/>
              <a:t>Candidate Generation: </a:t>
            </a:r>
            <a:r>
              <a:rPr lang="en-US" sz="2400" kern="0" dirty="0"/>
              <a:t>Fk-1 x Fk-1 Method</a:t>
            </a:r>
            <a:endParaRPr lang="en-US" sz="2800" kern="0" dirty="0"/>
          </a:p>
          <a:p>
            <a:pPr>
              <a:defRPr/>
            </a:pPr>
            <a:endParaRPr lang="en-US" sz="2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600200"/>
            <a:ext cx="8017231" cy="438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3350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Illustrating Apriori Principle</a:t>
            </a:r>
          </a:p>
        </p:txBody>
      </p:sp>
      <p:graphicFrame>
        <p:nvGraphicFramePr>
          <p:cNvPr id="28675" name="Object 3"/>
          <p:cNvGraphicFramePr>
            <a:graphicFrameLocks noChangeAspect="1"/>
          </p:cNvGraphicFramePr>
          <p:nvPr/>
        </p:nvGraphicFramePr>
        <p:xfrm>
          <a:off x="304800" y="1387475"/>
          <a:ext cx="2289175" cy="2498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095" name="Document" r:id="rId3" imgW="2289908" imgH="2495536" progId="Word.Document.8">
                  <p:embed/>
                </p:oleObj>
              </mc:Choice>
              <mc:Fallback>
                <p:oleObj name="Document" r:id="rId3" imgW="2289908" imgH="2495536" progId="Word.Document.8">
                  <p:embed/>
                  <p:pic>
                    <p:nvPicPr>
                      <p:cNvPr id="2867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387475"/>
                        <a:ext cx="2289175" cy="2498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6" name="Object 4"/>
          <p:cNvGraphicFramePr>
            <a:graphicFrameLocks noChangeAspect="1"/>
          </p:cNvGraphicFramePr>
          <p:nvPr/>
        </p:nvGraphicFramePr>
        <p:xfrm>
          <a:off x="3352800" y="2133600"/>
          <a:ext cx="3327400" cy="2128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096" name="Document" r:id="rId5" imgW="3328641" imgH="2008846" progId="Word.Document.8">
                  <p:embed/>
                </p:oleObj>
              </mc:Choice>
              <mc:Fallback>
                <p:oleObj name="Document" r:id="rId5" imgW="3328641" imgH="2008846" progId="Word.Document.8">
                  <p:embed/>
                  <p:pic>
                    <p:nvPicPr>
                      <p:cNvPr id="2867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2133600"/>
                        <a:ext cx="3327400" cy="2128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7" name="Object 5"/>
          <p:cNvGraphicFramePr>
            <a:graphicFrameLocks noChangeAspect="1"/>
          </p:cNvGraphicFramePr>
          <p:nvPr/>
        </p:nvGraphicFramePr>
        <p:xfrm>
          <a:off x="4876800" y="4435475"/>
          <a:ext cx="3094038" cy="150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097" name="Document" r:id="rId7" imgW="3124026" imgH="1522425" progId="Word.Document.8">
                  <p:embed/>
                </p:oleObj>
              </mc:Choice>
              <mc:Fallback>
                <p:oleObj name="Document" r:id="rId7" imgW="3124026" imgH="1522425" progId="Word.Document.8">
                  <p:embed/>
                  <p:pic>
                    <p:nvPicPr>
                      <p:cNvPr id="2867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4435475"/>
                        <a:ext cx="3094038" cy="1508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8" name="Text Box 6"/>
          <p:cNvSpPr txBox="1">
            <a:spLocks noChangeArrowheads="1"/>
          </p:cNvSpPr>
          <p:nvPr/>
        </p:nvSpPr>
        <p:spPr bwMode="auto">
          <a:xfrm>
            <a:off x="2514600" y="1295400"/>
            <a:ext cx="20558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itchFamily="34" charset="0"/>
              </a:rPr>
              <a:t>Items (1-itemsets)</a:t>
            </a:r>
          </a:p>
        </p:txBody>
      </p:sp>
      <p:sp>
        <p:nvSpPr>
          <p:cNvPr id="28679" name="Text Box 7"/>
          <p:cNvSpPr txBox="1">
            <a:spLocks noChangeArrowheads="1"/>
          </p:cNvSpPr>
          <p:nvPr/>
        </p:nvSpPr>
        <p:spPr bwMode="auto">
          <a:xfrm>
            <a:off x="6096000" y="2055813"/>
            <a:ext cx="2790825" cy="146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itchFamily="34" charset="0"/>
              </a:rPr>
              <a:t>Pairs (2-itemsets)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 b="0">
              <a:latin typeface="Tahoma" pitchFamily="34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itchFamily="34" charset="0"/>
              </a:rPr>
              <a:t>(No need to generate</a:t>
            </a:r>
            <a:br>
              <a:rPr lang="en-US" altLang="en-US" sz="1800" b="0">
                <a:latin typeface="Tahoma" pitchFamily="34" charset="0"/>
              </a:rPr>
            </a:br>
            <a:r>
              <a:rPr lang="en-US" altLang="en-US" sz="1800" b="0">
                <a:latin typeface="Tahoma" pitchFamily="34" charset="0"/>
              </a:rPr>
              <a:t>candidates involving Coke</a:t>
            </a:r>
            <a:br>
              <a:rPr lang="en-US" altLang="en-US" sz="1800" b="0">
                <a:latin typeface="Tahoma" pitchFamily="34" charset="0"/>
              </a:rPr>
            </a:br>
            <a:r>
              <a:rPr lang="en-US" altLang="en-US" sz="1800" b="0">
                <a:latin typeface="Tahoma" pitchFamily="34" charset="0"/>
              </a:rPr>
              <a:t>or Eggs)</a:t>
            </a:r>
            <a:endParaRPr lang="en-US" altLang="en-US" sz="2400" b="0">
              <a:latin typeface="Times New Roman" pitchFamily="18" charset="0"/>
            </a:endParaRPr>
          </a:p>
        </p:txBody>
      </p:sp>
      <p:sp>
        <p:nvSpPr>
          <p:cNvPr id="28680" name="Text Box 8"/>
          <p:cNvSpPr txBox="1">
            <a:spLocks noChangeArrowheads="1"/>
          </p:cNvSpPr>
          <p:nvPr/>
        </p:nvSpPr>
        <p:spPr bwMode="auto">
          <a:xfrm>
            <a:off x="6781800" y="4038600"/>
            <a:ext cx="22256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itchFamily="34" charset="0"/>
              </a:rPr>
              <a:t>Triplets (3-itemsets)</a:t>
            </a:r>
            <a:endParaRPr lang="en-US" altLang="en-US" sz="2400" b="0">
              <a:latin typeface="Times New Roman" pitchFamily="18" charset="0"/>
            </a:endParaRPr>
          </a:p>
        </p:txBody>
      </p:sp>
      <p:sp>
        <p:nvSpPr>
          <p:cNvPr id="28681" name="Line 9"/>
          <p:cNvSpPr>
            <a:spLocks noChangeShapeType="1"/>
          </p:cNvSpPr>
          <p:nvPr/>
        </p:nvSpPr>
        <p:spPr bwMode="auto">
          <a:xfrm>
            <a:off x="5410200" y="4038600"/>
            <a:ext cx="304800" cy="304800"/>
          </a:xfrm>
          <a:prstGeom prst="line">
            <a:avLst/>
          </a:prstGeom>
          <a:noFill/>
          <a:ln w="73025" cmpd="tri">
            <a:solidFill>
              <a:srgbClr val="CC0000"/>
            </a:solidFill>
            <a:round/>
            <a:headEnd/>
            <a:tailEnd type="arrow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82" name="Line 10"/>
          <p:cNvSpPr>
            <a:spLocks noChangeShapeType="1"/>
          </p:cNvSpPr>
          <p:nvPr/>
        </p:nvSpPr>
        <p:spPr bwMode="auto">
          <a:xfrm>
            <a:off x="2819400" y="1981200"/>
            <a:ext cx="304800" cy="304800"/>
          </a:xfrm>
          <a:prstGeom prst="line">
            <a:avLst/>
          </a:prstGeom>
          <a:noFill/>
          <a:ln w="73025" cmpd="tri">
            <a:solidFill>
              <a:srgbClr val="CC0000"/>
            </a:solidFill>
            <a:round/>
            <a:headEnd/>
            <a:tailEnd type="arrow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83" name="Text Box 12"/>
          <p:cNvSpPr txBox="1">
            <a:spLocks noChangeArrowheads="1"/>
          </p:cNvSpPr>
          <p:nvPr/>
        </p:nvSpPr>
        <p:spPr bwMode="auto">
          <a:xfrm>
            <a:off x="304800" y="3810000"/>
            <a:ext cx="2659063" cy="412750"/>
          </a:xfrm>
          <a:prstGeom prst="rect">
            <a:avLst/>
          </a:prstGeom>
          <a:solidFill>
            <a:srgbClr val="FFFF99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>
                <a:latin typeface="Tahoma" pitchFamily="34" charset="0"/>
              </a:rPr>
              <a:t>Minimum Support = 3</a:t>
            </a:r>
          </a:p>
        </p:txBody>
      </p:sp>
      <p:sp>
        <p:nvSpPr>
          <p:cNvPr id="28684" name="Text Box 13"/>
          <p:cNvSpPr txBox="1">
            <a:spLocks noChangeArrowheads="1"/>
          </p:cNvSpPr>
          <p:nvPr/>
        </p:nvSpPr>
        <p:spPr bwMode="auto">
          <a:xfrm>
            <a:off x="304800" y="4381500"/>
            <a:ext cx="3244850" cy="1476375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itchFamily="34" charset="0"/>
              </a:rPr>
              <a:t>If every subset is considered, 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itchFamily="34" charset="0"/>
              </a:rPr>
              <a:t>	</a:t>
            </a:r>
            <a:r>
              <a:rPr lang="en-US" altLang="en-US" sz="1800" b="0" baseline="30000">
                <a:latin typeface="Tahoma" pitchFamily="34" charset="0"/>
              </a:rPr>
              <a:t>6</a:t>
            </a:r>
            <a:r>
              <a:rPr lang="en-US" altLang="en-US" sz="1800" b="0">
                <a:latin typeface="Tahoma" pitchFamily="34" charset="0"/>
              </a:rPr>
              <a:t>C</a:t>
            </a:r>
            <a:r>
              <a:rPr lang="en-US" altLang="en-US" sz="1800" b="0" baseline="-25000">
                <a:latin typeface="Tahoma" pitchFamily="34" charset="0"/>
              </a:rPr>
              <a:t>1</a:t>
            </a:r>
            <a:r>
              <a:rPr lang="en-US" altLang="en-US" sz="1800" b="0">
                <a:latin typeface="Tahoma" pitchFamily="34" charset="0"/>
              </a:rPr>
              <a:t> + </a:t>
            </a:r>
            <a:r>
              <a:rPr lang="en-US" altLang="en-US" sz="1800" b="0" baseline="30000">
                <a:latin typeface="Tahoma" pitchFamily="34" charset="0"/>
              </a:rPr>
              <a:t>6</a:t>
            </a:r>
            <a:r>
              <a:rPr lang="en-US" altLang="en-US" sz="1800" b="0">
                <a:latin typeface="Tahoma" pitchFamily="34" charset="0"/>
              </a:rPr>
              <a:t>C</a:t>
            </a:r>
            <a:r>
              <a:rPr lang="en-US" altLang="en-US" sz="1800" b="0" baseline="-25000">
                <a:latin typeface="Tahoma" pitchFamily="34" charset="0"/>
              </a:rPr>
              <a:t>2</a:t>
            </a:r>
            <a:r>
              <a:rPr lang="en-US" altLang="en-US" sz="1800" b="0">
                <a:latin typeface="Tahoma" pitchFamily="34" charset="0"/>
              </a:rPr>
              <a:t> + </a:t>
            </a:r>
            <a:r>
              <a:rPr lang="en-US" altLang="en-US" sz="1800" b="0" baseline="30000">
                <a:latin typeface="Tahoma" pitchFamily="34" charset="0"/>
              </a:rPr>
              <a:t>6</a:t>
            </a:r>
            <a:r>
              <a:rPr lang="en-US" altLang="en-US" sz="1800" b="0">
                <a:latin typeface="Tahoma" pitchFamily="34" charset="0"/>
              </a:rPr>
              <a:t>C</a:t>
            </a:r>
            <a:r>
              <a:rPr lang="en-US" altLang="en-US" sz="1800" b="0" baseline="-25000">
                <a:latin typeface="Tahoma" pitchFamily="34" charset="0"/>
              </a:rPr>
              <a:t>3</a:t>
            </a:r>
            <a:r>
              <a:rPr lang="en-US" altLang="en-US" sz="1800" b="0">
                <a:latin typeface="Tahoma" pitchFamily="34" charset="0"/>
              </a:rPr>
              <a:t> 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itchFamily="34" charset="0"/>
              </a:rPr>
              <a:t>	6 + 15 + 20 = 41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itchFamily="34" charset="0"/>
              </a:rPr>
              <a:t>With support-based pruning,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itchFamily="34" charset="0"/>
              </a:rPr>
              <a:t>	6 + 6 + 1 = 13</a:t>
            </a:r>
          </a:p>
        </p:txBody>
      </p:sp>
      <p:sp>
        <p:nvSpPr>
          <p:cNvPr id="28685" name="TextBox 12"/>
          <p:cNvSpPr txBox="1">
            <a:spLocks noChangeArrowheads="1"/>
          </p:cNvSpPr>
          <p:nvPr/>
        </p:nvSpPr>
        <p:spPr bwMode="auto">
          <a:xfrm>
            <a:off x="3581400" y="5562600"/>
            <a:ext cx="5562600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Use of F</a:t>
            </a:r>
            <a:r>
              <a:rPr lang="en-US" altLang="en-US" sz="1400" baseline="-25000"/>
              <a:t>k-1</a:t>
            </a:r>
            <a:r>
              <a:rPr lang="en-US" altLang="en-US" sz="1400"/>
              <a:t>xF</a:t>
            </a:r>
            <a:r>
              <a:rPr lang="en-US" altLang="en-US" sz="1400" baseline="-25000"/>
              <a:t>k-1</a:t>
            </a:r>
            <a:r>
              <a:rPr lang="en-US" altLang="en-US" sz="1400"/>
              <a:t> method for candidate generation results in</a:t>
            </a:r>
          </a:p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 only one 3-itemset.  This is eliminated after the support counting step.</a:t>
            </a:r>
          </a:p>
        </p:txBody>
      </p:sp>
    </p:spTree>
    <p:extLst>
      <p:ext uri="{BB962C8B-B14F-4D97-AF65-F5344CB8AC3E}">
        <p14:creationId xmlns:p14="http://schemas.microsoft.com/office/powerpoint/2010/main" val="17519194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Alternate F</a:t>
            </a:r>
            <a:r>
              <a:rPr lang="en-US" altLang="en-US" sz="2800" baseline="-25000" dirty="0"/>
              <a:t>k-1</a:t>
            </a:r>
            <a:r>
              <a:rPr lang="en-US" altLang="en-US" sz="2800" dirty="0"/>
              <a:t> </a:t>
            </a:r>
            <a:r>
              <a:rPr lang="en-US" altLang="en-US" sz="2400" b="0" dirty="0"/>
              <a:t>x</a:t>
            </a:r>
            <a:r>
              <a:rPr lang="en-US" altLang="en-US" sz="2800" dirty="0"/>
              <a:t> F</a:t>
            </a:r>
            <a:r>
              <a:rPr lang="en-US" altLang="en-US" sz="2800" baseline="-25000" dirty="0"/>
              <a:t>k-1</a:t>
            </a:r>
            <a:r>
              <a:rPr lang="en-US" altLang="en-US" sz="2800" dirty="0"/>
              <a:t> Method</a:t>
            </a:r>
            <a:r>
              <a:rPr lang="en-US" altLang="zh-CN" sz="2800" dirty="0"/>
              <a:t>-</a:t>
            </a:r>
            <a:r>
              <a:rPr lang="zh-CN" altLang="en-US" sz="2800" dirty="0"/>
              <a:t>另一种方法</a:t>
            </a:r>
            <a:endParaRPr lang="en-US" altLang="en-US" sz="2800" baseline="-25000" dirty="0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400" dirty="0"/>
              <a:t>Merge two frequent (k-1)-</a:t>
            </a:r>
            <a:r>
              <a:rPr lang="en-US" altLang="en-US" sz="2400" dirty="0" err="1"/>
              <a:t>itemsets</a:t>
            </a:r>
            <a:r>
              <a:rPr lang="en-US" altLang="en-US" sz="2400" dirty="0"/>
              <a:t> if the last (k-2) items of the first one is identical to the first (k-2) items of the second.</a:t>
            </a:r>
          </a:p>
          <a:p>
            <a:pPr lvl="1">
              <a:buFont typeface="Arial" charset="0"/>
              <a:buNone/>
            </a:pPr>
            <a:endParaRPr lang="en-US" altLang="en-US" dirty="0"/>
          </a:p>
          <a:p>
            <a:r>
              <a:rPr lang="en-US" altLang="en-US" dirty="0"/>
              <a:t>F</a:t>
            </a:r>
            <a:r>
              <a:rPr lang="en-US" altLang="en-US" baseline="-25000" dirty="0"/>
              <a:t>3</a:t>
            </a:r>
            <a:r>
              <a:rPr lang="en-US" altLang="en-US" dirty="0"/>
              <a:t> = {ABC,ABD,ABE,ACD,BCD,BDE,CDE}</a:t>
            </a:r>
          </a:p>
          <a:p>
            <a:pPr lvl="1"/>
            <a:r>
              <a:rPr lang="en-US" altLang="en-US" dirty="0"/>
              <a:t>Merge(A</a:t>
            </a:r>
            <a:r>
              <a:rPr lang="en-US" altLang="en-US" b="1" u="sng" dirty="0"/>
              <a:t>BC</a:t>
            </a:r>
            <a:r>
              <a:rPr lang="en-US" altLang="en-US" dirty="0"/>
              <a:t>, </a:t>
            </a:r>
            <a:r>
              <a:rPr lang="en-US" altLang="en-US" b="1" u="sng" dirty="0"/>
              <a:t>BC</a:t>
            </a:r>
            <a:r>
              <a:rPr lang="en-US" altLang="en-US" dirty="0"/>
              <a:t>D) = A</a:t>
            </a:r>
            <a:r>
              <a:rPr lang="en-US" altLang="en-US" b="1" u="sng" dirty="0"/>
              <a:t>BC</a:t>
            </a:r>
            <a:r>
              <a:rPr lang="en-US" altLang="en-US" dirty="0"/>
              <a:t>D</a:t>
            </a:r>
          </a:p>
          <a:p>
            <a:pPr lvl="1"/>
            <a:r>
              <a:rPr lang="en-US" altLang="en-US" dirty="0"/>
              <a:t>Merge(A</a:t>
            </a:r>
            <a:r>
              <a:rPr lang="en-US" altLang="en-US" b="1" u="sng" dirty="0"/>
              <a:t>BD</a:t>
            </a:r>
            <a:r>
              <a:rPr lang="en-US" altLang="en-US" dirty="0"/>
              <a:t>, </a:t>
            </a:r>
            <a:r>
              <a:rPr lang="en-US" altLang="en-US" b="1" u="sng" dirty="0"/>
              <a:t>BD</a:t>
            </a:r>
            <a:r>
              <a:rPr lang="en-US" altLang="en-US" dirty="0"/>
              <a:t>E) = A</a:t>
            </a:r>
            <a:r>
              <a:rPr lang="en-US" altLang="en-US" b="1" u="sng" dirty="0"/>
              <a:t>BD</a:t>
            </a:r>
            <a:r>
              <a:rPr lang="en-US" altLang="en-US" dirty="0"/>
              <a:t>E</a:t>
            </a:r>
          </a:p>
          <a:p>
            <a:pPr lvl="1"/>
            <a:r>
              <a:rPr lang="en-US" altLang="en-US" dirty="0"/>
              <a:t>Merge(A</a:t>
            </a:r>
            <a:r>
              <a:rPr lang="en-US" altLang="en-US" b="1" u="sng" dirty="0"/>
              <a:t>CD</a:t>
            </a:r>
            <a:r>
              <a:rPr lang="en-US" altLang="en-US" dirty="0"/>
              <a:t>, </a:t>
            </a:r>
            <a:r>
              <a:rPr lang="en-US" altLang="en-US" b="1" u="sng" dirty="0"/>
              <a:t>CD</a:t>
            </a:r>
            <a:r>
              <a:rPr lang="en-US" altLang="en-US" dirty="0"/>
              <a:t>E) = A</a:t>
            </a:r>
            <a:r>
              <a:rPr lang="en-US" altLang="en-US" b="1" u="sng" dirty="0"/>
              <a:t>CD</a:t>
            </a:r>
            <a:r>
              <a:rPr lang="en-US" altLang="en-US" dirty="0"/>
              <a:t>E</a:t>
            </a:r>
          </a:p>
          <a:p>
            <a:pPr lvl="1"/>
            <a:r>
              <a:rPr lang="en-US" altLang="en-US" dirty="0"/>
              <a:t>Merge(B</a:t>
            </a:r>
            <a:r>
              <a:rPr lang="en-US" altLang="en-US" b="1" u="sng" dirty="0"/>
              <a:t>CD</a:t>
            </a:r>
            <a:r>
              <a:rPr lang="en-US" altLang="en-US" dirty="0"/>
              <a:t>, </a:t>
            </a:r>
            <a:r>
              <a:rPr lang="en-US" altLang="en-US" b="1" u="sng" dirty="0"/>
              <a:t>CD</a:t>
            </a:r>
            <a:r>
              <a:rPr lang="en-US" altLang="en-US" dirty="0"/>
              <a:t>E) = B</a:t>
            </a:r>
            <a:r>
              <a:rPr lang="en-US" altLang="en-US" b="1" u="sng" dirty="0"/>
              <a:t>CD</a:t>
            </a:r>
            <a:r>
              <a:rPr lang="en-US" altLang="en-US" dirty="0"/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14602057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400" dirty="0"/>
              <a:t>Candidate Pruning for Alternate F</a:t>
            </a:r>
            <a:r>
              <a:rPr lang="en-US" altLang="en-US" sz="2400" baseline="-25000" dirty="0"/>
              <a:t>k-1</a:t>
            </a:r>
            <a:r>
              <a:rPr lang="en-US" altLang="en-US" sz="2400" dirty="0"/>
              <a:t> </a:t>
            </a:r>
            <a:r>
              <a:rPr lang="en-US" altLang="en-US" sz="2000" b="0" dirty="0"/>
              <a:t>x</a:t>
            </a:r>
            <a:r>
              <a:rPr lang="en-US" altLang="en-US" sz="2400" dirty="0"/>
              <a:t> F</a:t>
            </a:r>
            <a:r>
              <a:rPr lang="en-US" altLang="en-US" sz="2400" baseline="-25000" dirty="0"/>
              <a:t>k-1</a:t>
            </a:r>
            <a:r>
              <a:rPr lang="en-US" altLang="en-US" sz="2400" dirty="0"/>
              <a:t> Method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1163" y="1143000"/>
            <a:ext cx="8318500" cy="5257800"/>
          </a:xfrm>
        </p:spPr>
        <p:txBody>
          <a:bodyPr/>
          <a:lstStyle/>
          <a:p>
            <a:r>
              <a:rPr lang="en-US" altLang="en-US" dirty="0"/>
              <a:t>Let F</a:t>
            </a:r>
            <a:r>
              <a:rPr lang="en-US" altLang="en-US" baseline="-25000" dirty="0"/>
              <a:t>3</a:t>
            </a:r>
            <a:r>
              <a:rPr lang="en-US" altLang="en-US" dirty="0"/>
              <a:t> = {ABC,ABD,ABE,ACD,BCD,BDE,CDE} be the set of frequent 3-itemsets</a:t>
            </a:r>
          </a:p>
          <a:p>
            <a:pPr lvl="2"/>
            <a:endParaRPr lang="en-US" altLang="en-US" dirty="0"/>
          </a:p>
          <a:p>
            <a:r>
              <a:rPr lang="en-US" altLang="en-US" dirty="0"/>
              <a:t>L</a:t>
            </a:r>
            <a:r>
              <a:rPr lang="en-US" altLang="en-US" baseline="-25000" dirty="0"/>
              <a:t>4</a:t>
            </a:r>
            <a:r>
              <a:rPr lang="en-US" altLang="en-US" dirty="0"/>
              <a:t> = {ABCD,ABDE,ACDE,BCDE} is the set of candidate 4-itemsets generated (from previous slide)</a:t>
            </a:r>
          </a:p>
          <a:p>
            <a:r>
              <a:rPr lang="en-US" altLang="en-US" dirty="0"/>
              <a:t>Candidate pruning</a:t>
            </a:r>
          </a:p>
          <a:p>
            <a:pPr lvl="1"/>
            <a:r>
              <a:rPr lang="en-US" altLang="en-US" dirty="0"/>
              <a:t>Prune ABDE because ADE is infrequent</a:t>
            </a:r>
          </a:p>
          <a:p>
            <a:pPr lvl="1"/>
            <a:r>
              <a:rPr lang="en-US" altLang="en-US" dirty="0"/>
              <a:t>Prune ACDE because ACE and ADE are infrequent</a:t>
            </a:r>
          </a:p>
          <a:p>
            <a:pPr lvl="1"/>
            <a:r>
              <a:rPr lang="en-US" altLang="en-US" dirty="0"/>
              <a:t>Prune BCDE because BCE </a:t>
            </a:r>
          </a:p>
          <a:p>
            <a:r>
              <a:rPr lang="en-US" altLang="en-US" dirty="0"/>
              <a:t>After candidate pruning: L</a:t>
            </a:r>
            <a:r>
              <a:rPr lang="en-US" altLang="en-US" baseline="-25000" dirty="0"/>
              <a:t>4</a:t>
            </a:r>
            <a:r>
              <a:rPr lang="en-US" altLang="en-US" dirty="0"/>
              <a:t> = {ABCD} </a:t>
            </a:r>
          </a:p>
        </p:txBody>
      </p:sp>
    </p:spTree>
    <p:extLst>
      <p:ext uri="{BB962C8B-B14F-4D97-AF65-F5344CB8AC3E}">
        <p14:creationId xmlns:p14="http://schemas.microsoft.com/office/powerpoint/2010/main" val="409489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Rule Generation</a:t>
            </a:r>
            <a:r>
              <a:rPr lang="en-US" altLang="zh-CN" dirty="0"/>
              <a:t>-</a:t>
            </a:r>
            <a:r>
              <a:rPr lang="zh-CN" altLang="en-US" dirty="0"/>
              <a:t>规则生成</a:t>
            </a:r>
            <a:endParaRPr lang="en-US" altLang="en-US" dirty="0"/>
          </a:p>
        </p:txBody>
      </p:sp>
      <p:sp>
        <p:nvSpPr>
          <p:cNvPr id="1275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Given a frequent </a:t>
            </a:r>
            <a:r>
              <a:rPr lang="en-US" altLang="en-US" dirty="0" err="1"/>
              <a:t>itemset</a:t>
            </a:r>
            <a:r>
              <a:rPr lang="en-US" altLang="en-US" dirty="0"/>
              <a:t> L, find all non-empty subsets f </a:t>
            </a:r>
            <a:r>
              <a:rPr lang="en-US" altLang="en-US" dirty="0">
                <a:sym typeface="Symbol" pitchFamily="18" charset="2"/>
              </a:rPr>
              <a:t> L such that f  L – f satisfies the minimum confidence requirement</a:t>
            </a:r>
          </a:p>
          <a:p>
            <a:pPr lvl="1"/>
            <a:r>
              <a:rPr lang="en-US" altLang="en-US" dirty="0">
                <a:sym typeface="Symbol" pitchFamily="18" charset="2"/>
              </a:rPr>
              <a:t>If {A,B,C,D} is a frequent </a:t>
            </a:r>
            <a:r>
              <a:rPr lang="en-US" altLang="en-US" dirty="0" err="1">
                <a:sym typeface="Symbol" pitchFamily="18" charset="2"/>
              </a:rPr>
              <a:t>itemset</a:t>
            </a:r>
            <a:r>
              <a:rPr lang="en-US" altLang="en-US" dirty="0">
                <a:sym typeface="Symbol" pitchFamily="18" charset="2"/>
              </a:rPr>
              <a:t>, candidate rules:</a:t>
            </a:r>
          </a:p>
          <a:p>
            <a:pPr lvl="2">
              <a:buFont typeface="Wingdings" pitchFamily="2" charset="2"/>
              <a:buNone/>
            </a:pPr>
            <a:r>
              <a:rPr lang="en-US" altLang="en-US" dirty="0">
                <a:sym typeface="Symbol" pitchFamily="18" charset="2"/>
              </a:rPr>
              <a:t>ABC D, 	ABD C, 	ACD B, 	BCD A, </a:t>
            </a:r>
            <a:br>
              <a:rPr lang="en-US" altLang="en-US" dirty="0">
                <a:sym typeface="Symbol" pitchFamily="18" charset="2"/>
              </a:rPr>
            </a:br>
            <a:r>
              <a:rPr lang="en-US" altLang="en-US" dirty="0">
                <a:sym typeface="Symbol" pitchFamily="18" charset="2"/>
              </a:rPr>
              <a:t>A BCD,	B ACD,	C ABD, 	D ABC</a:t>
            </a:r>
            <a:br>
              <a:rPr lang="en-US" altLang="en-US" dirty="0">
                <a:sym typeface="Symbol" pitchFamily="18" charset="2"/>
              </a:rPr>
            </a:br>
            <a:r>
              <a:rPr lang="en-US" altLang="en-US" dirty="0">
                <a:sym typeface="Symbol" pitchFamily="18" charset="2"/>
              </a:rPr>
              <a:t>AB CD,	AC  BD, 	AD  BC, 	BC AD, </a:t>
            </a:r>
            <a:br>
              <a:rPr lang="en-US" altLang="en-US" dirty="0">
                <a:sym typeface="Symbol" pitchFamily="18" charset="2"/>
              </a:rPr>
            </a:br>
            <a:r>
              <a:rPr lang="en-US" altLang="en-US" dirty="0">
                <a:sym typeface="Symbol" pitchFamily="18" charset="2"/>
              </a:rPr>
              <a:t>BD AC, 	CD AB,	</a:t>
            </a:r>
            <a:br>
              <a:rPr lang="en-US" altLang="en-US" dirty="0">
                <a:sym typeface="Symbol" pitchFamily="18" charset="2"/>
              </a:rPr>
            </a:br>
            <a:endParaRPr lang="en-US" altLang="en-US" sz="1000" dirty="0">
              <a:sym typeface="Symbol" pitchFamily="18" charset="2"/>
            </a:endParaRPr>
          </a:p>
          <a:p>
            <a:r>
              <a:rPr lang="en-US" altLang="en-US" dirty="0"/>
              <a:t>If |L| = k, then there are 2</a:t>
            </a:r>
            <a:r>
              <a:rPr lang="en-US" altLang="en-US" baseline="30000" dirty="0"/>
              <a:t>k</a:t>
            </a:r>
            <a:r>
              <a:rPr lang="en-US" altLang="en-US" dirty="0"/>
              <a:t> – 2 candidate association rules (ignoring L </a:t>
            </a:r>
            <a:r>
              <a:rPr lang="en-US" altLang="en-US" dirty="0">
                <a:sym typeface="Symbol" pitchFamily="18" charset="2"/>
              </a:rPr>
              <a:t>  and   L)</a:t>
            </a:r>
          </a:p>
          <a:p>
            <a:r>
              <a:rPr lang="zh-CN" altLang="en-US" dirty="0">
                <a:sym typeface="Symbol" pitchFamily="18" charset="2"/>
              </a:rPr>
              <a:t>计算费时！</a:t>
            </a:r>
            <a:endParaRPr lang="en-US" altLang="en-US" dirty="0"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265829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5907" grpId="0" build="p" bldLvl="2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Rule Generation</a:t>
            </a:r>
          </a:p>
        </p:txBody>
      </p:sp>
      <p:sp>
        <p:nvSpPr>
          <p:cNvPr id="1276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sym typeface="Symbol" pitchFamily="18" charset="2"/>
              </a:rPr>
              <a:t>In general, confidence does not have an anti-monotone property</a:t>
            </a:r>
            <a:r>
              <a:rPr lang="en-US" altLang="zh-CN" dirty="0">
                <a:sym typeface="Symbol" pitchFamily="18" charset="2"/>
              </a:rPr>
              <a:t>-</a:t>
            </a:r>
            <a:r>
              <a:rPr lang="zh-CN" altLang="en-US" dirty="0">
                <a:sym typeface="Symbol" pitchFamily="18" charset="2"/>
              </a:rPr>
              <a:t>置信度本身没有单调性</a:t>
            </a:r>
            <a:endParaRPr lang="en-US" altLang="en-US" dirty="0">
              <a:sym typeface="Symbol" pitchFamily="18" charset="2"/>
            </a:endParaRPr>
          </a:p>
          <a:p>
            <a:pPr lvl="1">
              <a:buFont typeface="Arial" charset="0"/>
              <a:buNone/>
            </a:pPr>
            <a:r>
              <a:rPr lang="en-US" altLang="en-US" dirty="0">
                <a:sym typeface="Symbol" pitchFamily="18" charset="2"/>
              </a:rPr>
              <a:t>	c(ABC D) can be larger or smaller than c(AB D)</a:t>
            </a:r>
          </a:p>
          <a:p>
            <a:pPr lvl="3"/>
            <a:endParaRPr lang="en-US" altLang="en-US" dirty="0">
              <a:sym typeface="Symbol" pitchFamily="18" charset="2"/>
            </a:endParaRPr>
          </a:p>
          <a:p>
            <a:r>
              <a:rPr lang="en-US" altLang="en-US" dirty="0">
                <a:sym typeface="Symbol" pitchFamily="18" charset="2"/>
              </a:rPr>
              <a:t>But confidence of rules generated from the same </a:t>
            </a:r>
            <a:r>
              <a:rPr lang="en-US" altLang="en-US" dirty="0" err="1">
                <a:sym typeface="Symbol" pitchFamily="18" charset="2"/>
              </a:rPr>
              <a:t>itemset</a:t>
            </a:r>
            <a:r>
              <a:rPr lang="en-US" altLang="en-US" dirty="0">
                <a:sym typeface="Symbol" pitchFamily="18" charset="2"/>
              </a:rPr>
              <a:t> has an anti-monotone property</a:t>
            </a:r>
          </a:p>
          <a:p>
            <a:pPr lvl="1"/>
            <a:r>
              <a:rPr lang="zh-CN" altLang="en-US" dirty="0">
                <a:sym typeface="Symbol" pitchFamily="18" charset="2"/>
              </a:rPr>
              <a:t>但在同一个项集内，却存在单调性</a:t>
            </a:r>
            <a:endParaRPr lang="en-US" altLang="en-US" dirty="0">
              <a:sym typeface="Symbol" pitchFamily="18" charset="2"/>
            </a:endParaRPr>
          </a:p>
          <a:p>
            <a:pPr lvl="1"/>
            <a:r>
              <a:rPr lang="en-US" altLang="en-US" dirty="0">
                <a:sym typeface="Symbol" pitchFamily="18" charset="2"/>
              </a:rPr>
              <a:t>E.g., Suppose {A,B,C,D} is a frequent 4-itemset:</a:t>
            </a:r>
            <a:br>
              <a:rPr lang="en-US" altLang="en-US" dirty="0">
                <a:sym typeface="Symbol" pitchFamily="18" charset="2"/>
              </a:rPr>
            </a:br>
            <a:r>
              <a:rPr lang="en-US" altLang="en-US" dirty="0">
                <a:sym typeface="Symbol" pitchFamily="18" charset="2"/>
              </a:rPr>
              <a:t> </a:t>
            </a:r>
            <a:br>
              <a:rPr lang="en-US" altLang="en-US" dirty="0">
                <a:sym typeface="Symbol" pitchFamily="18" charset="2"/>
              </a:rPr>
            </a:br>
            <a:r>
              <a:rPr lang="en-US" altLang="en-US" dirty="0">
                <a:sym typeface="Symbol" pitchFamily="18" charset="2"/>
              </a:rPr>
              <a:t>		c(ABC  D)  c(AB  CD)  c(A  BCD)</a:t>
            </a:r>
          </a:p>
          <a:p>
            <a:pPr lvl="1">
              <a:buFont typeface="Arial" charset="0"/>
              <a:buNone/>
            </a:pPr>
            <a:r>
              <a:rPr lang="en-US" altLang="en-US" dirty="0">
                <a:sym typeface="Symbol" pitchFamily="18" charset="2"/>
              </a:rPr>
              <a:t>  Confidence is anti-monotone w.r.t. number of items on the RHS of the rule</a:t>
            </a:r>
          </a:p>
        </p:txBody>
      </p:sp>
    </p:spTree>
    <p:extLst>
      <p:ext uri="{BB962C8B-B14F-4D97-AF65-F5344CB8AC3E}">
        <p14:creationId xmlns:p14="http://schemas.microsoft.com/office/powerpoint/2010/main" val="2821405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9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9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9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9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9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6931" grpId="0" build="p" bldLvl="2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Rule Generation for Apriori Algorithm</a:t>
            </a:r>
          </a:p>
        </p:txBody>
      </p:sp>
      <p:graphicFrame>
        <p:nvGraphicFramePr>
          <p:cNvPr id="41987" name="Object 2"/>
          <p:cNvGraphicFramePr>
            <a:graphicFrameLocks noChangeAspect="1"/>
          </p:cNvGraphicFramePr>
          <p:nvPr/>
        </p:nvGraphicFramePr>
        <p:xfrm>
          <a:off x="914400" y="1419225"/>
          <a:ext cx="7620000" cy="429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924" name="Visio" r:id="rId3" imgW="8671306" imgH="4782859" progId="Visio.Drawing.6">
                  <p:embed/>
                </p:oleObj>
              </mc:Choice>
              <mc:Fallback>
                <p:oleObj name="Visio" r:id="rId3" imgW="8671306" imgH="4782859" progId="Visio.Drawing.6">
                  <p:embed/>
                  <p:pic>
                    <p:nvPicPr>
                      <p:cNvPr id="41987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419225"/>
                        <a:ext cx="7620000" cy="429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88" name="Text Box 4"/>
          <p:cNvSpPr txBox="1">
            <a:spLocks noChangeArrowheads="1"/>
          </p:cNvSpPr>
          <p:nvPr/>
        </p:nvSpPr>
        <p:spPr bwMode="auto">
          <a:xfrm>
            <a:off x="457200" y="1066800"/>
            <a:ext cx="20256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b="0">
                <a:solidFill>
                  <a:srgbClr val="CC3300"/>
                </a:solidFill>
                <a:latin typeface="Times New Roman" pitchFamily="18" charset="0"/>
              </a:rPr>
              <a:t>Lattice of rules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381000" y="1419225"/>
            <a:ext cx="8153400" cy="4784725"/>
            <a:chOff x="96" y="894"/>
            <a:chExt cx="5136" cy="3014"/>
          </a:xfrm>
        </p:grpSpPr>
        <p:graphicFrame>
          <p:nvGraphicFramePr>
            <p:cNvPr id="41992" name="Object 3"/>
            <p:cNvGraphicFramePr>
              <a:graphicFrameLocks noChangeAspect="1"/>
            </p:cNvGraphicFramePr>
            <p:nvPr/>
          </p:nvGraphicFramePr>
          <p:xfrm>
            <a:off x="432" y="894"/>
            <a:ext cx="4800" cy="27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8925" name="Visio" r:id="rId5" imgW="8671306" imgH="4782859" progId="Visio.Drawing.6">
                    <p:embed/>
                  </p:oleObj>
                </mc:Choice>
                <mc:Fallback>
                  <p:oleObj name="Visio" r:id="rId5" imgW="8671306" imgH="4782859" progId="Visio.Drawing.6">
                    <p:embed/>
                    <p:pic>
                      <p:nvPicPr>
                        <p:cNvPr id="41992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" y="894"/>
                          <a:ext cx="4800" cy="27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993" name="Freeform 7"/>
            <p:cNvSpPr>
              <a:spLocks/>
            </p:cNvSpPr>
            <p:nvPr/>
          </p:nvSpPr>
          <p:spPr bwMode="auto">
            <a:xfrm>
              <a:off x="320" y="1064"/>
              <a:ext cx="3712" cy="2808"/>
            </a:xfrm>
            <a:custGeom>
              <a:avLst/>
              <a:gdLst>
                <a:gd name="T0" fmla="*/ 256 w 3712"/>
                <a:gd name="T1" fmla="*/ 376 h 2808"/>
                <a:gd name="T2" fmla="*/ 736 w 3712"/>
                <a:gd name="T3" fmla="*/ 88 h 2808"/>
                <a:gd name="T4" fmla="*/ 2176 w 3712"/>
                <a:gd name="T5" fmla="*/ 904 h 2808"/>
                <a:gd name="T6" fmla="*/ 2656 w 3712"/>
                <a:gd name="T7" fmla="*/ 1768 h 2808"/>
                <a:gd name="T8" fmla="*/ 3520 w 3712"/>
                <a:gd name="T9" fmla="*/ 2296 h 2808"/>
                <a:gd name="T10" fmla="*/ 3376 w 3712"/>
                <a:gd name="T11" fmla="*/ 2584 h 2808"/>
                <a:gd name="T12" fmla="*/ 1504 w 3712"/>
                <a:gd name="T13" fmla="*/ 2776 h 2808"/>
                <a:gd name="T14" fmla="*/ 352 w 3712"/>
                <a:gd name="T15" fmla="*/ 2392 h 2808"/>
                <a:gd name="T16" fmla="*/ 16 w 3712"/>
                <a:gd name="T17" fmla="*/ 1288 h 2808"/>
                <a:gd name="T18" fmla="*/ 256 w 3712"/>
                <a:gd name="T19" fmla="*/ 376 h 280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712"/>
                <a:gd name="T31" fmla="*/ 0 h 2808"/>
                <a:gd name="T32" fmla="*/ 3712 w 3712"/>
                <a:gd name="T33" fmla="*/ 2808 h 280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712" h="2808">
                  <a:moveTo>
                    <a:pt x="256" y="376"/>
                  </a:moveTo>
                  <a:cubicBezTo>
                    <a:pt x="376" y="176"/>
                    <a:pt x="416" y="0"/>
                    <a:pt x="736" y="88"/>
                  </a:cubicBezTo>
                  <a:cubicBezTo>
                    <a:pt x="1056" y="176"/>
                    <a:pt x="1856" y="624"/>
                    <a:pt x="2176" y="904"/>
                  </a:cubicBezTo>
                  <a:cubicBezTo>
                    <a:pt x="2496" y="1184"/>
                    <a:pt x="2432" y="1536"/>
                    <a:pt x="2656" y="1768"/>
                  </a:cubicBezTo>
                  <a:cubicBezTo>
                    <a:pt x="2880" y="2000"/>
                    <a:pt x="3400" y="2160"/>
                    <a:pt x="3520" y="2296"/>
                  </a:cubicBezTo>
                  <a:cubicBezTo>
                    <a:pt x="3640" y="2432"/>
                    <a:pt x="3712" y="2504"/>
                    <a:pt x="3376" y="2584"/>
                  </a:cubicBezTo>
                  <a:cubicBezTo>
                    <a:pt x="3040" y="2664"/>
                    <a:pt x="2008" y="2808"/>
                    <a:pt x="1504" y="2776"/>
                  </a:cubicBezTo>
                  <a:cubicBezTo>
                    <a:pt x="1000" y="2744"/>
                    <a:pt x="600" y="2640"/>
                    <a:pt x="352" y="2392"/>
                  </a:cubicBezTo>
                  <a:cubicBezTo>
                    <a:pt x="104" y="2144"/>
                    <a:pt x="32" y="1624"/>
                    <a:pt x="16" y="1288"/>
                  </a:cubicBezTo>
                  <a:cubicBezTo>
                    <a:pt x="0" y="952"/>
                    <a:pt x="136" y="576"/>
                    <a:pt x="256" y="376"/>
                  </a:cubicBezTo>
                  <a:close/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994" name="Text Box 8"/>
            <p:cNvSpPr txBox="1">
              <a:spLocks noChangeArrowheads="1"/>
            </p:cNvSpPr>
            <p:nvPr/>
          </p:nvSpPr>
          <p:spPr bwMode="auto">
            <a:xfrm>
              <a:off x="96" y="3504"/>
              <a:ext cx="720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/>
                <a:t>Pruned Rules</a:t>
              </a:r>
            </a:p>
          </p:txBody>
        </p:sp>
      </p:grpSp>
      <p:sp>
        <p:nvSpPr>
          <p:cNvPr id="41990" name="Line 9"/>
          <p:cNvSpPr>
            <a:spLocks noChangeShapeType="1"/>
          </p:cNvSpPr>
          <p:nvPr/>
        </p:nvSpPr>
        <p:spPr bwMode="auto">
          <a:xfrm>
            <a:off x="1066800" y="2286000"/>
            <a:ext cx="9144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991" name="Text Box 10"/>
          <p:cNvSpPr txBox="1">
            <a:spLocks noChangeArrowheads="1"/>
          </p:cNvSpPr>
          <p:nvPr/>
        </p:nvSpPr>
        <p:spPr bwMode="auto">
          <a:xfrm>
            <a:off x="304800" y="1600200"/>
            <a:ext cx="137160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/>
              <a:t>Low Confidence Rule</a:t>
            </a:r>
          </a:p>
        </p:txBody>
      </p:sp>
    </p:spTree>
    <p:extLst>
      <p:ext uri="{BB962C8B-B14F-4D97-AF65-F5344CB8AC3E}">
        <p14:creationId xmlns:p14="http://schemas.microsoft.com/office/powerpoint/2010/main" val="4224219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128FB1-4D55-43DF-8312-DC9C2E19C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1600" dirty="0"/>
              <a:t>Python</a:t>
            </a:r>
            <a:r>
              <a:rPr lang="zh-CN" altLang="en-US" sz="1600" dirty="0"/>
              <a:t>实现（</a:t>
            </a:r>
            <a:r>
              <a:rPr lang="en-US" altLang="zh-CN" sz="1600" dirty="0"/>
              <a:t>https://blog.csdn.net/tangyudi/article/details/88822705</a:t>
            </a:r>
            <a:r>
              <a:rPr lang="zh-CN" altLang="en-US" sz="1600" dirty="0"/>
              <a:t>）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33142D7-8D0B-49CC-A261-1AC76F4F03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6800"/>
            <a:ext cx="9144000" cy="4920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2883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128FB1-4D55-43DF-8312-DC9C2E19C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实现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FBB0B78-06BE-48A2-8D96-E5BC1907F7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0"/>
            <a:ext cx="9144000" cy="235024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BD1EA9F-A401-49DB-A0C1-CA73616FE4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44820"/>
            <a:ext cx="9144000" cy="2665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32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LC.BRev.FY97">
  <a:themeElements>
    <a:clrScheme name="">
      <a:dk1>
        <a:srgbClr val="000000"/>
      </a:dk1>
      <a:lt1>
        <a:srgbClr val="FFFFFF"/>
      </a:lt1>
      <a:dk2>
        <a:srgbClr val="006B61"/>
      </a:dk2>
      <a:lt2>
        <a:srgbClr val="C0C0C0"/>
      </a:lt2>
      <a:accent1>
        <a:srgbClr val="FF00FF"/>
      </a:accent1>
      <a:accent2>
        <a:srgbClr val="00C0C0"/>
      </a:accent2>
      <a:accent3>
        <a:srgbClr val="FFFFFF"/>
      </a:accent3>
      <a:accent4>
        <a:srgbClr val="000000"/>
      </a:accent4>
      <a:accent5>
        <a:srgbClr val="FFAAFF"/>
      </a:accent5>
      <a:accent6>
        <a:srgbClr val="00AEAE"/>
      </a:accent6>
      <a:hlink>
        <a:srgbClr val="00C000"/>
      </a:hlink>
      <a:folHlink>
        <a:srgbClr val="800080"/>
      </a:folHlink>
    </a:clrScheme>
    <a:fontScheme name="LC.BRev.FY97">
      <a:majorFont>
        <a:latin typeface="Tahom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LC.BRev.FY9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C.BRev.FY97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Porky:Words:ASCI:PSE:Budgets FY97:LC.BRev.FY97</Template>
  <TotalTime>146494339</TotalTime>
  <Pages>3</Pages>
  <Words>2094</Words>
  <Application>Microsoft Office PowerPoint</Application>
  <PresentationFormat>全屏显示(4:3)</PresentationFormat>
  <Paragraphs>282</Paragraphs>
  <Slides>34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34</vt:i4>
      </vt:variant>
    </vt:vector>
  </HeadingPairs>
  <TitlesOfParts>
    <vt:vector size="45" baseType="lpstr">
      <vt:lpstr>Monotype Sorts</vt:lpstr>
      <vt:lpstr>Microsoft Yahei</vt:lpstr>
      <vt:lpstr>Arial</vt:lpstr>
      <vt:lpstr>Tahoma</vt:lpstr>
      <vt:lpstr>Times New Roman</vt:lpstr>
      <vt:lpstr>Wingdings</vt:lpstr>
      <vt:lpstr>LC.BRev.FY97</vt:lpstr>
      <vt:lpstr>Document</vt:lpstr>
      <vt:lpstr>Equation</vt:lpstr>
      <vt:lpstr>VISIO</vt:lpstr>
      <vt:lpstr>Visio</vt:lpstr>
      <vt:lpstr>Data Mining</vt:lpstr>
      <vt:lpstr>关联规则挖掘</vt:lpstr>
      <vt:lpstr>Definition: 频繁项集</vt:lpstr>
      <vt:lpstr>Definition: 关联规则</vt:lpstr>
      <vt:lpstr>Association Rule Mining Task</vt:lpstr>
      <vt:lpstr>Computational Complexity</vt:lpstr>
      <vt:lpstr>Mining Association Rules</vt:lpstr>
      <vt:lpstr>Mining Association Rules</vt:lpstr>
      <vt:lpstr>Frequent Itemset Generation</vt:lpstr>
      <vt:lpstr>Frequent Itemset Generation-生成</vt:lpstr>
      <vt:lpstr>Frequent Itemset Generation Strategies</vt:lpstr>
      <vt:lpstr>Reducing Number of Candidates</vt:lpstr>
      <vt:lpstr>Illustrating Apriori Principle</vt:lpstr>
      <vt:lpstr>Illustrating Apriori Principle</vt:lpstr>
      <vt:lpstr>Illustrating Apriori Principle</vt:lpstr>
      <vt:lpstr>Illustrating Apriori Principle</vt:lpstr>
      <vt:lpstr>Illustrating Apriori Principle</vt:lpstr>
      <vt:lpstr>Illustrating Apriori Principle</vt:lpstr>
      <vt:lpstr>Illustrating Apriori Principle</vt:lpstr>
      <vt:lpstr>Illustrating Apriori Principle</vt:lpstr>
      <vt:lpstr>Apriori Algorithm-先验算法</vt:lpstr>
      <vt:lpstr>Candidate Generation: Brute-force method</vt:lpstr>
      <vt:lpstr>PowerPoint 演示文稿</vt:lpstr>
      <vt:lpstr>Candidate Generation: Fk-1 x Fk-1 Method</vt:lpstr>
      <vt:lpstr>PowerPoint 演示文稿</vt:lpstr>
      <vt:lpstr>PowerPoint 演示文稿</vt:lpstr>
      <vt:lpstr>Illustrating Apriori Principle</vt:lpstr>
      <vt:lpstr>Alternate Fk-1 x Fk-1 Method-另一种方法</vt:lpstr>
      <vt:lpstr>Candidate Pruning for Alternate Fk-1 x Fk-1 Method</vt:lpstr>
      <vt:lpstr>Rule Generation-规则生成</vt:lpstr>
      <vt:lpstr>Rule Generation</vt:lpstr>
      <vt:lpstr>Rule Generation for Apriori Algorithm</vt:lpstr>
      <vt:lpstr>Python实现（https://blog.csdn.net/tangyudi/article/details/88822705）</vt:lpstr>
      <vt:lpstr>Python实现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Steven F. Ashby Center for Applied Scientific Computing  Month DD, 1997</dc:title>
  <dc:creator>Computations</dc:creator>
  <cp:lastModifiedBy>Yun Liu</cp:lastModifiedBy>
  <cp:revision>583</cp:revision>
  <cp:lastPrinted>2018-02-04T02:18:57Z</cp:lastPrinted>
  <dcterms:created xsi:type="dcterms:W3CDTF">1998-03-18T13:44:31Z</dcterms:created>
  <dcterms:modified xsi:type="dcterms:W3CDTF">2024-04-19T09:10:36Z</dcterms:modified>
</cp:coreProperties>
</file>