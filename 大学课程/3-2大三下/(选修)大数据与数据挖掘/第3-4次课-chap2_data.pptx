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569" r:id="rId2"/>
    <p:sldId id="599" r:id="rId3"/>
    <p:sldId id="517" r:id="rId4"/>
    <p:sldId id="518" r:id="rId5"/>
    <p:sldId id="679" r:id="rId6"/>
    <p:sldId id="683" r:id="rId7"/>
    <p:sldId id="684" r:id="rId8"/>
    <p:sldId id="525" r:id="rId9"/>
    <p:sldId id="526" r:id="rId10"/>
    <p:sldId id="600" r:id="rId11"/>
    <p:sldId id="572" r:id="rId12"/>
    <p:sldId id="663" r:id="rId13"/>
    <p:sldId id="521" r:id="rId14"/>
    <p:sldId id="520" r:id="rId15"/>
    <p:sldId id="522" r:id="rId16"/>
    <p:sldId id="523" r:id="rId17"/>
    <p:sldId id="527" r:id="rId18"/>
    <p:sldId id="531" r:id="rId19"/>
    <p:sldId id="529" r:id="rId20"/>
    <p:sldId id="607" r:id="rId21"/>
    <p:sldId id="532" r:id="rId22"/>
    <p:sldId id="678" r:id="rId23"/>
    <p:sldId id="550" r:id="rId24"/>
    <p:sldId id="534" r:id="rId25"/>
    <p:sldId id="552" r:id="rId26"/>
    <p:sldId id="629" r:id="rId27"/>
    <p:sldId id="662" r:id="rId28"/>
    <p:sldId id="631" r:id="rId29"/>
    <p:sldId id="632" r:id="rId30"/>
    <p:sldId id="633" r:id="rId31"/>
    <p:sldId id="634" r:id="rId32"/>
    <p:sldId id="635" r:id="rId33"/>
    <p:sldId id="636" r:id="rId34"/>
    <p:sldId id="637" r:id="rId35"/>
    <p:sldId id="638" r:id="rId36"/>
    <p:sldId id="639" r:id="rId37"/>
    <p:sldId id="640" r:id="rId38"/>
    <p:sldId id="641" r:id="rId39"/>
    <p:sldId id="685" r:id="rId40"/>
    <p:sldId id="642" r:id="rId41"/>
    <p:sldId id="644" r:id="rId42"/>
    <p:sldId id="645" r:id="rId43"/>
    <p:sldId id="646" r:id="rId44"/>
    <p:sldId id="676" r:id="rId45"/>
    <p:sldId id="686" r:id="rId46"/>
    <p:sldId id="687" r:id="rId47"/>
    <p:sldId id="688" r:id="rId48"/>
    <p:sldId id="652" r:id="rId49"/>
    <p:sldId id="653" r:id="rId50"/>
    <p:sldId id="654" r:id="rId51"/>
    <p:sldId id="655" r:id="rId52"/>
    <p:sldId id="656" r:id="rId53"/>
    <p:sldId id="657" r:id="rId54"/>
    <p:sldId id="658" r:id="rId55"/>
    <p:sldId id="659" r:id="rId56"/>
    <p:sldId id="680" r:id="rId57"/>
    <p:sldId id="660" r:id="rId58"/>
    <p:sldId id="647" r:id="rId59"/>
    <p:sldId id="648" r:id="rId60"/>
    <p:sldId id="551" r:id="rId61"/>
    <p:sldId id="553" r:id="rId62"/>
    <p:sldId id="560" r:id="rId63"/>
    <p:sldId id="573" r:id="rId64"/>
    <p:sldId id="538" r:id="rId65"/>
    <p:sldId id="540" r:id="rId66"/>
    <p:sldId id="539" r:id="rId67"/>
    <p:sldId id="601" r:id="rId68"/>
    <p:sldId id="612" r:id="rId69"/>
    <p:sldId id="575" r:id="rId70"/>
    <p:sldId id="613" r:id="rId71"/>
    <p:sldId id="614" r:id="rId72"/>
    <p:sldId id="671" r:id="rId73"/>
    <p:sldId id="672" r:id="rId74"/>
    <p:sldId id="674" r:id="rId75"/>
    <p:sldId id="675" r:id="rId76"/>
    <p:sldId id="609" r:id="rId77"/>
    <p:sldId id="681" r:id="rId78"/>
    <p:sldId id="682" r:id="rId79"/>
    <p:sldId id="565" r:id="rId80"/>
    <p:sldId id="616" r:id="rId81"/>
    <p:sldId id="617" r:id="rId82"/>
    <p:sldId id="670" r:id="rId83"/>
    <p:sldId id="664" r:id="rId84"/>
    <p:sldId id="665" r:id="rId85"/>
    <p:sldId id="666" r:id="rId86"/>
    <p:sldId id="667" r:id="rId87"/>
    <p:sldId id="668" r:id="rId88"/>
    <p:sldId id="669" r:id="rId89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541" autoAdjust="0"/>
  </p:normalViewPr>
  <p:slideViewPr>
    <p:cSldViewPr>
      <p:cViewPr varScale="1">
        <p:scale>
          <a:sx n="80" d="100"/>
          <a:sy n="80" d="100"/>
        </p:scale>
        <p:origin x="861" y="3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4592"/>
    </p:cViewPr>
  </p:sorterViewPr>
  <p:notesViewPr>
    <p:cSldViewPr>
      <p:cViewPr varScale="1">
        <p:scale>
          <a:sx n="82" d="100"/>
          <a:sy n="82" d="100"/>
        </p:scale>
        <p:origin x="-3060" y="-78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6.xml"/><Relationship Id="rId13" Type="http://schemas.openxmlformats.org/officeDocument/2006/relationships/slide" Target="slides/slide42.xml"/><Relationship Id="rId3" Type="http://schemas.openxmlformats.org/officeDocument/2006/relationships/slide" Target="slides/slide29.xml"/><Relationship Id="rId7" Type="http://schemas.openxmlformats.org/officeDocument/2006/relationships/slide" Target="slides/slide35.xml"/><Relationship Id="rId12" Type="http://schemas.openxmlformats.org/officeDocument/2006/relationships/slide" Target="slides/slide41.xml"/><Relationship Id="rId17" Type="http://schemas.openxmlformats.org/officeDocument/2006/relationships/slide" Target="slides/slide85.xml"/><Relationship Id="rId2" Type="http://schemas.openxmlformats.org/officeDocument/2006/relationships/slide" Target="slides/slide28.xml"/><Relationship Id="rId16" Type="http://schemas.openxmlformats.org/officeDocument/2006/relationships/slide" Target="slides/slide84.xml"/><Relationship Id="rId1" Type="http://schemas.openxmlformats.org/officeDocument/2006/relationships/slide" Target="slides/slide26.xml"/><Relationship Id="rId6" Type="http://schemas.openxmlformats.org/officeDocument/2006/relationships/slide" Target="slides/slide32.xml"/><Relationship Id="rId11" Type="http://schemas.openxmlformats.org/officeDocument/2006/relationships/slide" Target="slides/slide40.xml"/><Relationship Id="rId5" Type="http://schemas.openxmlformats.org/officeDocument/2006/relationships/slide" Target="slides/slide31.xml"/><Relationship Id="rId15" Type="http://schemas.openxmlformats.org/officeDocument/2006/relationships/slide" Target="slides/slide59.xml"/><Relationship Id="rId10" Type="http://schemas.openxmlformats.org/officeDocument/2006/relationships/slide" Target="slides/slide38.xml"/><Relationship Id="rId4" Type="http://schemas.openxmlformats.org/officeDocument/2006/relationships/slide" Target="slides/slide30.xml"/><Relationship Id="rId9" Type="http://schemas.openxmlformats.org/officeDocument/2006/relationships/slide" Target="slides/slide37.xml"/><Relationship Id="rId14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827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016" y="4560901"/>
            <a:ext cx="5367494" cy="43178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00420" tIns="50212" rIns="100420" bIns="502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499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728663"/>
            <a:ext cx="477837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2140441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2313"/>
            <a:ext cx="4795838" cy="3597275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60901"/>
            <a:ext cx="5365820" cy="431789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89" tIns="47491" rIns="94989" bIns="4749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22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2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27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72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35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59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3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11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70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23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78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6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66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80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83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61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99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65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71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82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229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43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676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0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40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0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412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0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437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85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746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933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7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928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497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12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63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644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0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7994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79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1219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09/14/2020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2514600" y="633478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image" Target="../media/image2.tmp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8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image" Target="../media/image2.tmp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image" Target="../media/image2.tmp"/><Relationship Id="rId2" Type="http://schemas.openxmlformats.org/officeDocument/2006/relationships/tags" Target="../tags/tag45.xml"/><Relationship Id="rId16" Type="http://schemas.openxmlformats.org/officeDocument/2006/relationships/slideLayout" Target="../slideLayouts/slideLayout8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image" Target="../media/image2.tmp"/><Relationship Id="rId2" Type="http://schemas.openxmlformats.org/officeDocument/2006/relationships/tags" Target="../tags/tag60.xml"/><Relationship Id="rId16" Type="http://schemas.openxmlformats.org/officeDocument/2006/relationships/slideLayout" Target="../slideLayouts/slideLayout8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image" Target="../media/image2.tmp"/><Relationship Id="rId2" Type="http://schemas.openxmlformats.org/officeDocument/2006/relationships/tags" Target="../tags/tag75.xml"/><Relationship Id="rId16" Type="http://schemas.openxmlformats.org/officeDocument/2006/relationships/slideLayout" Target="../slideLayouts/slideLayout8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s.uci.edu/~mlearn/MLRepository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zh-CN" altLang="en-US" dirty="0"/>
              <a:t>数据挖掘</a:t>
            </a:r>
            <a:r>
              <a:rPr lang="en-US" dirty="0"/>
              <a:t>: </a:t>
            </a:r>
            <a:r>
              <a:rPr lang="zh-CN" altLang="en-US" dirty="0"/>
              <a:t>数据</a:t>
            </a:r>
            <a:endParaRPr lang="en-US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81000" y="1908606"/>
            <a:ext cx="8153400" cy="3896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0" dirty="0"/>
              <a:t>刘云 博士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0" dirty="0"/>
              <a:t>吉林大学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0" dirty="0"/>
              <a:t>控制科学与工程系</a:t>
            </a:r>
          </a:p>
          <a:p>
            <a:pPr algn="ctr"/>
            <a:endParaRPr lang="en-US" sz="1600" b="0" dirty="0">
              <a:solidFill>
                <a:srgbClr val="0000FF"/>
              </a:solidFill>
            </a:endParaRPr>
          </a:p>
          <a:p>
            <a:pPr algn="ctr"/>
            <a:endParaRPr lang="en-US" sz="1600" b="0" dirty="0">
              <a:solidFill>
                <a:srgbClr val="0000FF"/>
              </a:solidFill>
            </a:endParaRPr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endParaRPr lang="en-US" sz="2000" b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属性与对象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数据类型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数据质量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相似性与距离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数据预处理</a:t>
            </a:r>
            <a:endParaRPr lang="en-US" dirty="0"/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4267200" cy="51816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数据</a:t>
            </a:r>
            <a:r>
              <a:rPr lang="zh-CN" altLang="en-US" sz="2400" dirty="0">
                <a:solidFill>
                  <a:srgbClr val="FF0000"/>
                </a:solidFill>
              </a:rPr>
              <a:t>对象</a:t>
            </a:r>
            <a:r>
              <a:rPr lang="zh-CN" altLang="en-US" sz="2400" dirty="0"/>
              <a:t>及其</a:t>
            </a:r>
            <a:r>
              <a:rPr lang="zh-CN" altLang="en-US" sz="2400" dirty="0">
                <a:solidFill>
                  <a:srgbClr val="FF0000"/>
                </a:solidFill>
              </a:rPr>
              <a:t>属性</a:t>
            </a:r>
            <a:r>
              <a:rPr lang="zh-CN" altLang="en-US" sz="2400" dirty="0"/>
              <a:t>的集合</a:t>
            </a:r>
            <a:endParaRPr lang="en-US" sz="6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属性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FF0000"/>
                </a:solidFill>
              </a:rPr>
              <a:t>对象</a:t>
            </a:r>
            <a:r>
              <a:rPr lang="zh-CN" altLang="en-US" sz="2400" dirty="0"/>
              <a:t>的一个特征</a:t>
            </a:r>
            <a:endParaRPr lang="en-US" sz="2400" dirty="0"/>
          </a:p>
          <a:p>
            <a:pPr lvl="1"/>
            <a:r>
              <a:rPr lang="zh-CN" altLang="en-US" sz="2000" dirty="0"/>
              <a:t>例如</a:t>
            </a:r>
            <a:r>
              <a:rPr lang="en-US" sz="2000" dirty="0"/>
              <a:t>: </a:t>
            </a:r>
            <a:r>
              <a:rPr lang="zh-CN" altLang="en-US" sz="2000" dirty="0"/>
              <a:t>眼睛的颜色</a:t>
            </a:r>
            <a:r>
              <a:rPr lang="en-US" sz="2000" dirty="0"/>
              <a:t>, </a:t>
            </a:r>
            <a:r>
              <a:rPr lang="zh-CN" altLang="en-US" sz="2000" dirty="0"/>
              <a:t>温度</a:t>
            </a:r>
            <a:r>
              <a:rPr lang="en-US" sz="2000" dirty="0"/>
              <a:t>, etc.</a:t>
            </a:r>
          </a:p>
          <a:p>
            <a:pPr lvl="1"/>
            <a:r>
              <a:rPr lang="zh-CN" altLang="en-US" sz="2000" dirty="0"/>
              <a:t>属性也称为特征、变量</a:t>
            </a:r>
            <a:endParaRPr lang="en-US" altLang="zh-CN" sz="2000" dirty="0"/>
          </a:p>
          <a:p>
            <a:pPr lvl="1"/>
            <a:endParaRPr lang="en-US" sz="20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属性</a:t>
            </a:r>
            <a:r>
              <a:rPr lang="zh-CN" altLang="en-US" sz="2400" dirty="0"/>
              <a:t>的集合称为对象</a:t>
            </a:r>
            <a:endParaRPr lang="en-US" sz="2400" b="1" i="1" dirty="0">
              <a:solidFill>
                <a:srgbClr val="CC6600"/>
              </a:solidFill>
            </a:endParaRPr>
          </a:p>
          <a:p>
            <a:pPr lvl="1"/>
            <a:r>
              <a:rPr lang="zh-CN" altLang="en-US" sz="2000" dirty="0"/>
              <a:t>对象也称为记录、点、样本、实体、样例</a:t>
            </a:r>
            <a:endParaRPr lang="en-US" sz="2000" dirty="0">
              <a:solidFill>
                <a:srgbClr val="FF0000"/>
              </a:solidFill>
            </a:endParaRPr>
          </a:p>
          <a:p>
            <a:pPr lvl="4"/>
            <a:endParaRPr lang="en-US" dirty="0"/>
          </a:p>
        </p:txBody>
      </p:sp>
      <p:grpSp>
        <p:nvGrpSpPr>
          <p:cNvPr id="4100" name="Group 16"/>
          <p:cNvGrpSpPr>
            <a:grpSpLocks/>
          </p:cNvGrpSpPr>
          <p:nvPr/>
        </p:nvGrpSpPr>
        <p:grpSpPr bwMode="auto">
          <a:xfrm>
            <a:off x="5241926" y="1601788"/>
            <a:ext cx="3902074" cy="5027612"/>
            <a:chOff x="3403" y="1104"/>
            <a:chExt cx="2213" cy="2640"/>
          </a:xfrm>
        </p:grpSpPr>
        <p:graphicFrame>
          <p:nvGraphicFramePr>
            <p:cNvPr id="410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7445214"/>
                </p:ext>
              </p:extLst>
            </p:nvPr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5402719" imgH="5778156" progId="Word.Document.8">
                    <p:embed/>
                  </p:oleObj>
                </mc:Choice>
                <mc:Fallback>
                  <p:oleObj name="Document" r:id="rId3" imgW="5402719" imgH="5778156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6477000" y="106997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属性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102" name="AutoShape 15"/>
          <p:cNvSpPr>
            <a:spLocks/>
          </p:cNvSpPr>
          <p:nvPr/>
        </p:nvSpPr>
        <p:spPr bwMode="auto">
          <a:xfrm>
            <a:off x="4876800" y="2517775"/>
            <a:ext cx="381000" cy="3808413"/>
          </a:xfrm>
          <a:prstGeom prst="leftBrace">
            <a:avLst>
              <a:gd name="adj1" fmla="val 8329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 rot="16200000">
            <a:off x="4122738" y="4183062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对象</a:t>
            </a:r>
            <a:endParaRPr lang="en-US" sz="2000" dirty="0">
              <a:solidFill>
                <a:srgbClr val="FF0000"/>
              </a:solidFill>
            </a:endParaRPr>
          </a:p>
        </p:txBody>
      </p:sp>
      <p:grpSp>
        <p:nvGrpSpPr>
          <p:cNvPr id="4104" name="Group 19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4105" name="Rectangle 20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21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属性</a:t>
            </a:r>
            <a:r>
              <a:rPr lang="en-US" altLang="zh-CN" dirty="0"/>
              <a:t>/</a:t>
            </a:r>
            <a:r>
              <a:rPr lang="zh-CN" altLang="en-US" dirty="0"/>
              <a:t>特征的类型（数据类型）</a:t>
            </a:r>
            <a:endParaRPr lang="en-US" dirty="0"/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181600"/>
          </a:xfrm>
        </p:spPr>
        <p:txBody>
          <a:bodyPr>
            <a:normAutofit/>
          </a:bodyPr>
          <a:lstStyle/>
          <a:p>
            <a:r>
              <a:rPr lang="zh-CN" altLang="en-US" dirty="0"/>
              <a:t>共有</a:t>
            </a:r>
            <a:r>
              <a:rPr lang="en-US" dirty="0"/>
              <a:t>4</a:t>
            </a:r>
            <a:r>
              <a:rPr lang="zh-CN" altLang="en-US" dirty="0"/>
              <a:t>种类型的属性</a:t>
            </a:r>
            <a:endParaRPr lang="en-US" dirty="0"/>
          </a:p>
          <a:p>
            <a:pPr marL="749300" lvl="1">
              <a:spcBef>
                <a:spcPts val="3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名词性的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863600" lvl="2">
              <a:spcBef>
                <a:spcPts val="300"/>
              </a:spcBef>
            </a:pPr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zh-CN" altLang="en-US" sz="2400" dirty="0"/>
              <a:t>特征值仅仅不同的名字</a:t>
            </a:r>
            <a:endParaRPr lang="en-US" sz="2400" dirty="0"/>
          </a:p>
          <a:p>
            <a:pPr marL="1257300" lvl="2" indent="-393700">
              <a:spcBef>
                <a:spcPts val="300"/>
              </a:spcBef>
            </a:pPr>
            <a:r>
              <a:rPr lang="zh-CN" altLang="en-US" sz="2400" dirty="0"/>
              <a:t>例如</a:t>
            </a:r>
            <a:r>
              <a:rPr lang="en-US" sz="2400" dirty="0"/>
              <a:t>: </a:t>
            </a:r>
            <a:r>
              <a:rPr lang="zh-CN" altLang="en-US" sz="2400" dirty="0"/>
              <a:t>学号、邮编、眼睛的颜色</a:t>
            </a:r>
            <a:endParaRPr lang="en-US" sz="2400" dirty="0"/>
          </a:p>
          <a:p>
            <a:pPr marL="749300" lvl="1">
              <a:spcBef>
                <a:spcPts val="3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序数的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863600" lvl="2">
              <a:spcBef>
                <a:spcPts val="300"/>
              </a:spcBef>
            </a:pPr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zh-CN" altLang="en-US" sz="2400" dirty="0"/>
              <a:t>特征能提供排序信息</a:t>
            </a:r>
            <a:endParaRPr lang="en-US" sz="2400" dirty="0"/>
          </a:p>
          <a:p>
            <a:pPr marL="1257300" lvl="2" indent="-393700">
              <a:spcBef>
                <a:spcPts val="300"/>
              </a:spcBef>
            </a:pPr>
            <a:r>
              <a:rPr lang="zh-CN" altLang="en-US" sz="2400" dirty="0"/>
              <a:t>例如</a:t>
            </a:r>
            <a:r>
              <a:rPr lang="en-US" sz="2400" dirty="0"/>
              <a:t>: </a:t>
            </a:r>
            <a:r>
              <a:rPr lang="zh-CN" altLang="en-US" sz="2400" dirty="0"/>
              <a:t>评分</a:t>
            </a:r>
            <a:r>
              <a:rPr lang="en-US" sz="2400" dirty="0"/>
              <a:t> (e.g., </a:t>
            </a:r>
            <a:r>
              <a:rPr lang="zh-CN" altLang="en-US" sz="2400" dirty="0"/>
              <a:t>薯片的味道从</a:t>
            </a:r>
            <a:r>
              <a:rPr lang="en-US" sz="2400" dirty="0"/>
              <a:t>1</a:t>
            </a:r>
            <a:r>
              <a:rPr lang="zh-CN" altLang="en-US" sz="2400" dirty="0"/>
              <a:t>到</a:t>
            </a:r>
            <a:r>
              <a:rPr lang="en-US" sz="2400" dirty="0"/>
              <a:t>10</a:t>
            </a:r>
            <a:r>
              <a:rPr lang="zh-CN" altLang="en-US" sz="2400" dirty="0"/>
              <a:t>分</a:t>
            </a:r>
            <a:r>
              <a:rPr lang="en-US" sz="2400" dirty="0"/>
              <a:t>), </a:t>
            </a:r>
            <a:r>
              <a:rPr lang="zh-CN" altLang="en-US" sz="2400" dirty="0"/>
              <a:t>年级</a:t>
            </a:r>
            <a:r>
              <a:rPr lang="en-US" sz="2400" dirty="0"/>
              <a:t>, </a:t>
            </a:r>
            <a:r>
              <a:rPr lang="zh-CN" altLang="en-US" sz="2400" dirty="0"/>
              <a:t>高度</a:t>
            </a:r>
            <a:r>
              <a:rPr lang="en-US" sz="2400" dirty="0"/>
              <a:t> {</a:t>
            </a:r>
            <a:r>
              <a:rPr lang="zh-CN" altLang="en-US" sz="2400" dirty="0"/>
              <a:t>高</a:t>
            </a:r>
            <a:r>
              <a:rPr lang="en-US" sz="2400" dirty="0"/>
              <a:t>, </a:t>
            </a:r>
            <a:r>
              <a:rPr lang="zh-CN" altLang="en-US" sz="2400" dirty="0"/>
              <a:t>中</a:t>
            </a:r>
            <a:r>
              <a:rPr lang="en-US" sz="2400" dirty="0"/>
              <a:t>, </a:t>
            </a:r>
            <a:r>
              <a:rPr lang="zh-CN" altLang="en-US" sz="2400" dirty="0"/>
              <a:t>矮</a:t>
            </a:r>
            <a:r>
              <a:rPr lang="en-US" sz="2400" dirty="0"/>
              <a:t>}</a:t>
            </a:r>
            <a:r>
              <a:rPr lang="zh-CN" altLang="en-US" sz="2400" dirty="0"/>
              <a:t>，日历，星期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共有</a:t>
            </a:r>
            <a:r>
              <a:rPr lang="en-US" altLang="zh-CN" dirty="0"/>
              <a:t>4</a:t>
            </a:r>
            <a:r>
              <a:rPr lang="zh-CN" altLang="en-US" dirty="0"/>
              <a:t>种类型的属性</a:t>
            </a:r>
            <a:endParaRPr lang="en-US" altLang="zh-CN" dirty="0"/>
          </a:p>
          <a:p>
            <a:pPr marL="749300" lvl="1">
              <a:lnSpc>
                <a:spcPct val="150000"/>
              </a:lnSpc>
              <a:spcBef>
                <a:spcPts val="3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区间的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863600" lvl="2">
              <a:lnSpc>
                <a:spcPct val="150000"/>
              </a:lnSpc>
              <a:spcBef>
                <a:spcPts val="300"/>
              </a:spcBef>
            </a:pP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区间特征之间的</a:t>
            </a:r>
            <a:r>
              <a:rPr lang="zh-CN" altLang="en-US" sz="2400" dirty="0">
                <a:solidFill>
                  <a:srgbClr val="FF0000"/>
                </a:solidFill>
              </a:rPr>
              <a:t>比例</a:t>
            </a:r>
            <a:r>
              <a:rPr lang="zh-CN" altLang="en-US" sz="2400" dirty="0"/>
              <a:t>差异无意义</a:t>
            </a:r>
            <a:endParaRPr lang="en-US" sz="2400" dirty="0"/>
          </a:p>
          <a:p>
            <a:pPr marL="1257300" lvl="2" indent="-393700">
              <a:lnSpc>
                <a:spcPct val="150000"/>
              </a:lnSpc>
              <a:spcBef>
                <a:spcPts val="300"/>
              </a:spcBef>
            </a:pPr>
            <a:r>
              <a:rPr lang="zh-CN" altLang="en-US" sz="2400" dirty="0"/>
              <a:t>例如</a:t>
            </a:r>
            <a:r>
              <a:rPr lang="en-US" sz="2400" dirty="0"/>
              <a:t>: </a:t>
            </a:r>
            <a:r>
              <a:rPr lang="zh-CN" altLang="en-US" sz="2400" dirty="0"/>
              <a:t>摄氏度，华氏度</a:t>
            </a:r>
            <a:endParaRPr lang="en-US" sz="2400" dirty="0"/>
          </a:p>
          <a:p>
            <a:pPr marL="749300" lvl="1">
              <a:lnSpc>
                <a:spcPct val="150000"/>
              </a:lnSpc>
              <a:spcBef>
                <a:spcPts val="3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比例的</a:t>
            </a:r>
            <a:endParaRPr lang="en-US" sz="2800" dirty="0">
              <a:solidFill>
                <a:srgbClr val="FF0000"/>
              </a:solidFill>
            </a:endParaRPr>
          </a:p>
          <a:p>
            <a:pPr marL="1257300" lvl="2" indent="-393700">
              <a:lnSpc>
                <a:spcPct val="150000"/>
              </a:lnSpc>
              <a:spcBef>
                <a:spcPts val="300"/>
              </a:spcBef>
            </a:pPr>
            <a:r>
              <a:rPr lang="zh-CN" altLang="en-US" sz="2400" dirty="0"/>
              <a:t>差异和比值都有意义</a:t>
            </a:r>
            <a:endParaRPr lang="en-US" sz="2400" dirty="0"/>
          </a:p>
          <a:p>
            <a:pPr marL="1257300" lvl="2" indent="-393700">
              <a:lnSpc>
                <a:spcPct val="150000"/>
              </a:lnSpc>
              <a:spcBef>
                <a:spcPts val="300"/>
              </a:spcBef>
            </a:pPr>
            <a:r>
              <a:rPr lang="zh-CN" altLang="en-US" sz="2400" dirty="0"/>
              <a:t>开尔文温度，长度，数量，时间</a:t>
            </a:r>
            <a:r>
              <a:rPr lang="en-US" sz="2400" dirty="0"/>
              <a:t> </a:t>
            </a:r>
            <a:endParaRPr lang="en-US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936E0E8-B234-488E-AE72-647A4FF2B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zh-CN" altLang="en-US" kern="0"/>
              <a:t>属性</a:t>
            </a:r>
            <a:r>
              <a:rPr lang="en-US" altLang="zh-CN" kern="0"/>
              <a:t>/</a:t>
            </a:r>
            <a:r>
              <a:rPr lang="zh-CN" altLang="en-US" kern="0"/>
              <a:t>特征的类型（数据类型）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2515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5C1C943-6721-4F54-9B62-86426B9F00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北京温度为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摄氏度，长春为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摄氏度，是否可以说北京的气温是长春的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倍？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5D2E8D-F149-4337-821B-244FDA4967C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03F8BF-EC75-4594-B5E4-513FE36FB4F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4D7D1F-0140-4A01-80E9-6AC085CEACE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13529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不知道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C7A8C9D-8505-4BBB-B38B-47A1562C4634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61F75A3-6B25-41AE-9A90-B57AF9EF134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B485D22-5BB3-46A2-B179-F935C5489DE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BE910BF-70FC-4BFD-8FF0-698DCEF7F0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A5A9553-7768-4EFA-B8CD-A96BF8068C6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0905D830-443C-4196-A44F-7659FBDFE26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1968EAB0-4A50-4A3F-A30E-5C9C562F26F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6CD32EF-53A0-4A26-8EB8-2C3E88D8838F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30" name="TipText">
              <a:extLst>
                <a:ext uri="{FF2B5EF4-FFF2-40B4-BE49-F238E27FC236}">
                  <a16:creationId xmlns:a16="http://schemas.microsoft.com/office/drawing/2014/main" id="{CCDDEA4F-DF1F-435E-AC01-E27D78D36A5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3EC09FA-5D1C-41BF-81DB-322E3F053A9A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069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EF3EF77-A335-4DD0-B20A-3A8BBD4C06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09600" y="635000"/>
            <a:ext cx="76200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如果张三的身高比平均身高高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10cm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，李四比平均身高高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5cm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，是否可以说李四的身高是张三的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3C7BDB-60E7-4250-A983-5D33733CF2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A33D72-B890-4FC0-88CE-9E28D8B3731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FFC5C1-7784-40F1-870E-34EA2C17140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不知道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F50A9B2-509D-4C1C-B30B-13010909A0C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C614404-7057-47C7-871B-D5A8B4F7BA5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DE771C0-F50B-4EB6-BB0A-A6D8CBC2AD1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A5951E5-316F-44F7-A462-293DE8D2D71B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21EA00-C5F1-4D6A-A4DF-C248EFEBC31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0E4EE04-1A5F-4BF7-AF6D-9A1F2265DBE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E3224E51-5D68-4BB5-896B-7C3D3216CC2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6707B383-BB3B-4C96-95E2-F2B7BE2174CA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31002662-17B7-44C2-B63E-FC627D10641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F850059-E3EA-47D8-B7AE-113372AC166A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026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特征值的性质</a:t>
            </a:r>
            <a:endParaRPr lang="en-US" dirty="0"/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特征的类型取决于是否可以进行以下运算：</a:t>
            </a:r>
            <a:endParaRPr lang="en-US" dirty="0"/>
          </a:p>
          <a:p>
            <a:pPr lvl="1"/>
            <a:r>
              <a:rPr lang="zh-CN" altLang="en-US" dirty="0"/>
              <a:t>相等</a:t>
            </a:r>
            <a:r>
              <a:rPr lang="en-US" dirty="0"/>
              <a:t>:  		</a:t>
            </a:r>
            <a:r>
              <a:rPr lang="en-US" sz="2800" dirty="0"/>
              <a:t>=  </a:t>
            </a:r>
            <a:r>
              <a:rPr lang="en-US" sz="2800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		</a:t>
            </a:r>
            <a:endParaRPr lang="en-US" dirty="0"/>
          </a:p>
          <a:p>
            <a:pPr lvl="1"/>
            <a:r>
              <a:rPr lang="zh-CN" altLang="en-US" dirty="0"/>
              <a:t>顺序</a:t>
            </a:r>
            <a:r>
              <a:rPr lang="en-US" dirty="0"/>
              <a:t>:  		</a:t>
            </a:r>
            <a:r>
              <a:rPr lang="en-US" sz="2800" dirty="0"/>
              <a:t>&lt;  &gt;</a:t>
            </a:r>
            <a:r>
              <a:rPr lang="en-US" dirty="0"/>
              <a:t>  		</a:t>
            </a:r>
          </a:p>
          <a:p>
            <a:pPr lvl="1"/>
            <a:r>
              <a:rPr lang="zh-CN" altLang="en-US" dirty="0"/>
              <a:t>加减运算：</a:t>
            </a:r>
            <a:r>
              <a:rPr lang="en-US" dirty="0"/>
              <a:t>	</a:t>
            </a:r>
            <a:r>
              <a:rPr lang="en-US" sz="2800" dirty="0"/>
              <a:t>+  -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比例运算</a:t>
            </a:r>
            <a:r>
              <a:rPr lang="en-US" dirty="0"/>
              <a:t>  	 </a:t>
            </a:r>
            <a:r>
              <a:rPr lang="en-US" sz="2800" dirty="0"/>
              <a:t>*  /</a:t>
            </a:r>
            <a:br>
              <a:rPr lang="en-US" sz="2800" dirty="0"/>
            </a:br>
            <a:endParaRPr lang="en-US" dirty="0"/>
          </a:p>
          <a:p>
            <a:pPr lvl="4"/>
            <a:endParaRPr lang="en-US" sz="1400" dirty="0"/>
          </a:p>
          <a:p>
            <a:pPr lvl="1"/>
            <a:r>
              <a:rPr lang="zh-CN" altLang="en-US" dirty="0"/>
              <a:t>名词型特征</a:t>
            </a:r>
            <a:r>
              <a:rPr lang="en-US" dirty="0"/>
              <a:t>:  </a:t>
            </a:r>
            <a:r>
              <a:rPr lang="zh-CN" altLang="en-US" dirty="0"/>
              <a:t>相等</a:t>
            </a:r>
            <a:endParaRPr lang="en-US" dirty="0"/>
          </a:p>
          <a:p>
            <a:pPr lvl="1"/>
            <a:r>
              <a:rPr lang="zh-CN" altLang="en-US" dirty="0"/>
              <a:t>序数型特征</a:t>
            </a:r>
            <a:r>
              <a:rPr lang="en-US" dirty="0"/>
              <a:t>:  </a:t>
            </a:r>
            <a:r>
              <a:rPr lang="zh-CN" altLang="en-US" dirty="0"/>
              <a:t>相等</a:t>
            </a:r>
            <a:r>
              <a:rPr lang="en-US" dirty="0"/>
              <a:t> &amp; </a:t>
            </a:r>
            <a:r>
              <a:rPr lang="zh-CN" altLang="en-US" dirty="0"/>
              <a:t>顺序</a:t>
            </a:r>
            <a:endParaRPr lang="en-US" dirty="0"/>
          </a:p>
          <a:p>
            <a:pPr lvl="1"/>
            <a:r>
              <a:rPr lang="zh-CN" altLang="en-US" dirty="0"/>
              <a:t>区间型特征</a:t>
            </a:r>
            <a:r>
              <a:rPr lang="en-US" dirty="0"/>
              <a:t>:  </a:t>
            </a:r>
            <a:r>
              <a:rPr lang="zh-CN" altLang="en-US" dirty="0"/>
              <a:t>相等</a:t>
            </a:r>
            <a:r>
              <a:rPr lang="en-US" dirty="0"/>
              <a:t>, </a:t>
            </a:r>
            <a:r>
              <a:rPr lang="zh-CN" altLang="en-US" dirty="0"/>
              <a:t>顺序</a:t>
            </a:r>
            <a:r>
              <a:rPr lang="en-US" dirty="0"/>
              <a:t> &amp; </a:t>
            </a:r>
            <a:r>
              <a:rPr lang="zh-CN" altLang="en-US" dirty="0"/>
              <a:t>加减运算</a:t>
            </a:r>
            <a:endParaRPr lang="en-US" dirty="0"/>
          </a:p>
          <a:p>
            <a:pPr lvl="1"/>
            <a:r>
              <a:rPr lang="zh-CN" altLang="en-US" dirty="0"/>
              <a:t>比例型特征</a:t>
            </a:r>
            <a:r>
              <a:rPr lang="en-US" dirty="0"/>
              <a:t>:  </a:t>
            </a:r>
            <a:r>
              <a:rPr lang="zh-CN" altLang="en-US" dirty="0"/>
              <a:t>所有</a:t>
            </a:r>
            <a:r>
              <a:rPr lang="en-US" altLang="zh-CN" dirty="0"/>
              <a:t>4</a:t>
            </a:r>
            <a:r>
              <a:rPr lang="zh-CN" altLang="en-US" dirty="0"/>
              <a:t>种运算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离散和连续属性</a:t>
            </a:r>
            <a:endParaRPr lang="en-US" dirty="0"/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离散属性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只有一组有限的或可数无限的值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Examples: </a:t>
            </a:r>
            <a:r>
              <a:rPr lang="zh-CN" altLang="en-US" sz="2200" dirty="0"/>
              <a:t>邮编</a:t>
            </a:r>
            <a:r>
              <a:rPr lang="en-US" sz="2200" dirty="0"/>
              <a:t>, </a:t>
            </a:r>
            <a:r>
              <a:rPr lang="zh-CN" altLang="en-US" sz="2200" dirty="0"/>
              <a:t>数量</a:t>
            </a:r>
            <a:r>
              <a:rPr lang="en-US" sz="2200" dirty="0"/>
              <a:t>, </a:t>
            </a:r>
            <a:r>
              <a:rPr lang="zh-CN" altLang="en-US" sz="2200" dirty="0"/>
              <a:t>一本书中的词汇</a:t>
            </a:r>
            <a:r>
              <a:rPr lang="en-US" sz="22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用整数表示</a:t>
            </a:r>
            <a:r>
              <a:rPr lang="en-US" sz="2200" dirty="0"/>
              <a:t>   </a:t>
            </a:r>
          </a:p>
          <a:p>
            <a:pPr lvl="1">
              <a:lnSpc>
                <a:spcPct val="90000"/>
              </a:lnSpc>
            </a:pPr>
            <a:r>
              <a:rPr lang="en-US" sz="2200" b="1" dirty="0">
                <a:solidFill>
                  <a:srgbClr val="FF0000"/>
                </a:solidFill>
              </a:rPr>
              <a:t>Note: </a:t>
            </a:r>
            <a:r>
              <a:rPr lang="zh-CN" altLang="en-US" sz="2200" b="1" dirty="0">
                <a:solidFill>
                  <a:srgbClr val="FF0000"/>
                </a:solidFill>
              </a:rPr>
              <a:t>二值化属性是其中的一个特殊情况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zh-CN" altLang="en-US" sz="1800" b="1" dirty="0">
                <a:solidFill>
                  <a:srgbClr val="FF0000"/>
                </a:solidFill>
              </a:rPr>
              <a:t>性别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zh-CN" altLang="en-US" sz="1800" b="1" dirty="0">
                <a:solidFill>
                  <a:srgbClr val="FF0000"/>
                </a:solidFill>
              </a:rPr>
              <a:t>核酸结果</a:t>
            </a:r>
            <a:endParaRPr lang="en-US" sz="1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dirty="0"/>
              <a:t>连续属性</a:t>
            </a:r>
            <a:r>
              <a:rPr 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以实数作为属性值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Examples: </a:t>
            </a:r>
            <a:r>
              <a:rPr lang="zh-CN" altLang="en-US" sz="2200" dirty="0"/>
              <a:t>温度</a:t>
            </a:r>
            <a:r>
              <a:rPr lang="en-US" sz="2200" dirty="0"/>
              <a:t>, </a:t>
            </a:r>
            <a:r>
              <a:rPr lang="zh-CN" altLang="en-US" sz="2200" dirty="0"/>
              <a:t>高度</a:t>
            </a:r>
            <a:r>
              <a:rPr lang="en-US" sz="2200" dirty="0"/>
              <a:t>, </a:t>
            </a:r>
            <a:r>
              <a:rPr lang="zh-CN" altLang="en-US" sz="2200" dirty="0"/>
              <a:t>重量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只能用有限的位数来表示和度量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常用浮点型变量表示</a:t>
            </a:r>
            <a:r>
              <a:rPr lang="en-US" sz="2200" dirty="0"/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不对称属性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二元属性，非</a:t>
            </a:r>
            <a:r>
              <a:rPr lang="en-US" altLang="zh-CN" sz="2400" dirty="0"/>
              <a:t>0</a:t>
            </a:r>
            <a:r>
              <a:rPr lang="zh-CN" altLang="en-US" sz="2400" dirty="0"/>
              <a:t>即</a:t>
            </a:r>
            <a:r>
              <a:rPr lang="en-US" altLang="zh-CN" sz="2400" dirty="0"/>
              <a:t>1</a:t>
            </a:r>
            <a:r>
              <a:rPr lang="zh-CN" altLang="en-US" sz="2400" dirty="0"/>
              <a:t>，例如性别属性：男</a:t>
            </a:r>
            <a:r>
              <a:rPr lang="en-US" altLang="zh-CN" sz="2400" dirty="0"/>
              <a:t>or</a:t>
            </a:r>
            <a:r>
              <a:rPr lang="zh-CN" altLang="en-US" sz="2400" dirty="0"/>
              <a:t>女</a:t>
            </a:r>
            <a:endParaRPr lang="en-US" altLang="zh-CN" sz="2400" dirty="0"/>
          </a:p>
          <a:p>
            <a:endParaRPr lang="en-US" sz="2400" dirty="0"/>
          </a:p>
          <a:p>
            <a:r>
              <a:rPr lang="zh-CN" altLang="en-US" sz="2400" dirty="0"/>
              <a:t>不对称属性：只有存在才重要</a:t>
            </a:r>
            <a:r>
              <a:rPr lang="en-US" altLang="zh-CN" sz="2400" dirty="0"/>
              <a:t>/</a:t>
            </a:r>
            <a:r>
              <a:rPr lang="zh-CN" altLang="en-US" sz="2400" dirty="0"/>
              <a:t>有意义的属性</a:t>
            </a:r>
            <a:endParaRPr lang="en-US" sz="2400" dirty="0"/>
          </a:p>
          <a:p>
            <a:pPr marL="1311275" lvl="2" indent="-396875"/>
            <a:r>
              <a:rPr lang="zh-CN" altLang="en-US" sz="1800" dirty="0"/>
              <a:t>文献中的词汇</a:t>
            </a:r>
            <a:endParaRPr lang="en-US" sz="1800" dirty="0"/>
          </a:p>
          <a:p>
            <a:pPr marL="1311275" lvl="2" indent="-396875"/>
            <a:r>
              <a:rPr lang="zh-CN" altLang="en-US" sz="1800" dirty="0"/>
              <a:t>消费者清单中的条目</a:t>
            </a:r>
            <a:endParaRPr lang="en-US" sz="1800" dirty="0"/>
          </a:p>
          <a:p>
            <a:pPr marL="1311275" lvl="2" indent="-396875"/>
            <a:r>
              <a:rPr lang="zh-CN" altLang="en-US" sz="1800" dirty="0"/>
              <a:t>艾滋病阳性</a:t>
            </a:r>
            <a:r>
              <a:rPr lang="en-US" altLang="zh-CN" sz="1800" dirty="0"/>
              <a:t>/</a:t>
            </a:r>
            <a:r>
              <a:rPr lang="zh-CN" altLang="en-US" sz="1800" dirty="0"/>
              <a:t>阴性</a:t>
            </a:r>
            <a:endParaRPr lang="en-US" sz="1800" dirty="0"/>
          </a:p>
          <a:p>
            <a:pPr marL="1311275" lvl="2" indent="-396875"/>
            <a:endParaRPr lang="en-US" sz="1800" dirty="0"/>
          </a:p>
          <a:p>
            <a:r>
              <a:rPr lang="zh-CN" altLang="en-US" sz="2400" dirty="0"/>
              <a:t>对于关联分析很重要</a:t>
            </a:r>
            <a:r>
              <a:rPr lang="en-US" altLang="zh-CN" sz="2400" dirty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zh-CN" altLang="en-US" sz="2800" dirty="0"/>
              <a:t>数据的重要性质</a:t>
            </a:r>
            <a:endParaRPr lang="en-US" sz="28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143000"/>
            <a:ext cx="8394700" cy="5029200"/>
          </a:xfrm>
          <a:noFill/>
        </p:spPr>
        <p:txBody>
          <a:bodyPr>
            <a:normAutofit fontScale="92500" lnSpcReduction="20000"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dirty="0"/>
              <a:t>维度</a:t>
            </a:r>
            <a:r>
              <a:rPr lang="en-US" sz="2800" dirty="0"/>
              <a:t> (</a:t>
            </a:r>
            <a:r>
              <a:rPr lang="zh-CN" altLang="en-US" sz="2800" dirty="0"/>
              <a:t>属性的数量</a:t>
            </a:r>
            <a:r>
              <a:rPr lang="en-US" sz="2800" dirty="0"/>
              <a:t>)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</a:t>
            </a:r>
            <a:r>
              <a:rPr lang="zh-CN" altLang="en-US" sz="2400" dirty="0"/>
              <a:t>高维数据带来一系列挑战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dirty="0"/>
              <a:t>稀疏性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</a:t>
            </a:r>
            <a:r>
              <a:rPr lang="zh-CN" altLang="en-US" sz="2400" dirty="0"/>
              <a:t>只有存在的属性才会有值</a:t>
            </a:r>
            <a:endParaRPr lang="en-US" altLang="zh-CN" sz="24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[1,2,3,0,0,2,1,0]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altLang="zh-CN" sz="2400" dirty="0"/>
              <a:t>[1,0,0,0,0,0,2,0]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dirty="0"/>
              <a:t>分辨力</a:t>
            </a:r>
            <a:endParaRPr lang="en-US" sz="2800" dirty="0"/>
          </a:p>
          <a:p>
            <a:pPr lvl="2" indent="-342900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dirty="0"/>
              <a:t>身高：</a:t>
            </a:r>
            <a:r>
              <a:rPr lang="en-US" altLang="zh-CN" sz="2400" dirty="0"/>
              <a:t>1.7m</a:t>
            </a:r>
            <a:r>
              <a:rPr lang="zh-CN" altLang="en-US" sz="2400" dirty="0"/>
              <a:t>，</a:t>
            </a:r>
            <a:r>
              <a:rPr lang="en-US" altLang="zh-CN" sz="2400" dirty="0"/>
              <a:t>1.71m</a:t>
            </a:r>
            <a:r>
              <a:rPr lang="en-US" sz="2400" dirty="0"/>
              <a:t> 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dirty="0"/>
              <a:t>数据量</a:t>
            </a:r>
            <a:endParaRPr lang="en-US" sz="28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zh-CN" altLang="en-US" dirty="0"/>
              <a:t>数据集的类型</a:t>
            </a:r>
            <a:endParaRPr lang="en-US" dirty="0"/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600" b="1" dirty="0">
                <a:cs typeface="Times New Roman" pitchFamily="18" charset="0"/>
              </a:rPr>
              <a:t>记录型</a:t>
            </a:r>
            <a:endParaRPr lang="en-US" sz="2600" b="1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数据矩阵</a:t>
            </a:r>
            <a:endParaRPr lang="en-US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文献数据</a:t>
            </a:r>
            <a:endParaRPr lang="en-US" altLang="zh-CN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购物清单</a:t>
            </a:r>
            <a:endParaRPr lang="en-US" dirty="0">
              <a:cs typeface="Times New Roman" pitchFamily="18" charset="0"/>
            </a:endParaRPr>
          </a:p>
          <a:p>
            <a:pPr marL="285750" indent="-285750">
              <a:lnSpc>
                <a:spcPct val="90000"/>
              </a:lnSpc>
            </a:pPr>
            <a:r>
              <a:rPr lang="zh-CN" altLang="en-US" sz="2600" b="1" dirty="0">
                <a:cs typeface="Times New Roman" pitchFamily="18" charset="0"/>
              </a:rPr>
              <a:t>图</a:t>
            </a:r>
            <a:endParaRPr lang="en-US" sz="2600" b="1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社交网络</a:t>
            </a:r>
            <a:endParaRPr lang="en-US" altLang="zh-CN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分子结构</a:t>
            </a:r>
            <a:endParaRPr lang="en-US" dirty="0">
              <a:cs typeface="Times New Roman" pitchFamily="18" charset="0"/>
            </a:endParaRPr>
          </a:p>
          <a:p>
            <a:pPr marL="285750" indent="-285750">
              <a:lnSpc>
                <a:spcPct val="90000"/>
              </a:lnSpc>
            </a:pPr>
            <a:r>
              <a:rPr lang="zh-CN" altLang="en-US" sz="2600" b="1" dirty="0">
                <a:cs typeface="Times New Roman" pitchFamily="18" charset="0"/>
              </a:rPr>
              <a:t>顺序</a:t>
            </a:r>
            <a:endParaRPr lang="en-US" sz="2600" b="1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空间</a:t>
            </a:r>
            <a:endParaRPr lang="en-US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时间</a:t>
            </a:r>
            <a:endParaRPr lang="en-US" altLang="zh-CN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序列数据</a:t>
            </a:r>
            <a:endParaRPr lang="en-US" altLang="zh-CN" dirty="0">
              <a:cs typeface="Times New Roman" pitchFamily="18" charset="0"/>
            </a:endParaRPr>
          </a:p>
          <a:p>
            <a:pPr lvl="2">
              <a:lnSpc>
                <a:spcPct val="90000"/>
              </a:lnSpc>
            </a:pPr>
            <a:r>
              <a:rPr lang="zh-CN" altLang="en-US" dirty="0">
                <a:cs typeface="Times New Roman" pitchFamily="18" charset="0"/>
              </a:rPr>
              <a:t>基因序列、蛋白质序列</a:t>
            </a:r>
            <a:endParaRPr lang="en-US" dirty="0"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73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记录型数据</a:t>
            </a:r>
            <a:endParaRPr lang="en-US" dirty="0"/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9906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由一组记录组成的数据，每个记录由一组固定的属性组成 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2209800" y="2209800"/>
          <a:ext cx="38481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05628" imgH="5779008" progId="Word.Document.8">
                  <p:embed/>
                </p:oleObj>
              </mc:Choice>
              <mc:Fallback>
                <p:oleObj name="Document" r:id="rId3" imgW="5405628" imgH="577900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38481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记录型数据</a:t>
            </a:r>
            <a:r>
              <a:rPr lang="en-US" altLang="zh-CN" dirty="0"/>
              <a:t>——</a:t>
            </a:r>
            <a:r>
              <a:rPr lang="zh-CN" altLang="en-US" sz="2800" dirty="0"/>
              <a:t>数据矩阵</a:t>
            </a:r>
            <a:endParaRPr lang="en-US" dirty="0"/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124200"/>
          </a:xfrm>
        </p:spPr>
        <p:txBody>
          <a:bodyPr/>
          <a:lstStyle/>
          <a:p>
            <a:r>
              <a:rPr lang="zh-CN" altLang="en-US" sz="2400" dirty="0"/>
              <a:t>如果数据集中每个对象具有相同的固定数值属性集，则可以将每一个对象视为多维空间中的一个点，其中每个维度表示一个不同的属性 </a:t>
            </a:r>
            <a:endParaRPr lang="en-US" altLang="zh-CN" sz="2400" dirty="0"/>
          </a:p>
          <a:p>
            <a:endParaRPr lang="en-US" sz="1800" dirty="0"/>
          </a:p>
          <a:p>
            <a:r>
              <a:rPr lang="zh-CN" altLang="en-US" sz="2400" dirty="0"/>
              <a:t>这样的一个数据集可用一个</a:t>
            </a:r>
            <a:r>
              <a:rPr lang="en-US" altLang="zh-CN" sz="2400" i="1" dirty="0" err="1">
                <a:solidFill>
                  <a:srgbClr val="FF0000"/>
                </a:solidFill>
              </a:rPr>
              <a:t>m</a:t>
            </a:r>
            <a:r>
              <a:rPr lang="en-US" altLang="zh-CN" sz="2400" dirty="0" err="1">
                <a:solidFill>
                  <a:srgbClr val="FF0000"/>
                </a:solidFill>
              </a:rPr>
              <a:t>×</a:t>
            </a:r>
            <a:r>
              <a:rPr lang="en-US" altLang="zh-CN" sz="2400" i="1" dirty="0" err="1">
                <a:solidFill>
                  <a:srgbClr val="FF0000"/>
                </a:solidFill>
              </a:rPr>
              <a:t>n</a:t>
            </a:r>
            <a:r>
              <a:rPr lang="zh-CN" altLang="en-US" sz="2400" dirty="0"/>
              <a:t>的矩阵表示，</a:t>
            </a:r>
            <a:r>
              <a:rPr lang="en-US" altLang="zh-CN" sz="2400" i="1" dirty="0">
                <a:solidFill>
                  <a:srgbClr val="FF0000"/>
                </a:solidFill>
              </a:rPr>
              <a:t> m </a:t>
            </a:r>
            <a:r>
              <a:rPr lang="zh-CN" altLang="en-US" sz="2400" dirty="0"/>
              <a:t>行表示 </a:t>
            </a:r>
            <a:r>
              <a:rPr lang="en-US" altLang="zh-CN" sz="2400" i="1" dirty="0">
                <a:solidFill>
                  <a:srgbClr val="FF0000"/>
                </a:solidFill>
              </a:rPr>
              <a:t>m</a:t>
            </a:r>
            <a:r>
              <a:rPr lang="zh-CN" altLang="en-US" sz="2400" dirty="0"/>
              <a:t>个对象，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rgbClr val="FF0000"/>
                </a:solidFill>
              </a:rPr>
              <a:t>n </a:t>
            </a:r>
            <a:r>
              <a:rPr lang="zh-CN" altLang="en-US" sz="2400" dirty="0"/>
              <a:t>列表示 </a:t>
            </a:r>
            <a:r>
              <a:rPr lang="en-US" altLang="zh-CN" sz="2400" i="1" dirty="0">
                <a:solidFill>
                  <a:srgbClr val="FF0000"/>
                </a:solidFill>
              </a:rPr>
              <a:t>n </a:t>
            </a:r>
            <a:r>
              <a:rPr lang="zh-CN" altLang="en-US" sz="2400" dirty="0"/>
              <a:t>个属性</a:t>
            </a:r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384699"/>
              </p:ext>
            </p:extLst>
          </p:nvPr>
        </p:nvGraphicFramePr>
        <p:xfrm>
          <a:off x="762000" y="3886200"/>
          <a:ext cx="7761288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06222" imgH="1480748" progId="Visio.Drawing.11">
                  <p:embed/>
                </p:oleObj>
              </mc:Choice>
              <mc:Fallback>
                <p:oleObj name="Visio" r:id="rId3" imgW="5706222" imgH="148074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86200"/>
                        <a:ext cx="7761288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zh-CN" altLang="en-US" dirty="0"/>
              <a:t>记录型数据</a:t>
            </a:r>
            <a:r>
              <a:rPr lang="en-US" altLang="zh-CN" dirty="0"/>
              <a:t>——</a:t>
            </a:r>
            <a:r>
              <a:rPr lang="zh-CN" altLang="en-US" sz="2800" dirty="0"/>
              <a:t>文档数据</a:t>
            </a:r>
            <a:endParaRPr lang="en-US" sz="2800" dirty="0"/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每一个文档视为一个词向量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词向量每个位置代表一个词</a:t>
            </a:r>
            <a:endParaRPr lang="en-US" dirty="0"/>
          </a:p>
          <a:p>
            <a:pPr lvl="1"/>
            <a:r>
              <a:rPr lang="zh-CN" altLang="en-US" dirty="0"/>
              <a:t>词向量的值表示特定词在文档中出现的次数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685800" y="3048000"/>
          <a:ext cx="7038975" cy="319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25718" imgH="2693902" progId="Visio.Drawing.6">
                  <p:embed/>
                </p:oleObj>
              </mc:Choice>
              <mc:Fallback>
                <p:oleObj name="Visio" r:id="rId3" imgW="5925718" imgH="2693902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0"/>
                        <a:ext cx="7038975" cy="319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记录型数据</a:t>
            </a:r>
            <a:r>
              <a:rPr lang="en-US" altLang="zh-CN" dirty="0"/>
              <a:t>—— </a:t>
            </a:r>
            <a:r>
              <a:rPr lang="zh-CN" altLang="en-US" sz="2800" dirty="0"/>
              <a:t>交易清单</a:t>
            </a:r>
            <a:endParaRPr lang="en-US" dirty="0"/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/>
          </a:bodyPr>
          <a:lstStyle/>
          <a:p>
            <a:r>
              <a:rPr lang="zh-CN" altLang="en-US" dirty="0"/>
              <a:t>一类特殊的数据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每一条清单包含一个条目集</a:t>
            </a:r>
            <a:r>
              <a:rPr lang="en-US" dirty="0"/>
              <a:t>  </a:t>
            </a:r>
          </a:p>
          <a:p>
            <a:pPr lvl="1"/>
            <a:r>
              <a:rPr lang="zh-CN" altLang="en-US" dirty="0"/>
              <a:t>以超市购物为例，每位顾客买的东西构成一条清单，所买的每一样东西视为条目</a:t>
            </a:r>
            <a:endParaRPr lang="en-US" sz="2800" dirty="0"/>
          </a:p>
          <a:p>
            <a:pPr lvl="1"/>
            <a:endParaRPr lang="en-US" dirty="0"/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1752600" y="3641725"/>
          <a:ext cx="5421313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823716" imgH="1999488" progId="Word.Document.8">
                  <p:embed/>
                </p:oleObj>
              </mc:Choice>
              <mc:Fallback>
                <p:oleObj name="Document" r:id="rId3" imgW="3823716" imgH="199948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641725"/>
                        <a:ext cx="5421313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图数据</a:t>
            </a:r>
            <a:endParaRPr lang="en-US" dirty="0"/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sz="2500" dirty="0"/>
              <a:t>Examples: </a:t>
            </a:r>
            <a:r>
              <a:rPr lang="zh-CN" altLang="en-US" sz="2500" dirty="0"/>
              <a:t>基因图</a:t>
            </a:r>
            <a:r>
              <a:rPr lang="en-US" sz="2500" dirty="0"/>
              <a:t>, </a:t>
            </a:r>
            <a:r>
              <a:rPr lang="zh-CN" altLang="en-US" sz="2500" dirty="0"/>
              <a:t>分子</a:t>
            </a:r>
            <a:r>
              <a:rPr lang="en-US" sz="2500" dirty="0"/>
              <a:t>, and </a:t>
            </a:r>
            <a:r>
              <a:rPr lang="zh-CN" altLang="en-US" sz="2500" dirty="0"/>
              <a:t>网页</a:t>
            </a:r>
            <a:endParaRPr lang="en-US" altLang="zh-CN" sz="2500" dirty="0"/>
          </a:p>
          <a:p>
            <a:r>
              <a:rPr lang="zh-CN" altLang="en-US" sz="2500" dirty="0"/>
              <a:t>每一个点表示一个样本，连接表示关系</a:t>
            </a:r>
            <a:endParaRPr lang="en-US" sz="2500" dirty="0"/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401419"/>
              </p:ext>
            </p:extLst>
          </p:nvPr>
        </p:nvGraphicFramePr>
        <p:xfrm>
          <a:off x="182563" y="1885586"/>
          <a:ext cx="29797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9724" imgH="646176" progId="Visio.Drawing.6">
                  <p:embed/>
                </p:oleObj>
              </mc:Choice>
              <mc:Fallback>
                <p:oleObj name="VISIO" r:id="rId3" imgW="839724" imgH="646176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3" y="1885586"/>
                        <a:ext cx="29797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984375"/>
            <a:ext cx="5959475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350132"/>
              </p:ext>
            </p:extLst>
          </p:nvPr>
        </p:nvGraphicFramePr>
        <p:xfrm>
          <a:off x="411163" y="4400186"/>
          <a:ext cx="196532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792724" imgH="5411724" progId="Visio.Drawing.6">
                  <p:embed/>
                </p:oleObj>
              </mc:Choice>
              <mc:Fallback>
                <p:oleObj name="VISIO" r:id="rId6" imgW="5792724" imgH="5411724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3" y="4400186"/>
                        <a:ext cx="196532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0" y="5943600"/>
            <a:ext cx="3065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sz="2000" b="0"/>
              <a:t>Benzene Molecule: C6H6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序列数据</a:t>
            </a:r>
            <a:endParaRPr lang="en-US" dirty="0"/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zh-CN" altLang="en-US" dirty="0"/>
              <a:t>基因序列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altLang="zh-CN" dirty="0"/>
          </a:p>
          <a:p>
            <a:r>
              <a:rPr lang="zh-CN" altLang="en-US" dirty="0"/>
              <a:t>蛋白质序列</a:t>
            </a:r>
            <a:endParaRPr lang="en-US" dirty="0"/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584974"/>
              </p:ext>
            </p:extLst>
          </p:nvPr>
        </p:nvGraphicFramePr>
        <p:xfrm>
          <a:off x="1600200" y="1448593"/>
          <a:ext cx="53562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0196" imgH="1991868" progId="Visio.Drawing.6">
                  <p:embed/>
                </p:oleObj>
              </mc:Choice>
              <mc:Fallback>
                <p:oleObj name="VISIO" r:id="rId3" imgW="2330196" imgH="199186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448593"/>
                        <a:ext cx="53562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1808163"/>
            <a:ext cx="6629400" cy="4973637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序列数据</a:t>
            </a:r>
            <a:endParaRPr lang="en-US" sz="2800" dirty="0"/>
          </a:p>
        </p:txBody>
      </p:sp>
      <p:sp>
        <p:nvSpPr>
          <p:cNvPr id="23556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时空数据</a:t>
            </a:r>
            <a:endParaRPr lang="en-US" altLang="zh-CN" dirty="0"/>
          </a:p>
          <a:p>
            <a:pPr lvl="1"/>
            <a:r>
              <a:rPr lang="zh-CN" altLang="en-US" dirty="0"/>
              <a:t>数据的时间、空间属性</a:t>
            </a:r>
            <a:endParaRPr lang="en-US" dirty="0"/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2667000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3657600" y="6240187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/>
              <a:t>全球平均月温度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数据质量</a:t>
            </a: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/>
              <a:t>数据质量是进行数据挖掘的基础</a:t>
            </a:r>
            <a:endParaRPr lang="en-US" sz="2400" dirty="0"/>
          </a:p>
          <a:p>
            <a:pPr>
              <a:buFont typeface="Monotype Sorts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buFont typeface="Monotype Sorts" charset="2"/>
              <a:buNone/>
            </a:pPr>
            <a:endParaRPr lang="en-US" sz="900" dirty="0">
              <a:latin typeface="Times New Roman" pitchFamily="18" charset="0"/>
            </a:endParaRPr>
          </a:p>
          <a:p>
            <a:r>
              <a:rPr lang="zh-CN" altLang="en-US" sz="2400" dirty="0"/>
              <a:t>例</a:t>
            </a:r>
            <a:r>
              <a:rPr lang="en-US" altLang="zh-CN" sz="2400" dirty="0"/>
              <a:t>1</a:t>
            </a:r>
            <a:r>
              <a:rPr lang="en-US" sz="2400" dirty="0"/>
              <a:t>: </a:t>
            </a:r>
            <a:r>
              <a:rPr lang="zh-CN" altLang="en-US" sz="2400" dirty="0"/>
              <a:t>用“坏”数据建立放贷风险评估模型</a:t>
            </a:r>
            <a:endParaRPr lang="en-US" sz="2400" dirty="0"/>
          </a:p>
          <a:p>
            <a:pPr lvl="1"/>
            <a:r>
              <a:rPr lang="zh-CN" altLang="en-US" sz="2200" dirty="0"/>
              <a:t>有信用的申请被拒绝</a:t>
            </a:r>
            <a:endParaRPr lang="en-US" sz="2200" dirty="0"/>
          </a:p>
          <a:p>
            <a:pPr lvl="1"/>
            <a:r>
              <a:rPr lang="zh-CN" altLang="en-US" sz="2200" dirty="0"/>
              <a:t>有风险的申请得到批准</a:t>
            </a:r>
            <a:endParaRPr lang="en-US" altLang="zh-CN" sz="2200" dirty="0"/>
          </a:p>
          <a:p>
            <a:pPr lvl="1"/>
            <a:endParaRPr lang="en-US" altLang="zh-CN" sz="2200" dirty="0"/>
          </a:p>
          <a:p>
            <a:r>
              <a:rPr lang="zh-CN" altLang="en-US" sz="2400" dirty="0"/>
              <a:t>例</a:t>
            </a:r>
            <a:r>
              <a:rPr lang="en-US" altLang="zh-CN" sz="2400" dirty="0"/>
              <a:t>2: </a:t>
            </a:r>
            <a:r>
              <a:rPr lang="zh-CN" altLang="en-US" sz="2400" dirty="0"/>
              <a:t>用不清晰的</a:t>
            </a:r>
            <a:r>
              <a:rPr lang="en-US" altLang="zh-CN" sz="2400" dirty="0"/>
              <a:t>CT/</a:t>
            </a:r>
            <a:r>
              <a:rPr lang="zh-CN" altLang="en-US" sz="2400" dirty="0"/>
              <a:t>核磁进行诊断</a:t>
            </a:r>
            <a:endParaRPr lang="en-US" altLang="zh-CN" sz="2400" dirty="0"/>
          </a:p>
          <a:p>
            <a:pPr lvl="1"/>
            <a:endParaRPr lang="en-US" altLang="zh-CN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数据质量</a:t>
            </a:r>
            <a:r>
              <a:rPr lang="en-US" dirty="0"/>
              <a:t>…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有哪些数据质量问题？</a:t>
            </a:r>
            <a:endParaRPr lang="en-US" dirty="0"/>
          </a:p>
          <a:p>
            <a:r>
              <a:rPr lang="zh-CN" altLang="en-US" dirty="0"/>
              <a:t>如何检测这些问题？</a:t>
            </a:r>
            <a:endParaRPr lang="en-US" dirty="0"/>
          </a:p>
          <a:p>
            <a:r>
              <a:rPr lang="zh-CN" altLang="en-US" dirty="0"/>
              <a:t>对于这些问题，我们能做什么？</a:t>
            </a:r>
            <a:endParaRPr lang="en-US" dirty="0"/>
          </a:p>
          <a:p>
            <a:pPr lvl="4"/>
            <a:endParaRPr lang="en-US" dirty="0"/>
          </a:p>
          <a:p>
            <a:r>
              <a:rPr lang="zh-CN" altLang="en-US" dirty="0"/>
              <a:t>数据质量问题</a:t>
            </a:r>
            <a:r>
              <a:rPr lang="en-US" dirty="0"/>
              <a:t>: </a:t>
            </a:r>
          </a:p>
          <a:p>
            <a:pPr lvl="1"/>
            <a:r>
              <a:rPr lang="zh-CN" altLang="en-US" dirty="0"/>
              <a:t>噪声与极值点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错误数据</a:t>
            </a:r>
            <a:endParaRPr lang="en-US" dirty="0"/>
          </a:p>
          <a:p>
            <a:pPr lvl="1"/>
            <a:r>
              <a:rPr lang="zh-CN" altLang="en-US" dirty="0"/>
              <a:t>假数据</a:t>
            </a:r>
            <a:endParaRPr lang="en-US" dirty="0"/>
          </a:p>
          <a:p>
            <a:pPr lvl="1"/>
            <a:r>
              <a:rPr lang="zh-CN" altLang="en-US" dirty="0"/>
              <a:t>缺失值</a:t>
            </a:r>
            <a:endParaRPr lang="en-US" dirty="0"/>
          </a:p>
          <a:p>
            <a:pPr lvl="1"/>
            <a:r>
              <a:rPr lang="zh-CN" altLang="en-US" dirty="0"/>
              <a:t>重复值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噪声</a:t>
            </a:r>
            <a:endParaRPr lang="en-US" dirty="0"/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latin typeface="+mj-lt"/>
              </a:rPr>
              <a:t>从对象的角度，无关</a:t>
            </a:r>
            <a:endParaRPr lang="en-US" sz="2600" dirty="0">
              <a:latin typeface="+mj-lt"/>
            </a:endParaRPr>
          </a:p>
          <a:p>
            <a:r>
              <a:rPr lang="zh-CN" altLang="en-US" sz="2600" dirty="0">
                <a:latin typeface="+mj-lt"/>
              </a:rPr>
              <a:t>从属性的角度</a:t>
            </a:r>
            <a:r>
              <a:rPr lang="en-US" sz="2600" dirty="0">
                <a:latin typeface="+mj-lt"/>
              </a:rPr>
              <a:t>, </a:t>
            </a:r>
            <a:r>
              <a:rPr lang="zh-CN" altLang="en-US" sz="2600" dirty="0">
                <a:latin typeface="+mj-lt"/>
              </a:rPr>
              <a:t>噪声会改变真实的属性值</a:t>
            </a:r>
            <a:endParaRPr lang="en-US" sz="2600" dirty="0">
              <a:latin typeface="+mj-lt"/>
            </a:endParaRPr>
          </a:p>
          <a:p>
            <a:pPr lvl="1"/>
            <a:r>
              <a:rPr lang="en-US" sz="2100" dirty="0">
                <a:latin typeface="+mj-lt"/>
              </a:rPr>
              <a:t>Examples: </a:t>
            </a:r>
            <a:r>
              <a:rPr lang="zh-CN" altLang="en-US" sz="2100" dirty="0">
                <a:latin typeface="+mj-lt"/>
              </a:rPr>
              <a:t>声音失真与电视上的“雪花”</a:t>
            </a:r>
            <a:endParaRPr lang="en-US" sz="2100" dirty="0">
              <a:latin typeface="+mj-lt"/>
            </a:endParaRPr>
          </a:p>
          <a:p>
            <a:pPr lvl="1"/>
            <a:r>
              <a:rPr lang="zh-CN" altLang="en-US" sz="2100" dirty="0">
                <a:latin typeface="+mj-lt"/>
              </a:rPr>
              <a:t>两条正弦曲线，叠加曲线，加噪声曲线</a:t>
            </a:r>
            <a:endParaRPr lang="en-US" sz="2100" dirty="0">
              <a:latin typeface="+mj-lt"/>
            </a:endParaRPr>
          </a:p>
          <a:p>
            <a:pPr lvl="2"/>
            <a:r>
              <a:rPr lang="en-US" sz="1700" dirty="0">
                <a:solidFill>
                  <a:srgbClr val="FF0000"/>
                </a:solidFill>
                <a:latin typeface="+mj-lt"/>
              </a:rPr>
              <a:t> </a:t>
            </a:r>
            <a:r>
              <a:rPr lang="zh-CN" altLang="en-US" sz="1700" dirty="0">
                <a:solidFill>
                  <a:srgbClr val="FF0000"/>
                </a:solidFill>
                <a:latin typeface="+mj-lt"/>
              </a:rPr>
              <a:t>幅值和形状都已失真</a:t>
            </a:r>
            <a:endParaRPr lang="en-US" sz="1700" dirty="0">
              <a:latin typeface="+mj-lt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54409-6EE6-4A1C-9D0B-7CD3AF6E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3800"/>
            <a:ext cx="3045649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1AF5E1-14E2-4B56-A568-ADB4A465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81" y="3733800"/>
            <a:ext cx="3045649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86DA59-19B3-4F8E-A616-32746CC70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881" y="3733800"/>
            <a:ext cx="304564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6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离群点是那些与数据集中其他点截然不同的点</a:t>
            </a:r>
            <a:endParaRPr lang="en-US" dirty="0"/>
          </a:p>
          <a:p>
            <a:r>
              <a:rPr lang="zh-CN" altLang="en-US" dirty="0"/>
              <a:t>辩证的看：</a:t>
            </a:r>
            <a:endParaRPr lang="en-US" dirty="0"/>
          </a:p>
          <a:p>
            <a:pPr lvl="1"/>
            <a:r>
              <a:rPr lang="en-US" b="1" dirty="0"/>
              <a:t>Case 1:</a:t>
            </a:r>
            <a:r>
              <a:rPr lang="en-US" dirty="0"/>
              <a:t> </a:t>
            </a:r>
            <a:r>
              <a:rPr lang="zh-CN" altLang="en-US" dirty="0"/>
              <a:t>离群点是一种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噪声</a:t>
            </a:r>
            <a:br>
              <a:rPr lang="en-US" dirty="0"/>
            </a:br>
            <a:endParaRPr lang="en-US" sz="1200" dirty="0"/>
          </a:p>
          <a:p>
            <a:pPr lvl="1"/>
            <a:r>
              <a:rPr lang="en-US" b="1" dirty="0"/>
              <a:t>Case 2: </a:t>
            </a:r>
            <a:r>
              <a:rPr lang="zh-CN" altLang="en-US" b="1" dirty="0"/>
              <a:t>离群点是我们</a:t>
            </a:r>
            <a:endParaRPr lang="en-US" altLang="zh-CN" b="1" dirty="0"/>
          </a:p>
          <a:p>
            <a:pPr marL="457200" lvl="1" indent="0">
              <a:buNone/>
            </a:pPr>
            <a:r>
              <a:rPr lang="zh-CN" altLang="en-US" b="1" dirty="0"/>
              <a:t>分析的目标</a:t>
            </a:r>
            <a:endParaRPr lang="en-US" dirty="0"/>
          </a:p>
          <a:p>
            <a:pPr lvl="2"/>
            <a:r>
              <a:rPr lang="en-US" dirty="0"/>
              <a:t> </a:t>
            </a:r>
            <a:r>
              <a:rPr lang="zh-CN" altLang="en-US" sz="2200" dirty="0"/>
              <a:t>信用卡欺诈</a:t>
            </a:r>
            <a:endParaRPr lang="en-US" sz="2200" dirty="0"/>
          </a:p>
          <a:p>
            <a:pPr lvl="2"/>
            <a:r>
              <a:rPr lang="en-US" sz="2200" dirty="0"/>
              <a:t> </a:t>
            </a:r>
            <a:r>
              <a:rPr lang="zh-CN" altLang="en-US" sz="2200" dirty="0"/>
              <a:t>入侵检测</a:t>
            </a:r>
            <a:endParaRPr lang="en-US" dirty="0"/>
          </a:p>
          <a:p>
            <a:pPr lvl="2"/>
            <a:endParaRPr lang="en-US" sz="1200" dirty="0"/>
          </a:p>
        </p:txBody>
      </p:sp>
      <p:grpSp>
        <p:nvGrpSpPr>
          <p:cNvPr id="27651" name="Group 4"/>
          <p:cNvGrpSpPr>
            <a:grpSpLocks/>
          </p:cNvGrpSpPr>
          <p:nvPr/>
        </p:nvGrpSpPr>
        <p:grpSpPr bwMode="auto">
          <a:xfrm>
            <a:off x="4495800" y="2439988"/>
            <a:ext cx="4267200" cy="3884612"/>
            <a:chOff x="3648" y="2448"/>
            <a:chExt cx="2112" cy="1872"/>
          </a:xfrm>
        </p:grpSpPr>
        <p:pic>
          <p:nvPicPr>
            <p:cNvPr id="276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离群点、奇异值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缺失值</a:t>
            </a:r>
            <a:endParaRPr lang="en-US" dirty="0"/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产生的原因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信息没有采集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(e.g., </a:t>
            </a:r>
            <a:r>
              <a:rPr lang="zh-CN" altLang="en-US" dirty="0"/>
              <a:t>年龄、体重、身高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属性可能不适用于所有的情况</a:t>
            </a:r>
            <a:br>
              <a:rPr lang="en-US" dirty="0"/>
            </a:br>
            <a:r>
              <a:rPr lang="en-US" dirty="0"/>
              <a:t>(e.g., </a:t>
            </a:r>
            <a:r>
              <a:rPr lang="zh-CN" altLang="en-US" dirty="0"/>
              <a:t>儿童的年收入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zh-CN" altLang="en-US" dirty="0"/>
              <a:t>如何处理缺失值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直接删去存在缺失的对象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估计缺失值</a:t>
            </a:r>
            <a:endParaRPr lang="en-US" dirty="0"/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</a:t>
            </a:r>
            <a:r>
              <a:rPr lang="zh-CN" altLang="en-US" dirty="0"/>
              <a:t>温度序列</a:t>
            </a:r>
            <a:endParaRPr lang="en-US" dirty="0"/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</a:t>
            </a:r>
            <a:r>
              <a:rPr lang="zh-CN" altLang="en-US" dirty="0"/>
              <a:t>人口普查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忽视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重复数据</a:t>
            </a: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数据集中包含两条一模一样，或者近乎一样的</a:t>
            </a:r>
            <a:endParaRPr lang="en-US" dirty="0"/>
          </a:p>
          <a:p>
            <a:pPr lvl="1"/>
            <a:r>
              <a:rPr lang="zh-CN" altLang="en-US" dirty="0"/>
              <a:t>合并来自异构数据源的数据时的主要问题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zh-CN" altLang="en-US" dirty="0"/>
              <a:t>同一个人的不同邮箱地址、不同电话</a:t>
            </a:r>
            <a:endParaRPr lang="en-US" dirty="0"/>
          </a:p>
          <a:p>
            <a:pPr lvl="1"/>
            <a:endParaRPr lang="en-US" dirty="0"/>
          </a:p>
          <a:p>
            <a:r>
              <a:rPr lang="zh-CN" altLang="en-US" dirty="0"/>
              <a:t>数据清理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相似性</a:t>
            </a:r>
            <a:r>
              <a:rPr lang="en-US" altLang="zh-CN" dirty="0"/>
              <a:t>/</a:t>
            </a:r>
            <a:r>
              <a:rPr lang="zh-CN" altLang="en-US" dirty="0"/>
              <a:t>不相似性测度</a:t>
            </a:r>
            <a:endParaRPr 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相似性测度</a:t>
            </a:r>
            <a:endParaRPr 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两个对象相似程度的定量化</a:t>
            </a:r>
            <a:r>
              <a:rPr lang="en-US" dirty="0"/>
              <a:t>.</a:t>
            </a:r>
          </a:p>
          <a:p>
            <a:pPr lvl="1"/>
            <a:r>
              <a:rPr lang="zh-CN" altLang="en-US" dirty="0"/>
              <a:t>越相似，测度值越大</a:t>
            </a:r>
            <a:r>
              <a:rPr lang="en-US" dirty="0"/>
              <a:t>.</a:t>
            </a:r>
          </a:p>
          <a:p>
            <a:pPr lvl="1"/>
            <a:r>
              <a:rPr lang="zh-CN" altLang="en-US" dirty="0"/>
              <a:t>取值范围一般为：</a:t>
            </a:r>
            <a:r>
              <a:rPr lang="en-US" dirty="0"/>
              <a:t>[0,1]</a:t>
            </a:r>
          </a:p>
          <a:p>
            <a:r>
              <a:rPr lang="zh-CN" altLang="en-US" dirty="0"/>
              <a:t>不相似性测度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两个对象不相似程度的定量化</a:t>
            </a:r>
            <a:r>
              <a:rPr lang="en-US" altLang="zh-CN" dirty="0"/>
              <a:t>.</a:t>
            </a:r>
          </a:p>
          <a:p>
            <a:pPr lvl="1"/>
            <a:r>
              <a:rPr lang="zh-CN" altLang="en-US" dirty="0"/>
              <a:t>越不相似，值越大</a:t>
            </a:r>
            <a:endParaRPr lang="en-US" dirty="0"/>
          </a:p>
          <a:p>
            <a:pPr lvl="1"/>
            <a:r>
              <a:rPr lang="zh-CN" altLang="en-US" dirty="0"/>
              <a:t>最小值为</a:t>
            </a:r>
            <a:r>
              <a:rPr lang="en-US" dirty="0"/>
              <a:t>0</a:t>
            </a:r>
          </a:p>
          <a:p>
            <a:pPr lvl="1"/>
            <a:r>
              <a:rPr lang="zh-CN" altLang="en-US" dirty="0"/>
              <a:t>上限不一定</a:t>
            </a:r>
            <a:endParaRPr lang="en-US" dirty="0"/>
          </a:p>
          <a:p>
            <a:r>
              <a:rPr lang="en-US" dirty="0">
                <a:solidFill>
                  <a:srgbClr val="CC6600"/>
                </a:solidFill>
              </a:rPr>
              <a:t>Proximity</a:t>
            </a:r>
            <a:r>
              <a:rPr lang="en-US" altLang="zh-CN" dirty="0">
                <a:solidFill>
                  <a:srgbClr val="CC6600"/>
                </a:solidFill>
              </a:rPr>
              <a:t>-</a:t>
            </a:r>
            <a:r>
              <a:rPr lang="zh-CN" altLang="en-US" dirty="0">
                <a:solidFill>
                  <a:srgbClr val="CC6600"/>
                </a:solidFill>
              </a:rPr>
              <a:t>邻近可表示相似性或者不相似性测度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039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简单属性的相似性</a:t>
            </a:r>
            <a:r>
              <a:rPr lang="en-US" altLang="zh-CN" sz="2800" dirty="0"/>
              <a:t>/</a:t>
            </a:r>
            <a:r>
              <a:rPr lang="zh-CN" altLang="en-US" sz="2800" dirty="0"/>
              <a:t>不相似性测度</a:t>
            </a:r>
            <a:endParaRPr lang="en-US" sz="2800" dirty="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177800" y="1752600"/>
            <a:ext cx="868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/>
              <a:t>单一、简单属性情况下，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/>
              <a:t> </a:t>
            </a:r>
            <a:r>
              <a:rPr lang="zh-CN" altLang="en-US" sz="2400" b="0" dirty="0"/>
              <a:t>和</a:t>
            </a:r>
            <a:r>
              <a:rPr lang="en-US" sz="2400" b="0" dirty="0"/>
              <a:t>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0" dirty="0"/>
              <a:t>的相似性</a:t>
            </a:r>
            <a:r>
              <a:rPr lang="en-US" altLang="zh-CN" sz="2400" b="0" dirty="0"/>
              <a:t>/</a:t>
            </a:r>
            <a:r>
              <a:rPr lang="zh-CN" altLang="en-US" sz="2400" b="0" dirty="0"/>
              <a:t>不相似性测度</a:t>
            </a:r>
            <a:endParaRPr lang="en-US" sz="2400" b="0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2750"/>
            <a:ext cx="9144000" cy="274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387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欧氏距离</a:t>
            </a:r>
            <a:r>
              <a:rPr lang="en-US" altLang="zh-CN" sz="2800" dirty="0"/>
              <a:t>-</a:t>
            </a:r>
            <a:r>
              <a:rPr lang="zh-CN" altLang="en-US" sz="2800" dirty="0"/>
              <a:t>最常用的</a:t>
            </a:r>
            <a:endParaRPr lang="en-US" sz="28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8351837" cy="51816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/>
              <a:t>欧氏距离的定义</a:t>
            </a: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1800" dirty="0"/>
              <a:t>   </a:t>
            </a:r>
          </a:p>
          <a:p>
            <a:pPr marL="742950" lvl="1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i="1" dirty="0"/>
              <a:t>n</a:t>
            </a:r>
            <a:r>
              <a:rPr lang="en-US" dirty="0"/>
              <a:t> </a:t>
            </a:r>
            <a:r>
              <a:rPr lang="zh-CN" altLang="en-US" dirty="0"/>
              <a:t>是数据的维度，</a:t>
            </a:r>
            <a:r>
              <a:rPr lang="en-US" i="1" dirty="0" err="1">
                <a:latin typeface="Times New Roman" panose="02020603050405020304" pitchFamily="18" charset="0"/>
              </a:rPr>
              <a:t>x</a:t>
            </a:r>
            <a:r>
              <a:rPr lang="en-US" i="1" baseline="-25000" dirty="0" err="1">
                <a:latin typeface="Times New Roman" panose="02020603050405020304" pitchFamily="18" charset="0"/>
              </a:rPr>
              <a:t>k</a:t>
            </a:r>
            <a:r>
              <a:rPr lang="en-US" dirty="0"/>
              <a:t> </a:t>
            </a:r>
            <a:r>
              <a:rPr lang="zh-CN" altLang="en-US" dirty="0"/>
              <a:t>和</a:t>
            </a:r>
            <a:r>
              <a:rPr lang="en-US" dirty="0"/>
              <a:t>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</a:rPr>
              <a:t> </a:t>
            </a:r>
            <a:r>
              <a:rPr lang="en-US" dirty="0"/>
              <a:t> </a:t>
            </a:r>
            <a:r>
              <a:rPr lang="zh-CN" altLang="en-US" dirty="0"/>
              <a:t>分别是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/>
              <a:t> </a:t>
            </a:r>
            <a:r>
              <a:rPr lang="zh-CN" altLang="en-US" dirty="0"/>
              <a:t>属性的值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sp>
        <p:nvSpPr>
          <p:cNvPr id="880645" name="Rectangle 5"/>
          <p:cNvSpPr>
            <a:spLocks noChangeArrowheads="1"/>
          </p:cNvSpPr>
          <p:nvPr/>
        </p:nvSpPr>
        <p:spPr bwMode="auto">
          <a:xfrm>
            <a:off x="609600" y="4343400"/>
            <a:ext cx="4501553" cy="882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 dirty="0"/>
              <a:t> </a:t>
            </a:r>
            <a:r>
              <a:rPr lang="zh-CN" altLang="en-US" sz="2400" b="0" dirty="0"/>
              <a:t>如果单位不同，需要先标准化</a:t>
            </a:r>
            <a:endParaRPr lang="en-US" altLang="zh-CN" sz="2400" b="0" dirty="0"/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 dirty="0"/>
              <a:t>1</a:t>
            </a:r>
            <a:r>
              <a:rPr lang="en-US" altLang="zh-CN" sz="2400" b="0" dirty="0"/>
              <a:t>m</a:t>
            </a:r>
            <a:r>
              <a:rPr lang="zh-CN" altLang="en-US" sz="2400" b="0" dirty="0"/>
              <a:t>和</a:t>
            </a:r>
            <a:r>
              <a:rPr lang="en-US" altLang="zh-CN" sz="2400" b="0" dirty="0"/>
              <a:t>100cm</a:t>
            </a:r>
            <a:endParaRPr lang="en-US" sz="2400" b="0" dirty="0"/>
          </a:p>
        </p:txBody>
      </p:sp>
      <p:pic>
        <p:nvPicPr>
          <p:cNvPr id="78895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358" y="1600200"/>
            <a:ext cx="400764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 dirty="0"/>
              <a:t>Euclidean Distance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28600" y="1143000"/>
          <a:ext cx="43783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631692" imgH="2656332" progId="Visio.Drawing.6">
                  <p:embed/>
                </p:oleObj>
              </mc:Choice>
              <mc:Fallback>
                <p:oleObj name="VISIO" r:id="rId2" imgW="3631692" imgH="26563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43783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4862513" y="1674813"/>
          <a:ext cx="3976687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836725" imgH="846287" progId="Excel.Sheet.8">
                  <p:embed/>
                </p:oleObj>
              </mc:Choice>
              <mc:Fallback>
                <p:oleObj name="Worksheet" r:id="rId4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1674813"/>
                        <a:ext cx="3976687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048000" y="5973763"/>
            <a:ext cx="281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Distance Matrix</a:t>
            </a: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371600" y="4114800"/>
          <a:ext cx="659923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55925" imgH="846287" progId="Excel.Sheet.8">
                  <p:embed/>
                </p:oleObj>
              </mc:Choice>
              <mc:Fallback>
                <p:oleObj name="Worksheet" r:id="rId6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14800"/>
                        <a:ext cx="659923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6232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 dirty="0" err="1"/>
              <a:t>Minkowski</a:t>
            </a:r>
            <a:r>
              <a:rPr lang="en-US" sz="2800" dirty="0"/>
              <a:t> Distance</a:t>
            </a:r>
            <a:r>
              <a:rPr lang="en-US" altLang="zh-CN" sz="2800" dirty="0"/>
              <a:t>——</a:t>
            </a:r>
            <a:r>
              <a:rPr lang="zh-CN" altLang="en-US" sz="2800" dirty="0"/>
              <a:t>明氏距离</a:t>
            </a:r>
            <a:endParaRPr lang="en-US" sz="2800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259763" cy="7508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/>
              <a:t>明氏距离是欧氏距离的一般形式</a:t>
            </a: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/>
              <a:t>  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/>
              <a:t>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/>
              <a:t>是数据的维度，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en-US" altLang="zh-CN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altLang="zh-CN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 </a:t>
            </a:r>
            <a:r>
              <a:rPr lang="zh-CN" altLang="en-US" dirty="0"/>
              <a:t>分别是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dirty="0"/>
              <a:t> </a:t>
            </a:r>
            <a:r>
              <a:rPr lang="zh-CN" altLang="en-US" dirty="0"/>
              <a:t>属性的值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i="1" dirty="0"/>
              <a:t> </a:t>
            </a:r>
            <a:r>
              <a:rPr lang="en-US" altLang="zh-CN" i="1" dirty="0"/>
              <a:t>r </a:t>
            </a:r>
            <a:r>
              <a:rPr lang="en-US" altLang="zh-CN" dirty="0"/>
              <a:t>= 2 </a:t>
            </a:r>
            <a:r>
              <a:rPr lang="zh-CN" altLang="en-US" dirty="0"/>
              <a:t>时，为欧氏距离</a:t>
            </a: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200" dirty="0"/>
          </a:p>
        </p:txBody>
      </p:sp>
      <p:pic>
        <p:nvPicPr>
          <p:cNvPr id="80944" name="Picture 4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467" y="1905000"/>
            <a:ext cx="510942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4281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 dirty="0" err="1"/>
              <a:t>Minkowski</a:t>
            </a:r>
            <a:r>
              <a:rPr lang="en-US" sz="2800" dirty="0"/>
              <a:t> Distance: Examples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487680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= 1.  </a:t>
            </a:r>
            <a:r>
              <a:rPr lang="zh-CN" altLang="en-US" sz="2400" dirty="0">
                <a:cs typeface="Times New Roman" pitchFamily="18" charset="0"/>
              </a:rPr>
              <a:t>城市距离、曼哈顿距离、</a:t>
            </a:r>
            <a:r>
              <a:rPr lang="en-US" altLang="zh-CN" sz="2400" dirty="0">
                <a:cs typeface="Times New Roman" pitchFamily="18" charset="0"/>
              </a:rPr>
              <a:t>L</a:t>
            </a:r>
            <a:r>
              <a:rPr lang="en-US" altLang="zh-CN" sz="2400" baseline="-30000" dirty="0">
                <a:cs typeface="Times New Roman" pitchFamily="18" charset="0"/>
              </a:rPr>
              <a:t>1 </a:t>
            </a:r>
            <a:r>
              <a:rPr lang="zh-CN" altLang="en-US" sz="2400" dirty="0">
                <a:cs typeface="Times New Roman" pitchFamily="18" charset="0"/>
              </a:rPr>
              <a:t>范数</a:t>
            </a:r>
            <a:r>
              <a:rPr lang="en-US" sz="2400" dirty="0">
                <a:cs typeface="Times New Roman" pitchFamily="18" charset="0"/>
              </a:rPr>
              <a:t>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zh-CN" altLang="en-US" sz="2200" dirty="0">
                <a:cs typeface="Times New Roman" pitchFamily="18" charset="0"/>
              </a:rPr>
              <a:t>两个二值矢量，不同的位点数量即为它们之间的距离，称之为汉明距离</a:t>
            </a:r>
            <a:endParaRPr lang="en-US" sz="2200" dirty="0">
              <a:cs typeface="Times New Roman" pitchFamily="18" charset="0"/>
            </a:endParaRPr>
          </a:p>
          <a:p>
            <a:pPr marL="1828800" lvl="4" indent="0">
              <a:lnSpc>
                <a:spcPct val="90000"/>
              </a:lnSpc>
              <a:buNone/>
            </a:pPr>
            <a:endParaRPr lang="en-US" sz="2200" b="1" dirty="0"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= 2.  Euclidean distance</a:t>
            </a:r>
          </a:p>
          <a:p>
            <a:pPr lvl="4">
              <a:lnSpc>
                <a:spcPct val="90000"/>
              </a:lnSpc>
            </a:pPr>
            <a:endParaRPr lang="en-US" sz="1800" dirty="0"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400" dirty="0">
                <a:cs typeface="Times New Roman" pitchFamily="18" charset="0"/>
              </a:rPr>
              <a:t>. </a:t>
            </a:r>
            <a:r>
              <a:rPr lang="en-US" sz="2400" dirty="0" err="1">
                <a:cs typeface="Times New Roman" pitchFamily="18" charset="0"/>
              </a:rPr>
              <a:t>L</a:t>
            </a:r>
            <a:r>
              <a:rPr lang="en-US" sz="2400" baseline="-30000" dirty="0" err="1">
                <a:cs typeface="Times New Roman" pitchFamily="18" charset="0"/>
              </a:rPr>
              <a:t>max</a:t>
            </a:r>
            <a:r>
              <a:rPr lang="en-US" sz="2400" baseline="-300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norm, L</a:t>
            </a:r>
            <a:r>
              <a:rPr lang="en-US" sz="2400" baseline="-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400" baseline="-300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norm. </a:t>
            </a:r>
          </a:p>
          <a:p>
            <a:pPr lvl="4">
              <a:lnSpc>
                <a:spcPct val="90000"/>
              </a:lnSpc>
            </a:pPr>
            <a:endParaRPr lang="en-US" sz="2200" dirty="0">
              <a:cs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>
                <a:cs typeface="Times New Roman" pitchFamily="18" charset="0"/>
              </a:rPr>
              <a:t>不要混淆 </a:t>
            </a:r>
            <a:r>
              <a:rPr lang="en-US" sz="2400" i="1" dirty="0">
                <a:cs typeface="Times New Roman" pitchFamily="18" charset="0"/>
              </a:rPr>
              <a:t>r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zh-CN" altLang="en-US" sz="2400" dirty="0">
                <a:cs typeface="Times New Roman" pitchFamily="18" charset="0"/>
              </a:rPr>
              <a:t>和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i="1" dirty="0">
                <a:cs typeface="Times New Roman" pitchFamily="18" charset="0"/>
              </a:rPr>
              <a:t>n</a:t>
            </a:r>
            <a:r>
              <a:rPr lang="en-US" sz="2400" dirty="0">
                <a:cs typeface="Times New Roman" pitchFamily="18" charset="0"/>
              </a:rPr>
              <a:t>, i.e., </a:t>
            </a:r>
            <a:r>
              <a:rPr lang="zh-CN" altLang="en-US" sz="2400" dirty="0">
                <a:cs typeface="Times New Roman" pitchFamily="18" charset="0"/>
              </a:rPr>
              <a:t>所有这些距离适用于所有维度</a:t>
            </a:r>
            <a:r>
              <a:rPr lang="en-US" sz="2400" dirty="0">
                <a:cs typeface="Times New Roman" pitchFamily="18" charset="0"/>
              </a:rPr>
              <a:t>.</a:t>
            </a:r>
            <a:endParaRPr lang="en-US" sz="2400" i="1" dirty="0">
              <a:cs typeface="Times New Roman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45001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dirty="0" err="1"/>
              <a:t>Minkowski</a:t>
            </a:r>
            <a:r>
              <a:rPr lang="en-US" dirty="0"/>
              <a:t> Distance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4876800" y="58674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Distance Matrix</a:t>
            </a: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304800" y="2587625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36725" imgH="846287" progId="Excel.Sheet.8">
                  <p:embed/>
                </p:oleObj>
              </mc:Choice>
              <mc:Fallback>
                <p:oleObj name="Worksheet" r:id="rId2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87625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810000" y="1292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055925" imgH="846287" progId="Excel.Sheet.8">
                  <p:embed/>
                </p:oleObj>
              </mc:Choice>
              <mc:Fallback>
                <p:oleObj name="Worksheet" r:id="rId4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2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3810000" y="2816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55925" imgH="846287" progId="Excel.Sheet.8">
                  <p:embed/>
                </p:oleObj>
              </mc:Choice>
              <mc:Fallback>
                <p:oleObj name="Worksheet" r:id="rId6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6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3810000" y="4340225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055925" imgH="861243" progId="Excel.Sheet.8">
                  <p:embed/>
                </p:oleObj>
              </mc:Choice>
              <mc:Fallback>
                <p:oleObj name="Worksheet" r:id="rId8" imgW="3055925" imgH="861243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340225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5967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Mahalanobis</a:t>
            </a:r>
            <a:r>
              <a:rPr lang="en-US" sz="2800" dirty="0"/>
              <a:t> Distance</a:t>
            </a:r>
            <a:r>
              <a:rPr lang="en-US" altLang="zh-CN" sz="2800" dirty="0"/>
              <a:t>——</a:t>
            </a:r>
            <a:r>
              <a:rPr lang="zh-CN" altLang="en-US" sz="2800" dirty="0"/>
              <a:t>马氏距离</a:t>
            </a:r>
            <a:endParaRPr lang="en-US" sz="2800" dirty="0"/>
          </a:p>
        </p:txBody>
      </p:sp>
      <p:pic>
        <p:nvPicPr>
          <p:cNvPr id="68611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" t="3334" r="7321"/>
          <a:stretch>
            <a:fillRect/>
          </a:stretch>
        </p:blipFill>
        <p:spPr>
          <a:xfrm>
            <a:off x="0" y="1981200"/>
            <a:ext cx="5502275" cy="3879850"/>
          </a:xfrm>
          <a:noFill/>
        </p:spPr>
      </p:pic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0" y="5881688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For red points, the Euclidean distance is 14.7, Mahalanobis distance is 6.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86400" y="2178050"/>
            <a:ext cx="3352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sym typeface="Symbol" pitchFamily="18" charset="2"/>
              </a:rPr>
              <a:t> is the </a:t>
            </a:r>
            <a:r>
              <a:rPr lang="en-US" sz="2000" dirty="0"/>
              <a:t>covariance matrix</a:t>
            </a:r>
            <a:r>
              <a:rPr lang="en-US" altLang="zh-CN" sz="2000" dirty="0"/>
              <a:t>-</a:t>
            </a:r>
            <a:r>
              <a:rPr lang="zh-CN" altLang="en-US" sz="2000" dirty="0"/>
              <a:t>协方差矩阵</a:t>
            </a:r>
            <a:endParaRPr lang="en-US" sz="20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1000" y="1219200"/>
                <a:ext cx="7400231" cy="522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𝐦𝐚𝐡𝐚𝐥𝐚𝐧𝐨𝐛𝐢𝐬</m:t>
                    </m:r>
                    <m:d>
                      <m:d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Ʃ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aseline="30000" dirty="0"/>
                  <a:t>0.5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19200"/>
                <a:ext cx="7400231" cy="522194"/>
              </a:xfrm>
              <a:prstGeom prst="rect">
                <a:avLst/>
              </a:prstGeom>
              <a:blipFill>
                <a:blip r:embed="rId3"/>
                <a:stretch>
                  <a:fillRect t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27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Mahalanobis Distance</a:t>
            </a:r>
          </a:p>
        </p:txBody>
      </p:sp>
      <p:sp>
        <p:nvSpPr>
          <p:cNvPr id="69635" name="Text Box 7"/>
          <p:cNvSpPr txBox="1">
            <a:spLocks noChangeArrowheads="1"/>
          </p:cNvSpPr>
          <p:nvPr/>
        </p:nvSpPr>
        <p:spPr bwMode="auto">
          <a:xfrm>
            <a:off x="6400800" y="11430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Covariance Matrix:</a:t>
            </a:r>
          </a:p>
        </p:txBody>
      </p:sp>
      <p:graphicFrame>
        <p:nvGraphicFramePr>
          <p:cNvPr id="69636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477000" y="1905000"/>
          <a:ext cx="2349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800" imgH="457200" progId="Equation.3">
                  <p:embed/>
                </p:oleObj>
              </mc:Choice>
              <mc:Fallback>
                <p:oleObj name="Equation" r:id="rId2" imgW="939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05000"/>
                        <a:ext cx="23495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12"/>
          <p:cNvSpPr txBox="1">
            <a:spLocks noChangeArrowheads="1"/>
          </p:cNvSpPr>
          <p:nvPr/>
        </p:nvSpPr>
        <p:spPr bwMode="auto">
          <a:xfrm>
            <a:off x="6629400" y="3200400"/>
            <a:ext cx="22860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 dirty="0"/>
              <a:t>A: (0.5, 0.5)</a:t>
            </a:r>
          </a:p>
          <a:p>
            <a:pPr>
              <a:spcBef>
                <a:spcPct val="50000"/>
              </a:spcBef>
            </a:pPr>
            <a:r>
              <a:rPr lang="en-US" sz="2200" dirty="0"/>
              <a:t>B: (0, 1)</a:t>
            </a:r>
          </a:p>
          <a:p>
            <a:pPr>
              <a:spcBef>
                <a:spcPct val="50000"/>
              </a:spcBef>
            </a:pPr>
            <a:r>
              <a:rPr lang="en-US" sz="2200" dirty="0"/>
              <a:t>C: (1.5, 1.5)</a:t>
            </a:r>
          </a:p>
          <a:p>
            <a:pPr>
              <a:spcBef>
                <a:spcPct val="50000"/>
              </a:spcBef>
            </a:pPr>
            <a:endParaRPr lang="en-US" sz="2200" dirty="0"/>
          </a:p>
          <a:p>
            <a:pPr>
              <a:spcBef>
                <a:spcPct val="50000"/>
              </a:spcBef>
            </a:pPr>
            <a:r>
              <a:rPr lang="en-US" sz="2200" dirty="0"/>
              <a:t>Mahal(A,B) = 5</a:t>
            </a:r>
          </a:p>
          <a:p>
            <a:pPr>
              <a:spcBef>
                <a:spcPct val="50000"/>
              </a:spcBef>
            </a:pPr>
            <a:r>
              <a:rPr lang="en-US" sz="2200" dirty="0"/>
              <a:t>Mahal(A,C) = 4 </a:t>
            </a:r>
          </a:p>
        </p:txBody>
      </p:sp>
      <p:grpSp>
        <p:nvGrpSpPr>
          <p:cNvPr id="69638" name="Group 13"/>
          <p:cNvGrpSpPr>
            <a:grpSpLocks/>
          </p:cNvGrpSpPr>
          <p:nvPr/>
        </p:nvGrpSpPr>
        <p:grpSpPr bwMode="auto">
          <a:xfrm>
            <a:off x="0" y="1143000"/>
            <a:ext cx="6477000" cy="4857750"/>
            <a:chOff x="144" y="768"/>
            <a:chExt cx="4080" cy="3060"/>
          </a:xfrm>
        </p:grpSpPr>
        <p:pic>
          <p:nvPicPr>
            <p:cNvPr id="69642" name="Picture 1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2" t="4398" r="6593" b="4733"/>
            <a:stretch>
              <a:fillRect/>
            </a:stretch>
          </p:blipFill>
          <p:spPr bwMode="auto">
            <a:xfrm>
              <a:off x="144" y="768"/>
              <a:ext cx="408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643" name="Line 15"/>
            <p:cNvSpPr>
              <a:spLocks noChangeShapeType="1"/>
            </p:cNvSpPr>
            <p:nvPr/>
          </p:nvSpPr>
          <p:spPr bwMode="auto">
            <a:xfrm flipV="1">
              <a:off x="1632" y="1872"/>
              <a:ext cx="120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4" name="Line 16"/>
            <p:cNvSpPr>
              <a:spLocks noChangeShapeType="1"/>
            </p:cNvSpPr>
            <p:nvPr/>
          </p:nvSpPr>
          <p:spPr bwMode="auto">
            <a:xfrm flipH="1" flipV="1">
              <a:off x="1104" y="225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9" name="Text Box 17"/>
          <p:cNvSpPr txBox="1">
            <a:spLocks noChangeArrowheads="1"/>
          </p:cNvSpPr>
          <p:nvPr/>
        </p:nvSpPr>
        <p:spPr bwMode="auto">
          <a:xfrm>
            <a:off x="1219200" y="3276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B</a:t>
            </a:r>
          </a:p>
        </p:txBody>
      </p:sp>
      <p:sp>
        <p:nvSpPr>
          <p:cNvPr id="69640" name="Text Box 18"/>
          <p:cNvSpPr txBox="1">
            <a:spLocks noChangeArrowheads="1"/>
          </p:cNvSpPr>
          <p:nvPr/>
        </p:nvSpPr>
        <p:spPr bwMode="auto">
          <a:xfrm>
            <a:off x="2209800" y="39766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A</a:t>
            </a:r>
          </a:p>
        </p:txBody>
      </p:sp>
      <p:sp>
        <p:nvSpPr>
          <p:cNvPr id="69641" name="Text Box 19"/>
          <p:cNvSpPr txBox="1">
            <a:spLocks noChangeArrowheads="1"/>
          </p:cNvSpPr>
          <p:nvPr/>
        </p:nvSpPr>
        <p:spPr bwMode="auto">
          <a:xfrm>
            <a:off x="4114800" y="2514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124403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dirty="0"/>
              <a:t>距离（不相似性）测度的性质</a:t>
            </a:r>
            <a:endParaRPr 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990600" lvl="1" indent="-533400">
              <a:lnSpc>
                <a:spcPct val="15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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US" dirty="0"/>
              <a:t>for all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en-US" dirty="0">
                <a:cs typeface="Times New Roman" panose="02020603050405020304" pitchFamily="18" charset="0"/>
              </a:rPr>
              <a:t>if and </a:t>
            </a:r>
            <a:r>
              <a:rPr lang="en-US" dirty="0"/>
              <a:t>only if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</a:t>
            </a:r>
            <a:r>
              <a:rPr lang="zh-CN" altLang="en-US" dirty="0"/>
              <a:t>非负</a:t>
            </a:r>
            <a:endParaRPr lang="en-US" dirty="0"/>
          </a:p>
          <a:p>
            <a:pPr marL="990600" lvl="1" indent="-533400">
              <a:lnSpc>
                <a:spcPct val="15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/>
              <a:t>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</a:t>
            </a:r>
            <a:r>
              <a:rPr lang="zh-CN" altLang="en-US" dirty="0"/>
              <a:t>对称</a:t>
            </a:r>
            <a:r>
              <a:rPr lang="en-US" altLang="zh-CN" dirty="0"/>
              <a:t>/</a:t>
            </a:r>
            <a:r>
              <a:rPr lang="zh-CN" altLang="en-US" dirty="0"/>
              <a:t>交换</a:t>
            </a:r>
            <a:endParaRPr lang="en-US" altLang="zh-CN" dirty="0"/>
          </a:p>
          <a:p>
            <a:pPr marL="990600" lvl="1" indent="-533400">
              <a:lnSpc>
                <a:spcPct val="15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points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/>
              <a:t>.  </a:t>
            </a:r>
            <a:br>
              <a:rPr lang="en-US" dirty="0"/>
            </a:br>
            <a:r>
              <a:rPr lang="en-US" dirty="0"/>
              <a:t>(Triangle Inequality) </a:t>
            </a:r>
            <a:r>
              <a:rPr lang="zh-CN" altLang="en-US" dirty="0"/>
              <a:t>三角定律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400" dirty="0"/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 </a:t>
            </a:r>
            <a:r>
              <a:rPr lang="zh-CN" altLang="en-US" sz="2400" dirty="0"/>
              <a:t>表示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</a:t>
            </a:r>
            <a:r>
              <a:rPr lang="zh-CN" altLang="en-US" sz="2400" dirty="0"/>
              <a:t>和</a:t>
            </a:r>
            <a:r>
              <a:rPr lang="en-US" sz="2400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之间的距离</a:t>
            </a:r>
            <a:endParaRPr lang="en-US" sz="2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符合以上三条才能用于计算相似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不相似性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608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dirty="0"/>
              <a:t>相似性测度的性质</a:t>
            </a:r>
            <a:endParaRPr 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 </a:t>
            </a:r>
            <a:r>
              <a:rPr lang="en-US" dirty="0"/>
              <a:t>(or maximum similarity) only 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</a:t>
            </a:r>
            <a:br>
              <a:rPr lang="en-US" dirty="0"/>
            </a:br>
            <a:r>
              <a:rPr lang="en-US" sz="1800" dirty="0"/>
              <a:t>(does not always hold, e.g., cosine)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  <a:br>
              <a:rPr lang="en-US" dirty="0"/>
            </a:br>
            <a:endParaRPr lang="en-US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400" dirty="0"/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/>
              <a:t>表示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</a:t>
            </a:r>
            <a:r>
              <a:rPr lang="zh-CN" altLang="en-US" sz="2400" dirty="0"/>
              <a:t>和</a:t>
            </a:r>
            <a:r>
              <a:rPr lang="en-US" sz="2400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之间的相似性测度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sz="24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265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dirty="0"/>
              <a:t>二值向量之间的相似性</a:t>
            </a:r>
            <a:endParaRPr 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zh-CN" altLang="en-US" sz="2200" dirty="0"/>
              <a:t>对象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/>
              <a:t> </a:t>
            </a:r>
            <a:r>
              <a:rPr lang="zh-CN" altLang="en-US" sz="2200" dirty="0"/>
              <a:t>和</a:t>
            </a:r>
            <a:r>
              <a:rPr lang="en-US" sz="2200" dirty="0"/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/>
              <a:t>, </a:t>
            </a:r>
            <a:r>
              <a:rPr lang="zh-CN" altLang="en-US" sz="2200" dirty="0"/>
              <a:t>只有两种取值</a:t>
            </a:r>
            <a:endParaRPr lang="en-US" sz="2200" dirty="0"/>
          </a:p>
          <a:p>
            <a:pPr marL="2171700" lvl="4" indent="-342900">
              <a:lnSpc>
                <a:spcPct val="80000"/>
              </a:lnSpc>
              <a:tabLst>
                <a:tab pos="914400" algn="l"/>
                <a:tab pos="1371600" algn="l"/>
              </a:tabLst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zh-CN" altLang="en-US" sz="2200" dirty="0"/>
              <a:t>用以下</a:t>
            </a:r>
            <a:r>
              <a:rPr lang="en-US" altLang="zh-CN" sz="2200" dirty="0"/>
              <a:t>4</a:t>
            </a:r>
            <a:r>
              <a:rPr lang="zh-CN" altLang="en-US" sz="2200" dirty="0"/>
              <a:t>个数来计算相似性</a:t>
            </a:r>
            <a:endParaRPr lang="en-US" sz="2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cmmi10" pitchFamily="34" charset="0"/>
              </a:rPr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/>
              <a:t> =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</a:t>
            </a:r>
            <a:r>
              <a:rPr lang="zh-CN" altLang="en-US" sz="2000" dirty="0"/>
              <a:t>为</a:t>
            </a:r>
            <a:r>
              <a:rPr lang="en-US" sz="2000" dirty="0"/>
              <a:t> 0 </a:t>
            </a:r>
            <a:r>
              <a:rPr lang="zh-CN" altLang="en-US" sz="2000" dirty="0"/>
              <a:t>且</a:t>
            </a:r>
            <a:r>
              <a:rPr lang="en-US" sz="2000" dirty="0"/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/>
              <a:t> </a:t>
            </a:r>
            <a:r>
              <a:rPr lang="zh-CN" altLang="en-US" sz="2000" dirty="0"/>
              <a:t>为</a:t>
            </a:r>
            <a:r>
              <a:rPr lang="en-US" sz="2000" dirty="0"/>
              <a:t> 1 </a:t>
            </a:r>
            <a:r>
              <a:rPr lang="zh-CN" altLang="en-US" sz="2000" dirty="0"/>
              <a:t>的属性的数量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aseline="-25000" dirty="0"/>
              <a:t> </a:t>
            </a:r>
            <a:r>
              <a:rPr lang="en-US" sz="2000" dirty="0"/>
              <a:t>=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/>
              <a:t> </a:t>
            </a:r>
            <a:r>
              <a:rPr lang="zh-CN" altLang="en-US" sz="2000" dirty="0"/>
              <a:t>为</a:t>
            </a:r>
            <a:r>
              <a:rPr lang="en-US" altLang="zh-CN" sz="2000" dirty="0"/>
              <a:t> 1 </a:t>
            </a:r>
            <a:r>
              <a:rPr lang="zh-CN" altLang="en-US" sz="2000" dirty="0"/>
              <a:t>且</a:t>
            </a:r>
            <a:r>
              <a:rPr lang="en-US" altLang="zh-CN" sz="2000" dirty="0"/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/>
              <a:t> </a:t>
            </a:r>
            <a:r>
              <a:rPr lang="zh-CN" altLang="en-US" sz="2000" dirty="0"/>
              <a:t>为</a:t>
            </a:r>
            <a:r>
              <a:rPr lang="en-US" altLang="zh-CN" sz="2000" dirty="0"/>
              <a:t> 0 </a:t>
            </a:r>
            <a:r>
              <a:rPr lang="zh-CN" altLang="en-US" sz="2000" dirty="0"/>
              <a:t>的属性的数量</a:t>
            </a:r>
            <a:endParaRPr lang="en-US" altLang="zh-CN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/>
              <a:t> =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/>
              <a:t> </a:t>
            </a:r>
            <a:r>
              <a:rPr lang="zh-CN" altLang="en-US" sz="2000" dirty="0"/>
              <a:t>为</a:t>
            </a:r>
            <a:r>
              <a:rPr lang="en-US" altLang="zh-CN" sz="2000" dirty="0"/>
              <a:t> 0 </a:t>
            </a:r>
            <a:r>
              <a:rPr lang="zh-CN" altLang="en-US" sz="2000" dirty="0"/>
              <a:t>且</a:t>
            </a:r>
            <a:r>
              <a:rPr lang="en-US" altLang="zh-CN" sz="2000" dirty="0"/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/>
              <a:t> </a:t>
            </a:r>
            <a:r>
              <a:rPr lang="zh-CN" altLang="en-US" sz="2000" dirty="0"/>
              <a:t>为</a:t>
            </a:r>
            <a:r>
              <a:rPr lang="en-US" altLang="zh-CN" sz="2000" dirty="0"/>
              <a:t> 0 </a:t>
            </a:r>
            <a:r>
              <a:rPr lang="zh-CN" altLang="en-US" sz="2000" dirty="0"/>
              <a:t>的属性的数量</a:t>
            </a:r>
            <a:endParaRPr lang="en-US" altLang="zh-CN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/>
              <a:t> =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/>
              <a:t> </a:t>
            </a:r>
            <a:r>
              <a:rPr lang="zh-CN" altLang="en-US" sz="2000" dirty="0"/>
              <a:t>为</a:t>
            </a:r>
            <a:r>
              <a:rPr lang="en-US" altLang="zh-CN" sz="2000" dirty="0"/>
              <a:t> 1 </a:t>
            </a:r>
            <a:r>
              <a:rPr lang="zh-CN" altLang="en-US" sz="2000" dirty="0"/>
              <a:t>且</a:t>
            </a:r>
            <a:r>
              <a:rPr lang="en-US" altLang="zh-CN" sz="2000" dirty="0"/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/>
              <a:t> </a:t>
            </a:r>
            <a:r>
              <a:rPr lang="zh-CN" altLang="en-US" sz="2000" dirty="0"/>
              <a:t>为</a:t>
            </a:r>
            <a:r>
              <a:rPr lang="en-US" altLang="zh-CN" sz="2000" dirty="0"/>
              <a:t> 1 </a:t>
            </a:r>
            <a:r>
              <a:rPr lang="zh-CN" altLang="en-US" sz="2000" dirty="0"/>
              <a:t>的属性的数量</a:t>
            </a:r>
            <a:endParaRPr lang="en-US" altLang="zh-CN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000" dirty="0"/>
              <a:t>Simple Matching and </a:t>
            </a:r>
            <a:r>
              <a:rPr lang="en-US" sz="2000" dirty="0" err="1"/>
              <a:t>Jaccard</a:t>
            </a:r>
            <a:r>
              <a:rPr lang="en-US" sz="2000" dirty="0"/>
              <a:t> Coefficients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	SMC 	=  number of matches / number of attributes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                 	=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	J 	= number of 11 matches / number of non-zero attributes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itchFamily="18" charset="0"/>
              </a:rPr>
              <a:t>   	  	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SMC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关注所有匹配上的，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只关注值为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的匹配（不对称属性）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5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SMC versus Jaccard: Example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275637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0 0 0    	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0 0 0 0 0 0 1 0 0 1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1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SMC 	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(0+7) / (2+1+0+7) = 0.7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/ (2 + 1 + 0) = 0 </a:t>
            </a:r>
            <a:endParaRPr lang="en-US" sz="2200" i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9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6C2D6B3-AC34-4269-8328-CFDAEFFE639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80060" y="1013619"/>
            <a:ext cx="7183880" cy="31908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 1 0 0 0 0 0 0 0 0 0    	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 0 0 0 0 0 0 1 0 0 1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SMC 	=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(0+7) / (2+1+0+7) = 0.7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=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/ (2 + 1 + 0) = 0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你认为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哪个更合适？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975C84-B533-492D-BC36-0D752C1FDC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39977" y="43672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SMC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601A09-1FD7-42E6-AF2F-6BE18EB3D20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39977" y="519350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J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219626-0FE2-431F-A3CE-992F6DBE0F8B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21920" y="449580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96477E-838E-4D45-A3BC-A37E0492A16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21920" y="525780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829E99-A44E-4B0E-B06A-4676735150A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500AC6D-59EF-4882-9F63-893614B4985D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C1DCA3A0-E8E9-4096-A037-D2EFA7F4C8C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5276E020-F8BB-48EF-A41F-6D3468334BC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F57B3E91-E234-4C48-8C1F-A11FDD3C0859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867B3C48-0229-4C08-9130-167D6DD24BE8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BC42BF1-C764-4F39-8A15-9E1140C41667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071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dirty="0"/>
              <a:t>Cosine Similarity</a:t>
            </a:r>
            <a:r>
              <a:rPr lang="en-US" altLang="zh-CN" dirty="0"/>
              <a:t>-</a:t>
            </a:r>
            <a:r>
              <a:rPr lang="zh-CN" altLang="en-US" dirty="0"/>
              <a:t>余弦相似性</a:t>
            </a: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spcBef>
                <a:spcPts val="400"/>
              </a:spcBef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zh-CN" altLang="en-US" sz="2400" dirty="0">
                <a:cs typeface="Times New Roman" pitchFamily="18" charset="0"/>
              </a:rPr>
              <a:t>如果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zh-CN" altLang="en-US" sz="2400" dirty="0">
                <a:cs typeface="Times New Roman" pitchFamily="18" charset="0"/>
              </a:rPr>
              <a:t>和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zh-CN" altLang="en-US" sz="2400" dirty="0">
                <a:cs typeface="Times New Roman" pitchFamily="18" charset="0"/>
              </a:rPr>
              <a:t>为两个矢量</a:t>
            </a:r>
            <a:r>
              <a:rPr lang="en-US" sz="2400" dirty="0">
                <a:cs typeface="Times New Roman" pitchFamily="18" charset="0"/>
              </a:rPr>
              <a:t>, </a:t>
            </a:r>
            <a:r>
              <a:rPr lang="zh-CN" altLang="en-US" sz="2400" dirty="0">
                <a:cs typeface="Times New Roman" pitchFamily="18" charset="0"/>
              </a:rPr>
              <a:t>则它们的余弦相似性为：</a:t>
            </a:r>
            <a:endParaRPr lang="en-US" sz="2400" dirty="0">
              <a:cs typeface="Times New Roman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Font typeface="Monotype Sorts" charset="2"/>
              <a:buNone/>
            </a:pPr>
            <a:r>
              <a:rPr lang="en-US" sz="2400" dirty="0">
                <a:cs typeface="Times New Roman" pitchFamily="18" charset="0"/>
              </a:rPr>
              <a:t>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 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/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2400" dirty="0">
                <a:cs typeface="Times New Roman" pitchFamily="18" charset="0"/>
              </a:rPr>
              <a:t>, </a:t>
            </a: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None/>
            </a:pPr>
            <a:r>
              <a:rPr lang="zh-CN" altLang="en-US" sz="2400" dirty="0">
                <a:cs typeface="Times New Roman" pitchFamily="18" charset="0"/>
              </a:rPr>
              <a:t>其中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zh-CN" altLang="en-US" sz="2400" dirty="0">
                <a:cs typeface="Times New Roman" pitchFamily="18" charset="0"/>
              </a:rPr>
              <a:t>表示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+mj-lt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cs typeface="Times New Roman" pitchFamily="18" charset="0"/>
              </a:rPr>
              <a:t>内积或者点积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d ||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zh-CN" altLang="en-US" sz="2400" dirty="0">
                <a:cs typeface="Times New Roman" pitchFamily="18" charset="0"/>
              </a:rPr>
              <a:t>是向量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的模</a:t>
            </a:r>
            <a:r>
              <a:rPr lang="en-US" sz="2400" dirty="0">
                <a:cs typeface="Times New Roman" pitchFamily="18" charset="0"/>
              </a:rPr>
              <a:t>.  </a:t>
            </a:r>
          </a:p>
          <a:p>
            <a:pPr marL="0" indent="0" algn="just">
              <a:spcBef>
                <a:spcPct val="20000"/>
              </a:spcBef>
            </a:pP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Example: 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 2 0 5 0 0 0 2 0 0 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1 0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d2&gt;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3*1 + 2*0 + 0*0 + 5*0 + 0*0 + 0*0 + 0*0 + 2*1 + 0*0 + 0*2 = 5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(3*3+2*2+0*0+5*5+0*0+0*0+0*0+2*2+0*0+0*0)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(42)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6.481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(1*1+0*0+0*0+0*0+0*0+0*0+0*0+1*1+0*0+2*2)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(6)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2.449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0.3150</a:t>
            </a:r>
          </a:p>
          <a:p>
            <a:pPr marL="0" indent="0">
              <a:spcBef>
                <a:spcPct val="20000"/>
              </a:spcBef>
              <a:buFont typeface="Monotype Sorts" charset="2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6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Correlation measures the linear relationship between objects</a:t>
            </a:r>
            <a:r>
              <a:rPr lang="en-US" altLang="zh-CN" sz="2800" dirty="0"/>
              <a:t>-</a:t>
            </a:r>
            <a:r>
              <a:rPr lang="zh-CN" altLang="en-US" sz="2800" dirty="0"/>
              <a:t>相关系数</a:t>
            </a:r>
            <a:endParaRPr lang="en-US" sz="2800" dirty="0"/>
          </a:p>
        </p:txBody>
      </p:sp>
      <p:pic>
        <p:nvPicPr>
          <p:cNvPr id="85160" name="Picture 1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48128"/>
            <a:ext cx="725199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0475446-2D1F-4561-A0EC-5138EC8E02AC}"/>
              </a:ext>
            </a:extLst>
          </p:cNvPr>
          <p:cNvSpPr txBox="1"/>
          <p:nvPr/>
        </p:nvSpPr>
        <p:spPr>
          <a:xfrm>
            <a:off x="5791200" y="5029200"/>
            <a:ext cx="29979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Corr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x,y</a:t>
            </a:r>
            <a:r>
              <a:rPr lang="zh-CN" altLang="en-US" sz="2000" dirty="0"/>
              <a:t>）</a:t>
            </a:r>
            <a:r>
              <a:rPr lang="en-US" altLang="zh-CN" sz="2000" dirty="0"/>
              <a:t>=1</a:t>
            </a:r>
            <a:r>
              <a:rPr lang="zh-CN" altLang="en-US" sz="2000" dirty="0"/>
              <a:t>， 正相关</a:t>
            </a:r>
            <a:endParaRPr lang="en-US" altLang="zh-CN" sz="2000" dirty="0"/>
          </a:p>
          <a:p>
            <a:r>
              <a:rPr lang="en-US" altLang="zh-CN" sz="2000" dirty="0" err="1"/>
              <a:t>Corr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x,y</a:t>
            </a:r>
            <a:r>
              <a:rPr lang="zh-CN" altLang="en-US" sz="2000" dirty="0"/>
              <a:t>）</a:t>
            </a:r>
            <a:r>
              <a:rPr lang="en-US" altLang="zh-CN" sz="2000" dirty="0"/>
              <a:t>=0</a:t>
            </a:r>
            <a:r>
              <a:rPr lang="zh-CN" altLang="en-US" sz="2000" dirty="0"/>
              <a:t>， 无相关</a:t>
            </a:r>
          </a:p>
          <a:p>
            <a:r>
              <a:rPr lang="en-US" altLang="zh-CN" sz="2000" dirty="0" err="1"/>
              <a:t>Corr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x,y</a:t>
            </a:r>
            <a:r>
              <a:rPr lang="zh-CN" altLang="en-US" sz="2000" dirty="0"/>
              <a:t>）</a:t>
            </a:r>
            <a:r>
              <a:rPr lang="en-US" altLang="zh-CN" sz="2000" dirty="0"/>
              <a:t>=-1</a:t>
            </a:r>
            <a:r>
              <a:rPr lang="zh-CN" altLang="en-US" sz="2000" dirty="0"/>
              <a:t>，负相关</a:t>
            </a:r>
          </a:p>
        </p:txBody>
      </p:sp>
    </p:spTree>
    <p:extLst>
      <p:ext uri="{BB962C8B-B14F-4D97-AF65-F5344CB8AC3E}">
        <p14:creationId xmlns:p14="http://schemas.microsoft.com/office/powerpoint/2010/main" val="5239709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 dirty="0"/>
              <a:t>Visually Evaluating Correlation</a:t>
            </a:r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28600" y="990600"/>
          <a:ext cx="591502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542857" imgH="7228571" progId="Paint.Picture">
                  <p:embed/>
                </p:oleObj>
              </mc:Choice>
              <mc:Fallback>
                <p:oleObj name="Bitmap Image" r:id="rId2" imgW="7542857" imgH="722857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243" t="1854" r="5334" b="10373"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5915025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6629400" y="2971800"/>
            <a:ext cx="2286000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 dirty="0"/>
              <a:t>Scatter plots showing the similarity from –1 to 1.</a:t>
            </a:r>
          </a:p>
          <a:p>
            <a:pPr>
              <a:spcBef>
                <a:spcPct val="50000"/>
              </a:spcBef>
            </a:pPr>
            <a:r>
              <a:rPr lang="zh-CN" altLang="en-US" sz="2200" dirty="0"/>
              <a:t>负相关至正相关</a:t>
            </a:r>
            <a:endParaRPr lang="en-US" sz="2200" dirty="0"/>
          </a:p>
        </p:txBody>
      </p:sp>
      <p:grpSp>
        <p:nvGrpSpPr>
          <p:cNvPr id="77829" name="Group 5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1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65539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相关系数的缺点</a:t>
            </a:r>
            <a:r>
              <a:rPr lang="en-US" altLang="zh-CN" dirty="0"/>
              <a:t>——</a:t>
            </a:r>
            <a:r>
              <a:rPr lang="zh-CN" altLang="en-US" dirty="0"/>
              <a:t>只能描述线性的关系</a:t>
            </a: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(-3, -2, -1, 0, 1, 2, 3)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(9, 4, 1, 0, 1, 4, 9)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0, 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4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2.16,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3.74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(-3)(5)+(-2)(0)+(-1)(-3)+(0)(-4)+(1)(-3)+(2)(0)+3(5) / ( 6 * 2.16 * 3.74 )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=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B0043-3522-4C58-AFFA-73F191192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63665"/>
            <a:ext cx="3612000" cy="27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53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相关系数</a:t>
            </a:r>
            <a:r>
              <a:rPr lang="en-US" sz="2800" dirty="0"/>
              <a:t> vs </a:t>
            </a:r>
            <a:r>
              <a:rPr lang="zh-CN" altLang="en-US" sz="2800" dirty="0"/>
              <a:t>余弦距离</a:t>
            </a:r>
            <a:r>
              <a:rPr lang="en-US" sz="2800" dirty="0"/>
              <a:t> vs </a:t>
            </a:r>
            <a:r>
              <a:rPr lang="zh-CN" altLang="en-US" sz="2800" dirty="0"/>
              <a:t>欧氏距离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18500" cy="5181600"/>
          </a:xfrm>
        </p:spPr>
        <p:txBody>
          <a:bodyPr/>
          <a:lstStyle/>
          <a:p>
            <a:r>
              <a:rPr lang="zh-CN" altLang="en-US" sz="1800" dirty="0"/>
              <a:t>从变量变换的角度比较这三种测度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r>
              <a:rPr lang="zh-CN" altLang="en-US" sz="1800" dirty="0"/>
              <a:t>缩放</a:t>
            </a:r>
            <a:r>
              <a:rPr lang="en-US" sz="1800" dirty="0"/>
              <a:t>: </a:t>
            </a:r>
            <a:r>
              <a:rPr lang="zh-CN" altLang="en-US" sz="1800" dirty="0"/>
              <a:t>乘以一个固定的数值</a:t>
            </a:r>
            <a:r>
              <a:rPr lang="en-US" altLang="zh-CN" sz="1800" dirty="0"/>
              <a:t>——</a:t>
            </a:r>
            <a:r>
              <a:rPr lang="zh-CN" altLang="en-US" sz="1800" dirty="0">
                <a:solidFill>
                  <a:srgbClr val="FF0000"/>
                </a:solidFill>
              </a:rPr>
              <a:t>尺度不变性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r>
              <a:rPr lang="zh-CN" altLang="en-US" sz="1800" dirty="0"/>
              <a:t>平移</a:t>
            </a:r>
            <a:r>
              <a:rPr lang="en-US" sz="1800" dirty="0"/>
              <a:t>: </a:t>
            </a:r>
            <a:r>
              <a:rPr lang="zh-CN" altLang="en-US" sz="1800" dirty="0"/>
              <a:t>加一个常数</a:t>
            </a:r>
            <a:r>
              <a:rPr lang="en-US" altLang="zh-CN" sz="1800" dirty="0"/>
              <a:t>——</a:t>
            </a:r>
            <a:r>
              <a:rPr lang="zh-CN" altLang="en-US" sz="1800" dirty="0">
                <a:solidFill>
                  <a:srgbClr val="FF0000"/>
                </a:solidFill>
              </a:rPr>
              <a:t>平移不变性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1800" dirty="0"/>
              <a:t>Consider the example</a:t>
            </a:r>
          </a:p>
          <a:p>
            <a:pPr lvl="1"/>
            <a:r>
              <a:rPr lang="en-US" sz="1600" b="1" dirty="0"/>
              <a:t>x </a:t>
            </a:r>
            <a:r>
              <a:rPr lang="en-US" sz="1600" dirty="0"/>
              <a:t>= (1</a:t>
            </a:r>
            <a:r>
              <a:rPr lang="en-US" sz="1600" i="1" dirty="0"/>
              <a:t>, </a:t>
            </a:r>
            <a:r>
              <a:rPr lang="en-US" sz="1600" dirty="0"/>
              <a:t>2</a:t>
            </a:r>
            <a:r>
              <a:rPr lang="en-US" sz="1600" i="1" dirty="0"/>
              <a:t>, </a:t>
            </a:r>
            <a:r>
              <a:rPr lang="en-US" sz="1600" dirty="0"/>
              <a:t>4</a:t>
            </a:r>
            <a:r>
              <a:rPr lang="en-US" sz="1600" i="1" dirty="0"/>
              <a:t>, </a:t>
            </a:r>
            <a:r>
              <a:rPr lang="en-US" sz="1600" dirty="0"/>
              <a:t>3</a:t>
            </a:r>
            <a:r>
              <a:rPr lang="en-US" sz="1600" i="1" dirty="0"/>
              <a:t>, </a:t>
            </a:r>
            <a:r>
              <a:rPr lang="en-US" sz="1600" dirty="0"/>
              <a:t>0</a:t>
            </a:r>
            <a:r>
              <a:rPr lang="en-US" sz="1600" i="1" dirty="0"/>
              <a:t>, </a:t>
            </a:r>
            <a:r>
              <a:rPr lang="en-US" sz="1600" dirty="0"/>
              <a:t>0</a:t>
            </a:r>
            <a:r>
              <a:rPr lang="en-US" sz="1600" i="1" dirty="0"/>
              <a:t>, </a:t>
            </a:r>
            <a:r>
              <a:rPr lang="en-US" sz="1600" dirty="0"/>
              <a:t>0), </a:t>
            </a:r>
            <a:r>
              <a:rPr lang="es-ES" sz="1600" b="1" dirty="0"/>
              <a:t>y </a:t>
            </a:r>
            <a:r>
              <a:rPr lang="es-ES" sz="1600" dirty="0"/>
              <a:t>= (1</a:t>
            </a:r>
            <a:r>
              <a:rPr lang="es-ES" sz="1600" i="1" dirty="0"/>
              <a:t>, </a:t>
            </a:r>
            <a:r>
              <a:rPr lang="es-ES" sz="1600" dirty="0"/>
              <a:t>2</a:t>
            </a:r>
            <a:r>
              <a:rPr lang="es-ES" sz="1600" i="1" dirty="0"/>
              <a:t>, </a:t>
            </a:r>
            <a:r>
              <a:rPr lang="es-ES" sz="1600" dirty="0"/>
              <a:t>3</a:t>
            </a:r>
            <a:r>
              <a:rPr lang="es-ES" sz="1600" i="1" dirty="0"/>
              <a:t>, </a:t>
            </a:r>
            <a:r>
              <a:rPr lang="es-ES" sz="1600" dirty="0"/>
              <a:t>4</a:t>
            </a:r>
            <a:r>
              <a:rPr lang="es-ES" sz="1600" i="1" dirty="0"/>
              <a:t>, </a:t>
            </a:r>
            <a:r>
              <a:rPr lang="es-ES" sz="1600" dirty="0"/>
              <a:t>0</a:t>
            </a:r>
            <a:r>
              <a:rPr lang="es-ES" sz="1600" i="1" dirty="0"/>
              <a:t>, </a:t>
            </a:r>
            <a:r>
              <a:rPr lang="es-ES" sz="1600" dirty="0"/>
              <a:t>0</a:t>
            </a:r>
            <a:r>
              <a:rPr lang="es-ES" sz="1600" i="1" dirty="0"/>
              <a:t>, </a:t>
            </a:r>
            <a:r>
              <a:rPr lang="es-ES" sz="1600" dirty="0"/>
              <a:t>0)</a:t>
            </a:r>
          </a:p>
          <a:p>
            <a:pPr lvl="1"/>
            <a:r>
              <a:rPr lang="en-US" sz="1600" b="1" dirty="0" err="1"/>
              <a:t>y</a:t>
            </a:r>
            <a:r>
              <a:rPr lang="en-US" sz="1600" b="1" baseline="-25000" dirty="0" err="1"/>
              <a:t>s</a:t>
            </a:r>
            <a:r>
              <a:rPr lang="en-US" sz="1600" b="1" baseline="-25000" dirty="0"/>
              <a:t>  </a:t>
            </a:r>
            <a:r>
              <a:rPr lang="en-US" sz="1600" b="1" dirty="0"/>
              <a:t>= y * 2 </a:t>
            </a:r>
            <a:r>
              <a:rPr lang="en-US" sz="1600" dirty="0"/>
              <a:t>(scaled version of y),  </a:t>
            </a:r>
            <a:r>
              <a:rPr lang="en-US" sz="1600" b="1" dirty="0" err="1"/>
              <a:t>y</a:t>
            </a:r>
            <a:r>
              <a:rPr lang="en-US" sz="1600" b="1" baseline="-25000" dirty="0" err="1"/>
              <a:t>t</a:t>
            </a:r>
            <a:r>
              <a:rPr lang="en-US" sz="1600" b="1" baseline="-25000" dirty="0"/>
              <a:t>  </a:t>
            </a:r>
            <a:r>
              <a:rPr lang="en-US" sz="1600" b="1" dirty="0"/>
              <a:t>= y + 5 </a:t>
            </a:r>
            <a:r>
              <a:rPr lang="en-US" sz="1600" dirty="0"/>
              <a:t>(translated version)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47BA8C3-7A0B-42B0-8D26-79BB9CEC2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010860"/>
              </p:ext>
            </p:extLst>
          </p:nvPr>
        </p:nvGraphicFramePr>
        <p:xfrm>
          <a:off x="914400" y="2240280"/>
          <a:ext cx="6248399" cy="1188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1687">
                  <a:extLst>
                    <a:ext uri="{9D8B030D-6E8A-4147-A177-3AD203B41FA5}">
                      <a16:colId xmlns:a16="http://schemas.microsoft.com/office/drawing/2014/main" val="3517952728"/>
                    </a:ext>
                  </a:extLst>
                </a:gridCol>
                <a:gridCol w="950843">
                  <a:extLst>
                    <a:ext uri="{9D8B030D-6E8A-4147-A177-3AD203B41FA5}">
                      <a16:colId xmlns:a16="http://schemas.microsoft.com/office/drawing/2014/main" val="922929771"/>
                    </a:ext>
                  </a:extLst>
                </a:gridCol>
                <a:gridCol w="1290430">
                  <a:extLst>
                    <a:ext uri="{9D8B030D-6E8A-4147-A177-3AD203B41FA5}">
                      <a16:colId xmlns:a16="http://schemas.microsoft.com/office/drawing/2014/main" val="2543322620"/>
                    </a:ext>
                  </a:extLst>
                </a:gridCol>
                <a:gridCol w="2105439">
                  <a:extLst>
                    <a:ext uri="{9D8B030D-6E8A-4147-A177-3AD203B41FA5}">
                      <a16:colId xmlns:a16="http://schemas.microsoft.com/office/drawing/2014/main" val="377702197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r>
                        <a:rPr lang="en-US" sz="1200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Euclidean 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28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Invariant to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scaling</a:t>
                      </a:r>
                      <a:r>
                        <a:rPr lang="en-US" sz="1200" dirty="0"/>
                        <a:t> (multiplication)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8362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200" dirty="0"/>
                        <a:t>Invariant to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translation</a:t>
                      </a:r>
                      <a:r>
                        <a:rPr lang="en-US" sz="1200" dirty="0"/>
                        <a:t> (addition)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91088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6869856-363E-4731-BC31-A8F9D8124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58570"/>
              </p:ext>
            </p:extLst>
          </p:nvPr>
        </p:nvGraphicFramePr>
        <p:xfrm>
          <a:off x="914400" y="4678680"/>
          <a:ext cx="5638800" cy="129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6157">
                  <a:extLst>
                    <a:ext uri="{9D8B030D-6E8A-4147-A177-3AD203B41FA5}">
                      <a16:colId xmlns:a16="http://schemas.microsoft.com/office/drawing/2014/main" val="3517952728"/>
                    </a:ext>
                  </a:extLst>
                </a:gridCol>
                <a:gridCol w="858078">
                  <a:extLst>
                    <a:ext uri="{9D8B030D-6E8A-4147-A177-3AD203B41FA5}">
                      <a16:colId xmlns:a16="http://schemas.microsoft.com/office/drawing/2014/main" val="922929771"/>
                    </a:ext>
                  </a:extLst>
                </a:gridCol>
                <a:gridCol w="1164535">
                  <a:extLst>
                    <a:ext uri="{9D8B030D-6E8A-4147-A177-3AD203B41FA5}">
                      <a16:colId xmlns:a16="http://schemas.microsoft.com/office/drawing/2014/main" val="2543322620"/>
                    </a:ext>
                  </a:extLst>
                </a:gridCol>
                <a:gridCol w="1900030">
                  <a:extLst>
                    <a:ext uri="{9D8B030D-6E8A-4147-A177-3AD203B41FA5}">
                      <a16:colId xmlns:a16="http://schemas.microsoft.com/office/drawing/2014/main" val="3777021973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r>
                        <a:rPr lang="en-US" sz="1200" dirty="0"/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y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</a:t>
                      </a:r>
                      <a:r>
                        <a:rPr lang="en-US" sz="1200" b="1" dirty="0" err="1"/>
                        <a:t>y</a:t>
                      </a:r>
                      <a:r>
                        <a:rPr lang="en-US" sz="1200" b="1" baseline="-25000" dirty="0" err="1"/>
                        <a:t>s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</a:t>
                      </a:r>
                      <a:r>
                        <a:rPr lang="en-US" sz="1200" b="1" dirty="0" err="1"/>
                        <a:t>y</a:t>
                      </a:r>
                      <a:r>
                        <a:rPr lang="en-US" sz="1200" b="1" baseline="-25000" dirty="0" err="1"/>
                        <a:t>t</a:t>
                      </a:r>
                      <a:r>
                        <a:rPr lang="en-US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28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0.9667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0.7940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836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91088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Euclidean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1.4142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5.8310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14.2127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692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723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D26EE2D-CA3C-4788-84BE-6EDB8B4D1D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利用词频比较两个文档的相似性，词频近似，则两个文档近似，应用哪种距离测度？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D3445F-2EEC-42CC-86AC-0C587F25984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欧氏距离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8D6438-650F-45BD-8137-F04213205D7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余弦距离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6A37BB-5CE7-4B09-86A7-225794549B2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相关系数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A7F203-CDB3-4C2D-886F-7D0794C8029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50788B-534F-486C-BEA5-527A6E55EAC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510630-419E-424E-B5C6-C0F6171A1FE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446F13F-E439-454F-9279-94109C9630D1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46A4ACC-219D-472F-8AC0-F5633BA61A94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9F0AB3BC-2B22-461E-89EA-5218ADA3CF6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D551BAE-AE27-441E-AC29-4CCE7969F03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8CF799F0-E688-4B0D-BFD9-AC992917DFDF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A435FC7D-7266-4C0A-83DA-3973DFC5AEF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B0B6D95-6D67-4880-B60F-DB143B25B1B7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2494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2D4D090-A774-4FC2-8EA3-39448FF1035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欧氏距离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22882-7A12-4F5F-98A3-1A67F64576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余弦距离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529A6A-D591-4483-AC5E-08505FE6D0C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相关系数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91BB8-C25B-41C0-93CD-C3D559A22AF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8CEB9E-BA0C-411F-90D0-57845A915A35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126484-D3B5-42C1-8B7F-E4E330B09BE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C9EC220-71BA-427C-97ED-1EAE311BDDF6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CEDC71-AD76-4A34-820C-F4B6B44F504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比较两个文档的相似性，考虑一组特定词语的出现次数比例，可用以下哪种相似性度量？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BA9919-AE1F-4DD5-8781-78C49EC52C29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B1F23B8A-AB81-4D4A-A23E-F744F845E50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D7444C1-688F-4A83-AFC5-B7E1BE4F580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6592D913-9A9A-425C-BEB2-4FD661388AA7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1CCB79A3-6418-4DC9-8C41-4BE946F94461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4ED3B69-E6A8-4849-9CF4-5E52C37F9275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23901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1A4F2E-046D-4425-88D8-DDA9CCC360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83153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比较两个地区某天的温度曲线（如一小时测量一次），如温度曲线的形状相似，则温度相似，例如，随时间变化的趋势相似、最高和最低温度出现的时刻接近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07465E-A380-480E-9DAF-0DF80DF8518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欧氏距离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0F0C10-3503-44A5-9A61-C3DCA449CE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余弦距离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22D5FD-FFF2-4967-B24B-893CE4BA38D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相关系数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E2E4F6-B78A-4328-A63C-1B9015D3882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6AD582-5BF6-48D7-86CD-33283BE97D2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7B119D-B112-49C0-8697-450C161E7BB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102AEBE-A7F8-4651-9ED9-63377B5F89F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052B50B-F5CE-4F4B-90B7-85996B100E0F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2945CC4-F0D8-4899-8E03-9E3437E46B3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A546E94-75F2-4365-9B13-3E98D72102B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79EB273-61E4-47BC-ABBE-7B12DFEBBAE0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6F032B0-BFBE-421D-90EB-3B9EB99D215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02ECAA8-39BB-4C11-8BBE-F96F284A84E1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2246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邻接测度的选择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应用领域</a:t>
            </a:r>
            <a:endParaRPr lang="en-US" dirty="0"/>
          </a:p>
          <a:p>
            <a:pPr lvl="1"/>
            <a:r>
              <a:rPr lang="zh-CN" altLang="en-US" dirty="0"/>
              <a:t>根据数据</a:t>
            </a:r>
            <a:r>
              <a:rPr lang="en-US" altLang="zh-CN" dirty="0"/>
              <a:t>/</a:t>
            </a:r>
            <a:r>
              <a:rPr lang="zh-CN" altLang="en-US" dirty="0"/>
              <a:t>属性选择测度</a:t>
            </a:r>
            <a:endParaRPr lang="en-US" dirty="0"/>
          </a:p>
          <a:p>
            <a:pPr lvl="1"/>
            <a:r>
              <a:rPr lang="zh-CN" altLang="en-US" dirty="0"/>
              <a:t>记录数据</a:t>
            </a:r>
            <a:r>
              <a:rPr lang="en-US" dirty="0"/>
              <a:t>, </a:t>
            </a:r>
            <a:r>
              <a:rPr lang="zh-CN" altLang="en-US" dirty="0"/>
              <a:t>图像</a:t>
            </a:r>
            <a:r>
              <a:rPr lang="en-US" dirty="0"/>
              <a:t>, </a:t>
            </a:r>
            <a:r>
              <a:rPr lang="zh-CN" altLang="en-US" dirty="0"/>
              <a:t>图</a:t>
            </a:r>
            <a:r>
              <a:rPr lang="en-US" dirty="0"/>
              <a:t>, </a:t>
            </a:r>
            <a:r>
              <a:rPr lang="zh-CN" altLang="en-US" dirty="0"/>
              <a:t>序列</a:t>
            </a:r>
            <a:r>
              <a:rPr lang="en-US" dirty="0"/>
              <a:t>, 3D</a:t>
            </a:r>
            <a:r>
              <a:rPr lang="zh-CN" altLang="en-US" dirty="0"/>
              <a:t>蛋白结构</a:t>
            </a:r>
            <a:r>
              <a:rPr lang="en-US" dirty="0"/>
              <a:t>, etc. </a:t>
            </a:r>
            <a:r>
              <a:rPr lang="zh-CN" altLang="en-US" dirty="0"/>
              <a:t>趋向于不同的距离测度</a:t>
            </a:r>
            <a:endParaRPr lang="en-US" dirty="0"/>
          </a:p>
          <a:p>
            <a:r>
              <a:rPr lang="zh-CN" altLang="en-US" dirty="0"/>
              <a:t>其他应考虑的额外因素：</a:t>
            </a:r>
            <a:endParaRPr lang="en-US" dirty="0"/>
          </a:p>
          <a:p>
            <a:pPr lvl="1"/>
            <a:r>
              <a:rPr lang="zh-CN" altLang="en-US" dirty="0"/>
              <a:t>对称</a:t>
            </a:r>
            <a:endParaRPr lang="en-US" dirty="0"/>
          </a:p>
          <a:p>
            <a:pPr lvl="1"/>
            <a:r>
              <a:rPr lang="zh-CN" altLang="en-US" dirty="0"/>
              <a:t>对噪声</a:t>
            </a:r>
            <a:r>
              <a:rPr lang="en-US" altLang="zh-CN" dirty="0"/>
              <a:t>/</a:t>
            </a:r>
            <a:r>
              <a:rPr lang="zh-CN" altLang="en-US" dirty="0"/>
              <a:t>离群点的鲁棒性</a:t>
            </a:r>
            <a:endParaRPr lang="en-US" dirty="0"/>
          </a:p>
          <a:p>
            <a:pPr lvl="1"/>
            <a:r>
              <a:rPr lang="zh-CN" altLang="en-US" dirty="0"/>
              <a:t>发现更多模式的能力</a:t>
            </a:r>
            <a:r>
              <a:rPr lang="en-US" dirty="0"/>
              <a:t>? </a:t>
            </a:r>
          </a:p>
          <a:p>
            <a:pPr lvl="1"/>
            <a:r>
              <a:rPr lang="zh-CN" altLang="en-US" dirty="0"/>
              <a:t>其他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距离测度必须适用于领域数据，并产生与领域知识一致的结果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310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基于信息的测度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信息论是一门发展完善、应用广泛的基础理论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基于信息的相似性测度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互信息</a:t>
            </a:r>
            <a:endParaRPr lang="en-US" dirty="0"/>
          </a:p>
          <a:p>
            <a:pPr lvl="1"/>
            <a:r>
              <a:rPr lang="zh-CN" altLang="en-US" dirty="0"/>
              <a:t>最大信息系数</a:t>
            </a:r>
            <a:endParaRPr lang="en-US" dirty="0"/>
          </a:p>
          <a:p>
            <a:pPr lvl="1"/>
            <a:r>
              <a:rPr lang="zh-CN" altLang="en-US" dirty="0"/>
              <a:t>能处理非线性关系</a:t>
            </a:r>
            <a:endParaRPr lang="en-US" dirty="0"/>
          </a:p>
          <a:p>
            <a:pPr lvl="1"/>
            <a:r>
              <a:rPr lang="zh-CN" altLang="en-US" dirty="0"/>
              <a:t>复杂、计算昂贵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5393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信息与概率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62" y="1143000"/>
            <a:ext cx="8580437" cy="5181600"/>
          </a:xfrm>
        </p:spPr>
        <p:txBody>
          <a:bodyPr>
            <a:normAutofit/>
          </a:bodyPr>
          <a:lstStyle/>
          <a:p>
            <a:r>
              <a:rPr lang="zh-CN" altLang="en-US" dirty="0"/>
              <a:t>信息与某事件可能的结果有关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发送信息</a:t>
            </a:r>
            <a:r>
              <a:rPr lang="en-US" dirty="0"/>
              <a:t>, </a:t>
            </a:r>
            <a:r>
              <a:rPr lang="zh-CN" altLang="en-US" dirty="0"/>
              <a:t>硬币</a:t>
            </a:r>
            <a:r>
              <a:rPr lang="en-US" altLang="zh-CN" dirty="0"/>
              <a:t>/</a:t>
            </a:r>
            <a:r>
              <a:rPr lang="zh-CN" altLang="en-US" dirty="0"/>
              <a:t>骰子</a:t>
            </a:r>
            <a:r>
              <a:rPr lang="en-US" dirty="0"/>
              <a:t>, or </a:t>
            </a:r>
            <a:r>
              <a:rPr lang="zh-CN" altLang="en-US" dirty="0"/>
              <a:t>数据的测量</a:t>
            </a:r>
            <a:br>
              <a:rPr lang="en-US" dirty="0"/>
            </a:br>
            <a:endParaRPr lang="en-US" dirty="0"/>
          </a:p>
          <a:p>
            <a:r>
              <a:rPr lang="zh-CN" altLang="en-US" dirty="0"/>
              <a:t>不确定性越高，信息越丰度</a:t>
            </a:r>
            <a:endParaRPr lang="en-US" dirty="0"/>
          </a:p>
          <a:p>
            <a:pPr lvl="1"/>
            <a:r>
              <a:rPr lang="en-US" dirty="0"/>
              <a:t>example, </a:t>
            </a:r>
            <a:r>
              <a:rPr lang="zh-CN" altLang="en-US" dirty="0"/>
              <a:t>硬币</a:t>
            </a:r>
            <a:r>
              <a:rPr lang="en-US" altLang="zh-CN" dirty="0"/>
              <a:t>vs</a:t>
            </a:r>
            <a:r>
              <a:rPr lang="zh-CN" altLang="en-US" dirty="0"/>
              <a:t>骰子</a:t>
            </a:r>
            <a:endParaRPr lang="en-US" dirty="0"/>
          </a:p>
          <a:p>
            <a:pPr lvl="1"/>
            <a:r>
              <a:rPr lang="zh-CN" altLang="en-US" dirty="0"/>
              <a:t>更定量地说，信息与结果的概率有关 </a:t>
            </a:r>
            <a:endParaRPr lang="en-US" altLang="zh-CN" dirty="0"/>
          </a:p>
          <a:p>
            <a:pPr lvl="2"/>
            <a:r>
              <a:rPr lang="zh-CN" altLang="en-US" dirty="0"/>
              <a:t>一个结果的概率越小，它提供的信息就越多，反之亦然</a:t>
            </a:r>
            <a:endParaRPr lang="en-US" dirty="0"/>
          </a:p>
          <a:p>
            <a:pPr lvl="1"/>
            <a:r>
              <a:rPr lang="zh-CN" altLang="en-US" dirty="0"/>
              <a:t>熵（</a:t>
            </a:r>
            <a:r>
              <a:rPr lang="en-US" altLang="zh-CN" dirty="0"/>
              <a:t>Entropy</a:t>
            </a:r>
            <a:r>
              <a:rPr lang="zh-CN" altLang="en-US" dirty="0"/>
              <a:t>）</a:t>
            </a:r>
            <a:r>
              <a:rPr lang="en-US" dirty="0"/>
              <a:t> </a:t>
            </a:r>
            <a:r>
              <a:rPr lang="zh-CN" altLang="en-US" dirty="0"/>
              <a:t>是最常用的测度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6248400" y="1600200"/>
            <a:ext cx="1371600" cy="685800"/>
            <a:chOff x="2514600" y="2895600"/>
            <a:chExt cx="3810000" cy="1905000"/>
          </a:xfrm>
        </p:grpSpPr>
        <p:pic>
          <p:nvPicPr>
            <p:cNvPr id="87044" name="Picture 4" descr="2012 Lincoln One-Cent Obvers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046" name="Picture 6" descr="2012 Lincoln One-Cent Revers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600200"/>
            <a:ext cx="912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500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</a:t>
            </a:r>
            <a:r>
              <a:rPr lang="en-US" altLang="zh-CN" dirty="0"/>
              <a:t>-</a:t>
            </a:r>
            <a:r>
              <a:rPr lang="zh-CN" altLang="en-US" dirty="0"/>
              <a:t>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318500" cy="51816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对于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zh-CN" altLang="en-US" dirty="0"/>
                  <a:t>变量（事件）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/>
                  <a:t>, </a:t>
                </a:r>
              </a:p>
              <a:p>
                <a:pPr lvl="1"/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n</a:t>
                </a:r>
                <a:r>
                  <a:rPr lang="en-US" dirty="0"/>
                  <a:t> </a:t>
                </a:r>
                <a:r>
                  <a:rPr lang="zh-CN" altLang="en-US" dirty="0"/>
                  <a:t>个可能的取值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x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, x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…, </a:t>
                </a:r>
                <a:r>
                  <a:rPr lang="en-US" i="1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x</a:t>
                </a:r>
                <a:r>
                  <a:rPr lang="en-US" i="1" baseline="-25000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n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</a:t>
                </a:r>
              </a:p>
              <a:p>
                <a:pPr lvl="1"/>
                <a:r>
                  <a:rPr lang="zh-CN" altLang="en-US" dirty="0"/>
                  <a:t>每一种值的概率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p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, p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…, </a:t>
                </a:r>
                <a:r>
                  <a:rPr lang="en-US" i="1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p</a:t>
                </a:r>
                <a:r>
                  <a:rPr lang="en-US" i="1" baseline="-25000" dirty="0" err="1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n</a:t>
                </a:r>
                <a:r>
                  <a:rPr lang="en-US" i="1" baseline="-25000" dirty="0">
                    <a:latin typeface="Times New Roman" pitchFamily="18" charset="0"/>
                    <a:ea typeface="Cambria Math" pitchFamily="18" charset="0"/>
                    <a:cs typeface="Times New Roman" pitchFamily="18" charset="0"/>
                  </a:rPr>
                  <a:t> </a:t>
                </a:r>
                <a:r>
                  <a:rPr lang="en-US" dirty="0"/>
                  <a:t>  </a:t>
                </a:r>
              </a:p>
              <a:p>
                <a:pPr lvl="1"/>
                <a:r>
                  <a:rPr lang="zh-CN" altLang="en-US" dirty="0"/>
                  <a:t>变量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 </a:t>
                </a:r>
                <a:r>
                  <a:rPr lang="zh-CN" altLang="en-US" dirty="0"/>
                  <a:t>的熵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H(X)</a:t>
                </a:r>
                <a:r>
                  <a:rPr lang="zh-CN" altLang="en-US" i="1" dirty="0">
                    <a:latin typeface="Times New Roman" pitchFamily="18" charset="0"/>
                    <a:cs typeface="Times New Roman" pitchFamily="18" charset="0"/>
                  </a:rPr>
                  <a:t>为：</a:t>
                </a:r>
                <a:endParaRPr lang="en-US" i="1" baseline="-25000" dirty="0">
                  <a:latin typeface="Times New Roman" pitchFamily="18" charset="0"/>
                  <a:ea typeface="Cambria Math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Entropy </a:t>
                </a:r>
                <a:r>
                  <a:rPr lang="zh-CN" altLang="en-US" dirty="0"/>
                  <a:t>取值从</a:t>
                </a:r>
                <a:r>
                  <a:rPr lang="en-US" dirty="0"/>
                  <a:t> 0 </a:t>
                </a:r>
                <a:r>
                  <a:rPr lang="zh-CN" altLang="en-US" dirty="0"/>
                  <a:t>到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log</a:t>
                </a:r>
                <a:r>
                  <a:rPr lang="en-US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n </a:t>
                </a:r>
                <a:r>
                  <a:rPr lang="zh-CN" altLang="en-US" dirty="0"/>
                  <a:t>，表征混乱程度</a:t>
                </a: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318500" cy="5181600"/>
              </a:xfrm>
              <a:blipFill>
                <a:blip r:embed="rId2"/>
                <a:stretch>
                  <a:fillRect l="-1099" t="-1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07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硬币正面概率为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zh-CN" altLang="en-US" i="1" dirty="0"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en-US" dirty="0"/>
                  <a:t> </a:t>
                </a:r>
                <a:r>
                  <a:rPr lang="zh-CN" altLang="en-US" dirty="0"/>
                  <a:t>反面概率为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q =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– p </a:t>
                </a:r>
                <a:endParaRPr lang="en-US" dirty="0"/>
              </a:p>
              <a:p>
                <a:endParaRPr lang="en-US" sz="1000" dirty="0"/>
              </a:p>
              <a:p>
                <a:pPr marL="10287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𝐻</m:t>
                      </m:r>
                      <m:r>
                        <a:rPr lang="en-US" b="0" i="1" smtClean="0">
                          <a:latin typeface="Cambria Math"/>
                        </a:rPr>
                        <m:t>=−</m:t>
                      </m:r>
                      <m:r>
                        <a:rPr lang="en-US" b="0" i="1" smtClean="0">
                          <a:latin typeface="Cambria Math"/>
                        </a:rPr>
                        <m:t>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</m:e>
                      </m:func>
                      <m:r>
                        <a:rPr lang="en-US" b="0" i="1" smtClean="0">
                          <a:latin typeface="Cambria Math"/>
                        </a:rPr>
                        <m:t>𝑞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028700" indent="0">
                  <a:buNone/>
                </a:pPr>
                <a:endParaRPr lang="en-US" sz="1000" dirty="0"/>
              </a:p>
              <a:p>
                <a:pPr lvl="1"/>
                <a:r>
                  <a:rPr lang="zh-CN" altLang="en-US" dirty="0"/>
                  <a:t>如果</a:t>
                </a:r>
                <a:r>
                  <a:rPr lang="en-US" dirty="0"/>
                  <a:t>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 0.5,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= 0.5 </a:t>
                </a:r>
                <a:r>
                  <a:rPr lang="en-US" dirty="0"/>
                  <a:t>(fair coin)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 1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zh-CN" altLang="en-US" dirty="0"/>
                  <a:t>如果</a:t>
                </a:r>
                <a:r>
                  <a:rPr lang="en-US" dirty="0"/>
                  <a:t>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= 1 or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= 1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 0</a:t>
                </a:r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26" t="-1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2547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采样数据的熵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Maximum entropy is log</a:t>
            </a:r>
            <a:r>
              <a:rPr lang="en-US" baseline="-25000" dirty="0"/>
              <a:t>2</a:t>
            </a:r>
            <a:r>
              <a:rPr lang="en-US" dirty="0"/>
              <a:t>5 = 2.3219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44711"/>
              </p:ext>
            </p:extLst>
          </p:nvPr>
        </p:nvGraphicFramePr>
        <p:xfrm>
          <a:off x="762000" y="1295400"/>
          <a:ext cx="6096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Hair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6622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采样数据的熵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假如我们有：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X </a:t>
                </a:r>
                <a:r>
                  <a:rPr lang="zh-CN" altLang="en-US" dirty="0"/>
                  <a:t>中包含 </a:t>
                </a:r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dirty="0"/>
                  <a:t> </a:t>
                </a:r>
                <a:r>
                  <a:rPr lang="zh-CN" altLang="en-US" dirty="0"/>
                  <a:t>个样本</a:t>
                </a:r>
                <a:r>
                  <a:rPr lang="en-US" dirty="0"/>
                  <a:t>, e.g., </a:t>
                </a:r>
                <a:r>
                  <a:rPr lang="zh-CN" altLang="en-US" dirty="0"/>
                  <a:t>班级中同学头发的颜色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zh-CN" altLang="en-US" dirty="0"/>
                  <a:t>共有 </a:t>
                </a:r>
                <a:r>
                  <a:rPr lang="en-US" i="1" dirty="0">
                    <a:latin typeface="Cambria" pitchFamily="18" charset="0"/>
                  </a:rPr>
                  <a:t>n</a:t>
                </a:r>
                <a:r>
                  <a:rPr lang="en-US" dirty="0"/>
                  <a:t> </a:t>
                </a:r>
                <a:r>
                  <a:rPr lang="zh-CN" altLang="en-US" dirty="0"/>
                  <a:t>种不同的取值</a:t>
                </a:r>
                <a:endParaRPr lang="en-US" dirty="0"/>
              </a:p>
              <a:p>
                <a:pPr lvl="1"/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</a:t>
                </a:r>
                <a:r>
                  <a:rPr lang="zh-CN" altLang="en-US" dirty="0"/>
                  <a:t>类的数量为</a:t>
                </a:r>
                <a:r>
                  <a:rPr lang="en-US" dirty="0"/>
                  <a:t>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i="1" baseline="-25000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baseline="-25000" dirty="0"/>
              </a:p>
              <a:p>
                <a:pPr lvl="1"/>
                <a:r>
                  <a:rPr lang="zh-CN" altLang="en-US" dirty="0"/>
                  <a:t>则该组数据的熵为：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6" t="-1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1861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</a:t>
            </a:r>
            <a:r>
              <a:rPr lang="en-US" altLang="zh-CN" dirty="0"/>
              <a:t>-</a:t>
            </a:r>
            <a:r>
              <a:rPr lang="zh-CN" altLang="en-US" dirty="0"/>
              <a:t>互信息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互信息表示确定一个变量可为另一个变量提供的信息量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𝑌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H(X,Y)</a:t>
                </a:r>
                <a:r>
                  <a:rPr lang="en-US" dirty="0"/>
                  <a:t> </a:t>
                </a:r>
                <a:r>
                  <a:rPr lang="zh-CN" altLang="en-US" dirty="0"/>
                  <a:t>是 </a:t>
                </a:r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zh-CN" altLang="en-US" dirty="0"/>
                  <a:t>联合熵：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𝑝</m:t>
                                      </m:r>
                                      <m:r>
                                        <a:rPr lang="en-US" i="1" baseline="-25000">
                                          <a:latin typeface="Cambria Math"/>
                                        </a:rPr>
                                        <m:t>𝑖𝑗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lang="en-US" i="1" baseline="-25000">
                                      <a:latin typeface="Cambria Math"/>
                                    </a:rPr>
                                    <m:t>𝑖𝑗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zh-CN" altLang="en-US" sz="2900" dirty="0"/>
                  <a:t>其中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i="1" baseline="-25000" dirty="0" err="1">
                    <a:latin typeface="Times New Roman" pitchFamily="18" charset="0"/>
                    <a:cs typeface="Times New Roman" pitchFamily="18" charset="0"/>
                  </a:rPr>
                  <a:t>ij</a:t>
                </a:r>
                <a:r>
                  <a:rPr lang="en-US" dirty="0"/>
                  <a:t> </a:t>
                </a:r>
                <a:r>
                  <a:rPr lang="zh-CN" altLang="en-US" dirty="0"/>
                  <a:t>是</a:t>
                </a:r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中</a:t>
                </a:r>
                <a:r>
                  <a:rPr lang="en-US" altLang="zh-CN" i="1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CN" baseline="30000" dirty="0" err="1"/>
                  <a:t>th</a:t>
                </a:r>
                <a:r>
                  <a:rPr lang="en-US" altLang="zh-CN" baseline="30000" dirty="0"/>
                  <a:t> </a:t>
                </a:r>
                <a:r>
                  <a:rPr lang="en-US" dirty="0"/>
                  <a:t> </a:t>
                </a:r>
                <a:r>
                  <a:rPr lang="zh-CN" altLang="en-US" dirty="0"/>
                  <a:t>个值与</a:t>
                </a:r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zh-CN" altLang="en-US" dirty="0"/>
                  <a:t>中</a:t>
                </a:r>
                <a:r>
                  <a:rPr lang="en-US" altLang="zh-CN" i="1" dirty="0" err="1"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altLang="zh-CN" baseline="30000" dirty="0" err="1"/>
                  <a:t>th</a:t>
                </a:r>
                <a:r>
                  <a:rPr lang="en-US" altLang="zh-CN" baseline="30000" dirty="0"/>
                  <a:t> 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个值共同出现的概率</a:t>
                </a: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538" t="-1294" r="-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80139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Mutual Information-</a:t>
            </a:r>
            <a:r>
              <a:rPr lang="zh-CN" altLang="en-US" dirty="0"/>
              <a:t>互信息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716" y="1219200"/>
            <a:ext cx="4343400" cy="38461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267200" y="1524000"/>
            <a:ext cx="4876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0" dirty="0"/>
              <a:t>互信息指的是两个随机变量之间的关联程度：即给定一个随机变量后，另一个随机变量不确定性的削弱程度。</a:t>
            </a:r>
            <a:endParaRPr lang="en-US" altLang="zh-CN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0" dirty="0"/>
              <a:t>互信息取值最小为</a:t>
            </a:r>
            <a:r>
              <a:rPr lang="en-US" altLang="zh-CN" sz="2400" b="0" dirty="0"/>
              <a:t>0</a:t>
            </a:r>
            <a:r>
              <a:rPr lang="zh-CN" altLang="en-US" sz="2400" b="0" dirty="0"/>
              <a:t>，意味着给定一个随机变量对确定另一个随机变量没有关系。</a:t>
            </a:r>
            <a:endParaRPr lang="en-US" altLang="zh-CN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0" dirty="0"/>
              <a:t>最大取值为随机变量的熵，意味着给定一个随机变量，能完全消除另一个随机变量的不确定性。</a:t>
            </a:r>
            <a:endParaRPr lang="en-US" altLang="zh-CN" sz="2400" b="0" dirty="0"/>
          </a:p>
        </p:txBody>
      </p:sp>
      <p:sp>
        <p:nvSpPr>
          <p:cNvPr id="3" name="文本框 2"/>
          <p:cNvSpPr txBox="1"/>
          <p:nvPr/>
        </p:nvSpPr>
        <p:spPr>
          <a:xfrm>
            <a:off x="1404635" y="5598776"/>
            <a:ext cx="5415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最小值为</a:t>
            </a:r>
            <a:r>
              <a:rPr lang="en-US" altLang="zh-CN" sz="2400" dirty="0"/>
              <a:t>0</a:t>
            </a:r>
            <a:r>
              <a:rPr lang="zh-CN" altLang="en-US" sz="2400" dirty="0"/>
              <a:t>，最大值为</a:t>
            </a:r>
            <a:r>
              <a:rPr lang="en-US" altLang="zh-CN" sz="2400" dirty="0"/>
              <a:t>log2min{</a:t>
            </a:r>
            <a:r>
              <a:rPr lang="en-US" altLang="zh-CN" sz="2400" dirty="0" err="1"/>
              <a:t>n</a:t>
            </a:r>
            <a:r>
              <a:rPr lang="en-US" altLang="zh-CN" sz="1200" dirty="0" err="1"/>
              <a:t>X</a:t>
            </a:r>
            <a:r>
              <a:rPr lang="en-US" altLang="zh-CN" sz="2400" dirty="0" err="1"/>
              <a:t>,n</a:t>
            </a:r>
            <a:r>
              <a:rPr lang="en-US" altLang="zh-CN" sz="1200" dirty="0" err="1"/>
              <a:t>Y</a:t>
            </a:r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44815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483945"/>
              </p:ext>
            </p:extLst>
          </p:nvPr>
        </p:nvGraphicFramePr>
        <p:xfrm>
          <a:off x="152400" y="1219200"/>
          <a:ext cx="37338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0.4744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0.9928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138903"/>
              </p:ext>
            </p:extLst>
          </p:nvPr>
        </p:nvGraphicFramePr>
        <p:xfrm>
          <a:off x="152400" y="3276600"/>
          <a:ext cx="3733800" cy="1752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556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0.5301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748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1.4406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96470"/>
              </p:ext>
            </p:extLst>
          </p:nvPr>
        </p:nvGraphicFramePr>
        <p:xfrm>
          <a:off x="4267200" y="1219201"/>
          <a:ext cx="4724400" cy="35283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557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48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86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0.4644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2.2710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3400" y="5486400"/>
            <a:ext cx="8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Mutual information of Student Status and Grade =  0.9928 + 1.4406 - 2.2710 = 0.1624</a:t>
            </a:r>
          </a:p>
        </p:txBody>
      </p:sp>
    </p:spTree>
    <p:extLst>
      <p:ext uri="{BB962C8B-B14F-4D97-AF65-F5344CB8AC3E}">
        <p14:creationId xmlns:p14="http://schemas.microsoft.com/office/powerpoint/2010/main" val="34899299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75" y="4267200"/>
            <a:ext cx="55308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联合不同相似性的一般方法</a:t>
            </a:r>
            <a:endParaRPr lang="en-US" sz="2800" dirty="0"/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351837" cy="4800600"/>
          </a:xfrm>
        </p:spPr>
        <p:txBody>
          <a:bodyPr/>
          <a:lstStyle/>
          <a:p>
            <a:pPr marL="533400" indent="-533400">
              <a:spcBef>
                <a:spcPct val="20000"/>
              </a:spcBef>
              <a:buSzPct val="85000"/>
            </a:pPr>
            <a:r>
              <a:rPr lang="zh-CN" altLang="en-US" sz="2400" dirty="0"/>
              <a:t>对象包含不同种类的属性，但需要一个整体的相似性测度</a:t>
            </a:r>
            <a:endParaRPr lang="en-US" sz="2400" dirty="0"/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1: </a:t>
            </a:r>
            <a:r>
              <a:rPr lang="zh-CN" altLang="en-US" sz="2400" dirty="0"/>
              <a:t>对每一个属性计算相似度</a:t>
            </a:r>
            <a:r>
              <a:rPr lang="en-US" sz="2400" dirty="0"/>
              <a:t>, </a:t>
            </a:r>
            <a:r>
              <a:rPr lang="en-US" sz="2400" i="1" dirty="0" err="1">
                <a:latin typeface="Times New Roman" pitchFamily="18" charset="0"/>
              </a:rPr>
              <a:t>s</a:t>
            </a:r>
            <a:r>
              <a:rPr lang="en-US" sz="2400" i="1" baseline="-25000" dirty="0" err="1">
                <a:latin typeface="Times New Roman" pitchFamily="18" charset="0"/>
              </a:rPr>
              <a:t>k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b="1" dirty="0">
                <a:latin typeface="Times New Roman" pitchFamily="18" charset="0"/>
              </a:rPr>
              <a:t>x</a:t>
            </a:r>
            <a:r>
              <a:rPr lang="en-US" sz="2400" dirty="0">
                <a:latin typeface="Times New Roman" pitchFamily="18" charset="0"/>
              </a:rPr>
              <a:t>, </a:t>
            </a:r>
            <a:r>
              <a:rPr lang="en-US" sz="2400" b="1" dirty="0">
                <a:latin typeface="Times New Roman" pitchFamily="18" charset="0"/>
              </a:rPr>
              <a:t>y</a:t>
            </a:r>
            <a:r>
              <a:rPr lang="en-US" sz="2400" dirty="0">
                <a:latin typeface="Times New Roman" pitchFamily="18" charset="0"/>
              </a:rPr>
              <a:t>)</a:t>
            </a:r>
            <a:r>
              <a:rPr lang="en-US" sz="2400" dirty="0"/>
              <a:t>.</a:t>
            </a:r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2: </a:t>
            </a:r>
            <a:r>
              <a:rPr lang="zh-CN" altLang="en-US" sz="2400" dirty="0"/>
              <a:t>定义一个系数</a:t>
            </a:r>
            <a:r>
              <a:rPr lang="en-US" sz="2400" dirty="0"/>
              <a:t>, </a:t>
            </a:r>
            <a:r>
              <a:rPr lang="en-US" sz="2400" dirty="0">
                <a:sym typeface="Symbol" pitchFamily="18" charset="2"/>
              </a:rPr>
              <a:t></a:t>
            </a:r>
            <a:r>
              <a:rPr lang="en-US" sz="2400" i="1" baseline="-25000" dirty="0">
                <a:latin typeface="Times New Roman" pitchFamily="18" charset="0"/>
              </a:rPr>
              <a:t>k</a:t>
            </a:r>
            <a:r>
              <a:rPr lang="en-US" sz="2400" dirty="0"/>
              <a:t>:</a:t>
            </a:r>
          </a:p>
          <a:p>
            <a:pPr marL="990600" lvl="1" indent="-533400">
              <a:buNone/>
            </a:pPr>
            <a:r>
              <a:rPr lang="en-US" sz="2200" dirty="0">
                <a:sym typeface="Symbol" pitchFamily="18" charset="2"/>
              </a:rPr>
              <a:t></a:t>
            </a:r>
            <a:r>
              <a:rPr lang="en-US" sz="2200" i="1" baseline="-25000" dirty="0">
                <a:latin typeface="Times New Roman" pitchFamily="18" charset="0"/>
              </a:rPr>
              <a:t>k</a:t>
            </a:r>
            <a:r>
              <a:rPr lang="en-US" sz="2200" dirty="0"/>
              <a:t> = 0 </a:t>
            </a:r>
            <a:r>
              <a:rPr lang="zh-CN" altLang="en-US" sz="2200" dirty="0"/>
              <a:t>如果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/>
              <a:t> </a:t>
            </a:r>
            <a:r>
              <a:rPr lang="zh-CN" altLang="en-US" sz="2200" dirty="0"/>
              <a:t>个属性是一种不对称属性，且两个对象的值有</a:t>
            </a:r>
            <a:r>
              <a:rPr lang="en-US" altLang="zh-CN" sz="2200" dirty="0"/>
              <a:t>0</a:t>
            </a:r>
            <a:r>
              <a:rPr lang="zh-CN" altLang="en-US" sz="2200" dirty="0"/>
              <a:t>或者有缺失</a:t>
            </a:r>
            <a:endParaRPr lang="en-US" altLang="zh-CN" sz="2200" dirty="0"/>
          </a:p>
          <a:p>
            <a:pPr marL="990600" lvl="1" indent="-533400">
              <a:buNone/>
            </a:pPr>
            <a:r>
              <a:rPr lang="en-US" sz="2200" dirty="0">
                <a:sym typeface="Symbol" pitchFamily="18" charset="2"/>
              </a:rPr>
              <a:t></a:t>
            </a:r>
            <a:r>
              <a:rPr lang="en-US" sz="2200" i="1" baseline="-25000" dirty="0">
                <a:latin typeface="Times New Roman" pitchFamily="18" charset="0"/>
              </a:rPr>
              <a:t>k</a:t>
            </a:r>
            <a:r>
              <a:rPr lang="en-US" sz="2200" dirty="0"/>
              <a:t> = 1 otherwise</a:t>
            </a:r>
          </a:p>
          <a:p>
            <a:pPr marL="533400" indent="-533400">
              <a:buFont typeface="Monotype Sorts" charset="2"/>
              <a:buNone/>
            </a:pPr>
            <a:r>
              <a:rPr lang="en-US" sz="2400" dirty="0"/>
              <a:t>3. </a:t>
            </a:r>
            <a:r>
              <a:rPr lang="zh-CN" altLang="en-US" sz="2400" dirty="0"/>
              <a:t>计算对象的相似度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92419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通过权重联合不同相似性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9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属性间的重要性程度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zh-CN" altLang="en-US" dirty="0"/>
                  <a:t>定义非负权重</a:t>
                </a:r>
                <a:r>
                  <a:rPr lang="en-US" dirty="0">
                    <a:sym typeface="Symbol"/>
                  </a:rPr>
                  <a:t>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𝜔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𝑠𝑖𝑚𝑖𝑙𝑎𝑟𝑖𝑡𝑦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/>
                          </a:rPr>
                          <m:t>𝐱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1">
                            <a:latin typeface="Cambria Math"/>
                          </a:rPr>
                          <m:t>𝐲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r>
                              <a:rPr lang="en-US" b="1">
                                <a:latin typeface="Cambria Math"/>
                              </a:rPr>
                              <m:t>𝐱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b="1">
                                <a:latin typeface="Cambria Math"/>
                              </a:rPr>
                              <m:t>𝐲</m:t>
                            </m:r>
                            <m:r>
                              <a:rPr lang="en-US" i="1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zh-CN" altLang="en-US" dirty="0"/>
                  <a:t>也可以在距离测度中使用加权的方法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08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 l="-1026" t="-1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901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5119688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19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  <a:endParaRPr 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Aggregation</a:t>
            </a:r>
            <a:r>
              <a:rPr lang="en-US" altLang="zh-CN" dirty="0"/>
              <a:t>—</a:t>
            </a:r>
            <a:r>
              <a:rPr lang="zh-CN" altLang="en-US" dirty="0"/>
              <a:t>聚合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Sampling</a:t>
            </a:r>
            <a:r>
              <a:rPr lang="en-US" altLang="zh-CN" dirty="0"/>
              <a:t>—</a:t>
            </a:r>
            <a:r>
              <a:rPr lang="zh-CN" altLang="en-US" dirty="0"/>
              <a:t>采样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Discretization and </a:t>
            </a:r>
            <a:r>
              <a:rPr lang="en-US" dirty="0" err="1"/>
              <a:t>Binarization</a:t>
            </a:r>
            <a:r>
              <a:rPr lang="en-US" altLang="zh-CN" dirty="0"/>
              <a:t>—</a:t>
            </a:r>
            <a:r>
              <a:rPr lang="zh-CN" altLang="en-US" dirty="0"/>
              <a:t>离散化、二值化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Attribute Transformation</a:t>
            </a:r>
            <a:r>
              <a:rPr lang="en-US" altLang="zh-CN" dirty="0"/>
              <a:t>—</a:t>
            </a:r>
            <a:r>
              <a:rPr lang="zh-CN" altLang="en-US" dirty="0"/>
              <a:t>特征变换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Dimensionality Reduction</a:t>
            </a:r>
            <a:r>
              <a:rPr lang="en-US" altLang="zh-CN" dirty="0"/>
              <a:t>—</a:t>
            </a:r>
            <a:r>
              <a:rPr lang="zh-CN" altLang="en-US" dirty="0"/>
              <a:t>降维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Feature subset selection</a:t>
            </a:r>
            <a:r>
              <a:rPr lang="en-US" altLang="zh-CN" dirty="0"/>
              <a:t>—</a:t>
            </a:r>
            <a:r>
              <a:rPr lang="zh-CN" altLang="en-US" dirty="0"/>
              <a:t>特征子集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Feature creation</a:t>
            </a:r>
            <a:r>
              <a:rPr lang="en-US" altLang="zh-CN" dirty="0"/>
              <a:t>—</a:t>
            </a:r>
            <a:r>
              <a:rPr lang="zh-CN" altLang="en-US" dirty="0"/>
              <a:t>创造特征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  <a:r>
              <a:rPr lang="en-US" altLang="zh-CN" dirty="0"/>
              <a:t>——</a:t>
            </a:r>
            <a:r>
              <a:rPr lang="zh-CN" altLang="en-US"/>
              <a:t>聚合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将两个或者多个特征</a:t>
            </a:r>
            <a:r>
              <a:rPr lang="en-US" altLang="zh-CN" dirty="0"/>
              <a:t>/</a:t>
            </a:r>
            <a:r>
              <a:rPr lang="zh-CN" altLang="en-US" dirty="0"/>
              <a:t>对象合并为</a:t>
            </a:r>
            <a:r>
              <a:rPr lang="en-US" altLang="zh-CN" dirty="0"/>
              <a:t>1</a:t>
            </a:r>
            <a:r>
              <a:rPr lang="zh-CN" altLang="en-US" dirty="0"/>
              <a:t>个特征</a:t>
            </a:r>
            <a:r>
              <a:rPr lang="en-US" altLang="zh-CN" dirty="0"/>
              <a:t>/</a:t>
            </a:r>
            <a:r>
              <a:rPr lang="zh-CN" altLang="en-US" dirty="0"/>
              <a:t>对象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目的</a:t>
            </a:r>
            <a:endParaRPr lang="en-US" dirty="0"/>
          </a:p>
          <a:p>
            <a:pPr lvl="1"/>
            <a:r>
              <a:rPr lang="zh-CN" altLang="en-US" dirty="0"/>
              <a:t>减少数据量</a:t>
            </a:r>
            <a:endParaRPr lang="en-US" dirty="0"/>
          </a:p>
          <a:p>
            <a:pPr lvl="2"/>
            <a:r>
              <a:rPr lang="en-US" sz="2200" dirty="0"/>
              <a:t> </a:t>
            </a:r>
            <a:r>
              <a:rPr lang="zh-CN" altLang="en-US" sz="2200" dirty="0"/>
              <a:t>减少属性或者对象的数据量</a:t>
            </a:r>
            <a:endParaRPr lang="en-US" sz="2200" dirty="0"/>
          </a:p>
          <a:p>
            <a:pPr lvl="1"/>
            <a:r>
              <a:rPr lang="zh-CN" altLang="en-US" dirty="0"/>
              <a:t>尺度变换</a:t>
            </a:r>
            <a:endParaRPr lang="en-US" dirty="0"/>
          </a:p>
          <a:p>
            <a:pPr lvl="2"/>
            <a:r>
              <a:rPr lang="en-US" sz="2200" dirty="0"/>
              <a:t> </a:t>
            </a:r>
            <a:r>
              <a:rPr lang="zh-CN" altLang="en-US" sz="2200" dirty="0"/>
              <a:t>城市聚合为地区、国家</a:t>
            </a:r>
            <a:r>
              <a:rPr lang="en-US" sz="2200" dirty="0"/>
              <a:t>.</a:t>
            </a:r>
          </a:p>
          <a:p>
            <a:pPr lvl="2"/>
            <a:r>
              <a:rPr lang="en-US" sz="2200" dirty="0"/>
              <a:t> </a:t>
            </a:r>
            <a:r>
              <a:rPr lang="zh-CN" altLang="en-US" sz="2200" dirty="0"/>
              <a:t>天聚合为周、月、年</a:t>
            </a:r>
            <a:endParaRPr lang="en-US" sz="2200" dirty="0"/>
          </a:p>
          <a:p>
            <a:pPr lvl="1"/>
            <a:r>
              <a:rPr lang="zh-CN" altLang="en-US" dirty="0"/>
              <a:t>数据更稳定</a:t>
            </a:r>
            <a:endParaRPr lang="en-US" dirty="0"/>
          </a:p>
          <a:p>
            <a:pPr lvl="2"/>
            <a:r>
              <a:rPr lang="en-US" sz="2200" dirty="0"/>
              <a:t> </a:t>
            </a:r>
            <a:r>
              <a:rPr lang="zh-CN" altLang="en-US" sz="2200" dirty="0"/>
              <a:t>聚合后的数据变化更小</a:t>
            </a:r>
            <a:r>
              <a:rPr lang="en-US" sz="2200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</a:t>
            </a:r>
            <a:r>
              <a:rPr lang="zh-CN" altLang="en-US" dirty="0"/>
              <a:t>澳大利亚降水量</a:t>
            </a:r>
            <a:endParaRPr lang="en-US" dirty="0"/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1257300" y="5464499"/>
            <a:ext cx="4038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dirty="0"/>
              <a:t>月平均降水量的标准差</a:t>
            </a:r>
            <a:endParaRPr lang="en-US" sz="1800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5638800" y="5464499"/>
            <a:ext cx="3429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dirty="0"/>
              <a:t>年平均降水量的标准差</a:t>
            </a:r>
            <a:endParaRPr lang="en-US" sz="1800" dirty="0"/>
          </a:p>
        </p:txBody>
      </p:sp>
      <p:pic>
        <p:nvPicPr>
          <p:cNvPr id="33799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18164" b="5911"/>
          <a:stretch/>
        </p:blipFill>
        <p:spPr bwMode="auto">
          <a:xfrm>
            <a:off x="152400" y="1768475"/>
            <a:ext cx="4038600" cy="361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9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5850" b="6668"/>
          <a:stretch/>
        </p:blipFill>
        <p:spPr bwMode="auto">
          <a:xfrm>
            <a:off x="4648200" y="1768476"/>
            <a:ext cx="4495800" cy="35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533400" y="1143000"/>
            <a:ext cx="601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zh-CN" altLang="en-US" sz="2400" dirty="0"/>
              <a:t>澳大利亚自</a:t>
            </a:r>
            <a:r>
              <a:rPr lang="en-US" altLang="zh-CN" sz="2400" dirty="0"/>
              <a:t>1982 </a:t>
            </a:r>
            <a:r>
              <a:rPr lang="zh-CN" altLang="en-US" sz="2400" dirty="0"/>
              <a:t>到</a:t>
            </a:r>
            <a:r>
              <a:rPr lang="en-US" altLang="zh-CN" sz="2400" dirty="0"/>
              <a:t> 1993</a:t>
            </a:r>
            <a:r>
              <a:rPr lang="zh-CN" altLang="en-US" sz="2400" dirty="0"/>
              <a:t>的降水量</a:t>
            </a:r>
            <a:r>
              <a:rPr lang="en-US" altLang="zh-CN" sz="2400" dirty="0"/>
              <a:t>.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 dirty="0"/>
              <a:t>Sampling</a:t>
            </a:r>
            <a:r>
              <a:rPr lang="en-US" altLang="zh-CN" dirty="0"/>
              <a:t>——</a:t>
            </a:r>
            <a:r>
              <a:rPr lang="zh-CN" altLang="en-US" dirty="0"/>
              <a:t>采样</a:t>
            </a:r>
            <a:r>
              <a:rPr lang="en-US" dirty="0"/>
              <a:t>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143000"/>
            <a:ext cx="8394700" cy="5029200"/>
          </a:xfrm>
          <a:noFill/>
        </p:spPr>
        <p:txBody>
          <a:bodyPr>
            <a:normAutofit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zh-CN" altLang="en-US" dirty="0">
                <a:ea typeface="MS Mincho" pitchFamily="49" charset="-128"/>
              </a:rPr>
              <a:t>减少数据量的主要方法</a:t>
            </a:r>
            <a:r>
              <a:rPr lang="en-US" dirty="0">
                <a:ea typeface="MS Mincho" pitchFamily="49" charset="-128"/>
              </a:rPr>
              <a:t>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zh-CN" altLang="en-US" dirty="0">
                <a:ea typeface="MS Mincho" pitchFamily="49" charset="-128"/>
              </a:rPr>
              <a:t>前处理、后处理都可用到</a:t>
            </a:r>
            <a:endParaRPr lang="en-US" dirty="0">
              <a:ea typeface="MS Mincho" pitchFamily="49" charset="-128"/>
            </a:endParaRP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>
                <a:ea typeface="MS Mincho" pitchFamily="49" charset="-128"/>
              </a:rPr>
              <a:t> </a:t>
            </a:r>
            <a:endParaRPr lang="en-US" sz="2000" dirty="0"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zh-CN" altLang="en-US" dirty="0">
                <a:cs typeface="Times New Roman" pitchFamily="18" charset="0"/>
              </a:rPr>
              <a:t>采样的原因：</a:t>
            </a:r>
            <a:endParaRPr lang="en-US" altLang="zh-CN" dirty="0">
              <a:cs typeface="Times New Roman" pitchFamily="18" charset="0"/>
            </a:endParaRPr>
          </a:p>
          <a:p>
            <a:pPr marL="793750" lvl="1" indent="-285750" algn="just">
              <a:lnSpc>
                <a:spcPct val="95000"/>
              </a:lnSpc>
              <a:spcBef>
                <a:spcPct val="20000"/>
              </a:spcBef>
            </a:pPr>
            <a:r>
              <a:rPr lang="zh-CN" altLang="en-US" dirty="0">
                <a:cs typeface="Times New Roman" pitchFamily="18" charset="0"/>
              </a:rPr>
              <a:t>获取整个数据集比较困难</a:t>
            </a:r>
            <a:r>
              <a:rPr lang="en-US" dirty="0">
                <a:cs typeface="Times New Roman" pitchFamily="18" charset="0"/>
              </a:rPr>
              <a:t>.</a:t>
            </a:r>
          </a:p>
          <a:p>
            <a:pPr marL="908050" lvl="2" indent="-285750" algn="just">
              <a:lnSpc>
                <a:spcPct val="95000"/>
              </a:lnSpc>
              <a:spcBef>
                <a:spcPct val="20000"/>
              </a:spcBef>
            </a:pPr>
            <a:r>
              <a:rPr lang="zh-CN" altLang="en-US" dirty="0">
                <a:cs typeface="Times New Roman" pitchFamily="18" charset="0"/>
              </a:rPr>
              <a:t>人口普查</a:t>
            </a:r>
            <a:endParaRPr lang="en-US" dirty="0">
              <a:cs typeface="Times New Roman" pitchFamily="18" charset="0"/>
            </a:endParaRPr>
          </a:p>
          <a:p>
            <a:pPr marL="793750" lvl="1" indent="-285750" algn="just">
              <a:lnSpc>
                <a:spcPct val="95000"/>
              </a:lnSpc>
              <a:spcBef>
                <a:spcPct val="20000"/>
              </a:spcBef>
            </a:pPr>
            <a:r>
              <a:rPr lang="zh-CN" altLang="en-US" dirty="0">
                <a:cs typeface="Times New Roman" pitchFamily="18" charset="0"/>
              </a:rPr>
              <a:t>处理整个数据集比较费时，计算资源不足</a:t>
            </a:r>
            <a:r>
              <a:rPr lang="en-US" dirty="0">
                <a:cs typeface="Times New Roman" pitchFamily="18" charset="0"/>
              </a:rPr>
              <a:t>.</a:t>
            </a:r>
          </a:p>
          <a:p>
            <a:pPr marL="908050" lvl="2" indent="-285750" algn="just">
              <a:lnSpc>
                <a:spcPct val="95000"/>
              </a:lnSpc>
              <a:spcBef>
                <a:spcPct val="20000"/>
              </a:spcBef>
            </a:pPr>
            <a:r>
              <a:rPr lang="zh-CN" altLang="en-US" dirty="0">
                <a:cs typeface="Times New Roman" pitchFamily="18" charset="0"/>
              </a:rPr>
              <a:t>视频图像处理</a:t>
            </a:r>
            <a:r>
              <a:rPr lang="en-US" altLang="zh-CN" dirty="0">
                <a:cs typeface="Times New Roman" pitchFamily="18" charset="0"/>
              </a:rPr>
              <a:t>-</a:t>
            </a:r>
            <a:r>
              <a:rPr lang="zh-CN" altLang="en-US" dirty="0">
                <a:cs typeface="Times New Roman" pitchFamily="18" charset="0"/>
              </a:rPr>
              <a:t>智能车、监控</a:t>
            </a:r>
            <a:r>
              <a:rPr lang="en-US" altLang="zh-CN" dirty="0">
                <a:cs typeface="Times New Roman" pitchFamily="18" charset="0"/>
              </a:rPr>
              <a:t> </a:t>
            </a:r>
          </a:p>
          <a:p>
            <a:pPr marL="908050" lvl="2" indent="-285750" algn="just">
              <a:lnSpc>
                <a:spcPct val="95000"/>
              </a:lnSpc>
              <a:spcBef>
                <a:spcPct val="20000"/>
              </a:spcBef>
            </a:pPr>
            <a:endParaRPr lang="en-US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… </a:t>
            </a:r>
          </a:p>
        </p:txBody>
      </p:sp>
      <p:sp>
        <p:nvSpPr>
          <p:cNvPr id="35843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有效采样的关键原则</a:t>
            </a:r>
            <a:r>
              <a:rPr lang="en-US" altLang="zh-CN" dirty="0"/>
              <a:t>——</a:t>
            </a:r>
            <a:r>
              <a:rPr lang="zh-CN" altLang="en-US" dirty="0"/>
              <a:t>寻找代表性样本</a:t>
            </a:r>
            <a:endParaRPr lang="en-US" dirty="0"/>
          </a:p>
          <a:p>
            <a:endParaRPr lang="en-US" dirty="0"/>
          </a:p>
          <a:p>
            <a:pPr lvl="1"/>
            <a:r>
              <a:rPr lang="zh-CN" altLang="en-US" dirty="0"/>
              <a:t>代表性样本：使用该样本的效果近似等同于整个数据集</a:t>
            </a:r>
            <a:br>
              <a:rPr lang="en-US" dirty="0"/>
            </a:br>
            <a:endParaRPr lang="en-US" dirty="0"/>
          </a:p>
          <a:p>
            <a:pPr lvl="1"/>
            <a:r>
              <a:rPr lang="zh-CN" altLang="en-US" dirty="0"/>
              <a:t>代表性样本：该样本的性质包含整个数据集的所有性质</a:t>
            </a:r>
            <a:endParaRPr 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统计袋子中小球的颜色</a:t>
            </a:r>
            <a:r>
              <a:rPr lang="en-US" dirty="0"/>
              <a:t> 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zh-CN" altLang="en-US" dirty="0"/>
              <a:t>采样大小</a:t>
            </a:r>
            <a:endParaRPr lang="en-US" dirty="0"/>
          </a:p>
        </p:txBody>
      </p:sp>
      <p:sp>
        <p:nvSpPr>
          <p:cNvPr id="3686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6868" name="Picture 20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r="12498"/>
          <a:stretch>
            <a:fillRect/>
          </a:stretch>
        </p:blipFill>
        <p:spPr bwMode="auto">
          <a:xfrm>
            <a:off x="52388" y="1844675"/>
            <a:ext cx="3198812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20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t="13811" r="14642" b="10954"/>
          <a:stretch>
            <a:fillRect/>
          </a:stretch>
        </p:blipFill>
        <p:spPr bwMode="auto">
          <a:xfrm>
            <a:off x="3048000" y="2206625"/>
            <a:ext cx="3198813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205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r="13213"/>
          <a:stretch>
            <a:fillRect/>
          </a:stretch>
        </p:blipFill>
        <p:spPr bwMode="auto">
          <a:xfrm>
            <a:off x="5943600" y="1828800"/>
            <a:ext cx="3198813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 Box 2055"/>
          <p:cNvSpPr txBox="1">
            <a:spLocks noChangeArrowheads="1"/>
          </p:cNvSpPr>
          <p:nvPr/>
        </p:nvSpPr>
        <p:spPr bwMode="auto">
          <a:xfrm>
            <a:off x="914400" y="4495800"/>
            <a:ext cx="807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8000 points		         2000 Points			500 Points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采样的种类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最简单的</a:t>
            </a:r>
            <a:r>
              <a:rPr lang="en-US" altLang="zh-CN" dirty="0"/>
              <a:t>——</a:t>
            </a:r>
            <a:r>
              <a:rPr lang="zh-CN" altLang="en-US" dirty="0"/>
              <a:t>随机采样</a:t>
            </a:r>
            <a:endParaRPr lang="en-US" dirty="0"/>
          </a:p>
          <a:p>
            <a:pPr marL="749300" lvl="1">
              <a:lnSpc>
                <a:spcPct val="150000"/>
              </a:lnSpc>
            </a:pPr>
            <a:r>
              <a:rPr lang="zh-CN" altLang="en-US" dirty="0"/>
              <a:t>每条数据“中奖概率”相等</a:t>
            </a:r>
            <a:endParaRPr lang="en-US" dirty="0"/>
          </a:p>
          <a:p>
            <a:pPr marL="749300" lvl="1">
              <a:lnSpc>
                <a:spcPct val="150000"/>
              </a:lnSpc>
            </a:pPr>
            <a:r>
              <a:rPr lang="zh-CN" altLang="en-US" dirty="0"/>
              <a:t>无放回抽取</a:t>
            </a:r>
            <a:endParaRPr lang="en-US" dirty="0"/>
          </a:p>
          <a:p>
            <a:pPr marL="1147763" lvl="2" indent="-284163">
              <a:lnSpc>
                <a:spcPct val="150000"/>
              </a:lnSpc>
            </a:pPr>
            <a:r>
              <a:rPr lang="zh-CN" altLang="en-US" sz="2400" dirty="0"/>
              <a:t>“中奖概率”越来越大</a:t>
            </a:r>
            <a:endParaRPr lang="en-US" sz="2400" dirty="0"/>
          </a:p>
          <a:p>
            <a:pPr marL="749300" lvl="1">
              <a:lnSpc>
                <a:spcPct val="150000"/>
              </a:lnSpc>
            </a:pPr>
            <a:r>
              <a:rPr lang="zh-CN" altLang="en-US" dirty="0"/>
              <a:t>有放回抽取</a:t>
            </a:r>
            <a:endParaRPr lang="en-US" dirty="0"/>
          </a:p>
          <a:p>
            <a:pPr marL="1147763" lvl="2" indent="-284163">
              <a:lnSpc>
                <a:spcPct val="150000"/>
              </a:lnSpc>
            </a:pPr>
            <a:r>
              <a:rPr lang="zh-CN" altLang="en-US" sz="2400" dirty="0"/>
              <a:t>“中奖概率”不变</a:t>
            </a:r>
            <a:r>
              <a:rPr lang="en-US" sz="2400" dirty="0"/>
              <a:t>   </a:t>
            </a:r>
          </a:p>
          <a:p>
            <a:pPr marL="1147763" lvl="2" indent="-284163">
              <a:lnSpc>
                <a:spcPct val="150000"/>
              </a:lnSpc>
            </a:pPr>
            <a:r>
              <a:rPr lang="zh-CN" altLang="en-US" sz="2400" dirty="0"/>
              <a:t> 可能多次中奖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zh-CN" altLang="en-US" dirty="0"/>
              <a:t>分层随机</a:t>
            </a:r>
            <a:endParaRPr lang="en-US" dirty="0"/>
          </a:p>
          <a:p>
            <a:pPr marL="749300" lvl="1">
              <a:lnSpc>
                <a:spcPct val="150000"/>
              </a:lnSpc>
            </a:pPr>
            <a:r>
              <a:rPr lang="zh-CN" altLang="en-US" dirty="0"/>
              <a:t>现将数据集分成几个子集，再对每个子集进行随机采样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  <a:r>
              <a:rPr lang="en-US" altLang="zh-CN" dirty="0"/>
              <a:t>——</a:t>
            </a:r>
            <a:r>
              <a:rPr lang="zh-CN" altLang="en-US" dirty="0"/>
              <a:t>离散化</a:t>
            </a: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将一个连续的变量转换为一种序数属性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将一组无限取值可能的属性映射到一定数量的区间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在有监督和无监督领域都能用到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86800" cy="685800"/>
          </a:xfrm>
        </p:spPr>
        <p:txBody>
          <a:bodyPr/>
          <a:lstStyle/>
          <a:p>
            <a:r>
              <a:rPr lang="zh-CN" altLang="en-US" dirty="0"/>
              <a:t>无监督离散化</a:t>
            </a:r>
            <a:endParaRPr lang="en-US" dirty="0"/>
          </a:p>
        </p:txBody>
      </p:sp>
      <p:sp>
        <p:nvSpPr>
          <p:cNvPr id="51204" name="Text Box 6"/>
          <p:cNvSpPr txBox="1">
            <a:spLocks noChangeArrowheads="1"/>
          </p:cNvSpPr>
          <p:nvPr/>
        </p:nvSpPr>
        <p:spPr bwMode="auto">
          <a:xfrm>
            <a:off x="228600" y="5470525"/>
            <a:ext cx="8610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/>
              <a:t>数据集包含四组点，和两个离群点。数据集是</a:t>
            </a:r>
            <a:r>
              <a:rPr lang="en-US" altLang="zh-CN" sz="2000" dirty="0"/>
              <a:t>1</a:t>
            </a:r>
            <a:r>
              <a:rPr lang="zh-CN" altLang="en-US" sz="2000" dirty="0"/>
              <a:t>维的，人为增加</a:t>
            </a:r>
            <a:r>
              <a:rPr lang="en-US" altLang="zh-CN" sz="2000" dirty="0"/>
              <a:t>y</a:t>
            </a:r>
            <a:r>
              <a:rPr lang="zh-CN" altLang="en-US" sz="2000" dirty="0"/>
              <a:t>轴以减少重叠</a:t>
            </a:r>
            <a:endParaRPr lang="en-US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zh-CN" altLang="en-US" dirty="0"/>
              <a:t>无监督离散化</a:t>
            </a:r>
            <a:endParaRPr lang="en-US" dirty="0"/>
          </a:p>
        </p:txBody>
      </p:sp>
      <p:pic>
        <p:nvPicPr>
          <p:cNvPr id="522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313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9"/>
          <p:cNvSpPr txBox="1">
            <a:spLocks noChangeArrowheads="1"/>
          </p:cNvSpPr>
          <p:nvPr/>
        </p:nvSpPr>
        <p:spPr bwMode="auto">
          <a:xfrm>
            <a:off x="3886200" y="556260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C6600"/>
                </a:solidFill>
              </a:rPr>
              <a:t>区间宽度等分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zh-CN" altLang="en-US" dirty="0"/>
              <a:t>无监督离散化</a:t>
            </a:r>
            <a:endParaRPr lang="en-US" dirty="0"/>
          </a:p>
        </p:txBody>
      </p:sp>
      <p:sp>
        <p:nvSpPr>
          <p:cNvPr id="53251" name="Text Box 8"/>
          <p:cNvSpPr txBox="1">
            <a:spLocks noChangeArrowheads="1"/>
          </p:cNvSpPr>
          <p:nvPr/>
        </p:nvSpPr>
        <p:spPr bwMode="auto">
          <a:xfrm>
            <a:off x="611188" y="5638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C6600"/>
                </a:solidFill>
              </a:rPr>
              <a:t>区间点数量等分</a:t>
            </a:r>
            <a:endParaRPr lang="en-US" sz="2400" dirty="0"/>
          </a:p>
        </p:txBody>
      </p:sp>
      <p:pic>
        <p:nvPicPr>
          <p:cNvPr id="5325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176338"/>
            <a:ext cx="908685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zh-CN" altLang="en-US" dirty="0"/>
              <a:t>无监督离散化</a:t>
            </a:r>
            <a:endParaRPr lang="en-US" dirty="0"/>
          </a:p>
        </p:txBody>
      </p:sp>
      <p:sp>
        <p:nvSpPr>
          <p:cNvPr id="54275" name="Text Box 9"/>
          <p:cNvSpPr txBox="1">
            <a:spLocks noChangeArrowheads="1"/>
          </p:cNvSpPr>
          <p:nvPr/>
        </p:nvSpPr>
        <p:spPr bwMode="auto">
          <a:xfrm>
            <a:off x="611188" y="56388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C6600"/>
                </a:solidFill>
              </a:rPr>
              <a:t>K-means</a:t>
            </a:r>
            <a:r>
              <a:rPr lang="en-US" sz="2400" dirty="0"/>
              <a:t> </a:t>
            </a:r>
            <a:r>
              <a:rPr lang="zh-CN" altLang="en-US" sz="2400" dirty="0"/>
              <a:t>聚类得到的划分</a:t>
            </a:r>
            <a:endParaRPr lang="en-US" sz="2400" dirty="0"/>
          </a:p>
        </p:txBody>
      </p:sp>
      <p:pic>
        <p:nvPicPr>
          <p:cNvPr id="5427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有监督中的离散化</a:t>
            </a: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600" dirty="0"/>
              <a:t>许多分类算法在自变量（特征）和因变量（标签）都只有几个值时效果最好 </a:t>
            </a:r>
            <a:endParaRPr lang="en-US" altLang="zh-CN" sz="2600" dirty="0"/>
          </a:p>
          <a:p>
            <a:pPr lvl="1"/>
            <a:endParaRPr lang="en-US" altLang="zh-CN" sz="2600" dirty="0"/>
          </a:p>
          <a:p>
            <a:pPr lvl="1"/>
            <a:r>
              <a:rPr lang="zh-CN" altLang="en-US" sz="2600" dirty="0"/>
              <a:t>下面利用机器学习中最常用的数据集</a:t>
            </a:r>
            <a:r>
              <a:rPr lang="en-US" altLang="zh-CN" sz="2600" dirty="0"/>
              <a:t>——</a:t>
            </a:r>
            <a:r>
              <a:rPr lang="en-US" sz="2600" dirty="0"/>
              <a:t>Iris</a:t>
            </a:r>
            <a:r>
              <a:rPr lang="zh-CN" altLang="en-US" sz="2600" dirty="0"/>
              <a:t>数据集举例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451530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Iris Sample Data Set</a:t>
            </a:r>
            <a:r>
              <a:rPr lang="en-US" altLang="zh-CN" dirty="0"/>
              <a:t>-</a:t>
            </a:r>
            <a:r>
              <a:rPr lang="zh-CN" altLang="en-US" dirty="0"/>
              <a:t>鸢尾花</a:t>
            </a:r>
            <a:r>
              <a:rPr lang="en-US" dirty="0"/>
              <a:t> 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219200"/>
            <a:ext cx="8351837" cy="1981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Iris </a:t>
            </a:r>
            <a:r>
              <a:rPr lang="zh-CN" altLang="en-US" sz="2400" dirty="0"/>
              <a:t>数据集</a:t>
            </a:r>
            <a:r>
              <a:rPr lang="en-US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可从</a:t>
            </a:r>
            <a:r>
              <a:rPr lang="en-US" sz="2000" dirty="0">
                <a:solidFill>
                  <a:srgbClr val="FF0000"/>
                </a:solidFill>
              </a:rPr>
              <a:t>UCI Machine Learning Repository </a:t>
            </a:r>
            <a:r>
              <a:rPr lang="zh-CN" altLang="en-US" sz="2000" dirty="0"/>
              <a:t>下载</a:t>
            </a:r>
            <a:br>
              <a:rPr lang="en-US" sz="2000" dirty="0"/>
            </a:br>
            <a:r>
              <a:rPr lang="en-US" sz="2000" dirty="0">
                <a:hlinkClick r:id="rId3"/>
              </a:rPr>
              <a:t>http://www.ics.uci.edu/~mlearn/MLRepository.html</a:t>
            </a:r>
            <a:r>
              <a:rPr 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统计学家</a:t>
            </a:r>
            <a:r>
              <a:rPr lang="en-US" dirty="0"/>
              <a:t>Douglas Fisher</a:t>
            </a:r>
            <a:r>
              <a:rPr lang="zh-CN" altLang="en-US" dirty="0"/>
              <a:t>组建的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3</a:t>
            </a:r>
            <a:r>
              <a:rPr lang="zh-CN" altLang="en-US" dirty="0"/>
              <a:t>种不同的类</a:t>
            </a:r>
            <a:r>
              <a:rPr 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sz="2400" dirty="0" err="1"/>
              <a:t>Setosa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sz="2400" dirty="0" err="1"/>
              <a:t>Versicolour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sz="2400" dirty="0" err="1"/>
              <a:t>Virginica</a:t>
            </a:r>
            <a:r>
              <a:rPr lang="en-US" sz="24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4</a:t>
            </a:r>
            <a:r>
              <a:rPr lang="zh-CN" altLang="en-US" dirty="0"/>
              <a:t>个特征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sz="2400" dirty="0"/>
              <a:t> Sepal</a:t>
            </a:r>
            <a:r>
              <a:rPr lang="en-US" altLang="zh-CN" sz="2400" dirty="0"/>
              <a:t>-</a:t>
            </a:r>
            <a:r>
              <a:rPr lang="zh-CN" altLang="en-US" sz="2400" dirty="0"/>
              <a:t>萼片</a:t>
            </a:r>
            <a:r>
              <a:rPr lang="en-US" sz="2400" dirty="0"/>
              <a:t> width and length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 Petal</a:t>
            </a:r>
            <a:r>
              <a:rPr lang="en-US" altLang="zh-CN" sz="2400" dirty="0"/>
              <a:t>-</a:t>
            </a:r>
            <a:r>
              <a:rPr lang="zh-CN" altLang="en-US" sz="2400" dirty="0"/>
              <a:t>花瓣</a:t>
            </a:r>
            <a:r>
              <a:rPr lang="en-US" sz="2400" dirty="0"/>
              <a:t> width and length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3032125" y="2906713"/>
            <a:ext cx="2073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endParaRPr lang="en-US"/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5334000" y="5257800"/>
            <a:ext cx="37338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0">
                <a:latin typeface="Times New Roman" pitchFamily="18" charset="0"/>
              </a:rPr>
              <a:t>Virginica. Robert H. Mohlenbrock. USDA NRCS. 1995. Northeast wetland flora: Field office guide to plant species. Northeast National Technical Center, Chester, PA. Courtesy of USDA NRCS Wetland Science Institute. </a:t>
            </a:r>
          </a:p>
        </p:txBody>
      </p:sp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048000"/>
            <a:ext cx="3427413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5350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离散化</a:t>
            </a:r>
            <a:r>
              <a:rPr lang="en-US" dirty="0"/>
              <a:t>: Iris Example …</a:t>
            </a:r>
          </a:p>
        </p:txBody>
      </p:sp>
      <p:grpSp>
        <p:nvGrpSpPr>
          <p:cNvPr id="50179" name="Group 5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50182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3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80" name="Rectangle 8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我们如何判断最优的离散化</a:t>
            </a:r>
            <a:r>
              <a:rPr lang="en-US" dirty="0"/>
              <a:t>?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CC6600"/>
                </a:solidFill>
              </a:rPr>
              <a:t>无监督离散化</a:t>
            </a:r>
            <a:r>
              <a:rPr lang="en-US" dirty="0">
                <a:solidFill>
                  <a:srgbClr val="CC6600"/>
                </a:solidFill>
              </a:rPr>
              <a:t>:</a:t>
            </a:r>
            <a:r>
              <a:rPr lang="en-US" dirty="0"/>
              <a:t> </a:t>
            </a:r>
            <a:r>
              <a:rPr lang="zh-CN" altLang="en-US" dirty="0"/>
              <a:t>特征之中寻找“断”点</a:t>
            </a:r>
            <a:endParaRPr lang="en-US" dirty="0"/>
          </a:p>
          <a:p>
            <a:pPr marL="1143000" lvl="2" indent="-228600">
              <a:lnSpc>
                <a:spcPct val="90000"/>
              </a:lnSpc>
            </a:pPr>
            <a:r>
              <a:rPr lang="en-US" sz="2200" dirty="0"/>
              <a:t>Example:</a:t>
            </a:r>
            <a:br>
              <a:rPr lang="en-US" sz="2200" dirty="0"/>
            </a:br>
            <a:r>
              <a:rPr lang="en-US" sz="2200" dirty="0"/>
              <a:t>Petal Length </a:t>
            </a:r>
            <a:br>
              <a:rPr lang="en-US" sz="22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	</a:t>
            </a:r>
          </a:p>
          <a:p>
            <a:pPr lvl="1">
              <a:lnSpc>
                <a:spcPct val="90000"/>
              </a:lnSpc>
            </a:pPr>
            <a:endParaRPr lang="en-US" sz="2000" dirty="0">
              <a:solidFill>
                <a:srgbClr val="CC6600"/>
              </a:solidFill>
            </a:endParaRPr>
          </a:p>
          <a:p>
            <a:pPr lvl="1">
              <a:lnSpc>
                <a:spcPct val="90000"/>
              </a:lnSpc>
            </a:pPr>
            <a:endParaRPr lang="en-US" sz="2000" dirty="0">
              <a:solidFill>
                <a:srgbClr val="CC66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CC6600"/>
                </a:solidFill>
              </a:rPr>
              <a:t>有监督离散化</a:t>
            </a:r>
            <a:r>
              <a:rPr lang="en-US" dirty="0">
                <a:solidFill>
                  <a:srgbClr val="CC6600"/>
                </a:solidFill>
              </a:rPr>
              <a:t>:</a:t>
            </a:r>
            <a:r>
              <a:rPr lang="en-US" dirty="0"/>
              <a:t> </a:t>
            </a:r>
            <a:r>
              <a:rPr lang="zh-CN" altLang="en-US" dirty="0"/>
              <a:t>利用类标签寻找断点</a:t>
            </a:r>
            <a:endParaRPr lang="en-US" sz="2800" dirty="0"/>
          </a:p>
        </p:txBody>
      </p:sp>
      <p:pic>
        <p:nvPicPr>
          <p:cNvPr id="50181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75" y="2057400"/>
            <a:ext cx="4251325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8851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Discretization: Iris Example</a:t>
            </a:r>
          </a:p>
        </p:txBody>
      </p:sp>
      <p:pic>
        <p:nvPicPr>
          <p:cNvPr id="491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41375"/>
            <a:ext cx="6700838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685800" y="5486400"/>
            <a:ext cx="807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 b="0" dirty="0"/>
              <a:t>Petal width low or petal length low implies </a:t>
            </a:r>
            <a:r>
              <a:rPr lang="en-US" sz="2000" b="0" dirty="0" err="1"/>
              <a:t>Setosa</a:t>
            </a:r>
            <a:r>
              <a:rPr lang="en-US" sz="2000" b="0" dirty="0"/>
              <a:t>.</a:t>
            </a:r>
          </a:p>
          <a:p>
            <a:r>
              <a:rPr lang="en-US" sz="2000" b="0" dirty="0"/>
              <a:t>Petal width medium or petal length medium implies </a:t>
            </a:r>
            <a:r>
              <a:rPr lang="en-US" sz="2000" b="0" dirty="0" err="1"/>
              <a:t>Versicolour</a:t>
            </a:r>
            <a:r>
              <a:rPr lang="en-US" sz="2000" b="0" dirty="0"/>
              <a:t>.</a:t>
            </a:r>
          </a:p>
          <a:p>
            <a:r>
              <a:rPr lang="en-US" sz="2000" b="0" dirty="0"/>
              <a:t>Petal width high or petal length high implies </a:t>
            </a:r>
            <a:r>
              <a:rPr lang="en-US" sz="2000" b="0" dirty="0" err="1"/>
              <a:t>Virginica</a:t>
            </a:r>
            <a:r>
              <a:rPr lang="en-US" sz="2000" b="0" dirty="0"/>
              <a:t>.</a:t>
            </a:r>
          </a:p>
        </p:txBody>
      </p:sp>
      <p:grpSp>
        <p:nvGrpSpPr>
          <p:cNvPr id="49157" name="Group 6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49158" name="Rectangle 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59" name="Rectangle 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99203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Binarization</a:t>
            </a:r>
            <a:r>
              <a:rPr lang="en-US" altLang="zh-CN" dirty="0"/>
              <a:t>——</a:t>
            </a:r>
            <a:r>
              <a:rPr lang="zh-CN" altLang="en-US" dirty="0"/>
              <a:t>二值化</a:t>
            </a:r>
            <a:endParaRPr 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离散化的一种特例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将连续变量转变成二值特征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相关分析和图像分割</a:t>
            </a:r>
            <a:r>
              <a:rPr lang="zh-CN" altLang="en-US" dirty="0"/>
              <a:t>中常用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通常将一个连续属性转换为一个分类属性，然后将一个分类属性转换为一组二进制属性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相关分析需要不对称的二值属性</a:t>
            </a:r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图像分割</a:t>
            </a:r>
            <a:r>
              <a:rPr lang="en-US" altLang="zh-CN" dirty="0"/>
              <a:t>——</a:t>
            </a:r>
            <a:r>
              <a:rPr lang="zh-CN" altLang="en-US" dirty="0"/>
              <a:t>背景与前景</a:t>
            </a:r>
          </a:p>
        </p:txBody>
      </p:sp>
      <p:pic>
        <p:nvPicPr>
          <p:cNvPr id="87042" name="Picture 2" descr="https://images2018.cnblogs.com/blog/1309518/201807/1309518-20180706113808390-1914724389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316900" cy="567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5116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图像分割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pic>
        <p:nvPicPr>
          <p:cNvPr id="88066" name="Picture 2" descr="https://pic4.zhimg.com/80/v2-862f59a65151fb9f4ac01d015961c7d3_1440w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35" y="1143000"/>
            <a:ext cx="7119755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9781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Transformation</a:t>
            </a:r>
            <a:r>
              <a:rPr lang="en-US" altLang="zh-CN" dirty="0"/>
              <a:t>——</a:t>
            </a:r>
            <a:r>
              <a:rPr lang="zh-CN" altLang="en-US" dirty="0"/>
              <a:t>特征变换</a:t>
            </a:r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属性转换是一个函数，它将给定属性的整个值集映射到一组新的替换值，这样每个旧值都可以用一个新值来标识 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2200" dirty="0"/>
              <a:t>简单的函数</a:t>
            </a:r>
            <a:r>
              <a:rPr lang="en-US" sz="2200" dirty="0"/>
              <a:t>: x</a:t>
            </a:r>
            <a:r>
              <a:rPr lang="en-US" sz="2200" baseline="30000" dirty="0"/>
              <a:t>k</a:t>
            </a:r>
            <a:r>
              <a:rPr lang="en-US" sz="2200" dirty="0"/>
              <a:t>, log(x), e</a:t>
            </a:r>
            <a:r>
              <a:rPr lang="en-US" sz="2200" baseline="30000" dirty="0"/>
              <a:t>x</a:t>
            </a:r>
            <a:r>
              <a:rPr lang="en-US" sz="2200" dirty="0"/>
              <a:t>, |x|</a:t>
            </a:r>
          </a:p>
          <a:p>
            <a:pPr lvl="1">
              <a:lnSpc>
                <a:spcPct val="150000"/>
              </a:lnSpc>
            </a:pPr>
            <a:r>
              <a:rPr lang="zh-CN" altLang="en-US" sz="2600" dirty="0">
                <a:solidFill>
                  <a:srgbClr val="CC6600"/>
                </a:solidFill>
              </a:rPr>
              <a:t>归一化</a:t>
            </a:r>
            <a:endParaRPr lang="en-US" sz="2600" dirty="0">
              <a:solidFill>
                <a:srgbClr val="CC6600"/>
              </a:solidFill>
            </a:endParaRPr>
          </a:p>
          <a:p>
            <a:pPr marL="1257300" lvl="2" indent="-279400">
              <a:lnSpc>
                <a:spcPct val="150000"/>
              </a:lnSpc>
            </a:pPr>
            <a:r>
              <a:rPr lang="zh-CN" altLang="en-US" sz="2400" dirty="0"/>
              <a:t>将有量纲的特征转化为无量纲的特征 </a:t>
            </a:r>
            <a:endParaRPr lang="en-US" altLang="zh-CN" sz="2400" dirty="0"/>
          </a:p>
          <a:p>
            <a:pPr marL="1257300" lvl="2" indent="-279400">
              <a:lnSpc>
                <a:spcPct val="150000"/>
              </a:lnSpc>
            </a:pPr>
            <a:r>
              <a:rPr lang="zh-CN" altLang="en-US" sz="2400" dirty="0"/>
              <a:t>最大</a:t>
            </a:r>
            <a:r>
              <a:rPr lang="en-US" altLang="zh-CN" sz="2400" dirty="0"/>
              <a:t>-</a:t>
            </a:r>
            <a:r>
              <a:rPr lang="zh-CN" altLang="en-US" sz="2400" dirty="0"/>
              <a:t>最小归一化、标准化等</a:t>
            </a:r>
            <a:r>
              <a:rPr lang="en-US" sz="2400" dirty="0"/>
              <a:t> 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861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800" dirty="0">
                <a:latin typeface="Tahoma" pitchFamily="34" charset="0"/>
              </a:rPr>
              <a:t>Example: </a:t>
            </a:r>
            <a:r>
              <a:rPr lang="zh-CN" altLang="en-US" sz="2800" dirty="0">
                <a:latin typeface="Tahoma" pitchFamily="34" charset="0"/>
              </a:rPr>
              <a:t>植物生长的采样时间序列</a:t>
            </a:r>
            <a:endParaRPr lang="en-US" sz="2800" dirty="0">
              <a:latin typeface="Tahoma" pitchFamily="34" charset="0"/>
            </a:endParaRPr>
          </a:p>
        </p:txBody>
      </p:sp>
      <p:sp>
        <p:nvSpPr>
          <p:cNvPr id="57347" name="Text Box 54"/>
          <p:cNvSpPr txBox="1">
            <a:spLocks noChangeArrowheads="1"/>
          </p:cNvSpPr>
          <p:nvPr/>
        </p:nvSpPr>
        <p:spPr bwMode="auto">
          <a:xfrm>
            <a:off x="3200400" y="45720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0">
                <a:latin typeface="Times New Roman" pitchFamily="18" charset="0"/>
              </a:rPr>
              <a:t>Correlations between time series</a:t>
            </a:r>
          </a:p>
        </p:txBody>
      </p:sp>
      <p:grpSp>
        <p:nvGrpSpPr>
          <p:cNvPr id="57348" name="Group 55"/>
          <p:cNvGrpSpPr>
            <a:grpSpLocks/>
          </p:cNvGrpSpPr>
          <p:nvPr/>
        </p:nvGrpSpPr>
        <p:grpSpPr bwMode="auto">
          <a:xfrm>
            <a:off x="0" y="990600"/>
            <a:ext cx="7011988" cy="3654425"/>
            <a:chOff x="624" y="624"/>
            <a:chExt cx="4417" cy="2302"/>
          </a:xfrm>
        </p:grpSpPr>
        <p:pic>
          <p:nvPicPr>
            <p:cNvPr id="57352" name="Picture 56" descr="npp_serie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32" b="23555"/>
            <a:stretch>
              <a:fillRect/>
            </a:stretch>
          </p:blipFill>
          <p:spPr bwMode="auto">
            <a:xfrm>
              <a:off x="624" y="816"/>
              <a:ext cx="4417" cy="2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53" name="Text Box 57"/>
            <p:cNvSpPr txBox="1">
              <a:spLocks noChangeArrowheads="1"/>
            </p:cNvSpPr>
            <p:nvPr/>
          </p:nvSpPr>
          <p:spPr bwMode="auto">
            <a:xfrm>
              <a:off x="2592" y="624"/>
              <a:ext cx="168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Minneapolis</a:t>
              </a:r>
              <a:r>
                <a:rPr lang="en-US" altLang="zh-CN" dirty="0">
                  <a:latin typeface="Times New Roman" pitchFamily="18" charset="0"/>
                </a:rPr>
                <a:t>-</a:t>
              </a:r>
              <a:r>
                <a:rPr lang="zh-CN" altLang="en-US" dirty="0">
                  <a:latin typeface="Times New Roman" pitchFamily="18" charset="0"/>
                </a:rPr>
                <a:t>明尼阿波利斯</a:t>
              </a:r>
              <a:endParaRPr lang="en-US" dirty="0">
                <a:latin typeface="Times New Roman" pitchFamily="18" charset="0"/>
              </a:endParaRPr>
            </a:p>
          </p:txBody>
        </p:sp>
      </p:grpSp>
      <p:graphicFrame>
        <p:nvGraphicFramePr>
          <p:cNvPr id="57349" name="Object 2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996400"/>
              </p:ext>
            </p:extLst>
          </p:nvPr>
        </p:nvGraphicFramePr>
        <p:xfrm>
          <a:off x="1066800" y="5118100"/>
          <a:ext cx="56134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17907" imgH="1290554" progId="Word.Document.8">
                  <p:embed/>
                </p:oleObj>
              </mc:Choice>
              <mc:Fallback>
                <p:oleObj name="Document" r:id="rId3" imgW="5617907" imgH="1290554" progId="Word.Document.8">
                  <p:embed/>
                  <p:pic>
                    <p:nvPicPr>
                      <p:cNvPr id="0" name="Object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118100"/>
                        <a:ext cx="5613400" cy="1282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266"/>
          <p:cNvSpPr>
            <a:spLocks noChangeArrowheads="1"/>
          </p:cNvSpPr>
          <p:nvPr/>
        </p:nvSpPr>
        <p:spPr bwMode="auto">
          <a:xfrm>
            <a:off x="914400" y="4648200"/>
            <a:ext cx="5486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000"/>
              <a:t>Correlations between time series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533400" y="152400"/>
            <a:ext cx="807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ahoma" pitchFamily="34" charset="0"/>
              </a:rPr>
              <a:t>归一化后</a:t>
            </a:r>
            <a:endParaRPr lang="en-US" sz="2800" dirty="0">
              <a:latin typeface="Tahoma" pitchFamily="34" charset="0"/>
            </a:endParaRPr>
          </a:p>
        </p:txBody>
      </p:sp>
      <p:sp>
        <p:nvSpPr>
          <p:cNvPr id="58371" name="Text Box 54"/>
          <p:cNvSpPr txBox="1">
            <a:spLocks noChangeArrowheads="1"/>
          </p:cNvSpPr>
          <p:nvPr/>
        </p:nvSpPr>
        <p:spPr bwMode="auto">
          <a:xfrm>
            <a:off x="3200400" y="45720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0">
                <a:latin typeface="Times New Roman" pitchFamily="18" charset="0"/>
              </a:rPr>
              <a:t>Correlations between time series</a:t>
            </a:r>
          </a:p>
        </p:txBody>
      </p:sp>
      <p:grpSp>
        <p:nvGrpSpPr>
          <p:cNvPr id="58372" name="Group 55"/>
          <p:cNvGrpSpPr>
            <a:grpSpLocks/>
          </p:cNvGrpSpPr>
          <p:nvPr/>
        </p:nvGrpSpPr>
        <p:grpSpPr bwMode="auto">
          <a:xfrm>
            <a:off x="0" y="990600"/>
            <a:ext cx="7011988" cy="3654425"/>
            <a:chOff x="576" y="624"/>
            <a:chExt cx="4417" cy="2302"/>
          </a:xfrm>
        </p:grpSpPr>
        <p:pic>
          <p:nvPicPr>
            <p:cNvPr id="58376" name="Picture 56" descr="npp_ano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32" b="23555"/>
            <a:stretch>
              <a:fillRect/>
            </a:stretch>
          </p:blipFill>
          <p:spPr bwMode="auto">
            <a:xfrm>
              <a:off x="576" y="816"/>
              <a:ext cx="4417" cy="2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7" name="Text Box 57"/>
            <p:cNvSpPr txBox="1">
              <a:spLocks noChangeArrowheads="1"/>
            </p:cNvSpPr>
            <p:nvPr/>
          </p:nvSpPr>
          <p:spPr bwMode="auto">
            <a:xfrm>
              <a:off x="2592" y="624"/>
              <a:ext cx="8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Minneapolis</a:t>
              </a:r>
            </a:p>
          </p:txBody>
        </p:sp>
      </p:grpSp>
      <p:sp>
        <p:nvSpPr>
          <p:cNvPr id="58373" name="Rectangle 58"/>
          <p:cNvSpPr>
            <a:spLocks noChangeArrowheads="1"/>
          </p:cNvSpPr>
          <p:nvPr/>
        </p:nvSpPr>
        <p:spPr bwMode="auto">
          <a:xfrm>
            <a:off x="6553200" y="1295400"/>
            <a:ext cx="2590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119063" lvl="1" indent="-4763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Font typeface="Arial" pitchFamily="34" charset="0"/>
              <a:buNone/>
            </a:pPr>
            <a:r>
              <a:rPr lang="zh-CN" altLang="en-US" sz="2000" b="0" dirty="0"/>
              <a:t>按月标准化</a:t>
            </a:r>
            <a:r>
              <a:rPr lang="en-US" sz="2000" b="0" dirty="0"/>
              <a:t>:</a:t>
            </a:r>
          </a:p>
          <a:p>
            <a:pPr marL="119063" lvl="1" indent="-4763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Font typeface="Arial" pitchFamily="34" charset="0"/>
              <a:buNone/>
            </a:pPr>
            <a:r>
              <a:rPr lang="zh-CN" altLang="en-US" sz="2000" b="0" dirty="0"/>
              <a:t>减去每月的均值再除以每月的标准差</a:t>
            </a:r>
            <a:endParaRPr lang="en-US" sz="2000" b="0" dirty="0"/>
          </a:p>
        </p:txBody>
      </p:sp>
      <p:graphicFrame>
        <p:nvGraphicFramePr>
          <p:cNvPr id="58374" name="Object 59"/>
          <p:cNvGraphicFramePr>
            <a:graphicFrameLocks noChangeAspect="1"/>
          </p:cNvGraphicFramePr>
          <p:nvPr/>
        </p:nvGraphicFramePr>
        <p:xfrm>
          <a:off x="1077913" y="5111750"/>
          <a:ext cx="5627687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27074" imgH="1289206" progId="Word.Document.8">
                  <p:embed/>
                </p:oleObj>
              </mc:Choice>
              <mc:Fallback>
                <p:oleObj name="Document" r:id="rId3" imgW="5627074" imgH="1289206" progId="Word.Document.8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5111750"/>
                        <a:ext cx="5627687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Rectangle 60"/>
          <p:cNvSpPr>
            <a:spLocks noChangeArrowheads="1"/>
          </p:cNvSpPr>
          <p:nvPr/>
        </p:nvSpPr>
        <p:spPr bwMode="auto">
          <a:xfrm>
            <a:off x="914400" y="4648200"/>
            <a:ext cx="5486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000"/>
              <a:t>Correlations between time series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r>
              <a:rPr lang="en-US" altLang="zh-CN" dirty="0"/>
              <a:t>-</a:t>
            </a:r>
            <a:r>
              <a:rPr lang="zh-CN" altLang="en-US" dirty="0"/>
              <a:t>维数灾难</a:t>
            </a:r>
            <a:endParaRPr lang="en-US" dirty="0"/>
          </a:p>
        </p:txBody>
      </p:sp>
      <p:sp>
        <p:nvSpPr>
          <p:cNvPr id="39939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143000"/>
            <a:ext cx="4083050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维度越高，数据越稀疏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维度越高，距离、密度等定义越无意义，是分类和聚类中必要的测度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维度越高，计算越费时</a:t>
            </a:r>
            <a:endParaRPr lang="en-US" sz="2400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9942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" r="8356"/>
          <a:stretch>
            <a:fillRect/>
          </a:stretch>
        </p:blipFill>
        <p:spPr>
          <a:xfrm>
            <a:off x="4114800" y="1066800"/>
            <a:ext cx="5029200" cy="3963988"/>
          </a:xfrm>
          <a:noFill/>
        </p:spPr>
      </p:pic>
      <p:sp>
        <p:nvSpPr>
          <p:cNvPr id="39943" name="Text Box 13"/>
          <p:cNvSpPr txBox="1">
            <a:spLocks noChangeArrowheads="1"/>
          </p:cNvSpPr>
          <p:nvPr/>
        </p:nvSpPr>
        <p:spPr bwMode="auto">
          <a:xfrm>
            <a:off x="3733800" y="5105400"/>
            <a:ext cx="53340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4300" indent="-114300"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sz="2000" dirty="0"/>
              <a:t>随机生成</a:t>
            </a:r>
            <a:r>
              <a:rPr lang="en-US" altLang="zh-CN" sz="2000" dirty="0"/>
              <a:t>500</a:t>
            </a:r>
            <a:r>
              <a:rPr lang="zh-CN" altLang="en-US" sz="2000" dirty="0"/>
              <a:t>个点</a:t>
            </a:r>
            <a:endParaRPr lang="en-US" altLang="zh-CN" sz="2000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sz="2000" dirty="0"/>
              <a:t>计算最大距离和最小距离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6863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  <a:r>
              <a:rPr lang="en-US" altLang="zh-CN" dirty="0"/>
              <a:t>——</a:t>
            </a:r>
            <a:r>
              <a:rPr lang="zh-CN" altLang="en-US" dirty="0"/>
              <a:t>降维</a:t>
            </a:r>
            <a:endParaRPr lang="en-US" dirty="0"/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目的</a:t>
            </a:r>
            <a:r>
              <a:rPr 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避免维数灾难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减少计算时间和存储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更容易可视化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有助于消除不相干特征或者噪声</a:t>
            </a:r>
            <a:endParaRPr lang="en-US" dirty="0"/>
          </a:p>
          <a:p>
            <a:pPr lvl="4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zh-CN" altLang="en-US" dirty="0"/>
              <a:t>常用方法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主成分分析</a:t>
            </a:r>
            <a:r>
              <a:rPr lang="en-US" altLang="zh-CN" dirty="0"/>
              <a:t>PCA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奇异值分解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其他：</a:t>
            </a:r>
            <a:r>
              <a:rPr lang="en-US" altLang="zh-CN" dirty="0"/>
              <a:t>t-SNE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872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降维</a:t>
            </a:r>
            <a:r>
              <a:rPr lang="en-US" dirty="0"/>
              <a:t>: PCA</a:t>
            </a:r>
          </a:p>
        </p:txBody>
      </p:sp>
      <p:sp>
        <p:nvSpPr>
          <p:cNvPr id="41987" name="Rectangle 1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寻找能够代表数据中最大变化的映射</a:t>
            </a:r>
            <a:endParaRPr lang="en-US" dirty="0"/>
          </a:p>
          <a:p>
            <a:endParaRPr lang="en-US" dirty="0"/>
          </a:p>
        </p:txBody>
      </p:sp>
      <p:grpSp>
        <p:nvGrpSpPr>
          <p:cNvPr id="41988" name="Group 1088"/>
          <p:cNvGrpSpPr>
            <a:grpSpLocks/>
          </p:cNvGrpSpPr>
          <p:nvPr/>
        </p:nvGrpSpPr>
        <p:grpSpPr bwMode="auto">
          <a:xfrm>
            <a:off x="2057400" y="2286000"/>
            <a:ext cx="3546475" cy="4051300"/>
            <a:chOff x="1498" y="1664"/>
            <a:chExt cx="2234" cy="1950"/>
          </a:xfrm>
        </p:grpSpPr>
        <p:sp>
          <p:nvSpPr>
            <p:cNvPr id="41989" name="Line 1059"/>
            <p:cNvSpPr>
              <a:spLocks noChangeShapeType="1"/>
            </p:cNvSpPr>
            <p:nvPr/>
          </p:nvSpPr>
          <p:spPr bwMode="auto">
            <a:xfrm flipV="1">
              <a:off x="1820" y="1664"/>
              <a:ext cx="0" cy="16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Line 1060"/>
            <p:cNvSpPr>
              <a:spLocks noChangeShapeType="1"/>
            </p:cNvSpPr>
            <p:nvPr/>
          </p:nvSpPr>
          <p:spPr bwMode="auto">
            <a:xfrm>
              <a:off x="1820" y="3320"/>
              <a:ext cx="17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061"/>
            <p:cNvSpPr>
              <a:spLocks noChangeShapeType="1"/>
            </p:cNvSpPr>
            <p:nvPr/>
          </p:nvSpPr>
          <p:spPr bwMode="auto">
            <a:xfrm flipV="1">
              <a:off x="1828" y="2429"/>
              <a:ext cx="1632" cy="88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Oval 1063"/>
            <p:cNvSpPr>
              <a:spLocks noChangeArrowheads="1"/>
            </p:cNvSpPr>
            <p:nvPr/>
          </p:nvSpPr>
          <p:spPr bwMode="auto">
            <a:xfrm>
              <a:off x="2164" y="2946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Oval 1064"/>
            <p:cNvSpPr>
              <a:spLocks noChangeArrowheads="1"/>
            </p:cNvSpPr>
            <p:nvPr/>
          </p:nvSpPr>
          <p:spPr bwMode="auto">
            <a:xfrm>
              <a:off x="2340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Oval 1065"/>
            <p:cNvSpPr>
              <a:spLocks noChangeArrowheads="1"/>
            </p:cNvSpPr>
            <p:nvPr/>
          </p:nvSpPr>
          <p:spPr bwMode="auto">
            <a:xfrm>
              <a:off x="2044" y="3129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Oval 1066"/>
            <p:cNvSpPr>
              <a:spLocks noChangeArrowheads="1"/>
            </p:cNvSpPr>
            <p:nvPr/>
          </p:nvSpPr>
          <p:spPr bwMode="auto">
            <a:xfrm>
              <a:off x="2428" y="2872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Oval 1067"/>
            <p:cNvSpPr>
              <a:spLocks noChangeArrowheads="1"/>
            </p:cNvSpPr>
            <p:nvPr/>
          </p:nvSpPr>
          <p:spPr bwMode="auto">
            <a:xfrm>
              <a:off x="2332" y="29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Oval 1068"/>
            <p:cNvSpPr>
              <a:spLocks noChangeArrowheads="1"/>
            </p:cNvSpPr>
            <p:nvPr/>
          </p:nvSpPr>
          <p:spPr bwMode="auto">
            <a:xfrm>
              <a:off x="2692" y="29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Oval 1069"/>
            <p:cNvSpPr>
              <a:spLocks noChangeArrowheads="1"/>
            </p:cNvSpPr>
            <p:nvPr/>
          </p:nvSpPr>
          <p:spPr bwMode="auto">
            <a:xfrm>
              <a:off x="2612" y="31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Oval 1070"/>
            <p:cNvSpPr>
              <a:spLocks noChangeArrowheads="1"/>
            </p:cNvSpPr>
            <p:nvPr/>
          </p:nvSpPr>
          <p:spPr bwMode="auto">
            <a:xfrm>
              <a:off x="2468" y="30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Oval 1071"/>
            <p:cNvSpPr>
              <a:spLocks noChangeArrowheads="1"/>
            </p:cNvSpPr>
            <p:nvPr/>
          </p:nvSpPr>
          <p:spPr bwMode="auto">
            <a:xfrm>
              <a:off x="2588" y="27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Oval 1072"/>
            <p:cNvSpPr>
              <a:spLocks noChangeArrowheads="1"/>
            </p:cNvSpPr>
            <p:nvPr/>
          </p:nvSpPr>
          <p:spPr bwMode="auto">
            <a:xfrm>
              <a:off x="2964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Oval 1073"/>
            <p:cNvSpPr>
              <a:spLocks noChangeArrowheads="1"/>
            </p:cNvSpPr>
            <p:nvPr/>
          </p:nvSpPr>
          <p:spPr bwMode="auto">
            <a:xfrm>
              <a:off x="3204" y="248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Oval 1074"/>
            <p:cNvSpPr>
              <a:spLocks noChangeArrowheads="1"/>
            </p:cNvSpPr>
            <p:nvPr/>
          </p:nvSpPr>
          <p:spPr bwMode="auto">
            <a:xfrm>
              <a:off x="2236" y="3154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4" name="Oval 1075"/>
            <p:cNvSpPr>
              <a:spLocks noChangeArrowheads="1"/>
            </p:cNvSpPr>
            <p:nvPr/>
          </p:nvSpPr>
          <p:spPr bwMode="auto">
            <a:xfrm>
              <a:off x="2756" y="2713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Oval 1076"/>
            <p:cNvSpPr>
              <a:spLocks noChangeArrowheads="1"/>
            </p:cNvSpPr>
            <p:nvPr/>
          </p:nvSpPr>
          <p:spPr bwMode="auto">
            <a:xfrm>
              <a:off x="2932" y="25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6" name="Oval 1077"/>
            <p:cNvSpPr>
              <a:spLocks noChangeArrowheads="1"/>
            </p:cNvSpPr>
            <p:nvPr/>
          </p:nvSpPr>
          <p:spPr bwMode="auto">
            <a:xfrm>
              <a:off x="2452" y="27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Oval 1078"/>
            <p:cNvSpPr>
              <a:spLocks noChangeArrowheads="1"/>
            </p:cNvSpPr>
            <p:nvPr/>
          </p:nvSpPr>
          <p:spPr bwMode="auto">
            <a:xfrm>
              <a:off x="2836" y="2614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Oval 1079"/>
            <p:cNvSpPr>
              <a:spLocks noChangeArrowheads="1"/>
            </p:cNvSpPr>
            <p:nvPr/>
          </p:nvSpPr>
          <p:spPr bwMode="auto">
            <a:xfrm>
              <a:off x="2908" y="295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Freeform 1080"/>
            <p:cNvSpPr>
              <a:spLocks/>
            </p:cNvSpPr>
            <p:nvPr/>
          </p:nvSpPr>
          <p:spPr bwMode="auto">
            <a:xfrm>
              <a:off x="1928" y="2409"/>
              <a:ext cx="1457" cy="1006"/>
            </a:xfrm>
            <a:custGeom>
              <a:avLst/>
              <a:gdLst>
                <a:gd name="T0" fmla="*/ 4 w 1457"/>
                <a:gd name="T1" fmla="*/ 1002 h 968"/>
                <a:gd name="T2" fmla="*/ 212 w 1457"/>
                <a:gd name="T3" fmla="*/ 488 h 968"/>
                <a:gd name="T4" fmla="*/ 716 w 1457"/>
                <a:gd name="T5" fmla="*/ 166 h 968"/>
                <a:gd name="T6" fmla="*/ 1356 w 1457"/>
                <a:gd name="T7" fmla="*/ 26 h 968"/>
                <a:gd name="T8" fmla="*/ 1324 w 1457"/>
                <a:gd name="T9" fmla="*/ 318 h 968"/>
                <a:gd name="T10" fmla="*/ 940 w 1457"/>
                <a:gd name="T11" fmla="*/ 882 h 968"/>
                <a:gd name="T12" fmla="*/ 188 w 1457"/>
                <a:gd name="T13" fmla="*/ 1194 h 968"/>
                <a:gd name="T14" fmla="*/ 4 w 1457"/>
                <a:gd name="T15" fmla="*/ 1002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57"/>
                <a:gd name="T25" fmla="*/ 0 h 968"/>
                <a:gd name="T26" fmla="*/ 1457 w 1457"/>
                <a:gd name="T27" fmla="*/ 968 h 9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57" h="968">
                  <a:moveTo>
                    <a:pt x="4" y="796"/>
                  </a:moveTo>
                  <a:cubicBezTo>
                    <a:pt x="8" y="703"/>
                    <a:pt x="93" y="499"/>
                    <a:pt x="212" y="388"/>
                  </a:cubicBezTo>
                  <a:cubicBezTo>
                    <a:pt x="331" y="277"/>
                    <a:pt x="525" y="193"/>
                    <a:pt x="716" y="132"/>
                  </a:cubicBezTo>
                  <a:cubicBezTo>
                    <a:pt x="907" y="71"/>
                    <a:pt x="1255" y="0"/>
                    <a:pt x="1356" y="20"/>
                  </a:cubicBezTo>
                  <a:cubicBezTo>
                    <a:pt x="1457" y="40"/>
                    <a:pt x="1393" y="139"/>
                    <a:pt x="1324" y="252"/>
                  </a:cubicBezTo>
                  <a:cubicBezTo>
                    <a:pt x="1255" y="365"/>
                    <a:pt x="1129" y="584"/>
                    <a:pt x="940" y="700"/>
                  </a:cubicBezTo>
                  <a:cubicBezTo>
                    <a:pt x="751" y="816"/>
                    <a:pt x="344" y="928"/>
                    <a:pt x="188" y="948"/>
                  </a:cubicBezTo>
                  <a:cubicBezTo>
                    <a:pt x="32" y="968"/>
                    <a:pt x="0" y="889"/>
                    <a:pt x="4" y="796"/>
                  </a:cubicBez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Oval 1081"/>
            <p:cNvSpPr>
              <a:spLocks noChangeArrowheads="1"/>
            </p:cNvSpPr>
            <p:nvPr/>
          </p:nvSpPr>
          <p:spPr bwMode="auto">
            <a:xfrm>
              <a:off x="2124" y="32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Text Box 1085"/>
            <p:cNvSpPr txBox="1">
              <a:spLocks noChangeArrowheads="1"/>
            </p:cNvSpPr>
            <p:nvPr/>
          </p:nvSpPr>
          <p:spPr bwMode="auto">
            <a:xfrm>
              <a:off x="1498" y="1666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2012" name="Text Box 1086"/>
            <p:cNvSpPr txBox="1">
              <a:spLocks noChangeArrowheads="1"/>
            </p:cNvSpPr>
            <p:nvPr/>
          </p:nvSpPr>
          <p:spPr bwMode="auto">
            <a:xfrm>
              <a:off x="3456" y="3394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2013" name="Text Box 1087"/>
            <p:cNvSpPr txBox="1">
              <a:spLocks noChangeArrowheads="1"/>
            </p:cNvSpPr>
            <p:nvPr/>
          </p:nvSpPr>
          <p:spPr bwMode="auto">
            <a:xfrm>
              <a:off x="3504" y="2242"/>
              <a:ext cx="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e</a:t>
              </a:r>
              <a:endParaRPr lang="en-US" sz="2400" b="0" baseline="-250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4769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4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5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6" name="Picture 4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7" name="Picture 4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</a:p>
        </p:txBody>
      </p:sp>
    </p:spTree>
    <p:extLst>
      <p:ext uri="{BB962C8B-B14F-4D97-AF65-F5344CB8AC3E}">
        <p14:creationId xmlns:p14="http://schemas.microsoft.com/office/powerpoint/2010/main" val="171182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Subset Selection</a:t>
            </a:r>
            <a:r>
              <a:rPr lang="en-US" altLang="zh-CN" dirty="0"/>
              <a:t>——</a:t>
            </a:r>
            <a:r>
              <a:rPr lang="zh-CN" altLang="en-US" dirty="0"/>
              <a:t>特征子集</a:t>
            </a:r>
            <a:endParaRPr lang="en-US" dirty="0"/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也是一种降维的方法</a:t>
            </a:r>
            <a:endParaRPr lang="en-US" dirty="0"/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冗余特征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lvl="1">
              <a:lnSpc>
                <a:spcPct val="125000"/>
              </a:lnSpc>
            </a:pPr>
            <a:r>
              <a:rPr lang="zh-CN" altLang="en-US" dirty="0"/>
              <a:t>重复包含在一个或多个其他属性中的大量或全部信息</a:t>
            </a:r>
            <a:endParaRPr lang="en-US" dirty="0"/>
          </a:p>
          <a:p>
            <a:pPr lvl="1">
              <a:lnSpc>
                <a:spcPct val="125000"/>
              </a:lnSpc>
            </a:pPr>
            <a:r>
              <a:rPr lang="en-US" dirty="0"/>
              <a:t>Example: </a:t>
            </a:r>
            <a:r>
              <a:rPr lang="zh-CN" altLang="en-US" dirty="0"/>
              <a:t>产品交易值、已上税额</a:t>
            </a:r>
            <a:endParaRPr lang="en-US" dirty="0"/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无关特征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lnSpc>
                <a:spcPct val="125000"/>
              </a:lnSpc>
            </a:pPr>
            <a:r>
              <a:rPr lang="zh-CN" altLang="en-US" dirty="0"/>
              <a:t>不包含对数据挖掘任务有用的信息</a:t>
            </a:r>
            <a:endParaRPr lang="en-US" dirty="0"/>
          </a:p>
          <a:p>
            <a:pPr lvl="1">
              <a:lnSpc>
                <a:spcPct val="125000"/>
              </a:lnSpc>
            </a:pPr>
            <a:r>
              <a:rPr lang="en-US" dirty="0"/>
              <a:t>Example: </a:t>
            </a:r>
            <a:r>
              <a:rPr lang="zh-CN" altLang="en-US" dirty="0"/>
              <a:t>学号对于预测</a:t>
            </a:r>
            <a:r>
              <a:rPr lang="en-US" altLang="zh-CN" dirty="0"/>
              <a:t>GPA</a:t>
            </a:r>
            <a:r>
              <a:rPr lang="zh-CN" altLang="en-US" dirty="0"/>
              <a:t>是无用的</a:t>
            </a:r>
            <a:endParaRPr lang="en-US" dirty="0"/>
          </a:p>
          <a:p>
            <a:pPr>
              <a:lnSpc>
                <a:spcPct val="125000"/>
              </a:lnSpc>
            </a:pPr>
            <a:r>
              <a:rPr lang="zh-CN" altLang="en-US" dirty="0"/>
              <a:t>已有很多方法，尤其是在分类领域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zh-CN" altLang="en-US" dirty="0"/>
              <a:t>子空间聚类</a:t>
            </a:r>
            <a:endParaRPr lang="en-US" dirty="0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550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Creation</a:t>
            </a:r>
            <a:r>
              <a:rPr lang="en-US" altLang="zh-CN" dirty="0"/>
              <a:t>——</a:t>
            </a:r>
            <a:r>
              <a:rPr lang="zh-CN" altLang="en-US" dirty="0"/>
              <a:t>特征生成</a:t>
            </a:r>
            <a:endParaRPr lang="en-US" dirty="0"/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创建新的属性，可以比原始属性更有效地捕获数据集中的重要信息 </a:t>
            </a:r>
            <a:endParaRPr lang="en-US" dirty="0"/>
          </a:p>
          <a:p>
            <a:r>
              <a:rPr lang="zh-CN" altLang="en-US" dirty="0"/>
              <a:t>主要</a:t>
            </a:r>
            <a:r>
              <a:rPr lang="en-US" altLang="zh-CN" dirty="0"/>
              <a:t>3</a:t>
            </a:r>
            <a:r>
              <a:rPr lang="zh-CN" altLang="en-US" dirty="0"/>
              <a:t>类方法</a:t>
            </a:r>
            <a:r>
              <a:rPr lang="en-US" dirty="0"/>
              <a:t>:</a:t>
            </a:r>
          </a:p>
          <a:p>
            <a:pPr lvl="1"/>
            <a:r>
              <a:rPr lang="zh-CN" altLang="en-US" dirty="0"/>
              <a:t>特征提取</a:t>
            </a:r>
            <a:endParaRPr lang="en-US" dirty="0"/>
          </a:p>
          <a:p>
            <a:pPr marL="1147763" lvl="2" indent="-233363"/>
            <a:r>
              <a:rPr lang="en-US" sz="2400" dirty="0"/>
              <a:t> </a:t>
            </a:r>
            <a:r>
              <a:rPr lang="en-US" sz="2200" dirty="0"/>
              <a:t>Example: </a:t>
            </a:r>
            <a:r>
              <a:rPr lang="zh-CN" altLang="en-US" sz="2200" dirty="0"/>
              <a:t>图像边缘信息</a:t>
            </a:r>
            <a:endParaRPr lang="en-US" sz="2200" dirty="0"/>
          </a:p>
          <a:p>
            <a:pPr lvl="1"/>
            <a:r>
              <a:rPr lang="zh-CN" altLang="en-US" dirty="0"/>
              <a:t>特征构建</a:t>
            </a:r>
            <a:endParaRPr lang="en-US" dirty="0"/>
          </a:p>
          <a:p>
            <a:pPr marL="1147763" lvl="2" indent="-233363"/>
            <a:r>
              <a:rPr lang="en-US" sz="2200" dirty="0"/>
              <a:t> Example:</a:t>
            </a:r>
            <a:r>
              <a:rPr lang="zh-CN" altLang="en-US" sz="2200" dirty="0"/>
              <a:t>质量除以体积得到密度 </a:t>
            </a:r>
            <a:endParaRPr lang="en-US" sz="2400" dirty="0"/>
          </a:p>
          <a:p>
            <a:pPr lvl="1"/>
            <a:r>
              <a:rPr lang="zh-CN" altLang="en-US" dirty="0"/>
              <a:t>映射至新空间</a:t>
            </a:r>
            <a:endParaRPr lang="en-US" dirty="0"/>
          </a:p>
          <a:p>
            <a:pPr marL="1147763" lvl="2" indent="-233363"/>
            <a:r>
              <a:rPr lang="en-US" sz="2200" dirty="0"/>
              <a:t> Example: </a:t>
            </a:r>
            <a:r>
              <a:rPr lang="zh-CN" altLang="en-US" sz="2200" dirty="0"/>
              <a:t>傅里叶变换、小波变换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882422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zh-CN" altLang="en-US" dirty="0"/>
              <a:t>映射至新空间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4"/>
          <a:stretch>
            <a:fillRect/>
          </a:stretch>
        </p:blipFill>
        <p:spPr bwMode="auto">
          <a:xfrm>
            <a:off x="4419600" y="1524000"/>
            <a:ext cx="46990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76200" y="1366838"/>
            <a:ext cx="4689475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10"/>
          <p:cNvSpPr txBox="1">
            <a:spLocks noChangeArrowheads="1"/>
          </p:cNvSpPr>
          <p:nvPr/>
        </p:nvSpPr>
        <p:spPr bwMode="auto">
          <a:xfrm>
            <a:off x="914400" y="5715000"/>
            <a:ext cx="3886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Two Sine Waves + Noise</a:t>
            </a:r>
          </a:p>
        </p:txBody>
      </p:sp>
      <p:sp>
        <p:nvSpPr>
          <p:cNvPr id="46089" name="Text Box 11"/>
          <p:cNvSpPr txBox="1">
            <a:spLocks noChangeArrowheads="1"/>
          </p:cNvSpPr>
          <p:nvPr/>
        </p:nvSpPr>
        <p:spPr bwMode="auto">
          <a:xfrm>
            <a:off x="5867400" y="5715000"/>
            <a:ext cx="2514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Frequency</a:t>
            </a:r>
          </a:p>
        </p:txBody>
      </p:sp>
      <p:sp>
        <p:nvSpPr>
          <p:cNvPr id="46090" name="Rectangle 12"/>
          <p:cNvSpPr>
            <a:spLocks noChangeArrowheads="1"/>
          </p:cNvSpPr>
          <p:nvPr/>
        </p:nvSpPr>
        <p:spPr bwMode="auto">
          <a:xfrm>
            <a:off x="298450" y="1143000"/>
            <a:ext cx="8394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tabLst>
                <a:tab pos="1198563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Fourier and wavelet transform</a:t>
            </a:r>
          </a:p>
        </p:txBody>
      </p:sp>
      <p:sp>
        <p:nvSpPr>
          <p:cNvPr id="46091" name="Text Box 13"/>
          <p:cNvSpPr txBox="1">
            <a:spLocks noChangeArrowheads="1"/>
          </p:cNvSpPr>
          <p:nvPr/>
        </p:nvSpPr>
        <p:spPr bwMode="auto">
          <a:xfrm>
            <a:off x="5562600" y="52578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22609393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146482935</TotalTime>
  <Pages>3</Pages>
  <Words>4342</Words>
  <Application>Microsoft Office PowerPoint</Application>
  <PresentationFormat>全屏显示(4:3)</PresentationFormat>
  <Paragraphs>797</Paragraphs>
  <Slides>88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88</vt:i4>
      </vt:variant>
    </vt:vector>
  </HeadingPairs>
  <TitlesOfParts>
    <vt:vector size="106" baseType="lpstr">
      <vt:lpstr>cmmi10</vt:lpstr>
      <vt:lpstr>Monotype Sorts</vt:lpstr>
      <vt:lpstr>MS Mincho</vt:lpstr>
      <vt:lpstr>Microsoft Yahei</vt:lpstr>
      <vt:lpstr>Arial</vt:lpstr>
      <vt:lpstr>Cambria</vt:lpstr>
      <vt:lpstr>Cambria Math</vt:lpstr>
      <vt:lpstr>Symbol</vt:lpstr>
      <vt:lpstr>Tahoma</vt:lpstr>
      <vt:lpstr>Times New Roman</vt:lpstr>
      <vt:lpstr>Wingdings</vt:lpstr>
      <vt:lpstr>LC.BRev.FY97</vt:lpstr>
      <vt:lpstr>Document</vt:lpstr>
      <vt:lpstr>Visio</vt:lpstr>
      <vt:lpstr>VISIO</vt:lpstr>
      <vt:lpstr>Worksheet</vt:lpstr>
      <vt:lpstr>Equation</vt:lpstr>
      <vt:lpstr>Bitmap Image</vt:lpstr>
      <vt:lpstr>数据挖掘: 数据</vt:lpstr>
      <vt:lpstr>主要内容</vt:lpstr>
      <vt:lpstr>What is Data?</vt:lpstr>
      <vt:lpstr>属性/特征的类型（数据类型）</vt:lpstr>
      <vt:lpstr>PowerPoint 演示文稿</vt:lpstr>
      <vt:lpstr>PowerPoint 演示文稿</vt:lpstr>
      <vt:lpstr>PowerPoint 演示文稿</vt:lpstr>
      <vt:lpstr>特征值的性质</vt:lpstr>
      <vt:lpstr>离散和连续属性</vt:lpstr>
      <vt:lpstr>不对称属性</vt:lpstr>
      <vt:lpstr>数据的重要性质</vt:lpstr>
      <vt:lpstr>数据集的类型</vt:lpstr>
      <vt:lpstr>记录型数据</vt:lpstr>
      <vt:lpstr>记录型数据——数据矩阵</vt:lpstr>
      <vt:lpstr>记录型数据——文档数据</vt:lpstr>
      <vt:lpstr>记录型数据—— 交易清单</vt:lpstr>
      <vt:lpstr>图数据</vt:lpstr>
      <vt:lpstr>序列数据</vt:lpstr>
      <vt:lpstr>序列数据</vt:lpstr>
      <vt:lpstr>数据质量</vt:lpstr>
      <vt:lpstr>数据质量…</vt:lpstr>
      <vt:lpstr>噪声</vt:lpstr>
      <vt:lpstr>离群点、奇异值</vt:lpstr>
      <vt:lpstr>缺失值</vt:lpstr>
      <vt:lpstr>重复数据</vt:lpstr>
      <vt:lpstr>相似性/不相似性测度</vt:lpstr>
      <vt:lpstr>简单属性的相似性/不相似性测度</vt:lpstr>
      <vt:lpstr>欧氏距离-最常用的</vt:lpstr>
      <vt:lpstr>Euclidean Distance</vt:lpstr>
      <vt:lpstr>Minkowski Distance——明氏距离</vt:lpstr>
      <vt:lpstr>Minkowski Distance: Examples</vt:lpstr>
      <vt:lpstr>Minkowski Distance</vt:lpstr>
      <vt:lpstr>Mahalanobis Distance——马氏距离</vt:lpstr>
      <vt:lpstr>Mahalanobis Distance</vt:lpstr>
      <vt:lpstr>距离（不相似性）测度的性质</vt:lpstr>
      <vt:lpstr>相似性测度的性质</vt:lpstr>
      <vt:lpstr>二值向量之间的相似性</vt:lpstr>
      <vt:lpstr>SMC versus Jaccard: Example</vt:lpstr>
      <vt:lpstr>PowerPoint 演示文稿</vt:lpstr>
      <vt:lpstr>Cosine Similarity-余弦相似性</vt:lpstr>
      <vt:lpstr>Correlation measures the linear relationship between objects-相关系数</vt:lpstr>
      <vt:lpstr>Visually Evaluating Correlation</vt:lpstr>
      <vt:lpstr>相关系数的缺点——只能描述线性的关系</vt:lpstr>
      <vt:lpstr>相关系数 vs 余弦距离 vs 欧氏距离</vt:lpstr>
      <vt:lpstr>PowerPoint 演示文稿</vt:lpstr>
      <vt:lpstr>PowerPoint 演示文稿</vt:lpstr>
      <vt:lpstr>PowerPoint 演示文稿</vt:lpstr>
      <vt:lpstr>邻接测度的选择</vt:lpstr>
      <vt:lpstr>基于信息的测度</vt:lpstr>
      <vt:lpstr>信息与概率</vt:lpstr>
      <vt:lpstr>Entropy-熵</vt:lpstr>
      <vt:lpstr>Examples</vt:lpstr>
      <vt:lpstr>采样数据的熵</vt:lpstr>
      <vt:lpstr>采样数据的熵</vt:lpstr>
      <vt:lpstr>Mutual Information-互信息</vt:lpstr>
      <vt:lpstr>Mutual Information-互信息</vt:lpstr>
      <vt:lpstr>Mutual Information Example</vt:lpstr>
      <vt:lpstr>联合不同相似性的一般方法</vt:lpstr>
      <vt:lpstr>通过权重联合不同相似性</vt:lpstr>
      <vt:lpstr>数据预处理</vt:lpstr>
      <vt:lpstr>Aggregation——聚合</vt:lpstr>
      <vt:lpstr>Example: 澳大利亚降水量</vt:lpstr>
      <vt:lpstr>Sampling——采样 </vt:lpstr>
      <vt:lpstr>Sampling … </vt:lpstr>
      <vt:lpstr>采样大小</vt:lpstr>
      <vt:lpstr>采样的种类</vt:lpstr>
      <vt:lpstr>Discretization——离散化</vt:lpstr>
      <vt:lpstr>无监督离散化</vt:lpstr>
      <vt:lpstr>无监督离散化</vt:lpstr>
      <vt:lpstr>无监督离散化</vt:lpstr>
      <vt:lpstr>无监督离散化</vt:lpstr>
      <vt:lpstr>有监督中的离散化</vt:lpstr>
      <vt:lpstr>Iris Sample Data Set-鸢尾花  </vt:lpstr>
      <vt:lpstr>离散化: Iris Example …</vt:lpstr>
      <vt:lpstr>Discretization: Iris Example</vt:lpstr>
      <vt:lpstr>Binarization——二值化</vt:lpstr>
      <vt:lpstr>图像分割——背景与前景</vt:lpstr>
      <vt:lpstr>图像分割……</vt:lpstr>
      <vt:lpstr>Attribute Transformation——特征变换</vt:lpstr>
      <vt:lpstr>PowerPoint 演示文稿</vt:lpstr>
      <vt:lpstr>PowerPoint 演示文稿</vt:lpstr>
      <vt:lpstr>Curse of Dimensionality-维数灾难</vt:lpstr>
      <vt:lpstr>Dimensionality Reduction——降维</vt:lpstr>
      <vt:lpstr>降维: PCA</vt:lpstr>
      <vt:lpstr>Dimensionality Reduction: PCA</vt:lpstr>
      <vt:lpstr>Feature Subset Selection——特征子集</vt:lpstr>
      <vt:lpstr>Feature Creation——特征生成</vt:lpstr>
      <vt:lpstr>映射至新空间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Yun Liu</cp:lastModifiedBy>
  <cp:revision>707</cp:revision>
  <cp:lastPrinted>2019-08-22T18:06:35Z</cp:lastPrinted>
  <dcterms:created xsi:type="dcterms:W3CDTF">1998-03-18T13:44:31Z</dcterms:created>
  <dcterms:modified xsi:type="dcterms:W3CDTF">2024-03-05T15:09:59Z</dcterms:modified>
</cp:coreProperties>
</file>