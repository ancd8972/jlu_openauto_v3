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tmp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3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2" r:id="rId2"/>
  </p:sldMasterIdLst>
  <p:notesMasterIdLst>
    <p:notesMasterId r:id="rId37"/>
  </p:notesMasterIdLst>
  <p:handoutMasterIdLst>
    <p:handoutMasterId r:id="rId38"/>
  </p:handoutMasterIdLst>
  <p:sldIdLst>
    <p:sldId id="515" r:id="rId3"/>
    <p:sldId id="613" r:id="rId4"/>
    <p:sldId id="614" r:id="rId5"/>
    <p:sldId id="568" r:id="rId6"/>
    <p:sldId id="598" r:id="rId7"/>
    <p:sldId id="599" r:id="rId8"/>
    <p:sldId id="600" r:id="rId9"/>
    <p:sldId id="601" r:id="rId10"/>
    <p:sldId id="615" r:id="rId11"/>
    <p:sldId id="603" r:id="rId12"/>
    <p:sldId id="606" r:id="rId13"/>
    <p:sldId id="611" r:id="rId14"/>
    <p:sldId id="597" r:id="rId15"/>
    <p:sldId id="569" r:id="rId16"/>
    <p:sldId id="571" r:id="rId17"/>
    <p:sldId id="534" r:id="rId18"/>
    <p:sldId id="521" r:id="rId19"/>
    <p:sldId id="607" r:id="rId20"/>
    <p:sldId id="574" r:id="rId21"/>
    <p:sldId id="608" r:id="rId22"/>
    <p:sldId id="609" r:id="rId23"/>
    <p:sldId id="573" r:id="rId24"/>
    <p:sldId id="616" r:id="rId25"/>
    <p:sldId id="524" r:id="rId26"/>
    <p:sldId id="525" r:id="rId27"/>
    <p:sldId id="526" r:id="rId28"/>
    <p:sldId id="535" r:id="rId29"/>
    <p:sldId id="596" r:id="rId30"/>
    <p:sldId id="610" r:id="rId31"/>
    <p:sldId id="612" r:id="rId32"/>
    <p:sldId id="617" r:id="rId33"/>
    <p:sldId id="618" r:id="rId34"/>
    <p:sldId id="619" r:id="rId35"/>
    <p:sldId id="620" r:id="rId36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71" autoAdjust="0"/>
    <p:restoredTop sz="94551" autoAdjust="0"/>
  </p:normalViewPr>
  <p:slideViewPr>
    <p:cSldViewPr>
      <p:cViewPr varScale="1">
        <p:scale>
          <a:sx n="60" d="100"/>
          <a:sy n="60" d="100"/>
        </p:scale>
        <p:origin x="1119" y="39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995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772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474" y="4416111"/>
            <a:ext cx="5143848" cy="41808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6809" tIns="48407" rIns="96809" bIns="484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3800" y="706438"/>
            <a:ext cx="4625975" cy="3470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</p:spTree>
    <p:extLst>
      <p:ext uri="{BB962C8B-B14F-4D97-AF65-F5344CB8AC3E}">
        <p14:creationId xmlns:p14="http://schemas.microsoft.com/office/powerpoint/2010/main" val="8709235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2975"/>
          </a:xfrm>
          <a:solidFill>
            <a:srgbClr val="FFFFFF"/>
          </a:solidFill>
          <a:ln/>
        </p:spPr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078" y="4416111"/>
            <a:ext cx="5142244" cy="418081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575" tIns="45783" rIns="91575" bIns="4578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8199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FCDDEAF5-9425-4DDC-A2D2-5810C9FFB7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698500"/>
            <a:ext cx="4643438" cy="3484563"/>
          </a:xfrm>
          <a:solidFill>
            <a:srgbClr val="FFFFFF"/>
          </a:solidFill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FD0D418-3071-46CA-B154-602AA1AB3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4112" y="4414561"/>
            <a:ext cx="5142177" cy="4183995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595" tIns="45798" rIns="91595" bIns="45798"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9552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39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727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7416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85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1647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396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679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966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1432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44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8948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0123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1116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1116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2255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7427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7AB66-8BEC-4374-B582-654D4281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4F4FC-889D-4209-8548-C1427F83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52E91-62B6-4061-8AAF-A1889813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030DB-C84A-437B-98A8-C1055F5463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157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71980-C1C8-4457-9F6A-96D532D2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EDED4-8281-48BC-9DC3-53F668064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1B9BB-6491-48F2-B082-FC6E13A3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76ADD-85D9-4CF9-A35B-123309FF4F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32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90355-5FEF-4FD5-BB07-08E84440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C9272-297F-44FA-B478-6D02E406F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CC2C9-7724-4AF5-B9DA-C3E472DE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1ABA30-5C07-4190-BB1A-CB854329E8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10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C30A7-4926-40A3-B3DC-AEB03245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71E5B-7ACA-4D12-B9E7-E8687F49A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4153C-B741-4628-9750-A6B692D3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AB45EF-3B47-450B-BC67-DCDC7D68D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22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FC1F6-C458-46F6-B0BD-38DC3620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E49FB-57EF-466C-A8A9-2F28FBFCC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E7D181-759B-49B8-A953-647A9793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4A348-CE91-4292-9AB0-F99CB4CD1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57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90BEF-6253-4D72-8553-3D34C72D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4D8E0-D346-419B-A9B5-A7B5A9C4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4A60E-F033-46F8-B461-915F241D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6E141-97F8-4B3F-847A-A8137189DD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93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7C7691-5F7E-46F5-A49D-15FBE797D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FD8DA-3FCD-4194-BB65-ED1ADB1B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20564-0793-46A9-A4F5-CD6CFA38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EE10A9-468F-43A0-AA1F-444D5252CD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89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1DE60-975A-4778-9583-C8700479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6BDB-F234-47E6-A3EE-5A34D34D1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60F21-1145-4032-9BA5-A50FAE79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6CDED-EC16-4D05-BE8C-F537553C03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204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0DA54-A986-4935-BD72-340598F0C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136B6-70C4-4FD1-9FC9-C5CFEFAD9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293E0-3E30-4489-9664-EBC7CF18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06FC9-E9D5-4381-B73B-9601D9E38A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422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1D285-3BD2-4F3B-BBAB-C04FC3DEC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76FC5-CD46-443D-AF3B-EB208BB6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2B4E4-8C04-4104-9FE3-95B574A0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37938-371B-47C1-885B-7ACB9ACC1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103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5EA3C-4E81-4614-B8B4-D60DFDC2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56C88-2B9E-4E1F-924E-B499BD45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8784C-9166-43BE-A081-B123289D3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9269F-7759-4DA0-9608-D32C3E3BFE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384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11163" y="1143000"/>
            <a:ext cx="8318500" cy="5181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DAC3C-E6EB-4C75-9D16-CE1BFB8B6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5AD7E-CBEF-49AB-A4DD-E4595D3E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39139-E158-4F9E-8870-36DCC009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AD124-652D-4699-9BEB-BF0A63105A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483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02A53-3B60-466B-B1DF-038EAD17E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35803-0B27-4F43-A185-3763EC4E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395D3-A094-4D9D-8522-A6248BF7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E6091-0CA5-4BB6-82E3-E3DDEB6685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566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A4356F-CD02-4726-A4AB-6FEC6084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362CAB-4783-4D17-9D0F-38B6CF0F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4AD326-B49A-480D-9BCA-F1F273A8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3C97A-1A61-43C2-9A71-CFE5CD1BBA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462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83185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163" y="3810000"/>
            <a:ext cx="83185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C836B-BBB1-49CD-806E-1ACF4971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C0D8-A1FC-4785-96F2-868916A98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C24E1-0393-48F3-8283-A07D2755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65D86-E609-426B-A8CE-A64F423A70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8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028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8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400" dirty="0">
                <a:latin typeface="Arial" pitchFamily="34" charset="0"/>
              </a:rPr>
              <a:t>09/23/2020		</a:t>
            </a:r>
            <a:r>
              <a:rPr lang="en-US" sz="1400" baseline="0" dirty="0">
                <a:latin typeface="Arial" pitchFamily="34" charset="0"/>
              </a:rPr>
              <a:t>     </a:t>
            </a:r>
            <a:r>
              <a:rPr lang="en-US" sz="1400" dirty="0">
                <a:latin typeface="Arial" pitchFamily="34" charset="0"/>
              </a:rPr>
              <a:t>Introduction to Data Mining,</a:t>
            </a:r>
            <a:r>
              <a:rPr lang="en-US" sz="1400" baseline="0" dirty="0">
                <a:latin typeface="Arial" pitchFamily="34" charset="0"/>
              </a:rPr>
              <a:t> 2</a:t>
            </a:r>
            <a:r>
              <a:rPr lang="en-US" sz="1400" baseline="30000" dirty="0">
                <a:latin typeface="Arial" pitchFamily="34" charset="0"/>
              </a:rPr>
              <a:t>nd</a:t>
            </a:r>
            <a:r>
              <a:rPr lang="en-US" sz="1400" baseline="0" dirty="0">
                <a:latin typeface="Arial" pitchFamily="34" charset="0"/>
              </a:rPr>
              <a:t> Edition</a:t>
            </a:r>
            <a:r>
              <a:rPr lang="en-US" sz="1400" dirty="0">
                <a:latin typeface="Arial" pitchFamily="34" charset="0"/>
              </a:rPr>
              <a:t> </a:t>
            </a:r>
            <a:r>
              <a:rPr lang="en-US" altLang="en-US" sz="1400" dirty="0"/>
              <a:t> 			              </a:t>
            </a:r>
            <a:fld id="{7084C611-86DA-0C49-84BD-91F3BD06A343}" type="slidenum">
              <a:rPr lang="en-US" altLang="en-US" sz="1400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altLang="en-US" sz="14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charset="0"/>
        <a:buChar char="–"/>
        <a:defRPr sz="28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charset="2"/>
        <a:buChar char="u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6AD0634-2613-4488-A360-18E5D37B41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80C930-2D4E-47AF-965A-C2E890EFE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028" name="Group 16">
            <a:extLst>
              <a:ext uri="{FF2B5EF4-FFF2-40B4-BE49-F238E27FC236}">
                <a16:creationId xmlns:a16="http://schemas.microsoft.com/office/drawing/2014/main" id="{FBB0EDC6-3D2F-4E03-A555-AB7EDCE0457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2" name="Rectangle 17">
              <a:extLst>
                <a:ext uri="{FF2B5EF4-FFF2-40B4-BE49-F238E27FC236}">
                  <a16:creationId xmlns:a16="http://schemas.microsoft.com/office/drawing/2014/main" id="{AFD96532-8723-40E0-8AD8-26F391284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33" name="Rectangle 18">
              <a:extLst>
                <a:ext uri="{FF2B5EF4-FFF2-40B4-BE49-F238E27FC236}">
                  <a16:creationId xmlns:a16="http://schemas.microsoft.com/office/drawing/2014/main" id="{E8B966A8-337D-4FF1-A4E2-D44F3A0D7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C16EC6-558C-4173-89B4-4706DB978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dirty="0" smtClean="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6506A4-A838-434C-ABAB-02288EF9B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91B2CA85-76FB-495C-84FC-037B18CA43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A8829-4BBA-4BC4-A745-E82BE7DD16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239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hf hdr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-84" charset="2"/>
        <a:buChar char="l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8.tmp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4.emf"/><Relationship Id="rId2" Type="http://schemas.openxmlformats.org/officeDocument/2006/relationships/tags" Target="../tags/tag2.xml"/><Relationship Id="rId16" Type="http://schemas.openxmlformats.org/officeDocument/2006/relationships/image" Target="../media/image6.e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3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8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18" Type="http://schemas.openxmlformats.org/officeDocument/2006/relationships/image" Target="../media/image8.tmp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image" Target="../media/image18.emf"/><Relationship Id="rId2" Type="http://schemas.openxmlformats.org/officeDocument/2006/relationships/tags" Target="../tags/tag14.xml"/><Relationship Id="rId16" Type="http://schemas.openxmlformats.org/officeDocument/2006/relationships/oleObject" Target="../embeddings/oleObject6.bin"/><Relationship Id="rId1" Type="http://schemas.openxmlformats.org/officeDocument/2006/relationships/vmlDrawing" Target="../drawings/vmlDrawing6.v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6.tiff"/><Relationship Id="rId4" Type="http://schemas.openxmlformats.org/officeDocument/2006/relationships/image" Target="../media/image1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image" Target="../media/image8.tmp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image" Target="../media/image8.tmp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763000" cy="838200"/>
          </a:xfrm>
        </p:spPr>
        <p:txBody>
          <a:bodyPr/>
          <a:lstStyle/>
          <a:p>
            <a:pPr algn="ctr"/>
            <a:r>
              <a:rPr lang="zh-CN" altLang="en-US" dirty="0"/>
              <a:t>过拟合</a:t>
            </a:r>
            <a:endParaRPr lang="en-US" altLang="en-US" sz="2800" dirty="0"/>
          </a:p>
        </p:txBody>
      </p:sp>
      <p:sp>
        <p:nvSpPr>
          <p:cNvPr id="4098" name="Rectangle 1027"/>
          <p:cNvSpPr>
            <a:spLocks noChangeArrowheads="1"/>
          </p:cNvSpPr>
          <p:nvPr/>
        </p:nvSpPr>
        <p:spPr bwMode="auto">
          <a:xfrm>
            <a:off x="381000" y="2276410"/>
            <a:ext cx="8229600" cy="2357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en-US" altLang="en-US" sz="3200" b="0" dirty="0"/>
              <a:t>Model Overfitting</a:t>
            </a: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None/>
            </a:pP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zh-CN" altLang="en-US" sz="3200" b="0" dirty="0"/>
              <a:t>吉林大学 控制科学与工程系</a:t>
            </a:r>
            <a:endParaRPr lang="en-US" altLang="zh-CN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zh-CN" altLang="en-US" sz="3200" b="0" dirty="0"/>
              <a:t>刘云 博士</a:t>
            </a:r>
            <a:endParaRPr lang="en-US" altLang="en-US" sz="3200" b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016B6D02-8AE9-4F7E-97B0-C9CCD7FC4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分类</a:t>
            </a:r>
            <a:r>
              <a:rPr lang="en-US" dirty="0">
                <a:cs typeface="+mj-cs"/>
              </a:rPr>
              <a:t>: </a:t>
            </a:r>
            <a:r>
              <a:rPr lang="zh-CN" altLang="en-US" dirty="0">
                <a:cs typeface="+mj-cs"/>
              </a:rPr>
              <a:t>定义</a:t>
            </a:r>
            <a:endParaRPr lang="en-US" dirty="0">
              <a:cs typeface="+mj-cs"/>
            </a:endParaRP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5E82030-C269-4E19-A3DA-C9DC83A38D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zh-CN" altLang="en-US" dirty="0">
                <a:cs typeface="+mn-cs"/>
              </a:rPr>
              <a:t>给定一组记录</a:t>
            </a:r>
            <a:r>
              <a:rPr lang="en-US" altLang="zh-CN" dirty="0">
                <a:cs typeface="+mn-cs"/>
              </a:rPr>
              <a:t>/</a:t>
            </a:r>
            <a:r>
              <a:rPr lang="zh-CN" altLang="en-US" dirty="0">
                <a:cs typeface="+mn-cs"/>
              </a:rPr>
              <a:t>数据集</a:t>
            </a:r>
            <a:r>
              <a:rPr lang="en-US" dirty="0">
                <a:cs typeface="+mn-cs"/>
              </a:rPr>
              <a:t>(training set )</a:t>
            </a: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每一个记录都用一个元组表示</a:t>
            </a:r>
            <a:r>
              <a:rPr lang="en-US" dirty="0"/>
              <a:t>(</a:t>
            </a:r>
            <a:r>
              <a:rPr lang="en-US" b="1" i="1" dirty="0" err="1">
                <a:latin typeface="Times New Roman" charset="0"/>
              </a:rPr>
              <a:t>x</a:t>
            </a:r>
            <a:r>
              <a:rPr lang="en-US" dirty="0" err="1"/>
              <a:t>,</a:t>
            </a:r>
            <a:r>
              <a:rPr lang="en-US" i="1" dirty="0" err="1">
                <a:latin typeface="Times New Roman" charset="0"/>
              </a:rPr>
              <a:t>y</a:t>
            </a:r>
            <a:r>
              <a:rPr lang="en-US" dirty="0"/>
              <a:t>), </a:t>
            </a:r>
            <a:r>
              <a:rPr lang="en-US" b="1" i="1" dirty="0">
                <a:latin typeface="Times New Roman" charset="0"/>
              </a:rPr>
              <a:t>x </a:t>
            </a:r>
            <a:r>
              <a:rPr lang="zh-CN" altLang="en-US" dirty="0">
                <a:latin typeface="Times New Roman" charset="0"/>
              </a:rPr>
              <a:t>表示属性集合</a:t>
            </a:r>
            <a:r>
              <a:rPr lang="en-US" dirty="0"/>
              <a:t> and </a:t>
            </a:r>
            <a:r>
              <a:rPr lang="en-US" i="1" dirty="0">
                <a:latin typeface="Times New Roman" charset="0"/>
              </a:rPr>
              <a:t>y </a:t>
            </a:r>
            <a:r>
              <a:rPr lang="zh-CN" altLang="en-US" dirty="0"/>
              <a:t>代表某记录的标签</a:t>
            </a:r>
            <a:endParaRPr lang="en-US" dirty="0"/>
          </a:p>
          <a:p>
            <a:pPr lvl="2">
              <a:buFont typeface="Wingdings" charset="0"/>
              <a:buChar char="u"/>
              <a:defRPr/>
            </a:pPr>
            <a:r>
              <a:rPr lang="en-US" dirty="0"/>
              <a:t> </a:t>
            </a:r>
            <a:r>
              <a:rPr lang="en-US" b="1" i="1" dirty="0">
                <a:latin typeface="Times New Roman" charset="0"/>
              </a:rPr>
              <a:t>x</a:t>
            </a:r>
            <a:r>
              <a:rPr lang="en-US" dirty="0"/>
              <a:t>: attribute, predictor, independent variable, input</a:t>
            </a:r>
          </a:p>
          <a:p>
            <a:pPr lvl="2">
              <a:buFont typeface="Wingdings" charset="0"/>
              <a:buChar char="u"/>
              <a:defRPr/>
            </a:pPr>
            <a:r>
              <a:rPr lang="en-US" dirty="0"/>
              <a:t> </a:t>
            </a:r>
            <a:r>
              <a:rPr lang="en-US" i="1" dirty="0">
                <a:latin typeface="Times New Roman" charset="0"/>
              </a:rPr>
              <a:t>y</a:t>
            </a:r>
            <a:r>
              <a:rPr lang="en-US" dirty="0"/>
              <a:t>: class, response, dependent variable, output</a:t>
            </a:r>
          </a:p>
          <a:p>
            <a:pPr lvl="4">
              <a:defRPr/>
            </a:pPr>
            <a:r>
              <a:rPr lang="zh-CN" altLang="en-US" dirty="0">
                <a:solidFill>
                  <a:srgbClr val="FF0000"/>
                </a:solidFill>
                <a:latin typeface="Times New Roman" charset="0"/>
              </a:rPr>
              <a:t>加粗表示矢量或矩阵，普通字体表示标量</a:t>
            </a:r>
            <a:endParaRPr lang="en-US" dirty="0">
              <a:solidFill>
                <a:srgbClr val="FF0000"/>
              </a:solidFill>
              <a:latin typeface="Times New Roman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Task:</a:t>
            </a: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学习出一个模型，能够将特征 </a:t>
            </a:r>
            <a:r>
              <a:rPr lang="en-US" b="1" i="1" dirty="0">
                <a:latin typeface="Times New Roman" charset="0"/>
              </a:rPr>
              <a:t>x </a:t>
            </a:r>
            <a:r>
              <a:rPr lang="zh-CN" altLang="en-US" dirty="0"/>
              <a:t>映射至标签</a:t>
            </a:r>
            <a:r>
              <a:rPr lang="en-US" dirty="0"/>
              <a:t> </a:t>
            </a:r>
            <a:r>
              <a:rPr lang="en-US" i="1" dirty="0">
                <a:latin typeface="Times New Roman" charset="0"/>
              </a:rPr>
              <a:t>y</a:t>
            </a: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>
                <a:latin typeface="Times New Roman" charset="0"/>
              </a:rPr>
              <a:t>能够确定属性集的标签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2A8E8-34E1-49C0-938E-437D52E252F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09/21/2020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C378C-EF0B-4ED7-A0AF-229AA7AD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Introduction to Data Mining, 2</a:t>
            </a: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nd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 Edition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F9B5E-B437-410B-A7CB-230267D9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85B7A3-5A38-4F3E-B10F-49462E68EC55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23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9304AC4-68D1-439E-9010-1939C98A2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533400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建立分类模型的一般方法</a:t>
            </a:r>
            <a:endParaRPr lang="en-US" dirty="0">
              <a:cs typeface="+mj-cs"/>
            </a:endParaRPr>
          </a:p>
        </p:txBody>
      </p:sp>
      <p:graphicFrame>
        <p:nvGraphicFramePr>
          <p:cNvPr id="9218" name="Object 26">
            <a:extLst>
              <a:ext uri="{FF2B5EF4-FFF2-40B4-BE49-F238E27FC236}">
                <a16:creationId xmlns:a16="http://schemas.microsoft.com/office/drawing/2014/main" id="{EA275511-3D72-4E9A-B133-E7DF2C3BDE39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093788" y="1219200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8" name="Visio" r:id="rId3" imgW="8432800" imgH="6286500" progId="Visio.Drawing.6">
                  <p:embed/>
                </p:oleObj>
              </mc:Choice>
              <mc:Fallback>
                <p:oleObj name="Visio" r:id="rId3" imgW="8432800" imgH="6286500" progId="Visio.Drawing.6">
                  <p:embed/>
                  <p:pic>
                    <p:nvPicPr>
                      <p:cNvPr id="9218" name="Object 26">
                        <a:extLst>
                          <a:ext uri="{FF2B5EF4-FFF2-40B4-BE49-F238E27FC236}">
                            <a16:creationId xmlns:a16="http://schemas.microsoft.com/office/drawing/2014/main" id="{EA275511-3D72-4E9A-B133-E7DF2C3BD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1219200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3B2C6-096E-43D2-A54D-F01C3BBE5B4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E8C20-5521-4B20-A564-301DA80FD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FAC17-B677-4A28-992C-AAE865F82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303AC-9DAF-4A0A-8404-C373509D0818}" type="slidenum">
              <a:rPr lang="en-US"/>
              <a:pPr>
                <a:defRPr/>
              </a:pPr>
              <a:t>3</a:t>
            </a:fld>
            <a:endParaRPr lang="en-US"/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533400" y="4191000"/>
            <a:ext cx="3810000" cy="0"/>
          </a:xfrm>
          <a:prstGeom prst="line">
            <a:avLst/>
          </a:prstGeom>
          <a:ln w="38100">
            <a:prstDash val="lgDash"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6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分类误差</a:t>
            </a:r>
            <a:endParaRPr lang="en-US" altLang="en-US" dirty="0"/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训练误差</a:t>
            </a:r>
            <a:endParaRPr lang="en-US" altLang="en-US" dirty="0"/>
          </a:p>
          <a:p>
            <a:pPr lvl="1"/>
            <a:r>
              <a:rPr lang="zh-CN" altLang="en-US" dirty="0"/>
              <a:t>发生在训练集上的误差</a:t>
            </a:r>
            <a:endParaRPr lang="en-US" altLang="en-US" dirty="0"/>
          </a:p>
          <a:p>
            <a:pPr lvl="1"/>
            <a:endParaRPr lang="en-US" altLang="en-US" dirty="0"/>
          </a:p>
          <a:p>
            <a:r>
              <a:rPr lang="zh-CN" altLang="en-US" dirty="0"/>
              <a:t>测试误差</a:t>
            </a:r>
            <a:endParaRPr lang="en-US" altLang="en-US" dirty="0"/>
          </a:p>
          <a:p>
            <a:pPr lvl="1"/>
            <a:r>
              <a:rPr lang="zh-CN" altLang="en-US" dirty="0"/>
              <a:t>发生在测试集上的误差</a:t>
            </a:r>
            <a:endParaRPr lang="en-US" altLang="en-US" dirty="0"/>
          </a:p>
          <a:p>
            <a:pPr lvl="1"/>
            <a:endParaRPr lang="en-US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泛化误差</a:t>
            </a:r>
            <a:endParaRPr lang="en-US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模型对相同分布中随机样本的期望误差</a:t>
            </a:r>
            <a:endParaRPr lang="en-US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机器学习是面向未来、面向未知的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en-US" altLang="en-US" dirty="0"/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5943600" y="1295400"/>
            <a:ext cx="2971800" cy="4939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800" dirty="0"/>
              <a:t>2</a:t>
            </a:r>
            <a:r>
              <a:rPr lang="zh-CN" altLang="en-US" sz="1800" dirty="0"/>
              <a:t>分类问题</a:t>
            </a:r>
            <a:r>
              <a:rPr lang="en-US" altLang="en-US" sz="1800" dirty="0"/>
              <a:t>: </a:t>
            </a:r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>
                <a:solidFill>
                  <a:srgbClr val="0070C0"/>
                </a:solidFill>
              </a:rPr>
              <a:t>+ : 5400 instances</a:t>
            </a:r>
          </a:p>
          <a:p>
            <a:pPr marL="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solidFill>
                  <a:srgbClr val="0070C0"/>
                </a:solidFill>
              </a:rPr>
              <a:t> </a:t>
            </a:r>
            <a:r>
              <a:rPr lang="en-US" altLang="en-US" sz="1400" dirty="0">
                <a:solidFill>
                  <a:srgbClr val="0070C0"/>
                </a:solidFill>
              </a:rPr>
              <a:t>5000 instances generated from a Gaussian centered at (10,10)</a:t>
            </a:r>
          </a:p>
          <a:p>
            <a:pPr marL="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srgbClr val="0070C0"/>
                </a:solidFill>
              </a:rPr>
              <a:t> 400 noisy instances added</a:t>
            </a:r>
            <a:r>
              <a:rPr lang="en-US" altLang="en-US" sz="1800" dirty="0"/>
              <a:t>	</a:t>
            </a:r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>
                <a:solidFill>
                  <a:srgbClr val="FF0000"/>
                </a:solidFill>
              </a:rPr>
              <a:t>o : 5400 instances </a:t>
            </a:r>
          </a:p>
          <a:p>
            <a:pPr marL="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srgbClr val="FF0000"/>
                </a:solidFill>
              </a:rPr>
              <a:t> Generated from a uniform distribution</a:t>
            </a:r>
          </a:p>
          <a:p>
            <a:pPr>
              <a:spcBef>
                <a:spcPct val="50000"/>
              </a:spcBef>
              <a:defRPr/>
            </a:pPr>
            <a:endParaRPr lang="en-US" altLang="en-US" sz="18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/>
              <a:t> 10% </a:t>
            </a:r>
            <a:r>
              <a:rPr lang="zh-CN" altLang="en-US" sz="1800" dirty="0"/>
              <a:t>训练</a:t>
            </a:r>
            <a:endParaRPr lang="en-US" altLang="zh-CN" sz="1800" dirty="0"/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/>
              <a:t> 90% </a:t>
            </a:r>
            <a:r>
              <a:rPr lang="zh-CN" altLang="en-US" sz="1800" dirty="0"/>
              <a:t>测试</a:t>
            </a:r>
            <a:endParaRPr lang="en-US" altLang="en-US" sz="1800" dirty="0"/>
          </a:p>
          <a:p>
            <a:pPr>
              <a:spcBef>
                <a:spcPct val="50000"/>
              </a:spcBef>
              <a:defRPr/>
            </a:pPr>
            <a:br>
              <a:rPr lang="en-US" altLang="en-US" sz="1800" dirty="0"/>
            </a:br>
            <a:endParaRPr lang="en-US" altLang="en-US" sz="1800" dirty="0">
              <a:sym typeface="Symbol" pitchFamily="18" charset="2"/>
            </a:endParaRPr>
          </a:p>
        </p:txBody>
      </p:sp>
      <p:pic>
        <p:nvPicPr>
          <p:cNvPr id="717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612900"/>
            <a:ext cx="5715000" cy="4140200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决策树节点数量与训练误差关系曲线</a:t>
            </a:r>
            <a:endParaRPr lang="en-US" altLang="en-US" sz="2400" dirty="0"/>
          </a:p>
        </p:txBody>
      </p:sp>
      <p:pic>
        <p:nvPicPr>
          <p:cNvPr id="819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76200" y="1219200"/>
            <a:ext cx="8686800" cy="510540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4</a:t>
            </a:r>
            <a:r>
              <a:rPr lang="zh-CN" altLang="en-US" sz="2400" dirty="0"/>
              <a:t>节点的情形</a:t>
            </a:r>
            <a:endParaRPr lang="en-US" altLang="en-US" sz="2400" dirty="0"/>
          </a:p>
        </p:txBody>
      </p:sp>
      <p:pic>
        <p:nvPicPr>
          <p:cNvPr id="9218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76200" y="1219200"/>
            <a:ext cx="8686800" cy="5105400"/>
          </a:xfrm>
        </p:spPr>
      </p:pic>
      <p:cxnSp>
        <p:nvCxnSpPr>
          <p:cNvPr id="9221" name="Straight Arrow Connector 2"/>
          <p:cNvCxnSpPr>
            <a:cxnSpLocks noChangeShapeType="1"/>
          </p:cNvCxnSpPr>
          <p:nvPr/>
        </p:nvCxnSpPr>
        <p:spPr bwMode="auto">
          <a:xfrm flipV="1">
            <a:off x="990600" y="5099050"/>
            <a:ext cx="0" cy="3810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2" name="TextBox 5"/>
          <p:cNvSpPr txBox="1">
            <a:spLocks noChangeArrowheads="1"/>
          </p:cNvSpPr>
          <p:nvPr/>
        </p:nvSpPr>
        <p:spPr bwMode="auto">
          <a:xfrm>
            <a:off x="1981200" y="3944938"/>
            <a:ext cx="1676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/>
              <a:t>Decision Tree</a:t>
            </a:r>
          </a:p>
        </p:txBody>
      </p:sp>
      <p:sp>
        <p:nvSpPr>
          <p:cNvPr id="9223" name="TextBox 10"/>
          <p:cNvSpPr txBox="1">
            <a:spLocks noChangeArrowheads="1"/>
          </p:cNvSpPr>
          <p:nvPr/>
        </p:nvSpPr>
        <p:spPr bwMode="auto">
          <a:xfrm>
            <a:off x="5181600" y="5105400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/>
              <a:t>Decision boundaries on Training data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344" y="2095500"/>
            <a:ext cx="3640986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57" y="1524000"/>
            <a:ext cx="2345389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50</a:t>
            </a:r>
            <a:r>
              <a:rPr lang="zh-CN" altLang="en-US" sz="2400" dirty="0"/>
              <a:t>节点情形</a:t>
            </a:r>
            <a:endParaRPr lang="en-US" altLang="en-US" sz="2400" dirty="0"/>
          </a:p>
        </p:txBody>
      </p:sp>
      <p:pic>
        <p:nvPicPr>
          <p:cNvPr id="10242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76200" y="1219200"/>
            <a:ext cx="8686800" cy="5105400"/>
          </a:xfrm>
        </p:spPr>
      </p:pic>
      <p:cxnSp>
        <p:nvCxnSpPr>
          <p:cNvPr id="10245" name="Straight Arrow Connector 5"/>
          <p:cNvCxnSpPr>
            <a:cxnSpLocks noChangeShapeType="1"/>
          </p:cNvCxnSpPr>
          <p:nvPr/>
        </p:nvCxnSpPr>
        <p:spPr bwMode="auto">
          <a:xfrm flipV="1">
            <a:off x="3124200" y="5334000"/>
            <a:ext cx="0" cy="3810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6" name="TextBox 6"/>
          <p:cNvSpPr txBox="1">
            <a:spLocks noChangeArrowheads="1"/>
          </p:cNvSpPr>
          <p:nvPr/>
        </p:nvSpPr>
        <p:spPr bwMode="auto">
          <a:xfrm>
            <a:off x="1981200" y="3944938"/>
            <a:ext cx="1676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/>
              <a:t>Decision Tree</a:t>
            </a:r>
          </a:p>
        </p:txBody>
      </p:sp>
      <p:sp>
        <p:nvSpPr>
          <p:cNvPr id="10247" name="TextBox 7"/>
          <p:cNvSpPr txBox="1">
            <a:spLocks noChangeArrowheads="1"/>
          </p:cNvSpPr>
          <p:nvPr/>
        </p:nvSpPr>
        <p:spPr bwMode="auto">
          <a:xfrm>
            <a:off x="1981200" y="3944938"/>
            <a:ext cx="1676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/>
              <a:t>Decision Tree</a:t>
            </a:r>
          </a:p>
        </p:txBody>
      </p:sp>
      <p:sp>
        <p:nvSpPr>
          <p:cNvPr id="10248" name="TextBox 8"/>
          <p:cNvSpPr txBox="1">
            <a:spLocks noChangeArrowheads="1"/>
          </p:cNvSpPr>
          <p:nvPr/>
        </p:nvSpPr>
        <p:spPr bwMode="auto">
          <a:xfrm>
            <a:off x="5181600" y="5108575"/>
            <a:ext cx="27844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/>
              <a:t>Decision boundaries on Training 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345" y="2057400"/>
            <a:ext cx="3727510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823" y="1614351"/>
            <a:ext cx="304564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36601D2-3813-4F1E-B3D5-61579BFEAA2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此处添加题目描述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CDE6B8-8122-4E8A-A120-379CE4B3952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59102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B2251C-A12D-4B77-8F81-F1EADA86B5A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962400" y="590953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E2CB214-57CC-45C3-ADEE-0D7A1071359D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428625" y="597455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E66E009-BEC1-4E6A-B073-60919BE38E3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3248025" y="59738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A9878C8-F94A-4095-B1BF-58753906C84F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3" name="Content Placeholder 3">
            <a:extLst>
              <a:ext uri="{FF2B5EF4-FFF2-40B4-BE49-F238E27FC236}">
                <a16:creationId xmlns:a16="http://schemas.microsoft.com/office/drawing/2014/main" id="{FEF28D61-44CE-47CD-9B37-844057E58CC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30480" y="687785"/>
            <a:ext cx="8686800" cy="5105400"/>
          </a:xfrm>
          <a:prstGeom prst="rect">
            <a:avLst/>
          </a:prstGeom>
        </p:spPr>
      </p:pic>
      <p:sp>
        <p:nvSpPr>
          <p:cNvPr id="24" name="TextBox 4">
            <a:extLst>
              <a:ext uri="{FF2B5EF4-FFF2-40B4-BE49-F238E27FC236}">
                <a16:creationId xmlns:a16="http://schemas.microsoft.com/office/drawing/2014/main" id="{B07B1199-5AC0-46C9-B260-8EF20E426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563938"/>
            <a:ext cx="2743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Decision Tree with 4 nodes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9408FB75-1EC8-4B42-96F8-D2A5B6740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265613"/>
            <a:ext cx="2743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Decision Tree with 50 nodes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9B6408CB-62AE-4172-9CAC-21CD5B34F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929063"/>
            <a:ext cx="2743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Which tree is better ?</a:t>
            </a:r>
          </a:p>
        </p:txBody>
      </p:sp>
      <p:cxnSp>
        <p:nvCxnSpPr>
          <p:cNvPr id="27" name="Straight Arrow Connector 10">
            <a:extLst>
              <a:ext uri="{FF2B5EF4-FFF2-40B4-BE49-F238E27FC236}">
                <a16:creationId xmlns:a16="http://schemas.microsoft.com/office/drawing/2014/main" id="{70F73E0A-46DD-4780-8EA9-A826DBB0BEB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66800" y="3563938"/>
            <a:ext cx="762000" cy="812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8" name="Picture 10">
            <a:extLst>
              <a:ext uri="{FF2B5EF4-FFF2-40B4-BE49-F238E27FC236}">
                <a16:creationId xmlns:a16="http://schemas.microsoft.com/office/drawing/2014/main" id="{2C762ECD-7B7F-45F3-BE5F-CF0369CB05D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28671" y="1979613"/>
            <a:ext cx="3106258" cy="2286000"/>
          </a:xfrm>
          <a:prstGeom prst="rect">
            <a:avLst/>
          </a:prstGeom>
        </p:spPr>
      </p:pic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2092EC5F-1E98-40B3-8766-D3B7BE16030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76600" y="3994059"/>
            <a:ext cx="1981200" cy="6096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0" name="Picture 1">
            <a:extLst>
              <a:ext uri="{FF2B5EF4-FFF2-40B4-BE49-F238E27FC236}">
                <a16:creationId xmlns:a16="http://schemas.microsoft.com/office/drawing/2014/main" id="{5EA318C5-C75C-4CD5-8D09-A8977ECA531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02322" y="1306604"/>
            <a:ext cx="3034155" cy="22860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3689D0D-275E-46F5-9410-61A28B60F087}"/>
              </a:ext>
            </a:extLst>
          </p:cNvPr>
          <p:cNvSpPr txBox="1"/>
          <p:nvPr/>
        </p:nvSpPr>
        <p:spPr>
          <a:xfrm>
            <a:off x="2490811" y="941368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F89F72C-DCFE-4C9D-A4E7-C5BCE5EEEFCB}"/>
              </a:ext>
            </a:extLst>
          </p:cNvPr>
          <p:cNvSpPr txBox="1"/>
          <p:nvPr/>
        </p:nvSpPr>
        <p:spPr>
          <a:xfrm>
            <a:off x="6679906" y="1668469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zh-CN" altLang="en-US" sz="2400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1B496EB-AC71-4D1B-BABD-706DF3479BCD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AD7ADCCE-D480-4C98-B10F-0C7FF6A6369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4EE20804-251A-48C0-8FFE-9A3A5C694B6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B3289A3F-15EB-4F39-B68E-77E73AF492F0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E75B015A-366B-4DAE-BD16-2C5A56AEC2D4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035A899F-9126-4519-921E-D6B7BB4F17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75959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模型过拟合</a:t>
            </a:r>
            <a:endParaRPr lang="en-US" altLang="en-US" dirty="0"/>
          </a:p>
        </p:txBody>
      </p:sp>
      <p:sp>
        <p:nvSpPr>
          <p:cNvPr id="12290" name="Text Box 7"/>
          <p:cNvSpPr txBox="1">
            <a:spLocks noChangeArrowheads="1"/>
          </p:cNvSpPr>
          <p:nvPr/>
        </p:nvSpPr>
        <p:spPr bwMode="auto">
          <a:xfrm>
            <a:off x="304800" y="5410200"/>
            <a:ext cx="86868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b="0" dirty="0"/>
              <a:t>欠拟合</a:t>
            </a:r>
            <a:r>
              <a:rPr lang="en-US" altLang="en-US" sz="1800" b="0" dirty="0"/>
              <a:t>: </a:t>
            </a:r>
            <a:r>
              <a:rPr lang="zh-CN" altLang="en-US" sz="1800" b="0" dirty="0"/>
              <a:t>模型太简单，训练误差和测试误差都很大</a:t>
            </a:r>
            <a:endParaRPr lang="en-US" altLang="en-US" sz="1800" b="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/>
              <a:t>过拟合</a:t>
            </a:r>
            <a:r>
              <a:rPr lang="en-US" altLang="en-US" sz="1800" b="0" dirty="0"/>
              <a:t>: </a:t>
            </a:r>
            <a:r>
              <a:rPr lang="zh-CN" altLang="en-US" sz="1800" b="0" dirty="0"/>
              <a:t>模型太复杂，训练误差小，测试误差大</a:t>
            </a:r>
            <a:endParaRPr lang="en-US" altLang="en-US" sz="1800" b="0" dirty="0">
              <a:solidFill>
                <a:srgbClr val="FF0000"/>
              </a:solidFill>
              <a:sym typeface="Symbol" charset="2"/>
            </a:endParaRPr>
          </a:p>
        </p:txBody>
      </p:sp>
      <p:pic>
        <p:nvPicPr>
          <p:cNvPr id="12291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24350" y="914400"/>
            <a:ext cx="5048250" cy="3657600"/>
          </a:xfrm>
          <a:noFill/>
        </p:spPr>
      </p:pic>
      <p:pic>
        <p:nvPicPr>
          <p:cNvPr id="12292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50482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23900" y="4495800"/>
            <a:ext cx="7696200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Arial" charset="0"/>
              <a:buChar char="•"/>
            </a:pPr>
            <a:r>
              <a:rPr lang="zh-CN" altLang="en-US" sz="2400" b="0" dirty="0">
                <a:sym typeface="Symbol" charset="2"/>
              </a:rPr>
              <a:t>随着分类模型越来越复杂，尽管训练误差一直在下降，测试误差可能会开始上升</a:t>
            </a:r>
            <a:endParaRPr lang="en-US" altLang="en-US" sz="2400" b="0" dirty="0">
              <a:sym typeface="Symbol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过拟合</a:t>
            </a:r>
            <a:endParaRPr lang="en-US" altLang="en-US" dirty="0"/>
          </a:p>
        </p:txBody>
      </p:sp>
      <p:pic>
        <p:nvPicPr>
          <p:cNvPr id="13314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47650" y="838200"/>
            <a:ext cx="5048250" cy="3657600"/>
          </a:xfrm>
          <a:noFill/>
        </p:spPr>
      </p:pic>
      <p:pic>
        <p:nvPicPr>
          <p:cNvPr id="13315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838200"/>
            <a:ext cx="52578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1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19" t="9634" r="13583" b="75781"/>
          <a:stretch>
            <a:fillRect/>
          </a:stretch>
        </p:blipFill>
        <p:spPr bwMode="auto">
          <a:xfrm>
            <a:off x="7543800" y="1143000"/>
            <a:ext cx="1181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4619625" y="4419600"/>
            <a:ext cx="4495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/>
              <a:t>训练集扩大一倍</a:t>
            </a:r>
            <a:endParaRPr lang="en-US" altLang="en-US" sz="1600" dirty="0"/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304800" y="4953000"/>
            <a:ext cx="8686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</a:pPr>
            <a:r>
              <a:rPr lang="zh-CN" altLang="en-US" sz="1800" b="0" dirty="0">
                <a:sym typeface="Symbol" charset="2"/>
              </a:rPr>
              <a:t>增加训练集的样本数量能够减少训练误差和测试误差之间的差异</a:t>
            </a:r>
            <a:endParaRPr lang="en-US" altLang="zh-CN" sz="1800" b="0" dirty="0">
              <a:sym typeface="Symbol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</a:pPr>
            <a:r>
              <a:rPr lang="zh-CN" altLang="en-US" sz="1800" b="0" dirty="0">
                <a:sym typeface="Symbol" charset="2"/>
              </a:rPr>
              <a:t>数据挖掘领域，数据量 </a:t>
            </a:r>
            <a:r>
              <a:rPr lang="en-US" altLang="zh-CN" sz="1800" b="0" dirty="0">
                <a:sym typeface="Symbol" charset="2"/>
              </a:rPr>
              <a:t>the-larger-the-better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</a:pPr>
            <a:r>
              <a:rPr lang="zh-CN" altLang="en-US" sz="1800" b="0" dirty="0">
                <a:sym typeface="Symbol" charset="2"/>
              </a:rPr>
              <a:t>基于数据量确定模型的复杂程度</a:t>
            </a:r>
            <a:endParaRPr lang="en-US" altLang="en-US" sz="1800" b="0" dirty="0">
              <a:sym typeface="Symbol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过拟合</a:t>
            </a:r>
            <a:endParaRPr lang="en-US" altLang="en-US" dirty="0"/>
          </a:p>
        </p:txBody>
      </p:sp>
      <p:pic>
        <p:nvPicPr>
          <p:cNvPr id="13314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47650" y="838200"/>
            <a:ext cx="5048250" cy="3657600"/>
          </a:xfrm>
          <a:noFill/>
        </p:spPr>
      </p:pic>
      <p:pic>
        <p:nvPicPr>
          <p:cNvPr id="13315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838200"/>
            <a:ext cx="52578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1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19" t="9634" r="13583" b="75781"/>
          <a:stretch>
            <a:fillRect/>
          </a:stretch>
        </p:blipFill>
        <p:spPr bwMode="auto">
          <a:xfrm>
            <a:off x="7543800" y="1143000"/>
            <a:ext cx="1181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4619625" y="4419600"/>
            <a:ext cx="4495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Using twice the number of data instances</a:t>
            </a:r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304800" y="4953000"/>
            <a:ext cx="86868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</a:pPr>
            <a:r>
              <a:rPr lang="zh-CN" altLang="en-US" sz="1800" b="0" dirty="0">
                <a:sym typeface="Symbol" charset="2"/>
              </a:rPr>
              <a:t>增加训练集的样本数量能够减少训练误差和测试误差之间的差异</a:t>
            </a:r>
            <a:endParaRPr lang="en-US" altLang="zh-CN" sz="1800" b="0" dirty="0">
              <a:sym typeface="Symbol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</a:pPr>
            <a:r>
              <a:rPr lang="zh-CN" altLang="en-US" sz="1800" dirty="0">
                <a:solidFill>
                  <a:srgbClr val="FF0000"/>
                </a:solidFill>
                <a:sym typeface="Symbol" charset="2"/>
              </a:rPr>
              <a:t>增加训练集</a:t>
            </a:r>
            <a:r>
              <a:rPr lang="zh-CN" altLang="en-US" sz="1800" b="0" dirty="0">
                <a:sym typeface="Symbol" charset="2"/>
              </a:rPr>
              <a:t>是解决过拟合的最根本途径，也是最难的途径。</a:t>
            </a:r>
            <a:endParaRPr lang="en-US" altLang="en-US" sz="1800" b="0" dirty="0">
              <a:sym typeface="Symbol" charset="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1676400"/>
            <a:ext cx="1800012" cy="1371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752600"/>
            <a:ext cx="1863755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6394" y="3095238"/>
            <a:ext cx="289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Decision Tree with 50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8844" y="3048000"/>
            <a:ext cx="289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Decision Tree with 50 nodes</a:t>
            </a:r>
          </a:p>
        </p:txBody>
      </p:sp>
    </p:spTree>
    <p:extLst>
      <p:ext uri="{BB962C8B-B14F-4D97-AF65-F5344CB8AC3E}">
        <p14:creationId xmlns:p14="http://schemas.microsoft.com/office/powerpoint/2010/main" val="2364238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产生过拟合的原因</a:t>
            </a:r>
            <a:endParaRPr lang="en-US" altLang="en-US" dirty="0"/>
          </a:p>
        </p:txBody>
      </p:sp>
      <p:sp>
        <p:nvSpPr>
          <p:cNvPr id="14338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15400" cy="5181600"/>
          </a:xfrm>
        </p:spPr>
        <p:txBody>
          <a:bodyPr/>
          <a:lstStyle/>
          <a:p>
            <a:r>
              <a:rPr lang="zh-CN" altLang="en-US" dirty="0"/>
              <a:t>数据集规模有限</a:t>
            </a:r>
            <a:endParaRPr lang="en-US" altLang="zh-CN" dirty="0"/>
          </a:p>
          <a:p>
            <a:pPr lvl="1"/>
            <a:r>
              <a:rPr lang="zh-CN" altLang="en-US" sz="2400" dirty="0"/>
              <a:t>可能无法反应数据的真实分布</a:t>
            </a:r>
            <a:endParaRPr lang="en-US" altLang="zh-CN" sz="2400" dirty="0"/>
          </a:p>
          <a:p>
            <a:pPr lvl="1"/>
            <a:r>
              <a:rPr lang="zh-CN" altLang="en-US" sz="2400" dirty="0"/>
              <a:t>扩大数据集在有些领域无法实现，</a:t>
            </a:r>
            <a:r>
              <a:rPr lang="en-US" altLang="zh-CN" sz="2400" dirty="0" err="1"/>
              <a:t>eg.</a:t>
            </a:r>
            <a:r>
              <a:rPr lang="zh-CN" altLang="en-US" sz="2400" dirty="0"/>
              <a:t> 医学、保密</a:t>
            </a:r>
            <a:endParaRPr lang="en-US" altLang="en-US" sz="2400" dirty="0"/>
          </a:p>
          <a:p>
            <a:endParaRPr lang="en-US" altLang="en-US" dirty="0"/>
          </a:p>
          <a:p>
            <a:r>
              <a:rPr lang="zh-CN" altLang="en-US" dirty="0"/>
              <a:t>模型复杂度高</a:t>
            </a:r>
            <a:endParaRPr lang="en-US" altLang="en-US" dirty="0"/>
          </a:p>
          <a:p>
            <a:endParaRPr lang="en-US" altLang="en-US" sz="500" dirty="0"/>
          </a:p>
          <a:p>
            <a:pPr lvl="1"/>
            <a:r>
              <a:rPr lang="zh-CN" altLang="en-US" sz="2400" dirty="0"/>
              <a:t>训练的本质是解方程组，拟合参数，模型复杂参数多，方程组欠定，可能存在很多组参数组合可以满足训练集误差最小的要求，模型随机从这些组合中选择一组参数，可能与真实的数据分布不同，导致过拟合</a:t>
            </a:r>
          </a:p>
          <a:p>
            <a:pPr lvl="1"/>
            <a:r>
              <a:rPr lang="zh-CN" altLang="en-US" sz="2400" dirty="0"/>
              <a:t>这种随机选择与数据统计中的多重比较现象类似：</a:t>
            </a:r>
            <a:r>
              <a:rPr lang="en-US" altLang="en-US" sz="2400" dirty="0"/>
              <a:t>Multiple Comparison Procedure</a:t>
            </a:r>
            <a:r>
              <a:rPr lang="zh-CN" altLang="en-US" sz="2400" dirty="0"/>
              <a:t>（</a:t>
            </a:r>
            <a:r>
              <a:rPr lang="en-US" altLang="zh-CN" sz="2400" dirty="0"/>
              <a:t>MCP</a:t>
            </a:r>
            <a:r>
              <a:rPr lang="zh-CN" altLang="en-US" sz="2400" dirty="0"/>
              <a:t>）</a:t>
            </a: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10600" cy="533400"/>
          </a:xfrm>
        </p:spPr>
        <p:txBody>
          <a:bodyPr/>
          <a:lstStyle/>
          <a:p>
            <a:r>
              <a:rPr lang="en-US" altLang="zh-CN" dirty="0"/>
              <a:t>MCP</a:t>
            </a:r>
            <a:r>
              <a:rPr lang="zh-CN" altLang="en-US" dirty="0"/>
              <a:t>效应</a:t>
            </a:r>
            <a:endParaRPr lang="en-US" altLang="en-US" dirty="0"/>
          </a:p>
        </p:txBody>
      </p:sp>
      <p:sp>
        <p:nvSpPr>
          <p:cNvPr id="1014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5989637" cy="5181600"/>
          </a:xfrm>
        </p:spPr>
        <p:txBody>
          <a:bodyPr/>
          <a:lstStyle/>
          <a:p>
            <a:r>
              <a:rPr lang="zh-CN" altLang="en-US" sz="2400" dirty="0"/>
              <a:t>考虑如下任务：预测未来</a:t>
            </a:r>
            <a:r>
              <a:rPr lang="en-US" altLang="zh-CN" sz="2400" dirty="0"/>
              <a:t>10</a:t>
            </a:r>
            <a:r>
              <a:rPr lang="zh-CN" altLang="en-US" sz="2400" dirty="0"/>
              <a:t>个交易日的股票走势，涨</a:t>
            </a:r>
            <a:r>
              <a:rPr lang="en-US" altLang="zh-CN" sz="2400" dirty="0"/>
              <a:t>or</a:t>
            </a:r>
            <a:r>
              <a:rPr lang="zh-CN" altLang="en-US" sz="2400" dirty="0"/>
              <a:t>跌、</a:t>
            </a:r>
            <a:endParaRPr lang="en-US" altLang="zh-CN" sz="2400" dirty="0"/>
          </a:p>
          <a:p>
            <a:endParaRPr lang="en-US" altLang="en-US" sz="1800" dirty="0">
              <a:latin typeface="Times New Roman" charset="0"/>
            </a:endParaRPr>
          </a:p>
          <a:p>
            <a:r>
              <a:rPr lang="zh-CN" altLang="en-US" sz="2400" dirty="0"/>
              <a:t>随机猜（掷硬币）</a:t>
            </a:r>
            <a:r>
              <a:rPr lang="en-US" altLang="en-US" sz="2400" dirty="0"/>
              <a:t>:</a:t>
            </a:r>
          </a:p>
          <a:p>
            <a:pPr lvl="1">
              <a:buFont typeface="Arial" charset="0"/>
              <a:buNone/>
            </a:pPr>
            <a:r>
              <a:rPr lang="en-US" altLang="en-US" sz="2400" i="1" dirty="0">
                <a:latin typeface="Times New Roman" charset="0"/>
              </a:rPr>
              <a:t> P</a:t>
            </a:r>
            <a:r>
              <a:rPr lang="en-US" altLang="en-US" sz="2400" dirty="0"/>
              <a:t>(</a:t>
            </a:r>
            <a:r>
              <a:rPr lang="en-US" altLang="en-US" sz="2400" i="1" dirty="0">
                <a:latin typeface="Times New Roman" charset="0"/>
              </a:rPr>
              <a:t>correct</a:t>
            </a:r>
            <a:r>
              <a:rPr lang="en-US" altLang="en-US" sz="2400" dirty="0"/>
              <a:t>) = 0.5</a:t>
            </a:r>
          </a:p>
          <a:p>
            <a:pPr lvl="1">
              <a:buFont typeface="Arial" charset="0"/>
              <a:buNone/>
            </a:pPr>
            <a:endParaRPr lang="en-US" altLang="en-US" sz="2400" dirty="0"/>
          </a:p>
          <a:p>
            <a:r>
              <a:rPr lang="zh-CN" altLang="en-US" sz="2400" dirty="0"/>
              <a:t>进行</a:t>
            </a:r>
            <a:r>
              <a:rPr lang="en-US" altLang="zh-CN" sz="2400" dirty="0"/>
              <a:t>10</a:t>
            </a:r>
            <a:r>
              <a:rPr lang="zh-CN" altLang="en-US" sz="2400" dirty="0"/>
              <a:t>次随机猜测</a:t>
            </a:r>
            <a:r>
              <a:rPr lang="en-US" altLang="en-US" sz="2400" dirty="0"/>
              <a:t>:</a:t>
            </a:r>
          </a:p>
          <a:p>
            <a:pPr lvl="1">
              <a:buFont typeface="Arial" charset="0"/>
              <a:buNone/>
            </a:pPr>
            <a:r>
              <a:rPr lang="en-US" altLang="en-US" sz="2400" dirty="0"/>
              <a:t> </a:t>
            </a:r>
          </a:p>
          <a:p>
            <a:endParaRPr lang="en-US" altLang="en-US" sz="2400" dirty="0"/>
          </a:p>
          <a:p>
            <a:endParaRPr lang="en-US" altLang="en-US" sz="2400" dirty="0"/>
          </a:p>
        </p:txBody>
      </p:sp>
      <p:graphicFrame>
        <p:nvGraphicFramePr>
          <p:cNvPr id="1014829" name="Group 45"/>
          <p:cNvGraphicFramePr>
            <a:graphicFrameLocks noGrp="1"/>
          </p:cNvGraphicFramePr>
          <p:nvPr>
            <p:ph sz="quarter" idx="2"/>
          </p:nvPr>
        </p:nvGraphicFramePr>
        <p:xfrm>
          <a:off x="6781800" y="1295400"/>
          <a:ext cx="2100263" cy="3962400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14825" name="Object 4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90600" y="4724400"/>
          <a:ext cx="548640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2" name="Equation" r:id="rId3" imgW="2908300" imgH="647700" progId="Equation.3">
                  <p:embed/>
                </p:oleObj>
              </mc:Choice>
              <mc:Fallback>
                <p:oleObj name="Equation" r:id="rId3" imgW="2908300" imgH="6477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724400"/>
                        <a:ext cx="5486400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78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r>
              <a:rPr lang="en-US" altLang="zh-CN" dirty="0"/>
              <a:t>MCP</a:t>
            </a:r>
            <a:r>
              <a:rPr lang="zh-CN" altLang="en-US" dirty="0"/>
              <a:t>效应</a:t>
            </a:r>
            <a:endParaRPr lang="en-US" altLang="en-US" dirty="0"/>
          </a:p>
        </p:txBody>
      </p:sp>
      <p:sp>
        <p:nvSpPr>
          <p:cNvPr id="102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  <a:r>
              <a:rPr lang="en-US" altLang="en-US" dirty="0"/>
              <a:t>:</a:t>
            </a:r>
          </a:p>
          <a:p>
            <a:pPr lvl="1"/>
            <a:r>
              <a:rPr lang="zh-CN" altLang="en-US" dirty="0"/>
              <a:t>进行</a:t>
            </a:r>
            <a:r>
              <a:rPr lang="en-US" altLang="zh-CN" dirty="0"/>
              <a:t>50</a:t>
            </a:r>
            <a:r>
              <a:rPr lang="zh-CN" altLang="en-US" dirty="0"/>
              <a:t>组实验</a:t>
            </a:r>
            <a:r>
              <a:rPr lang="en-US" altLang="zh-CN" dirty="0"/>
              <a:t>——50</a:t>
            </a:r>
            <a:r>
              <a:rPr lang="zh-CN" altLang="en-US" dirty="0"/>
              <a:t>组参数</a:t>
            </a:r>
            <a:endParaRPr lang="en-US" altLang="en-US" dirty="0"/>
          </a:p>
          <a:p>
            <a:pPr lvl="1"/>
            <a:r>
              <a:rPr lang="zh-CN" altLang="en-US" dirty="0"/>
              <a:t>每组实验进行</a:t>
            </a:r>
            <a:r>
              <a:rPr lang="en-US" altLang="zh-CN" dirty="0"/>
              <a:t>10</a:t>
            </a:r>
            <a:r>
              <a:rPr lang="zh-CN" altLang="en-US" dirty="0"/>
              <a:t>次随机猜测</a:t>
            </a:r>
            <a:r>
              <a:rPr lang="en-US" altLang="zh-CN" dirty="0"/>
              <a:t>——10</a:t>
            </a:r>
            <a:r>
              <a:rPr lang="zh-CN" altLang="en-US" dirty="0"/>
              <a:t>次训练</a:t>
            </a:r>
            <a:endParaRPr lang="en-US" altLang="en-US" dirty="0"/>
          </a:p>
          <a:p>
            <a:pPr lvl="1"/>
            <a:endParaRPr lang="en-US" altLang="en-US" dirty="0"/>
          </a:p>
          <a:p>
            <a:r>
              <a:rPr lang="zh-CN" altLang="en-US" dirty="0"/>
              <a:t>从</a:t>
            </a:r>
            <a:r>
              <a:rPr lang="en-US" altLang="zh-CN" dirty="0"/>
              <a:t>50</a:t>
            </a:r>
            <a:r>
              <a:rPr lang="zh-CN" altLang="en-US" dirty="0"/>
              <a:t>组参数结果选择一个最好的</a:t>
            </a:r>
            <a:endParaRPr lang="en-US" altLang="zh-CN" dirty="0"/>
          </a:p>
          <a:p>
            <a:r>
              <a:rPr lang="zh-CN" altLang="en-US" dirty="0"/>
              <a:t>至少一次实验中成功次数大于</a:t>
            </a:r>
            <a:r>
              <a:rPr lang="en-US" altLang="zh-CN" dirty="0"/>
              <a:t>8</a:t>
            </a:r>
            <a:r>
              <a:rPr lang="zh-CN" altLang="en-US" dirty="0"/>
              <a:t>次的概率是：</a:t>
            </a:r>
            <a:endParaRPr lang="en-US" altLang="zh-CN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zh-CN" altLang="en-US" dirty="0"/>
              <a:t>概率值很高，但毫无意义！</a:t>
            </a:r>
            <a:endParaRPr lang="en-US" altLang="en-US" dirty="0"/>
          </a:p>
        </p:txBody>
      </p:sp>
      <p:graphicFrame>
        <p:nvGraphicFramePr>
          <p:cNvPr id="1020932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343833703"/>
              </p:ext>
            </p:extLst>
          </p:nvPr>
        </p:nvGraphicFramePr>
        <p:xfrm>
          <a:off x="1371600" y="4495800"/>
          <a:ext cx="59436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3" name="Equation" r:id="rId3" imgW="2768600" imgH="228600" progId="Equation.3">
                  <p:embed/>
                </p:oleObj>
              </mc:Choice>
              <mc:Fallback>
                <p:oleObj name="Equation" r:id="rId3" imgW="2768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594360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0931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过拟合</a:t>
            </a:r>
            <a:endParaRPr lang="en-US" altLang="en-US" dirty="0"/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过拟合反应在决策树模型的表现为树的结构特别复杂，即节点数量多</a:t>
            </a:r>
            <a:endParaRPr lang="en-US" altLang="en-US" dirty="0"/>
          </a:p>
          <a:p>
            <a:endParaRPr lang="en-US" altLang="en-US" dirty="0"/>
          </a:p>
          <a:p>
            <a:r>
              <a:rPr lang="zh-CN" altLang="en-US" dirty="0"/>
              <a:t>从测试误差看不出模型对未知数据的效果</a:t>
            </a:r>
            <a:endParaRPr lang="en-US" altLang="en-US" dirty="0"/>
          </a:p>
          <a:p>
            <a:endParaRPr lang="en-US" altLang="en-US" dirty="0"/>
          </a:p>
          <a:p>
            <a:r>
              <a:rPr lang="zh-CN" altLang="en-US" dirty="0"/>
              <a:t>需要顾及泛化误差</a:t>
            </a: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解决过拟合的方法之一：模型选择</a:t>
            </a:r>
            <a:endParaRPr lang="en-US" altLang="en-US" dirty="0"/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模型构建时选择合适的模型</a:t>
            </a: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1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目的：保证模型不要过于复杂，以防止过拟合</a:t>
            </a: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1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需要估计泛化误差，并以之为参考：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zh-CN" altLang="en-US" dirty="0"/>
              <a:t>利用验证集（从训练集分出）</a:t>
            </a:r>
            <a:endParaRPr lang="en-US" altLang="zh-CN" dirty="0"/>
          </a:p>
          <a:p>
            <a:pPr lvl="1"/>
            <a:r>
              <a:rPr lang="zh-CN" altLang="en-US" dirty="0"/>
              <a:t>同时考虑模型复杂度</a:t>
            </a:r>
            <a:endParaRPr lang="en-US" altLang="en-US" dirty="0"/>
          </a:p>
          <a:p>
            <a:pPr lvl="1"/>
            <a:r>
              <a:rPr lang="zh-CN" altLang="en-US" dirty="0"/>
              <a:t>选择一个</a:t>
            </a:r>
            <a:r>
              <a:rPr lang="zh-CN" altLang="en-US" dirty="0">
                <a:solidFill>
                  <a:srgbClr val="FF0000"/>
                </a:solidFill>
              </a:rPr>
              <a:t>泛化误差</a:t>
            </a:r>
            <a:r>
              <a:rPr lang="zh-CN" altLang="en-US" dirty="0"/>
              <a:t>最小的模型</a:t>
            </a:r>
            <a:endParaRPr lang="en-US" altLang="zh-CN" dirty="0"/>
          </a:p>
          <a:p>
            <a:pPr lvl="1"/>
            <a:r>
              <a:rPr lang="zh-CN" altLang="en-US" dirty="0"/>
              <a:t>没有未知样本，如何估计泛化误差？</a:t>
            </a:r>
            <a:endParaRPr lang="en-US" altLang="en-US" dirty="0"/>
          </a:p>
          <a:p>
            <a:pPr lvl="1"/>
            <a:endParaRPr lang="en-US" altLang="en-US" sz="500" dirty="0"/>
          </a:p>
          <a:p>
            <a:pPr marL="457200" lvl="1" indent="0"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280400" cy="533400"/>
          </a:xfrm>
        </p:spPr>
        <p:txBody>
          <a:bodyPr/>
          <a:lstStyle/>
          <a:p>
            <a:r>
              <a:rPr lang="zh-CN" altLang="en-US" dirty="0"/>
              <a:t>模型选择：验证集</a:t>
            </a:r>
            <a:endParaRPr lang="en-US" altLang="en-US" dirty="0"/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将训练集一分为二</a:t>
            </a:r>
            <a:r>
              <a:rPr lang="en-US" altLang="en-US" dirty="0"/>
              <a:t>:</a:t>
            </a:r>
          </a:p>
          <a:p>
            <a:pPr lvl="1"/>
            <a:r>
              <a:rPr lang="zh-CN" altLang="en-US" dirty="0"/>
              <a:t>训练集</a:t>
            </a:r>
            <a:r>
              <a:rPr lang="en-US" altLang="en-US" dirty="0"/>
              <a:t>: </a:t>
            </a:r>
          </a:p>
          <a:p>
            <a:pPr lvl="2"/>
            <a:r>
              <a:rPr lang="zh-CN" altLang="en-US" dirty="0"/>
              <a:t>用于模型建立</a:t>
            </a:r>
            <a:endParaRPr lang="en-US" altLang="en-US" dirty="0"/>
          </a:p>
          <a:p>
            <a:pPr lvl="1"/>
            <a:r>
              <a:rPr lang="zh-CN" altLang="en-US" dirty="0"/>
              <a:t>验证集</a:t>
            </a:r>
            <a:r>
              <a:rPr lang="en-US" altLang="en-US" dirty="0"/>
              <a:t>: </a:t>
            </a:r>
            <a:r>
              <a:rPr lang="zh-CN" altLang="en-US" dirty="0"/>
              <a:t>模拟未知数据</a:t>
            </a:r>
            <a:endParaRPr lang="en-US" altLang="en-US" dirty="0"/>
          </a:p>
          <a:p>
            <a:pPr lvl="2"/>
            <a:r>
              <a:rPr lang="zh-CN" altLang="en-US" dirty="0"/>
              <a:t>用于估计泛化误差</a:t>
            </a:r>
            <a:endParaRPr lang="en-US" altLang="en-US" dirty="0"/>
          </a:p>
          <a:p>
            <a:pPr lvl="2"/>
            <a:r>
              <a:rPr lang="zh-CN" altLang="en-US" dirty="0"/>
              <a:t>注意：验证集与测试集</a:t>
            </a:r>
            <a:endParaRPr lang="en-US" altLang="en-US" dirty="0"/>
          </a:p>
          <a:p>
            <a:pPr lvl="2"/>
            <a:endParaRPr lang="en-US" altLang="en-US" dirty="0"/>
          </a:p>
          <a:p>
            <a:r>
              <a:rPr lang="zh-CN" altLang="en-US" dirty="0"/>
              <a:t>缺点</a:t>
            </a:r>
            <a:r>
              <a:rPr lang="en-US" altLang="en-US" dirty="0"/>
              <a:t>:</a:t>
            </a:r>
          </a:p>
          <a:p>
            <a:pPr lvl="1"/>
            <a:r>
              <a:rPr lang="zh-CN" altLang="en-US" dirty="0"/>
              <a:t>进一步减少了训练数据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636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280400" cy="533400"/>
          </a:xfrm>
        </p:spPr>
        <p:txBody>
          <a:bodyPr/>
          <a:lstStyle/>
          <a:p>
            <a:r>
              <a:rPr lang="zh-CN" altLang="en-US" dirty="0"/>
              <a:t>模型选择：模型复杂度</a:t>
            </a:r>
            <a:endParaRPr lang="en-US" altLang="en-US" dirty="0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/>
              <a:t>原理</a:t>
            </a:r>
            <a:r>
              <a:rPr lang="en-US" altLang="en-US" sz="2400" dirty="0"/>
              <a:t>: </a:t>
            </a:r>
            <a:r>
              <a:rPr lang="zh-CN" altLang="en-US" sz="2400" dirty="0"/>
              <a:t>奥卡姆剃刀，简单原理</a:t>
            </a:r>
            <a:endParaRPr lang="en-US" altLang="en-US" sz="2400" dirty="0"/>
          </a:p>
          <a:p>
            <a:pPr lvl="1"/>
            <a:r>
              <a:rPr lang="zh-CN" altLang="en-US" sz="2400" dirty="0"/>
              <a:t>对于两个具有近似泛化误差的模型，我们应该更倾向于选择结构简单的模型</a:t>
            </a:r>
            <a:endParaRPr lang="en-US" altLang="en-US" sz="2400" dirty="0"/>
          </a:p>
          <a:p>
            <a:pPr lvl="4"/>
            <a:endParaRPr lang="en-US" altLang="en-US" sz="1800" dirty="0">
              <a:latin typeface="Times New Roman" charset="0"/>
            </a:endParaRPr>
          </a:p>
          <a:p>
            <a:pPr lvl="1"/>
            <a:r>
              <a:rPr lang="zh-CN" altLang="en-US" sz="2400" dirty="0"/>
              <a:t>复杂模型过拟合的概率更大，因为参数组合更多</a:t>
            </a:r>
            <a:endParaRPr lang="en-US" altLang="en-US" sz="2400" dirty="0"/>
          </a:p>
          <a:p>
            <a:pPr lvl="1"/>
            <a:endParaRPr lang="en-US" altLang="en-US" sz="1800" dirty="0">
              <a:latin typeface="Times New Roman" charset="0"/>
            </a:endParaRPr>
          </a:p>
          <a:p>
            <a:pPr lvl="1"/>
            <a:r>
              <a:rPr lang="zh-CN" altLang="en-US" sz="2400" dirty="0"/>
              <a:t>因此，我们应该考虑模型复杂度，作为模型评估的一个因素</a:t>
            </a:r>
            <a:endParaRPr lang="en-US" altLang="en-US" sz="2400" dirty="0"/>
          </a:p>
          <a:p>
            <a:pPr marL="457200" lvl="1" indent="0">
              <a:buNone/>
            </a:pPr>
            <a:endParaRPr lang="en-US" altLang="en-US" sz="1200" dirty="0">
              <a:solidFill>
                <a:srgbClr val="FF0000"/>
              </a:solidFill>
            </a:endParaRPr>
          </a:p>
          <a:p>
            <a:pPr lvl="1"/>
            <a:endParaRPr lang="en-US" altLang="en-US" dirty="0"/>
          </a:p>
          <a:p>
            <a:pPr lvl="2"/>
            <a:endParaRPr lang="en-US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9EF36AE-2FFF-4784-A833-A62A01BA9961}"/>
              </a:ext>
            </a:extLst>
          </p:cNvPr>
          <p:cNvGrpSpPr/>
          <p:nvPr/>
        </p:nvGrpSpPr>
        <p:grpSpPr>
          <a:xfrm>
            <a:off x="304800" y="4648200"/>
            <a:ext cx="8229600" cy="1066800"/>
            <a:chOff x="529880" y="5257800"/>
            <a:chExt cx="8229600" cy="1066800"/>
          </a:xfrm>
        </p:grpSpPr>
        <p:sp>
          <p:nvSpPr>
            <p:cNvPr id="5" name="Rectangle 4"/>
            <p:cNvSpPr/>
            <p:nvPr/>
          </p:nvSpPr>
          <p:spPr>
            <a:xfrm>
              <a:off x="529880" y="5257800"/>
              <a:ext cx="8229600" cy="9192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</a:pPr>
              <a:r>
                <a:rPr lang="en-US" altLang="en-US" sz="2400" b="0" kern="0" dirty="0">
                  <a:solidFill>
                    <a:srgbClr val="FF0000"/>
                  </a:solidFill>
                  <a:latin typeface="Arial"/>
                </a:rPr>
                <a:t>Gen. Error(Model) = Train. Error(Model, Train. Data) + </a:t>
              </a:r>
            </a:p>
            <a:p>
              <a:pPr lvl="1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</a:pPr>
              <a:r>
                <a:rPr lang="en-US" altLang="en-US" sz="2400" b="0" kern="0" dirty="0">
                  <a:solidFill>
                    <a:srgbClr val="FF0000"/>
                  </a:solidFill>
                  <a:latin typeface="Arial"/>
                </a:rPr>
                <a:t>				 	x Complexity(Model)</a:t>
              </a: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5496" y="5567856"/>
              <a:ext cx="652877" cy="7567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0000"/>
                </a:solidFill>
              </a:rPr>
              <a:t>模型复杂度估计：决策树</a:t>
            </a:r>
            <a:endParaRPr lang="en-US" altLang="en-US" dirty="0"/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包含</a:t>
            </a:r>
            <a:r>
              <a:rPr lang="en-US" altLang="zh-CN" b="1" dirty="0"/>
              <a:t>K</a:t>
            </a:r>
            <a:r>
              <a:rPr lang="zh-CN" altLang="en-US" b="1" dirty="0"/>
              <a:t>个叶节点的决策树的</a:t>
            </a:r>
            <a:r>
              <a:rPr lang="zh-CN" altLang="en-US" b="1" dirty="0">
                <a:solidFill>
                  <a:srgbClr val="FF0000"/>
                </a:solidFill>
              </a:rPr>
              <a:t>悲观</a:t>
            </a:r>
            <a:r>
              <a:rPr lang="zh-CN" altLang="en-US" b="1" dirty="0"/>
              <a:t>泛化误差估计</a:t>
            </a:r>
            <a:r>
              <a:rPr lang="en-US" altLang="en-US" dirty="0"/>
              <a:t>: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r>
              <a:rPr lang="en-US" altLang="en-US" sz="2400" dirty="0">
                <a:sym typeface="Symbol" charset="2"/>
              </a:rPr>
              <a:t>err(T): </a:t>
            </a:r>
            <a:r>
              <a:rPr lang="zh-CN" altLang="en-US" sz="2400" dirty="0">
                <a:sym typeface="Symbol" charset="2"/>
              </a:rPr>
              <a:t>训练误差</a:t>
            </a:r>
            <a:r>
              <a:rPr lang="en-US" altLang="en-US" sz="2400" dirty="0">
                <a:sym typeface="Symbol" charset="2"/>
              </a:rPr>
              <a:t> </a:t>
            </a:r>
          </a:p>
          <a:p>
            <a:pPr lvl="1"/>
            <a:r>
              <a:rPr lang="en-US" altLang="en-US" sz="2400" dirty="0">
                <a:sym typeface="Symbol" charset="2"/>
              </a:rPr>
              <a:t>: </a:t>
            </a:r>
            <a:r>
              <a:rPr lang="zh-CN" altLang="en-US" sz="2400" dirty="0">
                <a:sym typeface="Symbol" charset="2"/>
              </a:rPr>
              <a:t>超参数</a:t>
            </a:r>
            <a:r>
              <a:rPr lang="en-US" altLang="en-US" sz="2400" dirty="0">
                <a:sym typeface="Symbol" charset="2"/>
              </a:rPr>
              <a:t>(</a:t>
            </a:r>
            <a:r>
              <a:rPr lang="zh-CN" altLang="en-US" sz="2400" dirty="0">
                <a:sym typeface="Symbol" charset="2"/>
              </a:rPr>
              <a:t>类似于上一页中的   </a:t>
            </a:r>
            <a:r>
              <a:rPr lang="en-US" altLang="en-US" sz="2400" dirty="0">
                <a:sym typeface="Symbol" charset="2"/>
              </a:rPr>
              <a:t>)</a:t>
            </a:r>
          </a:p>
          <a:p>
            <a:pPr lvl="2"/>
            <a:r>
              <a:rPr lang="en-US" altLang="en-US" sz="2000" dirty="0">
                <a:sym typeface="Symbol" charset="2"/>
              </a:rPr>
              <a:t> </a:t>
            </a:r>
            <a:r>
              <a:rPr lang="zh-CN" altLang="en-US" sz="2000" dirty="0">
                <a:sym typeface="Symbol" charset="2"/>
              </a:rPr>
              <a:t>增加一个叶节点的相对代价</a:t>
            </a:r>
            <a:endParaRPr lang="en-US" altLang="en-US" sz="2000" dirty="0">
              <a:sym typeface="Symbol" charset="2"/>
            </a:endParaRPr>
          </a:p>
          <a:p>
            <a:pPr lvl="1"/>
            <a:r>
              <a:rPr lang="en-US" altLang="en-US" sz="2400" dirty="0">
                <a:sym typeface="Symbol" charset="2"/>
              </a:rPr>
              <a:t>k: </a:t>
            </a:r>
            <a:r>
              <a:rPr lang="zh-CN" altLang="en-US" sz="2400" dirty="0">
                <a:sym typeface="Symbol" charset="2"/>
              </a:rPr>
              <a:t>叶节点数量，</a:t>
            </a:r>
            <a:r>
              <a:rPr lang="en-US" altLang="zh-CN" sz="2400" dirty="0">
                <a:sym typeface="Symbol" charset="2"/>
              </a:rPr>
              <a:t>k</a:t>
            </a:r>
            <a:r>
              <a:rPr lang="zh-CN" altLang="en-US" sz="2400" dirty="0">
                <a:sym typeface="Symbol" charset="2"/>
              </a:rPr>
              <a:t>越大，模型越复杂</a:t>
            </a:r>
            <a:endParaRPr lang="en-US" altLang="en-US" sz="2400" dirty="0">
              <a:sym typeface="Symbol" charset="2"/>
            </a:endParaRPr>
          </a:p>
          <a:p>
            <a:pPr lvl="1"/>
            <a:r>
              <a:rPr lang="en-US" altLang="en-US" sz="2400" dirty="0" err="1">
                <a:sym typeface="Symbol" charset="2"/>
              </a:rPr>
              <a:t>N</a:t>
            </a:r>
            <a:r>
              <a:rPr lang="en-US" altLang="en-US" sz="2400" baseline="-25000" dirty="0" err="1">
                <a:sym typeface="Symbol" charset="2"/>
              </a:rPr>
              <a:t>train</a:t>
            </a:r>
            <a:r>
              <a:rPr lang="en-US" altLang="en-US" sz="2400" dirty="0">
                <a:sym typeface="Symbol" charset="2"/>
              </a:rPr>
              <a:t>: </a:t>
            </a:r>
            <a:r>
              <a:rPr lang="zh-CN" altLang="en-US" sz="2400" dirty="0">
                <a:sym typeface="Symbol" charset="2"/>
              </a:rPr>
              <a:t>训练集数据量</a:t>
            </a:r>
            <a:endParaRPr lang="en-US" altLang="en-US" sz="2400" dirty="0">
              <a:sym typeface="Symbol" charset="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76400"/>
            <a:ext cx="4343400" cy="10524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152909"/>
            <a:ext cx="4699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19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01958"/>
            <a:ext cx="9220200" cy="533400"/>
          </a:xfrm>
        </p:spPr>
        <p:txBody>
          <a:bodyPr/>
          <a:lstStyle/>
          <a:p>
            <a:r>
              <a:rPr lang="zh-CN" altLang="en-US" sz="2400" dirty="0">
                <a:solidFill>
                  <a:srgbClr val="000000"/>
                </a:solidFill>
              </a:rPr>
              <a:t>决策树模型复杂度估计</a:t>
            </a:r>
            <a:r>
              <a:rPr lang="en-US" altLang="en-US" sz="2400" dirty="0">
                <a:solidFill>
                  <a:srgbClr val="000000"/>
                </a:solidFill>
              </a:rPr>
              <a:t>: </a:t>
            </a:r>
            <a:r>
              <a:rPr lang="zh-CN" altLang="en-US" sz="2400" dirty="0">
                <a:solidFill>
                  <a:srgbClr val="000000"/>
                </a:solidFill>
              </a:rPr>
              <a:t>举例</a:t>
            </a:r>
            <a:endParaRPr lang="en-US" altLang="en-US" sz="2800" dirty="0"/>
          </a:p>
        </p:txBody>
      </p:sp>
      <p:graphicFrame>
        <p:nvGraphicFramePr>
          <p:cNvPr id="25602" name="Object 4"/>
          <p:cNvGraphicFramePr>
            <a:graphicFrameLocks noChangeAspect="1"/>
          </p:cNvGraphicFramePr>
          <p:nvPr/>
        </p:nvGraphicFramePr>
        <p:xfrm>
          <a:off x="457200" y="1219200"/>
          <a:ext cx="6400800" cy="343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4" name="Visio" r:id="rId3" imgW="9715500" imgH="5207000" progId="Visio.Drawing.6">
                  <p:embed/>
                </p:oleObj>
              </mc:Choice>
              <mc:Fallback>
                <p:oleObj name="Visio" r:id="rId3" imgW="9715500" imgH="5207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19200"/>
                        <a:ext cx="6400800" cy="343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25" name="Text Box 5"/>
          <p:cNvSpPr txBox="1">
            <a:spLocks noChangeArrowheads="1"/>
          </p:cNvSpPr>
          <p:nvPr/>
        </p:nvSpPr>
        <p:spPr bwMode="auto">
          <a:xfrm>
            <a:off x="7239000" y="1981200"/>
            <a:ext cx="1676400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 dirty="0"/>
              <a:t>e(T</a:t>
            </a:r>
            <a:r>
              <a:rPr lang="en-US" altLang="en-US" sz="1800" baseline="-25000" dirty="0"/>
              <a:t>L</a:t>
            </a:r>
            <a:r>
              <a:rPr lang="en-US" altLang="en-US" sz="1800" dirty="0"/>
              <a:t>) = 4/24</a:t>
            </a:r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 dirty="0"/>
              <a:t>e(T</a:t>
            </a:r>
            <a:r>
              <a:rPr lang="en-US" altLang="en-US" sz="1800" baseline="-25000" dirty="0"/>
              <a:t>R</a:t>
            </a:r>
            <a:r>
              <a:rPr lang="en-US" altLang="en-US" sz="1800" dirty="0"/>
              <a:t>) = 6/24</a:t>
            </a:r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 dirty="0">
                <a:sym typeface="Symbol" charset="2"/>
              </a:rPr>
              <a:t> = 1</a:t>
            </a:r>
          </a:p>
        </p:txBody>
      </p:sp>
      <p:sp>
        <p:nvSpPr>
          <p:cNvPr id="1029126" name="Text Box 6"/>
          <p:cNvSpPr txBox="1">
            <a:spLocks noChangeArrowheads="1"/>
          </p:cNvSpPr>
          <p:nvPr/>
        </p:nvSpPr>
        <p:spPr bwMode="auto">
          <a:xfrm>
            <a:off x="1600200" y="4724400"/>
            <a:ext cx="52578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 dirty="0" err="1"/>
              <a:t>e</a:t>
            </a:r>
            <a:r>
              <a:rPr lang="en-US" altLang="en-US" sz="1800" baseline="-25000" dirty="0" err="1"/>
              <a:t>gen</a:t>
            </a:r>
            <a:r>
              <a:rPr lang="en-US" altLang="en-US" sz="1800" dirty="0"/>
              <a:t>(T</a:t>
            </a:r>
            <a:r>
              <a:rPr lang="en-US" altLang="en-US" sz="1800" baseline="-25000" dirty="0"/>
              <a:t>L</a:t>
            </a:r>
            <a:r>
              <a:rPr lang="en-US" altLang="en-US" sz="1800" dirty="0"/>
              <a:t>) = 4/24 + 1*7/24 = 11/24 = 0.458</a:t>
            </a:r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 dirty="0" err="1"/>
              <a:t>e</a:t>
            </a:r>
            <a:r>
              <a:rPr lang="en-US" altLang="en-US" sz="1800" baseline="-25000" dirty="0" err="1"/>
              <a:t>gen</a:t>
            </a:r>
            <a:r>
              <a:rPr lang="en-US" altLang="en-US" sz="1800" dirty="0"/>
              <a:t>(T</a:t>
            </a:r>
            <a:r>
              <a:rPr lang="en-US" altLang="en-US" sz="1800" baseline="-25000" dirty="0"/>
              <a:t>R</a:t>
            </a:r>
            <a:r>
              <a:rPr lang="en-US" altLang="en-US" sz="1800" dirty="0"/>
              <a:t>) = 6/24 + 1*4/24 = 10/24 = 0.417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33814" y="5878817"/>
            <a:ext cx="4190571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sz="2400" dirty="0"/>
              <a:t>T</a:t>
            </a:r>
            <a:r>
              <a:rPr lang="en-US" altLang="en-US" sz="2400" baseline="-25000" dirty="0"/>
              <a:t>L</a:t>
            </a:r>
            <a:r>
              <a:rPr lang="zh-CN" altLang="en-US" sz="2400" dirty="0"/>
              <a:t>训练误差小，但泛化误差大</a:t>
            </a:r>
          </a:p>
        </p:txBody>
      </p:sp>
    </p:spTree>
    <p:extLst>
      <p:ext uri="{BB962C8B-B14F-4D97-AF65-F5344CB8AC3E}">
        <p14:creationId xmlns:p14="http://schemas.microsoft.com/office/powerpoint/2010/main" val="62014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125" grpId="0"/>
      <p:bldP spid="1029126" grpId="0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0000"/>
                </a:solidFill>
              </a:rPr>
              <a:t>模型复杂度估计：决策树</a:t>
            </a:r>
            <a:endParaRPr lang="en-US" altLang="en-US" sz="2800" dirty="0"/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再代入误差</a:t>
            </a:r>
            <a:r>
              <a:rPr lang="en-US" altLang="en-US" dirty="0"/>
              <a:t>: </a:t>
            </a:r>
            <a:r>
              <a:rPr lang="zh-CN" altLang="en-US" dirty="0">
                <a:solidFill>
                  <a:srgbClr val="FF0000"/>
                </a:solidFill>
              </a:rPr>
              <a:t>乐观估计</a:t>
            </a:r>
            <a:endParaRPr lang="en-US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直接以训练集的误差作为模型的泛化误差</a:t>
            </a:r>
            <a:endParaRPr lang="en-US" altLang="en-US" sz="2400" dirty="0"/>
          </a:p>
          <a:p>
            <a:pPr lvl="1"/>
            <a:r>
              <a:rPr lang="zh-CN" altLang="en-US" sz="2400" dirty="0"/>
              <a:t>是一种对泛化误差的乐观估计</a:t>
            </a:r>
            <a:endParaRPr lang="en-US" altLang="en-US" sz="2400" dirty="0"/>
          </a:p>
          <a:p>
            <a:pPr lvl="1"/>
            <a:r>
              <a:rPr lang="zh-CN" altLang="en-US" sz="2400" dirty="0"/>
              <a:t>前提是：训练集能很好的代表整体数据</a:t>
            </a:r>
            <a:endParaRPr lang="en-US" altLang="en-US" dirty="0"/>
          </a:p>
        </p:txBody>
      </p:sp>
      <p:graphicFrame>
        <p:nvGraphicFramePr>
          <p:cNvPr id="22531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59758599"/>
              </p:ext>
            </p:extLst>
          </p:nvPr>
        </p:nvGraphicFramePr>
        <p:xfrm>
          <a:off x="1598613" y="3149673"/>
          <a:ext cx="5943600" cy="3188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6" name="Visio" r:id="rId3" imgW="9715500" imgH="5207000" progId="Visio.Drawing.6">
                  <p:embed/>
                </p:oleObj>
              </mc:Choice>
              <mc:Fallback>
                <p:oleObj name="Visio" r:id="rId3" imgW="9715500" imgH="52070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3149673"/>
                        <a:ext cx="5943600" cy="3188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6C54625-3380-4828-9DB9-F2A65C62B90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72220" y="794623"/>
            <a:ext cx="7315200" cy="11938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以乐观误差估计结果，哪个决策树更好？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39396E-64DF-4563-9F7A-99DA814406C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216606" y="5105400"/>
            <a:ext cx="762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29ADDE-5F83-49AE-9577-531ED3CA74C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38800" y="5105400"/>
            <a:ext cx="762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3CD954A-9D28-4B2D-A7C9-F94A9EEF5DD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502231" y="516969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11579EA-90F3-488A-B503-748B12C61FE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4924425" y="516969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C0EE76-7F89-4A6F-B085-4C13B5D1F23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7B091C5C-B959-4041-8260-4B386F420F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035935"/>
              </p:ext>
            </p:extLst>
          </p:nvPr>
        </p:nvGraphicFramePr>
        <p:xfrm>
          <a:off x="1057275" y="1647825"/>
          <a:ext cx="5943600" cy="318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3" name="Visio" r:id="rId16" imgW="9715500" imgH="5207000" progId="Visio.Drawing.6">
                  <p:embed/>
                </p:oleObj>
              </mc:Choice>
              <mc:Fallback>
                <p:oleObj name="Visio" r:id="rId16" imgW="9715500" imgH="5207000" progId="Visio.Drawing.6">
                  <p:embed/>
                  <p:pic>
                    <p:nvPicPr>
                      <p:cNvPr id="2253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1647825"/>
                        <a:ext cx="5943600" cy="318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C67A93AF-8BD5-4576-8485-D6467D7B7CD4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906FF78-CDBB-4F23-BCA4-E7B9D51E431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471F6AA9-871F-43C3-8450-0EC97FC44A58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B8FBAF57-3D26-4723-B444-4ABC21591CAF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64EE60C5-32BE-4A94-964D-5A3E1567E68B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E9933FD-DFB8-46FA-94AC-E7A0830BCF0C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888216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模型选择：决策树</a:t>
            </a:r>
            <a:endParaRPr lang="en-US" altLang="en-US" dirty="0"/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763000" cy="5181600"/>
          </a:xfrm>
        </p:spPr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</a:rPr>
              <a:t>前调节：提前终止策略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完全生长之前停止，此时叶节点不全是“纯”的</a:t>
            </a:r>
            <a:endParaRPr lang="en-US" altLang="en-US" sz="2400" dirty="0"/>
          </a:p>
          <a:p>
            <a:pPr lvl="1"/>
            <a:r>
              <a:rPr lang="zh-CN" altLang="en-US" sz="2400" dirty="0"/>
              <a:t>传统的停止条件</a:t>
            </a:r>
            <a:r>
              <a:rPr lang="en-US" altLang="en-US" sz="2400" dirty="0"/>
              <a:t>:</a:t>
            </a:r>
          </a:p>
          <a:p>
            <a:pPr lvl="2"/>
            <a:r>
              <a:rPr lang="zh-CN" altLang="en-US" sz="2000" dirty="0"/>
              <a:t>同一类样本</a:t>
            </a:r>
            <a:endParaRPr lang="en-US" altLang="en-US" sz="2000" dirty="0"/>
          </a:p>
          <a:p>
            <a:pPr lvl="2"/>
            <a:r>
              <a:rPr lang="zh-CN" altLang="en-US" sz="2000" dirty="0"/>
              <a:t>属性值全一样</a:t>
            </a:r>
            <a:endParaRPr lang="en-US" altLang="en-US" sz="2000" dirty="0"/>
          </a:p>
          <a:p>
            <a:pPr lvl="1"/>
            <a:endParaRPr lang="en-US" altLang="en-US" sz="2400" dirty="0"/>
          </a:p>
          <a:p>
            <a:pPr lvl="1"/>
            <a:r>
              <a:rPr lang="zh-CN" altLang="en-US" sz="2400" dirty="0"/>
              <a:t>更加限制性的条件</a:t>
            </a:r>
            <a:r>
              <a:rPr lang="en-US" altLang="en-US" sz="2400" dirty="0"/>
              <a:t>:</a:t>
            </a:r>
          </a:p>
          <a:p>
            <a:pPr lvl="2"/>
            <a:r>
              <a:rPr lang="zh-CN" altLang="en-US" sz="2000" dirty="0"/>
              <a:t>节点样本数小于用户定义的阈值，则终止</a:t>
            </a:r>
            <a:endParaRPr lang="en-US" altLang="en-US" sz="2000" dirty="0"/>
          </a:p>
          <a:p>
            <a:pPr lvl="2"/>
            <a:r>
              <a:rPr lang="zh-CN" altLang="en-US" sz="2000" dirty="0"/>
              <a:t>样本标签分布与可用的特征无关，则终止（利用一些检验技术）</a:t>
            </a:r>
            <a:endParaRPr lang="en-US" altLang="en-US" sz="2000" dirty="0"/>
          </a:p>
          <a:p>
            <a:pPr lvl="2"/>
            <a:r>
              <a:rPr lang="zh-CN" altLang="en-US" sz="2000" dirty="0"/>
              <a:t>继续分裂不会改善杂度指标，例如</a:t>
            </a:r>
            <a:r>
              <a:rPr lang="en-US" altLang="zh-CN" sz="2000" dirty="0"/>
              <a:t>Gini</a:t>
            </a:r>
            <a:r>
              <a:rPr lang="zh-CN" altLang="en-US" sz="2000" dirty="0"/>
              <a:t>指标和信息增益</a:t>
            </a:r>
            <a:endParaRPr lang="en-US" altLang="en-US" sz="2000" dirty="0"/>
          </a:p>
          <a:p>
            <a:pPr lvl="2"/>
            <a:r>
              <a:rPr lang="zh-CN" altLang="en-US" sz="2000" dirty="0"/>
              <a:t>估计的泛化误差小于特定的阈值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模型选择：决策树</a:t>
            </a:r>
            <a:endParaRPr lang="en-US" altLang="en-US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后调节</a:t>
            </a:r>
            <a:endParaRPr lang="en-US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完全生长</a:t>
            </a:r>
            <a:endParaRPr lang="en-US" altLang="en-US" dirty="0"/>
          </a:p>
          <a:p>
            <a:pPr lvl="1"/>
            <a:r>
              <a:rPr lang="zh-CN" altLang="en-US" dirty="0"/>
              <a:t>子树替换</a:t>
            </a:r>
            <a:endParaRPr lang="en-US" altLang="en-US" dirty="0"/>
          </a:p>
          <a:p>
            <a:pPr lvl="2"/>
            <a:r>
              <a:rPr lang="en-US" altLang="en-US" dirty="0"/>
              <a:t> </a:t>
            </a:r>
            <a:r>
              <a:rPr lang="zh-CN" altLang="en-US" dirty="0"/>
              <a:t>以自下而上的方式修建决策树的节点</a:t>
            </a:r>
            <a:endParaRPr lang="en-US" altLang="en-US" dirty="0"/>
          </a:p>
          <a:p>
            <a:pPr lvl="2"/>
            <a:r>
              <a:rPr lang="en-US" altLang="en-US" dirty="0"/>
              <a:t> </a:t>
            </a:r>
            <a:r>
              <a:rPr lang="zh-CN" altLang="en-US" dirty="0"/>
              <a:t>如果修剪后泛化误差减小，则用一个叶节点替换减下来的子树</a:t>
            </a:r>
            <a:endParaRPr lang="en-US" altLang="en-US" dirty="0"/>
          </a:p>
          <a:p>
            <a:pPr lvl="2"/>
            <a:r>
              <a:rPr lang="en-US" altLang="en-US" dirty="0"/>
              <a:t> </a:t>
            </a:r>
            <a:r>
              <a:rPr lang="zh-CN" altLang="en-US" dirty="0"/>
              <a:t>该叶节点的标签通过多数投票的方式确定</a:t>
            </a:r>
            <a:endParaRPr lang="en-US" altLang="en-US" dirty="0"/>
          </a:p>
          <a:p>
            <a:pPr lvl="1"/>
            <a:r>
              <a:rPr lang="zh-CN" altLang="en-US" dirty="0"/>
              <a:t>子树提升，用最常用的分支树替代</a:t>
            </a: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后调节：举例</a:t>
            </a:r>
            <a:endParaRPr lang="en-US" altLang="en-US" dirty="0"/>
          </a:p>
        </p:txBody>
      </p:sp>
      <p:graphicFrame>
        <p:nvGraphicFramePr>
          <p:cNvPr id="31746" name="Object 3"/>
          <p:cNvGraphicFramePr>
            <a:graphicFrameLocks noChangeAspect="1"/>
          </p:cNvGraphicFramePr>
          <p:nvPr/>
        </p:nvGraphicFramePr>
        <p:xfrm>
          <a:off x="1447800" y="3017838"/>
          <a:ext cx="4689475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0" name="VISIO" r:id="rId3" imgW="4689544" imgH="2395148" progId="Visio.Drawing.6">
                  <p:embed/>
                </p:oleObj>
              </mc:Choice>
              <mc:Fallback>
                <p:oleObj name="VISIO" r:id="rId3" imgW="4689544" imgH="2395148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017838"/>
                        <a:ext cx="4689475" cy="239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7204" name="Group 4"/>
          <p:cNvGraphicFramePr>
            <a:graphicFrameLocks noGrp="1"/>
          </p:cNvGraphicFramePr>
          <p:nvPr/>
        </p:nvGraphicFramePr>
        <p:xfrm>
          <a:off x="914400" y="1524000"/>
          <a:ext cx="1905000" cy="12192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Error = 10/30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760" name="Text Box 17"/>
          <p:cNvSpPr txBox="1">
            <a:spLocks noChangeArrowheads="1"/>
          </p:cNvSpPr>
          <p:nvPr/>
        </p:nvSpPr>
        <p:spPr bwMode="auto">
          <a:xfrm>
            <a:off x="4495800" y="1066800"/>
            <a:ext cx="46482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Training Error (Before splitting) = 10/30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Pessimistic error = (10 + 0.5)/30 = 10.5/30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Training Error (After splitting) = 9/30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Pessimistic error (After splitting)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	= (9 + 4 </a:t>
            </a:r>
            <a:r>
              <a:rPr lang="en-US" altLang="en-US" sz="1800" dirty="0">
                <a:sym typeface="Symbol" charset="2"/>
              </a:rPr>
              <a:t> 0.5)/30 = 11/30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	</a:t>
            </a:r>
            <a:r>
              <a:rPr lang="en-US" altLang="en-US" sz="1800" dirty="0">
                <a:solidFill>
                  <a:srgbClr val="FF0000"/>
                </a:solidFill>
              </a:rPr>
              <a:t>PRUNE!</a:t>
            </a:r>
          </a:p>
        </p:txBody>
      </p:sp>
      <p:graphicFrame>
        <p:nvGraphicFramePr>
          <p:cNvPr id="947218" name="Group 18"/>
          <p:cNvGraphicFramePr>
            <a:graphicFrameLocks noGrp="1"/>
          </p:cNvGraphicFramePr>
          <p:nvPr/>
        </p:nvGraphicFramePr>
        <p:xfrm>
          <a:off x="1524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7229" name="Group 29"/>
          <p:cNvGraphicFramePr>
            <a:graphicFrameLocks noGrp="1"/>
          </p:cNvGraphicFramePr>
          <p:nvPr/>
        </p:nvGraphicFramePr>
        <p:xfrm>
          <a:off x="19812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7240" name="Group 40"/>
          <p:cNvGraphicFramePr>
            <a:graphicFrameLocks noGrp="1"/>
          </p:cNvGraphicFramePr>
          <p:nvPr/>
        </p:nvGraphicFramePr>
        <p:xfrm>
          <a:off x="38100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7251" name="Group 51"/>
          <p:cNvGraphicFramePr>
            <a:graphicFrameLocks noGrp="1"/>
          </p:cNvGraphicFramePr>
          <p:nvPr/>
        </p:nvGraphicFramePr>
        <p:xfrm>
          <a:off x="56388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3497263"/>
            <a:ext cx="3366273" cy="815673"/>
          </a:xfrm>
          <a:prstGeom prst="rect">
            <a:avLst/>
          </a:prstGeom>
        </p:spPr>
      </p:pic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7435132" y="4330589"/>
            <a:ext cx="1676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 dirty="0">
                <a:sym typeface="Symbol" charset="2"/>
              </a:rPr>
              <a:t> = 0.5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后调节：举例</a:t>
            </a:r>
            <a:endParaRPr lang="en-US" altLang="en-US" dirty="0"/>
          </a:p>
        </p:txBody>
      </p:sp>
      <p:graphicFrame>
        <p:nvGraphicFramePr>
          <p:cNvPr id="32770" name="Object 2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3862932"/>
              </p:ext>
            </p:extLst>
          </p:nvPr>
        </p:nvGraphicFramePr>
        <p:xfrm>
          <a:off x="990600" y="990600"/>
          <a:ext cx="7199312" cy="538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5" name="Visio" r:id="rId3" imgW="9791700" imgH="7327900" progId="Visio.Drawing.6">
                  <p:embed/>
                </p:oleObj>
              </mc:Choice>
              <mc:Fallback>
                <p:oleObj name="Visio" r:id="rId3" imgW="9791700" imgH="7327900" progId="Visio.Drawing.6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990600"/>
                        <a:ext cx="7199312" cy="538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模型评估</a:t>
            </a:r>
            <a:endParaRPr lang="en-US" altLang="en-US" dirty="0"/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0981" y="1066800"/>
            <a:ext cx="8580438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目的</a:t>
            </a:r>
            <a:r>
              <a:rPr lang="en-US" altLang="en-US" sz="2400" dirty="0"/>
              <a:t>: 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估计模型在之前未见过的数据上的性能，即测试集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</a:pPr>
            <a:endParaRPr lang="en-US" altLang="en-US" sz="1000" dirty="0"/>
          </a:p>
          <a:p>
            <a:r>
              <a:rPr lang="zh-CN" altLang="en-US" sz="2400" dirty="0"/>
              <a:t>两种方式</a:t>
            </a:r>
            <a:endParaRPr lang="en-US" altLang="en-US" sz="2400" dirty="0"/>
          </a:p>
          <a:p>
            <a:r>
              <a:rPr lang="zh-CN" altLang="en-US" sz="2400" dirty="0"/>
              <a:t>传统的训练</a:t>
            </a:r>
            <a:r>
              <a:rPr lang="en-US" altLang="zh-CN" sz="2400" dirty="0"/>
              <a:t>+</a:t>
            </a:r>
            <a:r>
              <a:rPr lang="zh-CN" altLang="en-US" sz="2400" dirty="0"/>
              <a:t>测试方法</a:t>
            </a:r>
            <a:endParaRPr lang="en-US" altLang="en-US" sz="2400" dirty="0"/>
          </a:p>
          <a:p>
            <a:pPr lvl="1"/>
            <a:r>
              <a:rPr lang="en-US" altLang="en-US" sz="2400" dirty="0"/>
              <a:t>k% </a:t>
            </a:r>
            <a:r>
              <a:rPr lang="zh-CN" altLang="en-US" sz="2400" dirty="0"/>
              <a:t>训练，</a:t>
            </a:r>
            <a:r>
              <a:rPr lang="en-US" altLang="en-US" sz="2400" dirty="0"/>
              <a:t>(100-k)% </a:t>
            </a:r>
            <a:r>
              <a:rPr lang="zh-CN" altLang="en-US" sz="2400" dirty="0"/>
              <a:t>测试</a:t>
            </a:r>
            <a:r>
              <a:rPr lang="en-US" altLang="en-US" sz="2400" dirty="0"/>
              <a:t> </a:t>
            </a:r>
          </a:p>
          <a:p>
            <a:pPr lvl="1"/>
            <a:r>
              <a:rPr lang="zh-CN" altLang="en-US" sz="2400" dirty="0"/>
              <a:t>随机下采样</a:t>
            </a:r>
            <a:endParaRPr lang="en-US" altLang="en-US" sz="2400" dirty="0"/>
          </a:p>
          <a:p>
            <a:r>
              <a:rPr lang="zh-CN" altLang="en-US" sz="2400" dirty="0"/>
              <a:t>交叉验证</a:t>
            </a:r>
            <a:endParaRPr lang="en-US" altLang="en-US" sz="2400" dirty="0"/>
          </a:p>
          <a:p>
            <a:pPr lvl="1"/>
            <a:r>
              <a:rPr lang="zh-CN" altLang="en-US" sz="2400" dirty="0"/>
              <a:t>数据集划分为</a:t>
            </a:r>
            <a:r>
              <a:rPr lang="en-US" altLang="zh-CN" sz="2400" dirty="0"/>
              <a:t>k</a:t>
            </a:r>
            <a:r>
              <a:rPr lang="zh-CN" altLang="en-US" sz="2400" dirty="0"/>
              <a:t>个子集</a:t>
            </a:r>
            <a:endParaRPr lang="en-US" altLang="en-US" sz="2400" dirty="0"/>
          </a:p>
          <a:p>
            <a:pPr lvl="1"/>
            <a:r>
              <a:rPr lang="en-US" altLang="en-US" sz="2400" dirty="0"/>
              <a:t>k-fold: k-1 </a:t>
            </a:r>
            <a:r>
              <a:rPr lang="zh-CN" altLang="en-US" sz="2400" dirty="0"/>
              <a:t>个子集训练</a:t>
            </a:r>
            <a:r>
              <a:rPr lang="en-US" altLang="en-US" sz="2400" dirty="0"/>
              <a:t>, 1</a:t>
            </a:r>
            <a:r>
              <a:rPr lang="zh-CN" altLang="en-US" sz="2400" dirty="0"/>
              <a:t>个子集测试</a:t>
            </a:r>
            <a:endParaRPr lang="en-US" altLang="en-US" sz="2400" dirty="0"/>
          </a:p>
          <a:p>
            <a:pPr lvl="1"/>
            <a:r>
              <a:rPr lang="zh-CN" altLang="en-US" sz="2400" dirty="0"/>
              <a:t>特例：留一法交叉验证，</a:t>
            </a:r>
            <a:r>
              <a:rPr lang="en-US" altLang="zh-CN" sz="2400" dirty="0"/>
              <a:t>k=n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交叉验证：举例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zh-CN" altLang="en-US" dirty="0"/>
              <a:t>折交叉验证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254250"/>
            <a:ext cx="5664200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90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D56B-A248-48CE-B578-93F8939BD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交叉验证的方法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A74A7-DC75-4ADB-B83B-01151631B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重复交叉验证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运行多次交叉验证流程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估计泛化误差的变化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分层交叉验证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保证训练集和测试集中各类样本占比平均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类间不平衡时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模型参数优化，要用嵌套交叉验证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558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D1981C-317F-46EA-87AD-8FBC1935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模型选择与评估中的陷阱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6A4D6C-44DB-4F41-B687-49BB1164C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训练集和测试集的重叠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如果有重叠，测试集中样本就不能完全代表“</a:t>
            </a:r>
            <a:r>
              <a:rPr lang="en-US" altLang="zh-CN" dirty="0"/>
              <a:t>unseen</a:t>
            </a:r>
            <a:r>
              <a:rPr lang="zh-CN" altLang="en-US" dirty="0"/>
              <a:t>”的样本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测试错误会减小，因为一部分测试集样本已经得到训练，尤其是过拟合的情形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3521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D1981C-317F-46EA-87AD-8FBC1935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模型选择与评估中的陷阱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6A4D6C-44DB-4F41-B687-49BB1164C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把验证误差当做泛化误差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验证误差可用于模型选择、超参数选择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只能证明所选择模型</a:t>
            </a:r>
            <a:r>
              <a:rPr lang="en-US" altLang="zh-CN" dirty="0"/>
              <a:t>/</a:t>
            </a:r>
            <a:r>
              <a:rPr lang="zh-CN" altLang="en-US" dirty="0"/>
              <a:t>超参数优于其他选择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但不能证明模型的</a:t>
            </a:r>
            <a:r>
              <a:rPr lang="zh-CN" altLang="en-US" b="1" dirty="0">
                <a:solidFill>
                  <a:srgbClr val="FF0000"/>
                </a:solidFill>
              </a:rPr>
              <a:t>泛化能力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应该用独立测试集模拟“</a:t>
            </a:r>
            <a:r>
              <a:rPr lang="en-US" altLang="zh-CN" b="1" dirty="0">
                <a:solidFill>
                  <a:srgbClr val="FF0000"/>
                </a:solidFill>
              </a:rPr>
              <a:t>unseen</a:t>
            </a:r>
            <a:r>
              <a:rPr lang="zh-CN" altLang="en-US" dirty="0"/>
              <a:t>”数据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884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501FCCD-E8A9-41C7-90C1-7B74FC305C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" y="635000"/>
            <a:ext cx="8737600" cy="27940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数据集包含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个样本，随机分成两半，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用于训练，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用于测试，分别构建了两个决策树模型，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个叶节点）和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个叶节点），两个模型的准确率如下表所示：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3CD85A-88A7-4912-B4DC-FCBAA9A188C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628900" y="5572124"/>
            <a:ext cx="1600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T10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F39434-1569-4C0E-BCDB-BCB9EB8C09F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800600" y="5580062"/>
            <a:ext cx="1143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T100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7CEBE56-6ABA-4EC0-A762-DB7459D806C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914525" y="5636417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3B389DF-4F70-443F-95CA-FB5B5575B90F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086225" y="564435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86CD624-06EF-42C9-BB8F-390145F4AB58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225E7E58-993B-4F17-81EF-9209F2B24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509340"/>
              </p:ext>
            </p:extLst>
          </p:nvPr>
        </p:nvGraphicFramePr>
        <p:xfrm>
          <a:off x="800100" y="2942113"/>
          <a:ext cx="8001000" cy="1554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95763043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850174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028187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数据集</a:t>
                      </a:r>
                      <a:r>
                        <a:rPr lang="en-US" altLang="zh-CN" sz="2800" b="1" dirty="0"/>
                        <a:t>/</a:t>
                      </a:r>
                      <a:r>
                        <a:rPr lang="zh-CN" altLang="en-US" sz="2800" b="1" dirty="0"/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T10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T100</a:t>
                      </a:r>
                      <a:endParaRPr lang="zh-CN" alt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1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A</a:t>
                      </a:r>
                      <a:r>
                        <a:rPr lang="zh-CN" altLang="en-US" sz="2800" b="1" dirty="0"/>
                        <a:t>（训练）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0.86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0.97</a:t>
                      </a:r>
                      <a:endParaRPr lang="zh-CN" alt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821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B</a:t>
                      </a:r>
                      <a:r>
                        <a:rPr lang="zh-CN" altLang="en-US" sz="2800" b="1" dirty="0"/>
                        <a:t>（测试）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0.84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0.77</a:t>
                      </a:r>
                      <a:endParaRPr lang="zh-CN" alt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873089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7D280521-6651-40BF-B0DD-0C42E587DAB9}"/>
              </a:ext>
            </a:extLst>
          </p:cNvPr>
          <p:cNvSpPr txBox="1"/>
          <p:nvPr/>
        </p:nvSpPr>
        <p:spPr>
          <a:xfrm>
            <a:off x="1644451" y="4847133"/>
            <a:ext cx="5753498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800" dirty="0"/>
              <a:t>对于“</a:t>
            </a:r>
            <a:r>
              <a:rPr lang="en-US" altLang="zh-CN" sz="2800" dirty="0"/>
              <a:t>unseen</a:t>
            </a:r>
            <a:r>
              <a:rPr lang="zh-CN" altLang="en-US" sz="2800" dirty="0"/>
              <a:t>”样本，哪棵树更好？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8D44904-302E-4773-B1C7-706AD7297E50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920B14E5-53CB-4070-922A-E4FBB560B42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BC97BF4F-8E50-4D5E-B178-F7359F57F28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BF757A5-CE39-4593-8DA8-9A76174A0D13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2EF1A5EE-DAD6-4332-B8EC-F5E4DB9CACB0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FCC3975-2705-4B89-89CD-A53731A0300A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75677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CA763A2-0E5A-4E15-95F9-8D82AC7C6ED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2160" y="998976"/>
            <a:ext cx="7675107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如果利用全部数据集（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A+B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）测试两个模型，由于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中样本数量相等，我们会得到测试准确率分别为：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0.85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0.87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问：基于这个新信息，应该选择哪棵树？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FA6C7C-D580-450B-A87E-FB6D8A6E039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50003" y="5410201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T10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0EA9D5-9EF1-4A01-9AB8-75B8E106B93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509714" y="5410200"/>
            <a:ext cx="354106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T100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CEE5064-9DE6-46FD-9C32-D676C4CACAB2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35628" y="5474494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02E3910-EC4E-49AE-B6E1-55BC234430E2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3795339" y="547449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3DA0160-FDA9-4D2D-9C9B-0FB2AABF9EC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3BC40387-0BDB-4583-8D41-8DD3C7642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837832"/>
              </p:ext>
            </p:extLst>
          </p:nvPr>
        </p:nvGraphicFramePr>
        <p:xfrm>
          <a:off x="571500" y="3293423"/>
          <a:ext cx="8001000" cy="1554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95763043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850174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028187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数据集</a:t>
                      </a:r>
                      <a:r>
                        <a:rPr lang="en-US" altLang="zh-CN" sz="2800" b="1" dirty="0"/>
                        <a:t>/</a:t>
                      </a:r>
                      <a:r>
                        <a:rPr lang="zh-CN" altLang="en-US" sz="2800" b="1" dirty="0"/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T10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T100</a:t>
                      </a:r>
                      <a:endParaRPr lang="zh-CN" alt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1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A</a:t>
                      </a:r>
                      <a:r>
                        <a:rPr lang="zh-CN" altLang="en-US" sz="2800" b="1" dirty="0"/>
                        <a:t>（训练）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0.86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0.97</a:t>
                      </a:r>
                      <a:endParaRPr lang="zh-CN" alt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821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B</a:t>
                      </a:r>
                      <a:r>
                        <a:rPr lang="zh-CN" altLang="en-US" sz="2800" b="1" dirty="0"/>
                        <a:t>（测试）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0.84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0.77</a:t>
                      </a:r>
                      <a:endParaRPr lang="zh-CN" alt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873089"/>
                  </a:ext>
                </a:extLst>
              </a:tr>
            </a:tbl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2CC05278-5C9A-43FA-AFE7-23F54FC775D3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BDB100FF-FCC2-4007-B526-9994E5DED4C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86F0DA28-14A7-4648-83A6-9384222DEC1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3C0449A-34D1-46C9-8B56-2384B77FE1FD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6083BB87-1CDD-4548-B754-5D5B776A2EA4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D0DCC9E-BBAC-4547-9A42-9091001B6B3A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899259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3446</TotalTime>
  <Pages>3</Pages>
  <Words>1664</Words>
  <Application>Microsoft Office PowerPoint</Application>
  <PresentationFormat>全屏显示(4:3)</PresentationFormat>
  <Paragraphs>312</Paragraphs>
  <Slides>34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Microsoft Yahei</vt:lpstr>
      <vt:lpstr>Monotype Sorts</vt:lpstr>
      <vt:lpstr>ＭＳ Ｐゴシック</vt:lpstr>
      <vt:lpstr>Arial</vt:lpstr>
      <vt:lpstr>Symbol</vt:lpstr>
      <vt:lpstr>Tahoma</vt:lpstr>
      <vt:lpstr>Times New Roman</vt:lpstr>
      <vt:lpstr>Wingdings</vt:lpstr>
      <vt:lpstr>LC.BRev.FY97</vt:lpstr>
      <vt:lpstr>1_LC.BRev.FY97</vt:lpstr>
      <vt:lpstr>Visio</vt:lpstr>
      <vt:lpstr>Equation</vt:lpstr>
      <vt:lpstr>VISIO</vt:lpstr>
      <vt:lpstr>过拟合</vt:lpstr>
      <vt:lpstr>分类: 定义</vt:lpstr>
      <vt:lpstr>建立分类模型的一般方法</vt:lpstr>
      <vt:lpstr>分类误差</vt:lpstr>
      <vt:lpstr>举例</vt:lpstr>
      <vt:lpstr>决策树节点数量与训练误差关系曲线</vt:lpstr>
      <vt:lpstr>4节点的情形</vt:lpstr>
      <vt:lpstr>50节点情形</vt:lpstr>
      <vt:lpstr>PowerPoint 演示文稿</vt:lpstr>
      <vt:lpstr>模型过拟合</vt:lpstr>
      <vt:lpstr>过拟合</vt:lpstr>
      <vt:lpstr>过拟合</vt:lpstr>
      <vt:lpstr>产生过拟合的原因</vt:lpstr>
      <vt:lpstr>MCP效应</vt:lpstr>
      <vt:lpstr>MCP效应</vt:lpstr>
      <vt:lpstr>过拟合</vt:lpstr>
      <vt:lpstr>解决过拟合的方法之一：模型选择</vt:lpstr>
      <vt:lpstr>模型选择：验证集</vt:lpstr>
      <vt:lpstr>模型选择：模型复杂度</vt:lpstr>
      <vt:lpstr>模型复杂度估计：决策树</vt:lpstr>
      <vt:lpstr>决策树模型复杂度估计: 举例</vt:lpstr>
      <vt:lpstr>模型复杂度估计：决策树</vt:lpstr>
      <vt:lpstr>PowerPoint 演示文稿</vt:lpstr>
      <vt:lpstr>模型选择：决策树</vt:lpstr>
      <vt:lpstr>模型选择：决策树</vt:lpstr>
      <vt:lpstr>后调节：举例</vt:lpstr>
      <vt:lpstr>后调节：举例</vt:lpstr>
      <vt:lpstr>模型评估</vt:lpstr>
      <vt:lpstr>交叉验证：举例</vt:lpstr>
      <vt:lpstr>交叉验证的方法</vt:lpstr>
      <vt:lpstr>模型选择与评估中的陷阱</vt:lpstr>
      <vt:lpstr>模型选择与评估中的陷阱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</dc:title>
  <dc:creator>anujkarpatne@gmail.com</dc:creator>
  <cp:lastModifiedBy>ly313</cp:lastModifiedBy>
  <cp:revision>98</cp:revision>
  <cp:lastPrinted>2019-09-13T15:27:21Z</cp:lastPrinted>
  <dcterms:created xsi:type="dcterms:W3CDTF">2018-02-06T01:04:33Z</dcterms:created>
  <dcterms:modified xsi:type="dcterms:W3CDTF">2022-03-31T01:44:40Z</dcterms:modified>
</cp:coreProperties>
</file>