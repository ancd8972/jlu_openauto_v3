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52"/>
  </p:notesMasterIdLst>
  <p:handoutMasterIdLst>
    <p:handoutMasterId r:id="rId53"/>
  </p:handoutMasterIdLst>
  <p:sldIdLst>
    <p:sldId id="515" r:id="rId2"/>
    <p:sldId id="516" r:id="rId3"/>
    <p:sldId id="545" r:id="rId4"/>
    <p:sldId id="518" r:id="rId5"/>
    <p:sldId id="550" r:id="rId6"/>
    <p:sldId id="523" r:id="rId7"/>
    <p:sldId id="524" r:id="rId8"/>
    <p:sldId id="525" r:id="rId9"/>
    <p:sldId id="526" r:id="rId10"/>
    <p:sldId id="552" r:id="rId11"/>
    <p:sldId id="551" r:id="rId12"/>
    <p:sldId id="555" r:id="rId13"/>
    <p:sldId id="556" r:id="rId14"/>
    <p:sldId id="654" r:id="rId15"/>
    <p:sldId id="658" r:id="rId16"/>
    <p:sldId id="557" r:id="rId17"/>
    <p:sldId id="561" r:id="rId18"/>
    <p:sldId id="558" r:id="rId19"/>
    <p:sldId id="661" r:id="rId20"/>
    <p:sldId id="662" r:id="rId21"/>
    <p:sldId id="564" r:id="rId22"/>
    <p:sldId id="565" r:id="rId23"/>
    <p:sldId id="566" r:id="rId24"/>
    <p:sldId id="567" r:id="rId25"/>
    <p:sldId id="568" r:id="rId26"/>
    <p:sldId id="569" r:id="rId27"/>
    <p:sldId id="674" r:id="rId28"/>
    <p:sldId id="682" r:id="rId29"/>
    <p:sldId id="641" r:id="rId30"/>
    <p:sldId id="571" r:id="rId31"/>
    <p:sldId id="675" r:id="rId32"/>
    <p:sldId id="676" r:id="rId33"/>
    <p:sldId id="677" r:id="rId34"/>
    <p:sldId id="678" r:id="rId35"/>
    <p:sldId id="663" r:id="rId36"/>
    <p:sldId id="664" r:id="rId37"/>
    <p:sldId id="665" r:id="rId38"/>
    <p:sldId id="668" r:id="rId39"/>
    <p:sldId id="586" r:id="rId40"/>
    <p:sldId id="587" r:id="rId41"/>
    <p:sldId id="588" r:id="rId42"/>
    <p:sldId id="589" r:id="rId43"/>
    <p:sldId id="590" r:id="rId44"/>
    <p:sldId id="591" r:id="rId45"/>
    <p:sldId id="592" r:id="rId46"/>
    <p:sldId id="593" r:id="rId47"/>
    <p:sldId id="594" r:id="rId48"/>
    <p:sldId id="683" r:id="rId49"/>
    <p:sldId id="608" r:id="rId50"/>
    <p:sldId id="609" r:id="rId51"/>
  </p:sldIdLst>
  <p:sldSz cx="9144000" cy="6858000" type="screen4x3"/>
  <p:notesSz cx="7010400" cy="92964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400" b="1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1400" b="1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1400" b="1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1400" b="1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73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9" userDrawn="1">
          <p15:clr>
            <a:srgbClr val="A4A3A4"/>
          </p15:clr>
        </p15:guide>
        <p15:guide id="2" pos="2209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2A8487"/>
    <a:srgbClr val="1C5A61"/>
    <a:srgbClr val="0C6D9C"/>
    <a:srgbClr val="FF0000"/>
    <a:srgbClr val="CC3300"/>
    <a:srgbClr val="F5F5F5"/>
    <a:srgbClr val="F4F4F4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21" autoAdjust="0"/>
    <p:restoredTop sz="94568" autoAdjust="0"/>
  </p:normalViewPr>
  <p:slideViewPr>
    <p:cSldViewPr>
      <p:cViewPr varScale="1">
        <p:scale>
          <a:sx n="76" d="100"/>
          <a:sy n="76" d="100"/>
        </p:scale>
        <p:origin x="1026" y="24"/>
      </p:cViewPr>
      <p:guideLst>
        <p:guide orient="horz" pos="2160"/>
        <p:guide pos="2736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  <p:sld r:id="rId16" collapse="1"/>
      <p:sld r:id="rId17" collapse="1"/>
      <p:sld r:id="rId18" collapse="1"/>
      <p:sld r:id="rId19" collapse="1"/>
      <p:sld r:id="rId20" collapse="1"/>
      <p:sld r:id="rId21" collapse="1"/>
      <p:sld r:id="rId22" collapse="1"/>
      <p:sld r:id="rId23" collapse="1"/>
      <p:sld r:id="rId24" collapse="1"/>
      <p:sld r:id="rId25" collapse="1"/>
      <p:sld r:id="rId26" collapse="1"/>
      <p:sld r:id="rId27" collapse="1"/>
      <p:sld r:id="rId28" collapse="1"/>
      <p:sld r:id="rId29" collapse="1"/>
      <p:sld r:id="rId30" collapse="1"/>
      <p:sld r:id="rId31" collapse="1"/>
      <p:sld r:id="rId32" collapse="1"/>
      <p:sld r:id="rId33" collapse="1"/>
      <p:sld r:id="rId34" collapse="1"/>
      <p:sld r:id="rId35" collapse="1"/>
      <p:sld r:id="rId36" collapse="1"/>
      <p:sld r:id="rId37" collapse="1"/>
    </p:sldLst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-8932"/>
    </p:cViewPr>
  </p:sorterViewPr>
  <p:notesViewPr>
    <p:cSldViewPr>
      <p:cViewPr varScale="1">
        <p:scale>
          <a:sx n="83" d="100"/>
          <a:sy n="83" d="100"/>
        </p:scale>
        <p:origin x="-840" y="-66"/>
      </p:cViewPr>
      <p:guideLst>
        <p:guide orient="horz" pos="2929"/>
        <p:guide pos="220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/Relationships>
</file>

<file path=ppt/_rels/viewProps.xml.rels><?xml version="1.0" encoding="UTF-8" standalone="yes"?>
<Relationships xmlns="http://schemas.openxmlformats.org/package/2006/relationships"><Relationship Id="rId13" Type="http://schemas.openxmlformats.org/officeDocument/2006/relationships/slide" Target="slides/slide18.xml"/><Relationship Id="rId18" Type="http://schemas.openxmlformats.org/officeDocument/2006/relationships/slide" Target="slides/slide23.xml"/><Relationship Id="rId26" Type="http://schemas.openxmlformats.org/officeDocument/2006/relationships/slide" Target="slides/slide31.xml"/><Relationship Id="rId21" Type="http://schemas.openxmlformats.org/officeDocument/2006/relationships/slide" Target="slides/slide26.xml"/><Relationship Id="rId34" Type="http://schemas.openxmlformats.org/officeDocument/2006/relationships/slide" Target="slides/slide44.xml"/><Relationship Id="rId7" Type="http://schemas.openxmlformats.org/officeDocument/2006/relationships/slide" Target="slides/slide10.xml"/><Relationship Id="rId12" Type="http://schemas.openxmlformats.org/officeDocument/2006/relationships/slide" Target="slides/slide17.xml"/><Relationship Id="rId17" Type="http://schemas.openxmlformats.org/officeDocument/2006/relationships/slide" Target="slides/slide22.xml"/><Relationship Id="rId25" Type="http://schemas.openxmlformats.org/officeDocument/2006/relationships/slide" Target="slides/slide30.xml"/><Relationship Id="rId33" Type="http://schemas.openxmlformats.org/officeDocument/2006/relationships/slide" Target="slides/slide43.xml"/><Relationship Id="rId2" Type="http://schemas.openxmlformats.org/officeDocument/2006/relationships/slide" Target="slides/slide4.xml"/><Relationship Id="rId16" Type="http://schemas.openxmlformats.org/officeDocument/2006/relationships/slide" Target="slides/slide21.xml"/><Relationship Id="rId20" Type="http://schemas.openxmlformats.org/officeDocument/2006/relationships/slide" Target="slides/slide25.xml"/><Relationship Id="rId29" Type="http://schemas.openxmlformats.org/officeDocument/2006/relationships/slide" Target="slides/slide34.xml"/><Relationship Id="rId1" Type="http://schemas.openxmlformats.org/officeDocument/2006/relationships/slide" Target="slides/slide2.xml"/><Relationship Id="rId6" Type="http://schemas.openxmlformats.org/officeDocument/2006/relationships/slide" Target="slides/slide9.xml"/><Relationship Id="rId11" Type="http://schemas.openxmlformats.org/officeDocument/2006/relationships/slide" Target="slides/slide16.xml"/><Relationship Id="rId24" Type="http://schemas.openxmlformats.org/officeDocument/2006/relationships/slide" Target="slides/slide29.xml"/><Relationship Id="rId32" Type="http://schemas.openxmlformats.org/officeDocument/2006/relationships/slide" Target="slides/slide38.xml"/><Relationship Id="rId37" Type="http://schemas.openxmlformats.org/officeDocument/2006/relationships/slide" Target="slides/slide47.xml"/><Relationship Id="rId5" Type="http://schemas.openxmlformats.org/officeDocument/2006/relationships/slide" Target="slides/slide8.xml"/><Relationship Id="rId15" Type="http://schemas.openxmlformats.org/officeDocument/2006/relationships/slide" Target="slides/slide20.xml"/><Relationship Id="rId23" Type="http://schemas.openxmlformats.org/officeDocument/2006/relationships/slide" Target="slides/slide28.xml"/><Relationship Id="rId28" Type="http://schemas.openxmlformats.org/officeDocument/2006/relationships/slide" Target="slides/slide33.xml"/><Relationship Id="rId36" Type="http://schemas.openxmlformats.org/officeDocument/2006/relationships/slide" Target="slides/slide46.xml"/><Relationship Id="rId10" Type="http://schemas.openxmlformats.org/officeDocument/2006/relationships/slide" Target="slides/slide15.xml"/><Relationship Id="rId19" Type="http://schemas.openxmlformats.org/officeDocument/2006/relationships/slide" Target="slides/slide24.xml"/><Relationship Id="rId31" Type="http://schemas.openxmlformats.org/officeDocument/2006/relationships/slide" Target="slides/slide37.xml"/><Relationship Id="rId4" Type="http://schemas.openxmlformats.org/officeDocument/2006/relationships/slide" Target="slides/slide7.xml"/><Relationship Id="rId9" Type="http://schemas.openxmlformats.org/officeDocument/2006/relationships/slide" Target="slides/slide14.xml"/><Relationship Id="rId14" Type="http://schemas.openxmlformats.org/officeDocument/2006/relationships/slide" Target="slides/slide19.xml"/><Relationship Id="rId22" Type="http://schemas.openxmlformats.org/officeDocument/2006/relationships/slide" Target="slides/slide27.xml"/><Relationship Id="rId27" Type="http://schemas.openxmlformats.org/officeDocument/2006/relationships/slide" Target="slides/slide32.xml"/><Relationship Id="rId30" Type="http://schemas.openxmlformats.org/officeDocument/2006/relationships/slide" Target="slides/slide35.xml"/><Relationship Id="rId35" Type="http://schemas.openxmlformats.org/officeDocument/2006/relationships/slide" Target="slides/slide45.xml"/><Relationship Id="rId8" Type="http://schemas.openxmlformats.org/officeDocument/2006/relationships/slide" Target="slides/slide13.xml"/><Relationship Id="rId3" Type="http://schemas.openxmlformats.org/officeDocument/2006/relationships/slide" Target="slides/slide6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image" Target="../media/image26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8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25406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2474" y="4416111"/>
            <a:ext cx="5143848" cy="418081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6805" tIns="48406" rIns="96805" bIns="4840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notes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1619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93800" y="706438"/>
            <a:ext cx="4625975" cy="34702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  <p:extLst>
      <p:ext uri="{BB962C8B-B14F-4D97-AF65-F5344CB8AC3E}">
        <p14:creationId xmlns:p14="http://schemas.microsoft.com/office/powerpoint/2010/main" val="332707457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9636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69900" algn="l" defTabSz="9636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38213" algn="l" defTabSz="9636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408113" algn="l" defTabSz="9636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76425" algn="l" defTabSz="9636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5863" y="700088"/>
            <a:ext cx="4643437" cy="3482975"/>
          </a:xfrm>
          <a:solidFill>
            <a:srgbClr val="FFFFFF"/>
          </a:solidFill>
          <a:ln/>
        </p:spPr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078" y="4416111"/>
            <a:ext cx="5142244" cy="4180819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1572" tIns="45782" rIns="91572" bIns="45782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88028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3667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026115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302840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8337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95309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163" y="1143000"/>
            <a:ext cx="408305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143000"/>
            <a:ext cx="408305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51092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61128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71080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8028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46874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75692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1781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43688" y="152400"/>
            <a:ext cx="2085975" cy="6172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152400"/>
            <a:ext cx="6110288" cy="6172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952028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80400" cy="533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11163" y="1143000"/>
            <a:ext cx="408305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6613" y="1143000"/>
            <a:ext cx="408305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6613" y="3810000"/>
            <a:ext cx="408305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179318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80400" cy="533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11163" y="1143000"/>
            <a:ext cx="408305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143000"/>
            <a:ext cx="408305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11486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152400"/>
            <a:ext cx="8280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11163" y="1143000"/>
            <a:ext cx="83185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 Third Level</a:t>
            </a:r>
          </a:p>
        </p:txBody>
      </p:sp>
      <p:grpSp>
        <p:nvGrpSpPr>
          <p:cNvPr id="1028" name="Group 16"/>
          <p:cNvGrpSpPr>
            <a:grpSpLocks/>
          </p:cNvGrpSpPr>
          <p:nvPr userDrawn="1"/>
        </p:nvGrpSpPr>
        <p:grpSpPr bwMode="auto">
          <a:xfrm>
            <a:off x="304800" y="838200"/>
            <a:ext cx="8534400" cy="152400"/>
            <a:chOff x="264" y="788"/>
            <a:chExt cx="5232" cy="124"/>
          </a:xfrm>
        </p:grpSpPr>
        <p:sp>
          <p:nvSpPr>
            <p:cNvPr id="1030" name="Rectangle 17"/>
            <p:cNvSpPr>
              <a:spLocks noChangeArrowheads="1"/>
            </p:cNvSpPr>
            <p:nvPr/>
          </p:nvSpPr>
          <p:spPr bwMode="auto">
            <a:xfrm>
              <a:off x="264" y="788"/>
              <a:ext cx="5232" cy="61"/>
            </a:xfrm>
            <a:prstGeom prst="rect">
              <a:avLst/>
            </a:prstGeom>
            <a:gradFill rotWithShape="0">
              <a:gsLst>
                <a:gs pos="0">
                  <a:srgbClr val="0E9BBA"/>
                </a:gs>
                <a:gs pos="50000">
                  <a:srgbClr val="12C2E9"/>
                </a:gs>
                <a:gs pos="100000">
                  <a:srgbClr val="0E9BBA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031" name="Rectangle 18"/>
            <p:cNvSpPr>
              <a:spLocks noChangeArrowheads="1"/>
            </p:cNvSpPr>
            <p:nvPr/>
          </p:nvSpPr>
          <p:spPr bwMode="auto">
            <a:xfrm>
              <a:off x="264" y="881"/>
              <a:ext cx="5232" cy="31"/>
            </a:xfrm>
            <a:prstGeom prst="rect">
              <a:avLst/>
            </a:prstGeom>
            <a:gradFill rotWithShape="0">
              <a:gsLst>
                <a:gs pos="0">
                  <a:srgbClr val="B200B2"/>
                </a:gs>
                <a:gs pos="50000">
                  <a:srgbClr val="FF00FF"/>
                </a:gs>
                <a:gs pos="100000">
                  <a:srgbClr val="B200B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8" name="Text Box 10"/>
          <p:cNvSpPr txBox="1">
            <a:spLocks noChangeArrowheads="1"/>
          </p:cNvSpPr>
          <p:nvPr userDrawn="1"/>
        </p:nvSpPr>
        <p:spPr bwMode="auto">
          <a:xfrm>
            <a:off x="457200" y="6400800"/>
            <a:ext cx="12192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dirty="0"/>
              <a:t>11/16/2020	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8454919" y="6400800"/>
            <a:ext cx="40267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defRPr/>
            </a:pPr>
            <a:fld id="{20C2B3EF-A58E-4072-B0B8-DA68EAC103CC}" type="slidenum">
              <a:rPr lang="en-US" smtClean="0"/>
              <a:pPr>
                <a:spcBef>
                  <a:spcPct val="50000"/>
                </a:spcBef>
                <a:defRPr/>
              </a:pPr>
              <a:t>‹#›</a:t>
            </a:fld>
            <a:endParaRPr lang="en-US" dirty="0"/>
          </a:p>
        </p:txBody>
      </p:sp>
      <p:sp>
        <p:nvSpPr>
          <p:cNvPr id="10" name="Rectangle 9"/>
          <p:cNvSpPr/>
          <p:nvPr userDrawn="1"/>
        </p:nvSpPr>
        <p:spPr>
          <a:xfrm>
            <a:off x="2514600" y="6334780"/>
            <a:ext cx="3733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dirty="0"/>
              <a:t>Introduction to Data Mining, 2nd Edition   Tan, Steinbach, </a:t>
            </a:r>
            <a:r>
              <a:rPr lang="en-US" dirty="0" err="1"/>
              <a:t>Karpatne</a:t>
            </a:r>
            <a:r>
              <a:rPr lang="en-US" dirty="0"/>
              <a:t>, Kumar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2pPr>
      <a:lvl3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3pPr>
      <a:lvl4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4pPr>
      <a:lvl5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5pPr>
      <a:lvl6pPr marL="4572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6pPr>
      <a:lvl7pPr marL="9144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7pPr>
      <a:lvl8pPr marL="13716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8pPr>
      <a:lvl9pPr marL="18288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9pPr>
    </p:titleStyle>
    <p:bodyStyle>
      <a:lvl1pPr marL="292100" indent="-292100" algn="l" rtl="0" eaLnBrk="0" fontAlgn="base" hangingPunct="0">
        <a:spcBef>
          <a:spcPct val="10000"/>
        </a:spcBef>
        <a:spcAft>
          <a:spcPts val="400"/>
        </a:spcAft>
        <a:buClr>
          <a:srgbClr val="0C7B9C"/>
        </a:buClr>
        <a:buSzPct val="75000"/>
        <a:buFont typeface="Monotype Sorts" pitchFamily="2" charset="2"/>
        <a:buChar char="l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800100" indent="-342900" algn="l" rtl="0" eaLnBrk="0" fontAlgn="base" hangingPunct="0">
        <a:spcBef>
          <a:spcPct val="10000"/>
        </a:spcBef>
        <a:spcAft>
          <a:spcPts val="400"/>
        </a:spcAft>
        <a:buClr>
          <a:srgbClr val="0C7B9C"/>
        </a:buClr>
        <a:buSzPct val="100000"/>
        <a:buFont typeface="Arial" charset="0"/>
        <a:buChar char="–"/>
        <a:defRPr sz="2400">
          <a:solidFill>
            <a:schemeClr val="tx1"/>
          </a:solidFill>
          <a:latin typeface="+mn-lt"/>
        </a:defRPr>
      </a:lvl2pPr>
      <a:lvl3pPr marL="914400" algn="l" rtl="0" eaLnBrk="0" fontAlgn="base" hangingPunct="0">
        <a:spcBef>
          <a:spcPct val="10000"/>
        </a:spcBef>
        <a:spcAft>
          <a:spcPts val="400"/>
        </a:spcAft>
        <a:buClr>
          <a:srgbClr val="0C7B9C"/>
        </a:buClr>
        <a:buSzPct val="70000"/>
        <a:buFont typeface="Wingdings" pitchFamily="2" charset="2"/>
        <a:buChar char="u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–"/>
        <a:defRPr sz="2000">
          <a:solidFill>
            <a:schemeClr val="tx1"/>
          </a:solidFill>
          <a:latin typeface="Times New Roman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7" Type="http://schemas.openxmlformats.org/officeDocument/2006/relationships/image" Target="../media/image7.wmf"/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4" Type="http://schemas.openxmlformats.org/officeDocument/2006/relationships/image" Target="../media/image4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7" Type="http://schemas.openxmlformats.org/officeDocument/2006/relationships/image" Target="../media/image7.wmf"/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4" Type="http://schemas.openxmlformats.org/officeDocument/2006/relationships/image" Target="../media/image4.w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8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wmf"/><Relationship Id="rId5" Type="http://schemas.openxmlformats.org/officeDocument/2006/relationships/image" Target="../media/image15.wmf"/><Relationship Id="rId4" Type="http://schemas.openxmlformats.org/officeDocument/2006/relationships/image" Target="../media/image14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wmf"/><Relationship Id="rId5" Type="http://schemas.openxmlformats.org/officeDocument/2006/relationships/image" Target="../media/image15.wmf"/><Relationship Id="rId4" Type="http://schemas.openxmlformats.org/officeDocument/2006/relationships/image" Target="../media/image14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7.w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18.w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wmf"/><Relationship Id="rId4" Type="http://schemas.openxmlformats.org/officeDocument/2006/relationships/image" Target="../media/image20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18.w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wmf"/><Relationship Id="rId4" Type="http://schemas.openxmlformats.org/officeDocument/2006/relationships/image" Target="../media/image20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image" Target="../media/image22.w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wmf"/><Relationship Id="rId4" Type="http://schemas.openxmlformats.org/officeDocument/2006/relationships/image" Target="../media/image24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image" Target="../media/image22.w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wmf"/><Relationship Id="rId4" Type="http://schemas.openxmlformats.org/officeDocument/2006/relationships/image" Target="../media/image24.wmf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7.e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26.emf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34.wmf"/><Relationship Id="rId4" Type="http://schemas.openxmlformats.org/officeDocument/2006/relationships/oleObject" Target="../embeddings/oleObject6.bin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wm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36.e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37.e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38.e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39.emf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image" Target="../media/image40.tmp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763000" cy="838200"/>
          </a:xfrm>
        </p:spPr>
        <p:txBody>
          <a:bodyPr/>
          <a:lstStyle/>
          <a:p>
            <a:pPr algn="ctr"/>
            <a:r>
              <a:rPr lang="zh-CN" altLang="en-US" dirty="0"/>
              <a:t>聚     类</a:t>
            </a:r>
            <a:endParaRPr lang="en-US" altLang="en-US" sz="2800" dirty="0"/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381000" y="2573404"/>
            <a:ext cx="8229600" cy="25668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zh-CN" altLang="en-US" sz="3200" b="0" dirty="0"/>
              <a:t>吉林大学控制系</a:t>
            </a:r>
            <a:endParaRPr lang="en-US" altLang="zh-CN" sz="3200" b="0" dirty="0"/>
          </a:p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endParaRPr lang="en-US" altLang="zh-CN" sz="3200" b="0" dirty="0"/>
          </a:p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zh-CN" altLang="en-US" sz="3200" b="0" dirty="0"/>
              <a:t>刘   云</a:t>
            </a:r>
            <a:endParaRPr lang="en-US" altLang="en-US" sz="2800" b="0" dirty="0"/>
          </a:p>
          <a:p>
            <a:pPr algn="ctr"/>
            <a:endParaRPr lang="en-US" altLang="en-US" sz="1600" b="0" dirty="0"/>
          </a:p>
          <a:p>
            <a:pPr algn="ctr"/>
            <a:endParaRPr lang="en-US" altLang="en-US" sz="1600" b="0" dirty="0"/>
          </a:p>
          <a:p>
            <a:endParaRPr lang="en-US" altLang="en-US" sz="2000" b="0" dirty="0"/>
          </a:p>
        </p:txBody>
      </p:sp>
      <p:grpSp>
        <p:nvGrpSpPr>
          <p:cNvPr id="2052" name="Group 7"/>
          <p:cNvGrpSpPr>
            <a:grpSpLocks/>
          </p:cNvGrpSpPr>
          <p:nvPr/>
        </p:nvGrpSpPr>
        <p:grpSpPr bwMode="auto">
          <a:xfrm>
            <a:off x="304800" y="990600"/>
            <a:ext cx="8534400" cy="152400"/>
            <a:chOff x="264" y="788"/>
            <a:chExt cx="5232" cy="124"/>
          </a:xfrm>
        </p:grpSpPr>
        <p:sp>
          <p:nvSpPr>
            <p:cNvPr id="2053" name="Rectangle 8"/>
            <p:cNvSpPr>
              <a:spLocks noChangeArrowheads="1"/>
            </p:cNvSpPr>
            <p:nvPr/>
          </p:nvSpPr>
          <p:spPr bwMode="auto">
            <a:xfrm>
              <a:off x="264" y="788"/>
              <a:ext cx="5232" cy="61"/>
            </a:xfrm>
            <a:prstGeom prst="rect">
              <a:avLst/>
            </a:prstGeom>
            <a:gradFill rotWithShape="0">
              <a:gsLst>
                <a:gs pos="0">
                  <a:srgbClr val="0E9BBA"/>
                </a:gs>
                <a:gs pos="50000">
                  <a:srgbClr val="12C2E9"/>
                </a:gs>
                <a:gs pos="100000">
                  <a:srgbClr val="0E9BBA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054" name="Rectangle 9"/>
            <p:cNvSpPr>
              <a:spLocks noChangeArrowheads="1"/>
            </p:cNvSpPr>
            <p:nvPr/>
          </p:nvSpPr>
          <p:spPr bwMode="auto">
            <a:xfrm>
              <a:off x="264" y="881"/>
              <a:ext cx="5232" cy="31"/>
            </a:xfrm>
            <a:prstGeom prst="rect">
              <a:avLst/>
            </a:prstGeom>
            <a:gradFill rotWithShape="0">
              <a:gsLst>
                <a:gs pos="0">
                  <a:srgbClr val="B200B2"/>
                </a:gs>
                <a:gs pos="50000">
                  <a:srgbClr val="FF00FF"/>
                </a:gs>
                <a:gs pos="100000">
                  <a:srgbClr val="B200B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7" name="Text Box 10"/>
          <p:cNvSpPr txBox="1">
            <a:spLocks noChangeArrowheads="1"/>
          </p:cNvSpPr>
          <p:nvPr/>
        </p:nvSpPr>
        <p:spPr bwMode="auto">
          <a:xfrm>
            <a:off x="457200" y="6400800"/>
            <a:ext cx="12192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dirty="0"/>
              <a:t>11/16/2020	</a:t>
            </a:r>
          </a:p>
        </p:txBody>
      </p:sp>
      <p:sp>
        <p:nvSpPr>
          <p:cNvPr id="9" name="Rectangle 8"/>
          <p:cNvSpPr/>
          <p:nvPr/>
        </p:nvSpPr>
        <p:spPr>
          <a:xfrm>
            <a:off x="2514600" y="6334780"/>
            <a:ext cx="3733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dirty="0"/>
              <a:t>Introduction to Data Mining, 2nd Edition   Tan, Steinbach, </a:t>
            </a:r>
            <a:r>
              <a:rPr lang="en-US" dirty="0" err="1"/>
              <a:t>Karpatne</a:t>
            </a:r>
            <a:r>
              <a:rPr lang="en-US" dirty="0"/>
              <a:t>, Kumar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聚类的概念</a:t>
            </a:r>
            <a:endParaRPr lang="en-US" altLang="en-US" dirty="0"/>
          </a:p>
        </p:txBody>
      </p:sp>
      <p:sp>
        <p:nvSpPr>
          <p:cNvPr id="307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11163" y="1143000"/>
            <a:ext cx="8318500" cy="1295400"/>
          </a:xfrm>
        </p:spPr>
        <p:txBody>
          <a:bodyPr/>
          <a:lstStyle/>
          <a:p>
            <a:r>
              <a:rPr lang="zh-CN" altLang="en-US" sz="2400" dirty="0"/>
              <a:t>给定一组</a:t>
            </a:r>
            <a:r>
              <a:rPr lang="zh-CN" altLang="en-US" sz="2400" b="1" dirty="0">
                <a:solidFill>
                  <a:srgbClr val="FF0000"/>
                </a:solidFill>
              </a:rPr>
              <a:t>无标签</a:t>
            </a:r>
            <a:r>
              <a:rPr lang="zh-CN" altLang="en-US" sz="2400" dirty="0"/>
              <a:t>数据集，聚类的目的是将该数据集划分成若干个类，使得类内样本的相似性</a:t>
            </a:r>
            <a:r>
              <a:rPr lang="zh-CN" altLang="en-US" sz="2400" b="1" dirty="0">
                <a:solidFill>
                  <a:srgbClr val="FF0000"/>
                </a:solidFill>
              </a:rPr>
              <a:t>尽可能高</a:t>
            </a:r>
            <a:r>
              <a:rPr lang="zh-CN" altLang="en-US" sz="2400" dirty="0"/>
              <a:t>，同时类间样本的相似性</a:t>
            </a:r>
            <a:r>
              <a:rPr lang="zh-CN" altLang="en-US" sz="2400" b="1" dirty="0">
                <a:solidFill>
                  <a:srgbClr val="FF0000"/>
                </a:solidFill>
              </a:rPr>
              <a:t>尽可能低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r>
              <a:rPr lang="zh-CN" altLang="en-US" sz="2400" b="1" dirty="0">
                <a:solidFill>
                  <a:srgbClr val="FF0000"/>
                </a:solidFill>
              </a:rPr>
              <a:t>物以类聚，人以群分</a:t>
            </a:r>
            <a:endParaRPr lang="en-US" altLang="en-US" sz="2400" b="1" dirty="0">
              <a:solidFill>
                <a:srgbClr val="FF0000"/>
              </a:solidFill>
            </a:endParaRPr>
          </a:p>
        </p:txBody>
      </p:sp>
      <p:grpSp>
        <p:nvGrpSpPr>
          <p:cNvPr id="3076" name="Group 6"/>
          <p:cNvGrpSpPr>
            <a:grpSpLocks/>
          </p:cNvGrpSpPr>
          <p:nvPr/>
        </p:nvGrpSpPr>
        <p:grpSpPr bwMode="auto">
          <a:xfrm>
            <a:off x="3276600" y="3570288"/>
            <a:ext cx="3048000" cy="2678112"/>
            <a:chOff x="2160" y="2544"/>
            <a:chExt cx="1920" cy="1687"/>
          </a:xfrm>
        </p:grpSpPr>
        <p:sp>
          <p:nvSpPr>
            <p:cNvPr id="3087" name="Line 7"/>
            <p:cNvSpPr>
              <a:spLocks noChangeShapeType="1"/>
            </p:cNvSpPr>
            <p:nvPr/>
          </p:nvSpPr>
          <p:spPr bwMode="auto">
            <a:xfrm>
              <a:off x="2736" y="2544"/>
              <a:ext cx="0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88" name="Line 8"/>
            <p:cNvSpPr>
              <a:spLocks noChangeShapeType="1"/>
            </p:cNvSpPr>
            <p:nvPr/>
          </p:nvSpPr>
          <p:spPr bwMode="auto">
            <a:xfrm>
              <a:off x="2736" y="3696"/>
              <a:ext cx="13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89" name="Freeform 9"/>
            <p:cNvSpPr>
              <a:spLocks/>
            </p:cNvSpPr>
            <p:nvPr/>
          </p:nvSpPr>
          <p:spPr bwMode="auto">
            <a:xfrm>
              <a:off x="2226" y="3696"/>
              <a:ext cx="510" cy="535"/>
            </a:xfrm>
            <a:custGeom>
              <a:avLst/>
              <a:gdLst>
                <a:gd name="T0" fmla="*/ 510 w 510"/>
                <a:gd name="T1" fmla="*/ 0 h 535"/>
                <a:gd name="T2" fmla="*/ 0 w 510"/>
                <a:gd name="T3" fmla="*/ 535 h 535"/>
                <a:gd name="T4" fmla="*/ 0 60000 65536"/>
                <a:gd name="T5" fmla="*/ 0 60000 65536"/>
                <a:gd name="T6" fmla="*/ 0 w 510"/>
                <a:gd name="T7" fmla="*/ 0 h 535"/>
                <a:gd name="T8" fmla="*/ 510 w 510"/>
                <a:gd name="T9" fmla="*/ 535 h 53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10" h="535">
                  <a:moveTo>
                    <a:pt x="510" y="0"/>
                  </a:moveTo>
                  <a:lnTo>
                    <a:pt x="0" y="535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0" name="AutoShape 10"/>
            <p:cNvSpPr>
              <a:spLocks noChangeArrowheads="1"/>
            </p:cNvSpPr>
            <p:nvPr/>
          </p:nvSpPr>
          <p:spPr bwMode="auto">
            <a:xfrm>
              <a:off x="3264" y="2880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91" name="AutoShape 11"/>
            <p:cNvSpPr>
              <a:spLocks noChangeArrowheads="1"/>
            </p:cNvSpPr>
            <p:nvPr/>
          </p:nvSpPr>
          <p:spPr bwMode="auto">
            <a:xfrm>
              <a:off x="3408" y="2880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92" name="AutoShape 12"/>
            <p:cNvSpPr>
              <a:spLocks noChangeArrowheads="1"/>
            </p:cNvSpPr>
            <p:nvPr/>
          </p:nvSpPr>
          <p:spPr bwMode="auto">
            <a:xfrm>
              <a:off x="3360" y="2736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93" name="AutoShape 13"/>
            <p:cNvSpPr>
              <a:spLocks noChangeArrowheads="1"/>
            </p:cNvSpPr>
            <p:nvPr/>
          </p:nvSpPr>
          <p:spPr bwMode="auto">
            <a:xfrm>
              <a:off x="3360" y="3024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94" name="AutoShape 14"/>
            <p:cNvSpPr>
              <a:spLocks noChangeArrowheads="1"/>
            </p:cNvSpPr>
            <p:nvPr/>
          </p:nvSpPr>
          <p:spPr bwMode="auto">
            <a:xfrm>
              <a:off x="3600" y="2880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95" name="AutoShape 15"/>
            <p:cNvSpPr>
              <a:spLocks noChangeArrowheads="1"/>
            </p:cNvSpPr>
            <p:nvPr/>
          </p:nvSpPr>
          <p:spPr bwMode="auto">
            <a:xfrm>
              <a:off x="3504" y="2784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96" name="AutoShape 16"/>
            <p:cNvSpPr>
              <a:spLocks noChangeArrowheads="1"/>
            </p:cNvSpPr>
            <p:nvPr/>
          </p:nvSpPr>
          <p:spPr bwMode="auto">
            <a:xfrm>
              <a:off x="3168" y="2736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97" name="AutoShape 17"/>
            <p:cNvSpPr>
              <a:spLocks noChangeArrowheads="1"/>
            </p:cNvSpPr>
            <p:nvPr/>
          </p:nvSpPr>
          <p:spPr bwMode="auto">
            <a:xfrm>
              <a:off x="3504" y="2976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98" name="AutoShape 18"/>
            <p:cNvSpPr>
              <a:spLocks noChangeArrowheads="1"/>
            </p:cNvSpPr>
            <p:nvPr/>
          </p:nvSpPr>
          <p:spPr bwMode="auto">
            <a:xfrm>
              <a:off x="3168" y="2976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99" name="AutoShape 19"/>
            <p:cNvSpPr>
              <a:spLocks noChangeArrowheads="1"/>
            </p:cNvSpPr>
            <p:nvPr/>
          </p:nvSpPr>
          <p:spPr bwMode="auto">
            <a:xfrm>
              <a:off x="2160" y="3264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00" name="AutoShape 20"/>
            <p:cNvSpPr>
              <a:spLocks noChangeArrowheads="1"/>
            </p:cNvSpPr>
            <p:nvPr/>
          </p:nvSpPr>
          <p:spPr bwMode="auto">
            <a:xfrm>
              <a:off x="2304" y="3312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01" name="AutoShape 21"/>
            <p:cNvSpPr>
              <a:spLocks noChangeArrowheads="1"/>
            </p:cNvSpPr>
            <p:nvPr/>
          </p:nvSpPr>
          <p:spPr bwMode="auto">
            <a:xfrm>
              <a:off x="2304" y="3456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02" name="AutoShape 22"/>
            <p:cNvSpPr>
              <a:spLocks noChangeArrowheads="1"/>
            </p:cNvSpPr>
            <p:nvPr/>
          </p:nvSpPr>
          <p:spPr bwMode="auto">
            <a:xfrm>
              <a:off x="2448" y="3312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03" name="AutoShape 23"/>
            <p:cNvSpPr>
              <a:spLocks noChangeArrowheads="1"/>
            </p:cNvSpPr>
            <p:nvPr/>
          </p:nvSpPr>
          <p:spPr bwMode="auto">
            <a:xfrm>
              <a:off x="2352" y="3168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04" name="AutoShape 24"/>
            <p:cNvSpPr>
              <a:spLocks noChangeArrowheads="1"/>
            </p:cNvSpPr>
            <p:nvPr/>
          </p:nvSpPr>
          <p:spPr bwMode="auto">
            <a:xfrm>
              <a:off x="2448" y="3456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05" name="AutoShape 25"/>
            <p:cNvSpPr>
              <a:spLocks noChangeArrowheads="1"/>
            </p:cNvSpPr>
            <p:nvPr/>
          </p:nvSpPr>
          <p:spPr bwMode="auto">
            <a:xfrm>
              <a:off x="2160" y="3408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06" name="AutoShape 26"/>
            <p:cNvSpPr>
              <a:spLocks noChangeArrowheads="1"/>
            </p:cNvSpPr>
            <p:nvPr/>
          </p:nvSpPr>
          <p:spPr bwMode="auto">
            <a:xfrm>
              <a:off x="3504" y="3552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07" name="AutoShape 27"/>
            <p:cNvSpPr>
              <a:spLocks noChangeArrowheads="1"/>
            </p:cNvSpPr>
            <p:nvPr/>
          </p:nvSpPr>
          <p:spPr bwMode="auto">
            <a:xfrm>
              <a:off x="3792" y="3600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08" name="AutoShape 28"/>
            <p:cNvSpPr>
              <a:spLocks noChangeArrowheads="1"/>
            </p:cNvSpPr>
            <p:nvPr/>
          </p:nvSpPr>
          <p:spPr bwMode="auto">
            <a:xfrm>
              <a:off x="3648" y="3696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09" name="AutoShape 29"/>
            <p:cNvSpPr>
              <a:spLocks noChangeArrowheads="1"/>
            </p:cNvSpPr>
            <p:nvPr/>
          </p:nvSpPr>
          <p:spPr bwMode="auto">
            <a:xfrm>
              <a:off x="3504" y="3792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10" name="AutoShape 30"/>
            <p:cNvSpPr>
              <a:spLocks noChangeArrowheads="1"/>
            </p:cNvSpPr>
            <p:nvPr/>
          </p:nvSpPr>
          <p:spPr bwMode="auto">
            <a:xfrm>
              <a:off x="3696" y="3792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11" name="AutoShape 31"/>
            <p:cNvSpPr>
              <a:spLocks noChangeArrowheads="1"/>
            </p:cNvSpPr>
            <p:nvPr/>
          </p:nvSpPr>
          <p:spPr bwMode="auto">
            <a:xfrm flipV="1">
              <a:off x="3504" y="3648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12" name="AutoShape 32"/>
            <p:cNvSpPr>
              <a:spLocks noChangeArrowheads="1"/>
            </p:cNvSpPr>
            <p:nvPr/>
          </p:nvSpPr>
          <p:spPr bwMode="auto">
            <a:xfrm>
              <a:off x="3696" y="3504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</p:grpSp>
      <p:grpSp>
        <p:nvGrpSpPr>
          <p:cNvPr id="3" name="Group 33"/>
          <p:cNvGrpSpPr>
            <a:grpSpLocks/>
          </p:cNvGrpSpPr>
          <p:nvPr/>
        </p:nvGrpSpPr>
        <p:grpSpPr bwMode="auto">
          <a:xfrm>
            <a:off x="5257800" y="2667000"/>
            <a:ext cx="3048000" cy="2514600"/>
            <a:chOff x="3312" y="1584"/>
            <a:chExt cx="1920" cy="1584"/>
          </a:xfrm>
        </p:grpSpPr>
        <p:sp>
          <p:nvSpPr>
            <p:cNvPr id="3085" name="Line 34"/>
            <p:cNvSpPr>
              <a:spLocks noChangeShapeType="1"/>
            </p:cNvSpPr>
            <p:nvPr/>
          </p:nvSpPr>
          <p:spPr bwMode="auto">
            <a:xfrm flipH="1" flipV="1">
              <a:off x="3312" y="2736"/>
              <a:ext cx="144" cy="432"/>
            </a:xfrm>
            <a:prstGeom prst="line">
              <a:avLst/>
            </a:prstGeom>
            <a:noFill/>
            <a:ln w="25400">
              <a:solidFill>
                <a:srgbClr val="CC66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6" name="AutoShape 35"/>
            <p:cNvSpPr>
              <a:spLocks noChangeArrowheads="1"/>
            </p:cNvSpPr>
            <p:nvPr/>
          </p:nvSpPr>
          <p:spPr bwMode="auto">
            <a:xfrm>
              <a:off x="3984" y="1584"/>
              <a:ext cx="1248" cy="672"/>
            </a:xfrm>
            <a:prstGeom prst="wedgeRectCallout">
              <a:avLst>
                <a:gd name="adj1" fmla="val -93509"/>
                <a:gd name="adj2" fmla="val 150894"/>
              </a:avLst>
            </a:prstGeom>
            <a:solidFill>
              <a:srgbClr val="00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en-US" sz="2000" b="0" dirty="0">
                  <a:latin typeface="Tahoma" pitchFamily="34" charset="0"/>
                </a:rPr>
                <a:t>Inter-cluster distances are maximized</a:t>
              </a:r>
            </a:p>
          </p:txBody>
        </p:sp>
      </p:grpSp>
      <p:grpSp>
        <p:nvGrpSpPr>
          <p:cNvPr id="4" name="Group 36"/>
          <p:cNvGrpSpPr>
            <a:grpSpLocks/>
          </p:cNvGrpSpPr>
          <p:nvPr/>
        </p:nvGrpSpPr>
        <p:grpSpPr bwMode="auto">
          <a:xfrm>
            <a:off x="2895600" y="3657600"/>
            <a:ext cx="3276600" cy="2286000"/>
            <a:chOff x="1824" y="2208"/>
            <a:chExt cx="2064" cy="1440"/>
          </a:xfrm>
        </p:grpSpPr>
        <p:sp>
          <p:nvSpPr>
            <p:cNvPr id="3082" name="Oval 37"/>
            <p:cNvSpPr>
              <a:spLocks noChangeArrowheads="1"/>
            </p:cNvSpPr>
            <p:nvPr/>
          </p:nvSpPr>
          <p:spPr bwMode="auto">
            <a:xfrm>
              <a:off x="1824" y="2592"/>
              <a:ext cx="816" cy="720"/>
            </a:xfrm>
            <a:prstGeom prst="ellipse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83" name="Oval 38"/>
            <p:cNvSpPr>
              <a:spLocks noChangeArrowheads="1"/>
            </p:cNvSpPr>
            <p:nvPr/>
          </p:nvSpPr>
          <p:spPr bwMode="auto">
            <a:xfrm>
              <a:off x="2928" y="2208"/>
              <a:ext cx="720" cy="624"/>
            </a:xfrm>
            <a:prstGeom prst="ellipse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84" name="Oval 39"/>
            <p:cNvSpPr>
              <a:spLocks noChangeArrowheads="1"/>
            </p:cNvSpPr>
            <p:nvPr/>
          </p:nvSpPr>
          <p:spPr bwMode="auto">
            <a:xfrm>
              <a:off x="3216" y="3024"/>
              <a:ext cx="672" cy="624"/>
            </a:xfrm>
            <a:prstGeom prst="ellipse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</p:grpSp>
      <p:grpSp>
        <p:nvGrpSpPr>
          <p:cNvPr id="5" name="Group 40"/>
          <p:cNvGrpSpPr>
            <a:grpSpLocks/>
          </p:cNvGrpSpPr>
          <p:nvPr/>
        </p:nvGrpSpPr>
        <p:grpSpPr bwMode="auto">
          <a:xfrm>
            <a:off x="1295400" y="2971800"/>
            <a:ext cx="2286000" cy="1676400"/>
            <a:chOff x="816" y="1776"/>
            <a:chExt cx="1440" cy="1056"/>
          </a:xfrm>
        </p:grpSpPr>
        <p:sp>
          <p:nvSpPr>
            <p:cNvPr id="3080" name="Line 41"/>
            <p:cNvSpPr>
              <a:spLocks noChangeShapeType="1"/>
            </p:cNvSpPr>
            <p:nvPr/>
          </p:nvSpPr>
          <p:spPr bwMode="auto">
            <a:xfrm flipV="1">
              <a:off x="2064" y="2736"/>
              <a:ext cx="192" cy="96"/>
            </a:xfrm>
            <a:prstGeom prst="line">
              <a:avLst/>
            </a:prstGeom>
            <a:noFill/>
            <a:ln w="25400">
              <a:solidFill>
                <a:srgbClr val="CC66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1" name="AutoShape 42"/>
            <p:cNvSpPr>
              <a:spLocks noChangeArrowheads="1"/>
            </p:cNvSpPr>
            <p:nvPr/>
          </p:nvSpPr>
          <p:spPr bwMode="auto">
            <a:xfrm>
              <a:off x="816" y="1776"/>
              <a:ext cx="1248" cy="672"/>
            </a:xfrm>
            <a:prstGeom prst="wedgeRectCallout">
              <a:avLst>
                <a:gd name="adj1" fmla="val 56250"/>
                <a:gd name="adj2" fmla="val 92856"/>
              </a:avLst>
            </a:prstGeom>
            <a:solidFill>
              <a:srgbClr val="00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en-US" sz="2000" b="0">
                  <a:latin typeface="Tahoma" pitchFamily="34" charset="0"/>
                </a:rPr>
                <a:t>Intra-cluster distances are minimized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聚类的应用</a:t>
            </a:r>
            <a:endParaRPr lang="en-US" altLang="en-US" dirty="0"/>
          </a:p>
        </p:txBody>
      </p:sp>
      <p:sp>
        <p:nvSpPr>
          <p:cNvPr id="4099" name="Rectangle 1027"/>
          <p:cNvSpPr>
            <a:spLocks noGrp="1" noChangeArrowheads="1"/>
          </p:cNvSpPr>
          <p:nvPr>
            <p:ph type="body" sz="half" idx="1"/>
          </p:nvPr>
        </p:nvSpPr>
        <p:spPr>
          <a:xfrm>
            <a:off x="411162" y="1143000"/>
            <a:ext cx="7818437" cy="5181600"/>
          </a:xfrm>
        </p:spPr>
        <p:txBody>
          <a:bodyPr/>
          <a:lstStyle/>
          <a:p>
            <a:pPr>
              <a:spcBef>
                <a:spcPct val="20000"/>
              </a:spcBef>
            </a:pPr>
            <a:r>
              <a:rPr lang="zh-CN" altLang="en-US" sz="2400" b="1" dirty="0"/>
              <a:t>应用领域</a:t>
            </a:r>
            <a:endParaRPr lang="en-US" altLang="en-US" sz="2400" b="1" dirty="0"/>
          </a:p>
          <a:p>
            <a:pPr lvl="1">
              <a:spcBef>
                <a:spcPct val="20000"/>
              </a:spcBef>
            </a:pPr>
            <a:r>
              <a:rPr lang="zh-CN" altLang="en-US" sz="2000" dirty="0"/>
              <a:t>相似文档聚类</a:t>
            </a:r>
            <a:endParaRPr lang="en-US" altLang="zh-CN" sz="2000" dirty="0"/>
          </a:p>
          <a:p>
            <a:pPr lvl="1">
              <a:spcBef>
                <a:spcPct val="20000"/>
              </a:spcBef>
            </a:pPr>
            <a:r>
              <a:rPr lang="zh-CN" altLang="en-US" sz="2000" dirty="0"/>
              <a:t>对具有相似功能的基因</a:t>
            </a:r>
            <a:r>
              <a:rPr lang="en-US" altLang="zh-CN" sz="2000" dirty="0"/>
              <a:t>/</a:t>
            </a:r>
            <a:r>
              <a:rPr lang="zh-CN" altLang="en-US" sz="2000" dirty="0"/>
              <a:t>蛋白质聚类</a:t>
            </a:r>
            <a:endParaRPr lang="en-US" altLang="en-US" sz="2000" dirty="0"/>
          </a:p>
          <a:p>
            <a:pPr lvl="1">
              <a:spcBef>
                <a:spcPct val="20000"/>
              </a:spcBef>
            </a:pPr>
            <a:r>
              <a:rPr lang="zh-CN" altLang="en-US" sz="2000" dirty="0"/>
              <a:t>相似价格波动的股票聚类</a:t>
            </a:r>
            <a:endParaRPr lang="en-US" altLang="en-US" sz="2000" b="1" dirty="0"/>
          </a:p>
          <a:p>
            <a:pPr>
              <a:spcBef>
                <a:spcPct val="20000"/>
              </a:spcBef>
            </a:pPr>
            <a:r>
              <a:rPr lang="zh-CN" altLang="en-US" sz="2400" b="1" dirty="0"/>
              <a:t>优势</a:t>
            </a:r>
            <a:endParaRPr lang="en-US" altLang="en-US" sz="2400" b="1" dirty="0"/>
          </a:p>
          <a:p>
            <a:pPr lvl="1">
              <a:spcBef>
                <a:spcPct val="20000"/>
              </a:spcBef>
            </a:pPr>
            <a:r>
              <a:rPr lang="zh-CN" altLang="en-US" sz="2000" dirty="0"/>
              <a:t>降低数据复杂度</a:t>
            </a:r>
            <a:endParaRPr lang="en-US" altLang="zh-CN" sz="2000" dirty="0"/>
          </a:p>
          <a:p>
            <a:pPr lvl="1">
              <a:spcBef>
                <a:spcPct val="20000"/>
              </a:spcBef>
            </a:pPr>
            <a:r>
              <a:rPr lang="zh-CN" altLang="en-US" sz="2000" dirty="0"/>
              <a:t>新“类”发现</a:t>
            </a:r>
            <a:endParaRPr lang="en-US" altLang="en-US" sz="2000" dirty="0"/>
          </a:p>
          <a:p>
            <a:pPr>
              <a:spcBef>
                <a:spcPct val="20000"/>
              </a:spcBef>
            </a:pPr>
            <a:r>
              <a:rPr lang="zh-CN" altLang="en-US" sz="2400" b="1" dirty="0"/>
              <a:t>应用场景</a:t>
            </a:r>
            <a:endParaRPr lang="en-US" altLang="zh-CN" sz="2400" b="1" dirty="0"/>
          </a:p>
          <a:p>
            <a:pPr lvl="1"/>
            <a:r>
              <a:rPr lang="zh-CN" altLang="en-US" sz="2000" dirty="0"/>
              <a:t>数据无标签或获取标签代价太大</a:t>
            </a:r>
            <a:endParaRPr lang="en-US" altLang="zh-CN" sz="2000" dirty="0"/>
          </a:p>
          <a:p>
            <a:endParaRPr lang="en-US" alt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zh-CN" altLang="en-US" dirty="0"/>
              <a:t>“类”的定义不唯一</a:t>
            </a:r>
            <a:endParaRPr lang="en-US" altLang="en-US" dirty="0"/>
          </a:p>
        </p:txBody>
      </p:sp>
      <p:grpSp>
        <p:nvGrpSpPr>
          <p:cNvPr id="6147" name="Group 91"/>
          <p:cNvGrpSpPr>
            <a:grpSpLocks/>
          </p:cNvGrpSpPr>
          <p:nvPr/>
        </p:nvGrpSpPr>
        <p:grpSpPr bwMode="auto">
          <a:xfrm>
            <a:off x="685800" y="1905000"/>
            <a:ext cx="3344863" cy="1509713"/>
            <a:chOff x="432" y="1200"/>
            <a:chExt cx="2107" cy="951"/>
          </a:xfrm>
        </p:grpSpPr>
        <p:grpSp>
          <p:nvGrpSpPr>
            <p:cNvPr id="6217" name="Group 3"/>
            <p:cNvGrpSpPr>
              <a:grpSpLocks noChangeAspect="1"/>
            </p:cNvGrpSpPr>
            <p:nvPr/>
          </p:nvGrpSpPr>
          <p:grpSpPr bwMode="auto">
            <a:xfrm>
              <a:off x="432" y="1200"/>
              <a:ext cx="2107" cy="516"/>
              <a:chOff x="2464" y="2296"/>
              <a:chExt cx="2634" cy="646"/>
            </a:xfrm>
          </p:grpSpPr>
          <p:sp>
            <p:nvSpPr>
              <p:cNvPr id="6219" name="Oval 4"/>
              <p:cNvSpPr>
                <a:spLocks noChangeAspect="1" noChangeArrowheads="1"/>
              </p:cNvSpPr>
              <p:nvPr/>
            </p:nvSpPr>
            <p:spPr bwMode="auto">
              <a:xfrm>
                <a:off x="4564" y="2730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20" name="Oval 5"/>
              <p:cNvSpPr>
                <a:spLocks noChangeAspect="1" noChangeArrowheads="1"/>
              </p:cNvSpPr>
              <p:nvPr/>
            </p:nvSpPr>
            <p:spPr bwMode="auto">
              <a:xfrm>
                <a:off x="4312" y="2842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21" name="Oval 6"/>
              <p:cNvSpPr>
                <a:spLocks noChangeAspect="1" noChangeArrowheads="1"/>
              </p:cNvSpPr>
              <p:nvPr/>
            </p:nvSpPr>
            <p:spPr bwMode="auto">
              <a:xfrm>
                <a:off x="4466" y="2856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22" name="Oval 7"/>
              <p:cNvSpPr>
                <a:spLocks noChangeAspect="1" noChangeArrowheads="1"/>
              </p:cNvSpPr>
              <p:nvPr/>
            </p:nvSpPr>
            <p:spPr bwMode="auto">
              <a:xfrm>
                <a:off x="4410" y="2744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23" name="Oval 8"/>
              <p:cNvSpPr>
                <a:spLocks noChangeAspect="1" noChangeArrowheads="1"/>
              </p:cNvSpPr>
              <p:nvPr/>
            </p:nvSpPr>
            <p:spPr bwMode="auto">
              <a:xfrm>
                <a:off x="4326" y="2478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24" name="Oval 9"/>
              <p:cNvSpPr>
                <a:spLocks noChangeAspect="1" noChangeArrowheads="1"/>
              </p:cNvSpPr>
              <p:nvPr/>
            </p:nvSpPr>
            <p:spPr bwMode="auto">
              <a:xfrm>
                <a:off x="4158" y="2422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25" name="Oval 10"/>
              <p:cNvSpPr>
                <a:spLocks noChangeAspect="1" noChangeArrowheads="1"/>
              </p:cNvSpPr>
              <p:nvPr/>
            </p:nvSpPr>
            <p:spPr bwMode="auto">
              <a:xfrm>
                <a:off x="4242" y="2296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26" name="Oval 11"/>
              <p:cNvSpPr>
                <a:spLocks noChangeAspect="1" noChangeArrowheads="1"/>
              </p:cNvSpPr>
              <p:nvPr/>
            </p:nvSpPr>
            <p:spPr bwMode="auto">
              <a:xfrm>
                <a:off x="4788" y="2716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27" name="Oval 12"/>
              <p:cNvSpPr>
                <a:spLocks noChangeAspect="1" noChangeArrowheads="1"/>
              </p:cNvSpPr>
              <p:nvPr/>
            </p:nvSpPr>
            <p:spPr bwMode="auto">
              <a:xfrm>
                <a:off x="5012" y="2618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28" name="Oval 13"/>
              <p:cNvSpPr>
                <a:spLocks noChangeAspect="1" noChangeArrowheads="1"/>
              </p:cNvSpPr>
              <p:nvPr/>
            </p:nvSpPr>
            <p:spPr bwMode="auto">
              <a:xfrm>
                <a:off x="4788" y="2534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29" name="Oval 14"/>
              <p:cNvSpPr>
                <a:spLocks noChangeAspect="1" noChangeArrowheads="1"/>
              </p:cNvSpPr>
              <p:nvPr/>
            </p:nvSpPr>
            <p:spPr bwMode="auto">
              <a:xfrm flipV="1">
                <a:off x="2870" y="2422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30" name="Oval 15"/>
              <p:cNvSpPr>
                <a:spLocks noChangeAspect="1" noChangeArrowheads="1"/>
              </p:cNvSpPr>
              <p:nvPr/>
            </p:nvSpPr>
            <p:spPr bwMode="auto">
              <a:xfrm flipV="1">
                <a:off x="2618" y="2310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31" name="Oval 16"/>
              <p:cNvSpPr>
                <a:spLocks noChangeAspect="1" noChangeArrowheads="1"/>
              </p:cNvSpPr>
              <p:nvPr/>
            </p:nvSpPr>
            <p:spPr bwMode="auto">
              <a:xfrm flipV="1">
                <a:off x="2772" y="2296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32" name="Oval 17"/>
              <p:cNvSpPr>
                <a:spLocks noChangeAspect="1" noChangeArrowheads="1"/>
              </p:cNvSpPr>
              <p:nvPr/>
            </p:nvSpPr>
            <p:spPr bwMode="auto">
              <a:xfrm flipV="1">
                <a:off x="2716" y="2408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33" name="Oval 18"/>
              <p:cNvSpPr>
                <a:spLocks noChangeAspect="1" noChangeArrowheads="1"/>
              </p:cNvSpPr>
              <p:nvPr/>
            </p:nvSpPr>
            <p:spPr bwMode="auto">
              <a:xfrm flipV="1">
                <a:off x="2632" y="2674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34" name="Oval 19"/>
              <p:cNvSpPr>
                <a:spLocks noChangeAspect="1" noChangeArrowheads="1"/>
              </p:cNvSpPr>
              <p:nvPr/>
            </p:nvSpPr>
            <p:spPr bwMode="auto">
              <a:xfrm flipV="1">
                <a:off x="2464" y="2730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35" name="Oval 20"/>
              <p:cNvSpPr>
                <a:spLocks noChangeAspect="1" noChangeArrowheads="1"/>
              </p:cNvSpPr>
              <p:nvPr/>
            </p:nvSpPr>
            <p:spPr bwMode="auto">
              <a:xfrm flipV="1">
                <a:off x="2548" y="2856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36" name="Oval 21"/>
              <p:cNvSpPr>
                <a:spLocks noChangeAspect="1" noChangeArrowheads="1"/>
              </p:cNvSpPr>
              <p:nvPr/>
            </p:nvSpPr>
            <p:spPr bwMode="auto">
              <a:xfrm flipV="1">
                <a:off x="3094" y="2436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37" name="Oval 22"/>
              <p:cNvSpPr>
                <a:spLocks noChangeAspect="1" noChangeArrowheads="1"/>
              </p:cNvSpPr>
              <p:nvPr/>
            </p:nvSpPr>
            <p:spPr bwMode="auto">
              <a:xfrm flipV="1">
                <a:off x="3318" y="2534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38" name="Oval 23"/>
              <p:cNvSpPr>
                <a:spLocks noChangeAspect="1" noChangeArrowheads="1"/>
              </p:cNvSpPr>
              <p:nvPr/>
            </p:nvSpPr>
            <p:spPr bwMode="auto">
              <a:xfrm flipV="1">
                <a:off x="3094" y="2618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6218" name="Rectangle 87"/>
            <p:cNvSpPr>
              <a:spLocks noChangeArrowheads="1"/>
            </p:cNvSpPr>
            <p:nvPr/>
          </p:nvSpPr>
          <p:spPr bwMode="auto">
            <a:xfrm>
              <a:off x="624" y="1920"/>
              <a:ext cx="14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800" b="0" dirty="0">
                  <a:cs typeface="Times New Roman" pitchFamily="18" charset="0"/>
                </a:rPr>
                <a:t>How many clusters?</a:t>
              </a:r>
              <a:endParaRPr lang="en-US" altLang="en-US" sz="1800" b="0" dirty="0"/>
            </a:p>
          </p:txBody>
        </p:sp>
      </p:grpSp>
      <p:grpSp>
        <p:nvGrpSpPr>
          <p:cNvPr id="4" name="Group 94"/>
          <p:cNvGrpSpPr>
            <a:grpSpLocks/>
          </p:cNvGrpSpPr>
          <p:nvPr/>
        </p:nvGrpSpPr>
        <p:grpSpPr bwMode="auto">
          <a:xfrm>
            <a:off x="4960938" y="4114800"/>
            <a:ext cx="3344862" cy="1401763"/>
            <a:chOff x="3125" y="2592"/>
            <a:chExt cx="2107" cy="883"/>
          </a:xfrm>
        </p:grpSpPr>
        <p:grpSp>
          <p:nvGrpSpPr>
            <p:cNvPr id="6195" name="Group 66"/>
            <p:cNvGrpSpPr>
              <a:grpSpLocks/>
            </p:cNvGrpSpPr>
            <p:nvPr/>
          </p:nvGrpSpPr>
          <p:grpSpPr bwMode="auto">
            <a:xfrm>
              <a:off x="3125" y="2592"/>
              <a:ext cx="2107" cy="518"/>
              <a:chOff x="3125" y="2592"/>
              <a:chExt cx="2107" cy="518"/>
            </a:xfrm>
          </p:grpSpPr>
          <p:sp>
            <p:nvSpPr>
              <p:cNvPr id="6197" name="AutoShape 67"/>
              <p:cNvSpPr>
                <a:spLocks noChangeAspect="1" noChangeArrowheads="1"/>
              </p:cNvSpPr>
              <p:nvPr/>
            </p:nvSpPr>
            <p:spPr bwMode="auto">
              <a:xfrm>
                <a:off x="4805" y="2940"/>
                <a:ext cx="69" cy="69"/>
              </a:xfrm>
              <a:prstGeom prst="diamond">
                <a:avLst/>
              </a:prstGeom>
              <a:solidFill>
                <a:srgbClr val="FFCC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98" name="AutoShape 68"/>
              <p:cNvSpPr>
                <a:spLocks noChangeAspect="1" noChangeArrowheads="1"/>
              </p:cNvSpPr>
              <p:nvPr/>
            </p:nvSpPr>
            <p:spPr bwMode="auto">
              <a:xfrm>
                <a:off x="4603" y="3030"/>
                <a:ext cx="69" cy="69"/>
              </a:xfrm>
              <a:prstGeom prst="diamond">
                <a:avLst/>
              </a:prstGeom>
              <a:solidFill>
                <a:srgbClr val="FFCC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99" name="AutoShape 69"/>
              <p:cNvSpPr>
                <a:spLocks noChangeAspect="1" noChangeArrowheads="1"/>
              </p:cNvSpPr>
              <p:nvPr/>
            </p:nvSpPr>
            <p:spPr bwMode="auto">
              <a:xfrm>
                <a:off x="4726" y="3041"/>
                <a:ext cx="69" cy="69"/>
              </a:xfrm>
              <a:prstGeom prst="diamond">
                <a:avLst/>
              </a:prstGeom>
              <a:solidFill>
                <a:srgbClr val="FFCC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00" name="AutoShape 70"/>
              <p:cNvSpPr>
                <a:spLocks noChangeAspect="1" noChangeArrowheads="1"/>
              </p:cNvSpPr>
              <p:nvPr/>
            </p:nvSpPr>
            <p:spPr bwMode="auto">
              <a:xfrm>
                <a:off x="4682" y="2951"/>
                <a:ext cx="68" cy="69"/>
              </a:xfrm>
              <a:prstGeom prst="diamond">
                <a:avLst/>
              </a:prstGeom>
              <a:solidFill>
                <a:srgbClr val="FFCC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537095" name="AutoShape 71"/>
              <p:cNvSpPr>
                <a:spLocks noChangeAspect="1" noChangeArrowheads="1"/>
              </p:cNvSpPr>
              <p:nvPr/>
            </p:nvSpPr>
            <p:spPr bwMode="auto">
              <a:xfrm>
                <a:off x="4614" y="2738"/>
                <a:ext cx="69" cy="69"/>
              </a:xfrm>
              <a:prstGeom prst="star5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537096" name="AutoShape 72"/>
              <p:cNvSpPr>
                <a:spLocks noChangeAspect="1" noChangeArrowheads="1"/>
              </p:cNvSpPr>
              <p:nvPr/>
            </p:nvSpPr>
            <p:spPr bwMode="auto">
              <a:xfrm>
                <a:off x="4480" y="2693"/>
                <a:ext cx="69" cy="69"/>
              </a:xfrm>
              <a:prstGeom prst="star5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537097" name="AutoShape 73"/>
              <p:cNvSpPr>
                <a:spLocks noChangeAspect="1" noChangeArrowheads="1"/>
              </p:cNvSpPr>
              <p:nvPr/>
            </p:nvSpPr>
            <p:spPr bwMode="auto">
              <a:xfrm>
                <a:off x="4547" y="2592"/>
                <a:ext cx="69" cy="69"/>
              </a:xfrm>
              <a:prstGeom prst="star5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6204" name="AutoShape 74"/>
              <p:cNvSpPr>
                <a:spLocks noChangeAspect="1" noChangeArrowheads="1"/>
              </p:cNvSpPr>
              <p:nvPr/>
            </p:nvSpPr>
            <p:spPr bwMode="auto">
              <a:xfrm>
                <a:off x="4984" y="2929"/>
                <a:ext cx="69" cy="69"/>
              </a:xfrm>
              <a:prstGeom prst="diamond">
                <a:avLst/>
              </a:prstGeom>
              <a:solidFill>
                <a:srgbClr val="FFCC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05" name="AutoShape 75"/>
              <p:cNvSpPr>
                <a:spLocks noChangeAspect="1" noChangeArrowheads="1"/>
              </p:cNvSpPr>
              <p:nvPr/>
            </p:nvSpPr>
            <p:spPr bwMode="auto">
              <a:xfrm>
                <a:off x="5163" y="2850"/>
                <a:ext cx="69" cy="69"/>
              </a:xfrm>
              <a:prstGeom prst="diamond">
                <a:avLst/>
              </a:prstGeom>
              <a:solidFill>
                <a:srgbClr val="FFCC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06" name="AutoShape 76"/>
              <p:cNvSpPr>
                <a:spLocks noChangeAspect="1" noChangeArrowheads="1"/>
              </p:cNvSpPr>
              <p:nvPr/>
            </p:nvSpPr>
            <p:spPr bwMode="auto">
              <a:xfrm>
                <a:off x="4984" y="2783"/>
                <a:ext cx="69" cy="69"/>
              </a:xfrm>
              <a:prstGeom prst="diamond">
                <a:avLst/>
              </a:prstGeom>
              <a:solidFill>
                <a:srgbClr val="FFCC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07" name="AutoShape 77"/>
              <p:cNvSpPr>
                <a:spLocks noChangeAspect="1" noChangeArrowheads="1"/>
              </p:cNvSpPr>
              <p:nvPr/>
            </p:nvSpPr>
            <p:spPr bwMode="auto">
              <a:xfrm flipV="1">
                <a:off x="3450" y="2693"/>
                <a:ext cx="69" cy="69"/>
              </a:xfrm>
              <a:prstGeom prst="star4">
                <a:avLst>
                  <a:gd name="adj" fmla="val 12500"/>
                </a:avLst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08" name="AutoShape 78"/>
              <p:cNvSpPr>
                <a:spLocks noChangeAspect="1" noChangeArrowheads="1"/>
              </p:cNvSpPr>
              <p:nvPr/>
            </p:nvSpPr>
            <p:spPr bwMode="auto">
              <a:xfrm flipV="1">
                <a:off x="3248" y="2603"/>
                <a:ext cx="69" cy="69"/>
              </a:xfrm>
              <a:prstGeom prst="star4">
                <a:avLst>
                  <a:gd name="adj" fmla="val 12500"/>
                </a:avLst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09" name="AutoShape 79"/>
              <p:cNvSpPr>
                <a:spLocks noChangeAspect="1" noChangeArrowheads="1"/>
              </p:cNvSpPr>
              <p:nvPr/>
            </p:nvSpPr>
            <p:spPr bwMode="auto">
              <a:xfrm flipV="1">
                <a:off x="3371" y="2592"/>
                <a:ext cx="69" cy="69"/>
              </a:xfrm>
              <a:prstGeom prst="star4">
                <a:avLst>
                  <a:gd name="adj" fmla="val 12500"/>
                </a:avLst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10" name="AutoShape 80"/>
              <p:cNvSpPr>
                <a:spLocks noChangeAspect="1" noChangeArrowheads="1"/>
              </p:cNvSpPr>
              <p:nvPr/>
            </p:nvSpPr>
            <p:spPr bwMode="auto">
              <a:xfrm flipV="1">
                <a:off x="3327" y="2682"/>
                <a:ext cx="68" cy="69"/>
              </a:xfrm>
              <a:prstGeom prst="star4">
                <a:avLst>
                  <a:gd name="adj" fmla="val 12500"/>
                </a:avLst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11" name="AutoShape 81"/>
              <p:cNvSpPr>
                <a:spLocks noChangeAspect="1" noChangeArrowheads="1"/>
              </p:cNvSpPr>
              <p:nvPr/>
            </p:nvSpPr>
            <p:spPr bwMode="auto">
              <a:xfrm flipV="1">
                <a:off x="3259" y="2895"/>
                <a:ext cx="69" cy="69"/>
              </a:xfrm>
              <a:prstGeom prst="flowChartExtract">
                <a:avLst/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12" name="AutoShape 82"/>
              <p:cNvSpPr>
                <a:spLocks noChangeAspect="1" noChangeArrowheads="1"/>
              </p:cNvSpPr>
              <p:nvPr/>
            </p:nvSpPr>
            <p:spPr bwMode="auto">
              <a:xfrm flipV="1">
                <a:off x="3125" y="2940"/>
                <a:ext cx="69" cy="69"/>
              </a:xfrm>
              <a:prstGeom prst="flowChartExtract">
                <a:avLst/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13" name="AutoShape 83"/>
              <p:cNvSpPr>
                <a:spLocks noChangeAspect="1" noChangeArrowheads="1"/>
              </p:cNvSpPr>
              <p:nvPr/>
            </p:nvSpPr>
            <p:spPr bwMode="auto">
              <a:xfrm flipV="1">
                <a:off x="3192" y="3041"/>
                <a:ext cx="69" cy="69"/>
              </a:xfrm>
              <a:prstGeom prst="flowChartExtract">
                <a:avLst/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14" name="AutoShape 84"/>
              <p:cNvSpPr>
                <a:spLocks noChangeAspect="1" noChangeArrowheads="1"/>
              </p:cNvSpPr>
              <p:nvPr/>
            </p:nvSpPr>
            <p:spPr bwMode="auto">
              <a:xfrm flipV="1">
                <a:off x="3629" y="2704"/>
                <a:ext cx="69" cy="69"/>
              </a:xfrm>
              <a:prstGeom prst="star4">
                <a:avLst>
                  <a:gd name="adj" fmla="val 12500"/>
                </a:avLst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15" name="AutoShape 85"/>
              <p:cNvSpPr>
                <a:spLocks noChangeAspect="1" noChangeArrowheads="1"/>
              </p:cNvSpPr>
              <p:nvPr/>
            </p:nvSpPr>
            <p:spPr bwMode="auto">
              <a:xfrm flipV="1">
                <a:off x="3808" y="2783"/>
                <a:ext cx="69" cy="69"/>
              </a:xfrm>
              <a:prstGeom prst="star4">
                <a:avLst>
                  <a:gd name="adj" fmla="val 12500"/>
                </a:avLst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16" name="AutoShape 86"/>
              <p:cNvSpPr>
                <a:spLocks noChangeAspect="1" noChangeArrowheads="1"/>
              </p:cNvSpPr>
              <p:nvPr/>
            </p:nvSpPr>
            <p:spPr bwMode="auto">
              <a:xfrm flipV="1">
                <a:off x="3629" y="2850"/>
                <a:ext cx="69" cy="69"/>
              </a:xfrm>
              <a:prstGeom prst="star4">
                <a:avLst>
                  <a:gd name="adj" fmla="val 12500"/>
                </a:avLst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6196" name="Rectangle 88"/>
            <p:cNvSpPr>
              <a:spLocks noChangeArrowheads="1"/>
            </p:cNvSpPr>
            <p:nvPr/>
          </p:nvSpPr>
          <p:spPr bwMode="auto">
            <a:xfrm>
              <a:off x="3413" y="3244"/>
              <a:ext cx="14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800" b="0">
                  <a:cs typeface="Times New Roman" pitchFamily="18" charset="0"/>
                </a:rPr>
                <a:t>Four Clusters</a:t>
              </a:r>
              <a:r>
                <a:rPr lang="en-US" altLang="en-US" sz="1800" b="0"/>
                <a:t> </a:t>
              </a:r>
            </a:p>
          </p:txBody>
        </p:sp>
      </p:grpSp>
      <p:grpSp>
        <p:nvGrpSpPr>
          <p:cNvPr id="6" name="Group 93"/>
          <p:cNvGrpSpPr>
            <a:grpSpLocks/>
          </p:cNvGrpSpPr>
          <p:nvPr/>
        </p:nvGrpSpPr>
        <p:grpSpPr bwMode="auto">
          <a:xfrm>
            <a:off x="685800" y="4114800"/>
            <a:ext cx="3344863" cy="1401763"/>
            <a:chOff x="432" y="2592"/>
            <a:chExt cx="2107" cy="883"/>
          </a:xfrm>
        </p:grpSpPr>
        <p:grpSp>
          <p:nvGrpSpPr>
            <p:cNvPr id="6173" name="Group 45"/>
            <p:cNvGrpSpPr>
              <a:grpSpLocks/>
            </p:cNvGrpSpPr>
            <p:nvPr/>
          </p:nvGrpSpPr>
          <p:grpSpPr bwMode="auto">
            <a:xfrm>
              <a:off x="432" y="2592"/>
              <a:ext cx="2107" cy="516"/>
              <a:chOff x="432" y="2592"/>
              <a:chExt cx="2107" cy="516"/>
            </a:xfrm>
          </p:grpSpPr>
          <p:sp>
            <p:nvSpPr>
              <p:cNvPr id="6175" name="AutoShape 46"/>
              <p:cNvSpPr>
                <a:spLocks noChangeAspect="1" noChangeArrowheads="1"/>
              </p:cNvSpPr>
              <p:nvPr/>
            </p:nvSpPr>
            <p:spPr bwMode="auto">
              <a:xfrm>
                <a:off x="2112" y="2939"/>
                <a:ext cx="69" cy="68"/>
              </a:xfrm>
              <a:prstGeom prst="triangle">
                <a:avLst>
                  <a:gd name="adj" fmla="val 50000"/>
                </a:avLst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76" name="AutoShape 47"/>
              <p:cNvSpPr>
                <a:spLocks noChangeAspect="1" noChangeArrowheads="1"/>
              </p:cNvSpPr>
              <p:nvPr/>
            </p:nvSpPr>
            <p:spPr bwMode="auto">
              <a:xfrm>
                <a:off x="1910" y="3028"/>
                <a:ext cx="69" cy="69"/>
              </a:xfrm>
              <a:prstGeom prst="triangle">
                <a:avLst>
                  <a:gd name="adj" fmla="val 50000"/>
                </a:avLst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77" name="AutoShape 48"/>
              <p:cNvSpPr>
                <a:spLocks noChangeAspect="1" noChangeArrowheads="1"/>
              </p:cNvSpPr>
              <p:nvPr/>
            </p:nvSpPr>
            <p:spPr bwMode="auto">
              <a:xfrm>
                <a:off x="2033" y="3039"/>
                <a:ext cx="69" cy="69"/>
              </a:xfrm>
              <a:prstGeom prst="triangle">
                <a:avLst>
                  <a:gd name="adj" fmla="val 50000"/>
                </a:avLst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78" name="AutoShape 49"/>
              <p:cNvSpPr>
                <a:spLocks noChangeAspect="1" noChangeArrowheads="1"/>
              </p:cNvSpPr>
              <p:nvPr/>
            </p:nvSpPr>
            <p:spPr bwMode="auto">
              <a:xfrm>
                <a:off x="1989" y="2950"/>
                <a:ext cx="68" cy="69"/>
              </a:xfrm>
              <a:prstGeom prst="triangle">
                <a:avLst>
                  <a:gd name="adj" fmla="val 50000"/>
                </a:avLst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79" name="AutoShape 50"/>
              <p:cNvSpPr>
                <a:spLocks noChangeAspect="1" noChangeArrowheads="1"/>
              </p:cNvSpPr>
              <p:nvPr/>
            </p:nvSpPr>
            <p:spPr bwMode="auto">
              <a:xfrm>
                <a:off x="1921" y="2737"/>
                <a:ext cx="69" cy="69"/>
              </a:xfrm>
              <a:prstGeom prst="triangle">
                <a:avLst>
                  <a:gd name="adj" fmla="val 50000"/>
                </a:avLst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80" name="AutoShape 51"/>
              <p:cNvSpPr>
                <a:spLocks noChangeAspect="1" noChangeArrowheads="1"/>
              </p:cNvSpPr>
              <p:nvPr/>
            </p:nvSpPr>
            <p:spPr bwMode="auto">
              <a:xfrm>
                <a:off x="1787" y="2693"/>
                <a:ext cx="69" cy="68"/>
              </a:xfrm>
              <a:prstGeom prst="triangle">
                <a:avLst>
                  <a:gd name="adj" fmla="val 50000"/>
                </a:avLst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81" name="AutoShape 52"/>
              <p:cNvSpPr>
                <a:spLocks noChangeAspect="1" noChangeArrowheads="1"/>
              </p:cNvSpPr>
              <p:nvPr/>
            </p:nvSpPr>
            <p:spPr bwMode="auto">
              <a:xfrm>
                <a:off x="1854" y="2592"/>
                <a:ext cx="69" cy="69"/>
              </a:xfrm>
              <a:prstGeom prst="triangle">
                <a:avLst>
                  <a:gd name="adj" fmla="val 50000"/>
                </a:avLst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82" name="AutoShape 53"/>
              <p:cNvSpPr>
                <a:spLocks noChangeAspect="1" noChangeArrowheads="1"/>
              </p:cNvSpPr>
              <p:nvPr/>
            </p:nvSpPr>
            <p:spPr bwMode="auto">
              <a:xfrm>
                <a:off x="2291" y="2927"/>
                <a:ext cx="69" cy="69"/>
              </a:xfrm>
              <a:prstGeom prst="triangle">
                <a:avLst>
                  <a:gd name="adj" fmla="val 50000"/>
                </a:avLst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83" name="AutoShape 54"/>
              <p:cNvSpPr>
                <a:spLocks noChangeAspect="1" noChangeArrowheads="1"/>
              </p:cNvSpPr>
              <p:nvPr/>
            </p:nvSpPr>
            <p:spPr bwMode="auto">
              <a:xfrm>
                <a:off x="2470" y="2849"/>
                <a:ext cx="69" cy="69"/>
              </a:xfrm>
              <a:prstGeom prst="triangle">
                <a:avLst>
                  <a:gd name="adj" fmla="val 50000"/>
                </a:avLst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84" name="AutoShape 55"/>
              <p:cNvSpPr>
                <a:spLocks noChangeAspect="1" noChangeArrowheads="1"/>
              </p:cNvSpPr>
              <p:nvPr/>
            </p:nvSpPr>
            <p:spPr bwMode="auto">
              <a:xfrm>
                <a:off x="2291" y="2782"/>
                <a:ext cx="69" cy="69"/>
              </a:xfrm>
              <a:prstGeom prst="triangle">
                <a:avLst>
                  <a:gd name="adj" fmla="val 50000"/>
                </a:avLst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85" name="Rectangle 56"/>
              <p:cNvSpPr>
                <a:spLocks noChangeAspect="1" noChangeArrowheads="1"/>
              </p:cNvSpPr>
              <p:nvPr/>
            </p:nvSpPr>
            <p:spPr bwMode="auto">
              <a:xfrm flipV="1">
                <a:off x="757" y="2693"/>
                <a:ext cx="69" cy="68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86" name="Rectangle 57"/>
              <p:cNvSpPr>
                <a:spLocks noChangeAspect="1" noChangeArrowheads="1"/>
              </p:cNvSpPr>
              <p:nvPr/>
            </p:nvSpPr>
            <p:spPr bwMode="auto">
              <a:xfrm flipV="1">
                <a:off x="555" y="2603"/>
                <a:ext cx="69" cy="69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87" name="Rectangle 58"/>
              <p:cNvSpPr>
                <a:spLocks noChangeAspect="1" noChangeArrowheads="1"/>
              </p:cNvSpPr>
              <p:nvPr/>
            </p:nvSpPr>
            <p:spPr bwMode="auto">
              <a:xfrm flipV="1">
                <a:off x="678" y="2592"/>
                <a:ext cx="69" cy="69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88" name="Rectangle 59"/>
              <p:cNvSpPr>
                <a:spLocks noChangeAspect="1" noChangeArrowheads="1"/>
              </p:cNvSpPr>
              <p:nvPr/>
            </p:nvSpPr>
            <p:spPr bwMode="auto">
              <a:xfrm flipV="1">
                <a:off x="634" y="2681"/>
                <a:ext cx="68" cy="69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89" name="Rectangle 60"/>
              <p:cNvSpPr>
                <a:spLocks noChangeAspect="1" noChangeArrowheads="1"/>
              </p:cNvSpPr>
              <p:nvPr/>
            </p:nvSpPr>
            <p:spPr bwMode="auto">
              <a:xfrm flipV="1">
                <a:off x="566" y="2894"/>
                <a:ext cx="69" cy="69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90" name="Rectangle 61"/>
              <p:cNvSpPr>
                <a:spLocks noChangeAspect="1" noChangeArrowheads="1"/>
              </p:cNvSpPr>
              <p:nvPr/>
            </p:nvSpPr>
            <p:spPr bwMode="auto">
              <a:xfrm flipV="1">
                <a:off x="432" y="2939"/>
                <a:ext cx="69" cy="68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91" name="Rectangle 62"/>
              <p:cNvSpPr>
                <a:spLocks noChangeAspect="1" noChangeArrowheads="1"/>
              </p:cNvSpPr>
              <p:nvPr/>
            </p:nvSpPr>
            <p:spPr bwMode="auto">
              <a:xfrm flipV="1">
                <a:off x="499" y="3039"/>
                <a:ext cx="69" cy="69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92" name="Rectangle 63"/>
              <p:cNvSpPr>
                <a:spLocks noChangeAspect="1" noChangeArrowheads="1"/>
              </p:cNvSpPr>
              <p:nvPr/>
            </p:nvSpPr>
            <p:spPr bwMode="auto">
              <a:xfrm flipV="1">
                <a:off x="936" y="2704"/>
                <a:ext cx="69" cy="69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93" name="Rectangle 64"/>
              <p:cNvSpPr>
                <a:spLocks noChangeAspect="1" noChangeArrowheads="1"/>
              </p:cNvSpPr>
              <p:nvPr/>
            </p:nvSpPr>
            <p:spPr bwMode="auto">
              <a:xfrm flipV="1">
                <a:off x="1115" y="2782"/>
                <a:ext cx="69" cy="69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94" name="Rectangle 65"/>
              <p:cNvSpPr>
                <a:spLocks noChangeAspect="1" noChangeArrowheads="1"/>
              </p:cNvSpPr>
              <p:nvPr/>
            </p:nvSpPr>
            <p:spPr bwMode="auto">
              <a:xfrm flipV="1">
                <a:off x="936" y="2849"/>
                <a:ext cx="69" cy="69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6174" name="Rectangle 89"/>
            <p:cNvSpPr>
              <a:spLocks noChangeArrowheads="1"/>
            </p:cNvSpPr>
            <p:nvPr/>
          </p:nvSpPr>
          <p:spPr bwMode="auto">
            <a:xfrm>
              <a:off x="624" y="3244"/>
              <a:ext cx="14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800" b="0">
                  <a:cs typeface="Times New Roman" pitchFamily="18" charset="0"/>
                </a:rPr>
                <a:t>Two Clusters</a:t>
              </a:r>
              <a:r>
                <a:rPr lang="en-US" altLang="en-US" sz="1800" b="0"/>
                <a:t> </a:t>
              </a:r>
            </a:p>
          </p:txBody>
        </p:sp>
      </p:grpSp>
      <p:grpSp>
        <p:nvGrpSpPr>
          <p:cNvPr id="8" name="Group 92"/>
          <p:cNvGrpSpPr>
            <a:grpSpLocks/>
          </p:cNvGrpSpPr>
          <p:nvPr/>
        </p:nvGrpSpPr>
        <p:grpSpPr bwMode="auto">
          <a:xfrm>
            <a:off x="4960938" y="1905000"/>
            <a:ext cx="3344862" cy="1509713"/>
            <a:chOff x="3125" y="1200"/>
            <a:chExt cx="2107" cy="951"/>
          </a:xfrm>
        </p:grpSpPr>
        <p:grpSp>
          <p:nvGrpSpPr>
            <p:cNvPr id="6151" name="Group 24"/>
            <p:cNvGrpSpPr>
              <a:grpSpLocks/>
            </p:cNvGrpSpPr>
            <p:nvPr/>
          </p:nvGrpSpPr>
          <p:grpSpPr bwMode="auto">
            <a:xfrm>
              <a:off x="3125" y="1200"/>
              <a:ext cx="2107" cy="518"/>
              <a:chOff x="3125" y="1200"/>
              <a:chExt cx="2107" cy="518"/>
            </a:xfrm>
          </p:grpSpPr>
          <p:sp>
            <p:nvSpPr>
              <p:cNvPr id="6153" name="AutoShape 25"/>
              <p:cNvSpPr>
                <a:spLocks noChangeAspect="1" noChangeArrowheads="1"/>
              </p:cNvSpPr>
              <p:nvPr/>
            </p:nvSpPr>
            <p:spPr bwMode="auto">
              <a:xfrm>
                <a:off x="4805" y="1548"/>
                <a:ext cx="69" cy="69"/>
              </a:xfrm>
              <a:prstGeom prst="diamond">
                <a:avLst/>
              </a:prstGeom>
              <a:solidFill>
                <a:srgbClr val="FF99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54" name="AutoShape 26"/>
              <p:cNvSpPr>
                <a:spLocks noChangeAspect="1" noChangeArrowheads="1"/>
              </p:cNvSpPr>
              <p:nvPr/>
            </p:nvSpPr>
            <p:spPr bwMode="auto">
              <a:xfrm>
                <a:off x="4603" y="1638"/>
                <a:ext cx="69" cy="69"/>
              </a:xfrm>
              <a:prstGeom prst="diamond">
                <a:avLst/>
              </a:prstGeom>
              <a:solidFill>
                <a:srgbClr val="FF99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55" name="AutoShape 27"/>
              <p:cNvSpPr>
                <a:spLocks noChangeAspect="1" noChangeArrowheads="1"/>
              </p:cNvSpPr>
              <p:nvPr/>
            </p:nvSpPr>
            <p:spPr bwMode="auto">
              <a:xfrm>
                <a:off x="4726" y="1649"/>
                <a:ext cx="69" cy="69"/>
              </a:xfrm>
              <a:prstGeom prst="diamond">
                <a:avLst/>
              </a:prstGeom>
              <a:solidFill>
                <a:srgbClr val="FF99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56" name="AutoShape 28"/>
              <p:cNvSpPr>
                <a:spLocks noChangeAspect="1" noChangeArrowheads="1"/>
              </p:cNvSpPr>
              <p:nvPr/>
            </p:nvSpPr>
            <p:spPr bwMode="auto">
              <a:xfrm>
                <a:off x="4682" y="1559"/>
                <a:ext cx="68" cy="69"/>
              </a:xfrm>
              <a:prstGeom prst="diamond">
                <a:avLst/>
              </a:prstGeom>
              <a:solidFill>
                <a:srgbClr val="FF99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537053" name="AutoShape 29"/>
              <p:cNvSpPr>
                <a:spLocks noChangeAspect="1" noChangeArrowheads="1"/>
              </p:cNvSpPr>
              <p:nvPr/>
            </p:nvSpPr>
            <p:spPr bwMode="auto">
              <a:xfrm>
                <a:off x="4614" y="1346"/>
                <a:ext cx="69" cy="69"/>
              </a:xfrm>
              <a:prstGeom prst="star5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537054" name="AutoShape 30"/>
              <p:cNvSpPr>
                <a:spLocks noChangeAspect="1" noChangeArrowheads="1"/>
              </p:cNvSpPr>
              <p:nvPr/>
            </p:nvSpPr>
            <p:spPr bwMode="auto">
              <a:xfrm>
                <a:off x="4480" y="1301"/>
                <a:ext cx="69" cy="69"/>
              </a:xfrm>
              <a:prstGeom prst="star5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537055" name="AutoShape 31"/>
              <p:cNvSpPr>
                <a:spLocks noChangeAspect="1" noChangeArrowheads="1"/>
              </p:cNvSpPr>
              <p:nvPr/>
            </p:nvSpPr>
            <p:spPr bwMode="auto">
              <a:xfrm>
                <a:off x="4547" y="1200"/>
                <a:ext cx="69" cy="69"/>
              </a:xfrm>
              <a:prstGeom prst="star5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6160" name="Rectangle 32"/>
              <p:cNvSpPr>
                <a:spLocks noChangeAspect="1" noChangeArrowheads="1"/>
              </p:cNvSpPr>
              <p:nvPr/>
            </p:nvSpPr>
            <p:spPr bwMode="auto">
              <a:xfrm>
                <a:off x="4984" y="1537"/>
                <a:ext cx="69" cy="69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61" name="Rectangle 33"/>
              <p:cNvSpPr>
                <a:spLocks noChangeAspect="1" noChangeArrowheads="1"/>
              </p:cNvSpPr>
              <p:nvPr/>
            </p:nvSpPr>
            <p:spPr bwMode="auto">
              <a:xfrm>
                <a:off x="5163" y="1458"/>
                <a:ext cx="69" cy="69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62" name="Rectangle 34"/>
              <p:cNvSpPr>
                <a:spLocks noChangeAspect="1" noChangeArrowheads="1"/>
              </p:cNvSpPr>
              <p:nvPr/>
            </p:nvSpPr>
            <p:spPr bwMode="auto">
              <a:xfrm>
                <a:off x="4984" y="1391"/>
                <a:ext cx="69" cy="69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63" name="AutoShape 35"/>
              <p:cNvSpPr>
                <a:spLocks noChangeAspect="1" noChangeArrowheads="1"/>
              </p:cNvSpPr>
              <p:nvPr/>
            </p:nvSpPr>
            <p:spPr bwMode="auto">
              <a:xfrm flipV="1">
                <a:off x="3450" y="1301"/>
                <a:ext cx="69" cy="69"/>
              </a:xfrm>
              <a:prstGeom prst="star4">
                <a:avLst>
                  <a:gd name="adj" fmla="val 12500"/>
                </a:avLst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64" name="AutoShape 36"/>
              <p:cNvSpPr>
                <a:spLocks noChangeAspect="1" noChangeArrowheads="1"/>
              </p:cNvSpPr>
              <p:nvPr/>
            </p:nvSpPr>
            <p:spPr bwMode="auto">
              <a:xfrm flipV="1">
                <a:off x="3248" y="1211"/>
                <a:ext cx="69" cy="69"/>
              </a:xfrm>
              <a:prstGeom prst="star4">
                <a:avLst>
                  <a:gd name="adj" fmla="val 12500"/>
                </a:avLst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65" name="AutoShape 37"/>
              <p:cNvSpPr>
                <a:spLocks noChangeAspect="1" noChangeArrowheads="1"/>
              </p:cNvSpPr>
              <p:nvPr/>
            </p:nvSpPr>
            <p:spPr bwMode="auto">
              <a:xfrm flipV="1">
                <a:off x="3371" y="1200"/>
                <a:ext cx="69" cy="69"/>
              </a:xfrm>
              <a:prstGeom prst="star4">
                <a:avLst>
                  <a:gd name="adj" fmla="val 12500"/>
                </a:avLst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66" name="AutoShape 38"/>
              <p:cNvSpPr>
                <a:spLocks noChangeAspect="1" noChangeArrowheads="1"/>
              </p:cNvSpPr>
              <p:nvPr/>
            </p:nvSpPr>
            <p:spPr bwMode="auto">
              <a:xfrm flipV="1">
                <a:off x="3327" y="1290"/>
                <a:ext cx="68" cy="69"/>
              </a:xfrm>
              <a:prstGeom prst="star4">
                <a:avLst>
                  <a:gd name="adj" fmla="val 12500"/>
                </a:avLst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67" name="AutoShape 39"/>
              <p:cNvSpPr>
                <a:spLocks noChangeAspect="1" noChangeArrowheads="1"/>
              </p:cNvSpPr>
              <p:nvPr/>
            </p:nvSpPr>
            <p:spPr bwMode="auto">
              <a:xfrm flipV="1">
                <a:off x="3259" y="1503"/>
                <a:ext cx="69" cy="69"/>
              </a:xfrm>
              <a:prstGeom prst="triangle">
                <a:avLst>
                  <a:gd name="adj" fmla="val 50000"/>
                </a:avLst>
              </a:prstGeom>
              <a:solidFill>
                <a:srgbClr val="00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68" name="AutoShape 40"/>
              <p:cNvSpPr>
                <a:spLocks noChangeAspect="1" noChangeArrowheads="1"/>
              </p:cNvSpPr>
              <p:nvPr/>
            </p:nvSpPr>
            <p:spPr bwMode="auto">
              <a:xfrm flipV="1">
                <a:off x="3125" y="1548"/>
                <a:ext cx="69" cy="69"/>
              </a:xfrm>
              <a:prstGeom prst="triangle">
                <a:avLst>
                  <a:gd name="adj" fmla="val 50000"/>
                </a:avLst>
              </a:prstGeom>
              <a:solidFill>
                <a:srgbClr val="00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69" name="AutoShape 41"/>
              <p:cNvSpPr>
                <a:spLocks noChangeAspect="1" noChangeArrowheads="1"/>
              </p:cNvSpPr>
              <p:nvPr/>
            </p:nvSpPr>
            <p:spPr bwMode="auto">
              <a:xfrm flipV="1">
                <a:off x="3192" y="1649"/>
                <a:ext cx="69" cy="69"/>
              </a:xfrm>
              <a:prstGeom prst="triangle">
                <a:avLst>
                  <a:gd name="adj" fmla="val 50000"/>
                </a:avLst>
              </a:prstGeom>
              <a:solidFill>
                <a:srgbClr val="00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70" name="Oval 42"/>
              <p:cNvSpPr>
                <a:spLocks noChangeAspect="1" noChangeArrowheads="1"/>
              </p:cNvSpPr>
              <p:nvPr/>
            </p:nvSpPr>
            <p:spPr bwMode="auto">
              <a:xfrm flipV="1">
                <a:off x="3629" y="1312"/>
                <a:ext cx="69" cy="69"/>
              </a:xfrm>
              <a:prstGeom prst="ellipse">
                <a:avLst/>
              </a:prstGeom>
              <a:solidFill>
                <a:srgbClr val="00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71" name="Oval 43"/>
              <p:cNvSpPr>
                <a:spLocks noChangeAspect="1" noChangeArrowheads="1"/>
              </p:cNvSpPr>
              <p:nvPr/>
            </p:nvSpPr>
            <p:spPr bwMode="auto">
              <a:xfrm flipV="1">
                <a:off x="3808" y="1391"/>
                <a:ext cx="69" cy="69"/>
              </a:xfrm>
              <a:prstGeom prst="ellipse">
                <a:avLst/>
              </a:prstGeom>
              <a:solidFill>
                <a:srgbClr val="00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72" name="Oval 44"/>
              <p:cNvSpPr>
                <a:spLocks noChangeAspect="1" noChangeArrowheads="1"/>
              </p:cNvSpPr>
              <p:nvPr/>
            </p:nvSpPr>
            <p:spPr bwMode="auto">
              <a:xfrm flipV="1">
                <a:off x="3629" y="1458"/>
                <a:ext cx="69" cy="69"/>
              </a:xfrm>
              <a:prstGeom prst="ellipse">
                <a:avLst/>
              </a:prstGeom>
              <a:solidFill>
                <a:srgbClr val="00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6152" name="Rectangle 90"/>
            <p:cNvSpPr>
              <a:spLocks noChangeArrowheads="1"/>
            </p:cNvSpPr>
            <p:nvPr/>
          </p:nvSpPr>
          <p:spPr bwMode="auto">
            <a:xfrm>
              <a:off x="3413" y="1920"/>
              <a:ext cx="14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800" b="0">
                  <a:cs typeface="Times New Roman" pitchFamily="18" charset="0"/>
                </a:rPr>
                <a:t>Six Clusters</a:t>
              </a:r>
              <a:r>
                <a:rPr lang="en-US" altLang="en-US" sz="1600" b="0">
                  <a:latin typeface="Times New Roman" pitchFamily="18" charset="0"/>
                </a:rPr>
                <a:t> 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聚类的种类</a:t>
            </a:r>
            <a:endParaRPr lang="en-US" altLang="en-US" dirty="0"/>
          </a:p>
        </p:txBody>
      </p:sp>
      <p:sp>
        <p:nvSpPr>
          <p:cNvPr id="11267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2400" dirty="0"/>
              <a:t>完全分离的聚类</a:t>
            </a:r>
            <a:endParaRPr lang="en-US" altLang="en-US" sz="2400" dirty="0"/>
          </a:p>
          <a:p>
            <a:endParaRPr lang="en-US" altLang="en-US" sz="2400" dirty="0"/>
          </a:p>
          <a:p>
            <a:r>
              <a:rPr lang="zh-CN" altLang="en-US" sz="2400" dirty="0"/>
              <a:t>基于中心的聚类</a:t>
            </a:r>
            <a:endParaRPr lang="en-US" altLang="en-US" sz="2400" dirty="0"/>
          </a:p>
          <a:p>
            <a:endParaRPr lang="en-US" altLang="en-US" sz="2400" dirty="0"/>
          </a:p>
          <a:p>
            <a:r>
              <a:rPr lang="zh-CN" altLang="en-US" sz="2400" dirty="0"/>
              <a:t>基于邻接的聚类</a:t>
            </a:r>
            <a:endParaRPr lang="en-US" altLang="en-US" sz="2400" dirty="0"/>
          </a:p>
          <a:p>
            <a:endParaRPr lang="en-US" altLang="en-US" sz="2400" dirty="0"/>
          </a:p>
          <a:p>
            <a:r>
              <a:rPr lang="zh-CN" altLang="en-US" sz="2400" dirty="0"/>
              <a:t>基于密度的聚类</a:t>
            </a:r>
            <a:endParaRPr lang="en-US" altLang="en-US" sz="2400" dirty="0"/>
          </a:p>
          <a:p>
            <a:endParaRPr lang="en-US" altLang="en-US" sz="2400" dirty="0"/>
          </a:p>
          <a:p>
            <a:r>
              <a:rPr lang="zh-CN" altLang="en-US" sz="2400" dirty="0"/>
              <a:t>目标函数描述的聚类</a:t>
            </a:r>
            <a:endParaRPr lang="en-US" alt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zh-CN" altLang="en-US" sz="2800" dirty="0"/>
              <a:t>聚类类型</a:t>
            </a:r>
            <a:r>
              <a:rPr lang="en-US" altLang="en-US" sz="2800" dirty="0"/>
              <a:t>:</a:t>
            </a:r>
            <a:r>
              <a:rPr lang="zh-CN" altLang="en-US" sz="2800" dirty="0"/>
              <a:t>完全分离的聚类</a:t>
            </a:r>
            <a:endParaRPr lang="en-US" altLang="en-US" sz="2800" dirty="0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763" y="1143000"/>
            <a:ext cx="8001000" cy="5106988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</a:pPr>
            <a:r>
              <a:rPr lang="zh-CN" altLang="en-US" dirty="0"/>
              <a:t>完全分离的聚类</a:t>
            </a:r>
            <a:r>
              <a:rPr lang="en-US" altLang="en-US" dirty="0"/>
              <a:t>: </a:t>
            </a:r>
          </a:p>
          <a:p>
            <a:pPr marL="742950" lvl="1" indent="-285750">
              <a:lnSpc>
                <a:spcPct val="150000"/>
              </a:lnSpc>
              <a:spcBef>
                <a:spcPct val="20000"/>
              </a:spcBef>
            </a:pPr>
            <a:r>
              <a:rPr lang="zh-CN" altLang="en-US" sz="2000" dirty="0"/>
              <a:t>同类任意两点之间的相似性大于不同类两点之间的相似性</a:t>
            </a:r>
            <a:r>
              <a:rPr lang="en-US" altLang="en-US" sz="2000" dirty="0"/>
              <a:t> </a:t>
            </a:r>
          </a:p>
          <a:p>
            <a:pPr marL="742950" lvl="1" indent="-285750">
              <a:lnSpc>
                <a:spcPct val="150000"/>
              </a:lnSpc>
              <a:spcBef>
                <a:spcPct val="20000"/>
              </a:spcBef>
            </a:pPr>
            <a:r>
              <a:rPr lang="zh-CN" altLang="en-US" sz="2000" dirty="0"/>
              <a:t>类内两两之间都相似、类间两两之间都不相似</a:t>
            </a:r>
            <a:endParaRPr lang="en-US" altLang="en-US" sz="2000" dirty="0"/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altLang="en-US" sz="2400" dirty="0"/>
          </a:p>
        </p:txBody>
      </p:sp>
      <p:sp>
        <p:nvSpPr>
          <p:cNvPr id="12292" name="Oval 4"/>
          <p:cNvSpPr>
            <a:spLocks noChangeAspect="1" noChangeArrowheads="1"/>
          </p:cNvSpPr>
          <p:nvPr/>
        </p:nvSpPr>
        <p:spPr bwMode="auto">
          <a:xfrm>
            <a:off x="1447800" y="4570413"/>
            <a:ext cx="1143000" cy="1143000"/>
          </a:xfrm>
          <a:prstGeom prst="ellipse">
            <a:avLst/>
          </a:prstGeom>
          <a:solidFill>
            <a:srgbClr val="00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12293" name="Oval 5"/>
          <p:cNvSpPr>
            <a:spLocks noChangeAspect="1" noChangeArrowheads="1"/>
          </p:cNvSpPr>
          <p:nvPr/>
        </p:nvSpPr>
        <p:spPr bwMode="auto">
          <a:xfrm>
            <a:off x="6018213" y="4570413"/>
            <a:ext cx="1143000" cy="1143000"/>
          </a:xfrm>
          <a:prstGeom prst="ellipse">
            <a:avLst/>
          </a:prstGeom>
          <a:solidFill>
            <a:srgbClr val="00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12294" name="Oval 6"/>
          <p:cNvSpPr>
            <a:spLocks noChangeAspect="1" noChangeArrowheads="1"/>
          </p:cNvSpPr>
          <p:nvPr/>
        </p:nvSpPr>
        <p:spPr bwMode="auto">
          <a:xfrm>
            <a:off x="3506788" y="2971800"/>
            <a:ext cx="1143000" cy="11430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12295" name="Text Box 7"/>
          <p:cNvSpPr txBox="1">
            <a:spLocks noChangeArrowheads="1"/>
          </p:cNvSpPr>
          <p:nvPr/>
        </p:nvSpPr>
        <p:spPr bwMode="auto">
          <a:xfrm>
            <a:off x="2971800" y="5791200"/>
            <a:ext cx="3200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 dirty="0"/>
              <a:t>3 </a:t>
            </a:r>
            <a:r>
              <a:rPr lang="zh-CN" altLang="en-US" sz="1800" dirty="0"/>
              <a:t>个完全分离的聚类</a:t>
            </a:r>
            <a:endParaRPr lang="en-US" alt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zh-CN" altLang="en-US" sz="2800" dirty="0"/>
              <a:t>聚类类型</a:t>
            </a:r>
            <a:r>
              <a:rPr lang="en-US" altLang="en-US" sz="2800" dirty="0"/>
              <a:t>:</a:t>
            </a:r>
            <a:r>
              <a:rPr lang="zh-CN" altLang="en-US" sz="2800" dirty="0"/>
              <a:t>基于中心的聚类</a:t>
            </a:r>
            <a:endParaRPr lang="en-US" altLang="en-US" sz="2800" dirty="0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763" y="1143000"/>
            <a:ext cx="8001000" cy="5106988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</a:pPr>
            <a:r>
              <a:rPr lang="zh-CN" altLang="en-US" dirty="0"/>
              <a:t>基于中心的</a:t>
            </a:r>
            <a:endParaRPr lang="en-US" altLang="en-US" dirty="0"/>
          </a:p>
          <a:p>
            <a:pPr marL="742950" lvl="1" indent="-285750" algn="just">
              <a:lnSpc>
                <a:spcPct val="150000"/>
              </a:lnSpc>
              <a:spcBef>
                <a:spcPct val="20000"/>
              </a:spcBef>
            </a:pPr>
            <a:r>
              <a:rPr lang="zh-CN" altLang="en-US" sz="2000" dirty="0"/>
              <a:t>一类中的任意一点到该类中心的距离小于其他类的中心</a:t>
            </a:r>
            <a:r>
              <a:rPr lang="en-US" altLang="en-US" sz="2000" dirty="0"/>
              <a:t>  </a:t>
            </a:r>
          </a:p>
          <a:p>
            <a:pPr marL="742950" lvl="1" indent="-285750" algn="just">
              <a:lnSpc>
                <a:spcPct val="150000"/>
              </a:lnSpc>
              <a:spcBef>
                <a:spcPct val="20000"/>
              </a:spcBef>
            </a:pPr>
            <a:r>
              <a:rPr lang="zh-CN" altLang="en-US" sz="2000" dirty="0"/>
              <a:t>类的中心为该类所有点的平均值（</a:t>
            </a:r>
            <a:r>
              <a:rPr lang="en-US" altLang="zh-CN" sz="2000" dirty="0" err="1">
                <a:solidFill>
                  <a:srgbClr val="FF0000"/>
                </a:solidFill>
              </a:rPr>
              <a:t>centriod</a:t>
            </a:r>
            <a:r>
              <a:rPr lang="zh-CN" altLang="en-US" sz="2000" dirty="0"/>
              <a:t>），或者是距离平均值最近的点（</a:t>
            </a:r>
            <a:r>
              <a:rPr lang="en-US" altLang="en-US" sz="2000" dirty="0">
                <a:solidFill>
                  <a:srgbClr val="FF0000"/>
                </a:solidFill>
              </a:rPr>
              <a:t>medoid</a:t>
            </a:r>
            <a:r>
              <a:rPr lang="zh-CN" altLang="en-US" sz="2000" dirty="0"/>
              <a:t>）</a:t>
            </a:r>
            <a:endParaRPr lang="en-US" altLang="zh-CN" sz="2000" dirty="0"/>
          </a:p>
          <a:p>
            <a:pPr marL="742950" lvl="1" indent="-285750" algn="just">
              <a:lnSpc>
                <a:spcPct val="150000"/>
              </a:lnSpc>
              <a:spcBef>
                <a:spcPct val="20000"/>
              </a:spcBef>
            </a:pPr>
            <a:r>
              <a:rPr lang="zh-CN" altLang="en-US" sz="2000" dirty="0"/>
              <a:t>描述的是与中心之间的相似性</a:t>
            </a:r>
            <a:endParaRPr lang="en-US" altLang="en-US" sz="2000" dirty="0"/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altLang="en-US" dirty="0"/>
          </a:p>
        </p:txBody>
      </p:sp>
      <p:sp>
        <p:nvSpPr>
          <p:cNvPr id="13316" name="Oval 4"/>
          <p:cNvSpPr>
            <a:spLocks noChangeAspect="1" noChangeArrowheads="1"/>
          </p:cNvSpPr>
          <p:nvPr/>
        </p:nvSpPr>
        <p:spPr bwMode="auto">
          <a:xfrm>
            <a:off x="1143000" y="4191000"/>
            <a:ext cx="1371600" cy="13716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13317" name="Oval 5"/>
          <p:cNvSpPr>
            <a:spLocks noChangeAspect="1" noChangeArrowheads="1"/>
          </p:cNvSpPr>
          <p:nvPr/>
        </p:nvSpPr>
        <p:spPr bwMode="auto">
          <a:xfrm>
            <a:off x="2514600" y="4191000"/>
            <a:ext cx="1371600" cy="1371600"/>
          </a:xfrm>
          <a:prstGeom prst="ellipse">
            <a:avLst/>
          </a:prstGeom>
          <a:solidFill>
            <a:srgbClr val="336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13318" name="Oval 6"/>
          <p:cNvSpPr>
            <a:spLocks noChangeAspect="1" noChangeArrowheads="1"/>
          </p:cNvSpPr>
          <p:nvPr/>
        </p:nvSpPr>
        <p:spPr bwMode="auto">
          <a:xfrm>
            <a:off x="5322888" y="4329113"/>
            <a:ext cx="1166812" cy="1100137"/>
          </a:xfrm>
          <a:prstGeom prst="ellipse">
            <a:avLst/>
          </a:prstGeom>
          <a:solidFill>
            <a:srgbClr val="00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13319" name="Oval 7"/>
          <p:cNvSpPr>
            <a:spLocks noChangeAspect="1" noChangeArrowheads="1"/>
          </p:cNvSpPr>
          <p:nvPr/>
        </p:nvSpPr>
        <p:spPr bwMode="auto">
          <a:xfrm>
            <a:off x="6694488" y="4329113"/>
            <a:ext cx="1166812" cy="1100137"/>
          </a:xfrm>
          <a:prstGeom prst="ellipse">
            <a:avLst/>
          </a:prstGeom>
          <a:solidFill>
            <a:srgbClr val="FFCC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13320" name="Text Box 8"/>
          <p:cNvSpPr txBox="1">
            <a:spLocks noChangeArrowheads="1"/>
          </p:cNvSpPr>
          <p:nvPr/>
        </p:nvSpPr>
        <p:spPr bwMode="auto">
          <a:xfrm>
            <a:off x="2971800" y="5791200"/>
            <a:ext cx="3200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4 center-based clusters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zh-CN" altLang="en-US" sz="2800" dirty="0"/>
              <a:t>聚类类型</a:t>
            </a:r>
            <a:r>
              <a:rPr lang="en-US" altLang="en-US" sz="2800" dirty="0"/>
              <a:t>: </a:t>
            </a:r>
            <a:r>
              <a:rPr lang="zh-CN" altLang="en-US" sz="2800" dirty="0"/>
              <a:t>基于邻接的</a:t>
            </a:r>
            <a:endParaRPr lang="en-US" altLang="en-US" sz="2800" dirty="0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763" y="1143000"/>
            <a:ext cx="8001000" cy="5106988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</a:pPr>
            <a:r>
              <a:rPr lang="zh-CN" altLang="en-US" dirty="0"/>
              <a:t>邻接聚类</a:t>
            </a:r>
            <a:endParaRPr lang="en-US" altLang="en-US" dirty="0"/>
          </a:p>
          <a:p>
            <a:pPr marL="742950" lvl="1" indent="-285750">
              <a:lnSpc>
                <a:spcPct val="150000"/>
              </a:lnSpc>
              <a:spcBef>
                <a:spcPct val="20000"/>
              </a:spcBef>
            </a:pPr>
            <a:r>
              <a:rPr lang="zh-CN" altLang="en-US" sz="2000" dirty="0"/>
              <a:t>一类中的任意一点与该类中部分点的相似性大于其余类的任意一点</a:t>
            </a:r>
            <a:endParaRPr lang="en-US" altLang="en-US" sz="2000" dirty="0"/>
          </a:p>
          <a:p>
            <a:pPr marL="742950" lvl="1" indent="-285750">
              <a:lnSpc>
                <a:spcPct val="150000"/>
              </a:lnSpc>
              <a:spcBef>
                <a:spcPct val="20000"/>
              </a:spcBef>
            </a:pPr>
            <a:r>
              <a:rPr lang="zh-CN" altLang="en-US" sz="2000" dirty="0"/>
              <a:t>描述的是与类内一部分样本之间的相似性</a:t>
            </a:r>
            <a:endParaRPr lang="en-US" altLang="en-US" sz="2000" dirty="0"/>
          </a:p>
          <a:p>
            <a:pPr marL="342900" indent="-342900">
              <a:lnSpc>
                <a:spcPct val="150000"/>
              </a:lnSpc>
              <a:spcBef>
                <a:spcPct val="20000"/>
              </a:spcBef>
            </a:pPr>
            <a:endParaRPr lang="en-US" altLang="en-US" sz="2400" dirty="0"/>
          </a:p>
        </p:txBody>
      </p:sp>
      <p:grpSp>
        <p:nvGrpSpPr>
          <p:cNvPr id="14340" name="Group 15"/>
          <p:cNvGrpSpPr>
            <a:grpSpLocks/>
          </p:cNvGrpSpPr>
          <p:nvPr/>
        </p:nvGrpSpPr>
        <p:grpSpPr bwMode="auto">
          <a:xfrm>
            <a:off x="381000" y="3810000"/>
            <a:ext cx="8534400" cy="1219200"/>
            <a:chOff x="950" y="2544"/>
            <a:chExt cx="4106" cy="576"/>
          </a:xfrm>
        </p:grpSpPr>
        <p:sp>
          <p:nvSpPr>
            <p:cNvPr id="14342" name="Freeform 4" descr="Large grid"/>
            <p:cNvSpPr>
              <a:spLocks noChangeAspect="1"/>
            </p:cNvSpPr>
            <p:nvPr/>
          </p:nvSpPr>
          <p:spPr bwMode="auto">
            <a:xfrm>
              <a:off x="950" y="2552"/>
              <a:ext cx="267" cy="457"/>
            </a:xfrm>
            <a:custGeom>
              <a:avLst/>
              <a:gdLst>
                <a:gd name="T0" fmla="*/ 39 w 432"/>
                <a:gd name="T1" fmla="*/ 0 h 744"/>
                <a:gd name="T2" fmla="*/ 23 w 432"/>
                <a:gd name="T3" fmla="*/ 1 h 744"/>
                <a:gd name="T4" fmla="*/ 20 w 432"/>
                <a:gd name="T5" fmla="*/ 4 h 744"/>
                <a:gd name="T6" fmla="*/ 15 w 432"/>
                <a:gd name="T7" fmla="*/ 16 h 744"/>
                <a:gd name="T8" fmla="*/ 17 w 432"/>
                <a:gd name="T9" fmla="*/ 28 h 744"/>
                <a:gd name="T10" fmla="*/ 27 w 432"/>
                <a:gd name="T11" fmla="*/ 44 h 744"/>
                <a:gd name="T12" fmla="*/ 27 w 432"/>
                <a:gd name="T13" fmla="*/ 62 h 744"/>
                <a:gd name="T14" fmla="*/ 22 w 432"/>
                <a:gd name="T15" fmla="*/ 63 h 744"/>
                <a:gd name="T16" fmla="*/ 0 w 432"/>
                <a:gd name="T17" fmla="*/ 65 h 74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432"/>
                <a:gd name="T28" fmla="*/ 0 h 744"/>
                <a:gd name="T29" fmla="*/ 432 w 432"/>
                <a:gd name="T30" fmla="*/ 744 h 74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432" h="744">
                  <a:moveTo>
                    <a:pt x="432" y="0"/>
                  </a:moveTo>
                  <a:cubicBezTo>
                    <a:pt x="376" y="4"/>
                    <a:pt x="319" y="2"/>
                    <a:pt x="264" y="12"/>
                  </a:cubicBezTo>
                  <a:cubicBezTo>
                    <a:pt x="250" y="15"/>
                    <a:pt x="236" y="24"/>
                    <a:pt x="228" y="36"/>
                  </a:cubicBezTo>
                  <a:cubicBezTo>
                    <a:pt x="224" y="43"/>
                    <a:pt x="173" y="164"/>
                    <a:pt x="168" y="180"/>
                  </a:cubicBezTo>
                  <a:cubicBezTo>
                    <a:pt x="172" y="228"/>
                    <a:pt x="174" y="276"/>
                    <a:pt x="180" y="324"/>
                  </a:cubicBezTo>
                  <a:cubicBezTo>
                    <a:pt x="190" y="397"/>
                    <a:pt x="262" y="447"/>
                    <a:pt x="300" y="504"/>
                  </a:cubicBezTo>
                  <a:cubicBezTo>
                    <a:pt x="318" y="577"/>
                    <a:pt x="333" y="615"/>
                    <a:pt x="300" y="708"/>
                  </a:cubicBezTo>
                  <a:cubicBezTo>
                    <a:pt x="294" y="724"/>
                    <a:pt x="268" y="717"/>
                    <a:pt x="252" y="720"/>
                  </a:cubicBezTo>
                  <a:cubicBezTo>
                    <a:pt x="169" y="737"/>
                    <a:pt x="84" y="744"/>
                    <a:pt x="0" y="744"/>
                  </a:cubicBezTo>
                </a:path>
              </a:pathLst>
            </a:custGeom>
            <a:noFill/>
            <a:ln w="19050">
              <a:solidFill>
                <a:srgbClr val="99CC00"/>
              </a:solidFill>
              <a:prstDash val="lgDashDot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3" name="Freeform 5" descr="Large grid"/>
            <p:cNvSpPr>
              <a:spLocks noChangeAspect="1"/>
            </p:cNvSpPr>
            <p:nvPr/>
          </p:nvSpPr>
          <p:spPr bwMode="auto">
            <a:xfrm>
              <a:off x="1061" y="2618"/>
              <a:ext cx="267" cy="459"/>
            </a:xfrm>
            <a:custGeom>
              <a:avLst/>
              <a:gdLst>
                <a:gd name="T0" fmla="*/ 39 w 432"/>
                <a:gd name="T1" fmla="*/ 0 h 744"/>
                <a:gd name="T2" fmla="*/ 23 w 432"/>
                <a:gd name="T3" fmla="*/ 1 h 744"/>
                <a:gd name="T4" fmla="*/ 20 w 432"/>
                <a:gd name="T5" fmla="*/ 4 h 744"/>
                <a:gd name="T6" fmla="*/ 15 w 432"/>
                <a:gd name="T7" fmla="*/ 16 h 744"/>
                <a:gd name="T8" fmla="*/ 17 w 432"/>
                <a:gd name="T9" fmla="*/ 29 h 744"/>
                <a:gd name="T10" fmla="*/ 27 w 432"/>
                <a:gd name="T11" fmla="*/ 45 h 744"/>
                <a:gd name="T12" fmla="*/ 27 w 432"/>
                <a:gd name="T13" fmla="*/ 64 h 744"/>
                <a:gd name="T14" fmla="*/ 22 w 432"/>
                <a:gd name="T15" fmla="*/ 64 h 744"/>
                <a:gd name="T16" fmla="*/ 0 w 432"/>
                <a:gd name="T17" fmla="*/ 67 h 74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432"/>
                <a:gd name="T28" fmla="*/ 0 h 744"/>
                <a:gd name="T29" fmla="*/ 432 w 432"/>
                <a:gd name="T30" fmla="*/ 744 h 74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432" h="744">
                  <a:moveTo>
                    <a:pt x="432" y="0"/>
                  </a:moveTo>
                  <a:cubicBezTo>
                    <a:pt x="376" y="4"/>
                    <a:pt x="319" y="2"/>
                    <a:pt x="264" y="12"/>
                  </a:cubicBezTo>
                  <a:cubicBezTo>
                    <a:pt x="250" y="15"/>
                    <a:pt x="236" y="24"/>
                    <a:pt x="228" y="36"/>
                  </a:cubicBezTo>
                  <a:cubicBezTo>
                    <a:pt x="224" y="43"/>
                    <a:pt x="173" y="164"/>
                    <a:pt x="168" y="180"/>
                  </a:cubicBezTo>
                  <a:cubicBezTo>
                    <a:pt x="172" y="228"/>
                    <a:pt x="174" y="276"/>
                    <a:pt x="180" y="324"/>
                  </a:cubicBezTo>
                  <a:cubicBezTo>
                    <a:pt x="190" y="397"/>
                    <a:pt x="262" y="447"/>
                    <a:pt x="300" y="504"/>
                  </a:cubicBezTo>
                  <a:cubicBezTo>
                    <a:pt x="318" y="577"/>
                    <a:pt x="333" y="615"/>
                    <a:pt x="300" y="708"/>
                  </a:cubicBezTo>
                  <a:cubicBezTo>
                    <a:pt x="294" y="724"/>
                    <a:pt x="268" y="717"/>
                    <a:pt x="252" y="720"/>
                  </a:cubicBezTo>
                  <a:cubicBezTo>
                    <a:pt x="169" y="737"/>
                    <a:pt x="84" y="744"/>
                    <a:pt x="0" y="744"/>
                  </a:cubicBezTo>
                </a:path>
              </a:pathLst>
            </a:custGeom>
            <a:noFill/>
            <a:ln w="19050" cap="rnd">
              <a:solidFill>
                <a:srgbClr val="0000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4" name="Freeform 6" descr="Large grid"/>
            <p:cNvSpPr>
              <a:spLocks noChangeAspect="1"/>
            </p:cNvSpPr>
            <p:nvPr/>
          </p:nvSpPr>
          <p:spPr bwMode="auto">
            <a:xfrm>
              <a:off x="1195" y="2663"/>
              <a:ext cx="267" cy="457"/>
            </a:xfrm>
            <a:custGeom>
              <a:avLst/>
              <a:gdLst>
                <a:gd name="T0" fmla="*/ 39 w 432"/>
                <a:gd name="T1" fmla="*/ 0 h 744"/>
                <a:gd name="T2" fmla="*/ 23 w 432"/>
                <a:gd name="T3" fmla="*/ 1 h 744"/>
                <a:gd name="T4" fmla="*/ 20 w 432"/>
                <a:gd name="T5" fmla="*/ 4 h 744"/>
                <a:gd name="T6" fmla="*/ 15 w 432"/>
                <a:gd name="T7" fmla="*/ 16 h 744"/>
                <a:gd name="T8" fmla="*/ 17 w 432"/>
                <a:gd name="T9" fmla="*/ 28 h 744"/>
                <a:gd name="T10" fmla="*/ 27 w 432"/>
                <a:gd name="T11" fmla="*/ 44 h 744"/>
                <a:gd name="T12" fmla="*/ 27 w 432"/>
                <a:gd name="T13" fmla="*/ 62 h 744"/>
                <a:gd name="T14" fmla="*/ 22 w 432"/>
                <a:gd name="T15" fmla="*/ 63 h 744"/>
                <a:gd name="T16" fmla="*/ 0 w 432"/>
                <a:gd name="T17" fmla="*/ 65 h 74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432"/>
                <a:gd name="T28" fmla="*/ 0 h 744"/>
                <a:gd name="T29" fmla="*/ 432 w 432"/>
                <a:gd name="T30" fmla="*/ 744 h 74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432" h="744">
                  <a:moveTo>
                    <a:pt x="432" y="0"/>
                  </a:moveTo>
                  <a:cubicBezTo>
                    <a:pt x="376" y="4"/>
                    <a:pt x="319" y="2"/>
                    <a:pt x="264" y="12"/>
                  </a:cubicBezTo>
                  <a:cubicBezTo>
                    <a:pt x="250" y="15"/>
                    <a:pt x="236" y="24"/>
                    <a:pt x="228" y="36"/>
                  </a:cubicBezTo>
                  <a:cubicBezTo>
                    <a:pt x="224" y="43"/>
                    <a:pt x="173" y="164"/>
                    <a:pt x="168" y="180"/>
                  </a:cubicBezTo>
                  <a:cubicBezTo>
                    <a:pt x="172" y="228"/>
                    <a:pt x="174" y="276"/>
                    <a:pt x="180" y="324"/>
                  </a:cubicBezTo>
                  <a:cubicBezTo>
                    <a:pt x="190" y="397"/>
                    <a:pt x="262" y="447"/>
                    <a:pt x="300" y="504"/>
                  </a:cubicBezTo>
                  <a:cubicBezTo>
                    <a:pt x="318" y="577"/>
                    <a:pt x="333" y="615"/>
                    <a:pt x="300" y="708"/>
                  </a:cubicBezTo>
                  <a:cubicBezTo>
                    <a:pt x="294" y="724"/>
                    <a:pt x="268" y="717"/>
                    <a:pt x="252" y="720"/>
                  </a:cubicBezTo>
                  <a:cubicBezTo>
                    <a:pt x="169" y="737"/>
                    <a:pt x="84" y="744"/>
                    <a:pt x="0" y="744"/>
                  </a:cubicBezTo>
                </a:path>
              </a:pathLst>
            </a:custGeom>
            <a:noFill/>
            <a:ln w="19050">
              <a:solidFill>
                <a:srgbClr val="FF7C8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5" name="Oval 7"/>
            <p:cNvSpPr>
              <a:spLocks noChangeAspect="1" noChangeArrowheads="1"/>
            </p:cNvSpPr>
            <p:nvPr/>
          </p:nvSpPr>
          <p:spPr bwMode="auto">
            <a:xfrm>
              <a:off x="2171" y="2750"/>
              <a:ext cx="134" cy="134"/>
            </a:xfrm>
            <a:prstGeom prst="ellipse">
              <a:avLst/>
            </a:pr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346" name="AutoShape 8"/>
            <p:cNvSpPr>
              <a:spLocks noChangeAspect="1" noChangeArrowheads="1"/>
            </p:cNvSpPr>
            <p:nvPr/>
          </p:nvSpPr>
          <p:spPr bwMode="auto">
            <a:xfrm rot="-5400000">
              <a:off x="1942" y="2382"/>
              <a:ext cx="525" cy="86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13519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5625" y="13616"/>
                  </a:moveTo>
                  <a:cubicBezTo>
                    <a:pt x="5154" y="12752"/>
                    <a:pt x="4908" y="11784"/>
                    <a:pt x="4908" y="10800"/>
                  </a:cubicBezTo>
                  <a:cubicBezTo>
                    <a:pt x="4908" y="7545"/>
                    <a:pt x="7545" y="4908"/>
                    <a:pt x="10800" y="4908"/>
                  </a:cubicBezTo>
                  <a:cubicBezTo>
                    <a:pt x="14054" y="4908"/>
                    <a:pt x="16692" y="7545"/>
                    <a:pt x="16692" y="10800"/>
                  </a:cubicBezTo>
                  <a:cubicBezTo>
                    <a:pt x="16692" y="11784"/>
                    <a:pt x="16445" y="12752"/>
                    <a:pt x="15974" y="13616"/>
                  </a:cubicBezTo>
                  <a:lnTo>
                    <a:pt x="20285" y="15963"/>
                  </a:lnTo>
                  <a:cubicBezTo>
                    <a:pt x="21148" y="14379"/>
                    <a:pt x="21600" y="12603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ubicBezTo>
                    <a:pt x="-1" y="12603"/>
                    <a:pt x="451" y="14379"/>
                    <a:pt x="1314" y="15963"/>
                  </a:cubicBezTo>
                  <a:lnTo>
                    <a:pt x="5625" y="1361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7" name="Oval 9"/>
            <p:cNvSpPr>
              <a:spLocks noChangeAspect="1" noChangeArrowheads="1"/>
            </p:cNvSpPr>
            <p:nvPr/>
          </p:nvSpPr>
          <p:spPr bwMode="auto">
            <a:xfrm>
              <a:off x="2504" y="2750"/>
              <a:ext cx="134" cy="134"/>
            </a:xfrm>
            <a:prstGeom prst="ellipse">
              <a:avLst/>
            </a:pr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348" name="Line 10"/>
            <p:cNvSpPr>
              <a:spLocks noChangeAspect="1" noChangeShapeType="1"/>
            </p:cNvSpPr>
            <p:nvPr/>
          </p:nvSpPr>
          <p:spPr bwMode="auto">
            <a:xfrm>
              <a:off x="2305" y="2818"/>
              <a:ext cx="199" cy="0"/>
            </a:xfrm>
            <a:prstGeom prst="line">
              <a:avLst/>
            </a:prstGeom>
            <a:noFill/>
            <a:ln w="19050">
              <a:solidFill>
                <a:srgbClr val="00CCFF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9" name="Oval 11"/>
            <p:cNvSpPr>
              <a:spLocks noChangeAspect="1" noChangeArrowheads="1"/>
            </p:cNvSpPr>
            <p:nvPr/>
          </p:nvSpPr>
          <p:spPr bwMode="auto">
            <a:xfrm>
              <a:off x="4236" y="2633"/>
              <a:ext cx="376" cy="355"/>
            </a:xfrm>
            <a:prstGeom prst="ellipse">
              <a:avLst/>
            </a:prstGeom>
            <a:solidFill>
              <a:srgbClr val="00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350" name="Oval 12"/>
            <p:cNvSpPr>
              <a:spLocks noChangeAspect="1" noChangeArrowheads="1"/>
            </p:cNvSpPr>
            <p:nvPr/>
          </p:nvSpPr>
          <p:spPr bwMode="auto">
            <a:xfrm>
              <a:off x="4680" y="2633"/>
              <a:ext cx="376" cy="355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351" name="Oval 13"/>
            <p:cNvSpPr>
              <a:spLocks noChangeAspect="1" noChangeArrowheads="1"/>
            </p:cNvSpPr>
            <p:nvPr/>
          </p:nvSpPr>
          <p:spPr bwMode="auto">
            <a:xfrm>
              <a:off x="2992" y="2544"/>
              <a:ext cx="444" cy="444"/>
            </a:xfrm>
            <a:prstGeom prst="ellipse">
              <a:avLst/>
            </a:prstGeom>
            <a:solidFill>
              <a:srgbClr val="33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352" name="Oval 14"/>
            <p:cNvSpPr>
              <a:spLocks noChangeAspect="1" noChangeArrowheads="1"/>
            </p:cNvSpPr>
            <p:nvPr/>
          </p:nvSpPr>
          <p:spPr bwMode="auto">
            <a:xfrm>
              <a:off x="3391" y="2544"/>
              <a:ext cx="444" cy="444"/>
            </a:xfrm>
            <a:prstGeom prst="ellipse">
              <a:avLst/>
            </a:prstGeom>
            <a:solidFill>
              <a:srgbClr val="33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14341" name="Text Box 16"/>
          <p:cNvSpPr txBox="1">
            <a:spLocks noChangeArrowheads="1"/>
          </p:cNvSpPr>
          <p:nvPr/>
        </p:nvSpPr>
        <p:spPr bwMode="auto">
          <a:xfrm>
            <a:off x="2971800" y="5791200"/>
            <a:ext cx="3200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8 contiguous clusters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3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zh-CN" altLang="en-US" sz="2800" dirty="0"/>
              <a:t>聚类类型</a:t>
            </a:r>
            <a:r>
              <a:rPr lang="en-US" altLang="en-US" sz="2800" dirty="0"/>
              <a:t>: </a:t>
            </a:r>
            <a:r>
              <a:rPr lang="zh-CN" altLang="en-US" sz="2800" dirty="0"/>
              <a:t>基于密度的</a:t>
            </a:r>
            <a:endParaRPr lang="en-US" altLang="en-US" sz="2800" dirty="0"/>
          </a:p>
        </p:txBody>
      </p:sp>
      <p:sp>
        <p:nvSpPr>
          <p:cNvPr id="15363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39763" y="1143000"/>
            <a:ext cx="8001000" cy="5106988"/>
          </a:xfrm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zh-CN" altLang="en-US" dirty="0"/>
              <a:t>基于密度的</a:t>
            </a:r>
            <a:endParaRPr lang="en-US" altLang="en-US" dirty="0"/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</a:pPr>
            <a:r>
              <a:rPr lang="zh-CN" altLang="en-US" sz="2000" dirty="0"/>
              <a:t>被低密度区域分开的若干个高密度区域，称为基于密度的聚类</a:t>
            </a:r>
            <a:r>
              <a:rPr lang="en-US" altLang="en-US" sz="2000" dirty="0"/>
              <a:t> 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</a:pPr>
            <a:r>
              <a:rPr lang="zh-CN" altLang="en-US" sz="2000" dirty="0"/>
              <a:t>不规则、交织、离群点</a:t>
            </a:r>
            <a:r>
              <a:rPr lang="en-US" altLang="en-US" sz="2000" dirty="0"/>
              <a:t> </a:t>
            </a:r>
          </a:p>
        </p:txBody>
      </p:sp>
      <p:grpSp>
        <p:nvGrpSpPr>
          <p:cNvPr id="15364" name="Group 12"/>
          <p:cNvGrpSpPr>
            <a:grpSpLocks/>
          </p:cNvGrpSpPr>
          <p:nvPr/>
        </p:nvGrpSpPr>
        <p:grpSpPr bwMode="auto">
          <a:xfrm>
            <a:off x="304800" y="3657600"/>
            <a:ext cx="8610600" cy="1676400"/>
            <a:chOff x="1056" y="3072"/>
            <a:chExt cx="3840" cy="720"/>
          </a:xfrm>
        </p:grpSpPr>
        <p:sp>
          <p:nvSpPr>
            <p:cNvPr id="15366" name="Rectangle 2"/>
            <p:cNvSpPr>
              <a:spLocks noChangeArrowheads="1"/>
            </p:cNvSpPr>
            <p:nvPr/>
          </p:nvSpPr>
          <p:spPr bwMode="auto">
            <a:xfrm>
              <a:off x="1056" y="3072"/>
              <a:ext cx="3840" cy="720"/>
            </a:xfrm>
            <a:prstGeom prst="rect">
              <a:avLst/>
            </a:prstGeom>
            <a:pattFill prst="pct10">
              <a:fgClr>
                <a:schemeClr val="tx1"/>
              </a:fgClr>
              <a:bgClr>
                <a:srgbClr val="FFFFFF"/>
              </a:bgClr>
            </a:patt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5367" name="Oval 5"/>
            <p:cNvSpPr>
              <a:spLocks noChangeAspect="1" noChangeArrowheads="1"/>
            </p:cNvSpPr>
            <p:nvPr/>
          </p:nvSpPr>
          <p:spPr bwMode="auto">
            <a:xfrm>
              <a:off x="1599" y="3374"/>
              <a:ext cx="134" cy="134"/>
            </a:xfrm>
            <a:prstGeom prst="ellipse">
              <a:avLst/>
            </a:prstGeom>
            <a:solidFill>
              <a:srgbClr val="3333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5368" name="AutoShape 6"/>
            <p:cNvSpPr>
              <a:spLocks noChangeAspect="1" noChangeArrowheads="1"/>
            </p:cNvSpPr>
            <p:nvPr/>
          </p:nvSpPr>
          <p:spPr bwMode="auto">
            <a:xfrm rot="-5400000">
              <a:off x="1370" y="3006"/>
              <a:ext cx="525" cy="86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13519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5625" y="13616"/>
                  </a:moveTo>
                  <a:cubicBezTo>
                    <a:pt x="5154" y="12752"/>
                    <a:pt x="4908" y="11784"/>
                    <a:pt x="4908" y="10800"/>
                  </a:cubicBezTo>
                  <a:cubicBezTo>
                    <a:pt x="4908" y="7545"/>
                    <a:pt x="7545" y="4908"/>
                    <a:pt x="10800" y="4908"/>
                  </a:cubicBezTo>
                  <a:cubicBezTo>
                    <a:pt x="14054" y="4908"/>
                    <a:pt x="16692" y="7545"/>
                    <a:pt x="16692" y="10800"/>
                  </a:cubicBezTo>
                  <a:cubicBezTo>
                    <a:pt x="16692" y="11784"/>
                    <a:pt x="16445" y="12752"/>
                    <a:pt x="15974" y="13616"/>
                  </a:cubicBezTo>
                  <a:lnTo>
                    <a:pt x="20285" y="15963"/>
                  </a:lnTo>
                  <a:cubicBezTo>
                    <a:pt x="21148" y="14379"/>
                    <a:pt x="21600" y="12603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ubicBezTo>
                    <a:pt x="-1" y="12603"/>
                    <a:pt x="451" y="14379"/>
                    <a:pt x="1314" y="15963"/>
                  </a:cubicBezTo>
                  <a:lnTo>
                    <a:pt x="5625" y="1361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69" name="Oval 7"/>
            <p:cNvSpPr>
              <a:spLocks noChangeAspect="1" noChangeArrowheads="1"/>
            </p:cNvSpPr>
            <p:nvPr/>
          </p:nvSpPr>
          <p:spPr bwMode="auto">
            <a:xfrm>
              <a:off x="1932" y="3374"/>
              <a:ext cx="134" cy="134"/>
            </a:xfrm>
            <a:prstGeom prst="ellipse">
              <a:avLst/>
            </a:pr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5370" name="Oval 8"/>
            <p:cNvSpPr>
              <a:spLocks noChangeAspect="1" noChangeArrowheads="1"/>
            </p:cNvSpPr>
            <p:nvPr/>
          </p:nvSpPr>
          <p:spPr bwMode="auto">
            <a:xfrm>
              <a:off x="3664" y="3257"/>
              <a:ext cx="376" cy="355"/>
            </a:xfrm>
            <a:prstGeom prst="ellipse">
              <a:avLst/>
            </a:prstGeom>
            <a:solidFill>
              <a:srgbClr val="00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5371" name="Oval 9"/>
            <p:cNvSpPr>
              <a:spLocks noChangeAspect="1" noChangeArrowheads="1"/>
            </p:cNvSpPr>
            <p:nvPr/>
          </p:nvSpPr>
          <p:spPr bwMode="auto">
            <a:xfrm>
              <a:off x="4108" y="3257"/>
              <a:ext cx="376" cy="355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5372" name="Oval 10"/>
            <p:cNvSpPr>
              <a:spLocks noChangeAspect="1" noChangeArrowheads="1"/>
            </p:cNvSpPr>
            <p:nvPr/>
          </p:nvSpPr>
          <p:spPr bwMode="auto">
            <a:xfrm>
              <a:off x="2420" y="3168"/>
              <a:ext cx="444" cy="444"/>
            </a:xfrm>
            <a:prstGeom prst="ellipse">
              <a:avLst/>
            </a:prstGeom>
            <a:solidFill>
              <a:srgbClr val="33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5373" name="Oval 11"/>
            <p:cNvSpPr>
              <a:spLocks noChangeAspect="1" noChangeArrowheads="1"/>
            </p:cNvSpPr>
            <p:nvPr/>
          </p:nvSpPr>
          <p:spPr bwMode="auto">
            <a:xfrm>
              <a:off x="2819" y="3168"/>
              <a:ext cx="444" cy="444"/>
            </a:xfrm>
            <a:prstGeom prst="ellipse">
              <a:avLst/>
            </a:prstGeom>
            <a:solidFill>
              <a:srgbClr val="33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15365" name="Text Box 13"/>
          <p:cNvSpPr txBox="1">
            <a:spLocks noChangeArrowheads="1"/>
          </p:cNvSpPr>
          <p:nvPr/>
        </p:nvSpPr>
        <p:spPr bwMode="auto">
          <a:xfrm>
            <a:off x="2971800" y="5791200"/>
            <a:ext cx="3200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6 density-based clusters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534400" cy="533400"/>
          </a:xfrm>
        </p:spPr>
        <p:txBody>
          <a:bodyPr/>
          <a:lstStyle/>
          <a:p>
            <a:r>
              <a:rPr lang="zh-CN" altLang="en-US" sz="2800" dirty="0"/>
              <a:t>聚类类型</a:t>
            </a:r>
            <a:r>
              <a:rPr lang="en-US" altLang="en-US" sz="2800" dirty="0"/>
              <a:t>: </a:t>
            </a:r>
            <a:r>
              <a:rPr lang="zh-CN" altLang="en-US" sz="2800" dirty="0"/>
              <a:t>目标函数</a:t>
            </a:r>
            <a:endParaRPr lang="en-US" altLang="en-US" sz="2800" dirty="0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1163" y="1143000"/>
            <a:ext cx="8504237" cy="5181600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zh-CN" altLang="en-US" dirty="0"/>
              <a:t>目标函数定义的聚类</a:t>
            </a:r>
            <a:endParaRPr lang="en-US" altLang="en-US" dirty="0"/>
          </a:p>
          <a:p>
            <a:pPr lvl="1">
              <a:lnSpc>
                <a:spcPct val="150000"/>
              </a:lnSpc>
              <a:spcBef>
                <a:spcPct val="20000"/>
              </a:spcBef>
            </a:pPr>
            <a:r>
              <a:rPr lang="zh-CN" altLang="en-US" sz="2000" dirty="0"/>
              <a:t>最小化</a:t>
            </a:r>
            <a:r>
              <a:rPr lang="en-US" altLang="zh-CN" sz="2000" dirty="0"/>
              <a:t>/</a:t>
            </a:r>
            <a:r>
              <a:rPr lang="zh-CN" altLang="en-US" sz="2000" dirty="0"/>
              <a:t>最大化一个目标函数的聚类集</a:t>
            </a:r>
            <a:endParaRPr lang="en-US" altLang="en-US" sz="2000" dirty="0"/>
          </a:p>
          <a:p>
            <a:pPr lvl="1">
              <a:lnSpc>
                <a:spcPct val="150000"/>
              </a:lnSpc>
            </a:pPr>
            <a:r>
              <a:rPr lang="zh-CN" altLang="en-US" sz="2000" dirty="0"/>
              <a:t>列举所有可能的划分，并用目标函数一一评估其“好”与“坏”</a:t>
            </a:r>
            <a:endParaRPr lang="en-US" altLang="en-US" sz="2000" dirty="0"/>
          </a:p>
          <a:p>
            <a:pPr lvl="1">
              <a:lnSpc>
                <a:spcPct val="150000"/>
              </a:lnSpc>
            </a:pPr>
            <a:r>
              <a:rPr lang="zh-CN" altLang="en-US" sz="2000" dirty="0"/>
              <a:t>存在全局最优和局部最优</a:t>
            </a:r>
            <a:endParaRPr lang="en-US" altLang="en-US" sz="2000" dirty="0"/>
          </a:p>
          <a:p>
            <a:pPr lvl="1">
              <a:lnSpc>
                <a:spcPct val="150000"/>
              </a:lnSpc>
            </a:pPr>
            <a:r>
              <a:rPr lang="zh-CN" altLang="en-US" sz="2000" dirty="0"/>
              <a:t>全局目标函数方法的一种变体是将数据拟合到参数化模型中</a:t>
            </a:r>
            <a:r>
              <a:rPr lang="en-US" altLang="en-US" sz="2000" dirty="0"/>
              <a:t> </a:t>
            </a:r>
          </a:p>
          <a:p>
            <a:pPr lvl="2">
              <a:lnSpc>
                <a:spcPct val="150000"/>
              </a:lnSpc>
            </a:pPr>
            <a:r>
              <a:rPr lang="en-US" altLang="en-US" sz="1800" dirty="0"/>
              <a:t> </a:t>
            </a:r>
            <a:r>
              <a:rPr lang="zh-CN" altLang="en-US" sz="1800" dirty="0"/>
              <a:t>模型的参数通过数据确定</a:t>
            </a:r>
            <a:r>
              <a:rPr lang="en-US" altLang="en-US" sz="1800" dirty="0"/>
              <a:t> </a:t>
            </a:r>
          </a:p>
          <a:p>
            <a:pPr marL="1147763" lvl="2" indent="-233363">
              <a:lnSpc>
                <a:spcPct val="150000"/>
              </a:lnSpc>
            </a:pPr>
            <a:r>
              <a:rPr lang="zh-CN" altLang="en-US" sz="1800" dirty="0"/>
              <a:t>混合模型假设数据是一系列统计分布的“混合”。</a:t>
            </a:r>
            <a:endParaRPr lang="en-US" alt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600" dirty="0"/>
              <a:t>数据特点是至关重要的</a:t>
            </a:r>
            <a:endParaRPr lang="en-US" altLang="en-US" sz="2600" dirty="0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zh-CN" altLang="en-US" sz="2400" dirty="0"/>
              <a:t>决定相似性、密度测度的选择</a:t>
            </a:r>
            <a:endParaRPr lang="en-US" altLang="en-US" sz="2400" dirty="0"/>
          </a:p>
          <a:p>
            <a:pPr lvl="1">
              <a:lnSpc>
                <a:spcPct val="90000"/>
              </a:lnSpc>
            </a:pPr>
            <a:r>
              <a:rPr lang="zh-CN" altLang="en-US" sz="1800" dirty="0"/>
              <a:t>聚类分析的根本目的</a:t>
            </a:r>
            <a:r>
              <a:rPr lang="en-US" altLang="en-US" sz="1800" dirty="0"/>
              <a:t> </a:t>
            </a:r>
          </a:p>
          <a:p>
            <a:pPr lvl="1">
              <a:lnSpc>
                <a:spcPct val="90000"/>
              </a:lnSpc>
            </a:pPr>
            <a:r>
              <a:rPr lang="zh-CN" altLang="en-US" sz="1800" dirty="0"/>
              <a:t>依赖于数据和应用领域</a:t>
            </a:r>
            <a:endParaRPr lang="en-US" altLang="en-US" sz="1800" dirty="0"/>
          </a:p>
          <a:p>
            <a:pPr>
              <a:lnSpc>
                <a:spcPct val="90000"/>
              </a:lnSpc>
            </a:pPr>
            <a:r>
              <a:rPr lang="zh-CN" altLang="en-US" sz="2200" dirty="0"/>
              <a:t>影响相似性、密度测度的因素有：</a:t>
            </a:r>
            <a:endParaRPr lang="en-US" altLang="en-US" sz="2200" dirty="0"/>
          </a:p>
          <a:p>
            <a:pPr lvl="1">
              <a:lnSpc>
                <a:spcPct val="90000"/>
              </a:lnSpc>
            </a:pPr>
            <a:r>
              <a:rPr lang="zh-CN" altLang="en-US" sz="2000" dirty="0"/>
              <a:t>维度</a:t>
            </a:r>
            <a:endParaRPr lang="en-US" altLang="en-US" sz="2000" dirty="0"/>
          </a:p>
          <a:p>
            <a:pPr marL="1147763" lvl="2" indent="-233363">
              <a:lnSpc>
                <a:spcPct val="90000"/>
              </a:lnSpc>
            </a:pPr>
            <a:r>
              <a:rPr lang="zh-CN" altLang="en-US" sz="1400" dirty="0"/>
              <a:t>稀疏性</a:t>
            </a:r>
            <a:endParaRPr lang="en-US" altLang="en-US" sz="1400" dirty="0"/>
          </a:p>
          <a:p>
            <a:pPr lvl="1">
              <a:lnSpc>
                <a:spcPct val="90000"/>
              </a:lnSpc>
            </a:pPr>
            <a:r>
              <a:rPr lang="zh-CN" altLang="en-US" sz="2000" dirty="0"/>
              <a:t>属性类型</a:t>
            </a:r>
            <a:endParaRPr lang="en-US" altLang="en-US" sz="2000" dirty="0"/>
          </a:p>
          <a:p>
            <a:pPr lvl="1">
              <a:lnSpc>
                <a:spcPct val="90000"/>
              </a:lnSpc>
            </a:pPr>
            <a:r>
              <a:rPr lang="zh-CN" altLang="en-US" sz="2000" dirty="0"/>
              <a:t>数据中的特殊关系</a:t>
            </a:r>
            <a:endParaRPr lang="en-US" altLang="en-US" sz="2000" dirty="0"/>
          </a:p>
          <a:p>
            <a:pPr marL="1147763" lvl="2" indent="-233363">
              <a:lnSpc>
                <a:spcPct val="90000"/>
              </a:lnSpc>
            </a:pPr>
            <a:r>
              <a:rPr lang="zh-CN" altLang="en-US" sz="1400" dirty="0"/>
              <a:t>自相关性</a:t>
            </a:r>
            <a:endParaRPr lang="en-US" altLang="en-US" sz="1400" dirty="0"/>
          </a:p>
          <a:p>
            <a:pPr lvl="1">
              <a:lnSpc>
                <a:spcPct val="90000"/>
              </a:lnSpc>
            </a:pPr>
            <a:r>
              <a:rPr lang="zh-CN" altLang="en-US" sz="2000" dirty="0"/>
              <a:t>数据分布</a:t>
            </a:r>
            <a:endParaRPr lang="en-US" altLang="en-US" sz="2000" dirty="0"/>
          </a:p>
          <a:p>
            <a:pPr>
              <a:lnSpc>
                <a:spcPct val="90000"/>
              </a:lnSpc>
            </a:pPr>
            <a:r>
              <a:rPr lang="zh-CN" altLang="en-US" sz="2400" dirty="0"/>
              <a:t>噪声和离群点</a:t>
            </a:r>
            <a:endParaRPr lang="en-US" altLang="en-US" sz="2400" dirty="0"/>
          </a:p>
          <a:p>
            <a:pPr lvl="1">
              <a:lnSpc>
                <a:spcPct val="90000"/>
              </a:lnSpc>
            </a:pPr>
            <a:r>
              <a:rPr lang="zh-CN" altLang="en-US" sz="2000" dirty="0"/>
              <a:t>干扰聚类算法的因素</a:t>
            </a:r>
            <a:endParaRPr lang="en-US" altLang="zh-CN" sz="2000" dirty="0"/>
          </a:p>
          <a:p>
            <a:pPr>
              <a:lnSpc>
                <a:spcPct val="90000"/>
              </a:lnSpc>
            </a:pPr>
            <a:r>
              <a:rPr lang="zh-CN" altLang="en-US" sz="2400" dirty="0"/>
              <a:t>不同尺寸、密度、形状等复杂情况下的聚类</a:t>
            </a:r>
            <a:endParaRPr lang="en-US" alt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聚类算法</a:t>
            </a:r>
            <a:endParaRPr lang="en-US" altLang="en-US" dirty="0"/>
          </a:p>
        </p:txBody>
      </p:sp>
      <p:sp>
        <p:nvSpPr>
          <p:cNvPr id="20483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基于划分的聚类算法</a:t>
            </a:r>
            <a:endParaRPr lang="en-US" altLang="zh-CN" dirty="0"/>
          </a:p>
          <a:p>
            <a:pPr lvl="1"/>
            <a:r>
              <a:rPr lang="en-US" altLang="en-US" dirty="0"/>
              <a:t>K-means and its variants</a:t>
            </a:r>
          </a:p>
          <a:p>
            <a:pPr lvl="4"/>
            <a:endParaRPr lang="en-US" altLang="en-US" dirty="0"/>
          </a:p>
          <a:p>
            <a:r>
              <a:rPr lang="zh-CN" altLang="en-US" dirty="0"/>
              <a:t>基于层次的聚类算法</a:t>
            </a:r>
            <a:endParaRPr lang="en-US" altLang="zh-CN" dirty="0"/>
          </a:p>
          <a:p>
            <a:pPr lvl="1"/>
            <a:r>
              <a:rPr lang="en-US" altLang="en-US" dirty="0"/>
              <a:t>Hierarchical clustering</a:t>
            </a:r>
          </a:p>
          <a:p>
            <a:pPr lvl="4"/>
            <a:endParaRPr lang="en-US" altLang="en-US" dirty="0"/>
          </a:p>
          <a:p>
            <a:r>
              <a:rPr lang="zh-CN" altLang="en-US" dirty="0"/>
              <a:t>基于密度的聚类算法</a:t>
            </a:r>
            <a:endParaRPr lang="en-US" altLang="zh-CN" dirty="0"/>
          </a:p>
          <a:p>
            <a:pPr lvl="1"/>
            <a:r>
              <a:rPr lang="en-US" altLang="zh-CN" dirty="0"/>
              <a:t>DBSCAN</a:t>
            </a:r>
          </a:p>
          <a:p>
            <a:pPr lvl="1"/>
            <a:endParaRPr lang="en-US" altLang="zh-CN" dirty="0"/>
          </a:p>
          <a:p>
            <a:r>
              <a:rPr lang="zh-CN" altLang="en-US" dirty="0"/>
              <a:t>基于图的聚类算法</a:t>
            </a:r>
            <a:endParaRPr lang="en-US" altLang="zh-CN" dirty="0"/>
          </a:p>
          <a:p>
            <a:r>
              <a:rPr lang="zh-CN" altLang="en-US" dirty="0"/>
              <a:t>基于深度学习的聚类算法</a:t>
            </a:r>
            <a:endParaRPr lang="en-US" altLang="zh-CN" dirty="0"/>
          </a:p>
          <a:p>
            <a:pPr lvl="1"/>
            <a:endParaRPr lang="en-US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altLang="zh-CN" sz="2800" dirty="0"/>
              <a:t>K</a:t>
            </a:r>
            <a:r>
              <a:rPr lang="zh-CN" altLang="en-US" sz="2800" dirty="0"/>
              <a:t>均值聚类算法</a:t>
            </a:r>
            <a:endParaRPr lang="en-US" altLang="en-US" sz="2800" dirty="0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763" y="1143000"/>
            <a:ext cx="8001000" cy="2514600"/>
          </a:xfrm>
        </p:spPr>
        <p:txBody>
          <a:bodyPr/>
          <a:lstStyle/>
          <a:p>
            <a:pPr marL="533400" indent="-533400">
              <a:lnSpc>
                <a:spcPct val="90000"/>
              </a:lnSpc>
              <a:spcBef>
                <a:spcPct val="20000"/>
              </a:spcBef>
            </a:pPr>
            <a:r>
              <a:rPr lang="zh-CN" altLang="en-US" sz="2200" dirty="0"/>
              <a:t>基于划分的聚类算法，上世纪</a:t>
            </a:r>
            <a:r>
              <a:rPr lang="en-US" altLang="zh-CN" sz="2200" dirty="0"/>
              <a:t>60</a:t>
            </a:r>
            <a:r>
              <a:rPr lang="zh-CN" altLang="en-US" sz="2200" dirty="0"/>
              <a:t>年代提出，至今最常用的聚类算法，没有之一！</a:t>
            </a:r>
            <a:r>
              <a:rPr lang="en-US" altLang="en-US" sz="2200" dirty="0"/>
              <a:t> </a:t>
            </a:r>
          </a:p>
          <a:p>
            <a:pPr marL="533400" indent="-533400">
              <a:lnSpc>
                <a:spcPct val="90000"/>
              </a:lnSpc>
              <a:spcBef>
                <a:spcPct val="20000"/>
              </a:spcBef>
            </a:pPr>
            <a:r>
              <a:rPr lang="zh-CN" altLang="en-US" sz="2200" dirty="0"/>
              <a:t>预先设置聚类个数</a:t>
            </a:r>
            <a:r>
              <a:rPr lang="en-US" altLang="en-US" sz="2200" dirty="0"/>
              <a:t> K</a:t>
            </a:r>
            <a:r>
              <a:rPr lang="zh-CN" altLang="en-US" sz="2200" dirty="0"/>
              <a:t>，和初始聚类中心</a:t>
            </a:r>
            <a:endParaRPr lang="en-US" altLang="en-US" sz="2200" dirty="0"/>
          </a:p>
          <a:p>
            <a:pPr marL="533400" indent="-533400">
              <a:lnSpc>
                <a:spcPct val="90000"/>
              </a:lnSpc>
              <a:spcBef>
                <a:spcPct val="20000"/>
              </a:spcBef>
            </a:pPr>
            <a:r>
              <a:rPr lang="zh-CN" altLang="en-US" sz="2200" dirty="0"/>
              <a:t>每一类有一个中心</a:t>
            </a:r>
            <a:r>
              <a:rPr lang="en-US" altLang="en-US" sz="2200" dirty="0"/>
              <a:t> </a:t>
            </a:r>
          </a:p>
          <a:p>
            <a:pPr marL="533400" indent="-533400">
              <a:lnSpc>
                <a:spcPct val="90000"/>
              </a:lnSpc>
              <a:spcBef>
                <a:spcPct val="20000"/>
              </a:spcBef>
            </a:pPr>
            <a:r>
              <a:rPr lang="zh-CN" altLang="en-US" sz="2200" dirty="0"/>
              <a:t>每一个点被分配至最近的“中心”</a:t>
            </a:r>
            <a:r>
              <a:rPr lang="en-US" altLang="en-US" sz="2200" dirty="0"/>
              <a:t> </a:t>
            </a:r>
          </a:p>
        </p:txBody>
      </p:sp>
      <p:graphicFrame>
        <p:nvGraphicFramePr>
          <p:cNvPr id="21508" name="Object 1024"/>
          <p:cNvGraphicFramePr>
            <a:graphicFrameLocks noChangeAspect="1"/>
          </p:cNvGraphicFramePr>
          <p:nvPr/>
        </p:nvGraphicFramePr>
        <p:xfrm>
          <a:off x="457200" y="4133850"/>
          <a:ext cx="8153400" cy="211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71" name="Bitmap Image" r:id="rId3" imgW="9784928" imgH="3177815" progId="Paint.Picture">
                  <p:embed/>
                </p:oleObj>
              </mc:Choice>
              <mc:Fallback>
                <p:oleObj name="Bitmap Image" r:id="rId3" imgW="9784928" imgH="3177815" progId="Paint.Picture">
                  <p:embed/>
                  <p:pic>
                    <p:nvPicPr>
                      <p:cNvPr id="0" name="Object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20143"/>
                      <a:stretch>
                        <a:fillRect/>
                      </a:stretch>
                    </p:blipFill>
                    <p:spPr bwMode="auto">
                      <a:xfrm>
                        <a:off x="457200" y="4133850"/>
                        <a:ext cx="8153400" cy="2114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altLang="zh-CN" dirty="0"/>
              <a:t>K</a:t>
            </a:r>
            <a:r>
              <a:rPr lang="zh-CN" altLang="en-US" dirty="0"/>
              <a:t>均值聚类举例</a:t>
            </a:r>
            <a:endParaRPr lang="en-US" altLang="en-US" dirty="0"/>
          </a:p>
        </p:txBody>
      </p:sp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838200"/>
            <a:ext cx="7916863" cy="593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9677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838200"/>
            <a:ext cx="7916863" cy="593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96773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838200"/>
            <a:ext cx="7916863" cy="593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96774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838200"/>
            <a:ext cx="7916863" cy="593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96775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838200"/>
            <a:ext cx="7916863" cy="593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96776" name="Picture 8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838200"/>
            <a:ext cx="7916863" cy="593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96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96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96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96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96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altLang="zh-CN" dirty="0"/>
              <a:t>K</a:t>
            </a:r>
            <a:r>
              <a:rPr lang="zh-CN" altLang="en-US" dirty="0"/>
              <a:t>均值聚类举例</a:t>
            </a:r>
            <a:endParaRPr lang="en-US" altLang="en-US" dirty="0"/>
          </a:p>
        </p:txBody>
      </p:sp>
      <p:sp>
        <p:nvSpPr>
          <p:cNvPr id="23555" name="Text Box 3"/>
          <p:cNvSpPr txBox="1">
            <a:spLocks noChangeArrowheads="1"/>
          </p:cNvSpPr>
          <p:nvPr/>
        </p:nvSpPr>
        <p:spPr bwMode="auto">
          <a:xfrm>
            <a:off x="609600" y="4419600"/>
            <a:ext cx="8001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endParaRPr lang="en-US" altLang="en-US"/>
          </a:p>
        </p:txBody>
      </p:sp>
      <p:pic>
        <p:nvPicPr>
          <p:cNvPr id="2355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43000"/>
            <a:ext cx="3043238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1143000"/>
            <a:ext cx="3043238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8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1143000"/>
            <a:ext cx="3043238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9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886200"/>
            <a:ext cx="3043238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60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3886200"/>
            <a:ext cx="3043238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61" name="Picture 9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3886200"/>
            <a:ext cx="3043238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altLang="zh-CN" sz="2800" dirty="0"/>
              <a:t>K</a:t>
            </a:r>
            <a:r>
              <a:rPr lang="zh-CN" altLang="en-US" sz="2800" dirty="0"/>
              <a:t>均值聚类特点</a:t>
            </a:r>
            <a:endParaRPr lang="en-US" altLang="en-US" sz="2800" dirty="0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990600"/>
            <a:ext cx="8001000" cy="5410200"/>
          </a:xfrm>
        </p:spPr>
        <p:txBody>
          <a:bodyPr/>
          <a:lstStyle/>
          <a:p>
            <a:pPr marL="533400" indent="-533400">
              <a:lnSpc>
                <a:spcPct val="150000"/>
              </a:lnSpc>
              <a:spcBef>
                <a:spcPct val="20000"/>
              </a:spcBef>
            </a:pPr>
            <a:r>
              <a:rPr lang="zh-CN" altLang="en-US" sz="2200" dirty="0"/>
              <a:t>是一种简单的迭代式算法</a:t>
            </a:r>
            <a:r>
              <a:rPr lang="en-US" altLang="en-US" sz="2200" dirty="0"/>
              <a:t>.</a:t>
            </a:r>
          </a:p>
          <a:p>
            <a:pPr marL="1041400" lvl="1" indent="-533400">
              <a:lnSpc>
                <a:spcPct val="150000"/>
              </a:lnSpc>
              <a:spcBef>
                <a:spcPct val="20000"/>
              </a:spcBef>
            </a:pPr>
            <a:r>
              <a:rPr lang="zh-CN" altLang="en-US" sz="1400" dirty="0"/>
              <a:t>选择初始聚类中心</a:t>
            </a:r>
            <a:r>
              <a:rPr lang="en-US" altLang="en-US" sz="1400" dirty="0"/>
              <a:t>; </a:t>
            </a:r>
            <a:r>
              <a:rPr lang="zh-CN" altLang="en-US" sz="1400" dirty="0"/>
              <a:t>重复</a:t>
            </a:r>
            <a:r>
              <a:rPr lang="en-US" altLang="en-US" sz="1400" dirty="0"/>
              <a:t> {</a:t>
            </a:r>
            <a:r>
              <a:rPr lang="zh-CN" altLang="en-US" sz="1400" dirty="0"/>
              <a:t>将每个点分配至最近的类</a:t>
            </a:r>
            <a:r>
              <a:rPr lang="en-US" altLang="en-US" sz="1400" dirty="0"/>
              <a:t>; </a:t>
            </a:r>
            <a:r>
              <a:rPr lang="zh-CN" altLang="en-US" sz="1400" dirty="0"/>
              <a:t>更新聚类中心</a:t>
            </a:r>
            <a:r>
              <a:rPr lang="en-US" altLang="en-US" sz="1400" dirty="0"/>
              <a:t>} </a:t>
            </a:r>
            <a:r>
              <a:rPr lang="zh-CN" altLang="en-US" sz="1400" dirty="0"/>
              <a:t>直到聚类中心不再变化</a:t>
            </a:r>
            <a:endParaRPr lang="en-US" altLang="en-US" sz="1800" dirty="0"/>
          </a:p>
          <a:p>
            <a:pPr marL="533400" indent="-533400">
              <a:lnSpc>
                <a:spcPct val="150000"/>
              </a:lnSpc>
              <a:spcBef>
                <a:spcPct val="20000"/>
              </a:spcBef>
            </a:pPr>
            <a:r>
              <a:rPr lang="zh-CN" altLang="en-US" sz="2200" dirty="0"/>
              <a:t>初始中心确定的一般方法：随机选择</a:t>
            </a:r>
            <a:endParaRPr lang="en-US" altLang="en-US" sz="2200" dirty="0"/>
          </a:p>
          <a:p>
            <a:pPr marL="990600" lvl="1" indent="-533400">
              <a:lnSpc>
                <a:spcPct val="150000"/>
              </a:lnSpc>
              <a:spcBef>
                <a:spcPct val="20000"/>
              </a:spcBef>
            </a:pPr>
            <a:r>
              <a:rPr lang="zh-CN" altLang="en-US" sz="1800" dirty="0"/>
              <a:t>初值敏感</a:t>
            </a:r>
            <a:endParaRPr lang="en-US" altLang="en-US" sz="1800" dirty="0"/>
          </a:p>
          <a:p>
            <a:pPr marL="533400" indent="-533400">
              <a:lnSpc>
                <a:spcPct val="150000"/>
              </a:lnSpc>
              <a:spcBef>
                <a:spcPct val="20000"/>
              </a:spcBef>
            </a:pPr>
            <a:r>
              <a:rPr lang="zh-CN" altLang="en-US" sz="2200" dirty="0"/>
              <a:t>某类中心为该类所有样本的均值</a:t>
            </a:r>
            <a:r>
              <a:rPr lang="en-US" altLang="en-US" sz="2200" dirty="0"/>
              <a:t>.</a:t>
            </a:r>
          </a:p>
          <a:p>
            <a:pPr marL="533400" indent="-533400">
              <a:lnSpc>
                <a:spcPct val="150000"/>
              </a:lnSpc>
              <a:spcBef>
                <a:spcPct val="20000"/>
              </a:spcBef>
            </a:pPr>
            <a:r>
              <a:rPr lang="zh-CN" altLang="en-US" sz="2200" dirty="0"/>
              <a:t>只需很少的迭代就可实现收敛</a:t>
            </a:r>
            <a:endParaRPr lang="en-US" altLang="en-US" sz="2200" dirty="0"/>
          </a:p>
          <a:p>
            <a:pPr marL="533400" indent="-533400">
              <a:lnSpc>
                <a:spcPct val="150000"/>
              </a:lnSpc>
              <a:spcBef>
                <a:spcPct val="20000"/>
              </a:spcBef>
            </a:pPr>
            <a:r>
              <a:rPr lang="zh-CN" altLang="en-US" sz="2200" dirty="0"/>
              <a:t>计算复杂度：</a:t>
            </a:r>
            <a:r>
              <a:rPr lang="en-US" altLang="en-US" sz="2200" dirty="0"/>
              <a:t>O( n * K * I * d )</a:t>
            </a:r>
          </a:p>
          <a:p>
            <a:pPr marL="990600" lvl="1" indent="-533400">
              <a:lnSpc>
                <a:spcPct val="150000"/>
              </a:lnSpc>
              <a:spcBef>
                <a:spcPct val="20000"/>
              </a:spcBef>
            </a:pPr>
            <a:r>
              <a:rPr lang="en-US" altLang="en-US" sz="1800" dirty="0"/>
              <a:t>n = </a:t>
            </a:r>
            <a:r>
              <a:rPr lang="zh-CN" altLang="en-US" sz="1800" dirty="0"/>
              <a:t>数据个数</a:t>
            </a:r>
            <a:r>
              <a:rPr lang="en-US" altLang="en-US" sz="1800" dirty="0"/>
              <a:t>, K = </a:t>
            </a:r>
            <a:r>
              <a:rPr lang="zh-CN" altLang="en-US" sz="1800" dirty="0"/>
              <a:t>聚类个数</a:t>
            </a:r>
            <a:r>
              <a:rPr lang="en-US" altLang="en-US" sz="1800" dirty="0"/>
              <a:t>, </a:t>
            </a:r>
            <a:br>
              <a:rPr lang="en-US" altLang="en-US" sz="1800" dirty="0"/>
            </a:br>
            <a:r>
              <a:rPr lang="en-US" altLang="en-US" sz="1800" dirty="0"/>
              <a:t>I = </a:t>
            </a:r>
            <a:r>
              <a:rPr lang="zh-CN" altLang="en-US" sz="1800" dirty="0"/>
              <a:t>迭代次数</a:t>
            </a:r>
            <a:r>
              <a:rPr lang="en-US" altLang="en-US" sz="1800" dirty="0"/>
              <a:t>, d = </a:t>
            </a:r>
            <a:r>
              <a:rPr lang="zh-CN" altLang="en-US" sz="1800" dirty="0"/>
              <a:t>数据维度</a:t>
            </a:r>
            <a:endParaRPr lang="en-US" alt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 </a:t>
            </a:r>
            <a:r>
              <a:rPr lang="en-US" altLang="zh-CN" dirty="0"/>
              <a:t>k</a:t>
            </a:r>
            <a:r>
              <a:rPr lang="zh-CN" altLang="en-US" dirty="0"/>
              <a:t>均值算法目标函数</a:t>
            </a:r>
            <a:endParaRPr lang="en-US" altLang="en-US" dirty="0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平方和误差（</a:t>
            </a:r>
            <a:r>
              <a:rPr lang="en-US" altLang="en-US" sz="2400" dirty="0"/>
              <a:t>Sum of Squared Error</a:t>
            </a:r>
            <a:r>
              <a:rPr lang="zh-CN" altLang="en-US" sz="2400" dirty="0"/>
              <a:t>，</a:t>
            </a:r>
            <a:r>
              <a:rPr lang="en-US" altLang="en-US" sz="2400" dirty="0"/>
              <a:t>SSE)</a:t>
            </a:r>
          </a:p>
          <a:p>
            <a:pPr lvl="1">
              <a:lnSpc>
                <a:spcPct val="150000"/>
              </a:lnSpc>
            </a:pPr>
            <a:r>
              <a:rPr lang="zh-CN" altLang="en-US" sz="2000" dirty="0"/>
              <a:t>每一个点的误差为该点与其所属类中心的（欧式）距离</a:t>
            </a:r>
            <a:endParaRPr lang="en-US" altLang="en-US" sz="2000" dirty="0"/>
          </a:p>
          <a:p>
            <a:pPr lvl="1">
              <a:lnSpc>
                <a:spcPct val="150000"/>
              </a:lnSpc>
            </a:pPr>
            <a:r>
              <a:rPr lang="en-US" altLang="zh-CN" sz="2000" dirty="0"/>
              <a:t>K</a:t>
            </a:r>
            <a:r>
              <a:rPr lang="zh-CN" altLang="en-US" sz="2000" dirty="0"/>
              <a:t>均值算法的目标函数为所有点的误差的平方和</a:t>
            </a:r>
            <a:endParaRPr lang="en-US" altLang="en-US" sz="2000" dirty="0"/>
          </a:p>
          <a:p>
            <a:pPr lvl="1">
              <a:lnSpc>
                <a:spcPct val="150000"/>
              </a:lnSpc>
            </a:pPr>
            <a:endParaRPr lang="en-US" altLang="en-US" sz="2000" dirty="0"/>
          </a:p>
          <a:p>
            <a:pPr lvl="1">
              <a:lnSpc>
                <a:spcPct val="150000"/>
              </a:lnSpc>
              <a:buFont typeface="Arial" charset="0"/>
              <a:buNone/>
            </a:pPr>
            <a:endParaRPr lang="en-US" altLang="en-US" sz="2000" dirty="0"/>
          </a:p>
          <a:p>
            <a:pPr lvl="1">
              <a:lnSpc>
                <a:spcPct val="150000"/>
              </a:lnSpc>
            </a:pPr>
            <a:r>
              <a:rPr lang="en-US" altLang="en-US" sz="2000" i="1" dirty="0"/>
              <a:t>x </a:t>
            </a:r>
            <a:r>
              <a:rPr lang="zh-CN" altLang="en-US" sz="2000" dirty="0"/>
              <a:t>为类 </a:t>
            </a:r>
            <a:r>
              <a:rPr lang="en-US" altLang="en-US" sz="2000" i="1" dirty="0"/>
              <a:t>C</a:t>
            </a:r>
            <a:r>
              <a:rPr lang="en-US" altLang="en-US" sz="2000" baseline="-25000" dirty="0"/>
              <a:t>i  </a:t>
            </a:r>
            <a:r>
              <a:rPr lang="zh-CN" altLang="en-US" sz="2000" dirty="0"/>
              <a:t>中的点，</a:t>
            </a:r>
            <a:r>
              <a:rPr lang="en-US" altLang="en-US" sz="2000" i="1" dirty="0"/>
              <a:t>m</a:t>
            </a:r>
            <a:r>
              <a:rPr lang="en-US" altLang="en-US" sz="2000" i="1" baseline="-25000" dirty="0"/>
              <a:t>i</a:t>
            </a:r>
            <a:r>
              <a:rPr lang="en-US" altLang="en-US" sz="2000" dirty="0"/>
              <a:t> </a:t>
            </a:r>
            <a:r>
              <a:rPr lang="zh-CN" altLang="en-US" sz="2000" dirty="0"/>
              <a:t>为类 </a:t>
            </a:r>
            <a:r>
              <a:rPr lang="en-US" altLang="en-US" sz="2000" i="1" dirty="0"/>
              <a:t>C</a:t>
            </a:r>
            <a:r>
              <a:rPr lang="en-US" altLang="en-US" sz="2000" baseline="-25000" dirty="0"/>
              <a:t>i</a:t>
            </a:r>
            <a:r>
              <a:rPr lang="en-US" altLang="en-US" sz="2000" dirty="0"/>
              <a:t> </a:t>
            </a:r>
            <a:r>
              <a:rPr lang="zh-CN" altLang="en-US" sz="2000" dirty="0"/>
              <a:t>的中心</a:t>
            </a:r>
            <a:endParaRPr lang="en-US" altLang="en-US" sz="1800" dirty="0"/>
          </a:p>
          <a:p>
            <a:pPr lvl="1">
              <a:lnSpc>
                <a:spcPct val="150000"/>
              </a:lnSpc>
            </a:pPr>
            <a:r>
              <a:rPr lang="en-US" altLang="en-US" sz="2000" dirty="0"/>
              <a:t>SSE </a:t>
            </a:r>
            <a:r>
              <a:rPr lang="zh-CN" altLang="en-US" sz="2000" dirty="0"/>
              <a:t>随迭代进行而逐渐减小，收敛于局部</a:t>
            </a:r>
            <a:r>
              <a:rPr lang="en-US" altLang="zh-CN" sz="2000" dirty="0"/>
              <a:t>/</a:t>
            </a:r>
            <a:r>
              <a:rPr lang="zh-CN" altLang="en-US" sz="2000" dirty="0"/>
              <a:t>全局最优</a:t>
            </a:r>
            <a:r>
              <a:rPr lang="en-US" altLang="en-US" sz="2000" dirty="0"/>
              <a:t> </a:t>
            </a:r>
          </a:p>
        </p:txBody>
      </p:sp>
      <p:graphicFrame>
        <p:nvGraphicFramePr>
          <p:cNvPr id="25604" name="Object 4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3596634318"/>
              </p:ext>
            </p:extLst>
          </p:nvPr>
        </p:nvGraphicFramePr>
        <p:xfrm>
          <a:off x="2590800" y="2960707"/>
          <a:ext cx="3175000" cy="9365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66" name="Equation" r:id="rId3" imgW="1511300" imgH="457200" progId="Equation.3">
                  <p:embed/>
                </p:oleObj>
              </mc:Choice>
              <mc:Fallback>
                <p:oleObj name="Equation" r:id="rId3" imgW="1511300" imgH="457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2960707"/>
                        <a:ext cx="3175000" cy="9365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zh-CN" altLang="en-US" sz="2800" dirty="0"/>
              <a:t>两种不同的聚类结果</a:t>
            </a:r>
            <a:endParaRPr lang="en-US" altLang="en-US" sz="2800" dirty="0"/>
          </a:p>
        </p:txBody>
      </p:sp>
      <p:pic>
        <p:nvPicPr>
          <p:cNvPr id="266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7963" y="990600"/>
            <a:ext cx="3043237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8" name="Text Box 4"/>
          <p:cNvSpPr txBox="1">
            <a:spLocks noChangeArrowheads="1"/>
          </p:cNvSpPr>
          <p:nvPr/>
        </p:nvSpPr>
        <p:spPr bwMode="auto">
          <a:xfrm>
            <a:off x="609600" y="4419600"/>
            <a:ext cx="8001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endParaRPr lang="en-US" altLang="en-US"/>
          </a:p>
        </p:txBody>
      </p:sp>
      <p:pic>
        <p:nvPicPr>
          <p:cNvPr id="26629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3200400"/>
            <a:ext cx="3656013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30" name="Text Box 7"/>
          <p:cNvSpPr txBox="1">
            <a:spLocks noChangeArrowheads="1"/>
          </p:cNvSpPr>
          <p:nvPr/>
        </p:nvSpPr>
        <p:spPr bwMode="auto">
          <a:xfrm>
            <a:off x="6326257" y="5870575"/>
            <a:ext cx="1219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800" dirty="0"/>
              <a:t>局部最优</a:t>
            </a:r>
            <a:endParaRPr lang="en-US" altLang="en-US" sz="1800" dirty="0"/>
          </a:p>
        </p:txBody>
      </p:sp>
      <p:pic>
        <p:nvPicPr>
          <p:cNvPr id="26631" name="Picture 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200400"/>
            <a:ext cx="3656013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32" name="Text Box 10"/>
          <p:cNvSpPr txBox="1">
            <a:spLocks noChangeArrowheads="1"/>
          </p:cNvSpPr>
          <p:nvPr/>
        </p:nvSpPr>
        <p:spPr bwMode="auto">
          <a:xfrm>
            <a:off x="1447800" y="5881688"/>
            <a:ext cx="2286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800" dirty="0"/>
              <a:t>全局最优</a:t>
            </a:r>
            <a:endParaRPr lang="en-US" altLang="en-US" sz="1800" dirty="0"/>
          </a:p>
        </p:txBody>
      </p:sp>
      <p:sp>
        <p:nvSpPr>
          <p:cNvPr id="26633" name="Text Box 11"/>
          <p:cNvSpPr txBox="1">
            <a:spLocks noChangeArrowheads="1"/>
          </p:cNvSpPr>
          <p:nvPr/>
        </p:nvSpPr>
        <p:spPr bwMode="auto">
          <a:xfrm>
            <a:off x="5257800" y="1524000"/>
            <a:ext cx="2209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Original Points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zh-CN" altLang="en-US" sz="2800" dirty="0"/>
              <a:t>初始聚类中心的重要性</a:t>
            </a:r>
            <a:endParaRPr lang="en-US" altLang="en-US" sz="2800" dirty="0"/>
          </a:p>
        </p:txBody>
      </p:sp>
      <p:pic>
        <p:nvPicPr>
          <p:cNvPr id="3686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914400"/>
            <a:ext cx="7916863" cy="594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0701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914400"/>
            <a:ext cx="7916863" cy="594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07013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914400"/>
            <a:ext cx="7916863" cy="594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07014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914400"/>
            <a:ext cx="7916863" cy="594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07015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914400"/>
            <a:ext cx="7916863" cy="594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07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07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07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07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zh-CN" altLang="en-US" sz="2800" dirty="0"/>
              <a:t>初始聚类中心的重要性</a:t>
            </a:r>
            <a:endParaRPr lang="en-US" altLang="en-US" sz="2800" dirty="0"/>
          </a:p>
        </p:txBody>
      </p:sp>
      <p:sp>
        <p:nvSpPr>
          <p:cNvPr id="37891" name="Text Box 3"/>
          <p:cNvSpPr txBox="1">
            <a:spLocks noChangeArrowheads="1"/>
          </p:cNvSpPr>
          <p:nvPr/>
        </p:nvSpPr>
        <p:spPr bwMode="auto">
          <a:xfrm>
            <a:off x="609600" y="4419600"/>
            <a:ext cx="8001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endParaRPr lang="en-US" altLang="en-US"/>
          </a:p>
        </p:txBody>
      </p:sp>
      <p:pic>
        <p:nvPicPr>
          <p:cNvPr id="3789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219200"/>
            <a:ext cx="3043238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1219200"/>
            <a:ext cx="3043238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4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810000"/>
            <a:ext cx="3043238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5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3810000"/>
            <a:ext cx="3043238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6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3810000"/>
            <a:ext cx="3043238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zh-CN" altLang="en-US" sz="2800" dirty="0"/>
              <a:t>初始聚类中心的选择</a:t>
            </a:r>
            <a:endParaRPr lang="en-US" altLang="en-US" sz="2800" dirty="0"/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763" y="1143000"/>
            <a:ext cx="8001000" cy="976313"/>
          </a:xfrm>
        </p:spPr>
        <p:txBody>
          <a:bodyPr/>
          <a:lstStyle/>
          <a:p>
            <a:pPr marL="533400" indent="-533400">
              <a:lnSpc>
                <a:spcPct val="150000"/>
              </a:lnSpc>
              <a:spcBef>
                <a:spcPct val="20000"/>
              </a:spcBef>
            </a:pPr>
            <a:r>
              <a:rPr lang="zh-CN" altLang="en-US" sz="2200" dirty="0"/>
              <a:t>对于一个包含</a:t>
            </a:r>
            <a:r>
              <a:rPr lang="en-US" altLang="zh-CN" sz="2200" dirty="0"/>
              <a:t> K </a:t>
            </a:r>
            <a:r>
              <a:rPr lang="zh-CN" altLang="en-US" sz="2200" dirty="0"/>
              <a:t>类的数据集，恰好从一个类中选择一个初始中心的概率是极低的。</a:t>
            </a:r>
            <a:r>
              <a:rPr lang="en-US" altLang="en-US" sz="2200" dirty="0"/>
              <a:t> </a:t>
            </a:r>
          </a:p>
          <a:p>
            <a:pPr marL="990600" lvl="1" indent="-533400">
              <a:lnSpc>
                <a:spcPct val="150000"/>
              </a:lnSpc>
              <a:spcBef>
                <a:spcPct val="20000"/>
              </a:spcBef>
            </a:pPr>
            <a:r>
              <a:rPr lang="zh-CN" altLang="en-US" sz="2000" dirty="0"/>
              <a:t>如果 </a:t>
            </a:r>
            <a:r>
              <a:rPr lang="en-US" altLang="zh-CN" sz="2000" dirty="0"/>
              <a:t>K </a:t>
            </a:r>
            <a:r>
              <a:rPr lang="zh-CN" altLang="en-US" sz="2000" dirty="0"/>
              <a:t>类包含的样本数量均为 </a:t>
            </a:r>
            <a:r>
              <a:rPr lang="en-US" altLang="zh-CN" sz="2000" dirty="0"/>
              <a:t>n</a:t>
            </a:r>
            <a:r>
              <a:rPr lang="zh-CN" altLang="en-US" sz="2000" dirty="0"/>
              <a:t>，则上述概率为：</a:t>
            </a:r>
            <a:br>
              <a:rPr lang="en-US" altLang="en-US" sz="2000" dirty="0"/>
            </a:br>
            <a:endParaRPr lang="en-US" altLang="en-US" sz="2000" dirty="0"/>
          </a:p>
          <a:p>
            <a:pPr marL="990600" lvl="1" indent="-533400">
              <a:lnSpc>
                <a:spcPct val="150000"/>
              </a:lnSpc>
              <a:spcBef>
                <a:spcPct val="20000"/>
              </a:spcBef>
              <a:buFont typeface="Arial" charset="0"/>
              <a:buNone/>
            </a:pPr>
            <a:br>
              <a:rPr lang="en-US" altLang="en-US" sz="2000" dirty="0"/>
            </a:br>
            <a:r>
              <a:rPr lang="zh-CN" altLang="en-US" sz="2000" dirty="0"/>
              <a:t>如果 </a:t>
            </a:r>
            <a:r>
              <a:rPr lang="en-US" altLang="en-US" sz="2000" dirty="0"/>
              <a:t>K = 10,  </a:t>
            </a:r>
            <a:r>
              <a:rPr lang="en-US" altLang="zh-CN" sz="2000" dirty="0"/>
              <a:t>P</a:t>
            </a:r>
            <a:r>
              <a:rPr lang="en-US" altLang="en-US" sz="2000" dirty="0"/>
              <a:t>= 10!/10</a:t>
            </a:r>
            <a:r>
              <a:rPr lang="en-US" altLang="en-US" sz="2000" baseline="30000" dirty="0"/>
              <a:t>10</a:t>
            </a:r>
            <a:r>
              <a:rPr lang="en-US" altLang="en-US" sz="2000" dirty="0"/>
              <a:t> = 0.00036</a:t>
            </a:r>
          </a:p>
          <a:p>
            <a:pPr marL="990600" lvl="1" indent="-533400">
              <a:lnSpc>
                <a:spcPct val="150000"/>
              </a:lnSpc>
              <a:spcBef>
                <a:spcPct val="20000"/>
              </a:spcBef>
            </a:pPr>
            <a:r>
              <a:rPr lang="zh-CN" altLang="en-US" sz="2000" dirty="0"/>
              <a:t>有些情况下聚类中心会更新至理想的位置，但大部分情况并非如此</a:t>
            </a:r>
            <a:endParaRPr lang="en-US" altLang="en-US" sz="2000" dirty="0"/>
          </a:p>
        </p:txBody>
      </p:sp>
      <p:graphicFrame>
        <p:nvGraphicFramePr>
          <p:cNvPr id="3891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697177"/>
              </p:ext>
            </p:extLst>
          </p:nvPr>
        </p:nvGraphicFramePr>
        <p:xfrm>
          <a:off x="1143000" y="2819400"/>
          <a:ext cx="8001000" cy="830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80" name="BMP 图像" r:id="rId3" imgW="5786280" imgH="600120" progId="Paint.Picture">
                  <p:embed/>
                </p:oleObj>
              </mc:Choice>
              <mc:Fallback>
                <p:oleObj name="BMP 图像" r:id="rId3" imgW="5786280" imgH="600120" progId="Paint.Picture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2819400"/>
                        <a:ext cx="8001000" cy="830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zh-CN" altLang="en-US" sz="2800" dirty="0"/>
              <a:t>举例：</a:t>
            </a:r>
            <a:r>
              <a:rPr lang="en-US" altLang="en-US" sz="2800" dirty="0"/>
              <a:t>10 Clusters</a:t>
            </a:r>
          </a:p>
        </p:txBody>
      </p:sp>
      <p:pic>
        <p:nvPicPr>
          <p:cNvPr id="3993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36" t="28661" r="6615" b="28661"/>
          <a:stretch>
            <a:fillRect/>
          </a:stretch>
        </p:blipFill>
        <p:spPr bwMode="auto">
          <a:xfrm>
            <a:off x="609600" y="1905000"/>
            <a:ext cx="8226425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01541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36" t="28661" r="6615" b="28661"/>
          <a:stretch>
            <a:fillRect/>
          </a:stretch>
        </p:blipFill>
        <p:spPr bwMode="auto">
          <a:xfrm>
            <a:off x="609600" y="1905000"/>
            <a:ext cx="8226425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01542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36" t="28661" r="6615" b="28661"/>
          <a:stretch>
            <a:fillRect/>
          </a:stretch>
        </p:blipFill>
        <p:spPr bwMode="auto">
          <a:xfrm>
            <a:off x="609600" y="1905000"/>
            <a:ext cx="8226425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01543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36" t="28661" r="6615" b="28661"/>
          <a:stretch>
            <a:fillRect/>
          </a:stretch>
        </p:blipFill>
        <p:spPr bwMode="auto">
          <a:xfrm>
            <a:off x="609600" y="1905000"/>
            <a:ext cx="8226425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43" name="Text Box 8"/>
          <p:cNvSpPr txBox="1">
            <a:spLocks noChangeArrowheads="1"/>
          </p:cNvSpPr>
          <p:nvPr/>
        </p:nvSpPr>
        <p:spPr bwMode="auto">
          <a:xfrm>
            <a:off x="2171700" y="5103167"/>
            <a:ext cx="4800600" cy="461665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chemeClr val="bg1"/>
                </a:solidFill>
              </a:rPr>
              <a:t>每类选择一个点作为初始聚类中心</a:t>
            </a:r>
            <a:endParaRPr lang="en-US" altLang="en-US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01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01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01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154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zh-CN" altLang="en-US" sz="2800" dirty="0"/>
              <a:t>举例：</a:t>
            </a:r>
            <a:r>
              <a:rPr lang="en-US" altLang="en-US" sz="2800" dirty="0"/>
              <a:t>10 Clusters</a:t>
            </a:r>
          </a:p>
        </p:txBody>
      </p:sp>
      <p:pic>
        <p:nvPicPr>
          <p:cNvPr id="4096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063625"/>
            <a:ext cx="3354388" cy="251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1063625"/>
            <a:ext cx="3354388" cy="251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5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502025"/>
            <a:ext cx="3354388" cy="251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6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3502025"/>
            <a:ext cx="3354388" cy="251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zh-CN" altLang="en-US" sz="2800" dirty="0"/>
              <a:t>举例：</a:t>
            </a:r>
            <a:r>
              <a:rPr lang="en-US" altLang="en-US" sz="2800" dirty="0"/>
              <a:t>10 Clusters</a:t>
            </a:r>
          </a:p>
        </p:txBody>
      </p:sp>
      <p:sp>
        <p:nvSpPr>
          <p:cNvPr id="41987" name="Text Box 3"/>
          <p:cNvSpPr txBox="1">
            <a:spLocks noChangeArrowheads="1"/>
          </p:cNvSpPr>
          <p:nvPr/>
        </p:nvSpPr>
        <p:spPr bwMode="auto">
          <a:xfrm>
            <a:off x="1066800" y="5943600"/>
            <a:ext cx="7315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endParaRPr lang="en-US" altLang="en-US"/>
          </a:p>
        </p:txBody>
      </p:sp>
      <p:sp>
        <p:nvSpPr>
          <p:cNvPr id="41988" name="Text Box 4"/>
          <p:cNvSpPr txBox="1">
            <a:spLocks noChangeArrowheads="1"/>
          </p:cNvSpPr>
          <p:nvPr/>
        </p:nvSpPr>
        <p:spPr bwMode="auto">
          <a:xfrm>
            <a:off x="2438400" y="4911429"/>
            <a:ext cx="3657600" cy="461665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defRPr sz="2400"/>
            </a:lvl1pPr>
            <a:lvl2pPr marL="742950" indent="-285750"/>
            <a:lvl3pPr marL="1143000" indent="-228600"/>
            <a:lvl4pPr marL="1600200" indent="-228600"/>
            <a:lvl5pPr marL="2057400" indent="-228600"/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</a:lvl9pPr>
          </a:lstStyle>
          <a:p>
            <a:r>
              <a:rPr lang="zh-CN" altLang="en-US" dirty="0"/>
              <a:t>某一类选择两个初始中心</a:t>
            </a:r>
            <a:endParaRPr lang="en-US" altLang="en-US" dirty="0"/>
          </a:p>
        </p:txBody>
      </p:sp>
      <p:pic>
        <p:nvPicPr>
          <p:cNvPr id="4198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36" t="30865" r="8267" b="30865"/>
          <a:stretch>
            <a:fillRect/>
          </a:stretch>
        </p:blipFill>
        <p:spPr bwMode="auto">
          <a:xfrm>
            <a:off x="228600" y="1447800"/>
            <a:ext cx="8620125" cy="328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0359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36" t="30865" r="8267" b="30865"/>
          <a:stretch>
            <a:fillRect/>
          </a:stretch>
        </p:blipFill>
        <p:spPr bwMode="auto">
          <a:xfrm>
            <a:off x="228600" y="1447800"/>
            <a:ext cx="8620125" cy="328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03591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36" t="30865" r="8267" b="30865"/>
          <a:stretch>
            <a:fillRect/>
          </a:stretch>
        </p:blipFill>
        <p:spPr bwMode="auto">
          <a:xfrm>
            <a:off x="228600" y="1447800"/>
            <a:ext cx="8620125" cy="328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03592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36" t="30865" r="8267" b="30865"/>
          <a:stretch>
            <a:fillRect/>
          </a:stretch>
        </p:blipFill>
        <p:spPr bwMode="auto">
          <a:xfrm>
            <a:off x="228600" y="1447800"/>
            <a:ext cx="8620125" cy="328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03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03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03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359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zh-CN" altLang="en-US" sz="2800" dirty="0"/>
              <a:t>举例：</a:t>
            </a:r>
            <a:r>
              <a:rPr lang="en-US" altLang="en-US" sz="2800" dirty="0"/>
              <a:t>10 Clusters</a:t>
            </a:r>
          </a:p>
        </p:txBody>
      </p:sp>
      <p:sp>
        <p:nvSpPr>
          <p:cNvPr id="43011" name="Text Box 3"/>
          <p:cNvSpPr txBox="1">
            <a:spLocks noChangeArrowheads="1"/>
          </p:cNvSpPr>
          <p:nvPr/>
        </p:nvSpPr>
        <p:spPr bwMode="auto">
          <a:xfrm>
            <a:off x="1066800" y="5943600"/>
            <a:ext cx="7315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endParaRPr lang="en-US" altLang="en-US"/>
          </a:p>
        </p:txBody>
      </p:sp>
      <p:pic>
        <p:nvPicPr>
          <p:cNvPr id="4301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990600"/>
            <a:ext cx="3354388" cy="251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014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5213" y="990600"/>
            <a:ext cx="3354387" cy="251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015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352800"/>
            <a:ext cx="3354388" cy="251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016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3352800"/>
            <a:ext cx="3354388" cy="251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初始聚类中心的选择问题</a:t>
            </a:r>
            <a:endParaRPr lang="en-US" altLang="en-US" dirty="0"/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dirty="0"/>
              <a:t>最“笨”的方法</a:t>
            </a:r>
            <a:endParaRPr lang="en-US" dirty="0"/>
          </a:p>
          <a:p>
            <a:pPr lvl="1">
              <a:lnSpc>
                <a:spcPct val="150000"/>
              </a:lnSpc>
              <a:defRPr/>
            </a:pPr>
            <a:r>
              <a:rPr lang="zh-CN" altLang="en-US" dirty="0"/>
              <a:t>多次运行，选择出现次数最多的那个结果</a:t>
            </a:r>
            <a:endParaRPr lang="en-US" dirty="0"/>
          </a:p>
          <a:p>
            <a:pPr lvl="1">
              <a:lnSpc>
                <a:spcPct val="150000"/>
              </a:lnSpc>
              <a:defRPr/>
            </a:pPr>
            <a:r>
              <a:rPr lang="zh-CN" altLang="en-US" dirty="0"/>
              <a:t>有时有用，但机会并不总在你这一边</a:t>
            </a:r>
            <a:endParaRPr lang="en-US" dirty="0"/>
          </a:p>
          <a:p>
            <a:pPr>
              <a:lnSpc>
                <a:spcPct val="150000"/>
              </a:lnSpc>
              <a:defRPr/>
            </a:pPr>
            <a:r>
              <a:rPr lang="zh-CN" altLang="en-US" dirty="0"/>
              <a:t>其余的方法</a:t>
            </a:r>
            <a:endParaRPr lang="en-US" dirty="0"/>
          </a:p>
          <a:p>
            <a:pPr lvl="1">
              <a:lnSpc>
                <a:spcPct val="150000"/>
              </a:lnSpc>
              <a:defRPr/>
            </a:pPr>
            <a:r>
              <a:rPr lang="zh-CN" altLang="en-US" dirty="0"/>
              <a:t>选择彼此分离最好的一组</a:t>
            </a:r>
            <a:r>
              <a:rPr lang="en-US" dirty="0"/>
              <a:t> </a:t>
            </a:r>
          </a:p>
          <a:p>
            <a:pPr lvl="2">
              <a:lnSpc>
                <a:spcPct val="150000"/>
              </a:lnSpc>
              <a:defRPr/>
            </a:pPr>
            <a:r>
              <a:rPr lang="en-US" dirty="0"/>
              <a:t>K-means++ </a:t>
            </a:r>
          </a:p>
          <a:p>
            <a:pPr lvl="1">
              <a:lnSpc>
                <a:spcPct val="150000"/>
              </a:lnSpc>
              <a:defRPr/>
            </a:pPr>
            <a:r>
              <a:rPr lang="zh-CN" altLang="en-US" dirty="0"/>
              <a:t>利用层次聚类</a:t>
            </a:r>
            <a:endParaRPr lang="en-US" dirty="0"/>
          </a:p>
          <a:p>
            <a:pPr>
              <a:lnSpc>
                <a:spcPct val="150000"/>
              </a:lnSpc>
              <a:defRPr/>
            </a:pPr>
            <a:r>
              <a:rPr lang="zh-CN" altLang="en-US" dirty="0"/>
              <a:t>对分</a:t>
            </a:r>
            <a:r>
              <a:rPr lang="en-US" altLang="zh-CN" dirty="0"/>
              <a:t>k</a:t>
            </a:r>
            <a:r>
              <a:rPr lang="zh-CN" altLang="en-US" dirty="0"/>
              <a:t>均值方法</a:t>
            </a:r>
            <a:endParaRPr lang="en-US" dirty="0"/>
          </a:p>
          <a:p>
            <a:pPr lvl="1">
              <a:lnSpc>
                <a:spcPct val="150000"/>
              </a:lnSpc>
              <a:defRPr/>
            </a:pPr>
            <a:r>
              <a:rPr lang="zh-CN" altLang="en-US" dirty="0"/>
              <a:t>不易受初值的影响</a:t>
            </a:r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altLang="en-US" sz="2800"/>
              <a:t>K-means++</a:t>
            </a:r>
            <a:endParaRPr lang="en-US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507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639763" y="1143000"/>
                <a:ext cx="8001000" cy="4876800"/>
              </a:xfrm>
            </p:spPr>
            <p:txBody>
              <a:bodyPr/>
              <a:lstStyle/>
              <a:p>
                <a:pPr marL="533400" indent="-533400">
                  <a:lnSpc>
                    <a:spcPct val="90000"/>
                  </a:lnSpc>
                  <a:spcBef>
                    <a:spcPct val="20000"/>
                  </a:spcBef>
                </a:pPr>
                <a:r>
                  <a:rPr lang="zh-CN" altLang="en-US" sz="2200" dirty="0"/>
                  <a:t>相比于随机选择初始中心，该方法的运行速度慢</a:t>
                </a:r>
                <a:endParaRPr lang="en-US" altLang="en-US" sz="2200" dirty="0"/>
              </a:p>
              <a:p>
                <a:pPr marL="1041400" lvl="1" indent="-533400">
                  <a:lnSpc>
                    <a:spcPct val="90000"/>
                  </a:lnSpc>
                  <a:spcBef>
                    <a:spcPct val="20000"/>
                  </a:spcBef>
                </a:pPr>
                <a:r>
                  <a:rPr lang="zh-CN" altLang="en-US" sz="1800" dirty="0"/>
                  <a:t>算法的思想是：聚类中心互相离得越远越好</a:t>
                </a:r>
                <a:endParaRPr lang="en-US" altLang="en-US" sz="1800" dirty="0"/>
              </a:p>
              <a:p>
                <a:pPr marL="533400" indent="-533400">
                  <a:lnSpc>
                    <a:spcPct val="90000"/>
                  </a:lnSpc>
                  <a:spcBef>
                    <a:spcPct val="20000"/>
                  </a:spcBef>
                </a:pPr>
                <a:r>
                  <a:rPr lang="zh-CN" altLang="en-US" sz="2200" dirty="0"/>
                  <a:t>按照如下步骤选择初始聚类中心</a:t>
                </a:r>
                <a:br>
                  <a:rPr lang="en-US" altLang="en-US" sz="2200" dirty="0"/>
                </a:br>
                <a:endParaRPr lang="en-US" altLang="en-US" sz="2200" dirty="0"/>
              </a:p>
              <a:p>
                <a:pPr marL="457200" indent="-457200">
                  <a:lnSpc>
                    <a:spcPct val="90000"/>
                  </a:lnSpc>
                  <a:spcBef>
                    <a:spcPct val="20000"/>
                  </a:spcBef>
                  <a:buFont typeface="+mj-lt"/>
                  <a:buAutoNum type="arabicPeriod"/>
                </a:pPr>
                <a:r>
                  <a:rPr lang="zh-CN" altLang="en-US" sz="1800" dirty="0"/>
                  <a:t>随机选择第一个中心</a:t>
                </a:r>
                <a:endParaRPr lang="en-US" altLang="en-US" sz="1800" dirty="0"/>
              </a:p>
              <a:p>
                <a:pPr marL="457200" indent="-457200">
                  <a:lnSpc>
                    <a:spcPct val="90000"/>
                  </a:lnSpc>
                  <a:spcBef>
                    <a:spcPct val="20000"/>
                  </a:spcBef>
                  <a:buFont typeface="+mj-lt"/>
                  <a:buAutoNum type="arabicPeriod"/>
                </a:pPr>
                <a:r>
                  <a:rPr lang="en-US" altLang="en-US" sz="1800" dirty="0"/>
                  <a:t>For k – 1 steps</a:t>
                </a:r>
              </a:p>
              <a:p>
                <a:pPr marL="457200" indent="-457200">
                  <a:lnSpc>
                    <a:spcPct val="90000"/>
                  </a:lnSpc>
                  <a:spcBef>
                    <a:spcPct val="20000"/>
                  </a:spcBef>
                  <a:buFont typeface="+mj-lt"/>
                  <a:buAutoNum type="arabicPeriod"/>
                  <a:tabLst>
                    <a:tab pos="457200" algn="l"/>
                  </a:tabLst>
                </a:pPr>
                <a:r>
                  <a:rPr lang="en-US" altLang="en-US" sz="1800" dirty="0"/>
                  <a:t>	</a:t>
                </a:r>
                <a:r>
                  <a:rPr lang="zh-CN" altLang="en-US" sz="1800" dirty="0"/>
                  <a:t>对于数据集中的每一个点</a:t>
                </a:r>
                <a:r>
                  <a:rPr lang="en-US" altLang="en-US" sz="1800" dirty="0"/>
                  <a:t>, x</a:t>
                </a:r>
                <a:r>
                  <a:rPr lang="en-US" altLang="en-US" sz="1800" i="1" baseline="-250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en-US" sz="18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en-US" sz="1800" i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18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1 ≤ </a:t>
                </a:r>
                <a:r>
                  <a:rPr lang="en-US" altLang="en-US" sz="1800" i="1" dirty="0" err="1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en-US" sz="1800" i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18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≤ N, </a:t>
                </a:r>
                <a:r>
                  <a:rPr lang="zh-CN" altLang="en-US" sz="1800" dirty="0"/>
                  <a:t>从已确定的初始中心</a:t>
                </a:r>
                <a:r>
                  <a:rPr lang="en-US" altLang="en-US" sz="1800" dirty="0"/>
                  <a:t>, </a:t>
                </a:r>
                <a:r>
                  <a:rPr lang="en-US" altLang="en-US" sz="1800" i="1" dirty="0"/>
                  <a:t>C</a:t>
                </a:r>
                <a:r>
                  <a:rPr lang="en-US" altLang="en-US" sz="1800" i="1" baseline="-25000" dirty="0"/>
                  <a:t>1</a:t>
                </a:r>
                <a:r>
                  <a:rPr lang="en-US" altLang="en-US" sz="1800" i="1" dirty="0"/>
                  <a:t>, …,       	</a:t>
                </a:r>
                <a:r>
                  <a:rPr lang="en-US" altLang="en-US" sz="1800" i="1" dirty="0" err="1"/>
                  <a:t>C</a:t>
                </a:r>
                <a:r>
                  <a:rPr lang="en-US" altLang="en-US" sz="1800" i="1" baseline="-25000" dirty="0" err="1"/>
                  <a:t>j</a:t>
                </a:r>
                <a:r>
                  <a:rPr lang="en-US" altLang="en-US" sz="1800" baseline="-25000" dirty="0"/>
                  <a:t>, </a:t>
                </a:r>
                <a:r>
                  <a:rPr lang="en-US" altLang="en-US" sz="18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1 ≤ </a:t>
                </a:r>
                <a:r>
                  <a:rPr lang="en-US" altLang="en-US" sz="1800" i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j </a:t>
                </a:r>
                <a:r>
                  <a:rPr lang="en-US" altLang="en-US" sz="18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&lt; k, </a:t>
                </a:r>
                <a:r>
                  <a:rPr lang="zh-CN" altLang="en-US" sz="1800" dirty="0"/>
                  <a:t>中找到距离该点最近的</a:t>
                </a:r>
                <a:r>
                  <a:rPr lang="zh-CN" altLang="en-US" sz="18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，</a:t>
                </a:r>
                <a:r>
                  <a:rPr lang="en-US" altLang="en-US" sz="1800" dirty="0"/>
                  <a:t>i.e.,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en-US" sz="18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en-US" sz="18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en-US" sz="1800">
                                <a:latin typeface="Cambria Math"/>
                              </a:rPr>
                              <m:t>min</m:t>
                            </m:r>
                          </m:e>
                          <m:lim>
                            <m:r>
                              <a:rPr lang="en-US" altLang="en-US" sz="1800" i="1">
                                <a:latin typeface="Cambria Math"/>
                              </a:rPr>
                              <m:t>𝑗</m:t>
                            </m:r>
                          </m:lim>
                        </m:limLow>
                      </m:fName>
                      <m:e>
                        <m:r>
                          <m:rPr>
                            <m:nor/>
                          </m:rPr>
                          <a:rPr lang="en-US" altLang="en-US" sz="1800" dirty="0"/>
                          <m:t>d</m:t>
                        </m:r>
                        <m:r>
                          <m:rPr>
                            <m:nor/>
                          </m:rPr>
                          <a:rPr lang="en-US" altLang="en-US" sz="1800" baseline="30000" dirty="0"/>
                          <m:t>2</m:t>
                        </m:r>
                        <m:r>
                          <m:rPr>
                            <m:nor/>
                          </m:rPr>
                          <a:rPr lang="en-US" altLang="en-US" sz="1800" dirty="0"/>
                          <m:t>( </m:t>
                        </m:r>
                        <m:r>
                          <m:rPr>
                            <m:nor/>
                          </m:rPr>
                          <a:rPr lang="en-US" altLang="en-US" sz="1800" i="1" dirty="0"/>
                          <m:t>C</m:t>
                        </m:r>
                        <m:r>
                          <m:rPr>
                            <m:nor/>
                          </m:rPr>
                          <a:rPr lang="en-US" altLang="en-US" sz="1800" i="1" baseline="-25000" dirty="0"/>
                          <m:t>j</m:t>
                        </m:r>
                        <m:r>
                          <m:rPr>
                            <m:nor/>
                          </m:rPr>
                          <a:rPr lang="en-US" altLang="en-US" sz="1800" dirty="0"/>
                          <m:t>, </m:t>
                        </m:r>
                        <m:r>
                          <m:rPr>
                            <m:nor/>
                          </m:rPr>
                          <a:rPr lang="en-US" altLang="en-US" sz="1800" b="0" i="1" dirty="0" smtClean="0"/>
                          <m:t>x</m:t>
                        </m:r>
                        <m:r>
                          <m:rPr>
                            <m:nor/>
                          </m:rPr>
                          <a:rPr lang="en-US" altLang="en-US" sz="1800" i="1" baseline="-25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-US" altLang="en-US" sz="1800" dirty="0"/>
                          <m:t> )</m:t>
                        </m:r>
                      </m:e>
                    </m:func>
                    <m:r>
                      <m:rPr>
                        <m:nor/>
                      </m:rPr>
                      <a:rPr lang="en-US" altLang="en-US" sz="1800">
                        <a:latin typeface="Cambria Math"/>
                      </a:rPr>
                      <m:t> </m:t>
                    </m:r>
                  </m:oMath>
                </a14:m>
                <a:endParaRPr lang="en-US" altLang="en-US" sz="1800" baseline="30000" dirty="0"/>
              </a:p>
              <a:p>
                <a:pPr marL="342900">
                  <a:lnSpc>
                    <a:spcPct val="90000"/>
                  </a:lnSpc>
                  <a:spcBef>
                    <a:spcPct val="20000"/>
                  </a:spcBef>
                  <a:buFont typeface="+mj-lt"/>
                  <a:buAutoNum type="arabicPeriod"/>
                </a:pPr>
                <a:r>
                  <a:rPr lang="en-US" altLang="en-US" sz="1800" dirty="0"/>
                  <a:t>	</a:t>
                </a:r>
                <a:r>
                  <a:rPr lang="zh-CN" altLang="en-US" sz="1800" dirty="0"/>
                  <a:t>计算概率</a:t>
                </a:r>
                <a14:m>
                  <m:oMath xmlns:m="http://schemas.openxmlformats.org/officeDocument/2006/math">
                    <m:r>
                      <a:rPr lang="zh-CN" altLang="en-US" sz="1800" i="1" dirty="0">
                        <a:latin typeface="Cambria Math" panose="02040503050406030204" pitchFamily="18" charset="0"/>
                      </a:rPr>
                      <m:t>：</m:t>
                    </m:r>
                    <m:f>
                      <m:fPr>
                        <m:ctrlPr>
                          <a:rPr lang="en-US" altLang="en-US" sz="1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US" altLang="en-US" sz="18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alt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en-US" sz="1800">
                                    <a:latin typeface="Cambria Math"/>
                                  </a:rPr>
                                  <m:t>min</m:t>
                                </m:r>
                              </m:e>
                              <m:lim>
                                <m:r>
                                  <a:rPr lang="en-US" altLang="en-US" sz="1800" i="1">
                                    <a:latin typeface="Cambria Math"/>
                                  </a:rPr>
                                  <m:t>𝑗</m:t>
                                </m:r>
                              </m:lim>
                            </m:limLow>
                          </m:fName>
                          <m:e>
                            <m:r>
                              <m:rPr>
                                <m:nor/>
                              </m:rPr>
                              <a:rPr lang="en-US" altLang="en-US" sz="1800" dirty="0"/>
                              <m:t>d</m:t>
                            </m:r>
                            <m:r>
                              <m:rPr>
                                <m:nor/>
                              </m:rPr>
                              <a:rPr lang="en-US" altLang="en-US" sz="1800" baseline="30000" dirty="0"/>
                              <m:t>2</m:t>
                            </m:r>
                            <m:r>
                              <m:rPr>
                                <m:nor/>
                              </m:rPr>
                              <a:rPr lang="en-US" altLang="en-US" sz="1800" dirty="0"/>
                              <m:t>( </m:t>
                            </m:r>
                            <m:r>
                              <m:rPr>
                                <m:nor/>
                              </m:rPr>
                              <a:rPr lang="en-US" altLang="en-US" sz="1800" i="1" dirty="0"/>
                              <m:t>C</m:t>
                            </m:r>
                            <m:r>
                              <m:rPr>
                                <m:nor/>
                              </m:rPr>
                              <a:rPr lang="en-US" altLang="en-US" sz="1800" i="1" baseline="-25000" dirty="0"/>
                              <m:t>j</m:t>
                            </m:r>
                            <m:r>
                              <m:rPr>
                                <m:nor/>
                              </m:rPr>
                              <a:rPr lang="en-US" altLang="en-US" sz="1800" dirty="0"/>
                              <m:t>, </m:t>
                            </m:r>
                            <m:r>
                              <m:rPr>
                                <m:nor/>
                              </m:rPr>
                              <a:rPr lang="en-US" altLang="en-US" sz="1800" i="1" dirty="0"/>
                              <m:t>x</m:t>
                            </m:r>
                            <m:r>
                              <m:rPr>
                                <m:nor/>
                              </m:rPr>
                              <a:rPr lang="en-US" altLang="en-US" sz="1800" i="1" baseline="-25000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i</m:t>
                            </m:r>
                            <m:r>
                              <m:rPr>
                                <m:nor/>
                              </m:rPr>
                              <a:rPr lang="en-US" altLang="en-US" sz="1800" dirty="0"/>
                              <m:t> )</m:t>
                            </m:r>
                          </m:e>
                        </m:func>
                      </m:num>
                      <m:den>
                        <m:nary>
                          <m:naryPr>
                            <m:chr m:val="∑"/>
                            <m:supHide m:val="on"/>
                            <m:ctrlPr>
                              <a:rPr lang="en-US" altLang="en-US" sz="180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en-US" sz="1800" b="0" i="1" smtClean="0">
                                <a:latin typeface="Cambria Math"/>
                              </a:rPr>
                              <m:t>𝑖</m:t>
                            </m:r>
                          </m:sub>
                          <m:sup/>
                          <m:e>
                            <m:func>
                              <m:funcPr>
                                <m:ctrlPr>
                                  <a:rPr lang="en-US" alt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limLow>
                                  <m:limLowPr>
                                    <m:ctrlPr>
                                      <a:rPr lang="en-US" alt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limLow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en-US" sz="1800">
                                        <a:latin typeface="Cambria Math"/>
                                      </a:rPr>
                                      <m:t>min</m:t>
                                    </m:r>
                                  </m:e>
                                  <m:lim>
                                    <m:r>
                                      <a:rPr lang="en-US" altLang="en-US" sz="1800" i="1">
                                        <a:latin typeface="Cambria Math"/>
                                      </a:rPr>
                                      <m:t>𝑗</m:t>
                                    </m:r>
                                  </m:lim>
                                </m:limLow>
                              </m:fName>
                              <m:e>
                                <m:r>
                                  <m:rPr>
                                    <m:nor/>
                                  </m:rPr>
                                  <a:rPr lang="en-US" altLang="en-US" sz="1800" dirty="0"/>
                                  <m:t>d</m:t>
                                </m:r>
                                <m:r>
                                  <m:rPr>
                                    <m:nor/>
                                  </m:rPr>
                                  <a:rPr lang="en-US" altLang="en-US" sz="1800" baseline="30000" dirty="0"/>
                                  <m:t>2</m:t>
                                </m:r>
                                <m:r>
                                  <m:rPr>
                                    <m:nor/>
                                  </m:rPr>
                                  <a:rPr lang="en-US" altLang="en-US" sz="1800" dirty="0"/>
                                  <m:t>( </m:t>
                                </m:r>
                                <m:r>
                                  <m:rPr>
                                    <m:nor/>
                                  </m:rPr>
                                  <a:rPr lang="en-US" altLang="en-US" sz="1800" i="1" dirty="0"/>
                                  <m:t>C</m:t>
                                </m:r>
                                <m:r>
                                  <m:rPr>
                                    <m:nor/>
                                  </m:rPr>
                                  <a:rPr lang="en-US" altLang="en-US" sz="1800" i="1" baseline="-25000" dirty="0"/>
                                  <m:t>j</m:t>
                                </m:r>
                                <m:r>
                                  <m:rPr>
                                    <m:nor/>
                                  </m:rPr>
                                  <a:rPr lang="en-US" altLang="en-US" sz="1800" dirty="0"/>
                                  <m:t>, </m:t>
                                </m:r>
                                <m:r>
                                  <m:rPr>
                                    <m:nor/>
                                  </m:rPr>
                                  <a:rPr lang="en-US" altLang="en-US" sz="1800" i="1" dirty="0"/>
                                  <m:t>x</m:t>
                                </m:r>
                                <m:r>
                                  <m:rPr>
                                    <m:nor/>
                                  </m:rPr>
                                  <a:rPr lang="en-US" altLang="en-US" sz="1800" i="1" baseline="-25000" dirty="0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i</m:t>
                                </m:r>
                                <m:r>
                                  <m:rPr>
                                    <m:nor/>
                                  </m:rPr>
                                  <a:rPr lang="en-US" altLang="en-US" sz="1800" dirty="0"/>
                                  <m:t> )</m:t>
                                </m:r>
                              </m:e>
                            </m:func>
                          </m:e>
                        </m:nary>
                      </m:den>
                    </m:f>
                  </m:oMath>
                </a14:m>
                <a:r>
                  <a:rPr lang="zh-CN" altLang="en-US" sz="1800" dirty="0"/>
                  <a:t>，并选择概率最大的点作为下一个中心</a:t>
                </a:r>
                <a:endParaRPr lang="en-US" altLang="en-US" sz="1800" dirty="0"/>
              </a:p>
              <a:p>
                <a:pPr marL="508000" indent="-457200">
                  <a:lnSpc>
                    <a:spcPct val="90000"/>
                  </a:lnSpc>
                  <a:spcBef>
                    <a:spcPct val="20000"/>
                  </a:spcBef>
                  <a:buFont typeface="+mj-lt"/>
                  <a:buAutoNum type="arabicPeriod" startAt="5"/>
                </a:pPr>
                <a:r>
                  <a:rPr lang="en-US" altLang="en-US" sz="1800" dirty="0"/>
                  <a:t>End For</a:t>
                </a:r>
                <a:r>
                  <a:rPr lang="en-US" altLang="zh-CN" sz="1800" dirty="0"/>
                  <a:t>-</a:t>
                </a:r>
                <a:r>
                  <a:rPr lang="zh-CN" altLang="en-US" sz="1800" dirty="0"/>
                  <a:t>直至选择了</a:t>
                </a:r>
                <a:r>
                  <a:rPr lang="en-US" altLang="zh-CN" sz="1800" dirty="0"/>
                  <a:t>k</a:t>
                </a:r>
                <a:r>
                  <a:rPr lang="zh-CN" altLang="en-US" sz="1800" dirty="0"/>
                  <a:t>个中心</a:t>
                </a:r>
                <a:endParaRPr lang="en-US" altLang="en-US" sz="1800" dirty="0"/>
              </a:p>
            </p:txBody>
          </p:sp>
        </mc:Choice>
        <mc:Fallback xmlns="">
          <p:sp>
            <p:nvSpPr>
              <p:cNvPr id="2150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39763" y="1143000"/>
                <a:ext cx="8001000" cy="4876800"/>
              </a:xfrm>
              <a:blipFill>
                <a:blip r:embed="rId2"/>
                <a:stretch>
                  <a:fillRect l="-686" t="-1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33564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前处理和后处理</a:t>
            </a:r>
            <a:endParaRPr lang="en-US" altLang="en-US" dirty="0"/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前处理</a:t>
            </a:r>
            <a:endParaRPr lang="en-US" altLang="en-US" dirty="0"/>
          </a:p>
          <a:p>
            <a:pPr lvl="1"/>
            <a:r>
              <a:rPr lang="zh-CN" altLang="en-US" dirty="0"/>
              <a:t>归一化</a:t>
            </a:r>
            <a:endParaRPr lang="en-US" altLang="en-US" dirty="0"/>
          </a:p>
          <a:p>
            <a:pPr lvl="1"/>
            <a:r>
              <a:rPr lang="zh-CN" altLang="en-US" dirty="0"/>
              <a:t>去除离群点，</a:t>
            </a:r>
            <a:r>
              <a:rPr lang="zh-CN" altLang="en-US" dirty="0">
                <a:solidFill>
                  <a:srgbClr val="FF0000"/>
                </a:solidFill>
              </a:rPr>
              <a:t>很难</a:t>
            </a:r>
            <a:endParaRPr lang="en-US" altLang="en-US" dirty="0">
              <a:solidFill>
                <a:srgbClr val="FF0000"/>
              </a:solidFill>
            </a:endParaRPr>
          </a:p>
          <a:p>
            <a:pPr lvl="4"/>
            <a:endParaRPr lang="en-US" altLang="en-US" sz="800" dirty="0"/>
          </a:p>
          <a:p>
            <a:r>
              <a:rPr lang="zh-CN" altLang="en-US" dirty="0"/>
              <a:t>后处理</a:t>
            </a:r>
            <a:endParaRPr lang="en-US" altLang="en-US" dirty="0"/>
          </a:p>
          <a:p>
            <a:pPr lvl="1"/>
            <a:r>
              <a:rPr lang="zh-CN" altLang="en-US" dirty="0"/>
              <a:t>去除空聚类和有可能代表离群点的小类</a:t>
            </a:r>
            <a:endParaRPr lang="en-US" altLang="en-US" dirty="0"/>
          </a:p>
          <a:p>
            <a:pPr lvl="1"/>
            <a:r>
              <a:rPr lang="zh-CN" altLang="en-US" dirty="0"/>
              <a:t>分裂</a:t>
            </a:r>
            <a:r>
              <a:rPr lang="en-US" altLang="en-US" dirty="0"/>
              <a:t>, i.e., SSE</a:t>
            </a:r>
            <a:r>
              <a:rPr lang="zh-CN" altLang="en-US" dirty="0"/>
              <a:t>值相对高的类</a:t>
            </a:r>
            <a:endParaRPr lang="en-US" altLang="en-US" dirty="0"/>
          </a:p>
          <a:p>
            <a:pPr lvl="1"/>
            <a:r>
              <a:rPr lang="zh-CN" altLang="en-US" dirty="0"/>
              <a:t>合并</a:t>
            </a:r>
            <a:r>
              <a:rPr lang="en-US" altLang="en-US" dirty="0"/>
              <a:t>, i.e., SSE</a:t>
            </a:r>
            <a:r>
              <a:rPr lang="zh-CN" altLang="en-US" dirty="0"/>
              <a:t>值相对低的类</a:t>
            </a:r>
            <a:endParaRPr lang="en-US" altLang="en-US" dirty="0"/>
          </a:p>
          <a:p>
            <a:pPr lvl="1"/>
            <a:r>
              <a:rPr lang="zh-CN" altLang="en-US" dirty="0"/>
              <a:t>以上步骤可重复多次</a:t>
            </a:r>
            <a:endParaRPr lang="en-US" altLang="en-US" dirty="0"/>
          </a:p>
          <a:p>
            <a:pPr lvl="2"/>
            <a:r>
              <a:rPr lang="en-US" altLang="en-US" dirty="0"/>
              <a:t> ISODATA</a:t>
            </a:r>
            <a:r>
              <a:rPr lang="en-US" altLang="zh-CN" dirty="0"/>
              <a:t>-</a:t>
            </a:r>
            <a:r>
              <a:rPr lang="zh-CN" altLang="en-US" dirty="0"/>
              <a:t>课后自己看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1273974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空聚类</a:t>
            </a:r>
            <a:endParaRPr lang="en-US" altLang="en-US" dirty="0"/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很常见的现象</a:t>
            </a:r>
            <a:endParaRPr lang="en-US" altLang="en-US" dirty="0"/>
          </a:p>
          <a:p>
            <a:endParaRPr lang="en-US" altLang="en-US" dirty="0"/>
          </a:p>
        </p:txBody>
      </p:sp>
      <p:graphicFrame>
        <p:nvGraphicFramePr>
          <p:cNvPr id="1680388" name="Object 4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1447800" y="3919538"/>
          <a:ext cx="6024563" cy="1262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390" name="VISIO" r:id="rId3" imgW="6030265" imgH="1260331" progId="Visio.Drawing.6">
                  <p:embed/>
                </p:oleObj>
              </mc:Choice>
              <mc:Fallback>
                <p:oleObj name="VISIO" r:id="rId3" imgW="6030265" imgH="1260331" progId="Visio.Drawing.6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3919538"/>
                        <a:ext cx="6024563" cy="1262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1" name="Object 5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1524000" y="2243138"/>
          <a:ext cx="6032500" cy="1260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391" name="VISIO" r:id="rId5" imgW="6030265" imgH="1260331" progId="Visio.Drawing.6">
                  <p:embed/>
                </p:oleObj>
              </mc:Choice>
              <mc:Fallback>
                <p:oleObj name="VISIO" r:id="rId5" imgW="6030265" imgH="1260331" progId="Visio.Drawing.6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2243138"/>
                        <a:ext cx="6032500" cy="1260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80390" name="Rectangle 6"/>
          <p:cNvSpPr>
            <a:spLocks noChangeArrowheads="1"/>
          </p:cNvSpPr>
          <p:nvPr/>
        </p:nvSpPr>
        <p:spPr bwMode="auto">
          <a:xfrm>
            <a:off x="1295400" y="2243138"/>
            <a:ext cx="1828800" cy="990600"/>
          </a:xfrm>
          <a:prstGeom prst="rect">
            <a:avLst/>
          </a:prstGeom>
          <a:noFill/>
          <a:ln w="31750">
            <a:solidFill>
              <a:srgbClr val="0000FF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1680391" name="Rectangle 7"/>
          <p:cNvSpPr>
            <a:spLocks noChangeArrowheads="1"/>
          </p:cNvSpPr>
          <p:nvPr/>
        </p:nvSpPr>
        <p:spPr bwMode="auto">
          <a:xfrm>
            <a:off x="3200400" y="2243138"/>
            <a:ext cx="2590800" cy="990600"/>
          </a:xfrm>
          <a:prstGeom prst="rect">
            <a:avLst/>
          </a:prstGeom>
          <a:noFill/>
          <a:ln w="31750">
            <a:solidFill>
              <a:srgbClr val="0000FF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1680392" name="Rectangle 8"/>
          <p:cNvSpPr>
            <a:spLocks noChangeArrowheads="1"/>
          </p:cNvSpPr>
          <p:nvPr/>
        </p:nvSpPr>
        <p:spPr bwMode="auto">
          <a:xfrm>
            <a:off x="5943600" y="2243138"/>
            <a:ext cx="1676400" cy="990600"/>
          </a:xfrm>
          <a:prstGeom prst="rect">
            <a:avLst/>
          </a:prstGeom>
          <a:noFill/>
          <a:ln w="31750">
            <a:solidFill>
              <a:srgbClr val="0000FF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1680393" name="Rectangle 9"/>
          <p:cNvSpPr>
            <a:spLocks noChangeArrowheads="1"/>
          </p:cNvSpPr>
          <p:nvPr/>
        </p:nvSpPr>
        <p:spPr bwMode="auto">
          <a:xfrm>
            <a:off x="1219200" y="3919538"/>
            <a:ext cx="2362200" cy="1066800"/>
          </a:xfrm>
          <a:prstGeom prst="rect">
            <a:avLst/>
          </a:prstGeom>
          <a:noFill/>
          <a:ln w="31750">
            <a:solidFill>
              <a:srgbClr val="0000FF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1680394" name="Rectangle 10"/>
          <p:cNvSpPr>
            <a:spLocks noChangeArrowheads="1"/>
          </p:cNvSpPr>
          <p:nvPr/>
        </p:nvSpPr>
        <p:spPr bwMode="auto">
          <a:xfrm>
            <a:off x="5181600" y="3919538"/>
            <a:ext cx="2286000" cy="1066800"/>
          </a:xfrm>
          <a:prstGeom prst="rect">
            <a:avLst/>
          </a:prstGeom>
          <a:noFill/>
          <a:ln w="31750">
            <a:solidFill>
              <a:srgbClr val="0000FF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1680395" name="AutoShape 11"/>
          <p:cNvSpPr>
            <a:spLocks noChangeArrowheads="1"/>
          </p:cNvSpPr>
          <p:nvPr/>
        </p:nvSpPr>
        <p:spPr bwMode="auto">
          <a:xfrm>
            <a:off x="4495800" y="5334000"/>
            <a:ext cx="1524000" cy="762000"/>
          </a:xfrm>
          <a:prstGeom prst="wedgeRoundRectCallout">
            <a:avLst>
              <a:gd name="adj1" fmla="val -56667"/>
              <a:gd name="adj2" fmla="val -130000"/>
              <a:gd name="adj3" fmla="val 16667"/>
            </a:avLst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en-US" altLang="en-US" sz="2000"/>
              <a:t>Empty Cluster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0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0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0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0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0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0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0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80390" grpId="0" animBg="1"/>
      <p:bldP spid="1680391" grpId="0" animBg="1"/>
      <p:bldP spid="1680392" grpId="0" animBg="1"/>
      <p:bldP spid="1680393" grpId="0" animBg="1"/>
      <p:bldP spid="1680394" grpId="0" animBg="1"/>
      <p:bldP spid="168039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 dirty="0"/>
              <a:t>聚类中心的渐进式更新</a:t>
            </a:r>
            <a:endParaRPr lang="en-US" altLang="en-US" sz="2800" dirty="0"/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在传统的</a:t>
            </a:r>
            <a:r>
              <a:rPr lang="en-US" altLang="zh-CN" dirty="0"/>
              <a:t>k</a:t>
            </a:r>
            <a:r>
              <a:rPr lang="zh-CN" altLang="en-US" dirty="0"/>
              <a:t>均值聚类算法中，所有样本分配完之后再更新聚类中心</a:t>
            </a:r>
            <a:endParaRPr lang="en-US" altLang="en-US" dirty="0"/>
          </a:p>
          <a:p>
            <a:pPr lvl="4"/>
            <a:endParaRPr lang="en-US" altLang="en-US" dirty="0"/>
          </a:p>
          <a:p>
            <a:r>
              <a:rPr lang="zh-CN" altLang="en-US" dirty="0"/>
              <a:t>渐进式更新：每分配一个样本，就更新相应的中心</a:t>
            </a:r>
            <a:endParaRPr lang="en-US" altLang="en-US" dirty="0"/>
          </a:p>
          <a:p>
            <a:pPr lvl="1"/>
            <a:r>
              <a:rPr lang="zh-CN" altLang="en-US" dirty="0"/>
              <a:t>每一次分配之后，更新</a:t>
            </a:r>
            <a:r>
              <a:rPr lang="en-US" altLang="zh-CN" dirty="0"/>
              <a:t>0</a:t>
            </a:r>
            <a:r>
              <a:rPr lang="zh-CN" altLang="en-US" dirty="0"/>
              <a:t>或者</a:t>
            </a:r>
            <a:r>
              <a:rPr lang="en-US" altLang="zh-CN" dirty="0"/>
              <a:t>2</a:t>
            </a:r>
            <a:r>
              <a:rPr lang="zh-CN" altLang="en-US" dirty="0"/>
              <a:t>个中心</a:t>
            </a:r>
            <a:endParaRPr lang="en-US" altLang="en-US" dirty="0"/>
          </a:p>
          <a:p>
            <a:pPr lvl="1"/>
            <a:r>
              <a:rPr lang="zh-CN" altLang="en-US" dirty="0"/>
              <a:t>增加计算量</a:t>
            </a:r>
            <a:endParaRPr lang="en-US" altLang="en-US" dirty="0"/>
          </a:p>
          <a:p>
            <a:pPr lvl="1"/>
            <a:r>
              <a:rPr lang="zh-CN" altLang="en-US" dirty="0"/>
              <a:t>顺序依赖</a:t>
            </a:r>
            <a:endParaRPr lang="en-US" altLang="en-US" dirty="0"/>
          </a:p>
          <a:p>
            <a:pPr lvl="1"/>
            <a:r>
              <a:rPr lang="zh-CN" altLang="en-US" dirty="0"/>
              <a:t>不会得到空聚类</a:t>
            </a:r>
            <a:endParaRPr lang="en-US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</a:t>
            </a:r>
            <a:r>
              <a:rPr lang="zh-CN" altLang="en-US" dirty="0"/>
              <a:t>均值算法的局限</a:t>
            </a:r>
            <a:endParaRPr lang="en-US" altLang="en-US" dirty="0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类间不平衡特性</a:t>
            </a:r>
            <a:r>
              <a:rPr lang="en-US" altLang="en-US" dirty="0"/>
              <a:t> </a:t>
            </a:r>
          </a:p>
          <a:p>
            <a:pPr lvl="1"/>
            <a:r>
              <a:rPr lang="zh-CN" altLang="en-US" dirty="0"/>
              <a:t>类间样本数量不一</a:t>
            </a:r>
            <a:endParaRPr lang="en-US" altLang="zh-CN" dirty="0"/>
          </a:p>
          <a:p>
            <a:pPr lvl="2"/>
            <a:r>
              <a:rPr lang="en-US" altLang="zh-CN" dirty="0"/>
              <a:t>Uniform effect</a:t>
            </a:r>
            <a:r>
              <a:rPr lang="zh-CN" altLang="en-US" dirty="0"/>
              <a:t>，聚类领域的经典问题，但研究并不多</a:t>
            </a:r>
            <a:endParaRPr lang="en-US" altLang="en-US" dirty="0"/>
          </a:p>
          <a:p>
            <a:pPr lvl="1"/>
            <a:r>
              <a:rPr lang="zh-CN" altLang="en-US" dirty="0"/>
              <a:t>类间密度分布不一</a:t>
            </a:r>
            <a:endParaRPr lang="en-US" altLang="en-US" dirty="0"/>
          </a:p>
          <a:p>
            <a:pPr lvl="1"/>
            <a:r>
              <a:rPr lang="zh-CN" altLang="en-US" dirty="0"/>
              <a:t>非圆形聚类</a:t>
            </a:r>
            <a:endParaRPr lang="en-US" altLang="en-US" dirty="0"/>
          </a:p>
          <a:p>
            <a:r>
              <a:rPr lang="zh-CN" altLang="en-US" dirty="0"/>
              <a:t>离群点的影响</a:t>
            </a:r>
            <a:r>
              <a:rPr lang="en-US" altLang="zh-CN" dirty="0"/>
              <a:t>——</a:t>
            </a:r>
            <a:r>
              <a:rPr lang="zh-CN" altLang="en-US" dirty="0"/>
              <a:t>聚类中心是平均值计算的</a:t>
            </a:r>
            <a:endParaRPr lang="en-US" altLang="zh-CN" dirty="0"/>
          </a:p>
          <a:p>
            <a:r>
              <a:rPr lang="zh-CN" altLang="en-US" dirty="0"/>
              <a:t>初值敏感</a:t>
            </a:r>
            <a:endParaRPr lang="en-US" altLang="zh-CN" dirty="0"/>
          </a:p>
          <a:p>
            <a:r>
              <a:rPr lang="zh-CN" altLang="en-US" dirty="0"/>
              <a:t>需要预先输入聚类个数</a:t>
            </a:r>
            <a:endParaRPr lang="en-US" altLang="zh-CN" dirty="0"/>
          </a:p>
          <a:p>
            <a:r>
              <a:rPr lang="zh-CN" altLang="en-US" dirty="0"/>
              <a:t>数据分布“形状”敏感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3244614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349099" y="152400"/>
            <a:ext cx="8280400" cy="552450"/>
          </a:xfrm>
        </p:spPr>
        <p:txBody>
          <a:bodyPr/>
          <a:lstStyle/>
          <a:p>
            <a:r>
              <a:rPr lang="en-US" altLang="zh-CN" sz="2800" dirty="0"/>
              <a:t>K</a:t>
            </a:r>
            <a:r>
              <a:rPr lang="zh-CN" altLang="en-US" sz="2800" dirty="0"/>
              <a:t>均值局限</a:t>
            </a:r>
            <a:r>
              <a:rPr lang="en-US" altLang="en-US" sz="2800" dirty="0"/>
              <a:t>: </a:t>
            </a:r>
            <a:r>
              <a:rPr lang="zh-CN" altLang="en-US" sz="2800" dirty="0"/>
              <a:t>不同的尺寸</a:t>
            </a:r>
            <a:endParaRPr lang="en-US" altLang="en-US" sz="2800" dirty="0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763" y="1143000"/>
            <a:ext cx="8001000" cy="976313"/>
          </a:xfrm>
        </p:spPr>
        <p:txBody>
          <a:bodyPr/>
          <a:lstStyle/>
          <a:p>
            <a:pPr marL="533400" indent="-533400">
              <a:lnSpc>
                <a:spcPct val="90000"/>
              </a:lnSpc>
              <a:spcBef>
                <a:spcPct val="20000"/>
              </a:spcBef>
              <a:buFont typeface="Monotype Sorts" pitchFamily="2" charset="2"/>
              <a:buNone/>
            </a:pPr>
            <a:endParaRPr lang="en-US" altLang="en-US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endParaRPr lang="en-US" altLang="en-US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endParaRPr lang="en-US" altLang="en-US" sz="2000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  <a:buFont typeface="Arial" charset="0"/>
              <a:buNone/>
            </a:pPr>
            <a:endParaRPr lang="en-US" altLang="en-US" sz="2000"/>
          </a:p>
        </p:txBody>
      </p:sp>
      <p:pic>
        <p:nvPicPr>
          <p:cNvPr id="2867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47800"/>
            <a:ext cx="4268788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9062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1447800"/>
            <a:ext cx="4268788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8" name="Text Box 6"/>
          <p:cNvSpPr txBox="1">
            <a:spLocks noChangeArrowheads="1"/>
          </p:cNvSpPr>
          <p:nvPr/>
        </p:nvSpPr>
        <p:spPr bwMode="auto">
          <a:xfrm>
            <a:off x="762000" y="4953000"/>
            <a:ext cx="2057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Original Points</a:t>
            </a:r>
          </a:p>
        </p:txBody>
      </p:sp>
      <p:sp>
        <p:nvSpPr>
          <p:cNvPr id="1690631" name="Rectangle 7"/>
          <p:cNvSpPr>
            <a:spLocks noChangeArrowheads="1"/>
          </p:cNvSpPr>
          <p:nvPr/>
        </p:nvSpPr>
        <p:spPr bwMode="auto">
          <a:xfrm>
            <a:off x="5334000" y="4902200"/>
            <a:ext cx="2470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K-means (3 Clusters)</a:t>
            </a:r>
          </a:p>
        </p:txBody>
      </p:sp>
    </p:spTree>
    <p:extLst>
      <p:ext uri="{BB962C8B-B14F-4D97-AF65-F5344CB8AC3E}">
        <p14:creationId xmlns:p14="http://schemas.microsoft.com/office/powerpoint/2010/main" val="348394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0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0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0631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altLang="zh-CN" sz="2800" dirty="0"/>
              <a:t>K</a:t>
            </a:r>
            <a:r>
              <a:rPr lang="zh-CN" altLang="en-US" sz="2800" dirty="0"/>
              <a:t>均值局限</a:t>
            </a:r>
            <a:r>
              <a:rPr lang="en-US" altLang="en-US" sz="2800" dirty="0"/>
              <a:t>: </a:t>
            </a:r>
            <a:r>
              <a:rPr lang="zh-CN" altLang="en-US" sz="2800" dirty="0"/>
              <a:t>不同的密度</a:t>
            </a:r>
            <a:endParaRPr lang="en-US" altLang="en-US" sz="2800" dirty="0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763" y="1143000"/>
            <a:ext cx="8001000" cy="976313"/>
          </a:xfrm>
        </p:spPr>
        <p:txBody>
          <a:bodyPr/>
          <a:lstStyle/>
          <a:p>
            <a:pPr marL="533400" indent="-533400">
              <a:lnSpc>
                <a:spcPct val="90000"/>
              </a:lnSpc>
              <a:spcBef>
                <a:spcPct val="20000"/>
              </a:spcBef>
              <a:buFont typeface="Monotype Sorts" pitchFamily="2" charset="2"/>
              <a:buNone/>
            </a:pPr>
            <a:endParaRPr lang="en-US" altLang="en-US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endParaRPr lang="en-US" altLang="en-US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endParaRPr lang="en-US" altLang="en-US" sz="2000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  <a:buFont typeface="Arial" charset="0"/>
              <a:buNone/>
            </a:pPr>
            <a:endParaRPr lang="en-US" altLang="en-US" sz="2000"/>
          </a:p>
        </p:txBody>
      </p:sp>
      <p:sp>
        <p:nvSpPr>
          <p:cNvPr id="29700" name="Text Box 4"/>
          <p:cNvSpPr txBox="1">
            <a:spLocks noChangeArrowheads="1"/>
          </p:cNvSpPr>
          <p:nvPr/>
        </p:nvSpPr>
        <p:spPr bwMode="auto">
          <a:xfrm>
            <a:off x="762000" y="4953000"/>
            <a:ext cx="2133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Original Points</a:t>
            </a:r>
          </a:p>
        </p:txBody>
      </p:sp>
      <p:pic>
        <p:nvPicPr>
          <p:cNvPr id="29701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47800"/>
            <a:ext cx="4268788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91654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1447800"/>
            <a:ext cx="4268788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91655" name="Rectangle 7"/>
          <p:cNvSpPr>
            <a:spLocks noChangeArrowheads="1"/>
          </p:cNvSpPr>
          <p:nvPr/>
        </p:nvSpPr>
        <p:spPr bwMode="auto">
          <a:xfrm>
            <a:off x="5334000" y="4902200"/>
            <a:ext cx="2470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K-means (3 Clusters)</a:t>
            </a:r>
          </a:p>
        </p:txBody>
      </p:sp>
    </p:spTree>
    <p:extLst>
      <p:ext uri="{BB962C8B-B14F-4D97-AF65-F5344CB8AC3E}">
        <p14:creationId xmlns:p14="http://schemas.microsoft.com/office/powerpoint/2010/main" val="4163061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1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1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165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10600" cy="552450"/>
          </a:xfrm>
        </p:spPr>
        <p:txBody>
          <a:bodyPr/>
          <a:lstStyle/>
          <a:p>
            <a:r>
              <a:rPr lang="en-US" altLang="zh-CN" sz="2800" dirty="0"/>
              <a:t>K</a:t>
            </a:r>
            <a:r>
              <a:rPr lang="zh-CN" altLang="en-US" sz="2800" dirty="0"/>
              <a:t>均值局限</a:t>
            </a:r>
            <a:r>
              <a:rPr lang="en-US" altLang="en-US" sz="2800" dirty="0"/>
              <a:t>: </a:t>
            </a:r>
            <a:r>
              <a:rPr lang="zh-CN" altLang="en-US" sz="2800" dirty="0"/>
              <a:t>非圆（球</a:t>
            </a:r>
            <a:r>
              <a:rPr lang="en-US" altLang="zh-CN" sz="2800" dirty="0"/>
              <a:t>/</a:t>
            </a:r>
            <a:r>
              <a:rPr lang="zh-CN" altLang="en-US" sz="2800" dirty="0"/>
              <a:t>超球）形</a:t>
            </a:r>
            <a:endParaRPr lang="en-US" altLang="en-US" sz="2800" dirty="0"/>
          </a:p>
        </p:txBody>
      </p:sp>
      <p:sp>
        <p:nvSpPr>
          <p:cNvPr id="30723" name="Text Box 4"/>
          <p:cNvSpPr txBox="1">
            <a:spLocks noChangeArrowheads="1"/>
          </p:cNvSpPr>
          <p:nvPr/>
        </p:nvSpPr>
        <p:spPr bwMode="auto">
          <a:xfrm>
            <a:off x="1143000" y="4876800"/>
            <a:ext cx="2057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Original Points</a:t>
            </a:r>
          </a:p>
        </p:txBody>
      </p:sp>
      <p:pic>
        <p:nvPicPr>
          <p:cNvPr id="3072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219200"/>
            <a:ext cx="4268788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92678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1219200"/>
            <a:ext cx="4268788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92679" name="Rectangle 7"/>
          <p:cNvSpPr>
            <a:spLocks noChangeArrowheads="1"/>
          </p:cNvSpPr>
          <p:nvPr/>
        </p:nvSpPr>
        <p:spPr bwMode="auto">
          <a:xfrm>
            <a:off x="5334000" y="4902200"/>
            <a:ext cx="2470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K-means (2 Clusters)</a:t>
            </a:r>
          </a:p>
        </p:txBody>
      </p:sp>
    </p:spTree>
    <p:extLst>
      <p:ext uri="{BB962C8B-B14F-4D97-AF65-F5344CB8AC3E}">
        <p14:creationId xmlns:p14="http://schemas.microsoft.com/office/powerpoint/2010/main" val="2269774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2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2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2679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聚类算法之层次聚类</a:t>
            </a:r>
            <a:endParaRPr lang="en-US" altLang="en-US" dirty="0"/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产生一组形如层次树的嵌套聚类</a:t>
            </a:r>
            <a:endParaRPr lang="en-US" altLang="en-US" dirty="0"/>
          </a:p>
          <a:p>
            <a:r>
              <a:rPr lang="zh-CN" altLang="en-US" dirty="0"/>
              <a:t>类似于声明系统发生树</a:t>
            </a:r>
            <a:endParaRPr lang="en-US" altLang="en-US" dirty="0"/>
          </a:p>
          <a:p>
            <a:pPr lvl="1"/>
            <a:r>
              <a:rPr lang="zh-CN" altLang="en-US" dirty="0"/>
              <a:t>记录合并</a:t>
            </a:r>
            <a:r>
              <a:rPr lang="en-US" altLang="zh-CN" dirty="0"/>
              <a:t>/</a:t>
            </a:r>
            <a:r>
              <a:rPr lang="zh-CN" altLang="en-US" dirty="0"/>
              <a:t>分裂顺序的“数”</a:t>
            </a:r>
            <a:r>
              <a:rPr lang="en-US" altLang="en-US" dirty="0"/>
              <a:t> </a:t>
            </a:r>
          </a:p>
        </p:txBody>
      </p:sp>
      <p:pic>
        <p:nvPicPr>
          <p:cNvPr id="5120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3430588"/>
            <a:ext cx="3459163" cy="2160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120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7511565"/>
              </p:ext>
            </p:extLst>
          </p:nvPr>
        </p:nvGraphicFramePr>
        <p:xfrm>
          <a:off x="5257800" y="3200400"/>
          <a:ext cx="2319338" cy="2360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69" name="VISIO" r:id="rId4" imgW="3163511" imgH="3230582" progId="Visio.Drawing.6">
                  <p:embed/>
                </p:oleObj>
              </mc:Choice>
              <mc:Fallback>
                <p:oleObj name="VISIO" r:id="rId4" imgW="3163511" imgH="3230582" progId="Visio.Drawing.6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3200400"/>
                        <a:ext cx="2319338" cy="2360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层次聚类的优势</a:t>
            </a:r>
            <a:endParaRPr lang="en-US" altLang="en-US" dirty="0"/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dirty="0"/>
              <a:t>无需预先设定聚类个数</a:t>
            </a:r>
            <a:r>
              <a:rPr lang="en-US" altLang="en-US" dirty="0"/>
              <a:t> </a:t>
            </a:r>
          </a:p>
          <a:p>
            <a:pPr lvl="1">
              <a:lnSpc>
                <a:spcPct val="90000"/>
              </a:lnSpc>
            </a:pPr>
            <a:r>
              <a:rPr lang="zh-CN" altLang="en-US" dirty="0"/>
              <a:t>“横切”树即可得到相应的聚类个数</a:t>
            </a:r>
            <a:endParaRPr lang="en-US" altLang="zh-CN" dirty="0"/>
          </a:p>
          <a:p>
            <a:pPr lvl="1">
              <a:lnSpc>
                <a:spcPct val="90000"/>
              </a:lnSpc>
            </a:pPr>
            <a:endParaRPr lang="en-US" altLang="en-US" dirty="0"/>
          </a:p>
          <a:p>
            <a:pPr lvl="1">
              <a:lnSpc>
                <a:spcPct val="90000"/>
              </a:lnSpc>
            </a:pPr>
            <a:endParaRPr lang="en-US" altLang="en-US" dirty="0"/>
          </a:p>
          <a:p>
            <a:pPr lvl="1"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endParaRPr lang="en-US" altLang="en-US" dirty="0"/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zh-CN" altLang="en-US" dirty="0"/>
              <a:t>对应于有意义的分类法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zh-CN" altLang="en-US" dirty="0"/>
              <a:t>生命科学，</a:t>
            </a:r>
            <a:r>
              <a:rPr lang="en-US" altLang="en-US" dirty="0"/>
              <a:t>e.g., </a:t>
            </a:r>
            <a:r>
              <a:rPr lang="zh-CN" altLang="en-US" dirty="0"/>
              <a:t>系统发生树</a:t>
            </a:r>
            <a:endParaRPr lang="en-US" altLang="en-US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C6BFCFAF-662C-494D-8B94-BBBE0957D6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0831" y="2057400"/>
            <a:ext cx="3459163" cy="2160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5064F83D-7CF3-4FC5-8B68-1F8870A99CE5}"/>
              </a:ext>
            </a:extLst>
          </p:cNvPr>
          <p:cNvCxnSpPr/>
          <p:nvPr/>
        </p:nvCxnSpPr>
        <p:spPr bwMode="auto">
          <a:xfrm>
            <a:off x="2209800" y="3048000"/>
            <a:ext cx="4876800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层次聚类的两种类型</a:t>
            </a:r>
            <a:endParaRPr lang="en-US" altLang="en-US" dirty="0"/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2400" dirty="0"/>
              <a:t>两种主要的类型</a:t>
            </a:r>
            <a:endParaRPr lang="en-US" altLang="en-US" sz="2400" dirty="0"/>
          </a:p>
          <a:p>
            <a:pPr lvl="1"/>
            <a:r>
              <a:rPr lang="zh-CN" altLang="en-US" sz="2000" dirty="0"/>
              <a:t>聚合式</a:t>
            </a:r>
            <a:endParaRPr lang="en-US" altLang="zh-CN" sz="2000" dirty="0"/>
          </a:p>
          <a:p>
            <a:pPr marL="1146175" lvl="2" indent="-231775"/>
            <a:r>
              <a:rPr lang="zh-CN" altLang="en-US" sz="1800" dirty="0"/>
              <a:t>自下而上</a:t>
            </a:r>
            <a:endParaRPr lang="en-US" altLang="en-US" sz="1800" dirty="0"/>
          </a:p>
          <a:p>
            <a:pPr marL="1146175" lvl="2" indent="-231775"/>
            <a:r>
              <a:rPr lang="zh-CN" altLang="en-US" sz="1800" dirty="0"/>
              <a:t>每一个点视为一个类</a:t>
            </a:r>
            <a:endParaRPr lang="en-US" altLang="en-US" sz="1800" dirty="0"/>
          </a:p>
          <a:p>
            <a:pPr marL="1146175" lvl="2" indent="-231775"/>
            <a:r>
              <a:rPr lang="zh-CN" altLang="en-US" sz="1800" dirty="0"/>
              <a:t>每一步合并两个距离最近的类，知道所有的点都属于一个类</a:t>
            </a:r>
            <a:endParaRPr lang="en-US" altLang="en-US" sz="1800" dirty="0"/>
          </a:p>
          <a:p>
            <a:pPr lvl="4"/>
            <a:endParaRPr lang="en-US" altLang="en-US" sz="1800" dirty="0"/>
          </a:p>
          <a:p>
            <a:pPr lvl="1"/>
            <a:r>
              <a:rPr lang="zh-CN" altLang="en-US" sz="2000" dirty="0"/>
              <a:t>分裂式</a:t>
            </a:r>
            <a:endParaRPr lang="en-US" altLang="en-US" sz="2000" dirty="0"/>
          </a:p>
          <a:p>
            <a:pPr marL="1146175" lvl="2" indent="-231775"/>
            <a:r>
              <a:rPr lang="zh-CN" altLang="en-US" sz="1800" dirty="0"/>
              <a:t>与聚合式相反，自上而下</a:t>
            </a:r>
            <a:endParaRPr lang="en-US" altLang="en-US" sz="1800" dirty="0"/>
          </a:p>
          <a:p>
            <a:pPr lvl="4"/>
            <a:endParaRPr lang="en-US" altLang="en-US" sz="1800" dirty="0"/>
          </a:p>
          <a:p>
            <a:r>
              <a:rPr lang="zh-CN" altLang="en-US" sz="2000" dirty="0"/>
              <a:t>以相似性</a:t>
            </a:r>
            <a:r>
              <a:rPr lang="en-US" altLang="zh-CN" sz="2000" dirty="0"/>
              <a:t>/</a:t>
            </a:r>
            <a:r>
              <a:rPr lang="zh-CN" altLang="en-US" sz="2000" dirty="0"/>
              <a:t>距离测度作为合并</a:t>
            </a:r>
            <a:r>
              <a:rPr lang="en-US" altLang="zh-CN" sz="2000" dirty="0"/>
              <a:t>/</a:t>
            </a:r>
            <a:r>
              <a:rPr lang="zh-CN" altLang="en-US" sz="2000" dirty="0"/>
              <a:t>分裂的标准。</a:t>
            </a:r>
            <a:endParaRPr lang="en-US" altLang="en-US" sz="2000" dirty="0"/>
          </a:p>
          <a:p>
            <a:pPr lvl="4"/>
            <a:endParaRPr lang="en-US" altLang="en-US" sz="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zh-CN" altLang="en-US" dirty="0"/>
              <a:t>聚合式聚类算法</a:t>
            </a:r>
            <a:endParaRPr lang="en-US" altLang="en-US" dirty="0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763" y="1143000"/>
            <a:ext cx="8001000" cy="5181600"/>
          </a:xfrm>
        </p:spPr>
        <p:txBody>
          <a:bodyPr/>
          <a:lstStyle/>
          <a:p>
            <a:pPr marL="533400" indent="-533400">
              <a:lnSpc>
                <a:spcPct val="90000"/>
              </a:lnSpc>
              <a:spcBef>
                <a:spcPct val="20000"/>
              </a:spcBef>
            </a:pPr>
            <a:r>
              <a:rPr lang="zh-CN" altLang="en-US" sz="2400" dirty="0"/>
              <a:t>最常用的层次聚类算法</a:t>
            </a:r>
            <a:endParaRPr lang="en-US" altLang="en-US" sz="2400" dirty="0"/>
          </a:p>
          <a:p>
            <a:pPr marL="1041400" lvl="1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2000" b="1" dirty="0"/>
              <a:t>Key Idea: </a:t>
            </a:r>
            <a:r>
              <a:rPr lang="zh-CN" altLang="en-US" sz="2000" b="1" dirty="0"/>
              <a:t>逐一合并最近的两个聚类</a:t>
            </a:r>
            <a:endParaRPr lang="en-US" altLang="en-US" sz="2000" b="1" dirty="0"/>
          </a:p>
          <a:p>
            <a:pPr marL="2209800" lvl="4" indent="-381000">
              <a:lnSpc>
                <a:spcPct val="90000"/>
              </a:lnSpc>
            </a:pPr>
            <a:endParaRPr lang="en-US" altLang="en-US" sz="800" dirty="0"/>
          </a:p>
          <a:p>
            <a:pPr marL="533400" indent="-533400">
              <a:lnSpc>
                <a:spcPct val="90000"/>
              </a:lnSpc>
              <a:spcBef>
                <a:spcPct val="20000"/>
              </a:spcBef>
            </a:pPr>
            <a:r>
              <a:rPr lang="zh-CN" altLang="en-US" sz="2400" dirty="0"/>
              <a:t>基本算法流程：</a:t>
            </a:r>
            <a:endParaRPr lang="en-US" altLang="en-US" sz="2400" dirty="0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  <a:buFont typeface="Arial" charset="0"/>
              <a:buAutoNum type="arabicPeriod"/>
            </a:pPr>
            <a:r>
              <a:rPr lang="zh-CN" altLang="en-US" sz="2000" dirty="0"/>
              <a:t>计算邻接矩阵：</a:t>
            </a:r>
            <a:r>
              <a:rPr lang="en-US" altLang="zh-CN" sz="2000" dirty="0"/>
              <a:t>N×N</a:t>
            </a:r>
            <a:r>
              <a:rPr lang="zh-CN" altLang="en-US" sz="2000" dirty="0"/>
              <a:t>，对角线为</a:t>
            </a:r>
            <a:r>
              <a:rPr lang="en-US" altLang="zh-CN" sz="2000" dirty="0"/>
              <a:t>0</a:t>
            </a:r>
            <a:r>
              <a:rPr lang="zh-CN" altLang="en-US" sz="2000" dirty="0"/>
              <a:t>，对称</a:t>
            </a:r>
            <a:endParaRPr lang="en-US" altLang="en-US" sz="2000" dirty="0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  <a:buFont typeface="Arial" charset="0"/>
              <a:buAutoNum type="arabicPeriod"/>
            </a:pPr>
            <a:r>
              <a:rPr lang="zh-CN" altLang="en-US" sz="2000" dirty="0"/>
              <a:t>每一个点视为一个聚类</a:t>
            </a:r>
            <a:endParaRPr lang="en-US" altLang="en-US" sz="2000" dirty="0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  <a:buFont typeface="Arial" charset="0"/>
              <a:buAutoNum type="arabicPeriod"/>
            </a:pPr>
            <a:r>
              <a:rPr lang="en-US" altLang="en-US" sz="2000" b="1" dirty="0"/>
              <a:t>Repeat</a:t>
            </a:r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 altLang="en-US" sz="2000" dirty="0"/>
              <a:t>	</a:t>
            </a:r>
            <a:r>
              <a:rPr lang="zh-CN" altLang="en-US" sz="2000" dirty="0"/>
              <a:t>合并两个最近的聚类</a:t>
            </a:r>
            <a:endParaRPr lang="en-US" altLang="en-US" sz="2000" dirty="0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 altLang="en-US" sz="2000" dirty="0"/>
              <a:t>	</a:t>
            </a:r>
            <a:r>
              <a:rPr lang="zh-CN" altLang="en-US" sz="2000" dirty="0"/>
              <a:t>更新邻接矩阵</a:t>
            </a:r>
            <a:endParaRPr lang="en-US" altLang="en-US" sz="2000" dirty="0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  <a:buFont typeface="Arial" charset="0"/>
              <a:buAutoNum type="arabicPeriod"/>
            </a:pPr>
            <a:r>
              <a:rPr lang="en-US" altLang="en-US" sz="2000" b="1" dirty="0"/>
              <a:t>Until</a:t>
            </a:r>
            <a:r>
              <a:rPr lang="en-US" altLang="en-US" sz="2000" dirty="0"/>
              <a:t> 1</a:t>
            </a:r>
            <a:r>
              <a:rPr lang="zh-CN" altLang="en-US" sz="2000" dirty="0"/>
              <a:t> </a:t>
            </a:r>
            <a:r>
              <a:rPr lang="en-US" altLang="zh-CN" sz="2000" dirty="0"/>
              <a:t>cluster</a:t>
            </a:r>
            <a:endParaRPr lang="en-US" altLang="en-US" sz="2000" dirty="0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  <a:buFont typeface="Arial" charset="0"/>
              <a:buNone/>
            </a:pPr>
            <a:r>
              <a:rPr lang="en-US" altLang="en-US" sz="1000" dirty="0"/>
              <a:t> </a:t>
            </a:r>
          </a:p>
          <a:p>
            <a:pPr marL="533400" indent="-533400">
              <a:lnSpc>
                <a:spcPct val="90000"/>
              </a:lnSpc>
              <a:spcBef>
                <a:spcPct val="20000"/>
              </a:spcBef>
            </a:pPr>
            <a:r>
              <a:rPr lang="zh-CN" altLang="en-US" sz="2400" dirty="0"/>
              <a:t>关键运算是计算两个聚类的邻接</a:t>
            </a:r>
            <a:r>
              <a:rPr lang="en-US" altLang="zh-CN" sz="2400" dirty="0"/>
              <a:t>or</a:t>
            </a:r>
            <a:r>
              <a:rPr lang="zh-CN" altLang="en-US" sz="2400" dirty="0"/>
              <a:t>距离</a:t>
            </a:r>
            <a:endParaRPr lang="en-US" altLang="en-US" sz="2400" dirty="0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r>
              <a:rPr lang="zh-CN" altLang="en-US" sz="2000" dirty="0"/>
              <a:t>不同的距离定义方式会产生不同的聚类结果</a:t>
            </a:r>
            <a:endParaRPr lang="en-US" altLang="en-US" sz="2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开始情形</a:t>
            </a:r>
            <a:endParaRPr lang="en-US" altLang="en-US" dirty="0"/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每一个点视为一个聚类，构建</a:t>
            </a:r>
            <a:r>
              <a:rPr lang="en-US" altLang="zh-CN" dirty="0"/>
              <a:t>N×N</a:t>
            </a:r>
            <a:r>
              <a:rPr lang="zh-CN" altLang="en-US" dirty="0"/>
              <a:t>邻接矩阵</a:t>
            </a:r>
            <a:endParaRPr lang="en-US" altLang="en-US" dirty="0"/>
          </a:p>
          <a:p>
            <a:pPr lvl="1"/>
            <a:endParaRPr lang="en-US" altLang="en-US" dirty="0"/>
          </a:p>
        </p:txBody>
      </p:sp>
      <p:sp>
        <p:nvSpPr>
          <p:cNvPr id="55300" name="Oval 4"/>
          <p:cNvSpPr>
            <a:spLocks noChangeArrowheads="1"/>
          </p:cNvSpPr>
          <p:nvPr/>
        </p:nvSpPr>
        <p:spPr bwMode="auto">
          <a:xfrm>
            <a:off x="685800" y="4403725"/>
            <a:ext cx="228600" cy="2286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55301" name="Oval 5"/>
          <p:cNvSpPr>
            <a:spLocks noChangeArrowheads="1"/>
          </p:cNvSpPr>
          <p:nvPr/>
        </p:nvSpPr>
        <p:spPr bwMode="auto">
          <a:xfrm>
            <a:off x="2743200" y="5470525"/>
            <a:ext cx="228600" cy="2286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55302" name="Oval 6"/>
          <p:cNvSpPr>
            <a:spLocks noChangeArrowheads="1"/>
          </p:cNvSpPr>
          <p:nvPr/>
        </p:nvSpPr>
        <p:spPr bwMode="auto">
          <a:xfrm>
            <a:off x="1600200" y="3565525"/>
            <a:ext cx="228600" cy="2286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55303" name="Oval 7"/>
          <p:cNvSpPr>
            <a:spLocks noChangeArrowheads="1"/>
          </p:cNvSpPr>
          <p:nvPr/>
        </p:nvSpPr>
        <p:spPr bwMode="auto">
          <a:xfrm>
            <a:off x="1447800" y="5318125"/>
            <a:ext cx="228600" cy="2286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55304" name="Oval 8"/>
          <p:cNvSpPr>
            <a:spLocks noChangeArrowheads="1"/>
          </p:cNvSpPr>
          <p:nvPr/>
        </p:nvSpPr>
        <p:spPr bwMode="auto">
          <a:xfrm>
            <a:off x="3124200" y="3565525"/>
            <a:ext cx="228600" cy="2286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55305" name="Oval 9"/>
          <p:cNvSpPr>
            <a:spLocks noChangeArrowheads="1"/>
          </p:cNvSpPr>
          <p:nvPr/>
        </p:nvSpPr>
        <p:spPr bwMode="auto">
          <a:xfrm>
            <a:off x="1600200" y="2955925"/>
            <a:ext cx="228600" cy="2286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55306" name="Oval 10"/>
          <p:cNvSpPr>
            <a:spLocks noChangeArrowheads="1"/>
          </p:cNvSpPr>
          <p:nvPr/>
        </p:nvSpPr>
        <p:spPr bwMode="auto">
          <a:xfrm>
            <a:off x="457200" y="4708525"/>
            <a:ext cx="228600" cy="2286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55307" name="Oval 11"/>
          <p:cNvSpPr>
            <a:spLocks noChangeArrowheads="1"/>
          </p:cNvSpPr>
          <p:nvPr/>
        </p:nvSpPr>
        <p:spPr bwMode="auto">
          <a:xfrm>
            <a:off x="1828800" y="5318125"/>
            <a:ext cx="228600" cy="2286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55308" name="Oval 12"/>
          <p:cNvSpPr>
            <a:spLocks noChangeArrowheads="1"/>
          </p:cNvSpPr>
          <p:nvPr/>
        </p:nvSpPr>
        <p:spPr bwMode="auto">
          <a:xfrm>
            <a:off x="3124200" y="5089525"/>
            <a:ext cx="228600" cy="2286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55309" name="Oval 13"/>
          <p:cNvSpPr>
            <a:spLocks noChangeArrowheads="1"/>
          </p:cNvSpPr>
          <p:nvPr/>
        </p:nvSpPr>
        <p:spPr bwMode="auto">
          <a:xfrm>
            <a:off x="2133600" y="3032125"/>
            <a:ext cx="228600" cy="2286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55310" name="Oval 14"/>
          <p:cNvSpPr>
            <a:spLocks noChangeArrowheads="1"/>
          </p:cNvSpPr>
          <p:nvPr/>
        </p:nvSpPr>
        <p:spPr bwMode="auto">
          <a:xfrm>
            <a:off x="3200400" y="4098925"/>
            <a:ext cx="228600" cy="2286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55311" name="Oval 15"/>
          <p:cNvSpPr>
            <a:spLocks noChangeArrowheads="1"/>
          </p:cNvSpPr>
          <p:nvPr/>
        </p:nvSpPr>
        <p:spPr bwMode="auto">
          <a:xfrm>
            <a:off x="3733800" y="3184525"/>
            <a:ext cx="228600" cy="2286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grpSp>
        <p:nvGrpSpPr>
          <p:cNvPr id="55312" name="Group 16"/>
          <p:cNvGrpSpPr>
            <a:grpSpLocks/>
          </p:cNvGrpSpPr>
          <p:nvPr/>
        </p:nvGrpSpPr>
        <p:grpSpPr bwMode="auto">
          <a:xfrm>
            <a:off x="5257800" y="1903413"/>
            <a:ext cx="3200400" cy="2789237"/>
            <a:chOff x="3456" y="1622"/>
            <a:chExt cx="2160" cy="2058"/>
          </a:xfrm>
        </p:grpSpPr>
        <p:sp>
          <p:nvSpPr>
            <p:cNvPr id="55315" name="Line 17"/>
            <p:cNvSpPr>
              <a:spLocks noChangeShapeType="1"/>
            </p:cNvSpPr>
            <p:nvPr/>
          </p:nvSpPr>
          <p:spPr bwMode="auto">
            <a:xfrm>
              <a:off x="3696" y="1622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16" name="Line 18"/>
            <p:cNvSpPr>
              <a:spLocks noChangeShapeType="1"/>
            </p:cNvSpPr>
            <p:nvPr/>
          </p:nvSpPr>
          <p:spPr bwMode="auto">
            <a:xfrm>
              <a:off x="3504" y="1814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17" name="Line 19"/>
            <p:cNvSpPr>
              <a:spLocks noChangeShapeType="1"/>
            </p:cNvSpPr>
            <p:nvPr/>
          </p:nvSpPr>
          <p:spPr bwMode="auto">
            <a:xfrm>
              <a:off x="4012" y="1622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18" name="Line 20"/>
            <p:cNvSpPr>
              <a:spLocks noChangeShapeType="1"/>
            </p:cNvSpPr>
            <p:nvPr/>
          </p:nvSpPr>
          <p:spPr bwMode="auto">
            <a:xfrm>
              <a:off x="4329" y="1622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19" name="Line 21"/>
            <p:cNvSpPr>
              <a:spLocks noChangeShapeType="1"/>
            </p:cNvSpPr>
            <p:nvPr/>
          </p:nvSpPr>
          <p:spPr bwMode="auto">
            <a:xfrm>
              <a:off x="4646" y="1622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20" name="Line 22"/>
            <p:cNvSpPr>
              <a:spLocks noChangeShapeType="1"/>
            </p:cNvSpPr>
            <p:nvPr/>
          </p:nvSpPr>
          <p:spPr bwMode="auto">
            <a:xfrm>
              <a:off x="4963" y="1622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21" name="Line 23"/>
            <p:cNvSpPr>
              <a:spLocks noChangeShapeType="1"/>
            </p:cNvSpPr>
            <p:nvPr/>
          </p:nvSpPr>
          <p:spPr bwMode="auto">
            <a:xfrm>
              <a:off x="5280" y="1622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22" name="Line 24"/>
            <p:cNvSpPr>
              <a:spLocks noChangeShapeType="1"/>
            </p:cNvSpPr>
            <p:nvPr/>
          </p:nvSpPr>
          <p:spPr bwMode="auto">
            <a:xfrm>
              <a:off x="3504" y="2073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23" name="Line 25"/>
            <p:cNvSpPr>
              <a:spLocks noChangeShapeType="1"/>
            </p:cNvSpPr>
            <p:nvPr/>
          </p:nvSpPr>
          <p:spPr bwMode="auto">
            <a:xfrm>
              <a:off x="3504" y="2332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24" name="Line 26"/>
            <p:cNvSpPr>
              <a:spLocks noChangeShapeType="1"/>
            </p:cNvSpPr>
            <p:nvPr/>
          </p:nvSpPr>
          <p:spPr bwMode="auto">
            <a:xfrm>
              <a:off x="3504" y="2591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25" name="Line 27"/>
            <p:cNvSpPr>
              <a:spLocks noChangeShapeType="1"/>
            </p:cNvSpPr>
            <p:nvPr/>
          </p:nvSpPr>
          <p:spPr bwMode="auto">
            <a:xfrm>
              <a:off x="3504" y="2850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26" name="Line 28"/>
            <p:cNvSpPr>
              <a:spLocks noChangeShapeType="1"/>
            </p:cNvSpPr>
            <p:nvPr/>
          </p:nvSpPr>
          <p:spPr bwMode="auto">
            <a:xfrm>
              <a:off x="3504" y="3110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27" name="Text Box 29"/>
            <p:cNvSpPr txBox="1">
              <a:spLocks noChangeArrowheads="1"/>
            </p:cNvSpPr>
            <p:nvPr/>
          </p:nvSpPr>
          <p:spPr bwMode="auto">
            <a:xfrm>
              <a:off x="3456" y="1862"/>
              <a:ext cx="336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p1</a:t>
              </a:r>
            </a:p>
          </p:txBody>
        </p:sp>
        <p:sp>
          <p:nvSpPr>
            <p:cNvPr id="55328" name="Text Box 30"/>
            <p:cNvSpPr txBox="1">
              <a:spLocks noChangeArrowheads="1"/>
            </p:cNvSpPr>
            <p:nvPr/>
          </p:nvSpPr>
          <p:spPr bwMode="auto">
            <a:xfrm>
              <a:off x="3456" y="2390"/>
              <a:ext cx="336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p3</a:t>
              </a:r>
            </a:p>
          </p:txBody>
        </p:sp>
        <p:sp>
          <p:nvSpPr>
            <p:cNvPr id="55329" name="Text Box 31"/>
            <p:cNvSpPr txBox="1">
              <a:spLocks noChangeArrowheads="1"/>
            </p:cNvSpPr>
            <p:nvPr/>
          </p:nvSpPr>
          <p:spPr bwMode="auto">
            <a:xfrm>
              <a:off x="3456" y="2917"/>
              <a:ext cx="336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p5</a:t>
              </a:r>
            </a:p>
          </p:txBody>
        </p:sp>
        <p:sp>
          <p:nvSpPr>
            <p:cNvPr id="55330" name="Text Box 32"/>
            <p:cNvSpPr txBox="1">
              <a:spLocks noChangeArrowheads="1"/>
            </p:cNvSpPr>
            <p:nvPr/>
          </p:nvSpPr>
          <p:spPr bwMode="auto">
            <a:xfrm>
              <a:off x="3456" y="2679"/>
              <a:ext cx="336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p4</a:t>
              </a:r>
            </a:p>
          </p:txBody>
        </p:sp>
        <p:sp>
          <p:nvSpPr>
            <p:cNvPr id="55331" name="Text Box 33"/>
            <p:cNvSpPr txBox="1">
              <a:spLocks noChangeArrowheads="1"/>
            </p:cNvSpPr>
            <p:nvPr/>
          </p:nvSpPr>
          <p:spPr bwMode="auto">
            <a:xfrm>
              <a:off x="3456" y="2150"/>
              <a:ext cx="336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p2</a:t>
              </a:r>
            </a:p>
          </p:txBody>
        </p:sp>
        <p:sp>
          <p:nvSpPr>
            <p:cNvPr id="55332" name="Text Box 34"/>
            <p:cNvSpPr txBox="1">
              <a:spLocks noChangeArrowheads="1"/>
            </p:cNvSpPr>
            <p:nvPr/>
          </p:nvSpPr>
          <p:spPr bwMode="auto">
            <a:xfrm>
              <a:off x="3744" y="1622"/>
              <a:ext cx="337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p1</a:t>
              </a:r>
            </a:p>
          </p:txBody>
        </p:sp>
        <p:sp>
          <p:nvSpPr>
            <p:cNvPr id="55333" name="Text Box 35"/>
            <p:cNvSpPr txBox="1">
              <a:spLocks noChangeArrowheads="1"/>
            </p:cNvSpPr>
            <p:nvPr/>
          </p:nvSpPr>
          <p:spPr bwMode="auto">
            <a:xfrm>
              <a:off x="4032" y="1622"/>
              <a:ext cx="336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p2</a:t>
              </a:r>
            </a:p>
          </p:txBody>
        </p:sp>
        <p:sp>
          <p:nvSpPr>
            <p:cNvPr id="55334" name="Text Box 36"/>
            <p:cNvSpPr txBox="1">
              <a:spLocks noChangeArrowheads="1"/>
            </p:cNvSpPr>
            <p:nvPr/>
          </p:nvSpPr>
          <p:spPr bwMode="auto">
            <a:xfrm>
              <a:off x="4368" y="1622"/>
              <a:ext cx="336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p3</a:t>
              </a:r>
            </a:p>
          </p:txBody>
        </p:sp>
        <p:sp>
          <p:nvSpPr>
            <p:cNvPr id="55335" name="Text Box 37"/>
            <p:cNvSpPr txBox="1">
              <a:spLocks noChangeArrowheads="1"/>
            </p:cNvSpPr>
            <p:nvPr/>
          </p:nvSpPr>
          <p:spPr bwMode="auto">
            <a:xfrm>
              <a:off x="4704" y="1622"/>
              <a:ext cx="336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p4</a:t>
              </a:r>
            </a:p>
          </p:txBody>
        </p:sp>
        <p:sp>
          <p:nvSpPr>
            <p:cNvPr id="55336" name="Text Box 38"/>
            <p:cNvSpPr txBox="1">
              <a:spLocks noChangeArrowheads="1"/>
            </p:cNvSpPr>
            <p:nvPr/>
          </p:nvSpPr>
          <p:spPr bwMode="auto">
            <a:xfrm>
              <a:off x="4944" y="1622"/>
              <a:ext cx="336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p5</a:t>
              </a:r>
            </a:p>
          </p:txBody>
        </p:sp>
        <p:sp>
          <p:nvSpPr>
            <p:cNvPr id="55337" name="Text Box 39"/>
            <p:cNvSpPr txBox="1">
              <a:spLocks noChangeArrowheads="1"/>
            </p:cNvSpPr>
            <p:nvPr/>
          </p:nvSpPr>
          <p:spPr bwMode="auto">
            <a:xfrm>
              <a:off x="5280" y="1622"/>
              <a:ext cx="336" cy="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600"/>
                <a:t>. . .</a:t>
              </a:r>
            </a:p>
          </p:txBody>
        </p:sp>
        <p:sp>
          <p:nvSpPr>
            <p:cNvPr id="55338" name="Text Box 40"/>
            <p:cNvSpPr txBox="1">
              <a:spLocks noChangeArrowheads="1"/>
            </p:cNvSpPr>
            <p:nvPr/>
          </p:nvSpPr>
          <p:spPr bwMode="auto">
            <a:xfrm>
              <a:off x="3504" y="3072"/>
              <a:ext cx="192" cy="6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200"/>
                <a:t>.</a:t>
              </a:r>
            </a:p>
            <a:p>
              <a:pPr>
                <a:spcBef>
                  <a:spcPct val="50000"/>
                </a:spcBef>
              </a:pPr>
              <a:r>
                <a:rPr lang="en-US" altLang="en-US" sz="1200"/>
                <a:t>.</a:t>
              </a:r>
            </a:p>
            <a:p>
              <a:pPr>
                <a:spcBef>
                  <a:spcPct val="50000"/>
                </a:spcBef>
              </a:pPr>
              <a:r>
                <a:rPr lang="en-US" altLang="en-US" sz="1200"/>
                <a:t>.</a:t>
              </a:r>
            </a:p>
          </p:txBody>
        </p:sp>
      </p:grpSp>
      <p:sp>
        <p:nvSpPr>
          <p:cNvPr id="55313" name="Text Box 41"/>
          <p:cNvSpPr txBox="1">
            <a:spLocks noChangeArrowheads="1"/>
          </p:cNvSpPr>
          <p:nvPr/>
        </p:nvSpPr>
        <p:spPr bwMode="auto">
          <a:xfrm>
            <a:off x="5791200" y="4343400"/>
            <a:ext cx="2514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/>
              <a:t>Proximity Matrix</a:t>
            </a:r>
          </a:p>
        </p:txBody>
      </p:sp>
      <p:graphicFrame>
        <p:nvGraphicFramePr>
          <p:cNvPr id="55314" name="Object 42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4572000" y="5610225"/>
          <a:ext cx="4056063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498" name="Visio" r:id="rId3" imgW="7949438" imgH="1399827" progId="Visio.Drawing.6">
                  <p:embed/>
                </p:oleObj>
              </mc:Choice>
              <mc:Fallback>
                <p:oleObj name="Visio" r:id="rId3" imgW="7949438" imgH="1399827" progId="Visio.Drawing.6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5610225"/>
                        <a:ext cx="4056063" cy="714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中间情形</a:t>
            </a:r>
            <a:endParaRPr lang="en-US" altLang="en-US" dirty="0"/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342900" indent="-342900"/>
            <a:r>
              <a:rPr lang="zh-CN" altLang="en-US" sz="2200" dirty="0"/>
              <a:t>进行若干次合并之后，得到了一些聚类</a:t>
            </a:r>
            <a:r>
              <a:rPr lang="en-US" altLang="en-US" sz="2200" dirty="0"/>
              <a:t> </a:t>
            </a:r>
          </a:p>
          <a:p>
            <a:pPr marL="742950" lvl="1" indent="-285750"/>
            <a:endParaRPr lang="en-US" altLang="en-US" sz="2000" dirty="0"/>
          </a:p>
        </p:txBody>
      </p:sp>
      <p:sp>
        <p:nvSpPr>
          <p:cNvPr id="56324" name="Freeform 4"/>
          <p:cNvSpPr>
            <a:spLocks/>
          </p:cNvSpPr>
          <p:nvPr/>
        </p:nvSpPr>
        <p:spPr bwMode="auto">
          <a:xfrm>
            <a:off x="609600" y="3886200"/>
            <a:ext cx="546100" cy="773113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6325" name="Freeform 5"/>
          <p:cNvSpPr>
            <a:spLocks/>
          </p:cNvSpPr>
          <p:nvPr/>
        </p:nvSpPr>
        <p:spPr bwMode="auto">
          <a:xfrm rot="-5400000">
            <a:off x="1600200" y="2667000"/>
            <a:ext cx="762000" cy="914400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6326" name="Freeform 6"/>
          <p:cNvSpPr>
            <a:spLocks/>
          </p:cNvSpPr>
          <p:nvPr/>
        </p:nvSpPr>
        <p:spPr bwMode="auto">
          <a:xfrm rot="10800000">
            <a:off x="3352800" y="3048000"/>
            <a:ext cx="685800" cy="762000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6327" name="Freeform 7"/>
          <p:cNvSpPr>
            <a:spLocks/>
          </p:cNvSpPr>
          <p:nvPr/>
        </p:nvSpPr>
        <p:spPr bwMode="auto">
          <a:xfrm>
            <a:off x="1295400" y="4953000"/>
            <a:ext cx="774700" cy="773113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6328" name="Freeform 8"/>
          <p:cNvSpPr>
            <a:spLocks/>
          </p:cNvSpPr>
          <p:nvPr/>
        </p:nvSpPr>
        <p:spPr bwMode="auto">
          <a:xfrm rot="10800000">
            <a:off x="2590800" y="4876800"/>
            <a:ext cx="685800" cy="762000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6329" name="Text Box 9"/>
          <p:cNvSpPr txBox="1">
            <a:spLocks noChangeArrowheads="1"/>
          </p:cNvSpPr>
          <p:nvPr/>
        </p:nvSpPr>
        <p:spPr bwMode="auto">
          <a:xfrm>
            <a:off x="685800" y="4191000"/>
            <a:ext cx="45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C1</a:t>
            </a:r>
          </a:p>
        </p:txBody>
      </p:sp>
      <p:sp>
        <p:nvSpPr>
          <p:cNvPr id="56330" name="Text Box 10"/>
          <p:cNvSpPr txBox="1">
            <a:spLocks noChangeArrowheads="1"/>
          </p:cNvSpPr>
          <p:nvPr/>
        </p:nvSpPr>
        <p:spPr bwMode="auto">
          <a:xfrm>
            <a:off x="3429000" y="3352800"/>
            <a:ext cx="45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C4</a:t>
            </a:r>
          </a:p>
        </p:txBody>
      </p:sp>
      <p:sp>
        <p:nvSpPr>
          <p:cNvPr id="56331" name="Text Box 11"/>
          <p:cNvSpPr txBox="1">
            <a:spLocks noChangeArrowheads="1"/>
          </p:cNvSpPr>
          <p:nvPr/>
        </p:nvSpPr>
        <p:spPr bwMode="auto">
          <a:xfrm>
            <a:off x="1524000" y="5181600"/>
            <a:ext cx="45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C2</a:t>
            </a:r>
          </a:p>
        </p:txBody>
      </p:sp>
      <p:sp>
        <p:nvSpPr>
          <p:cNvPr id="56332" name="Text Box 12"/>
          <p:cNvSpPr txBox="1">
            <a:spLocks noChangeArrowheads="1"/>
          </p:cNvSpPr>
          <p:nvPr/>
        </p:nvSpPr>
        <p:spPr bwMode="auto">
          <a:xfrm>
            <a:off x="2743200" y="5105400"/>
            <a:ext cx="45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C5</a:t>
            </a:r>
          </a:p>
        </p:txBody>
      </p:sp>
      <p:sp>
        <p:nvSpPr>
          <p:cNvPr id="56333" name="Text Box 13"/>
          <p:cNvSpPr txBox="1">
            <a:spLocks noChangeArrowheads="1"/>
          </p:cNvSpPr>
          <p:nvPr/>
        </p:nvSpPr>
        <p:spPr bwMode="auto">
          <a:xfrm>
            <a:off x="1752600" y="2971800"/>
            <a:ext cx="45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C3</a:t>
            </a:r>
          </a:p>
        </p:txBody>
      </p:sp>
      <p:grpSp>
        <p:nvGrpSpPr>
          <p:cNvPr id="56334" name="Group 14"/>
          <p:cNvGrpSpPr>
            <a:grpSpLocks/>
          </p:cNvGrpSpPr>
          <p:nvPr/>
        </p:nvGrpSpPr>
        <p:grpSpPr bwMode="auto">
          <a:xfrm>
            <a:off x="5486400" y="1660525"/>
            <a:ext cx="2895600" cy="2212975"/>
            <a:chOff x="3456" y="1440"/>
            <a:chExt cx="1872" cy="1503"/>
          </a:xfrm>
        </p:grpSpPr>
        <p:sp>
          <p:nvSpPr>
            <p:cNvPr id="56337" name="Text Box 15"/>
            <p:cNvSpPr txBox="1">
              <a:spLocks noChangeArrowheads="1"/>
            </p:cNvSpPr>
            <p:nvPr/>
          </p:nvSpPr>
          <p:spPr bwMode="auto">
            <a:xfrm>
              <a:off x="4032" y="1440"/>
              <a:ext cx="336" cy="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C2</a:t>
              </a:r>
            </a:p>
          </p:txBody>
        </p:sp>
        <p:sp>
          <p:nvSpPr>
            <p:cNvPr id="56338" name="Text Box 16"/>
            <p:cNvSpPr txBox="1">
              <a:spLocks noChangeArrowheads="1"/>
            </p:cNvSpPr>
            <p:nvPr/>
          </p:nvSpPr>
          <p:spPr bwMode="auto">
            <a:xfrm>
              <a:off x="3744" y="1440"/>
              <a:ext cx="336" cy="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C1</a:t>
              </a:r>
            </a:p>
          </p:txBody>
        </p:sp>
        <p:sp>
          <p:nvSpPr>
            <p:cNvPr id="56339" name="Line 17"/>
            <p:cNvSpPr>
              <a:spLocks noChangeShapeType="1"/>
            </p:cNvSpPr>
            <p:nvPr/>
          </p:nvSpPr>
          <p:spPr bwMode="auto">
            <a:xfrm>
              <a:off x="3696" y="1440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340" name="Line 18"/>
            <p:cNvSpPr>
              <a:spLocks noChangeShapeType="1"/>
            </p:cNvSpPr>
            <p:nvPr/>
          </p:nvSpPr>
          <p:spPr bwMode="auto">
            <a:xfrm>
              <a:off x="3504" y="1632"/>
              <a:ext cx="17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341" name="Line 19"/>
            <p:cNvSpPr>
              <a:spLocks noChangeShapeType="1"/>
            </p:cNvSpPr>
            <p:nvPr/>
          </p:nvSpPr>
          <p:spPr bwMode="auto">
            <a:xfrm>
              <a:off x="5280" y="1440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342" name="Line 20"/>
            <p:cNvSpPr>
              <a:spLocks noChangeShapeType="1"/>
            </p:cNvSpPr>
            <p:nvPr/>
          </p:nvSpPr>
          <p:spPr bwMode="auto">
            <a:xfrm>
              <a:off x="3504" y="2928"/>
              <a:ext cx="17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343" name="Text Box 21"/>
            <p:cNvSpPr txBox="1">
              <a:spLocks noChangeArrowheads="1"/>
            </p:cNvSpPr>
            <p:nvPr/>
          </p:nvSpPr>
          <p:spPr bwMode="auto">
            <a:xfrm>
              <a:off x="3456" y="1680"/>
              <a:ext cx="336" cy="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C1</a:t>
              </a:r>
            </a:p>
          </p:txBody>
        </p:sp>
        <p:sp>
          <p:nvSpPr>
            <p:cNvPr id="56344" name="Text Box 22"/>
            <p:cNvSpPr txBox="1">
              <a:spLocks noChangeArrowheads="1"/>
            </p:cNvSpPr>
            <p:nvPr/>
          </p:nvSpPr>
          <p:spPr bwMode="auto">
            <a:xfrm>
              <a:off x="3456" y="2207"/>
              <a:ext cx="336" cy="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C3</a:t>
              </a:r>
            </a:p>
          </p:txBody>
        </p:sp>
        <p:sp>
          <p:nvSpPr>
            <p:cNvPr id="56345" name="Text Box 23"/>
            <p:cNvSpPr txBox="1">
              <a:spLocks noChangeArrowheads="1"/>
            </p:cNvSpPr>
            <p:nvPr/>
          </p:nvSpPr>
          <p:spPr bwMode="auto">
            <a:xfrm>
              <a:off x="3456" y="2736"/>
              <a:ext cx="336" cy="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C5</a:t>
              </a:r>
            </a:p>
          </p:txBody>
        </p:sp>
        <p:sp>
          <p:nvSpPr>
            <p:cNvPr id="56346" name="Text Box 24"/>
            <p:cNvSpPr txBox="1">
              <a:spLocks noChangeArrowheads="1"/>
            </p:cNvSpPr>
            <p:nvPr/>
          </p:nvSpPr>
          <p:spPr bwMode="auto">
            <a:xfrm>
              <a:off x="3456" y="2496"/>
              <a:ext cx="336" cy="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C4</a:t>
              </a:r>
            </a:p>
          </p:txBody>
        </p:sp>
        <p:sp>
          <p:nvSpPr>
            <p:cNvPr id="56347" name="Text Box 25"/>
            <p:cNvSpPr txBox="1">
              <a:spLocks noChangeArrowheads="1"/>
            </p:cNvSpPr>
            <p:nvPr/>
          </p:nvSpPr>
          <p:spPr bwMode="auto">
            <a:xfrm>
              <a:off x="3456" y="1968"/>
              <a:ext cx="336" cy="2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C2</a:t>
              </a:r>
            </a:p>
          </p:txBody>
        </p:sp>
        <p:sp>
          <p:nvSpPr>
            <p:cNvPr id="56348" name="Text Box 26"/>
            <p:cNvSpPr txBox="1">
              <a:spLocks noChangeArrowheads="1"/>
            </p:cNvSpPr>
            <p:nvPr/>
          </p:nvSpPr>
          <p:spPr bwMode="auto">
            <a:xfrm>
              <a:off x="4368" y="1440"/>
              <a:ext cx="336" cy="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C3</a:t>
              </a:r>
            </a:p>
          </p:txBody>
        </p:sp>
        <p:sp>
          <p:nvSpPr>
            <p:cNvPr id="56349" name="Text Box 27"/>
            <p:cNvSpPr txBox="1">
              <a:spLocks noChangeArrowheads="1"/>
            </p:cNvSpPr>
            <p:nvPr/>
          </p:nvSpPr>
          <p:spPr bwMode="auto">
            <a:xfrm>
              <a:off x="4704" y="1440"/>
              <a:ext cx="336" cy="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C4</a:t>
              </a:r>
            </a:p>
          </p:txBody>
        </p:sp>
        <p:sp>
          <p:nvSpPr>
            <p:cNvPr id="56350" name="Text Box 28"/>
            <p:cNvSpPr txBox="1">
              <a:spLocks noChangeArrowheads="1"/>
            </p:cNvSpPr>
            <p:nvPr/>
          </p:nvSpPr>
          <p:spPr bwMode="auto">
            <a:xfrm>
              <a:off x="4992" y="1440"/>
              <a:ext cx="336" cy="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C5</a:t>
              </a:r>
            </a:p>
          </p:txBody>
        </p:sp>
        <p:sp>
          <p:nvSpPr>
            <p:cNvPr id="56351" name="Line 29"/>
            <p:cNvSpPr>
              <a:spLocks noChangeShapeType="1"/>
            </p:cNvSpPr>
            <p:nvPr/>
          </p:nvSpPr>
          <p:spPr bwMode="auto">
            <a:xfrm>
              <a:off x="3504" y="1872"/>
              <a:ext cx="17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352" name="Line 30"/>
            <p:cNvSpPr>
              <a:spLocks noChangeShapeType="1"/>
            </p:cNvSpPr>
            <p:nvPr/>
          </p:nvSpPr>
          <p:spPr bwMode="auto">
            <a:xfrm>
              <a:off x="3504" y="2400"/>
              <a:ext cx="17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353" name="Line 31"/>
            <p:cNvSpPr>
              <a:spLocks noChangeShapeType="1"/>
            </p:cNvSpPr>
            <p:nvPr/>
          </p:nvSpPr>
          <p:spPr bwMode="auto">
            <a:xfrm>
              <a:off x="3504" y="2160"/>
              <a:ext cx="17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354" name="Line 32"/>
            <p:cNvSpPr>
              <a:spLocks noChangeShapeType="1"/>
            </p:cNvSpPr>
            <p:nvPr/>
          </p:nvSpPr>
          <p:spPr bwMode="auto">
            <a:xfrm>
              <a:off x="3504" y="2640"/>
              <a:ext cx="17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355" name="Line 33"/>
            <p:cNvSpPr>
              <a:spLocks noChangeShapeType="1"/>
            </p:cNvSpPr>
            <p:nvPr/>
          </p:nvSpPr>
          <p:spPr bwMode="auto">
            <a:xfrm>
              <a:off x="4032" y="1440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356" name="Line 34"/>
            <p:cNvSpPr>
              <a:spLocks noChangeShapeType="1"/>
            </p:cNvSpPr>
            <p:nvPr/>
          </p:nvSpPr>
          <p:spPr bwMode="auto">
            <a:xfrm>
              <a:off x="4320" y="1440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357" name="Line 35"/>
            <p:cNvSpPr>
              <a:spLocks noChangeShapeType="1"/>
            </p:cNvSpPr>
            <p:nvPr/>
          </p:nvSpPr>
          <p:spPr bwMode="auto">
            <a:xfrm>
              <a:off x="4656" y="1440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358" name="Line 36"/>
            <p:cNvSpPr>
              <a:spLocks noChangeShapeType="1"/>
            </p:cNvSpPr>
            <p:nvPr/>
          </p:nvSpPr>
          <p:spPr bwMode="auto">
            <a:xfrm>
              <a:off x="4992" y="1440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6335" name="Text Box 37"/>
          <p:cNvSpPr txBox="1">
            <a:spLocks noChangeArrowheads="1"/>
          </p:cNvSpPr>
          <p:nvPr/>
        </p:nvSpPr>
        <p:spPr bwMode="auto">
          <a:xfrm>
            <a:off x="5791200" y="3870325"/>
            <a:ext cx="2514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/>
              <a:t>Proximity Matrix</a:t>
            </a:r>
          </a:p>
        </p:txBody>
      </p:sp>
      <p:graphicFrame>
        <p:nvGraphicFramePr>
          <p:cNvPr id="56336" name="Object 38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4648200" y="4713288"/>
          <a:ext cx="4083050" cy="161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518" name="Visio" r:id="rId3" imgW="7591349" imgH="2996548" progId="Visio.Drawing.6">
                  <p:embed/>
                </p:oleObj>
              </mc:Choice>
              <mc:Fallback>
                <p:oleObj name="Visio" r:id="rId3" imgW="7591349" imgH="2996548" progId="Visio.Drawing.6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4713288"/>
                        <a:ext cx="4083050" cy="1611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中间情形</a:t>
            </a:r>
            <a:endParaRPr lang="en-US" altLang="en-US" dirty="0"/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342900" indent="-342900"/>
            <a:r>
              <a:rPr lang="zh-CN" altLang="en-US" sz="2200" dirty="0"/>
              <a:t>如果下一步是合并</a:t>
            </a:r>
            <a:r>
              <a:rPr lang="en-US" altLang="zh-CN" sz="2200" dirty="0"/>
              <a:t>C2</a:t>
            </a:r>
            <a:r>
              <a:rPr lang="zh-CN" altLang="en-US" sz="2200" dirty="0"/>
              <a:t>和</a:t>
            </a:r>
            <a:r>
              <a:rPr lang="en-US" altLang="zh-CN" sz="2200" dirty="0"/>
              <a:t>C5</a:t>
            </a:r>
            <a:r>
              <a:rPr lang="zh-CN" altLang="en-US" sz="2200" dirty="0"/>
              <a:t>，合并之后要更新邻接矩阵</a:t>
            </a:r>
            <a:r>
              <a:rPr lang="en-US" altLang="en-US" sz="2200" dirty="0"/>
              <a:t> </a:t>
            </a:r>
          </a:p>
          <a:p>
            <a:pPr marL="742950" lvl="1" indent="-285750"/>
            <a:endParaRPr lang="en-US" altLang="en-US" sz="2000" dirty="0"/>
          </a:p>
        </p:txBody>
      </p:sp>
      <p:sp>
        <p:nvSpPr>
          <p:cNvPr id="57348" name="Freeform 4"/>
          <p:cNvSpPr>
            <a:spLocks/>
          </p:cNvSpPr>
          <p:nvPr/>
        </p:nvSpPr>
        <p:spPr bwMode="auto">
          <a:xfrm>
            <a:off x="609600" y="3886200"/>
            <a:ext cx="546100" cy="773113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7349" name="Freeform 5"/>
          <p:cNvSpPr>
            <a:spLocks/>
          </p:cNvSpPr>
          <p:nvPr/>
        </p:nvSpPr>
        <p:spPr bwMode="auto">
          <a:xfrm rot="-5400000">
            <a:off x="1600200" y="2667000"/>
            <a:ext cx="762000" cy="914400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7350" name="Freeform 6"/>
          <p:cNvSpPr>
            <a:spLocks/>
          </p:cNvSpPr>
          <p:nvPr/>
        </p:nvSpPr>
        <p:spPr bwMode="auto">
          <a:xfrm rot="10800000">
            <a:off x="3352800" y="3048000"/>
            <a:ext cx="685800" cy="762000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7351" name="Freeform 7"/>
          <p:cNvSpPr>
            <a:spLocks/>
          </p:cNvSpPr>
          <p:nvPr/>
        </p:nvSpPr>
        <p:spPr bwMode="auto">
          <a:xfrm>
            <a:off x="1295400" y="4953000"/>
            <a:ext cx="774700" cy="773113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7352" name="Freeform 8"/>
          <p:cNvSpPr>
            <a:spLocks/>
          </p:cNvSpPr>
          <p:nvPr/>
        </p:nvSpPr>
        <p:spPr bwMode="auto">
          <a:xfrm rot="10800000">
            <a:off x="2590800" y="4876800"/>
            <a:ext cx="685800" cy="762000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7353" name="Text Box 9"/>
          <p:cNvSpPr txBox="1">
            <a:spLocks noChangeArrowheads="1"/>
          </p:cNvSpPr>
          <p:nvPr/>
        </p:nvSpPr>
        <p:spPr bwMode="auto">
          <a:xfrm>
            <a:off x="685800" y="4191000"/>
            <a:ext cx="45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C1</a:t>
            </a:r>
          </a:p>
        </p:txBody>
      </p:sp>
      <p:sp>
        <p:nvSpPr>
          <p:cNvPr id="57354" name="Text Box 10"/>
          <p:cNvSpPr txBox="1">
            <a:spLocks noChangeArrowheads="1"/>
          </p:cNvSpPr>
          <p:nvPr/>
        </p:nvSpPr>
        <p:spPr bwMode="auto">
          <a:xfrm>
            <a:off x="3429000" y="3352800"/>
            <a:ext cx="45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C4</a:t>
            </a:r>
          </a:p>
        </p:txBody>
      </p:sp>
      <p:sp>
        <p:nvSpPr>
          <p:cNvPr id="57355" name="Text Box 11"/>
          <p:cNvSpPr txBox="1">
            <a:spLocks noChangeArrowheads="1"/>
          </p:cNvSpPr>
          <p:nvPr/>
        </p:nvSpPr>
        <p:spPr bwMode="auto">
          <a:xfrm>
            <a:off x="1524000" y="5181600"/>
            <a:ext cx="45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C2</a:t>
            </a:r>
          </a:p>
        </p:txBody>
      </p:sp>
      <p:sp>
        <p:nvSpPr>
          <p:cNvPr id="57356" name="Text Box 12"/>
          <p:cNvSpPr txBox="1">
            <a:spLocks noChangeArrowheads="1"/>
          </p:cNvSpPr>
          <p:nvPr/>
        </p:nvSpPr>
        <p:spPr bwMode="auto">
          <a:xfrm>
            <a:off x="2743200" y="5105400"/>
            <a:ext cx="45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C5</a:t>
            </a:r>
          </a:p>
        </p:txBody>
      </p:sp>
      <p:sp>
        <p:nvSpPr>
          <p:cNvPr id="57357" name="Text Box 13"/>
          <p:cNvSpPr txBox="1">
            <a:spLocks noChangeArrowheads="1"/>
          </p:cNvSpPr>
          <p:nvPr/>
        </p:nvSpPr>
        <p:spPr bwMode="auto">
          <a:xfrm>
            <a:off x="1752600" y="2971800"/>
            <a:ext cx="45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C3</a:t>
            </a:r>
          </a:p>
        </p:txBody>
      </p:sp>
      <p:grpSp>
        <p:nvGrpSpPr>
          <p:cNvPr id="57358" name="Group 14"/>
          <p:cNvGrpSpPr>
            <a:grpSpLocks/>
          </p:cNvGrpSpPr>
          <p:nvPr/>
        </p:nvGrpSpPr>
        <p:grpSpPr bwMode="auto">
          <a:xfrm>
            <a:off x="5486400" y="1676400"/>
            <a:ext cx="2971800" cy="2193925"/>
            <a:chOff x="3456" y="1094"/>
            <a:chExt cx="1920" cy="1503"/>
          </a:xfrm>
        </p:grpSpPr>
        <p:sp>
          <p:nvSpPr>
            <p:cNvPr id="57362" name="Text Box 15"/>
            <p:cNvSpPr txBox="1">
              <a:spLocks noChangeArrowheads="1"/>
            </p:cNvSpPr>
            <p:nvPr/>
          </p:nvSpPr>
          <p:spPr bwMode="auto">
            <a:xfrm>
              <a:off x="4032" y="1094"/>
              <a:ext cx="336" cy="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C2</a:t>
              </a:r>
            </a:p>
          </p:txBody>
        </p:sp>
        <p:sp>
          <p:nvSpPr>
            <p:cNvPr id="57363" name="Text Box 16"/>
            <p:cNvSpPr txBox="1">
              <a:spLocks noChangeArrowheads="1"/>
            </p:cNvSpPr>
            <p:nvPr/>
          </p:nvSpPr>
          <p:spPr bwMode="auto">
            <a:xfrm>
              <a:off x="3744" y="1094"/>
              <a:ext cx="336" cy="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C1</a:t>
              </a:r>
            </a:p>
          </p:txBody>
        </p:sp>
        <p:sp>
          <p:nvSpPr>
            <p:cNvPr id="57364" name="Line 17"/>
            <p:cNvSpPr>
              <a:spLocks noChangeShapeType="1"/>
            </p:cNvSpPr>
            <p:nvPr/>
          </p:nvSpPr>
          <p:spPr bwMode="auto">
            <a:xfrm>
              <a:off x="3696" y="1094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365" name="Line 18"/>
            <p:cNvSpPr>
              <a:spLocks noChangeShapeType="1"/>
            </p:cNvSpPr>
            <p:nvPr/>
          </p:nvSpPr>
          <p:spPr bwMode="auto">
            <a:xfrm>
              <a:off x="3504" y="1286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366" name="Line 19"/>
            <p:cNvSpPr>
              <a:spLocks noChangeShapeType="1"/>
            </p:cNvSpPr>
            <p:nvPr/>
          </p:nvSpPr>
          <p:spPr bwMode="auto">
            <a:xfrm>
              <a:off x="5280" y="1094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367" name="Line 20"/>
            <p:cNvSpPr>
              <a:spLocks noChangeShapeType="1"/>
            </p:cNvSpPr>
            <p:nvPr/>
          </p:nvSpPr>
          <p:spPr bwMode="auto">
            <a:xfrm>
              <a:off x="3504" y="2582"/>
              <a:ext cx="17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368" name="Text Box 21"/>
            <p:cNvSpPr txBox="1">
              <a:spLocks noChangeArrowheads="1"/>
            </p:cNvSpPr>
            <p:nvPr/>
          </p:nvSpPr>
          <p:spPr bwMode="auto">
            <a:xfrm>
              <a:off x="3456" y="1334"/>
              <a:ext cx="336" cy="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C1</a:t>
              </a:r>
            </a:p>
          </p:txBody>
        </p:sp>
        <p:sp>
          <p:nvSpPr>
            <p:cNvPr id="57369" name="Text Box 22"/>
            <p:cNvSpPr txBox="1">
              <a:spLocks noChangeArrowheads="1"/>
            </p:cNvSpPr>
            <p:nvPr/>
          </p:nvSpPr>
          <p:spPr bwMode="auto">
            <a:xfrm>
              <a:off x="3456" y="1862"/>
              <a:ext cx="336" cy="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C3</a:t>
              </a:r>
            </a:p>
          </p:txBody>
        </p:sp>
        <p:sp>
          <p:nvSpPr>
            <p:cNvPr id="57370" name="Text Box 23"/>
            <p:cNvSpPr txBox="1">
              <a:spLocks noChangeArrowheads="1"/>
            </p:cNvSpPr>
            <p:nvPr/>
          </p:nvSpPr>
          <p:spPr bwMode="auto">
            <a:xfrm>
              <a:off x="3456" y="2389"/>
              <a:ext cx="336" cy="2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C5</a:t>
              </a:r>
            </a:p>
          </p:txBody>
        </p:sp>
        <p:sp>
          <p:nvSpPr>
            <p:cNvPr id="57371" name="Text Box 24"/>
            <p:cNvSpPr txBox="1">
              <a:spLocks noChangeArrowheads="1"/>
            </p:cNvSpPr>
            <p:nvPr/>
          </p:nvSpPr>
          <p:spPr bwMode="auto">
            <a:xfrm>
              <a:off x="3456" y="2150"/>
              <a:ext cx="336" cy="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C4</a:t>
              </a:r>
            </a:p>
          </p:txBody>
        </p:sp>
        <p:sp>
          <p:nvSpPr>
            <p:cNvPr id="57372" name="Text Box 25"/>
            <p:cNvSpPr txBox="1">
              <a:spLocks noChangeArrowheads="1"/>
            </p:cNvSpPr>
            <p:nvPr/>
          </p:nvSpPr>
          <p:spPr bwMode="auto">
            <a:xfrm>
              <a:off x="3456" y="1622"/>
              <a:ext cx="336" cy="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C2</a:t>
              </a:r>
            </a:p>
          </p:txBody>
        </p:sp>
        <p:sp>
          <p:nvSpPr>
            <p:cNvPr id="57373" name="Text Box 26"/>
            <p:cNvSpPr txBox="1">
              <a:spLocks noChangeArrowheads="1"/>
            </p:cNvSpPr>
            <p:nvPr/>
          </p:nvSpPr>
          <p:spPr bwMode="auto">
            <a:xfrm>
              <a:off x="4368" y="1094"/>
              <a:ext cx="336" cy="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C3</a:t>
              </a:r>
            </a:p>
          </p:txBody>
        </p:sp>
        <p:sp>
          <p:nvSpPr>
            <p:cNvPr id="57374" name="Text Box 27"/>
            <p:cNvSpPr txBox="1">
              <a:spLocks noChangeArrowheads="1"/>
            </p:cNvSpPr>
            <p:nvPr/>
          </p:nvSpPr>
          <p:spPr bwMode="auto">
            <a:xfrm>
              <a:off x="4704" y="1094"/>
              <a:ext cx="336" cy="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C4</a:t>
              </a:r>
            </a:p>
          </p:txBody>
        </p:sp>
        <p:sp>
          <p:nvSpPr>
            <p:cNvPr id="57375" name="Text Box 28"/>
            <p:cNvSpPr txBox="1">
              <a:spLocks noChangeArrowheads="1"/>
            </p:cNvSpPr>
            <p:nvPr/>
          </p:nvSpPr>
          <p:spPr bwMode="auto">
            <a:xfrm>
              <a:off x="4992" y="1094"/>
              <a:ext cx="336" cy="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C5</a:t>
              </a:r>
            </a:p>
          </p:txBody>
        </p:sp>
        <p:sp>
          <p:nvSpPr>
            <p:cNvPr id="57376" name="Line 29"/>
            <p:cNvSpPr>
              <a:spLocks noChangeShapeType="1"/>
            </p:cNvSpPr>
            <p:nvPr/>
          </p:nvSpPr>
          <p:spPr bwMode="auto">
            <a:xfrm>
              <a:off x="3504" y="1526"/>
              <a:ext cx="17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377" name="Line 30"/>
            <p:cNvSpPr>
              <a:spLocks noChangeShapeType="1"/>
            </p:cNvSpPr>
            <p:nvPr/>
          </p:nvSpPr>
          <p:spPr bwMode="auto">
            <a:xfrm>
              <a:off x="3504" y="2054"/>
              <a:ext cx="17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378" name="Line 31"/>
            <p:cNvSpPr>
              <a:spLocks noChangeShapeType="1"/>
            </p:cNvSpPr>
            <p:nvPr/>
          </p:nvSpPr>
          <p:spPr bwMode="auto">
            <a:xfrm>
              <a:off x="3504" y="1814"/>
              <a:ext cx="17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379" name="Line 32"/>
            <p:cNvSpPr>
              <a:spLocks noChangeShapeType="1"/>
            </p:cNvSpPr>
            <p:nvPr/>
          </p:nvSpPr>
          <p:spPr bwMode="auto">
            <a:xfrm>
              <a:off x="3504" y="2294"/>
              <a:ext cx="17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380" name="Line 33"/>
            <p:cNvSpPr>
              <a:spLocks noChangeShapeType="1"/>
            </p:cNvSpPr>
            <p:nvPr/>
          </p:nvSpPr>
          <p:spPr bwMode="auto">
            <a:xfrm>
              <a:off x="4032" y="1094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381" name="Line 34"/>
            <p:cNvSpPr>
              <a:spLocks noChangeShapeType="1"/>
            </p:cNvSpPr>
            <p:nvPr/>
          </p:nvSpPr>
          <p:spPr bwMode="auto">
            <a:xfrm>
              <a:off x="4320" y="1094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382" name="Line 35"/>
            <p:cNvSpPr>
              <a:spLocks noChangeShapeType="1"/>
            </p:cNvSpPr>
            <p:nvPr/>
          </p:nvSpPr>
          <p:spPr bwMode="auto">
            <a:xfrm>
              <a:off x="4656" y="1094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383" name="Line 36"/>
            <p:cNvSpPr>
              <a:spLocks noChangeShapeType="1"/>
            </p:cNvSpPr>
            <p:nvPr/>
          </p:nvSpPr>
          <p:spPr bwMode="auto">
            <a:xfrm>
              <a:off x="4992" y="1094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384" name="Rectangle 37" descr="Wide downward diagonal"/>
            <p:cNvSpPr>
              <a:spLocks noChangeArrowheads="1"/>
            </p:cNvSpPr>
            <p:nvPr/>
          </p:nvSpPr>
          <p:spPr bwMode="auto">
            <a:xfrm>
              <a:off x="3696" y="1526"/>
              <a:ext cx="1584" cy="288"/>
            </a:xfrm>
            <a:prstGeom prst="rect">
              <a:avLst/>
            </a:prstGeom>
            <a:pattFill prst="wdDnDiag">
              <a:fgClr>
                <a:schemeClr val="bg2"/>
              </a:fgClr>
              <a:bgClr>
                <a:srgbClr val="FFFFFF"/>
              </a:bgClr>
            </a:patt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7385" name="Rectangle 38" descr="Wide downward diagonal"/>
            <p:cNvSpPr>
              <a:spLocks noChangeArrowheads="1"/>
            </p:cNvSpPr>
            <p:nvPr/>
          </p:nvSpPr>
          <p:spPr bwMode="auto">
            <a:xfrm>
              <a:off x="3696" y="2294"/>
              <a:ext cx="1584" cy="288"/>
            </a:xfrm>
            <a:prstGeom prst="rect">
              <a:avLst/>
            </a:prstGeom>
            <a:pattFill prst="wdDnDiag">
              <a:fgClr>
                <a:schemeClr val="bg2"/>
              </a:fgClr>
              <a:bgClr>
                <a:srgbClr val="FFFFFF"/>
              </a:bgClr>
            </a:patt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7386" name="Rectangle 39" descr="Wide downward diagonal"/>
            <p:cNvSpPr>
              <a:spLocks noChangeArrowheads="1"/>
            </p:cNvSpPr>
            <p:nvPr/>
          </p:nvSpPr>
          <p:spPr bwMode="auto">
            <a:xfrm rot="5400000">
              <a:off x="3521" y="1783"/>
              <a:ext cx="1298" cy="299"/>
            </a:xfrm>
            <a:prstGeom prst="rect">
              <a:avLst/>
            </a:prstGeom>
            <a:pattFill prst="wdDnDiag">
              <a:fgClr>
                <a:schemeClr val="bg2"/>
              </a:fgClr>
              <a:bgClr>
                <a:srgbClr val="FFFFFF"/>
              </a:bgClr>
            </a:patt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7387" name="Rectangle 40" descr="Wide downward diagonal"/>
            <p:cNvSpPr>
              <a:spLocks noChangeArrowheads="1"/>
            </p:cNvSpPr>
            <p:nvPr/>
          </p:nvSpPr>
          <p:spPr bwMode="auto">
            <a:xfrm rot="5400000">
              <a:off x="4477" y="1778"/>
              <a:ext cx="1297" cy="311"/>
            </a:xfrm>
            <a:prstGeom prst="rect">
              <a:avLst/>
            </a:prstGeom>
            <a:pattFill prst="wdDnDiag">
              <a:fgClr>
                <a:schemeClr val="bg2"/>
              </a:fgClr>
              <a:bgClr>
                <a:srgbClr val="FFFFFF"/>
              </a:bgClr>
            </a:patt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57359" name="Oval 41"/>
          <p:cNvSpPr>
            <a:spLocks noChangeArrowheads="1"/>
          </p:cNvSpPr>
          <p:nvPr/>
        </p:nvSpPr>
        <p:spPr bwMode="auto">
          <a:xfrm>
            <a:off x="990600" y="4648200"/>
            <a:ext cx="2514600" cy="1295400"/>
          </a:xfrm>
          <a:prstGeom prst="ellipse">
            <a:avLst/>
          </a:prstGeom>
          <a:noFill/>
          <a:ln w="25400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57360" name="Text Box 42"/>
          <p:cNvSpPr txBox="1">
            <a:spLocks noChangeArrowheads="1"/>
          </p:cNvSpPr>
          <p:nvPr/>
        </p:nvSpPr>
        <p:spPr bwMode="auto">
          <a:xfrm>
            <a:off x="5791200" y="3870325"/>
            <a:ext cx="2514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/>
              <a:t>Proximity Matrix</a:t>
            </a:r>
          </a:p>
        </p:txBody>
      </p:sp>
      <p:graphicFrame>
        <p:nvGraphicFramePr>
          <p:cNvPr id="57361" name="Object 43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4648200" y="4495800"/>
          <a:ext cx="4083050" cy="184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547" name="Visio" r:id="rId3" imgW="7591349" imgH="3431733" progId="Visio.Drawing.6">
                  <p:embed/>
                </p:oleObj>
              </mc:Choice>
              <mc:Fallback>
                <p:oleObj name="Visio" r:id="rId3" imgW="7591349" imgH="3431733" progId="Visio.Drawing.6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4495800"/>
                        <a:ext cx="4083050" cy="1846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合并之后</a:t>
            </a:r>
            <a:endParaRPr lang="en-US" altLang="en-US" dirty="0"/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342900" indent="-342900"/>
            <a:r>
              <a:rPr lang="zh-CN" altLang="en-US" sz="2200" dirty="0"/>
              <a:t>关键问题是如何更新邻接矩阵？</a:t>
            </a:r>
            <a:r>
              <a:rPr lang="en-US" altLang="en-US" sz="2200" dirty="0"/>
              <a:t> </a:t>
            </a:r>
          </a:p>
          <a:p>
            <a:pPr marL="742950" lvl="1" indent="-285750"/>
            <a:endParaRPr lang="en-US" altLang="en-US" sz="2000" dirty="0"/>
          </a:p>
        </p:txBody>
      </p:sp>
      <p:sp>
        <p:nvSpPr>
          <p:cNvPr id="58372" name="Freeform 4"/>
          <p:cNvSpPr>
            <a:spLocks/>
          </p:cNvSpPr>
          <p:nvPr/>
        </p:nvSpPr>
        <p:spPr bwMode="auto">
          <a:xfrm>
            <a:off x="609600" y="3886200"/>
            <a:ext cx="546100" cy="773113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373" name="Freeform 5"/>
          <p:cNvSpPr>
            <a:spLocks/>
          </p:cNvSpPr>
          <p:nvPr/>
        </p:nvSpPr>
        <p:spPr bwMode="auto">
          <a:xfrm rot="-5400000">
            <a:off x="1600200" y="2667000"/>
            <a:ext cx="762000" cy="914400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374" name="Freeform 6"/>
          <p:cNvSpPr>
            <a:spLocks/>
          </p:cNvSpPr>
          <p:nvPr/>
        </p:nvSpPr>
        <p:spPr bwMode="auto">
          <a:xfrm rot="10800000">
            <a:off x="3352800" y="3048000"/>
            <a:ext cx="685800" cy="762000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375" name="Freeform 7"/>
          <p:cNvSpPr>
            <a:spLocks/>
          </p:cNvSpPr>
          <p:nvPr/>
        </p:nvSpPr>
        <p:spPr bwMode="auto">
          <a:xfrm>
            <a:off x="1295400" y="4953000"/>
            <a:ext cx="2362200" cy="773113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376" name="Text Box 8"/>
          <p:cNvSpPr txBox="1">
            <a:spLocks noChangeArrowheads="1"/>
          </p:cNvSpPr>
          <p:nvPr/>
        </p:nvSpPr>
        <p:spPr bwMode="auto">
          <a:xfrm>
            <a:off x="685800" y="4191000"/>
            <a:ext cx="45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C1</a:t>
            </a:r>
          </a:p>
        </p:txBody>
      </p:sp>
      <p:sp>
        <p:nvSpPr>
          <p:cNvPr id="58377" name="Text Box 9"/>
          <p:cNvSpPr txBox="1">
            <a:spLocks noChangeArrowheads="1"/>
          </p:cNvSpPr>
          <p:nvPr/>
        </p:nvSpPr>
        <p:spPr bwMode="auto">
          <a:xfrm>
            <a:off x="3429000" y="3352800"/>
            <a:ext cx="45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C4</a:t>
            </a:r>
          </a:p>
        </p:txBody>
      </p:sp>
      <p:sp>
        <p:nvSpPr>
          <p:cNvPr id="58378" name="Text Box 10"/>
          <p:cNvSpPr txBox="1">
            <a:spLocks noChangeArrowheads="1"/>
          </p:cNvSpPr>
          <p:nvPr/>
        </p:nvSpPr>
        <p:spPr bwMode="auto">
          <a:xfrm>
            <a:off x="1905000" y="5181600"/>
            <a:ext cx="990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C2 </a:t>
            </a:r>
            <a:r>
              <a:rPr lang="en-US" altLang="en-US" b="0"/>
              <a:t>U</a:t>
            </a:r>
            <a:r>
              <a:rPr lang="en-US" altLang="en-US"/>
              <a:t> C5</a:t>
            </a:r>
          </a:p>
        </p:txBody>
      </p:sp>
      <p:sp>
        <p:nvSpPr>
          <p:cNvPr id="58379" name="Text Box 11"/>
          <p:cNvSpPr txBox="1">
            <a:spLocks noChangeArrowheads="1"/>
          </p:cNvSpPr>
          <p:nvPr/>
        </p:nvSpPr>
        <p:spPr bwMode="auto">
          <a:xfrm>
            <a:off x="1752600" y="2971800"/>
            <a:ext cx="45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C3</a:t>
            </a:r>
          </a:p>
        </p:txBody>
      </p:sp>
      <p:sp>
        <p:nvSpPr>
          <p:cNvPr id="58380" name="Text Box 12"/>
          <p:cNvSpPr txBox="1">
            <a:spLocks noChangeArrowheads="1"/>
          </p:cNvSpPr>
          <p:nvPr/>
        </p:nvSpPr>
        <p:spPr bwMode="auto">
          <a:xfrm>
            <a:off x="6172200" y="2743200"/>
            <a:ext cx="2133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?        ?        ?        ?    	   </a:t>
            </a:r>
          </a:p>
        </p:txBody>
      </p:sp>
      <p:sp>
        <p:nvSpPr>
          <p:cNvPr id="58381" name="Text Box 13"/>
          <p:cNvSpPr txBox="1">
            <a:spLocks noChangeArrowheads="1"/>
          </p:cNvSpPr>
          <p:nvPr/>
        </p:nvSpPr>
        <p:spPr bwMode="auto">
          <a:xfrm>
            <a:off x="6651625" y="2362200"/>
            <a:ext cx="533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?</a:t>
            </a:r>
          </a:p>
        </p:txBody>
      </p:sp>
      <p:sp>
        <p:nvSpPr>
          <p:cNvPr id="58382" name="Text Box 14"/>
          <p:cNvSpPr txBox="1">
            <a:spLocks noChangeArrowheads="1"/>
          </p:cNvSpPr>
          <p:nvPr/>
        </p:nvSpPr>
        <p:spPr bwMode="auto">
          <a:xfrm>
            <a:off x="6651625" y="3200400"/>
            <a:ext cx="533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?</a:t>
            </a:r>
          </a:p>
        </p:txBody>
      </p:sp>
      <p:sp>
        <p:nvSpPr>
          <p:cNvPr id="58383" name="Text Box 15"/>
          <p:cNvSpPr txBox="1">
            <a:spLocks noChangeArrowheads="1"/>
          </p:cNvSpPr>
          <p:nvPr/>
        </p:nvSpPr>
        <p:spPr bwMode="auto">
          <a:xfrm>
            <a:off x="6651625" y="3581400"/>
            <a:ext cx="533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?</a:t>
            </a:r>
          </a:p>
        </p:txBody>
      </p:sp>
      <p:sp>
        <p:nvSpPr>
          <p:cNvPr id="58384" name="Text Box 16"/>
          <p:cNvSpPr txBox="1">
            <a:spLocks noChangeArrowheads="1"/>
          </p:cNvSpPr>
          <p:nvPr/>
        </p:nvSpPr>
        <p:spPr bwMode="auto">
          <a:xfrm>
            <a:off x="6629400" y="1555750"/>
            <a:ext cx="5334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dirty="0"/>
              <a:t>C2 </a:t>
            </a:r>
            <a:r>
              <a:rPr lang="en-US" altLang="en-US" b="0" dirty="0"/>
              <a:t>U </a:t>
            </a:r>
            <a:r>
              <a:rPr lang="en-US" altLang="en-US" dirty="0"/>
              <a:t>C5</a:t>
            </a:r>
          </a:p>
        </p:txBody>
      </p:sp>
      <p:sp>
        <p:nvSpPr>
          <p:cNvPr id="58385" name="Text Box 17"/>
          <p:cNvSpPr txBox="1">
            <a:spLocks noChangeArrowheads="1"/>
          </p:cNvSpPr>
          <p:nvPr/>
        </p:nvSpPr>
        <p:spPr bwMode="auto">
          <a:xfrm>
            <a:off x="6096000" y="1981200"/>
            <a:ext cx="533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C1</a:t>
            </a:r>
          </a:p>
        </p:txBody>
      </p:sp>
      <p:sp>
        <p:nvSpPr>
          <p:cNvPr id="58386" name="Line 18"/>
          <p:cNvSpPr>
            <a:spLocks noChangeShapeType="1"/>
          </p:cNvSpPr>
          <p:nvPr/>
        </p:nvSpPr>
        <p:spPr bwMode="auto">
          <a:xfrm>
            <a:off x="6019800" y="1981200"/>
            <a:ext cx="0" cy="1905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387" name="Line 19"/>
          <p:cNvSpPr>
            <a:spLocks noChangeShapeType="1"/>
          </p:cNvSpPr>
          <p:nvPr/>
        </p:nvSpPr>
        <p:spPr bwMode="auto">
          <a:xfrm>
            <a:off x="5715000" y="2286000"/>
            <a:ext cx="2362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388" name="Text Box 20"/>
          <p:cNvSpPr txBox="1">
            <a:spLocks noChangeArrowheads="1"/>
          </p:cNvSpPr>
          <p:nvPr/>
        </p:nvSpPr>
        <p:spPr bwMode="auto">
          <a:xfrm>
            <a:off x="5638800" y="2362200"/>
            <a:ext cx="533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C1</a:t>
            </a:r>
          </a:p>
        </p:txBody>
      </p:sp>
      <p:sp>
        <p:nvSpPr>
          <p:cNvPr id="58389" name="Text Box 21"/>
          <p:cNvSpPr txBox="1">
            <a:spLocks noChangeArrowheads="1"/>
          </p:cNvSpPr>
          <p:nvPr/>
        </p:nvSpPr>
        <p:spPr bwMode="auto">
          <a:xfrm>
            <a:off x="5638800" y="3200400"/>
            <a:ext cx="533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C3</a:t>
            </a:r>
          </a:p>
        </p:txBody>
      </p:sp>
      <p:sp>
        <p:nvSpPr>
          <p:cNvPr id="58390" name="Text Box 22"/>
          <p:cNvSpPr txBox="1">
            <a:spLocks noChangeArrowheads="1"/>
          </p:cNvSpPr>
          <p:nvPr/>
        </p:nvSpPr>
        <p:spPr bwMode="auto">
          <a:xfrm>
            <a:off x="5638800" y="3657600"/>
            <a:ext cx="533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C4</a:t>
            </a:r>
          </a:p>
        </p:txBody>
      </p:sp>
      <p:sp>
        <p:nvSpPr>
          <p:cNvPr id="58391" name="Text Box 23"/>
          <p:cNvSpPr txBox="1">
            <a:spLocks noChangeArrowheads="1"/>
          </p:cNvSpPr>
          <p:nvPr/>
        </p:nvSpPr>
        <p:spPr bwMode="auto">
          <a:xfrm>
            <a:off x="5181600" y="2819400"/>
            <a:ext cx="990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C2 </a:t>
            </a:r>
            <a:r>
              <a:rPr lang="en-US" altLang="en-US" b="0"/>
              <a:t>U </a:t>
            </a:r>
            <a:r>
              <a:rPr lang="en-US" altLang="en-US"/>
              <a:t>C5</a:t>
            </a:r>
          </a:p>
        </p:txBody>
      </p:sp>
      <p:sp>
        <p:nvSpPr>
          <p:cNvPr id="58392" name="Text Box 24"/>
          <p:cNvSpPr txBox="1">
            <a:spLocks noChangeArrowheads="1"/>
          </p:cNvSpPr>
          <p:nvPr/>
        </p:nvSpPr>
        <p:spPr bwMode="auto">
          <a:xfrm>
            <a:off x="7086600" y="1981200"/>
            <a:ext cx="533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C3</a:t>
            </a:r>
          </a:p>
        </p:txBody>
      </p:sp>
      <p:sp>
        <p:nvSpPr>
          <p:cNvPr id="58393" name="Text Box 25"/>
          <p:cNvSpPr txBox="1">
            <a:spLocks noChangeArrowheads="1"/>
          </p:cNvSpPr>
          <p:nvPr/>
        </p:nvSpPr>
        <p:spPr bwMode="auto">
          <a:xfrm>
            <a:off x="7620000" y="1981200"/>
            <a:ext cx="533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C4</a:t>
            </a:r>
          </a:p>
        </p:txBody>
      </p:sp>
      <p:sp>
        <p:nvSpPr>
          <p:cNvPr id="58394" name="Line 26"/>
          <p:cNvSpPr>
            <a:spLocks noChangeShapeType="1"/>
          </p:cNvSpPr>
          <p:nvPr/>
        </p:nvSpPr>
        <p:spPr bwMode="auto">
          <a:xfrm>
            <a:off x="5715000" y="2667000"/>
            <a:ext cx="2362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395" name="Line 27"/>
          <p:cNvSpPr>
            <a:spLocks noChangeShapeType="1"/>
          </p:cNvSpPr>
          <p:nvPr/>
        </p:nvSpPr>
        <p:spPr bwMode="auto">
          <a:xfrm>
            <a:off x="5715000" y="3505200"/>
            <a:ext cx="2362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396" name="Line 28"/>
          <p:cNvSpPr>
            <a:spLocks noChangeShapeType="1"/>
          </p:cNvSpPr>
          <p:nvPr/>
        </p:nvSpPr>
        <p:spPr bwMode="auto">
          <a:xfrm>
            <a:off x="5715000" y="3124200"/>
            <a:ext cx="2362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397" name="Line 29"/>
          <p:cNvSpPr>
            <a:spLocks noChangeShapeType="1"/>
          </p:cNvSpPr>
          <p:nvPr/>
        </p:nvSpPr>
        <p:spPr bwMode="auto">
          <a:xfrm>
            <a:off x="5715000" y="3886200"/>
            <a:ext cx="2362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398" name="Line 30"/>
          <p:cNvSpPr>
            <a:spLocks noChangeShapeType="1"/>
          </p:cNvSpPr>
          <p:nvPr/>
        </p:nvSpPr>
        <p:spPr bwMode="auto">
          <a:xfrm>
            <a:off x="6553200" y="1981200"/>
            <a:ext cx="0" cy="1905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399" name="Line 31"/>
          <p:cNvSpPr>
            <a:spLocks noChangeShapeType="1"/>
          </p:cNvSpPr>
          <p:nvPr/>
        </p:nvSpPr>
        <p:spPr bwMode="auto">
          <a:xfrm>
            <a:off x="7010400" y="1981200"/>
            <a:ext cx="0" cy="1905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400" name="Line 32"/>
          <p:cNvSpPr>
            <a:spLocks noChangeShapeType="1"/>
          </p:cNvSpPr>
          <p:nvPr/>
        </p:nvSpPr>
        <p:spPr bwMode="auto">
          <a:xfrm>
            <a:off x="7543800" y="1981200"/>
            <a:ext cx="0" cy="1905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401" name="Line 33"/>
          <p:cNvSpPr>
            <a:spLocks noChangeShapeType="1"/>
          </p:cNvSpPr>
          <p:nvPr/>
        </p:nvSpPr>
        <p:spPr bwMode="auto">
          <a:xfrm>
            <a:off x="8077200" y="1981200"/>
            <a:ext cx="0" cy="1905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402" name="Text Box 34"/>
          <p:cNvSpPr txBox="1">
            <a:spLocks noChangeArrowheads="1"/>
          </p:cNvSpPr>
          <p:nvPr/>
        </p:nvSpPr>
        <p:spPr bwMode="auto">
          <a:xfrm>
            <a:off x="5791200" y="3962400"/>
            <a:ext cx="2514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/>
              <a:t>Proximity Matrix</a:t>
            </a:r>
          </a:p>
        </p:txBody>
      </p:sp>
      <p:graphicFrame>
        <p:nvGraphicFramePr>
          <p:cNvPr id="58403" name="Object 1024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4648200" y="4435475"/>
          <a:ext cx="4083050" cy="196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565" name="Visio" r:id="rId3" imgW="7591349" imgH="3654718" progId="Visio.Drawing.6">
                  <p:embed/>
                </p:oleObj>
              </mc:Choice>
              <mc:Fallback>
                <p:oleObj name="Visio" r:id="rId3" imgW="7591349" imgH="3654718" progId="Visio.Drawing.6">
                  <p:embed/>
                  <p:pic>
                    <p:nvPicPr>
                      <p:cNvPr id="0" name="Object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4435475"/>
                        <a:ext cx="4083050" cy="1965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zh-CN" altLang="en-US" sz="2800" dirty="0"/>
              <a:t>类间距离的定义</a:t>
            </a:r>
            <a:endParaRPr lang="en-US" altLang="en-US" sz="2800" dirty="0"/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763" y="2344738"/>
            <a:ext cx="4800600" cy="3303587"/>
          </a:xfrm>
        </p:spPr>
        <p:txBody>
          <a:bodyPr/>
          <a:lstStyle/>
          <a:p>
            <a:pPr marL="990600" lvl="1" indent="-533400">
              <a:lnSpc>
                <a:spcPct val="90000"/>
              </a:lnSpc>
              <a:spcBef>
                <a:spcPct val="20000"/>
              </a:spcBef>
              <a:buFont typeface="Arial" charset="0"/>
              <a:buNone/>
            </a:pPr>
            <a:r>
              <a:rPr lang="en-US" altLang="en-US" sz="1000"/>
              <a:t> </a:t>
            </a:r>
          </a:p>
        </p:txBody>
      </p:sp>
      <p:grpSp>
        <p:nvGrpSpPr>
          <p:cNvPr id="59396" name="Group 4"/>
          <p:cNvGrpSpPr>
            <a:grpSpLocks/>
          </p:cNvGrpSpPr>
          <p:nvPr/>
        </p:nvGrpSpPr>
        <p:grpSpPr bwMode="auto">
          <a:xfrm>
            <a:off x="5486400" y="1066800"/>
            <a:ext cx="3429000" cy="3508375"/>
            <a:chOff x="3456" y="1440"/>
            <a:chExt cx="2160" cy="2210"/>
          </a:xfrm>
        </p:grpSpPr>
        <p:sp>
          <p:nvSpPr>
            <p:cNvPr id="59411" name="Line 5"/>
            <p:cNvSpPr>
              <a:spLocks noChangeShapeType="1"/>
            </p:cNvSpPr>
            <p:nvPr/>
          </p:nvSpPr>
          <p:spPr bwMode="auto">
            <a:xfrm>
              <a:off x="3696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12" name="Line 6"/>
            <p:cNvSpPr>
              <a:spLocks noChangeShapeType="1"/>
            </p:cNvSpPr>
            <p:nvPr/>
          </p:nvSpPr>
          <p:spPr bwMode="auto">
            <a:xfrm>
              <a:off x="3504" y="1632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13" name="Line 7"/>
            <p:cNvSpPr>
              <a:spLocks noChangeShapeType="1"/>
            </p:cNvSpPr>
            <p:nvPr/>
          </p:nvSpPr>
          <p:spPr bwMode="auto">
            <a:xfrm>
              <a:off x="4012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14" name="Line 8"/>
            <p:cNvSpPr>
              <a:spLocks noChangeShapeType="1"/>
            </p:cNvSpPr>
            <p:nvPr/>
          </p:nvSpPr>
          <p:spPr bwMode="auto">
            <a:xfrm>
              <a:off x="4329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15" name="Line 9"/>
            <p:cNvSpPr>
              <a:spLocks noChangeShapeType="1"/>
            </p:cNvSpPr>
            <p:nvPr/>
          </p:nvSpPr>
          <p:spPr bwMode="auto">
            <a:xfrm>
              <a:off x="4646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16" name="Line 10"/>
            <p:cNvSpPr>
              <a:spLocks noChangeShapeType="1"/>
            </p:cNvSpPr>
            <p:nvPr/>
          </p:nvSpPr>
          <p:spPr bwMode="auto">
            <a:xfrm>
              <a:off x="4963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17" name="Line 11"/>
            <p:cNvSpPr>
              <a:spLocks noChangeShapeType="1"/>
            </p:cNvSpPr>
            <p:nvPr/>
          </p:nvSpPr>
          <p:spPr bwMode="auto">
            <a:xfrm>
              <a:off x="5280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18" name="Line 12"/>
            <p:cNvSpPr>
              <a:spLocks noChangeShapeType="1"/>
            </p:cNvSpPr>
            <p:nvPr/>
          </p:nvSpPr>
          <p:spPr bwMode="auto">
            <a:xfrm>
              <a:off x="3504" y="1891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19" name="Line 13"/>
            <p:cNvSpPr>
              <a:spLocks noChangeShapeType="1"/>
            </p:cNvSpPr>
            <p:nvPr/>
          </p:nvSpPr>
          <p:spPr bwMode="auto">
            <a:xfrm>
              <a:off x="3504" y="2150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20" name="Line 14"/>
            <p:cNvSpPr>
              <a:spLocks noChangeShapeType="1"/>
            </p:cNvSpPr>
            <p:nvPr/>
          </p:nvSpPr>
          <p:spPr bwMode="auto">
            <a:xfrm>
              <a:off x="3504" y="2409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21" name="Line 15"/>
            <p:cNvSpPr>
              <a:spLocks noChangeShapeType="1"/>
            </p:cNvSpPr>
            <p:nvPr/>
          </p:nvSpPr>
          <p:spPr bwMode="auto">
            <a:xfrm>
              <a:off x="3504" y="2668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22" name="Line 16"/>
            <p:cNvSpPr>
              <a:spLocks noChangeShapeType="1"/>
            </p:cNvSpPr>
            <p:nvPr/>
          </p:nvSpPr>
          <p:spPr bwMode="auto">
            <a:xfrm>
              <a:off x="3504" y="2928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23" name="Text Box 17"/>
            <p:cNvSpPr txBox="1">
              <a:spLocks noChangeArrowheads="1"/>
            </p:cNvSpPr>
            <p:nvPr/>
          </p:nvSpPr>
          <p:spPr bwMode="auto">
            <a:xfrm>
              <a:off x="3456" y="168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p1</a:t>
              </a:r>
            </a:p>
          </p:txBody>
        </p:sp>
        <p:sp>
          <p:nvSpPr>
            <p:cNvPr id="59424" name="Text Box 18"/>
            <p:cNvSpPr txBox="1">
              <a:spLocks noChangeArrowheads="1"/>
            </p:cNvSpPr>
            <p:nvPr/>
          </p:nvSpPr>
          <p:spPr bwMode="auto">
            <a:xfrm>
              <a:off x="3456" y="2208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p3</a:t>
              </a:r>
            </a:p>
          </p:txBody>
        </p:sp>
        <p:sp>
          <p:nvSpPr>
            <p:cNvPr id="59425" name="Text Box 19"/>
            <p:cNvSpPr txBox="1">
              <a:spLocks noChangeArrowheads="1"/>
            </p:cNvSpPr>
            <p:nvPr/>
          </p:nvSpPr>
          <p:spPr bwMode="auto">
            <a:xfrm>
              <a:off x="3456" y="2736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p5</a:t>
              </a:r>
            </a:p>
          </p:txBody>
        </p:sp>
        <p:sp>
          <p:nvSpPr>
            <p:cNvPr id="59426" name="Text Box 20"/>
            <p:cNvSpPr txBox="1">
              <a:spLocks noChangeArrowheads="1"/>
            </p:cNvSpPr>
            <p:nvPr/>
          </p:nvSpPr>
          <p:spPr bwMode="auto">
            <a:xfrm>
              <a:off x="3456" y="2496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p4</a:t>
              </a:r>
            </a:p>
          </p:txBody>
        </p:sp>
        <p:sp>
          <p:nvSpPr>
            <p:cNvPr id="59427" name="Text Box 21"/>
            <p:cNvSpPr txBox="1">
              <a:spLocks noChangeArrowheads="1"/>
            </p:cNvSpPr>
            <p:nvPr/>
          </p:nvSpPr>
          <p:spPr bwMode="auto">
            <a:xfrm>
              <a:off x="3456" y="1968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p2</a:t>
              </a:r>
            </a:p>
          </p:txBody>
        </p:sp>
        <p:sp>
          <p:nvSpPr>
            <p:cNvPr id="59428" name="Text Box 22"/>
            <p:cNvSpPr txBox="1">
              <a:spLocks noChangeArrowheads="1"/>
            </p:cNvSpPr>
            <p:nvPr/>
          </p:nvSpPr>
          <p:spPr bwMode="auto">
            <a:xfrm>
              <a:off x="3744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p1</a:t>
              </a:r>
            </a:p>
          </p:txBody>
        </p:sp>
        <p:sp>
          <p:nvSpPr>
            <p:cNvPr id="59429" name="Text Box 23"/>
            <p:cNvSpPr txBox="1">
              <a:spLocks noChangeArrowheads="1"/>
            </p:cNvSpPr>
            <p:nvPr/>
          </p:nvSpPr>
          <p:spPr bwMode="auto">
            <a:xfrm>
              <a:off x="4032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p2</a:t>
              </a:r>
            </a:p>
          </p:txBody>
        </p:sp>
        <p:sp>
          <p:nvSpPr>
            <p:cNvPr id="59430" name="Text Box 24"/>
            <p:cNvSpPr txBox="1">
              <a:spLocks noChangeArrowheads="1"/>
            </p:cNvSpPr>
            <p:nvPr/>
          </p:nvSpPr>
          <p:spPr bwMode="auto">
            <a:xfrm>
              <a:off x="4368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p3</a:t>
              </a:r>
            </a:p>
          </p:txBody>
        </p:sp>
        <p:sp>
          <p:nvSpPr>
            <p:cNvPr id="59431" name="Text Box 25"/>
            <p:cNvSpPr txBox="1">
              <a:spLocks noChangeArrowheads="1"/>
            </p:cNvSpPr>
            <p:nvPr/>
          </p:nvSpPr>
          <p:spPr bwMode="auto">
            <a:xfrm>
              <a:off x="4704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p4</a:t>
              </a:r>
            </a:p>
          </p:txBody>
        </p:sp>
        <p:sp>
          <p:nvSpPr>
            <p:cNvPr id="59432" name="Text Box 26"/>
            <p:cNvSpPr txBox="1">
              <a:spLocks noChangeArrowheads="1"/>
            </p:cNvSpPr>
            <p:nvPr/>
          </p:nvSpPr>
          <p:spPr bwMode="auto">
            <a:xfrm>
              <a:off x="4944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p5</a:t>
              </a:r>
            </a:p>
          </p:txBody>
        </p:sp>
        <p:sp>
          <p:nvSpPr>
            <p:cNvPr id="59433" name="Text Box 27"/>
            <p:cNvSpPr txBox="1">
              <a:spLocks noChangeArrowheads="1"/>
            </p:cNvSpPr>
            <p:nvPr/>
          </p:nvSpPr>
          <p:spPr bwMode="auto">
            <a:xfrm>
              <a:off x="5280" y="1440"/>
              <a:ext cx="3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600"/>
                <a:t>. . .</a:t>
              </a:r>
            </a:p>
          </p:txBody>
        </p:sp>
        <p:sp>
          <p:nvSpPr>
            <p:cNvPr id="59434" name="Text Box 28"/>
            <p:cNvSpPr txBox="1">
              <a:spLocks noChangeArrowheads="1"/>
            </p:cNvSpPr>
            <p:nvPr/>
          </p:nvSpPr>
          <p:spPr bwMode="auto">
            <a:xfrm>
              <a:off x="3552" y="2976"/>
              <a:ext cx="336" cy="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600"/>
                <a:t>.</a:t>
              </a:r>
            </a:p>
            <a:p>
              <a:pPr>
                <a:spcBef>
                  <a:spcPct val="50000"/>
                </a:spcBef>
              </a:pPr>
              <a:r>
                <a:rPr lang="en-US" altLang="en-US" sz="1600"/>
                <a:t>.</a:t>
              </a:r>
            </a:p>
            <a:p>
              <a:pPr>
                <a:spcBef>
                  <a:spcPct val="50000"/>
                </a:spcBef>
              </a:pPr>
              <a:r>
                <a:rPr lang="en-US" altLang="en-US" sz="1600"/>
                <a:t>.</a:t>
              </a:r>
            </a:p>
          </p:txBody>
        </p:sp>
      </p:grpSp>
      <p:sp>
        <p:nvSpPr>
          <p:cNvPr id="59397" name="Line 29"/>
          <p:cNvSpPr>
            <a:spLocks noChangeShapeType="1"/>
          </p:cNvSpPr>
          <p:nvPr/>
        </p:nvSpPr>
        <p:spPr bwMode="auto">
          <a:xfrm>
            <a:off x="2209800" y="2057400"/>
            <a:ext cx="1066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398" name="Text Box 30"/>
          <p:cNvSpPr txBox="1">
            <a:spLocks noChangeArrowheads="1"/>
          </p:cNvSpPr>
          <p:nvPr/>
        </p:nvSpPr>
        <p:spPr bwMode="auto">
          <a:xfrm>
            <a:off x="2209800" y="1600200"/>
            <a:ext cx="14478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/>
              <a:t>Similarity?</a:t>
            </a:r>
          </a:p>
        </p:txBody>
      </p:sp>
      <p:sp>
        <p:nvSpPr>
          <p:cNvPr id="59399" name="Rectangle 31"/>
          <p:cNvSpPr>
            <a:spLocks noChangeArrowheads="1"/>
          </p:cNvSpPr>
          <p:nvPr/>
        </p:nvSpPr>
        <p:spPr bwMode="auto">
          <a:xfrm>
            <a:off x="381000" y="3200400"/>
            <a:ext cx="579120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>
            <a:lvl1pPr marL="342900" indent="-342900"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zh-CN" altLang="en-US" sz="2400" b="0" dirty="0"/>
              <a:t>最小</a:t>
            </a:r>
            <a:endParaRPr lang="en-US" altLang="en-US" sz="2400" b="0" dirty="0"/>
          </a:p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zh-CN" altLang="en-US" sz="2400" b="0" dirty="0"/>
              <a:t>最大</a:t>
            </a:r>
            <a:endParaRPr lang="en-US" altLang="en-US" sz="2400" b="0" dirty="0"/>
          </a:p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zh-CN" altLang="en-US" sz="2400" b="0" dirty="0"/>
              <a:t>平均</a:t>
            </a:r>
            <a:endParaRPr lang="en-US" altLang="en-US" sz="2400" b="0" dirty="0"/>
          </a:p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zh-CN" altLang="en-US" sz="2400" b="0" dirty="0"/>
              <a:t>中心距离</a:t>
            </a:r>
            <a:endParaRPr lang="en-US" altLang="zh-CN" sz="2400" b="0" dirty="0"/>
          </a:p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zh-CN" altLang="en-US" sz="2400" b="0" dirty="0"/>
              <a:t>其他</a:t>
            </a:r>
            <a:endParaRPr lang="en-US" altLang="en-US" sz="2400" b="0" dirty="0"/>
          </a:p>
        </p:txBody>
      </p:sp>
      <p:sp>
        <p:nvSpPr>
          <p:cNvPr id="59400" name="Freeform 32" descr="5%"/>
          <p:cNvSpPr>
            <a:spLocks/>
          </p:cNvSpPr>
          <p:nvPr/>
        </p:nvSpPr>
        <p:spPr bwMode="auto">
          <a:xfrm rot="-5400000">
            <a:off x="462757" y="1289843"/>
            <a:ext cx="1828800" cy="1382713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401" name="Oval 33"/>
          <p:cNvSpPr>
            <a:spLocks noChangeArrowheads="1"/>
          </p:cNvSpPr>
          <p:nvPr/>
        </p:nvSpPr>
        <p:spPr bwMode="auto">
          <a:xfrm rot="-5400000">
            <a:off x="1752600" y="2209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59402" name="Oval 34"/>
          <p:cNvSpPr>
            <a:spLocks noChangeArrowheads="1"/>
          </p:cNvSpPr>
          <p:nvPr/>
        </p:nvSpPr>
        <p:spPr bwMode="auto">
          <a:xfrm rot="-5400000">
            <a:off x="1676400" y="1447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59403" name="Oval 35"/>
          <p:cNvSpPr>
            <a:spLocks noChangeArrowheads="1"/>
          </p:cNvSpPr>
          <p:nvPr/>
        </p:nvSpPr>
        <p:spPr bwMode="auto">
          <a:xfrm rot="-5400000">
            <a:off x="838200" y="19050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59404" name="Oval 36"/>
          <p:cNvSpPr>
            <a:spLocks noChangeArrowheads="1"/>
          </p:cNvSpPr>
          <p:nvPr/>
        </p:nvSpPr>
        <p:spPr bwMode="auto">
          <a:xfrm rot="-5400000">
            <a:off x="1903413" y="1751013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59405" name="Freeform 37" descr="5%"/>
          <p:cNvSpPr>
            <a:spLocks/>
          </p:cNvSpPr>
          <p:nvPr/>
        </p:nvSpPr>
        <p:spPr bwMode="auto">
          <a:xfrm rot="5400000" flipV="1">
            <a:off x="3352800" y="1143000"/>
            <a:ext cx="1828800" cy="1676400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406" name="Oval 38"/>
          <p:cNvSpPr>
            <a:spLocks noChangeArrowheads="1"/>
          </p:cNvSpPr>
          <p:nvPr/>
        </p:nvSpPr>
        <p:spPr bwMode="auto">
          <a:xfrm rot="5400000" flipV="1">
            <a:off x="4876800" y="1600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59407" name="Oval 39"/>
          <p:cNvSpPr>
            <a:spLocks noChangeArrowheads="1"/>
          </p:cNvSpPr>
          <p:nvPr/>
        </p:nvSpPr>
        <p:spPr bwMode="auto">
          <a:xfrm rot="5400000" flipV="1">
            <a:off x="3516313" y="1598613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59408" name="Oval 40"/>
          <p:cNvSpPr>
            <a:spLocks noChangeArrowheads="1"/>
          </p:cNvSpPr>
          <p:nvPr/>
        </p:nvSpPr>
        <p:spPr bwMode="auto">
          <a:xfrm rot="5400000" flipV="1">
            <a:off x="4038600" y="2209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59409" name="Oval 41"/>
          <p:cNvSpPr>
            <a:spLocks noChangeArrowheads="1"/>
          </p:cNvSpPr>
          <p:nvPr/>
        </p:nvSpPr>
        <p:spPr bwMode="auto">
          <a:xfrm rot="5400000" flipV="1">
            <a:off x="4038600" y="1219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59410" name="Text Box 42"/>
          <p:cNvSpPr txBox="1">
            <a:spLocks noChangeArrowheads="1"/>
          </p:cNvSpPr>
          <p:nvPr/>
        </p:nvSpPr>
        <p:spPr bwMode="auto">
          <a:xfrm>
            <a:off x="5943600" y="4343400"/>
            <a:ext cx="2514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/>
              <a:t>Proximity Matrix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zh-CN" altLang="en-US" sz="2800" dirty="0"/>
              <a:t>类间距离的定义</a:t>
            </a:r>
            <a:endParaRPr lang="en-US" altLang="en-US" sz="2800" dirty="0"/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763" y="2344738"/>
            <a:ext cx="4800600" cy="3303587"/>
          </a:xfrm>
        </p:spPr>
        <p:txBody>
          <a:bodyPr/>
          <a:lstStyle/>
          <a:p>
            <a:pPr marL="990600" lvl="1" indent="-533400">
              <a:lnSpc>
                <a:spcPct val="90000"/>
              </a:lnSpc>
              <a:spcBef>
                <a:spcPct val="20000"/>
              </a:spcBef>
              <a:buFont typeface="Arial" charset="0"/>
              <a:buNone/>
            </a:pPr>
            <a:r>
              <a:rPr lang="en-US" altLang="en-US" sz="1000"/>
              <a:t> </a:t>
            </a:r>
          </a:p>
        </p:txBody>
      </p:sp>
      <p:grpSp>
        <p:nvGrpSpPr>
          <p:cNvPr id="60420" name="Group 4"/>
          <p:cNvGrpSpPr>
            <a:grpSpLocks/>
          </p:cNvGrpSpPr>
          <p:nvPr/>
        </p:nvGrpSpPr>
        <p:grpSpPr bwMode="auto">
          <a:xfrm>
            <a:off x="5486400" y="1066800"/>
            <a:ext cx="3429000" cy="3508375"/>
            <a:chOff x="3456" y="1440"/>
            <a:chExt cx="2160" cy="2210"/>
          </a:xfrm>
        </p:grpSpPr>
        <p:sp>
          <p:nvSpPr>
            <p:cNvPr id="60434" name="Line 5"/>
            <p:cNvSpPr>
              <a:spLocks noChangeShapeType="1"/>
            </p:cNvSpPr>
            <p:nvPr/>
          </p:nvSpPr>
          <p:spPr bwMode="auto">
            <a:xfrm>
              <a:off x="3696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435" name="Line 6"/>
            <p:cNvSpPr>
              <a:spLocks noChangeShapeType="1"/>
            </p:cNvSpPr>
            <p:nvPr/>
          </p:nvSpPr>
          <p:spPr bwMode="auto">
            <a:xfrm>
              <a:off x="3504" y="1632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436" name="Line 7"/>
            <p:cNvSpPr>
              <a:spLocks noChangeShapeType="1"/>
            </p:cNvSpPr>
            <p:nvPr/>
          </p:nvSpPr>
          <p:spPr bwMode="auto">
            <a:xfrm>
              <a:off x="4012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437" name="Line 8"/>
            <p:cNvSpPr>
              <a:spLocks noChangeShapeType="1"/>
            </p:cNvSpPr>
            <p:nvPr/>
          </p:nvSpPr>
          <p:spPr bwMode="auto">
            <a:xfrm>
              <a:off x="4329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438" name="Line 9"/>
            <p:cNvSpPr>
              <a:spLocks noChangeShapeType="1"/>
            </p:cNvSpPr>
            <p:nvPr/>
          </p:nvSpPr>
          <p:spPr bwMode="auto">
            <a:xfrm>
              <a:off x="4646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439" name="Line 10"/>
            <p:cNvSpPr>
              <a:spLocks noChangeShapeType="1"/>
            </p:cNvSpPr>
            <p:nvPr/>
          </p:nvSpPr>
          <p:spPr bwMode="auto">
            <a:xfrm>
              <a:off x="4963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440" name="Line 11"/>
            <p:cNvSpPr>
              <a:spLocks noChangeShapeType="1"/>
            </p:cNvSpPr>
            <p:nvPr/>
          </p:nvSpPr>
          <p:spPr bwMode="auto">
            <a:xfrm>
              <a:off x="5280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441" name="Line 12"/>
            <p:cNvSpPr>
              <a:spLocks noChangeShapeType="1"/>
            </p:cNvSpPr>
            <p:nvPr/>
          </p:nvSpPr>
          <p:spPr bwMode="auto">
            <a:xfrm>
              <a:off x="3504" y="1891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442" name="Line 13"/>
            <p:cNvSpPr>
              <a:spLocks noChangeShapeType="1"/>
            </p:cNvSpPr>
            <p:nvPr/>
          </p:nvSpPr>
          <p:spPr bwMode="auto">
            <a:xfrm>
              <a:off x="3504" y="2150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443" name="Line 14"/>
            <p:cNvSpPr>
              <a:spLocks noChangeShapeType="1"/>
            </p:cNvSpPr>
            <p:nvPr/>
          </p:nvSpPr>
          <p:spPr bwMode="auto">
            <a:xfrm>
              <a:off x="3504" y="2409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444" name="Line 15"/>
            <p:cNvSpPr>
              <a:spLocks noChangeShapeType="1"/>
            </p:cNvSpPr>
            <p:nvPr/>
          </p:nvSpPr>
          <p:spPr bwMode="auto">
            <a:xfrm>
              <a:off x="3504" y="2668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445" name="Line 16"/>
            <p:cNvSpPr>
              <a:spLocks noChangeShapeType="1"/>
            </p:cNvSpPr>
            <p:nvPr/>
          </p:nvSpPr>
          <p:spPr bwMode="auto">
            <a:xfrm>
              <a:off x="3504" y="2928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446" name="Text Box 17"/>
            <p:cNvSpPr txBox="1">
              <a:spLocks noChangeArrowheads="1"/>
            </p:cNvSpPr>
            <p:nvPr/>
          </p:nvSpPr>
          <p:spPr bwMode="auto">
            <a:xfrm>
              <a:off x="3456" y="168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p1</a:t>
              </a:r>
            </a:p>
          </p:txBody>
        </p:sp>
        <p:sp>
          <p:nvSpPr>
            <p:cNvPr id="60447" name="Text Box 18"/>
            <p:cNvSpPr txBox="1">
              <a:spLocks noChangeArrowheads="1"/>
            </p:cNvSpPr>
            <p:nvPr/>
          </p:nvSpPr>
          <p:spPr bwMode="auto">
            <a:xfrm>
              <a:off x="3456" y="2208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p3</a:t>
              </a:r>
            </a:p>
          </p:txBody>
        </p:sp>
        <p:sp>
          <p:nvSpPr>
            <p:cNvPr id="60448" name="Text Box 19"/>
            <p:cNvSpPr txBox="1">
              <a:spLocks noChangeArrowheads="1"/>
            </p:cNvSpPr>
            <p:nvPr/>
          </p:nvSpPr>
          <p:spPr bwMode="auto">
            <a:xfrm>
              <a:off x="3456" y="2736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p5</a:t>
              </a:r>
            </a:p>
          </p:txBody>
        </p:sp>
        <p:sp>
          <p:nvSpPr>
            <p:cNvPr id="60449" name="Text Box 20"/>
            <p:cNvSpPr txBox="1">
              <a:spLocks noChangeArrowheads="1"/>
            </p:cNvSpPr>
            <p:nvPr/>
          </p:nvSpPr>
          <p:spPr bwMode="auto">
            <a:xfrm>
              <a:off x="3456" y="2496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p4</a:t>
              </a:r>
            </a:p>
          </p:txBody>
        </p:sp>
        <p:sp>
          <p:nvSpPr>
            <p:cNvPr id="60450" name="Text Box 21"/>
            <p:cNvSpPr txBox="1">
              <a:spLocks noChangeArrowheads="1"/>
            </p:cNvSpPr>
            <p:nvPr/>
          </p:nvSpPr>
          <p:spPr bwMode="auto">
            <a:xfrm>
              <a:off x="3456" y="1968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p2</a:t>
              </a:r>
            </a:p>
          </p:txBody>
        </p:sp>
        <p:sp>
          <p:nvSpPr>
            <p:cNvPr id="60451" name="Text Box 22"/>
            <p:cNvSpPr txBox="1">
              <a:spLocks noChangeArrowheads="1"/>
            </p:cNvSpPr>
            <p:nvPr/>
          </p:nvSpPr>
          <p:spPr bwMode="auto">
            <a:xfrm>
              <a:off x="3744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p1</a:t>
              </a:r>
            </a:p>
          </p:txBody>
        </p:sp>
        <p:sp>
          <p:nvSpPr>
            <p:cNvPr id="60452" name="Text Box 23"/>
            <p:cNvSpPr txBox="1">
              <a:spLocks noChangeArrowheads="1"/>
            </p:cNvSpPr>
            <p:nvPr/>
          </p:nvSpPr>
          <p:spPr bwMode="auto">
            <a:xfrm>
              <a:off x="4032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p2</a:t>
              </a:r>
            </a:p>
          </p:txBody>
        </p:sp>
        <p:sp>
          <p:nvSpPr>
            <p:cNvPr id="60453" name="Text Box 24"/>
            <p:cNvSpPr txBox="1">
              <a:spLocks noChangeArrowheads="1"/>
            </p:cNvSpPr>
            <p:nvPr/>
          </p:nvSpPr>
          <p:spPr bwMode="auto">
            <a:xfrm>
              <a:off x="4368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p3</a:t>
              </a:r>
            </a:p>
          </p:txBody>
        </p:sp>
        <p:sp>
          <p:nvSpPr>
            <p:cNvPr id="60454" name="Text Box 25"/>
            <p:cNvSpPr txBox="1">
              <a:spLocks noChangeArrowheads="1"/>
            </p:cNvSpPr>
            <p:nvPr/>
          </p:nvSpPr>
          <p:spPr bwMode="auto">
            <a:xfrm>
              <a:off x="4704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p4</a:t>
              </a:r>
            </a:p>
          </p:txBody>
        </p:sp>
        <p:sp>
          <p:nvSpPr>
            <p:cNvPr id="60455" name="Text Box 26"/>
            <p:cNvSpPr txBox="1">
              <a:spLocks noChangeArrowheads="1"/>
            </p:cNvSpPr>
            <p:nvPr/>
          </p:nvSpPr>
          <p:spPr bwMode="auto">
            <a:xfrm>
              <a:off x="4944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p5</a:t>
              </a:r>
            </a:p>
          </p:txBody>
        </p:sp>
        <p:sp>
          <p:nvSpPr>
            <p:cNvPr id="60456" name="Text Box 27"/>
            <p:cNvSpPr txBox="1">
              <a:spLocks noChangeArrowheads="1"/>
            </p:cNvSpPr>
            <p:nvPr/>
          </p:nvSpPr>
          <p:spPr bwMode="auto">
            <a:xfrm>
              <a:off x="5280" y="1440"/>
              <a:ext cx="3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600"/>
                <a:t>. . .</a:t>
              </a:r>
            </a:p>
          </p:txBody>
        </p:sp>
        <p:sp>
          <p:nvSpPr>
            <p:cNvPr id="60457" name="Text Box 28"/>
            <p:cNvSpPr txBox="1">
              <a:spLocks noChangeArrowheads="1"/>
            </p:cNvSpPr>
            <p:nvPr/>
          </p:nvSpPr>
          <p:spPr bwMode="auto">
            <a:xfrm>
              <a:off x="3552" y="2976"/>
              <a:ext cx="336" cy="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600"/>
                <a:t>.</a:t>
              </a:r>
            </a:p>
            <a:p>
              <a:pPr>
                <a:spcBef>
                  <a:spcPct val="50000"/>
                </a:spcBef>
              </a:pPr>
              <a:r>
                <a:rPr lang="en-US" altLang="en-US" sz="1600"/>
                <a:t>.</a:t>
              </a:r>
            </a:p>
            <a:p>
              <a:pPr>
                <a:spcBef>
                  <a:spcPct val="50000"/>
                </a:spcBef>
              </a:pPr>
              <a:r>
                <a:rPr lang="en-US" altLang="en-US" sz="1600"/>
                <a:t>.</a:t>
              </a:r>
            </a:p>
          </p:txBody>
        </p:sp>
      </p:grpSp>
      <p:sp>
        <p:nvSpPr>
          <p:cNvPr id="60421" name="Freeform 29" descr="5%"/>
          <p:cNvSpPr>
            <a:spLocks/>
          </p:cNvSpPr>
          <p:nvPr/>
        </p:nvSpPr>
        <p:spPr bwMode="auto">
          <a:xfrm rot="-5400000">
            <a:off x="462757" y="1289843"/>
            <a:ext cx="1828800" cy="1382713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422" name="Oval 30"/>
          <p:cNvSpPr>
            <a:spLocks noChangeArrowheads="1"/>
          </p:cNvSpPr>
          <p:nvPr/>
        </p:nvSpPr>
        <p:spPr bwMode="auto">
          <a:xfrm rot="-5400000">
            <a:off x="1752600" y="2209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0423" name="Oval 31"/>
          <p:cNvSpPr>
            <a:spLocks noChangeArrowheads="1"/>
          </p:cNvSpPr>
          <p:nvPr/>
        </p:nvSpPr>
        <p:spPr bwMode="auto">
          <a:xfrm rot="-5400000">
            <a:off x="1676400" y="1447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0424" name="Oval 32"/>
          <p:cNvSpPr>
            <a:spLocks noChangeArrowheads="1"/>
          </p:cNvSpPr>
          <p:nvPr/>
        </p:nvSpPr>
        <p:spPr bwMode="auto">
          <a:xfrm rot="-5400000">
            <a:off x="838200" y="19050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0425" name="Oval 33"/>
          <p:cNvSpPr>
            <a:spLocks noChangeArrowheads="1"/>
          </p:cNvSpPr>
          <p:nvPr/>
        </p:nvSpPr>
        <p:spPr bwMode="auto">
          <a:xfrm rot="-5400000">
            <a:off x="1903413" y="1751013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0426" name="Freeform 34" descr="5%"/>
          <p:cNvSpPr>
            <a:spLocks/>
          </p:cNvSpPr>
          <p:nvPr/>
        </p:nvSpPr>
        <p:spPr bwMode="auto">
          <a:xfrm rot="5400000" flipV="1">
            <a:off x="3352800" y="1143000"/>
            <a:ext cx="1828800" cy="1676400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427" name="Oval 35"/>
          <p:cNvSpPr>
            <a:spLocks noChangeArrowheads="1"/>
          </p:cNvSpPr>
          <p:nvPr/>
        </p:nvSpPr>
        <p:spPr bwMode="auto">
          <a:xfrm rot="5400000" flipV="1">
            <a:off x="4876800" y="1600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0428" name="Oval 36"/>
          <p:cNvSpPr>
            <a:spLocks noChangeArrowheads="1"/>
          </p:cNvSpPr>
          <p:nvPr/>
        </p:nvSpPr>
        <p:spPr bwMode="auto">
          <a:xfrm rot="5400000" flipV="1">
            <a:off x="3516313" y="1598613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0429" name="Oval 37"/>
          <p:cNvSpPr>
            <a:spLocks noChangeArrowheads="1"/>
          </p:cNvSpPr>
          <p:nvPr/>
        </p:nvSpPr>
        <p:spPr bwMode="auto">
          <a:xfrm rot="5400000" flipV="1">
            <a:off x="4038600" y="2209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0430" name="Oval 38"/>
          <p:cNvSpPr>
            <a:spLocks noChangeArrowheads="1"/>
          </p:cNvSpPr>
          <p:nvPr/>
        </p:nvSpPr>
        <p:spPr bwMode="auto">
          <a:xfrm rot="5400000" flipV="1">
            <a:off x="4038600" y="1219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0431" name="Line 39"/>
          <p:cNvSpPr>
            <a:spLocks noChangeShapeType="1"/>
          </p:cNvSpPr>
          <p:nvPr/>
        </p:nvSpPr>
        <p:spPr bwMode="auto">
          <a:xfrm flipV="1">
            <a:off x="1981200" y="1600200"/>
            <a:ext cx="1524000" cy="15240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432" name="Text Box 40"/>
          <p:cNvSpPr txBox="1">
            <a:spLocks noChangeArrowheads="1"/>
          </p:cNvSpPr>
          <p:nvPr/>
        </p:nvSpPr>
        <p:spPr bwMode="auto">
          <a:xfrm>
            <a:off x="5943600" y="4343400"/>
            <a:ext cx="2514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/>
              <a:t>Proximity Matrix</a:t>
            </a:r>
          </a:p>
        </p:txBody>
      </p:sp>
      <p:sp>
        <p:nvSpPr>
          <p:cNvPr id="60433" name="Rectangle 41"/>
          <p:cNvSpPr>
            <a:spLocks noChangeArrowheads="1"/>
          </p:cNvSpPr>
          <p:nvPr/>
        </p:nvSpPr>
        <p:spPr bwMode="auto">
          <a:xfrm>
            <a:off x="381000" y="3200400"/>
            <a:ext cx="579120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>
            <a:lvl1pPr marL="342900" indent="-342900"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zh-CN" altLang="en-US" sz="2400" b="0" dirty="0">
                <a:solidFill>
                  <a:srgbClr val="FF0000"/>
                </a:solidFill>
              </a:rPr>
              <a:t>最小</a:t>
            </a:r>
            <a:endParaRPr lang="en-US" altLang="en-US" sz="2400" b="0" dirty="0">
              <a:solidFill>
                <a:srgbClr val="FF0000"/>
              </a:solidFill>
            </a:endParaRPr>
          </a:p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zh-CN" altLang="en-US" sz="2400" b="0" dirty="0"/>
              <a:t>最大</a:t>
            </a:r>
            <a:endParaRPr lang="en-US" altLang="en-US" sz="2400" b="0" dirty="0"/>
          </a:p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zh-CN" altLang="en-US" sz="2400" b="0" dirty="0"/>
              <a:t>平均</a:t>
            </a:r>
            <a:endParaRPr lang="en-US" altLang="en-US" sz="2400" b="0" dirty="0"/>
          </a:p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zh-CN" altLang="en-US" sz="2400" b="0" dirty="0"/>
              <a:t>中心距离</a:t>
            </a:r>
            <a:endParaRPr lang="en-US" altLang="zh-CN" sz="2400" b="0" dirty="0"/>
          </a:p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zh-CN" altLang="en-US" sz="2400" b="0" dirty="0"/>
              <a:t>其他</a:t>
            </a:r>
            <a:endParaRPr lang="en-US" altLang="en-US" sz="2400" b="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zh-CN" altLang="en-US" sz="2800" dirty="0"/>
              <a:t>类间距离的定义</a:t>
            </a:r>
            <a:endParaRPr lang="en-US" altLang="en-US" sz="2800" dirty="0"/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763" y="2344738"/>
            <a:ext cx="4800600" cy="3303587"/>
          </a:xfrm>
        </p:spPr>
        <p:txBody>
          <a:bodyPr/>
          <a:lstStyle/>
          <a:p>
            <a:pPr marL="990600" lvl="1" indent="-533400">
              <a:lnSpc>
                <a:spcPct val="90000"/>
              </a:lnSpc>
              <a:spcBef>
                <a:spcPct val="20000"/>
              </a:spcBef>
              <a:buFont typeface="Arial" charset="0"/>
              <a:buNone/>
            </a:pPr>
            <a:r>
              <a:rPr lang="en-US" altLang="en-US" sz="1000"/>
              <a:t> </a:t>
            </a:r>
          </a:p>
        </p:txBody>
      </p:sp>
      <p:grpSp>
        <p:nvGrpSpPr>
          <p:cNvPr id="61444" name="Group 4"/>
          <p:cNvGrpSpPr>
            <a:grpSpLocks/>
          </p:cNvGrpSpPr>
          <p:nvPr/>
        </p:nvGrpSpPr>
        <p:grpSpPr bwMode="auto">
          <a:xfrm>
            <a:off x="5486400" y="1066800"/>
            <a:ext cx="3429000" cy="3508375"/>
            <a:chOff x="3456" y="1440"/>
            <a:chExt cx="2160" cy="2210"/>
          </a:xfrm>
        </p:grpSpPr>
        <p:sp>
          <p:nvSpPr>
            <p:cNvPr id="61458" name="Line 5"/>
            <p:cNvSpPr>
              <a:spLocks noChangeShapeType="1"/>
            </p:cNvSpPr>
            <p:nvPr/>
          </p:nvSpPr>
          <p:spPr bwMode="auto">
            <a:xfrm>
              <a:off x="3696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459" name="Line 6"/>
            <p:cNvSpPr>
              <a:spLocks noChangeShapeType="1"/>
            </p:cNvSpPr>
            <p:nvPr/>
          </p:nvSpPr>
          <p:spPr bwMode="auto">
            <a:xfrm>
              <a:off x="3504" y="1632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460" name="Line 7"/>
            <p:cNvSpPr>
              <a:spLocks noChangeShapeType="1"/>
            </p:cNvSpPr>
            <p:nvPr/>
          </p:nvSpPr>
          <p:spPr bwMode="auto">
            <a:xfrm>
              <a:off x="4012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461" name="Line 8"/>
            <p:cNvSpPr>
              <a:spLocks noChangeShapeType="1"/>
            </p:cNvSpPr>
            <p:nvPr/>
          </p:nvSpPr>
          <p:spPr bwMode="auto">
            <a:xfrm>
              <a:off x="4329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462" name="Line 9"/>
            <p:cNvSpPr>
              <a:spLocks noChangeShapeType="1"/>
            </p:cNvSpPr>
            <p:nvPr/>
          </p:nvSpPr>
          <p:spPr bwMode="auto">
            <a:xfrm>
              <a:off x="4646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463" name="Line 10"/>
            <p:cNvSpPr>
              <a:spLocks noChangeShapeType="1"/>
            </p:cNvSpPr>
            <p:nvPr/>
          </p:nvSpPr>
          <p:spPr bwMode="auto">
            <a:xfrm>
              <a:off x="4963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464" name="Line 11"/>
            <p:cNvSpPr>
              <a:spLocks noChangeShapeType="1"/>
            </p:cNvSpPr>
            <p:nvPr/>
          </p:nvSpPr>
          <p:spPr bwMode="auto">
            <a:xfrm>
              <a:off x="5280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465" name="Line 12"/>
            <p:cNvSpPr>
              <a:spLocks noChangeShapeType="1"/>
            </p:cNvSpPr>
            <p:nvPr/>
          </p:nvSpPr>
          <p:spPr bwMode="auto">
            <a:xfrm>
              <a:off x="3504" y="1891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466" name="Line 13"/>
            <p:cNvSpPr>
              <a:spLocks noChangeShapeType="1"/>
            </p:cNvSpPr>
            <p:nvPr/>
          </p:nvSpPr>
          <p:spPr bwMode="auto">
            <a:xfrm>
              <a:off x="3504" y="2150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467" name="Line 14"/>
            <p:cNvSpPr>
              <a:spLocks noChangeShapeType="1"/>
            </p:cNvSpPr>
            <p:nvPr/>
          </p:nvSpPr>
          <p:spPr bwMode="auto">
            <a:xfrm>
              <a:off x="3504" y="2409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468" name="Line 15"/>
            <p:cNvSpPr>
              <a:spLocks noChangeShapeType="1"/>
            </p:cNvSpPr>
            <p:nvPr/>
          </p:nvSpPr>
          <p:spPr bwMode="auto">
            <a:xfrm>
              <a:off x="3504" y="2668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469" name="Line 16"/>
            <p:cNvSpPr>
              <a:spLocks noChangeShapeType="1"/>
            </p:cNvSpPr>
            <p:nvPr/>
          </p:nvSpPr>
          <p:spPr bwMode="auto">
            <a:xfrm>
              <a:off x="3504" y="2928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470" name="Text Box 17"/>
            <p:cNvSpPr txBox="1">
              <a:spLocks noChangeArrowheads="1"/>
            </p:cNvSpPr>
            <p:nvPr/>
          </p:nvSpPr>
          <p:spPr bwMode="auto">
            <a:xfrm>
              <a:off x="3456" y="168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p1</a:t>
              </a:r>
            </a:p>
          </p:txBody>
        </p:sp>
        <p:sp>
          <p:nvSpPr>
            <p:cNvPr id="61471" name="Text Box 18"/>
            <p:cNvSpPr txBox="1">
              <a:spLocks noChangeArrowheads="1"/>
            </p:cNvSpPr>
            <p:nvPr/>
          </p:nvSpPr>
          <p:spPr bwMode="auto">
            <a:xfrm>
              <a:off x="3456" y="2208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p3</a:t>
              </a:r>
            </a:p>
          </p:txBody>
        </p:sp>
        <p:sp>
          <p:nvSpPr>
            <p:cNvPr id="61472" name="Text Box 19"/>
            <p:cNvSpPr txBox="1">
              <a:spLocks noChangeArrowheads="1"/>
            </p:cNvSpPr>
            <p:nvPr/>
          </p:nvSpPr>
          <p:spPr bwMode="auto">
            <a:xfrm>
              <a:off x="3456" y="2736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p5</a:t>
              </a:r>
            </a:p>
          </p:txBody>
        </p:sp>
        <p:sp>
          <p:nvSpPr>
            <p:cNvPr id="61473" name="Text Box 20"/>
            <p:cNvSpPr txBox="1">
              <a:spLocks noChangeArrowheads="1"/>
            </p:cNvSpPr>
            <p:nvPr/>
          </p:nvSpPr>
          <p:spPr bwMode="auto">
            <a:xfrm>
              <a:off x="3456" y="2496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p4</a:t>
              </a:r>
            </a:p>
          </p:txBody>
        </p:sp>
        <p:sp>
          <p:nvSpPr>
            <p:cNvPr id="61474" name="Text Box 21"/>
            <p:cNvSpPr txBox="1">
              <a:spLocks noChangeArrowheads="1"/>
            </p:cNvSpPr>
            <p:nvPr/>
          </p:nvSpPr>
          <p:spPr bwMode="auto">
            <a:xfrm>
              <a:off x="3456" y="1968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p2</a:t>
              </a:r>
            </a:p>
          </p:txBody>
        </p:sp>
        <p:sp>
          <p:nvSpPr>
            <p:cNvPr id="61475" name="Text Box 22"/>
            <p:cNvSpPr txBox="1">
              <a:spLocks noChangeArrowheads="1"/>
            </p:cNvSpPr>
            <p:nvPr/>
          </p:nvSpPr>
          <p:spPr bwMode="auto">
            <a:xfrm>
              <a:off x="3744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p1</a:t>
              </a:r>
            </a:p>
          </p:txBody>
        </p:sp>
        <p:sp>
          <p:nvSpPr>
            <p:cNvPr id="61476" name="Text Box 23"/>
            <p:cNvSpPr txBox="1">
              <a:spLocks noChangeArrowheads="1"/>
            </p:cNvSpPr>
            <p:nvPr/>
          </p:nvSpPr>
          <p:spPr bwMode="auto">
            <a:xfrm>
              <a:off x="4032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p2</a:t>
              </a:r>
            </a:p>
          </p:txBody>
        </p:sp>
        <p:sp>
          <p:nvSpPr>
            <p:cNvPr id="61477" name="Text Box 24"/>
            <p:cNvSpPr txBox="1">
              <a:spLocks noChangeArrowheads="1"/>
            </p:cNvSpPr>
            <p:nvPr/>
          </p:nvSpPr>
          <p:spPr bwMode="auto">
            <a:xfrm>
              <a:off x="4368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p3</a:t>
              </a:r>
            </a:p>
          </p:txBody>
        </p:sp>
        <p:sp>
          <p:nvSpPr>
            <p:cNvPr id="61478" name="Text Box 25"/>
            <p:cNvSpPr txBox="1">
              <a:spLocks noChangeArrowheads="1"/>
            </p:cNvSpPr>
            <p:nvPr/>
          </p:nvSpPr>
          <p:spPr bwMode="auto">
            <a:xfrm>
              <a:off x="4704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p4</a:t>
              </a:r>
            </a:p>
          </p:txBody>
        </p:sp>
        <p:sp>
          <p:nvSpPr>
            <p:cNvPr id="61479" name="Text Box 26"/>
            <p:cNvSpPr txBox="1">
              <a:spLocks noChangeArrowheads="1"/>
            </p:cNvSpPr>
            <p:nvPr/>
          </p:nvSpPr>
          <p:spPr bwMode="auto">
            <a:xfrm>
              <a:off x="4944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p5</a:t>
              </a:r>
            </a:p>
          </p:txBody>
        </p:sp>
        <p:sp>
          <p:nvSpPr>
            <p:cNvPr id="61480" name="Text Box 27"/>
            <p:cNvSpPr txBox="1">
              <a:spLocks noChangeArrowheads="1"/>
            </p:cNvSpPr>
            <p:nvPr/>
          </p:nvSpPr>
          <p:spPr bwMode="auto">
            <a:xfrm>
              <a:off x="5280" y="1440"/>
              <a:ext cx="3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600"/>
                <a:t>. . .</a:t>
              </a:r>
            </a:p>
          </p:txBody>
        </p:sp>
        <p:sp>
          <p:nvSpPr>
            <p:cNvPr id="61481" name="Text Box 28"/>
            <p:cNvSpPr txBox="1">
              <a:spLocks noChangeArrowheads="1"/>
            </p:cNvSpPr>
            <p:nvPr/>
          </p:nvSpPr>
          <p:spPr bwMode="auto">
            <a:xfrm>
              <a:off x="3552" y="2976"/>
              <a:ext cx="336" cy="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600"/>
                <a:t>.</a:t>
              </a:r>
            </a:p>
            <a:p>
              <a:pPr>
                <a:spcBef>
                  <a:spcPct val="50000"/>
                </a:spcBef>
              </a:pPr>
              <a:r>
                <a:rPr lang="en-US" altLang="en-US" sz="1600"/>
                <a:t>.</a:t>
              </a:r>
            </a:p>
            <a:p>
              <a:pPr>
                <a:spcBef>
                  <a:spcPct val="50000"/>
                </a:spcBef>
              </a:pPr>
              <a:r>
                <a:rPr lang="en-US" altLang="en-US" sz="1600"/>
                <a:t>.</a:t>
              </a:r>
            </a:p>
          </p:txBody>
        </p:sp>
      </p:grpSp>
      <p:sp>
        <p:nvSpPr>
          <p:cNvPr id="61445" name="Freeform 29" descr="5%"/>
          <p:cNvSpPr>
            <a:spLocks/>
          </p:cNvSpPr>
          <p:nvPr/>
        </p:nvSpPr>
        <p:spPr bwMode="auto">
          <a:xfrm rot="-5400000">
            <a:off x="462757" y="1289843"/>
            <a:ext cx="1828800" cy="1382713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446" name="Oval 30"/>
          <p:cNvSpPr>
            <a:spLocks noChangeArrowheads="1"/>
          </p:cNvSpPr>
          <p:nvPr/>
        </p:nvSpPr>
        <p:spPr bwMode="auto">
          <a:xfrm rot="-5400000">
            <a:off x="1752600" y="2209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1447" name="Oval 31"/>
          <p:cNvSpPr>
            <a:spLocks noChangeArrowheads="1"/>
          </p:cNvSpPr>
          <p:nvPr/>
        </p:nvSpPr>
        <p:spPr bwMode="auto">
          <a:xfrm rot="-5400000">
            <a:off x="1676400" y="1447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1448" name="Oval 32"/>
          <p:cNvSpPr>
            <a:spLocks noChangeArrowheads="1"/>
          </p:cNvSpPr>
          <p:nvPr/>
        </p:nvSpPr>
        <p:spPr bwMode="auto">
          <a:xfrm rot="-5400000">
            <a:off x="838200" y="19050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1449" name="Oval 33"/>
          <p:cNvSpPr>
            <a:spLocks noChangeArrowheads="1"/>
          </p:cNvSpPr>
          <p:nvPr/>
        </p:nvSpPr>
        <p:spPr bwMode="auto">
          <a:xfrm rot="-5400000">
            <a:off x="1903413" y="1751013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1450" name="Freeform 34" descr="5%"/>
          <p:cNvSpPr>
            <a:spLocks/>
          </p:cNvSpPr>
          <p:nvPr/>
        </p:nvSpPr>
        <p:spPr bwMode="auto">
          <a:xfrm rot="5400000" flipV="1">
            <a:off x="3352800" y="1143000"/>
            <a:ext cx="1828800" cy="1676400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451" name="Oval 35"/>
          <p:cNvSpPr>
            <a:spLocks noChangeArrowheads="1"/>
          </p:cNvSpPr>
          <p:nvPr/>
        </p:nvSpPr>
        <p:spPr bwMode="auto">
          <a:xfrm rot="5400000" flipV="1">
            <a:off x="4876800" y="1600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1452" name="Oval 36"/>
          <p:cNvSpPr>
            <a:spLocks noChangeArrowheads="1"/>
          </p:cNvSpPr>
          <p:nvPr/>
        </p:nvSpPr>
        <p:spPr bwMode="auto">
          <a:xfrm rot="5400000" flipV="1">
            <a:off x="3516313" y="1598613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1453" name="Oval 37"/>
          <p:cNvSpPr>
            <a:spLocks noChangeArrowheads="1"/>
          </p:cNvSpPr>
          <p:nvPr/>
        </p:nvSpPr>
        <p:spPr bwMode="auto">
          <a:xfrm rot="5400000" flipV="1">
            <a:off x="4038600" y="2209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1454" name="Oval 38"/>
          <p:cNvSpPr>
            <a:spLocks noChangeArrowheads="1"/>
          </p:cNvSpPr>
          <p:nvPr/>
        </p:nvSpPr>
        <p:spPr bwMode="auto">
          <a:xfrm rot="5400000" flipV="1">
            <a:off x="4038600" y="1219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1455" name="Line 39"/>
          <p:cNvSpPr>
            <a:spLocks noChangeShapeType="1"/>
          </p:cNvSpPr>
          <p:nvPr/>
        </p:nvSpPr>
        <p:spPr bwMode="auto">
          <a:xfrm flipV="1">
            <a:off x="914400" y="1676400"/>
            <a:ext cx="3962400" cy="22860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456" name="Text Box 40"/>
          <p:cNvSpPr txBox="1">
            <a:spLocks noChangeArrowheads="1"/>
          </p:cNvSpPr>
          <p:nvPr/>
        </p:nvSpPr>
        <p:spPr bwMode="auto">
          <a:xfrm>
            <a:off x="5943600" y="4343400"/>
            <a:ext cx="2514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/>
              <a:t>Proximity Matrix</a:t>
            </a:r>
          </a:p>
        </p:txBody>
      </p:sp>
      <p:sp>
        <p:nvSpPr>
          <p:cNvPr id="61457" name="Rectangle 41"/>
          <p:cNvSpPr>
            <a:spLocks noChangeArrowheads="1"/>
          </p:cNvSpPr>
          <p:nvPr/>
        </p:nvSpPr>
        <p:spPr bwMode="auto">
          <a:xfrm>
            <a:off x="381000" y="3200400"/>
            <a:ext cx="579120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>
            <a:lvl1pPr marL="342900" indent="-342900"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zh-CN" altLang="en-US" sz="2400" b="0" dirty="0"/>
              <a:t>最小</a:t>
            </a:r>
            <a:endParaRPr lang="en-US" altLang="en-US" sz="2400" b="0" dirty="0"/>
          </a:p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zh-CN" altLang="en-US" sz="2400" b="0" dirty="0">
                <a:solidFill>
                  <a:srgbClr val="FF0000"/>
                </a:solidFill>
              </a:rPr>
              <a:t>最大</a:t>
            </a:r>
            <a:endParaRPr lang="en-US" altLang="en-US" sz="2400" b="0" dirty="0">
              <a:solidFill>
                <a:srgbClr val="FF0000"/>
              </a:solidFill>
            </a:endParaRPr>
          </a:p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zh-CN" altLang="en-US" sz="2400" b="0" dirty="0"/>
              <a:t>平均</a:t>
            </a:r>
            <a:endParaRPr lang="en-US" altLang="en-US" sz="2400" b="0" dirty="0"/>
          </a:p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zh-CN" altLang="en-US" sz="2400" b="0" dirty="0"/>
              <a:t>中心距离</a:t>
            </a:r>
            <a:endParaRPr lang="en-US" altLang="zh-CN" sz="2400" b="0" dirty="0"/>
          </a:p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zh-CN" altLang="en-US" sz="2400" b="0" dirty="0"/>
              <a:t>其他</a:t>
            </a:r>
            <a:endParaRPr lang="en-US" altLang="en-US" sz="2400" b="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zh-CN" altLang="en-US" sz="2800" dirty="0"/>
              <a:t>类间距离的定义</a:t>
            </a:r>
            <a:endParaRPr lang="en-US" altLang="en-US" sz="2800" dirty="0"/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763" y="2344738"/>
            <a:ext cx="4800600" cy="3303587"/>
          </a:xfrm>
        </p:spPr>
        <p:txBody>
          <a:bodyPr/>
          <a:lstStyle/>
          <a:p>
            <a:pPr marL="990600" lvl="1" indent="-533400">
              <a:lnSpc>
                <a:spcPct val="90000"/>
              </a:lnSpc>
              <a:spcBef>
                <a:spcPct val="20000"/>
              </a:spcBef>
              <a:buFont typeface="Arial" charset="0"/>
              <a:buNone/>
            </a:pPr>
            <a:r>
              <a:rPr lang="en-US" altLang="en-US" sz="1000"/>
              <a:t> </a:t>
            </a:r>
          </a:p>
        </p:txBody>
      </p:sp>
      <p:grpSp>
        <p:nvGrpSpPr>
          <p:cNvPr id="62468" name="Group 4"/>
          <p:cNvGrpSpPr>
            <a:grpSpLocks/>
          </p:cNvGrpSpPr>
          <p:nvPr/>
        </p:nvGrpSpPr>
        <p:grpSpPr bwMode="auto">
          <a:xfrm>
            <a:off x="5486400" y="1066800"/>
            <a:ext cx="3429000" cy="3508375"/>
            <a:chOff x="3456" y="1440"/>
            <a:chExt cx="2160" cy="2210"/>
          </a:xfrm>
        </p:grpSpPr>
        <p:sp>
          <p:nvSpPr>
            <p:cNvPr id="62497" name="Line 5"/>
            <p:cNvSpPr>
              <a:spLocks noChangeShapeType="1"/>
            </p:cNvSpPr>
            <p:nvPr/>
          </p:nvSpPr>
          <p:spPr bwMode="auto">
            <a:xfrm>
              <a:off x="3696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498" name="Line 6"/>
            <p:cNvSpPr>
              <a:spLocks noChangeShapeType="1"/>
            </p:cNvSpPr>
            <p:nvPr/>
          </p:nvSpPr>
          <p:spPr bwMode="auto">
            <a:xfrm>
              <a:off x="3504" y="1632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499" name="Line 7"/>
            <p:cNvSpPr>
              <a:spLocks noChangeShapeType="1"/>
            </p:cNvSpPr>
            <p:nvPr/>
          </p:nvSpPr>
          <p:spPr bwMode="auto">
            <a:xfrm>
              <a:off x="4012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500" name="Line 8"/>
            <p:cNvSpPr>
              <a:spLocks noChangeShapeType="1"/>
            </p:cNvSpPr>
            <p:nvPr/>
          </p:nvSpPr>
          <p:spPr bwMode="auto">
            <a:xfrm>
              <a:off x="4329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501" name="Line 9"/>
            <p:cNvSpPr>
              <a:spLocks noChangeShapeType="1"/>
            </p:cNvSpPr>
            <p:nvPr/>
          </p:nvSpPr>
          <p:spPr bwMode="auto">
            <a:xfrm>
              <a:off x="4646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502" name="Line 10"/>
            <p:cNvSpPr>
              <a:spLocks noChangeShapeType="1"/>
            </p:cNvSpPr>
            <p:nvPr/>
          </p:nvSpPr>
          <p:spPr bwMode="auto">
            <a:xfrm>
              <a:off x="4963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503" name="Line 11"/>
            <p:cNvSpPr>
              <a:spLocks noChangeShapeType="1"/>
            </p:cNvSpPr>
            <p:nvPr/>
          </p:nvSpPr>
          <p:spPr bwMode="auto">
            <a:xfrm>
              <a:off x="5280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504" name="Line 12"/>
            <p:cNvSpPr>
              <a:spLocks noChangeShapeType="1"/>
            </p:cNvSpPr>
            <p:nvPr/>
          </p:nvSpPr>
          <p:spPr bwMode="auto">
            <a:xfrm>
              <a:off x="3504" y="1891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505" name="Line 13"/>
            <p:cNvSpPr>
              <a:spLocks noChangeShapeType="1"/>
            </p:cNvSpPr>
            <p:nvPr/>
          </p:nvSpPr>
          <p:spPr bwMode="auto">
            <a:xfrm>
              <a:off x="3504" y="2150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506" name="Line 14"/>
            <p:cNvSpPr>
              <a:spLocks noChangeShapeType="1"/>
            </p:cNvSpPr>
            <p:nvPr/>
          </p:nvSpPr>
          <p:spPr bwMode="auto">
            <a:xfrm>
              <a:off x="3504" y="2409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507" name="Line 15"/>
            <p:cNvSpPr>
              <a:spLocks noChangeShapeType="1"/>
            </p:cNvSpPr>
            <p:nvPr/>
          </p:nvSpPr>
          <p:spPr bwMode="auto">
            <a:xfrm>
              <a:off x="3504" y="2668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508" name="Line 16"/>
            <p:cNvSpPr>
              <a:spLocks noChangeShapeType="1"/>
            </p:cNvSpPr>
            <p:nvPr/>
          </p:nvSpPr>
          <p:spPr bwMode="auto">
            <a:xfrm>
              <a:off x="3504" y="2928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509" name="Text Box 17"/>
            <p:cNvSpPr txBox="1">
              <a:spLocks noChangeArrowheads="1"/>
            </p:cNvSpPr>
            <p:nvPr/>
          </p:nvSpPr>
          <p:spPr bwMode="auto">
            <a:xfrm>
              <a:off x="3456" y="168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p1</a:t>
              </a:r>
            </a:p>
          </p:txBody>
        </p:sp>
        <p:sp>
          <p:nvSpPr>
            <p:cNvPr id="62510" name="Text Box 18"/>
            <p:cNvSpPr txBox="1">
              <a:spLocks noChangeArrowheads="1"/>
            </p:cNvSpPr>
            <p:nvPr/>
          </p:nvSpPr>
          <p:spPr bwMode="auto">
            <a:xfrm>
              <a:off x="3456" y="2208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p3</a:t>
              </a:r>
            </a:p>
          </p:txBody>
        </p:sp>
        <p:sp>
          <p:nvSpPr>
            <p:cNvPr id="62511" name="Text Box 19"/>
            <p:cNvSpPr txBox="1">
              <a:spLocks noChangeArrowheads="1"/>
            </p:cNvSpPr>
            <p:nvPr/>
          </p:nvSpPr>
          <p:spPr bwMode="auto">
            <a:xfrm>
              <a:off x="3456" y="2736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p5</a:t>
              </a:r>
            </a:p>
          </p:txBody>
        </p:sp>
        <p:sp>
          <p:nvSpPr>
            <p:cNvPr id="62512" name="Text Box 20"/>
            <p:cNvSpPr txBox="1">
              <a:spLocks noChangeArrowheads="1"/>
            </p:cNvSpPr>
            <p:nvPr/>
          </p:nvSpPr>
          <p:spPr bwMode="auto">
            <a:xfrm>
              <a:off x="3456" y="2496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p4</a:t>
              </a:r>
            </a:p>
          </p:txBody>
        </p:sp>
        <p:sp>
          <p:nvSpPr>
            <p:cNvPr id="62513" name="Text Box 21"/>
            <p:cNvSpPr txBox="1">
              <a:spLocks noChangeArrowheads="1"/>
            </p:cNvSpPr>
            <p:nvPr/>
          </p:nvSpPr>
          <p:spPr bwMode="auto">
            <a:xfrm>
              <a:off x="3456" y="1968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p2</a:t>
              </a:r>
            </a:p>
          </p:txBody>
        </p:sp>
        <p:sp>
          <p:nvSpPr>
            <p:cNvPr id="62514" name="Text Box 22"/>
            <p:cNvSpPr txBox="1">
              <a:spLocks noChangeArrowheads="1"/>
            </p:cNvSpPr>
            <p:nvPr/>
          </p:nvSpPr>
          <p:spPr bwMode="auto">
            <a:xfrm>
              <a:off x="3744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p1</a:t>
              </a:r>
            </a:p>
          </p:txBody>
        </p:sp>
        <p:sp>
          <p:nvSpPr>
            <p:cNvPr id="62515" name="Text Box 23"/>
            <p:cNvSpPr txBox="1">
              <a:spLocks noChangeArrowheads="1"/>
            </p:cNvSpPr>
            <p:nvPr/>
          </p:nvSpPr>
          <p:spPr bwMode="auto">
            <a:xfrm>
              <a:off x="4032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p2</a:t>
              </a:r>
            </a:p>
          </p:txBody>
        </p:sp>
        <p:sp>
          <p:nvSpPr>
            <p:cNvPr id="62516" name="Text Box 24"/>
            <p:cNvSpPr txBox="1">
              <a:spLocks noChangeArrowheads="1"/>
            </p:cNvSpPr>
            <p:nvPr/>
          </p:nvSpPr>
          <p:spPr bwMode="auto">
            <a:xfrm>
              <a:off x="4368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p3</a:t>
              </a:r>
            </a:p>
          </p:txBody>
        </p:sp>
        <p:sp>
          <p:nvSpPr>
            <p:cNvPr id="62517" name="Text Box 25"/>
            <p:cNvSpPr txBox="1">
              <a:spLocks noChangeArrowheads="1"/>
            </p:cNvSpPr>
            <p:nvPr/>
          </p:nvSpPr>
          <p:spPr bwMode="auto">
            <a:xfrm>
              <a:off x="4704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p4</a:t>
              </a:r>
            </a:p>
          </p:txBody>
        </p:sp>
        <p:sp>
          <p:nvSpPr>
            <p:cNvPr id="62518" name="Text Box 26"/>
            <p:cNvSpPr txBox="1">
              <a:spLocks noChangeArrowheads="1"/>
            </p:cNvSpPr>
            <p:nvPr/>
          </p:nvSpPr>
          <p:spPr bwMode="auto">
            <a:xfrm>
              <a:off x="4944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p5</a:t>
              </a:r>
            </a:p>
          </p:txBody>
        </p:sp>
        <p:sp>
          <p:nvSpPr>
            <p:cNvPr id="62519" name="Text Box 27"/>
            <p:cNvSpPr txBox="1">
              <a:spLocks noChangeArrowheads="1"/>
            </p:cNvSpPr>
            <p:nvPr/>
          </p:nvSpPr>
          <p:spPr bwMode="auto">
            <a:xfrm>
              <a:off x="5280" y="1440"/>
              <a:ext cx="3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600"/>
                <a:t>. . .</a:t>
              </a:r>
            </a:p>
          </p:txBody>
        </p:sp>
        <p:sp>
          <p:nvSpPr>
            <p:cNvPr id="62520" name="Text Box 28"/>
            <p:cNvSpPr txBox="1">
              <a:spLocks noChangeArrowheads="1"/>
            </p:cNvSpPr>
            <p:nvPr/>
          </p:nvSpPr>
          <p:spPr bwMode="auto">
            <a:xfrm>
              <a:off x="3552" y="2976"/>
              <a:ext cx="336" cy="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600"/>
                <a:t>.</a:t>
              </a:r>
            </a:p>
            <a:p>
              <a:pPr>
                <a:spcBef>
                  <a:spcPct val="50000"/>
                </a:spcBef>
              </a:pPr>
              <a:r>
                <a:rPr lang="en-US" altLang="en-US" sz="1600"/>
                <a:t>.</a:t>
              </a:r>
            </a:p>
            <a:p>
              <a:pPr>
                <a:spcBef>
                  <a:spcPct val="50000"/>
                </a:spcBef>
              </a:pPr>
              <a:r>
                <a:rPr lang="en-US" altLang="en-US" sz="1600"/>
                <a:t>.</a:t>
              </a:r>
            </a:p>
          </p:txBody>
        </p:sp>
      </p:grpSp>
      <p:sp>
        <p:nvSpPr>
          <p:cNvPr id="62469" name="Freeform 29" descr="5%"/>
          <p:cNvSpPr>
            <a:spLocks/>
          </p:cNvSpPr>
          <p:nvPr/>
        </p:nvSpPr>
        <p:spPr bwMode="auto">
          <a:xfrm rot="-5400000">
            <a:off x="462757" y="1289843"/>
            <a:ext cx="1828800" cy="1382713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70" name="Oval 30"/>
          <p:cNvSpPr>
            <a:spLocks noChangeArrowheads="1"/>
          </p:cNvSpPr>
          <p:nvPr/>
        </p:nvSpPr>
        <p:spPr bwMode="auto">
          <a:xfrm rot="-5400000">
            <a:off x="1752600" y="2209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2471" name="Oval 31"/>
          <p:cNvSpPr>
            <a:spLocks noChangeArrowheads="1"/>
          </p:cNvSpPr>
          <p:nvPr/>
        </p:nvSpPr>
        <p:spPr bwMode="auto">
          <a:xfrm rot="-5400000">
            <a:off x="1676400" y="1447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2472" name="Oval 32"/>
          <p:cNvSpPr>
            <a:spLocks noChangeArrowheads="1"/>
          </p:cNvSpPr>
          <p:nvPr/>
        </p:nvSpPr>
        <p:spPr bwMode="auto">
          <a:xfrm rot="-5400000">
            <a:off x="838200" y="19050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2473" name="Oval 33"/>
          <p:cNvSpPr>
            <a:spLocks noChangeArrowheads="1"/>
          </p:cNvSpPr>
          <p:nvPr/>
        </p:nvSpPr>
        <p:spPr bwMode="auto">
          <a:xfrm rot="-5400000">
            <a:off x="1903413" y="1751013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2474" name="Freeform 34" descr="5%"/>
          <p:cNvSpPr>
            <a:spLocks/>
          </p:cNvSpPr>
          <p:nvPr/>
        </p:nvSpPr>
        <p:spPr bwMode="auto">
          <a:xfrm rot="5400000" flipV="1">
            <a:off x="3352800" y="1143000"/>
            <a:ext cx="1828800" cy="1676400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75" name="Oval 35"/>
          <p:cNvSpPr>
            <a:spLocks noChangeArrowheads="1"/>
          </p:cNvSpPr>
          <p:nvPr/>
        </p:nvSpPr>
        <p:spPr bwMode="auto">
          <a:xfrm rot="5400000" flipV="1">
            <a:off x="4876800" y="1600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2476" name="Oval 36"/>
          <p:cNvSpPr>
            <a:spLocks noChangeArrowheads="1"/>
          </p:cNvSpPr>
          <p:nvPr/>
        </p:nvSpPr>
        <p:spPr bwMode="auto">
          <a:xfrm rot="5400000" flipV="1">
            <a:off x="3516313" y="1600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2477" name="Oval 37"/>
          <p:cNvSpPr>
            <a:spLocks noChangeArrowheads="1"/>
          </p:cNvSpPr>
          <p:nvPr/>
        </p:nvSpPr>
        <p:spPr bwMode="auto">
          <a:xfrm rot="5400000" flipV="1">
            <a:off x="4038600" y="2209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2478" name="Oval 38"/>
          <p:cNvSpPr>
            <a:spLocks noChangeArrowheads="1"/>
          </p:cNvSpPr>
          <p:nvPr/>
        </p:nvSpPr>
        <p:spPr bwMode="auto">
          <a:xfrm rot="5400000" flipV="1">
            <a:off x="4038600" y="1219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2479" name="Line 39"/>
          <p:cNvSpPr>
            <a:spLocks noChangeShapeType="1"/>
          </p:cNvSpPr>
          <p:nvPr/>
        </p:nvSpPr>
        <p:spPr bwMode="auto">
          <a:xfrm>
            <a:off x="1828800" y="2209800"/>
            <a:ext cx="2209800" cy="762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80" name="Line 40"/>
          <p:cNvSpPr>
            <a:spLocks noChangeShapeType="1"/>
          </p:cNvSpPr>
          <p:nvPr/>
        </p:nvSpPr>
        <p:spPr bwMode="auto">
          <a:xfrm flipV="1">
            <a:off x="1828800" y="1676400"/>
            <a:ext cx="1676400" cy="5334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81" name="Line 41"/>
          <p:cNvSpPr>
            <a:spLocks noChangeShapeType="1"/>
          </p:cNvSpPr>
          <p:nvPr/>
        </p:nvSpPr>
        <p:spPr bwMode="auto">
          <a:xfrm flipV="1">
            <a:off x="1828800" y="1295400"/>
            <a:ext cx="2209800" cy="9144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82" name="Line 42"/>
          <p:cNvSpPr>
            <a:spLocks noChangeShapeType="1"/>
          </p:cNvSpPr>
          <p:nvPr/>
        </p:nvSpPr>
        <p:spPr bwMode="auto">
          <a:xfrm flipV="1">
            <a:off x="1828800" y="1676400"/>
            <a:ext cx="3048000" cy="5334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83" name="Line 43"/>
          <p:cNvSpPr>
            <a:spLocks noChangeShapeType="1"/>
          </p:cNvSpPr>
          <p:nvPr/>
        </p:nvSpPr>
        <p:spPr bwMode="auto">
          <a:xfrm>
            <a:off x="1981200" y="1828800"/>
            <a:ext cx="2057400" cy="4572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84" name="Line 44"/>
          <p:cNvSpPr>
            <a:spLocks noChangeShapeType="1"/>
          </p:cNvSpPr>
          <p:nvPr/>
        </p:nvSpPr>
        <p:spPr bwMode="auto">
          <a:xfrm flipV="1">
            <a:off x="1981200" y="1676400"/>
            <a:ext cx="1524000" cy="1524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85" name="Line 45"/>
          <p:cNvSpPr>
            <a:spLocks noChangeShapeType="1"/>
          </p:cNvSpPr>
          <p:nvPr/>
        </p:nvSpPr>
        <p:spPr bwMode="auto">
          <a:xfrm flipV="1">
            <a:off x="1981200" y="1295400"/>
            <a:ext cx="2057400" cy="5334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86" name="Line 46"/>
          <p:cNvSpPr>
            <a:spLocks noChangeShapeType="1"/>
          </p:cNvSpPr>
          <p:nvPr/>
        </p:nvSpPr>
        <p:spPr bwMode="auto">
          <a:xfrm flipV="1">
            <a:off x="1981200" y="1676400"/>
            <a:ext cx="2895600" cy="1524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87" name="Line 47"/>
          <p:cNvSpPr>
            <a:spLocks noChangeShapeType="1"/>
          </p:cNvSpPr>
          <p:nvPr/>
        </p:nvSpPr>
        <p:spPr bwMode="auto">
          <a:xfrm>
            <a:off x="914400" y="1905000"/>
            <a:ext cx="3124200" cy="3810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88" name="Line 48"/>
          <p:cNvSpPr>
            <a:spLocks noChangeShapeType="1"/>
          </p:cNvSpPr>
          <p:nvPr/>
        </p:nvSpPr>
        <p:spPr bwMode="auto">
          <a:xfrm flipV="1">
            <a:off x="914400" y="1676400"/>
            <a:ext cx="3962400" cy="2286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89" name="Line 49"/>
          <p:cNvSpPr>
            <a:spLocks noChangeShapeType="1"/>
          </p:cNvSpPr>
          <p:nvPr/>
        </p:nvSpPr>
        <p:spPr bwMode="auto">
          <a:xfrm flipV="1">
            <a:off x="914400" y="1295400"/>
            <a:ext cx="3124200" cy="6096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90" name="Line 50"/>
          <p:cNvSpPr>
            <a:spLocks noChangeShapeType="1"/>
          </p:cNvSpPr>
          <p:nvPr/>
        </p:nvSpPr>
        <p:spPr bwMode="auto">
          <a:xfrm flipV="1">
            <a:off x="914400" y="1676400"/>
            <a:ext cx="2590800" cy="2286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91" name="Line 51"/>
          <p:cNvSpPr>
            <a:spLocks noChangeShapeType="1"/>
          </p:cNvSpPr>
          <p:nvPr/>
        </p:nvSpPr>
        <p:spPr bwMode="auto">
          <a:xfrm>
            <a:off x="1752600" y="1447800"/>
            <a:ext cx="2286000" cy="8382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92" name="Line 52"/>
          <p:cNvSpPr>
            <a:spLocks noChangeShapeType="1"/>
          </p:cNvSpPr>
          <p:nvPr/>
        </p:nvSpPr>
        <p:spPr bwMode="auto">
          <a:xfrm>
            <a:off x="1752600" y="1447800"/>
            <a:ext cx="1752600" cy="2286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93" name="Line 53"/>
          <p:cNvSpPr>
            <a:spLocks noChangeShapeType="1"/>
          </p:cNvSpPr>
          <p:nvPr/>
        </p:nvSpPr>
        <p:spPr bwMode="auto">
          <a:xfrm flipV="1">
            <a:off x="1752600" y="1295400"/>
            <a:ext cx="2286000" cy="1524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94" name="Line 54"/>
          <p:cNvSpPr>
            <a:spLocks noChangeShapeType="1"/>
          </p:cNvSpPr>
          <p:nvPr/>
        </p:nvSpPr>
        <p:spPr bwMode="auto">
          <a:xfrm>
            <a:off x="1752600" y="1447800"/>
            <a:ext cx="3124200" cy="2286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95" name="Text Box 55"/>
          <p:cNvSpPr txBox="1">
            <a:spLocks noChangeArrowheads="1"/>
          </p:cNvSpPr>
          <p:nvPr/>
        </p:nvSpPr>
        <p:spPr bwMode="auto">
          <a:xfrm>
            <a:off x="5943600" y="4343400"/>
            <a:ext cx="2514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/>
              <a:t>Proximity Matrix</a:t>
            </a:r>
          </a:p>
        </p:txBody>
      </p:sp>
      <p:sp>
        <p:nvSpPr>
          <p:cNvPr id="62496" name="Rectangle 56"/>
          <p:cNvSpPr>
            <a:spLocks noChangeArrowheads="1"/>
          </p:cNvSpPr>
          <p:nvPr/>
        </p:nvSpPr>
        <p:spPr bwMode="auto">
          <a:xfrm>
            <a:off x="381000" y="3200400"/>
            <a:ext cx="579120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>
            <a:lvl1pPr marL="342900" indent="-342900"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zh-CN" altLang="en-US" sz="2400" b="0" dirty="0"/>
              <a:t>最小</a:t>
            </a:r>
            <a:endParaRPr lang="en-US" altLang="en-US" sz="2400" b="0" dirty="0"/>
          </a:p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zh-CN" altLang="en-US" sz="2400" b="0" dirty="0"/>
              <a:t>最大</a:t>
            </a:r>
            <a:endParaRPr lang="en-US" altLang="en-US" sz="2400" b="0" dirty="0"/>
          </a:p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zh-CN" altLang="en-US" sz="2400" b="0" dirty="0">
                <a:solidFill>
                  <a:srgbClr val="FF0000"/>
                </a:solidFill>
              </a:rPr>
              <a:t>平均</a:t>
            </a:r>
            <a:endParaRPr lang="en-US" altLang="en-US" sz="2400" b="0" dirty="0">
              <a:solidFill>
                <a:srgbClr val="FF0000"/>
              </a:solidFill>
            </a:endParaRPr>
          </a:p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zh-CN" altLang="en-US" sz="2400" b="0" dirty="0"/>
              <a:t>中心距离</a:t>
            </a:r>
            <a:endParaRPr lang="en-US" altLang="zh-CN" sz="2400" b="0" dirty="0"/>
          </a:p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zh-CN" altLang="en-US" sz="2400" b="0" dirty="0"/>
              <a:t>其他</a:t>
            </a:r>
            <a:endParaRPr lang="en-US" altLang="en-US" sz="2400" b="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Line 2"/>
          <p:cNvSpPr>
            <a:spLocks noChangeShapeType="1"/>
          </p:cNvSpPr>
          <p:nvPr/>
        </p:nvSpPr>
        <p:spPr bwMode="auto">
          <a:xfrm flipV="1">
            <a:off x="1371600" y="1981200"/>
            <a:ext cx="2895600" cy="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491" name="Freeform 3" descr="5%"/>
          <p:cNvSpPr>
            <a:spLocks/>
          </p:cNvSpPr>
          <p:nvPr/>
        </p:nvSpPr>
        <p:spPr bwMode="auto">
          <a:xfrm rot="-5400000">
            <a:off x="462757" y="1289843"/>
            <a:ext cx="1828800" cy="1382713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492" name="Rectangle 4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zh-CN" altLang="en-US" sz="2800" dirty="0"/>
              <a:t>类间距离的定义</a:t>
            </a:r>
            <a:endParaRPr lang="en-US" altLang="en-US" sz="2800" dirty="0"/>
          </a:p>
        </p:txBody>
      </p:sp>
      <p:sp>
        <p:nvSpPr>
          <p:cNvPr id="63493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639763" y="2344738"/>
            <a:ext cx="4800600" cy="3303587"/>
          </a:xfrm>
        </p:spPr>
        <p:txBody>
          <a:bodyPr/>
          <a:lstStyle/>
          <a:p>
            <a:pPr marL="990600" lvl="1" indent="-533400">
              <a:lnSpc>
                <a:spcPct val="90000"/>
              </a:lnSpc>
              <a:spcBef>
                <a:spcPct val="20000"/>
              </a:spcBef>
              <a:buFont typeface="Arial" charset="0"/>
              <a:buNone/>
            </a:pPr>
            <a:r>
              <a:rPr lang="en-US" altLang="en-US" sz="1000" dirty="0"/>
              <a:t> </a:t>
            </a:r>
          </a:p>
        </p:txBody>
      </p:sp>
      <p:grpSp>
        <p:nvGrpSpPr>
          <p:cNvPr id="63494" name="Group 6"/>
          <p:cNvGrpSpPr>
            <a:grpSpLocks/>
          </p:cNvGrpSpPr>
          <p:nvPr/>
        </p:nvGrpSpPr>
        <p:grpSpPr bwMode="auto">
          <a:xfrm>
            <a:off x="5486400" y="1066800"/>
            <a:ext cx="3429000" cy="3508375"/>
            <a:chOff x="3456" y="1440"/>
            <a:chExt cx="2160" cy="2210"/>
          </a:xfrm>
        </p:grpSpPr>
        <p:sp>
          <p:nvSpPr>
            <p:cNvPr id="63508" name="Line 7"/>
            <p:cNvSpPr>
              <a:spLocks noChangeShapeType="1"/>
            </p:cNvSpPr>
            <p:nvPr/>
          </p:nvSpPr>
          <p:spPr bwMode="auto">
            <a:xfrm>
              <a:off x="3696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509" name="Line 8"/>
            <p:cNvSpPr>
              <a:spLocks noChangeShapeType="1"/>
            </p:cNvSpPr>
            <p:nvPr/>
          </p:nvSpPr>
          <p:spPr bwMode="auto">
            <a:xfrm>
              <a:off x="3504" y="1632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510" name="Line 9"/>
            <p:cNvSpPr>
              <a:spLocks noChangeShapeType="1"/>
            </p:cNvSpPr>
            <p:nvPr/>
          </p:nvSpPr>
          <p:spPr bwMode="auto">
            <a:xfrm>
              <a:off x="4012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511" name="Line 10"/>
            <p:cNvSpPr>
              <a:spLocks noChangeShapeType="1"/>
            </p:cNvSpPr>
            <p:nvPr/>
          </p:nvSpPr>
          <p:spPr bwMode="auto">
            <a:xfrm>
              <a:off x="4329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512" name="Line 11"/>
            <p:cNvSpPr>
              <a:spLocks noChangeShapeType="1"/>
            </p:cNvSpPr>
            <p:nvPr/>
          </p:nvSpPr>
          <p:spPr bwMode="auto">
            <a:xfrm>
              <a:off x="4646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513" name="Line 12"/>
            <p:cNvSpPr>
              <a:spLocks noChangeShapeType="1"/>
            </p:cNvSpPr>
            <p:nvPr/>
          </p:nvSpPr>
          <p:spPr bwMode="auto">
            <a:xfrm>
              <a:off x="4963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514" name="Line 13"/>
            <p:cNvSpPr>
              <a:spLocks noChangeShapeType="1"/>
            </p:cNvSpPr>
            <p:nvPr/>
          </p:nvSpPr>
          <p:spPr bwMode="auto">
            <a:xfrm>
              <a:off x="5280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515" name="Line 14"/>
            <p:cNvSpPr>
              <a:spLocks noChangeShapeType="1"/>
            </p:cNvSpPr>
            <p:nvPr/>
          </p:nvSpPr>
          <p:spPr bwMode="auto">
            <a:xfrm>
              <a:off x="3504" y="1891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516" name="Line 15"/>
            <p:cNvSpPr>
              <a:spLocks noChangeShapeType="1"/>
            </p:cNvSpPr>
            <p:nvPr/>
          </p:nvSpPr>
          <p:spPr bwMode="auto">
            <a:xfrm>
              <a:off x="3504" y="2150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517" name="Line 16"/>
            <p:cNvSpPr>
              <a:spLocks noChangeShapeType="1"/>
            </p:cNvSpPr>
            <p:nvPr/>
          </p:nvSpPr>
          <p:spPr bwMode="auto">
            <a:xfrm>
              <a:off x="3504" y="2409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518" name="Line 17"/>
            <p:cNvSpPr>
              <a:spLocks noChangeShapeType="1"/>
            </p:cNvSpPr>
            <p:nvPr/>
          </p:nvSpPr>
          <p:spPr bwMode="auto">
            <a:xfrm>
              <a:off x="3504" y="2668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519" name="Line 18"/>
            <p:cNvSpPr>
              <a:spLocks noChangeShapeType="1"/>
            </p:cNvSpPr>
            <p:nvPr/>
          </p:nvSpPr>
          <p:spPr bwMode="auto">
            <a:xfrm>
              <a:off x="3504" y="2928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520" name="Text Box 19"/>
            <p:cNvSpPr txBox="1">
              <a:spLocks noChangeArrowheads="1"/>
            </p:cNvSpPr>
            <p:nvPr/>
          </p:nvSpPr>
          <p:spPr bwMode="auto">
            <a:xfrm>
              <a:off x="3456" y="168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p1</a:t>
              </a:r>
            </a:p>
          </p:txBody>
        </p:sp>
        <p:sp>
          <p:nvSpPr>
            <p:cNvPr id="63521" name="Text Box 20"/>
            <p:cNvSpPr txBox="1">
              <a:spLocks noChangeArrowheads="1"/>
            </p:cNvSpPr>
            <p:nvPr/>
          </p:nvSpPr>
          <p:spPr bwMode="auto">
            <a:xfrm>
              <a:off x="3456" y="2208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p3</a:t>
              </a:r>
            </a:p>
          </p:txBody>
        </p:sp>
        <p:sp>
          <p:nvSpPr>
            <p:cNvPr id="63522" name="Text Box 21"/>
            <p:cNvSpPr txBox="1">
              <a:spLocks noChangeArrowheads="1"/>
            </p:cNvSpPr>
            <p:nvPr/>
          </p:nvSpPr>
          <p:spPr bwMode="auto">
            <a:xfrm>
              <a:off x="3456" y="2736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p5</a:t>
              </a:r>
            </a:p>
          </p:txBody>
        </p:sp>
        <p:sp>
          <p:nvSpPr>
            <p:cNvPr id="63523" name="Text Box 22"/>
            <p:cNvSpPr txBox="1">
              <a:spLocks noChangeArrowheads="1"/>
            </p:cNvSpPr>
            <p:nvPr/>
          </p:nvSpPr>
          <p:spPr bwMode="auto">
            <a:xfrm>
              <a:off x="3456" y="2496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p4</a:t>
              </a:r>
            </a:p>
          </p:txBody>
        </p:sp>
        <p:sp>
          <p:nvSpPr>
            <p:cNvPr id="63524" name="Text Box 23"/>
            <p:cNvSpPr txBox="1">
              <a:spLocks noChangeArrowheads="1"/>
            </p:cNvSpPr>
            <p:nvPr/>
          </p:nvSpPr>
          <p:spPr bwMode="auto">
            <a:xfrm>
              <a:off x="3456" y="1968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p2</a:t>
              </a:r>
            </a:p>
          </p:txBody>
        </p:sp>
        <p:sp>
          <p:nvSpPr>
            <p:cNvPr id="63525" name="Text Box 24"/>
            <p:cNvSpPr txBox="1">
              <a:spLocks noChangeArrowheads="1"/>
            </p:cNvSpPr>
            <p:nvPr/>
          </p:nvSpPr>
          <p:spPr bwMode="auto">
            <a:xfrm>
              <a:off x="3744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p1</a:t>
              </a:r>
            </a:p>
          </p:txBody>
        </p:sp>
        <p:sp>
          <p:nvSpPr>
            <p:cNvPr id="63526" name="Text Box 25"/>
            <p:cNvSpPr txBox="1">
              <a:spLocks noChangeArrowheads="1"/>
            </p:cNvSpPr>
            <p:nvPr/>
          </p:nvSpPr>
          <p:spPr bwMode="auto">
            <a:xfrm>
              <a:off x="4032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p2</a:t>
              </a:r>
            </a:p>
          </p:txBody>
        </p:sp>
        <p:sp>
          <p:nvSpPr>
            <p:cNvPr id="63527" name="Text Box 26"/>
            <p:cNvSpPr txBox="1">
              <a:spLocks noChangeArrowheads="1"/>
            </p:cNvSpPr>
            <p:nvPr/>
          </p:nvSpPr>
          <p:spPr bwMode="auto">
            <a:xfrm>
              <a:off x="4368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p3</a:t>
              </a:r>
            </a:p>
          </p:txBody>
        </p:sp>
        <p:sp>
          <p:nvSpPr>
            <p:cNvPr id="63528" name="Text Box 27"/>
            <p:cNvSpPr txBox="1">
              <a:spLocks noChangeArrowheads="1"/>
            </p:cNvSpPr>
            <p:nvPr/>
          </p:nvSpPr>
          <p:spPr bwMode="auto">
            <a:xfrm>
              <a:off x="4704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p4</a:t>
              </a:r>
            </a:p>
          </p:txBody>
        </p:sp>
        <p:sp>
          <p:nvSpPr>
            <p:cNvPr id="63529" name="Text Box 28"/>
            <p:cNvSpPr txBox="1">
              <a:spLocks noChangeArrowheads="1"/>
            </p:cNvSpPr>
            <p:nvPr/>
          </p:nvSpPr>
          <p:spPr bwMode="auto">
            <a:xfrm>
              <a:off x="4944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p5</a:t>
              </a:r>
            </a:p>
          </p:txBody>
        </p:sp>
        <p:sp>
          <p:nvSpPr>
            <p:cNvPr id="63530" name="Text Box 29"/>
            <p:cNvSpPr txBox="1">
              <a:spLocks noChangeArrowheads="1"/>
            </p:cNvSpPr>
            <p:nvPr/>
          </p:nvSpPr>
          <p:spPr bwMode="auto">
            <a:xfrm>
              <a:off x="5280" y="1440"/>
              <a:ext cx="3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600"/>
                <a:t>. . .</a:t>
              </a:r>
            </a:p>
          </p:txBody>
        </p:sp>
        <p:sp>
          <p:nvSpPr>
            <p:cNvPr id="63531" name="Text Box 30"/>
            <p:cNvSpPr txBox="1">
              <a:spLocks noChangeArrowheads="1"/>
            </p:cNvSpPr>
            <p:nvPr/>
          </p:nvSpPr>
          <p:spPr bwMode="auto">
            <a:xfrm>
              <a:off x="3552" y="2976"/>
              <a:ext cx="336" cy="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600"/>
                <a:t>.</a:t>
              </a:r>
            </a:p>
            <a:p>
              <a:pPr>
                <a:spcBef>
                  <a:spcPct val="50000"/>
                </a:spcBef>
              </a:pPr>
              <a:r>
                <a:rPr lang="en-US" altLang="en-US" sz="1600"/>
                <a:t>.</a:t>
              </a:r>
            </a:p>
            <a:p>
              <a:pPr>
                <a:spcBef>
                  <a:spcPct val="50000"/>
                </a:spcBef>
              </a:pPr>
              <a:r>
                <a:rPr lang="en-US" altLang="en-US" sz="1600"/>
                <a:t>.</a:t>
              </a:r>
            </a:p>
          </p:txBody>
        </p:sp>
      </p:grpSp>
      <p:sp>
        <p:nvSpPr>
          <p:cNvPr id="63495" name="Oval 31"/>
          <p:cNvSpPr>
            <a:spLocks noChangeArrowheads="1"/>
          </p:cNvSpPr>
          <p:nvPr/>
        </p:nvSpPr>
        <p:spPr bwMode="auto">
          <a:xfrm rot="-5400000">
            <a:off x="1752600" y="2209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3496" name="Oval 32"/>
          <p:cNvSpPr>
            <a:spLocks noChangeArrowheads="1"/>
          </p:cNvSpPr>
          <p:nvPr/>
        </p:nvSpPr>
        <p:spPr bwMode="auto">
          <a:xfrm rot="-5400000">
            <a:off x="1676400" y="1447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3497" name="Oval 33"/>
          <p:cNvSpPr>
            <a:spLocks noChangeArrowheads="1"/>
          </p:cNvSpPr>
          <p:nvPr/>
        </p:nvSpPr>
        <p:spPr bwMode="auto">
          <a:xfrm rot="-5400000">
            <a:off x="838200" y="19050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3498" name="Oval 34"/>
          <p:cNvSpPr>
            <a:spLocks noChangeArrowheads="1"/>
          </p:cNvSpPr>
          <p:nvPr/>
        </p:nvSpPr>
        <p:spPr bwMode="auto">
          <a:xfrm rot="-5400000">
            <a:off x="1903413" y="1751013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3499" name="Freeform 35" descr="5%"/>
          <p:cNvSpPr>
            <a:spLocks/>
          </p:cNvSpPr>
          <p:nvPr/>
        </p:nvSpPr>
        <p:spPr bwMode="auto">
          <a:xfrm rot="5400000" flipV="1">
            <a:off x="3352800" y="1143000"/>
            <a:ext cx="1828800" cy="1676400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00" name="Oval 36"/>
          <p:cNvSpPr>
            <a:spLocks noChangeArrowheads="1"/>
          </p:cNvSpPr>
          <p:nvPr/>
        </p:nvSpPr>
        <p:spPr bwMode="auto">
          <a:xfrm rot="5400000" flipV="1">
            <a:off x="4876800" y="1600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3501" name="Oval 37"/>
          <p:cNvSpPr>
            <a:spLocks noChangeArrowheads="1"/>
          </p:cNvSpPr>
          <p:nvPr/>
        </p:nvSpPr>
        <p:spPr bwMode="auto">
          <a:xfrm rot="5400000" flipV="1">
            <a:off x="3516313" y="1598613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3502" name="Oval 38"/>
          <p:cNvSpPr>
            <a:spLocks noChangeArrowheads="1"/>
          </p:cNvSpPr>
          <p:nvPr/>
        </p:nvSpPr>
        <p:spPr bwMode="auto">
          <a:xfrm rot="5400000" flipV="1">
            <a:off x="4038600" y="2209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3503" name="Oval 39"/>
          <p:cNvSpPr>
            <a:spLocks noChangeArrowheads="1"/>
          </p:cNvSpPr>
          <p:nvPr/>
        </p:nvSpPr>
        <p:spPr bwMode="auto">
          <a:xfrm rot="5400000" flipV="1">
            <a:off x="4038600" y="1219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3504" name="Text Box 40"/>
          <p:cNvSpPr txBox="1">
            <a:spLocks noChangeArrowheads="1"/>
          </p:cNvSpPr>
          <p:nvPr/>
        </p:nvSpPr>
        <p:spPr bwMode="auto">
          <a:xfrm>
            <a:off x="5943600" y="4343400"/>
            <a:ext cx="2514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/>
              <a:t>Proximity Matrix</a:t>
            </a:r>
          </a:p>
        </p:txBody>
      </p:sp>
      <p:sp>
        <p:nvSpPr>
          <p:cNvPr id="63505" name="Rectangle 41"/>
          <p:cNvSpPr>
            <a:spLocks noChangeArrowheads="1"/>
          </p:cNvSpPr>
          <p:nvPr/>
        </p:nvSpPr>
        <p:spPr bwMode="auto">
          <a:xfrm>
            <a:off x="381000" y="3200400"/>
            <a:ext cx="579120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>
            <a:lvl1pPr marL="342900" indent="-342900"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zh-CN" altLang="en-US" sz="2400" b="0" dirty="0"/>
              <a:t>最小</a:t>
            </a:r>
            <a:endParaRPr lang="en-US" altLang="en-US" sz="2400" b="0" dirty="0"/>
          </a:p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zh-CN" altLang="en-US" sz="2400" b="0" dirty="0"/>
              <a:t>最大</a:t>
            </a:r>
            <a:endParaRPr lang="en-US" altLang="en-US" sz="2400" b="0" dirty="0"/>
          </a:p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zh-CN" altLang="en-US" sz="2400" b="0" dirty="0"/>
              <a:t>平均</a:t>
            </a:r>
            <a:endParaRPr lang="en-US" altLang="en-US" sz="2400" b="0" dirty="0"/>
          </a:p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zh-CN" altLang="en-US" sz="2400" b="0" dirty="0">
                <a:solidFill>
                  <a:srgbClr val="FF0000"/>
                </a:solidFill>
              </a:rPr>
              <a:t>中心距离</a:t>
            </a:r>
            <a:endParaRPr lang="en-US" altLang="zh-CN" sz="2400" b="0" dirty="0">
              <a:solidFill>
                <a:srgbClr val="FF0000"/>
              </a:solidFill>
            </a:endParaRPr>
          </a:p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zh-CN" altLang="en-US" sz="2400" b="0" dirty="0"/>
              <a:t>其他</a:t>
            </a:r>
            <a:endParaRPr lang="en-US" altLang="en-US" sz="2400" b="0" dirty="0"/>
          </a:p>
        </p:txBody>
      </p:sp>
      <p:sp>
        <p:nvSpPr>
          <p:cNvPr id="63506" name="Text Box 42"/>
          <p:cNvSpPr txBox="1">
            <a:spLocks noChangeArrowheads="1"/>
          </p:cNvSpPr>
          <p:nvPr/>
        </p:nvSpPr>
        <p:spPr bwMode="auto">
          <a:xfrm>
            <a:off x="1219200" y="1828800"/>
            <a:ext cx="228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FF0000"/>
                </a:solidFill>
                <a:sym typeface="Symbol" pitchFamily="18" charset="2"/>
              </a:rPr>
              <a:t></a:t>
            </a:r>
          </a:p>
        </p:txBody>
      </p:sp>
      <p:sp>
        <p:nvSpPr>
          <p:cNvPr id="63507" name="Text Box 43"/>
          <p:cNvSpPr txBox="1">
            <a:spLocks noChangeArrowheads="1"/>
          </p:cNvSpPr>
          <p:nvPr/>
        </p:nvSpPr>
        <p:spPr bwMode="auto">
          <a:xfrm>
            <a:off x="4114800" y="1828800"/>
            <a:ext cx="228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FF0000"/>
                </a:solidFill>
                <a:sym typeface="Symbol" pitchFamily="18" charset="2"/>
              </a:rPr>
              <a:t>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C3518A54-46BB-4A66-B8F7-59F326DFC3B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以下四种类间距离的定义方式，计算复杂度最小的是哪种？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6712DF5-2891-41DD-9549-1A7378BC67F8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最小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BD8A4D6-351F-4913-81B1-29CC92F51BAF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最大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B50FC0A-225C-418E-AD7F-C5C37C7A107B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828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平均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C163AD1-A993-4EEF-85B1-3E0AB6A3D301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828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中心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F3C9959B-3F7D-4653-B2F7-1DD35EC2883E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0" lang="zh-CN" altLang="en-US" sz="16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CCB004CD-77E1-403B-AC76-FBF4D2C92ED6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0" lang="zh-CN" altLang="en-US" sz="16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E970BA6F-5F6F-490C-ABA1-17C963577023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kumimoji="0" lang="zh-CN" altLang="en-US" sz="16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98917B7A-2FA5-439D-9B24-26F47BCC66B4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114425" y="5422106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kumimoji="0" lang="zh-CN" altLang="en-US" sz="16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D1BC15B1-1C8F-4EF6-ABB5-4912EF177D95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C95F3988-4B8B-44B4-8893-5A21FD11BA74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6" name="TitleBackground">
              <a:extLst>
                <a:ext uri="{FF2B5EF4-FFF2-40B4-BE49-F238E27FC236}">
                  <a16:creationId xmlns:a16="http://schemas.microsoft.com/office/drawing/2014/main" id="{7C9AAA5A-2FA2-4DA0-850B-03AAF231E2D8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7" name="ColorBlock">
              <a:extLst>
                <a:ext uri="{FF2B5EF4-FFF2-40B4-BE49-F238E27FC236}">
                  <a16:creationId xmlns:a16="http://schemas.microsoft.com/office/drawing/2014/main" id="{8C77ED38-AFE9-40E2-A913-C70F34B957A1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8" name="TypeText">
              <a:extLst>
                <a:ext uri="{FF2B5EF4-FFF2-40B4-BE49-F238E27FC236}">
                  <a16:creationId xmlns:a16="http://schemas.microsoft.com/office/drawing/2014/main" id="{59E16BE0-D700-405F-93BB-2DBA5C49C8E6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9" name="TipText">
              <a:extLst>
                <a:ext uri="{FF2B5EF4-FFF2-40B4-BE49-F238E27FC236}">
                  <a16:creationId xmlns:a16="http://schemas.microsoft.com/office/drawing/2014/main" id="{178C20ED-DD5E-404F-A433-7012AEB2E5AE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0378C09C-7F69-4D9D-8371-37831B64C6C7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9677839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 dirty="0"/>
              <a:t>计算时间和空间复杂度</a:t>
            </a:r>
            <a:endParaRPr lang="en-US" altLang="en-US" sz="2800" dirty="0"/>
          </a:p>
        </p:txBody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空间复杂度：</a:t>
            </a:r>
            <a:r>
              <a:rPr lang="en-US" altLang="en-US" dirty="0"/>
              <a:t>O(N</a:t>
            </a:r>
            <a:r>
              <a:rPr lang="en-US" altLang="en-US" baseline="30000" dirty="0"/>
              <a:t>2</a:t>
            </a:r>
            <a:r>
              <a:rPr lang="en-US" altLang="en-US" dirty="0"/>
              <a:t>) </a:t>
            </a:r>
            <a:r>
              <a:rPr lang="zh-CN" altLang="en-US" dirty="0"/>
              <a:t>，存储邻接矩阵</a:t>
            </a:r>
            <a:r>
              <a:rPr lang="en-US" altLang="en-US" dirty="0"/>
              <a:t>  </a:t>
            </a:r>
          </a:p>
          <a:p>
            <a:pPr lvl="1"/>
            <a:r>
              <a:rPr lang="en-US" altLang="en-US" dirty="0"/>
              <a:t>N </a:t>
            </a:r>
            <a:r>
              <a:rPr lang="zh-CN" altLang="en-US" dirty="0"/>
              <a:t>为数据集尺寸</a:t>
            </a:r>
            <a:endParaRPr lang="en-US" altLang="en-US" dirty="0"/>
          </a:p>
          <a:p>
            <a:pPr lvl="1"/>
            <a:r>
              <a:rPr lang="zh-CN" altLang="en-US" dirty="0"/>
              <a:t>空间需求逐渐减少</a:t>
            </a:r>
            <a:endParaRPr lang="en-US" altLang="en-US" dirty="0"/>
          </a:p>
          <a:p>
            <a:pPr lvl="1"/>
            <a:endParaRPr lang="en-US" altLang="en-US" dirty="0"/>
          </a:p>
          <a:p>
            <a:r>
              <a:rPr lang="zh-CN" altLang="en-US" dirty="0"/>
              <a:t>时间复杂度：</a:t>
            </a:r>
            <a:r>
              <a:rPr lang="en-US" altLang="en-US" dirty="0"/>
              <a:t>O(N</a:t>
            </a:r>
            <a:r>
              <a:rPr lang="en-US" altLang="en-US" baseline="30000" dirty="0"/>
              <a:t>3</a:t>
            </a:r>
            <a:r>
              <a:rPr lang="en-US" altLang="en-US" dirty="0"/>
              <a:t>)</a:t>
            </a:r>
          </a:p>
          <a:p>
            <a:pPr lvl="1"/>
            <a:r>
              <a:rPr lang="zh-CN" altLang="en-US" dirty="0"/>
              <a:t>需要</a:t>
            </a:r>
            <a:r>
              <a:rPr lang="en-US" altLang="zh-CN" dirty="0"/>
              <a:t>N</a:t>
            </a:r>
            <a:r>
              <a:rPr lang="zh-CN" altLang="en-US" dirty="0"/>
              <a:t>步合并操作，每一步合并操作后要更新维度为</a:t>
            </a:r>
            <a:r>
              <a:rPr lang="en-US" altLang="en-US" dirty="0"/>
              <a:t>N</a:t>
            </a:r>
            <a:r>
              <a:rPr lang="en-US" altLang="en-US" baseline="30000" dirty="0"/>
              <a:t>2</a:t>
            </a:r>
            <a:r>
              <a:rPr lang="zh-CN" altLang="en-US" dirty="0"/>
              <a:t>的邻接矩阵</a:t>
            </a:r>
            <a:endParaRPr lang="en-US" altLang="en-US" dirty="0"/>
          </a:p>
          <a:p>
            <a:pPr lvl="1"/>
            <a:r>
              <a:rPr lang="zh-CN" altLang="en-US" dirty="0"/>
              <a:t>利用一些方法可将复杂度降至</a:t>
            </a:r>
            <a:r>
              <a:rPr lang="en-US" altLang="en-US" dirty="0"/>
              <a:t> O(N</a:t>
            </a:r>
            <a:r>
              <a:rPr lang="en-US" altLang="en-US" baseline="30000" dirty="0"/>
              <a:t>2</a:t>
            </a:r>
            <a:r>
              <a:rPr lang="en-US" altLang="en-US" dirty="0"/>
              <a:t> log(N) )</a:t>
            </a:r>
          </a:p>
          <a:p>
            <a:pPr lvl="1"/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 dirty="0"/>
              <a:t>层次聚类总结</a:t>
            </a:r>
            <a:endParaRPr lang="en-US" altLang="en-US" sz="2800" dirty="0"/>
          </a:p>
        </p:txBody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过河的卒子不能回头，一旦合并，无法撤销</a:t>
            </a:r>
            <a:endParaRPr lang="en-US" altLang="en-US" dirty="0"/>
          </a:p>
          <a:p>
            <a:pPr lvl="4"/>
            <a:endParaRPr lang="en-US" altLang="en-US" dirty="0"/>
          </a:p>
          <a:p>
            <a:r>
              <a:rPr lang="zh-CN" altLang="en-US" dirty="0"/>
              <a:t>没有全局代价函数</a:t>
            </a:r>
            <a:endParaRPr lang="en-US" altLang="en-US" dirty="0"/>
          </a:p>
          <a:p>
            <a:pPr lvl="4"/>
            <a:endParaRPr lang="en-US" altLang="en-US" dirty="0"/>
          </a:p>
          <a:p>
            <a:r>
              <a:rPr lang="zh-CN" altLang="en-US" dirty="0"/>
              <a:t>不同的方法会存在以下一种或多种问题：</a:t>
            </a:r>
            <a:endParaRPr lang="en-US" altLang="en-US" dirty="0"/>
          </a:p>
          <a:p>
            <a:pPr lvl="1"/>
            <a:r>
              <a:rPr lang="zh-CN" altLang="en-US" dirty="0"/>
              <a:t>对噪声和离群点敏感</a:t>
            </a:r>
            <a:endParaRPr lang="en-US" altLang="en-US" dirty="0"/>
          </a:p>
          <a:p>
            <a:pPr lvl="1"/>
            <a:r>
              <a:rPr lang="zh-CN" altLang="en-US" dirty="0"/>
              <a:t>很难处理不同尺寸和非球形的聚类形状</a:t>
            </a:r>
            <a:endParaRPr lang="en-US" altLang="en-US" dirty="0"/>
          </a:p>
          <a:p>
            <a:pPr lvl="1"/>
            <a:r>
              <a:rPr lang="zh-CN" altLang="en-US" dirty="0"/>
              <a:t>破坏“大”类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以上问题都是相似性测度引发的</a:t>
            </a:r>
            <a:endParaRPr lang="en-US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LC.BRev.FY97">
  <a:themeElements>
    <a:clrScheme name="">
      <a:dk1>
        <a:srgbClr val="000000"/>
      </a:dk1>
      <a:lt1>
        <a:srgbClr val="FFFFFF"/>
      </a:lt1>
      <a:dk2>
        <a:srgbClr val="006B61"/>
      </a:dk2>
      <a:lt2>
        <a:srgbClr val="C0C0C0"/>
      </a:lt2>
      <a:accent1>
        <a:srgbClr val="FF00FF"/>
      </a:accent1>
      <a:accent2>
        <a:srgbClr val="00C0C0"/>
      </a:accent2>
      <a:accent3>
        <a:srgbClr val="FFFFFF"/>
      </a:accent3>
      <a:accent4>
        <a:srgbClr val="000000"/>
      </a:accent4>
      <a:accent5>
        <a:srgbClr val="FFAAFF"/>
      </a:accent5>
      <a:accent6>
        <a:srgbClr val="00AEAE"/>
      </a:accent6>
      <a:hlink>
        <a:srgbClr val="00C000"/>
      </a:hlink>
      <a:folHlink>
        <a:srgbClr val="800080"/>
      </a:folHlink>
    </a:clrScheme>
    <a:fontScheme name="LC.BRev.FY97">
      <a:majorFont>
        <a:latin typeface="Tahom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LC.BRev.FY9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C.BRev.FY97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Porky:Words:ASCI:PSE:Budgets FY97:LC.BRev.FY97</Template>
  <TotalTime>146490526</TotalTime>
  <Pages>3</Pages>
  <Words>1919</Words>
  <Application>Microsoft Office PowerPoint</Application>
  <PresentationFormat>全屏显示(4:3)</PresentationFormat>
  <Paragraphs>451</Paragraphs>
  <Slides>50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50</vt:i4>
      </vt:variant>
    </vt:vector>
  </HeadingPairs>
  <TitlesOfParts>
    <vt:vector size="63" baseType="lpstr">
      <vt:lpstr>Monotype Sorts</vt:lpstr>
      <vt:lpstr>Microsoft Yahei</vt:lpstr>
      <vt:lpstr>Arial</vt:lpstr>
      <vt:lpstr>Cambria Math</vt:lpstr>
      <vt:lpstr>Tahoma</vt:lpstr>
      <vt:lpstr>Times New Roman</vt:lpstr>
      <vt:lpstr>Wingdings</vt:lpstr>
      <vt:lpstr>LC.BRev.FY97</vt:lpstr>
      <vt:lpstr>Bitmap Image</vt:lpstr>
      <vt:lpstr>Equation</vt:lpstr>
      <vt:lpstr>BMP 图像</vt:lpstr>
      <vt:lpstr>VISIO</vt:lpstr>
      <vt:lpstr>Visio</vt:lpstr>
      <vt:lpstr>聚     类</vt:lpstr>
      <vt:lpstr>聚类的概念</vt:lpstr>
      <vt:lpstr>聚类的应用</vt:lpstr>
      <vt:lpstr>“类”的定义不唯一</vt:lpstr>
      <vt:lpstr>聚类的种类</vt:lpstr>
      <vt:lpstr>聚类类型:完全分离的聚类</vt:lpstr>
      <vt:lpstr>聚类类型:基于中心的聚类</vt:lpstr>
      <vt:lpstr>聚类类型: 基于邻接的</vt:lpstr>
      <vt:lpstr>聚类类型: 基于密度的</vt:lpstr>
      <vt:lpstr>聚类类型: 目标函数</vt:lpstr>
      <vt:lpstr>数据特点是至关重要的</vt:lpstr>
      <vt:lpstr>聚类算法</vt:lpstr>
      <vt:lpstr>K均值聚类算法</vt:lpstr>
      <vt:lpstr>K均值聚类举例</vt:lpstr>
      <vt:lpstr>K均值聚类举例</vt:lpstr>
      <vt:lpstr>K均值聚类特点</vt:lpstr>
      <vt:lpstr> k均值算法目标函数</vt:lpstr>
      <vt:lpstr>两种不同的聚类结果</vt:lpstr>
      <vt:lpstr>初始聚类中心的重要性</vt:lpstr>
      <vt:lpstr>初始聚类中心的重要性</vt:lpstr>
      <vt:lpstr>初始聚类中心的选择</vt:lpstr>
      <vt:lpstr>举例：10 Clusters</vt:lpstr>
      <vt:lpstr>举例：10 Clusters</vt:lpstr>
      <vt:lpstr>举例：10 Clusters</vt:lpstr>
      <vt:lpstr>举例：10 Clusters</vt:lpstr>
      <vt:lpstr>初始聚类中心的选择问题</vt:lpstr>
      <vt:lpstr>K-means++</vt:lpstr>
      <vt:lpstr>前处理和后处理</vt:lpstr>
      <vt:lpstr>空聚类</vt:lpstr>
      <vt:lpstr>聚类中心的渐进式更新</vt:lpstr>
      <vt:lpstr>K均值算法的局限</vt:lpstr>
      <vt:lpstr>K均值局限: 不同的尺寸</vt:lpstr>
      <vt:lpstr>K均值局限: 不同的密度</vt:lpstr>
      <vt:lpstr>K均值局限: 非圆（球/超球）形</vt:lpstr>
      <vt:lpstr>聚类算法之层次聚类</vt:lpstr>
      <vt:lpstr>层次聚类的优势</vt:lpstr>
      <vt:lpstr>层次聚类的两种类型</vt:lpstr>
      <vt:lpstr>聚合式聚类算法</vt:lpstr>
      <vt:lpstr>开始情形</vt:lpstr>
      <vt:lpstr>中间情形</vt:lpstr>
      <vt:lpstr>中间情形</vt:lpstr>
      <vt:lpstr>合并之后</vt:lpstr>
      <vt:lpstr>类间距离的定义</vt:lpstr>
      <vt:lpstr>类间距离的定义</vt:lpstr>
      <vt:lpstr>类间距离的定义</vt:lpstr>
      <vt:lpstr>类间距离的定义</vt:lpstr>
      <vt:lpstr>类间距离的定义</vt:lpstr>
      <vt:lpstr>PowerPoint 演示文稿</vt:lpstr>
      <vt:lpstr>计算时间和空间复杂度</vt:lpstr>
      <vt:lpstr>层次聚类总结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Steven F. Ashby Center for Applied Scientific Computing  Month DD, 1997</dc:title>
  <dc:creator>Computations</dc:creator>
  <cp:lastModifiedBy>Yun Liu</cp:lastModifiedBy>
  <cp:revision>675</cp:revision>
  <cp:lastPrinted>2017-03-24T21:43:53Z</cp:lastPrinted>
  <dcterms:created xsi:type="dcterms:W3CDTF">1998-03-18T13:44:31Z</dcterms:created>
  <dcterms:modified xsi:type="dcterms:W3CDTF">2024-03-23T11:46:53Z</dcterms:modified>
</cp:coreProperties>
</file>