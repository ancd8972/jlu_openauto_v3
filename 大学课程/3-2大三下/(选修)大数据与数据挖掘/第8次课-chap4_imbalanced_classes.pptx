
<file path=[Content_Types].xml><?xml version="1.0" encoding="utf-8"?>
<Types xmlns="http://schemas.openxmlformats.org/package/2006/content-types">
  <Default Extension="bin" ContentType="application/vnd.openxmlformats-officedocument.oleObject"/>
  <Default Extension="tmp" ContentType="image/png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2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590" r:id="rId2"/>
    <p:sldId id="582" r:id="rId3"/>
    <p:sldId id="612" r:id="rId4"/>
    <p:sldId id="583" r:id="rId5"/>
    <p:sldId id="567" r:id="rId6"/>
    <p:sldId id="568" r:id="rId7"/>
    <p:sldId id="569" r:id="rId8"/>
    <p:sldId id="592" r:id="rId9"/>
    <p:sldId id="604" r:id="rId10"/>
    <p:sldId id="618" r:id="rId11"/>
    <p:sldId id="570" r:id="rId12"/>
    <p:sldId id="619" r:id="rId13"/>
    <p:sldId id="591" r:id="rId14"/>
    <p:sldId id="620" r:id="rId15"/>
    <p:sldId id="571" r:id="rId16"/>
    <p:sldId id="586" r:id="rId17"/>
    <p:sldId id="574" r:id="rId18"/>
    <p:sldId id="576" r:id="rId19"/>
    <p:sldId id="577" r:id="rId20"/>
    <p:sldId id="578" r:id="rId21"/>
    <p:sldId id="589" r:id="rId22"/>
    <p:sldId id="610" r:id="rId23"/>
    <p:sldId id="611" r:id="rId24"/>
    <p:sldId id="621" r:id="rId25"/>
    <p:sldId id="616" r:id="rId26"/>
    <p:sldId id="617" r:id="rId27"/>
    <p:sldId id="613" r:id="rId28"/>
    <p:sldId id="615" r:id="rId29"/>
    <p:sldId id="614" r:id="rId30"/>
    <p:sldId id="622" r:id="rId31"/>
    <p:sldId id="623" r:id="rId32"/>
    <p:sldId id="624" r:id="rId33"/>
  </p:sldIdLst>
  <p:sldSz cx="9144000" cy="6858000" type="screen4x3"/>
  <p:notesSz cx="7315200" cy="9601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4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4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4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400"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7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5" userDrawn="1">
          <p15:clr>
            <a:srgbClr val="A4A3A4"/>
          </p15:clr>
        </p15:guide>
        <p15:guide id="2" pos="230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A8487"/>
    <a:srgbClr val="1C5A61"/>
    <a:srgbClr val="0C6D9C"/>
    <a:srgbClr val="FF0000"/>
    <a:srgbClr val="CC3300"/>
    <a:srgbClr val="F5F5F5"/>
    <a:srgbClr val="F4F4F4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02" autoAdjust="0"/>
    <p:restoredTop sz="94551" autoAdjust="0"/>
  </p:normalViewPr>
  <p:slideViewPr>
    <p:cSldViewPr>
      <p:cViewPr varScale="1">
        <p:scale>
          <a:sx n="60" d="100"/>
          <a:sy n="60" d="100"/>
        </p:scale>
        <p:origin x="1332" y="39"/>
      </p:cViewPr>
      <p:guideLst>
        <p:guide orient="horz" pos="2160"/>
        <p:guide pos="27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-840" y="-66"/>
      </p:cViewPr>
      <p:guideLst>
        <p:guide orient="horz" pos="3025"/>
        <p:guide pos="230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8699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3138" y="4560889"/>
            <a:ext cx="5367337" cy="431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100422" tIns="50214" rIns="100422" bIns="502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notes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277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70000" y="728663"/>
            <a:ext cx="4778375" cy="35845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59316261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69900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38213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408113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76425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2313"/>
            <a:ext cx="4795837" cy="3597275"/>
          </a:xfrm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6" y="4560889"/>
            <a:ext cx="5365750" cy="4318000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993" tIns="47492" rIns="94993" bIns="47492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81523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70000" y="728663"/>
            <a:ext cx="4778375" cy="3584575"/>
          </a:xfrm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4143375" y="9120189"/>
            <a:ext cx="3170238" cy="47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33" tIns="47866" rIns="95733" bIns="47866"/>
          <a:lstStyle>
            <a:lvl1pPr>
              <a:defRPr sz="1300" b="1">
                <a:solidFill>
                  <a:schemeClr val="tx1"/>
                </a:solidFill>
                <a:latin typeface="Arial" charset="0"/>
              </a:defRPr>
            </a:lvl1pPr>
            <a:lvl2pPr marL="742842" indent="-285708">
              <a:defRPr sz="1300" b="1">
                <a:solidFill>
                  <a:schemeClr val="tx1"/>
                </a:solidFill>
                <a:latin typeface="Arial" charset="0"/>
              </a:defRPr>
            </a:lvl2pPr>
            <a:lvl3pPr marL="1142833" indent="-228567">
              <a:defRPr sz="1300" b="1">
                <a:solidFill>
                  <a:schemeClr val="tx1"/>
                </a:solidFill>
                <a:latin typeface="Arial" charset="0"/>
              </a:defRPr>
            </a:lvl3pPr>
            <a:lvl4pPr marL="1599966" indent="-228567">
              <a:defRPr sz="1300" b="1">
                <a:solidFill>
                  <a:schemeClr val="tx1"/>
                </a:solidFill>
                <a:latin typeface="Arial" charset="0"/>
              </a:defRPr>
            </a:lvl4pPr>
            <a:lvl5pPr marL="2057099" indent="-228567">
              <a:defRPr sz="1300" b="1">
                <a:solidFill>
                  <a:schemeClr val="tx1"/>
                </a:solidFill>
                <a:latin typeface="Arial" charset="0"/>
              </a:defRPr>
            </a:lvl5pPr>
            <a:lvl6pPr marL="2514232" indent="-228567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6pPr>
            <a:lvl7pPr marL="2971365" indent="-228567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7pPr>
            <a:lvl8pPr marL="3428497" indent="-228567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8pPr>
            <a:lvl9pPr marL="3885630" indent="-228567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7342238-4519-4CD6-8380-134D011DDBF5}" type="slidenum">
              <a:rPr lang="en-US" altLang="en-US"/>
              <a:pPr eaLnBrk="1" hangingPunct="1"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3910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84708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52088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19473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9960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51206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850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3403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46884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2207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430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3688" y="152400"/>
            <a:ext cx="2085975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110288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39544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11163" y="1143000"/>
            <a:ext cx="8318500" cy="5181600"/>
          </a:xfrm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5681365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6613" y="1143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6613" y="3810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05947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1163" y="1143000"/>
            <a:ext cx="83185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 Third Level</a:t>
            </a:r>
          </a:p>
        </p:txBody>
      </p:sp>
      <p:grpSp>
        <p:nvGrpSpPr>
          <p:cNvPr id="1028" name="Group 16"/>
          <p:cNvGrpSpPr>
            <a:grpSpLocks/>
          </p:cNvGrpSpPr>
          <p:nvPr userDrawn="1"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1030" name="Rectangle 17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31" name="Rectangle 18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1029" name="Text Box 10"/>
          <p:cNvSpPr txBox="1">
            <a:spLocks noChangeArrowheads="1"/>
          </p:cNvSpPr>
          <p:nvPr userDrawn="1"/>
        </p:nvSpPr>
        <p:spPr bwMode="auto">
          <a:xfrm>
            <a:off x="457200" y="6400800"/>
            <a:ext cx="85344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dirty="0"/>
              <a:t>10/05/2020</a:t>
            </a:r>
            <a:r>
              <a:rPr lang="en-US" dirty="0">
                <a:latin typeface="Arial" pitchFamily="34" charset="0"/>
              </a:rPr>
              <a:t>	</a:t>
            </a:r>
            <a:r>
              <a:rPr lang="en-US" baseline="0" dirty="0">
                <a:latin typeface="Arial" pitchFamily="34" charset="0"/>
              </a:rPr>
              <a:t>     </a:t>
            </a:r>
            <a:r>
              <a:rPr lang="en-US" dirty="0">
                <a:latin typeface="Arial" pitchFamily="34" charset="0"/>
              </a:rPr>
              <a:t>Introduction to Data Mining,</a:t>
            </a:r>
            <a:r>
              <a:rPr lang="en-US" baseline="0" dirty="0">
                <a:latin typeface="Arial" pitchFamily="34" charset="0"/>
              </a:rPr>
              <a:t> 2</a:t>
            </a:r>
            <a:r>
              <a:rPr lang="en-US" baseline="30000" dirty="0">
                <a:latin typeface="Arial" pitchFamily="34" charset="0"/>
              </a:rPr>
              <a:t>nd</a:t>
            </a:r>
            <a:r>
              <a:rPr lang="en-US" baseline="0" dirty="0">
                <a:latin typeface="Arial" pitchFamily="34" charset="0"/>
              </a:rPr>
              <a:t> Edition</a:t>
            </a:r>
            <a:r>
              <a:rPr lang="en-US" dirty="0">
                <a:latin typeface="Arial" pitchFamily="34" charset="0"/>
              </a:rPr>
              <a:t> </a:t>
            </a:r>
            <a:r>
              <a:rPr lang="en-US" dirty="0"/>
              <a:t> 		                         </a:t>
            </a:r>
            <a:fld id="{C1D72F0C-2BC5-41DC-B889-262B17F3F967}" type="slidenum">
              <a:rPr lang="en-US" smtClean="0"/>
              <a:pPr>
                <a:spcBef>
                  <a:spcPct val="50000"/>
                </a:spcBef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2pPr>
      <a:lvl3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3pPr>
      <a:lvl4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4pPr>
      <a:lvl5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5pPr>
      <a:lvl6pPr marL="4572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6pPr>
      <a:lvl7pPr marL="9144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7pPr>
      <a:lvl8pPr marL="13716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8pPr>
      <a:lvl9pPr marL="18288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9pPr>
    </p:titleStyle>
    <p:bodyStyle>
      <a:lvl1pPr marL="292100" indent="-2921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5000"/>
        <a:buFont typeface="Monotype Sorts" pitchFamily="2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100000"/>
        <a:buFont typeface="Arial" charset="0"/>
        <a:buChar char="–"/>
        <a:defRPr sz="2800">
          <a:solidFill>
            <a:schemeClr val="tx1"/>
          </a:solidFill>
          <a:latin typeface="+mn-lt"/>
        </a:defRPr>
      </a:lvl2pPr>
      <a:lvl3pPr marL="9144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0000"/>
        <a:buFont typeface="Wingdings" pitchFamily="2" charset="2"/>
        <a:buChar char="u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image" Target="../media/image2.tmp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tags" Target="../tags/tag26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tags" Target="../tags/tag25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tags" Target="../tags/tag24.xml"/><Relationship Id="rId5" Type="http://schemas.openxmlformats.org/officeDocument/2006/relationships/tags" Target="../tags/tag18.xml"/><Relationship Id="rId15" Type="http://schemas.openxmlformats.org/officeDocument/2006/relationships/image" Target="../media/image2.tmp"/><Relationship Id="rId10" Type="http://schemas.openxmlformats.org/officeDocument/2006/relationships/tags" Target="../tags/tag23.xml"/><Relationship Id="rId4" Type="http://schemas.openxmlformats.org/officeDocument/2006/relationships/tags" Target="../tags/tag17.xml"/><Relationship Id="rId9" Type="http://schemas.openxmlformats.org/officeDocument/2006/relationships/tags" Target="../tags/tag22.xml"/><Relationship Id="rId14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34.xml"/><Relationship Id="rId3" Type="http://schemas.openxmlformats.org/officeDocument/2006/relationships/tags" Target="../tags/tag29.xml"/><Relationship Id="rId7" Type="http://schemas.openxmlformats.org/officeDocument/2006/relationships/tags" Target="../tags/tag33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11" Type="http://schemas.openxmlformats.org/officeDocument/2006/relationships/image" Target="../media/image2.tmp"/><Relationship Id="rId5" Type="http://schemas.openxmlformats.org/officeDocument/2006/relationships/tags" Target="../tags/tag31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30.xml"/><Relationship Id="rId9" Type="http://schemas.openxmlformats.org/officeDocument/2006/relationships/tags" Target="../tags/tag3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9.png"/><Relationship Id="rId4" Type="http://schemas.openxmlformats.org/officeDocument/2006/relationships/image" Target="../media/image8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mp.weixin.qq.com/s/SMIEIlalo59sMCO9GOqPMQ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www.kaggle.com/competitions/bigdata-and-datamining-1st-ex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"/>
          <p:cNvSpPr>
            <a:spLocks noChangeArrowheads="1"/>
          </p:cNvSpPr>
          <p:nvPr/>
        </p:nvSpPr>
        <p:spPr bwMode="auto">
          <a:xfrm>
            <a:off x="381000" y="2511095"/>
            <a:ext cx="8229600" cy="268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4000" b="0" dirty="0"/>
              <a:t>不平衡分类问题</a:t>
            </a:r>
            <a:endParaRPr lang="en-US" altLang="zh-CN" sz="4000" b="0" dirty="0"/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</a:pPr>
            <a:endParaRPr lang="en-US" altLang="en-US" sz="3200" b="0" dirty="0">
              <a:solidFill>
                <a:srgbClr val="000000"/>
              </a:solidFill>
              <a:latin typeface="Arial" pitchFamily="34" charset="0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3200" b="0" dirty="0"/>
              <a:t>吉林大学</a:t>
            </a:r>
            <a:endParaRPr lang="en-US" altLang="zh-CN" sz="3200" b="0" dirty="0"/>
          </a:p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3200" b="0" dirty="0"/>
              <a:t>刘云</a:t>
            </a:r>
            <a:endParaRPr lang="en-US" altLang="en-US" sz="3200" b="0" dirty="0"/>
          </a:p>
        </p:txBody>
      </p:sp>
      <p:grpSp>
        <p:nvGrpSpPr>
          <p:cNvPr id="2051" name="Group 7"/>
          <p:cNvGrpSpPr>
            <a:grpSpLocks/>
          </p:cNvGrpSpPr>
          <p:nvPr/>
        </p:nvGrpSpPr>
        <p:grpSpPr bwMode="auto">
          <a:xfrm>
            <a:off x="304800" y="1066800"/>
            <a:ext cx="8534400" cy="152400"/>
            <a:chOff x="264" y="788"/>
            <a:chExt cx="5232" cy="124"/>
          </a:xfrm>
        </p:grpSpPr>
        <p:sp>
          <p:nvSpPr>
            <p:cNvPr id="2053" name="Rectangle 8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4" name="Rectangle 9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</p:grpSp>
      <p:sp>
        <p:nvSpPr>
          <p:cNvPr id="2052" name="Rectangle 11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763000" cy="838200"/>
          </a:xfrm>
          <a:noFill/>
        </p:spPr>
        <p:txBody>
          <a:bodyPr/>
          <a:lstStyle/>
          <a:p>
            <a:pPr algn="ctr"/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类不平衡问题</a:t>
            </a:r>
            <a:endParaRPr lang="en-US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大部分分类问题中，类间分布是不平衡的（一个类中的样本数量大于其余的类）</a:t>
            </a:r>
            <a:endParaRPr lang="en-US" altLang="en-US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信用卡欺诈</a:t>
            </a:r>
            <a:endParaRPr lang="en-US" altLang="en-US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入侵检测</a:t>
            </a:r>
            <a:endParaRPr lang="en-US" altLang="en-US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生产线上的缺陷产品</a:t>
            </a:r>
            <a:endParaRPr lang="en-US" altLang="en-US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新冠肺炎检测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设计分类器时必须考虑的问题</a:t>
            </a:r>
            <a:endParaRPr lang="en-US" altLang="en-US" dirty="0">
              <a:solidFill>
                <a:srgbClr val="FF0000"/>
              </a:solidFill>
            </a:endParaRP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类不平衡问题</a:t>
            </a:r>
            <a:endParaRPr lang="en-US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机器学习领域中的经典问题之一，经久不衰，至今还时常有论文出现</a:t>
            </a:r>
            <a:endParaRPr lang="en-US" altLang="zh-CN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简单的不平衡场景已经解决，复杂情况的不平衡分类仍是热点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高度不平衡</a:t>
            </a:r>
            <a:endParaRPr lang="en-US" altLang="en-US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三高：高维、高数据量、高类数量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深度学习中的不平衡问题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dirty="0"/>
              <a:t>······</a:t>
            </a:r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63805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不平衡分类的挑战</a:t>
            </a:r>
            <a:endParaRPr lang="en-US" altLang="en-US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评价指标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传统评价指标不适用，例如准确率</a:t>
            </a:r>
            <a:endParaRPr lang="en-US" altLang="zh-CN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学习算法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发现“小”类有如大海捞针！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小类样本的特征不易学习</a:t>
            </a:r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Confusion Matrix</a:t>
            </a:r>
            <a:r>
              <a:rPr lang="zh-CN" altLang="en-US" dirty="0"/>
              <a:t>：混淆矩阵</a:t>
            </a:r>
            <a:endParaRPr lang="en-US" altLang="en-US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混淆矩阵</a:t>
            </a:r>
            <a:r>
              <a:rPr lang="en-US" altLang="zh-CN" dirty="0"/>
              <a:t>-</a:t>
            </a:r>
            <a:r>
              <a:rPr lang="zh-CN" altLang="en-US" dirty="0"/>
              <a:t>以</a:t>
            </a:r>
            <a:r>
              <a:rPr lang="en-US" altLang="zh-CN" dirty="0"/>
              <a:t>2</a:t>
            </a:r>
            <a:r>
              <a:rPr lang="zh-CN" altLang="en-US" dirty="0"/>
              <a:t>分类为例</a:t>
            </a:r>
            <a:r>
              <a:rPr lang="en-US" altLang="en-US" dirty="0"/>
              <a:t>:</a:t>
            </a:r>
          </a:p>
        </p:txBody>
      </p:sp>
      <p:graphicFrame>
        <p:nvGraphicFramePr>
          <p:cNvPr id="1321988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7072875"/>
              </p:ext>
            </p:extLst>
          </p:nvPr>
        </p:nvGraphicFramePr>
        <p:xfrm>
          <a:off x="1219200" y="1905000"/>
          <a:ext cx="6096000" cy="27940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预测标签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b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真实标签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47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147" name="Text Box 27"/>
          <p:cNvSpPr txBox="1">
            <a:spLocks noChangeArrowheads="1"/>
          </p:cNvSpPr>
          <p:nvPr/>
        </p:nvSpPr>
        <p:spPr bwMode="auto">
          <a:xfrm>
            <a:off x="3048000" y="4876800"/>
            <a:ext cx="2895600" cy="12772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dirty="0"/>
              <a:t>a: TP (true positive)</a:t>
            </a:r>
            <a:r>
              <a:rPr lang="zh-CN" altLang="en-US" sz="1400" dirty="0"/>
              <a:t>真阳性</a:t>
            </a:r>
            <a:endParaRPr lang="en-US" altLang="en-US" sz="1400" dirty="0"/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dirty="0"/>
              <a:t>b: FN (false negative)</a:t>
            </a:r>
            <a:r>
              <a:rPr lang="zh-CN" altLang="en-US" sz="1400" dirty="0"/>
              <a:t>假阴性</a:t>
            </a:r>
            <a:endParaRPr lang="en-US" altLang="en-US" sz="1400" dirty="0"/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dirty="0"/>
              <a:t>c: FP (false positive)</a:t>
            </a:r>
            <a:r>
              <a:rPr lang="zh-CN" altLang="en-US" sz="1400" dirty="0"/>
              <a:t>假阳性</a:t>
            </a:r>
            <a:endParaRPr lang="en-US" altLang="en-US" sz="1400" dirty="0"/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dirty="0"/>
              <a:t>d: TN (true negative)</a:t>
            </a:r>
            <a:r>
              <a:rPr lang="zh-CN" altLang="en-US" sz="1400" dirty="0"/>
              <a:t>真阴性</a:t>
            </a:r>
            <a:endParaRPr lang="en-US" alt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Accuracy</a:t>
            </a:r>
            <a:r>
              <a:rPr lang="en-US" altLang="zh-CN" dirty="0"/>
              <a:t>-</a:t>
            </a:r>
            <a:r>
              <a:rPr lang="zh-CN" altLang="en-US" dirty="0"/>
              <a:t>准确率</a:t>
            </a:r>
            <a:endParaRPr lang="en-US" altLang="en-US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zh-CN" altLang="en-US" dirty="0"/>
              <a:t>准确率是最常用的指标</a:t>
            </a:r>
            <a:r>
              <a:rPr lang="en-US" altLang="en-US" dirty="0"/>
              <a:t>:</a:t>
            </a:r>
          </a:p>
          <a:p>
            <a:endParaRPr lang="en-US" altLang="en-US" dirty="0"/>
          </a:p>
        </p:txBody>
      </p:sp>
      <p:graphicFrame>
        <p:nvGraphicFramePr>
          <p:cNvPr id="1323012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294551"/>
              </p:ext>
            </p:extLst>
          </p:nvPr>
        </p:nvGraphicFramePr>
        <p:xfrm>
          <a:off x="1524000" y="1219200"/>
          <a:ext cx="6096000" cy="282257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054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预测标签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954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b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真实标签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19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  <a:b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(TP)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  <a:b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(FN)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487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  <a:b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(FP)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b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(TN)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171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4038667"/>
              </p:ext>
            </p:extLst>
          </p:nvPr>
        </p:nvGraphicFramePr>
        <p:xfrm>
          <a:off x="609600" y="5105400"/>
          <a:ext cx="7583488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6" name="Equation" r:id="rId3" imgW="5664200" imgH="723900" progId="Equation.3">
                  <p:embed/>
                </p:oleObj>
              </mc:Choice>
              <mc:Fallback>
                <p:oleObj name="Equation" r:id="rId3" imgW="5664200" imgH="72390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105400"/>
                        <a:ext cx="7583488" cy="969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准确率的问题</a:t>
            </a:r>
            <a:endParaRPr lang="en-US" altLang="en-US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/>
              <a:t>考虑如下</a:t>
            </a:r>
            <a:r>
              <a:rPr lang="en-US" altLang="zh-CN" dirty="0"/>
              <a:t>2</a:t>
            </a:r>
            <a:r>
              <a:rPr lang="zh-CN" altLang="en-US" dirty="0"/>
              <a:t>分类问题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Number of Class NO examples = 990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Number of Class YES examples = 10</a:t>
            </a:r>
          </a:p>
          <a:p>
            <a:pPr lvl="2">
              <a:lnSpc>
                <a:spcPct val="90000"/>
              </a:lnSpc>
            </a:pPr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准确率的问题</a:t>
            </a:r>
            <a:endParaRPr lang="en-US" altLang="en-US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/>
              <a:t>考虑如下</a:t>
            </a:r>
            <a:r>
              <a:rPr lang="en-US" altLang="zh-CN" dirty="0"/>
              <a:t>2</a:t>
            </a:r>
            <a:r>
              <a:rPr lang="zh-CN" altLang="en-US" dirty="0"/>
              <a:t>分类问题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Number of Class NO examples = 990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Number of Class YES examples = 10</a:t>
            </a:r>
          </a:p>
          <a:p>
            <a:pPr lvl="2">
              <a:lnSpc>
                <a:spcPct val="90000"/>
              </a:lnSpc>
            </a:pPr>
            <a:endParaRPr lang="en-US" altLang="en-US" dirty="0"/>
          </a:p>
        </p:txBody>
      </p:sp>
      <p:graphicFrame>
        <p:nvGraphicFramePr>
          <p:cNvPr id="4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577875"/>
              </p:ext>
            </p:extLst>
          </p:nvPr>
        </p:nvGraphicFramePr>
        <p:xfrm>
          <a:off x="1524000" y="3016157"/>
          <a:ext cx="6096000" cy="2754333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457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预测标签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9369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b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真实标签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424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61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990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准确率的问题</a:t>
            </a:r>
            <a:endParaRPr lang="en-US" altLang="en-US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考虑如下</a:t>
            </a:r>
            <a:r>
              <a:rPr lang="en-US" altLang="zh-CN" dirty="0"/>
              <a:t>2</a:t>
            </a:r>
            <a:r>
              <a:rPr lang="zh-CN" altLang="en-US" dirty="0"/>
              <a:t>分类问题</a:t>
            </a:r>
            <a:endParaRPr lang="en-US" altLang="en-US" dirty="0"/>
          </a:p>
          <a:p>
            <a:pPr lvl="1">
              <a:lnSpc>
                <a:spcPct val="150000"/>
              </a:lnSpc>
            </a:pPr>
            <a:r>
              <a:rPr lang="en-US" altLang="en-US" dirty="0"/>
              <a:t>Number of Class NO examples = 990</a:t>
            </a:r>
          </a:p>
          <a:p>
            <a:pPr lvl="1">
              <a:lnSpc>
                <a:spcPct val="150000"/>
              </a:lnSpc>
            </a:pPr>
            <a:r>
              <a:rPr lang="en-US" altLang="en-US" dirty="0"/>
              <a:t>Number of Class YES examples = 10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如果模型将所有样本都预测为</a:t>
            </a:r>
            <a:r>
              <a:rPr lang="en-US" altLang="en-US" dirty="0"/>
              <a:t> class NO, </a:t>
            </a:r>
            <a:r>
              <a:rPr lang="zh-CN" altLang="en-US" dirty="0"/>
              <a:t>则准确率为：</a:t>
            </a:r>
            <a:r>
              <a:rPr lang="en-US" altLang="en-US" dirty="0"/>
              <a:t>990/1000 = 99%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模型对 </a:t>
            </a:r>
            <a:r>
              <a:rPr lang="en-US" altLang="zh-CN" dirty="0"/>
              <a:t>class YES </a:t>
            </a:r>
            <a:r>
              <a:rPr lang="zh-CN" altLang="en-US" dirty="0"/>
              <a:t>没有判别能力</a:t>
            </a:r>
            <a:endParaRPr lang="en-US" altLang="en-US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当检测稀少类更重要时，该模型效果很差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85903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911023A-A555-47C2-A9E3-8C671ADF6D9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26170" y="794026"/>
            <a:ext cx="7315200" cy="11938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Which model is better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78E88F5-0EEA-4625-8A70-963C0DE25B6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762375" y="5605462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41CCD25-C802-48BB-BED1-A5C36372CA4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667375" y="5603474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343C8F39-94EB-4982-B7A4-8BA17F2A1857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3048000" y="5669755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5515648-B8CC-47CA-8693-3B4AFFAE082C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4953000" y="5667767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8F02639-325D-4768-BA02-41B572D0121C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aphicFrame>
        <p:nvGraphicFramePr>
          <p:cNvPr id="22" name="Group 4">
            <a:extLst>
              <a:ext uri="{FF2B5EF4-FFF2-40B4-BE49-F238E27FC236}">
                <a16:creationId xmlns:a16="http://schemas.microsoft.com/office/drawing/2014/main" id="{EDE208C1-EF1B-47B6-9060-81EB0C64D8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227763"/>
              </p:ext>
            </p:extLst>
          </p:nvPr>
        </p:nvGraphicFramePr>
        <p:xfrm>
          <a:off x="1524000" y="1600200"/>
          <a:ext cx="6096000" cy="1877289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PREDICTED 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412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b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ACTUAL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41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76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990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3" name="Group 4">
            <a:extLst>
              <a:ext uri="{FF2B5EF4-FFF2-40B4-BE49-F238E27FC236}">
                <a16:creationId xmlns:a16="http://schemas.microsoft.com/office/drawing/2014/main" id="{5A97F310-F5D3-45DE-81C2-93E8A8CCBC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9367621"/>
              </p:ext>
            </p:extLst>
          </p:nvPr>
        </p:nvGraphicFramePr>
        <p:xfrm>
          <a:off x="1524000" y="3603486"/>
          <a:ext cx="6096000" cy="1918853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988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PREDICTED 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233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b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ACTUAL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23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450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90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900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TextBox 2">
            <a:extLst>
              <a:ext uri="{FF2B5EF4-FFF2-40B4-BE49-F238E27FC236}">
                <a16:creationId xmlns:a16="http://schemas.microsoft.com/office/drawing/2014/main" id="{8FECEBD5-C66F-4E1D-AFB4-A66D4A4F35A9}"/>
              </a:ext>
            </a:extLst>
          </p:cNvPr>
          <p:cNvSpPr txBox="1"/>
          <p:nvPr/>
        </p:nvSpPr>
        <p:spPr>
          <a:xfrm>
            <a:off x="914400" y="1752600"/>
            <a:ext cx="5549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A</a:t>
            </a:r>
          </a:p>
        </p:txBody>
      </p:sp>
      <p:sp>
        <p:nvSpPr>
          <p:cNvPr id="25" name="TextBox 5">
            <a:extLst>
              <a:ext uri="{FF2B5EF4-FFF2-40B4-BE49-F238E27FC236}">
                <a16:creationId xmlns:a16="http://schemas.microsoft.com/office/drawing/2014/main" id="{BB1839C5-AC4C-4B68-9DF6-4FFF825A2495}"/>
              </a:ext>
            </a:extLst>
          </p:cNvPr>
          <p:cNvSpPr txBox="1"/>
          <p:nvPr/>
        </p:nvSpPr>
        <p:spPr>
          <a:xfrm>
            <a:off x="914400" y="3581400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0" dirty="0"/>
              <a:t>B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3C00671F-653D-4FD1-92C2-13D4E0DD54A8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E9062861-496C-435D-B590-D2635B9D476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99103873-0850-4C97-9AAC-5A32B5EE00F8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E03F7B3A-8DE6-47A8-9DB5-C505353B6530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C5B0C404-FF70-4593-91F5-3038505E8456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D5A7CE3E-B077-41B3-9029-68972976202B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3194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其他指标</a:t>
            </a:r>
            <a:endParaRPr lang="en-US" altLang="en-US" dirty="0"/>
          </a:p>
        </p:txBody>
      </p:sp>
      <p:graphicFrame>
        <p:nvGraphicFramePr>
          <p:cNvPr id="92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1042908"/>
              </p:ext>
            </p:extLst>
          </p:nvPr>
        </p:nvGraphicFramePr>
        <p:xfrm>
          <a:off x="2514600" y="3616657"/>
          <a:ext cx="4800600" cy="26809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8" name="Equation" r:id="rId3" imgW="4241800" imgH="2400300" progId="Equation.3">
                  <p:embed/>
                </p:oleObj>
              </mc:Choice>
              <mc:Fallback>
                <p:oleObj name="Equation" r:id="rId3" imgW="4241800" imgH="24003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616657"/>
                        <a:ext cx="4800600" cy="26809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5060" name="Group 4"/>
          <p:cNvGraphicFramePr>
            <a:graphicFrameLocks noGrp="1"/>
          </p:cNvGraphicFramePr>
          <p:nvPr>
            <p:ph idx="1"/>
          </p:nvPr>
        </p:nvGraphicFramePr>
        <p:xfrm>
          <a:off x="1554163" y="1143000"/>
          <a:ext cx="6065837" cy="2362201"/>
        </p:xfrm>
        <a:graphic>
          <a:graphicData uri="http://schemas.openxmlformats.org/drawingml/2006/table">
            <a:tbl>
              <a:tblPr/>
              <a:tblGrid>
                <a:gridCol w="1516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6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60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PREDICTED 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b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ACTUAL</a:t>
                      </a:r>
                      <a:b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3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63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5486400" y="3810000"/>
            <a:ext cx="24384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精确率</a:t>
            </a:r>
            <a:r>
              <a:rPr lang="en-US" altLang="zh-CN" sz="2800" dirty="0"/>
              <a:t>/</a:t>
            </a:r>
            <a:r>
              <a:rPr lang="zh-CN" altLang="en-US" sz="2800" dirty="0"/>
              <a:t>查准率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486400" y="4695525"/>
            <a:ext cx="24384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召回率</a:t>
            </a:r>
            <a:r>
              <a:rPr lang="en-US" altLang="zh-CN" sz="2800" dirty="0"/>
              <a:t>/</a:t>
            </a:r>
            <a:r>
              <a:rPr lang="zh-CN" altLang="en-US" sz="2800" dirty="0"/>
              <a:t>查全率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911023A-A555-47C2-A9E3-8C671ADF6D9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26170" y="794026"/>
            <a:ext cx="7315200" cy="11938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Which model is better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？考虑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F-measure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78E88F5-0EEA-4625-8A70-963C0DE25B6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762375" y="5605462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41CCD25-C802-48BB-BED1-A5C36372CA4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667375" y="5603474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343C8F39-94EB-4982-B7A4-8BA17F2A1857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3048000" y="5669755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5515648-B8CC-47CA-8693-3B4AFFAE082C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4953000" y="5667767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8F02639-325D-4768-BA02-41B572D0121C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aphicFrame>
        <p:nvGraphicFramePr>
          <p:cNvPr id="22" name="Group 4">
            <a:extLst>
              <a:ext uri="{FF2B5EF4-FFF2-40B4-BE49-F238E27FC236}">
                <a16:creationId xmlns:a16="http://schemas.microsoft.com/office/drawing/2014/main" id="{EDE208C1-EF1B-47B6-9060-81EB0C64D8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993826"/>
              </p:ext>
            </p:extLst>
          </p:nvPr>
        </p:nvGraphicFramePr>
        <p:xfrm>
          <a:off x="1524000" y="1600200"/>
          <a:ext cx="6096000" cy="1877289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PREDICTED 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412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b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ACTUAL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41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76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990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3" name="Group 4">
            <a:extLst>
              <a:ext uri="{FF2B5EF4-FFF2-40B4-BE49-F238E27FC236}">
                <a16:creationId xmlns:a16="http://schemas.microsoft.com/office/drawing/2014/main" id="{5A97F310-F5D3-45DE-81C2-93E8A8CCBCF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524000" y="3603486"/>
          <a:ext cx="6096000" cy="1918853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988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PREDICTED 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233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b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ACTUAL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23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450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90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900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TextBox 2">
            <a:extLst>
              <a:ext uri="{FF2B5EF4-FFF2-40B4-BE49-F238E27FC236}">
                <a16:creationId xmlns:a16="http://schemas.microsoft.com/office/drawing/2014/main" id="{8FECEBD5-C66F-4E1D-AFB4-A66D4A4F35A9}"/>
              </a:ext>
            </a:extLst>
          </p:cNvPr>
          <p:cNvSpPr txBox="1"/>
          <p:nvPr/>
        </p:nvSpPr>
        <p:spPr>
          <a:xfrm>
            <a:off x="914400" y="1752600"/>
            <a:ext cx="5549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A</a:t>
            </a:r>
          </a:p>
        </p:txBody>
      </p:sp>
      <p:sp>
        <p:nvSpPr>
          <p:cNvPr id="25" name="TextBox 5">
            <a:extLst>
              <a:ext uri="{FF2B5EF4-FFF2-40B4-BE49-F238E27FC236}">
                <a16:creationId xmlns:a16="http://schemas.microsoft.com/office/drawing/2014/main" id="{BB1839C5-AC4C-4B68-9DF6-4FFF825A2495}"/>
              </a:ext>
            </a:extLst>
          </p:cNvPr>
          <p:cNvSpPr txBox="1"/>
          <p:nvPr/>
        </p:nvSpPr>
        <p:spPr>
          <a:xfrm>
            <a:off x="914400" y="3581400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0" dirty="0"/>
              <a:t>B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3C00671F-653D-4FD1-92C2-13D4E0DD54A8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E9062861-496C-435D-B590-D2635B9D476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99103873-0850-4C97-9AAC-5A32B5EE00F8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E03F7B3A-8DE6-47A8-9DB5-C505353B6530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C5B0C404-FF70-4593-91F5-3038505E8456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D5A7CE3E-B077-41B3-9029-68972976202B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18495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715963"/>
          </a:xfrm>
        </p:spPr>
        <p:txBody>
          <a:bodyPr/>
          <a:lstStyle/>
          <a:p>
            <a:pPr eaLnBrk="1" hangingPunct="1"/>
            <a:r>
              <a:rPr lang="zh-CN" altLang="en-US" dirty="0"/>
              <a:t>分类性能评价指标</a:t>
            </a:r>
            <a:endParaRPr lang="en-US" altLang="en-US" dirty="0"/>
          </a:p>
        </p:txBody>
      </p:sp>
      <p:graphicFrame>
        <p:nvGraphicFramePr>
          <p:cNvPr id="763908" name="Group 4"/>
          <p:cNvGraphicFramePr>
            <a:graphicFrameLocks noGrp="1"/>
          </p:cNvGraphicFramePr>
          <p:nvPr/>
        </p:nvGraphicFramePr>
        <p:xfrm>
          <a:off x="63500" y="1676400"/>
          <a:ext cx="3149600" cy="1387476"/>
        </p:xfrm>
        <a:graphic>
          <a:graphicData uri="http://schemas.openxmlformats.org/drawingml/2006/table">
            <a:tbl>
              <a:tblPr/>
              <a:tblGrid>
                <a:gridCol w="982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79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39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4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397" marR="91397" marT="45741" marB="457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PREDICTED CLASS</a:t>
                      </a:r>
                    </a:p>
                  </a:txBody>
                  <a:tcPr marL="91397" marR="91397"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174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b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ACTUAL</a:t>
                      </a:r>
                      <a:b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</a:t>
                      </a:r>
                    </a:p>
                  </a:txBody>
                  <a:tcPr marL="91397" marR="91397" marT="45741" marB="457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397" marR="91397"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Yes</a:t>
                      </a:r>
                    </a:p>
                  </a:txBody>
                  <a:tcPr marL="91397" marR="91397"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</a:t>
                      </a:r>
                    </a:p>
                  </a:txBody>
                  <a:tcPr marL="91397" marR="91397"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43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Yes</a:t>
                      </a:r>
                    </a:p>
                  </a:txBody>
                  <a:tcPr marL="91397" marR="91397"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TP</a:t>
                      </a:r>
                    </a:p>
                  </a:txBody>
                  <a:tcPr marL="91397" marR="91397"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FN</a:t>
                      </a:r>
                    </a:p>
                  </a:txBody>
                  <a:tcPr marL="91397" marR="91397"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43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</a:t>
                      </a:r>
                    </a:p>
                  </a:txBody>
                  <a:tcPr marL="91397" marR="91397"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FP</a:t>
                      </a:r>
                    </a:p>
                  </a:txBody>
                  <a:tcPr marL="91397" marR="91397"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TN</a:t>
                      </a:r>
                    </a:p>
                  </a:txBody>
                  <a:tcPr marL="91397" marR="91397" marT="45741" marB="457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581400" y="1295400"/>
            <a:ext cx="5562600" cy="5099088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4363" name="TextBox 15"/>
          <p:cNvSpPr txBox="1">
            <a:spLocks noChangeArrowheads="1"/>
          </p:cNvSpPr>
          <p:nvPr/>
        </p:nvSpPr>
        <p:spPr bwMode="auto">
          <a:xfrm>
            <a:off x="152400" y="3276600"/>
            <a:ext cx="3429000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>
                <a:sym typeface="Symbol" pitchFamily="18" charset="2"/>
              </a:rPr>
              <a:t>1</a:t>
            </a:r>
            <a:r>
              <a:rPr lang="zh-CN" altLang="en-US" sz="1800" dirty="0">
                <a:sym typeface="Symbol" pitchFamily="18" charset="2"/>
              </a:rPr>
              <a:t>类错误（误拒率）：</a:t>
            </a:r>
            <a:r>
              <a:rPr lang="en-US" altLang="en-US" sz="1800" dirty="0">
                <a:sym typeface="Symbol" pitchFamily="18" charset="2"/>
              </a:rPr>
              <a:t></a:t>
            </a:r>
            <a:r>
              <a:rPr lang="en-US" altLang="en-US" sz="1800" dirty="0"/>
              <a:t> is the probability that we reject the null hypothesis when it is true. This is a Type I error or a false positive (FP). 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>
                <a:sym typeface="Symbol" pitchFamily="18" charset="2"/>
              </a:rPr>
              <a:t>2</a:t>
            </a:r>
            <a:r>
              <a:rPr lang="zh-CN" altLang="en-US" sz="1800" dirty="0">
                <a:sym typeface="Symbol" pitchFamily="18" charset="2"/>
              </a:rPr>
              <a:t>类错误（误识率）：</a:t>
            </a:r>
            <a:r>
              <a:rPr lang="en-US" altLang="en-US" sz="1800" dirty="0">
                <a:sym typeface="Symbol" pitchFamily="18" charset="2"/>
              </a:rPr>
              <a:t></a:t>
            </a:r>
            <a:r>
              <a:rPr lang="en-US" altLang="en-US" sz="1800" dirty="0"/>
              <a:t> is the probability that we accept the null hypothesis when it is false. This is a Type II error or a false negative (FN). 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781800" y="396240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特异度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705427" y="3310672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灵敏度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4DB70D0-1459-4618-A6B1-629107125A6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54000" y="976906"/>
            <a:ext cx="8585200" cy="435709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长春市人口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1000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万，本次新冠疫情累计阳性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23234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例，未计算简便，按照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20000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人计算，即新冠阳性率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2%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。抗原检测试剂盒灵敏度为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99%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，特异性为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99.9%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。那么，对长春市进行全员抗原检测一次，共有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例阳性结果，其中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为真阳性。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56385EC-A759-49A8-91AB-00065C4E683E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6E702B4-589B-4AD9-AD87-8E6ACFBFA641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84964485-275F-49B5-B02F-7F91CF4BE9F5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34DD37C9-5AD9-4BF3-A3B6-A81533AFAEC0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4DE891EE-61E0-4200-B54C-E86CD2328CBA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8D6E1A3E-541E-491C-BB00-0ACB2B4AAD42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E7E22DDA-3895-49C4-B534-8BAC2BD7AF8A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603926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610600" cy="533400"/>
          </a:xfrm>
        </p:spPr>
        <p:txBody>
          <a:bodyPr/>
          <a:lstStyle/>
          <a:p>
            <a:r>
              <a:rPr lang="en-US" altLang="en-US" sz="2000" dirty="0"/>
              <a:t>ROC (Receiver Operating Characteristic)</a:t>
            </a:r>
            <a:r>
              <a:rPr lang="zh-CN" altLang="en-US" sz="2000" dirty="0"/>
              <a:t>观测者操作特性曲线</a:t>
            </a:r>
            <a:endParaRPr lang="en-US" altLang="en-US" sz="2000" dirty="0"/>
          </a:p>
        </p:txBody>
      </p:sp>
      <p:sp>
        <p:nvSpPr>
          <p:cNvPr id="17411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一种展示检测率和误报率之间权衡的图形方法</a:t>
            </a:r>
            <a:endParaRPr lang="en-US" altLang="en-US" dirty="0"/>
          </a:p>
          <a:p>
            <a:r>
              <a:rPr lang="zh-CN" altLang="en-US" dirty="0"/>
              <a:t>起源于</a:t>
            </a:r>
            <a:r>
              <a:rPr lang="en-US" altLang="zh-CN" dirty="0"/>
              <a:t>1950</a:t>
            </a:r>
            <a:r>
              <a:rPr lang="zh-CN" altLang="en-US" dirty="0"/>
              <a:t>年代，用于信号检测理论分析噪声信号</a:t>
            </a:r>
            <a:endParaRPr lang="en-US" altLang="en-US" dirty="0"/>
          </a:p>
          <a:p>
            <a:r>
              <a:rPr lang="en-US" altLang="en-US" dirty="0"/>
              <a:t>ROC curve plots TPR</a:t>
            </a:r>
            <a:r>
              <a:rPr lang="zh-CN" altLang="en-US" dirty="0"/>
              <a:t>（真阳性率）</a:t>
            </a:r>
            <a:r>
              <a:rPr lang="en-US" altLang="en-US" dirty="0"/>
              <a:t> against FPR</a:t>
            </a:r>
            <a:r>
              <a:rPr lang="zh-CN" altLang="en-US" dirty="0"/>
              <a:t>（假阳性率）</a:t>
            </a:r>
            <a:endParaRPr lang="en-US" altLang="en-US" dirty="0"/>
          </a:p>
          <a:p>
            <a:pPr lvl="1"/>
            <a:r>
              <a:rPr lang="en-US" altLang="zh-CN" dirty="0"/>
              <a:t>ROC</a:t>
            </a:r>
            <a:r>
              <a:rPr lang="zh-CN" altLang="en-US" dirty="0"/>
              <a:t>曲线上的一个点表示一个模型的性能</a:t>
            </a:r>
            <a:endParaRPr lang="en-US" altLang="zh-CN" dirty="0"/>
          </a:p>
          <a:p>
            <a:pPr lvl="1"/>
            <a:r>
              <a:rPr lang="zh-CN" altLang="en-US" dirty="0"/>
              <a:t>调节模型的参数会改变该点在</a:t>
            </a:r>
            <a:r>
              <a:rPr lang="en-US" altLang="zh-CN" dirty="0"/>
              <a:t>ROC</a:t>
            </a:r>
            <a:r>
              <a:rPr lang="zh-CN" altLang="en-US" dirty="0"/>
              <a:t>曲线上的位置</a:t>
            </a:r>
            <a:endParaRPr lang="en-US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ROC Curve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43000"/>
            <a:ext cx="4343400" cy="5181600"/>
          </a:xfrm>
        </p:spPr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altLang="en-US" sz="2400" dirty="0"/>
              <a:t>(TPR,FPR):</a:t>
            </a:r>
          </a:p>
          <a:p>
            <a:r>
              <a:rPr lang="en-US" altLang="en-US" sz="2400" dirty="0"/>
              <a:t>(0,0): </a:t>
            </a:r>
            <a:r>
              <a:rPr lang="zh-CN" altLang="en-US" sz="2400" dirty="0"/>
              <a:t>所有样本预测为阴性</a:t>
            </a:r>
            <a:endParaRPr lang="en-US" altLang="en-US" sz="2400" dirty="0"/>
          </a:p>
          <a:p>
            <a:r>
              <a:rPr lang="en-US" altLang="en-US" sz="2400" dirty="0"/>
              <a:t>(1,1): </a:t>
            </a:r>
            <a:r>
              <a:rPr lang="zh-CN" altLang="en-US" sz="2400" dirty="0"/>
              <a:t>所有样本预测为阳性</a:t>
            </a:r>
            <a:endParaRPr lang="en-US" altLang="en-US" sz="2400" dirty="0"/>
          </a:p>
          <a:p>
            <a:r>
              <a:rPr lang="en-US" altLang="en-US" sz="2400" dirty="0"/>
              <a:t>(1,0): ideal</a:t>
            </a:r>
          </a:p>
          <a:p>
            <a:pPr>
              <a:buFont typeface="Monotype Sorts" pitchFamily="2" charset="2"/>
              <a:buNone/>
            </a:pPr>
            <a:endParaRPr lang="en-US" altLang="en-US" sz="2400" dirty="0"/>
          </a:p>
          <a:p>
            <a:r>
              <a:rPr lang="zh-CN" altLang="en-US" sz="2400" dirty="0"/>
              <a:t>对角线</a:t>
            </a:r>
            <a:r>
              <a:rPr lang="en-US" altLang="en-US" sz="2400" dirty="0"/>
              <a:t>:</a:t>
            </a:r>
          </a:p>
          <a:p>
            <a:pPr lvl="1"/>
            <a:r>
              <a:rPr lang="zh-CN" altLang="en-US" sz="2400" dirty="0"/>
              <a:t>随机猜测</a:t>
            </a:r>
            <a:endParaRPr lang="en-US" altLang="en-US" sz="2400" dirty="0"/>
          </a:p>
          <a:p>
            <a:pPr lvl="1"/>
            <a:r>
              <a:rPr lang="zh-CN" altLang="en-US" sz="2400" dirty="0"/>
              <a:t>对角线以下</a:t>
            </a:r>
            <a:r>
              <a:rPr lang="en-US" altLang="en-US" sz="2400" dirty="0"/>
              <a:t>:</a:t>
            </a:r>
          </a:p>
          <a:p>
            <a:pPr marL="1257300" lvl="2" indent="-342900"/>
            <a:r>
              <a:rPr lang="zh-CN" altLang="en-US" sz="2000" dirty="0"/>
              <a:t>预测标签反了</a:t>
            </a:r>
            <a:endParaRPr lang="en-US" altLang="en-US" sz="2000" dirty="0"/>
          </a:p>
        </p:txBody>
      </p:sp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9" r="6557"/>
          <a:stretch>
            <a:fillRect/>
          </a:stretch>
        </p:blipFill>
        <p:spPr bwMode="auto">
          <a:xfrm>
            <a:off x="4267200" y="1143000"/>
            <a:ext cx="48006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ROC</a:t>
            </a:r>
            <a:r>
              <a:rPr lang="zh-CN" altLang="en-US" dirty="0"/>
              <a:t>曲线</a:t>
            </a:r>
            <a:r>
              <a:rPr lang="en-US" altLang="zh-CN" dirty="0"/>
              <a:t>——</a:t>
            </a:r>
            <a:r>
              <a:rPr lang="zh-CN" altLang="en-US" dirty="0"/>
              <a:t>举例</a:t>
            </a:r>
            <a:endParaRPr lang="en-US" altLang="en-US" dirty="0"/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6" r="5714"/>
          <a:stretch>
            <a:fillRect/>
          </a:stretch>
        </p:blipFill>
        <p:spPr bwMode="auto">
          <a:xfrm>
            <a:off x="0" y="1828800"/>
            <a:ext cx="4343400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2" name="Oval 4"/>
          <p:cNvSpPr>
            <a:spLocks noChangeArrowheads="1"/>
          </p:cNvSpPr>
          <p:nvPr/>
        </p:nvSpPr>
        <p:spPr bwMode="auto">
          <a:xfrm>
            <a:off x="5273675" y="3886200"/>
            <a:ext cx="76200" cy="76200"/>
          </a:xfrm>
          <a:prstGeom prst="ellipse">
            <a:avLst/>
          </a:prstGeom>
          <a:solidFill>
            <a:srgbClr val="000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81000" y="1752600"/>
            <a:ext cx="8534400" cy="4648200"/>
            <a:chOff x="288" y="1056"/>
            <a:chExt cx="5376" cy="2928"/>
          </a:xfrm>
        </p:grpSpPr>
        <p:pic>
          <p:nvPicPr>
            <p:cNvPr id="22535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69" r="6557"/>
            <a:stretch>
              <a:fillRect/>
            </a:stretch>
          </p:blipFill>
          <p:spPr bwMode="auto">
            <a:xfrm>
              <a:off x="2736" y="1056"/>
              <a:ext cx="2928" cy="29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536" name="Text Box 7"/>
            <p:cNvSpPr txBox="1">
              <a:spLocks noChangeArrowheads="1"/>
            </p:cNvSpPr>
            <p:nvPr/>
          </p:nvSpPr>
          <p:spPr bwMode="auto">
            <a:xfrm>
              <a:off x="288" y="3408"/>
              <a:ext cx="3360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2000" dirty="0"/>
                <a:t>在阈值 </a:t>
              </a:r>
              <a:r>
                <a:rPr lang="en-US" altLang="en-US" sz="2000" dirty="0"/>
                <a:t>t </a:t>
              </a:r>
              <a:r>
                <a:rPr lang="zh-CN" altLang="en-US" sz="2000" dirty="0"/>
                <a:t>处</a:t>
              </a:r>
              <a:r>
                <a:rPr lang="en-US" altLang="en-US" sz="2000" dirty="0"/>
                <a:t>:</a:t>
              </a:r>
            </a:p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dirty="0"/>
                <a:t>TPR=0.5, FNR=0.5, FPR=0.12, TNR=0.88</a:t>
              </a:r>
            </a:p>
          </p:txBody>
        </p:sp>
        <p:sp>
          <p:nvSpPr>
            <p:cNvPr id="22537" name="Line 8"/>
            <p:cNvSpPr>
              <a:spLocks noChangeShapeType="1"/>
            </p:cNvSpPr>
            <p:nvPr/>
          </p:nvSpPr>
          <p:spPr bwMode="auto">
            <a:xfrm flipV="1">
              <a:off x="2160" y="2496"/>
              <a:ext cx="1152" cy="11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534" name="Text Box 9"/>
          <p:cNvSpPr txBox="1">
            <a:spLocks noChangeArrowheads="1"/>
          </p:cNvSpPr>
          <p:nvPr/>
        </p:nvSpPr>
        <p:spPr bwMode="auto">
          <a:xfrm>
            <a:off x="228600" y="1066800"/>
            <a:ext cx="8229600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/>
              <a:t>-</a:t>
            </a:r>
            <a:r>
              <a:rPr lang="zh-CN" altLang="en-US" sz="1800" dirty="0"/>
              <a:t>包含两类的</a:t>
            </a:r>
            <a:r>
              <a:rPr lang="en-US" altLang="zh-CN" sz="1800" dirty="0"/>
              <a:t>1</a:t>
            </a:r>
            <a:r>
              <a:rPr lang="zh-CN" altLang="en-US" sz="1800" dirty="0"/>
              <a:t>维数据，符合高斯分布</a:t>
            </a:r>
            <a:endParaRPr lang="en-US" altLang="en-US" sz="1800" dirty="0"/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/>
              <a:t>- </a:t>
            </a:r>
            <a:r>
              <a:rPr lang="zh-CN" altLang="en-US" sz="1800" dirty="0"/>
              <a:t>假设 </a:t>
            </a:r>
            <a:r>
              <a:rPr lang="en-US" altLang="zh-CN" sz="1800" dirty="0"/>
              <a:t>t </a:t>
            </a:r>
            <a:r>
              <a:rPr lang="zh-CN" altLang="en-US" sz="1800" dirty="0"/>
              <a:t>为阈值，</a:t>
            </a:r>
            <a:r>
              <a:rPr lang="en-US" altLang="en-US" sz="1800" dirty="0"/>
              <a:t>x &gt; t </a:t>
            </a:r>
            <a:r>
              <a:rPr lang="zh-CN" altLang="en-US" sz="1800" dirty="0"/>
              <a:t>即被判定为阳性</a:t>
            </a:r>
            <a:endParaRPr lang="en-US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ROC</a:t>
            </a:r>
            <a:r>
              <a:rPr lang="zh-CN" altLang="en-US" dirty="0"/>
              <a:t>用于模型比较</a:t>
            </a:r>
            <a:endParaRPr lang="en-US" altLang="en-US" dirty="0"/>
          </a:p>
        </p:txBody>
      </p:sp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2" r="8220"/>
          <a:stretch>
            <a:fillRect/>
          </a:stretch>
        </p:blipFill>
        <p:spPr bwMode="auto">
          <a:xfrm>
            <a:off x="76200" y="1219200"/>
            <a:ext cx="5257800" cy="456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5410200" y="1143000"/>
            <a:ext cx="35814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8001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sz="2400" b="0" dirty="0"/>
              <a:t>M1</a:t>
            </a:r>
            <a:r>
              <a:rPr lang="zh-CN" altLang="en-US" sz="2400" b="0" dirty="0"/>
              <a:t>与</a:t>
            </a:r>
            <a:r>
              <a:rPr lang="en-US" altLang="zh-CN" sz="2400" b="0" dirty="0"/>
              <a:t>M2</a:t>
            </a:r>
            <a:r>
              <a:rPr lang="zh-CN" altLang="en-US" sz="2400" b="0" dirty="0"/>
              <a:t>相比</a:t>
            </a:r>
            <a:endParaRPr lang="en-US" altLang="en-US" sz="2400" b="0" dirty="0"/>
          </a:p>
          <a:p>
            <a:pPr lvl="1">
              <a:buSzPct val="75000"/>
              <a:buFont typeface="Monotype Sorts" pitchFamily="2" charset="2"/>
              <a:buChar char="l"/>
            </a:pPr>
            <a:r>
              <a:rPr lang="en-US" altLang="en-US" sz="2400" b="0" dirty="0"/>
              <a:t>M</a:t>
            </a:r>
            <a:r>
              <a:rPr lang="en-US" altLang="en-US" sz="2400" b="0" baseline="-25000" dirty="0"/>
              <a:t>1</a:t>
            </a:r>
            <a:r>
              <a:rPr lang="en-US" altLang="en-US" sz="2400" b="0" dirty="0"/>
              <a:t> is better for small FPR</a:t>
            </a:r>
          </a:p>
          <a:p>
            <a:pPr lvl="1">
              <a:buSzPct val="75000"/>
              <a:buFont typeface="Monotype Sorts" pitchFamily="2" charset="2"/>
              <a:buChar char="l"/>
            </a:pPr>
            <a:r>
              <a:rPr lang="en-US" altLang="en-US" sz="2400" b="0" dirty="0"/>
              <a:t>M</a:t>
            </a:r>
            <a:r>
              <a:rPr lang="en-US" altLang="en-US" sz="2400" b="0" baseline="-25000" dirty="0"/>
              <a:t>2</a:t>
            </a:r>
            <a:r>
              <a:rPr lang="en-US" altLang="en-US" sz="2400" b="0" dirty="0"/>
              <a:t> is better for large FPR</a:t>
            </a:r>
          </a:p>
          <a:p>
            <a:pPr lvl="1">
              <a:buSzPct val="75000"/>
              <a:buFont typeface="Monotype Sorts" pitchFamily="2" charset="2"/>
              <a:buNone/>
            </a:pPr>
            <a:endParaRPr lang="en-US" altLang="en-US" sz="1000" b="0" dirty="0"/>
          </a:p>
          <a:p>
            <a:r>
              <a:rPr lang="en-US" altLang="zh-CN" sz="2400" b="0" dirty="0"/>
              <a:t>ROC</a:t>
            </a:r>
            <a:r>
              <a:rPr lang="zh-CN" altLang="en-US" sz="2400" b="0" dirty="0"/>
              <a:t>曲线线下面积</a:t>
            </a:r>
            <a:endParaRPr lang="en-US" altLang="en-US" sz="2400" b="0" dirty="0"/>
          </a:p>
          <a:p>
            <a:pPr lvl="1">
              <a:buSzPct val="75000"/>
              <a:buFont typeface="Monotype Sorts" pitchFamily="2" charset="2"/>
              <a:buChar char="l"/>
            </a:pPr>
            <a:r>
              <a:rPr lang="en-US" altLang="en-US" sz="1800" b="0" dirty="0"/>
              <a:t>Ideal: </a:t>
            </a:r>
          </a:p>
          <a:p>
            <a:pPr lvl="2">
              <a:buClr>
                <a:schemeClr val="tx1"/>
              </a:buClr>
              <a:buSzPct val="75000"/>
              <a:buFont typeface="Wingdings" pitchFamily="2" charset="2"/>
              <a:buChar char="§"/>
            </a:pPr>
            <a:r>
              <a:rPr lang="en-US" altLang="en-US" sz="1800" b="0" dirty="0"/>
              <a:t> Area = 1</a:t>
            </a:r>
          </a:p>
          <a:p>
            <a:pPr lvl="1">
              <a:buSzPct val="75000"/>
              <a:buFont typeface="Monotype Sorts" pitchFamily="2" charset="2"/>
              <a:buChar char="l"/>
            </a:pPr>
            <a:r>
              <a:rPr lang="en-US" altLang="en-US" sz="1800" b="0" dirty="0"/>
              <a:t>Random guess:</a:t>
            </a:r>
          </a:p>
          <a:p>
            <a:pPr lvl="2">
              <a:buClr>
                <a:schemeClr val="tx1"/>
              </a:buClr>
              <a:buSzPct val="75000"/>
              <a:buFont typeface="Wingdings" pitchFamily="2" charset="2"/>
              <a:buChar char="§"/>
            </a:pPr>
            <a:r>
              <a:rPr lang="en-US" altLang="en-US" sz="1800" b="0" dirty="0"/>
              <a:t> Area = 0.5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如何绘制</a:t>
            </a:r>
            <a:r>
              <a:rPr lang="en-US" altLang="zh-CN" dirty="0"/>
              <a:t>ROC</a:t>
            </a:r>
            <a:r>
              <a:rPr lang="zh-CN" altLang="en-US" dirty="0"/>
              <a:t>曲线</a:t>
            </a:r>
            <a:endParaRPr lang="en-US" altLang="en-US" dirty="0"/>
          </a:p>
        </p:txBody>
      </p:sp>
      <p:graphicFrame>
        <p:nvGraphicFramePr>
          <p:cNvPr id="1332227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0621816"/>
              </p:ext>
            </p:extLst>
          </p:nvPr>
        </p:nvGraphicFramePr>
        <p:xfrm>
          <a:off x="381000" y="1295400"/>
          <a:ext cx="3886200" cy="4064004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Instance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Score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True 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0.87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0.85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0.85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0.85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0.76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0.53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0.43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4629" name="Text Box 53"/>
          <p:cNvSpPr txBox="1">
            <a:spLocks noChangeArrowheads="1"/>
          </p:cNvSpPr>
          <p:nvPr/>
        </p:nvSpPr>
        <p:spPr bwMode="auto">
          <a:xfrm>
            <a:off x="4419600" y="1066800"/>
            <a:ext cx="4648200" cy="4449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7663" indent="-347663">
              <a:spcBef>
                <a:spcPts val="5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zh-CN" altLang="en-US" sz="2200" b="0" dirty="0"/>
              <a:t>利用一个分类器对每一个样本输出一个连续的得分值</a:t>
            </a:r>
            <a:endParaRPr lang="en-US" altLang="en-US" sz="2200" b="0" dirty="0"/>
          </a:p>
          <a:p>
            <a:pPr marL="804863" lvl="1" indent="-347663">
              <a:spcBef>
                <a:spcPts val="5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zh-CN" altLang="en-US" sz="2000" b="0" dirty="0"/>
              <a:t>得分值越高，属于阳性的可能性就越大</a:t>
            </a:r>
            <a:endParaRPr lang="en-US" altLang="zh-CN" sz="2000" b="0" dirty="0"/>
          </a:p>
          <a:p>
            <a:pPr marL="804863" lvl="1" indent="-347663">
              <a:spcBef>
                <a:spcPts val="5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000" b="0" dirty="0"/>
          </a:p>
          <a:p>
            <a:pPr marL="347663" indent="-347663">
              <a:spcBef>
                <a:spcPts val="5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zh-CN" altLang="en-US" sz="2200" b="0" dirty="0"/>
              <a:t>按照得分值的降序排序</a:t>
            </a:r>
            <a:r>
              <a:rPr lang="en-US" altLang="en-US" sz="2200" b="0" dirty="0"/>
              <a:t> </a:t>
            </a:r>
          </a:p>
          <a:p>
            <a:pPr marL="347663" indent="-347663">
              <a:spcBef>
                <a:spcPts val="5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zh-CN" altLang="en-US" sz="2200" b="0" dirty="0"/>
              <a:t>对每一个唯一的分数值确定一个阈值</a:t>
            </a:r>
            <a:endParaRPr lang="en-US" altLang="en-US" sz="2200" b="0" dirty="0"/>
          </a:p>
          <a:p>
            <a:pPr marL="347663" indent="-347663">
              <a:spcBef>
                <a:spcPts val="5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zh-CN" altLang="en-US" sz="2200" b="0" dirty="0"/>
              <a:t>分别统计 </a:t>
            </a:r>
            <a:r>
              <a:rPr lang="en-US" altLang="en-US" sz="2200" b="0" dirty="0"/>
              <a:t>TP, FP, TN, FN</a:t>
            </a:r>
            <a:r>
              <a:rPr lang="zh-CN" altLang="en-US" sz="2200" b="0" dirty="0"/>
              <a:t>，并计算</a:t>
            </a:r>
            <a:endParaRPr lang="en-US" altLang="en-US" sz="2200" b="0" dirty="0"/>
          </a:p>
          <a:p>
            <a:pPr marL="685800" lvl="1" indent="-228600">
              <a:spcBef>
                <a:spcPts val="5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0" dirty="0"/>
              <a:t>TPR = TP/(TP+FN)</a:t>
            </a:r>
          </a:p>
          <a:p>
            <a:pPr marL="685800" lvl="1" indent="-228600">
              <a:spcBef>
                <a:spcPts val="5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0" dirty="0"/>
              <a:t>FPR = FP/(FP + TN)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如何绘制</a:t>
            </a:r>
            <a:r>
              <a:rPr lang="en-US" altLang="zh-CN" dirty="0"/>
              <a:t>ROC</a:t>
            </a:r>
            <a:r>
              <a:rPr lang="zh-CN" altLang="en-US" dirty="0"/>
              <a:t>曲线</a:t>
            </a:r>
            <a:endParaRPr lang="en-US" altLang="en-US" dirty="0"/>
          </a:p>
        </p:txBody>
      </p:sp>
      <p:graphicFrame>
        <p:nvGraphicFramePr>
          <p:cNvPr id="2560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0741672"/>
              </p:ext>
            </p:extLst>
          </p:nvPr>
        </p:nvGraphicFramePr>
        <p:xfrm>
          <a:off x="1390650" y="1066800"/>
          <a:ext cx="6457950" cy="238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83" name="Document" r:id="rId3" imgW="10594848" imgH="3913632" progId="Word.Document.8">
                  <p:embed/>
                </p:oleObj>
              </mc:Choice>
              <mc:Fallback>
                <p:oleObj name="Document" r:id="rId3" imgW="10594848" imgH="3913632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0650" y="1066800"/>
                        <a:ext cx="6457950" cy="238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69" t="5128" r="3847" b="5128"/>
          <a:stretch>
            <a:fillRect/>
          </a:stretch>
        </p:blipFill>
        <p:spPr bwMode="auto">
          <a:xfrm>
            <a:off x="2819400" y="3449638"/>
            <a:ext cx="3962400" cy="295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5" name="Text Box 5"/>
          <p:cNvSpPr txBox="1">
            <a:spLocks noChangeArrowheads="1"/>
          </p:cNvSpPr>
          <p:nvPr/>
        </p:nvSpPr>
        <p:spPr bwMode="auto">
          <a:xfrm>
            <a:off x="609600" y="1399401"/>
            <a:ext cx="12954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 dirty="0"/>
              <a:t>Threshold &gt;= </a:t>
            </a:r>
          </a:p>
        </p:txBody>
      </p:sp>
      <p:sp>
        <p:nvSpPr>
          <p:cNvPr id="25606" name="Text Box 6"/>
          <p:cNvSpPr txBox="1">
            <a:spLocks noChangeArrowheads="1"/>
          </p:cNvSpPr>
          <p:nvPr/>
        </p:nvSpPr>
        <p:spPr bwMode="auto">
          <a:xfrm>
            <a:off x="990600" y="4572000"/>
            <a:ext cx="1828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ROC Curve:</a:t>
            </a:r>
          </a:p>
        </p:txBody>
      </p:sp>
      <p:sp>
        <p:nvSpPr>
          <p:cNvPr id="25607" name="Line 7"/>
          <p:cNvSpPr>
            <a:spLocks noChangeShapeType="1"/>
          </p:cNvSpPr>
          <p:nvPr/>
        </p:nvSpPr>
        <p:spPr bwMode="auto">
          <a:xfrm>
            <a:off x="1066800" y="28956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8" name="Line 8"/>
          <p:cNvSpPr>
            <a:spLocks noChangeShapeType="1"/>
          </p:cNvSpPr>
          <p:nvPr/>
        </p:nvSpPr>
        <p:spPr bwMode="auto">
          <a:xfrm>
            <a:off x="1066800" y="32004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解决不平衡分类问题的方法</a:t>
            </a:r>
            <a:r>
              <a:rPr lang="en-US" altLang="zh-CN" dirty="0"/>
              <a:t>——</a:t>
            </a:r>
            <a:r>
              <a:rPr lang="zh-CN" altLang="en-US" dirty="0"/>
              <a:t>重采样</a:t>
            </a:r>
            <a:endParaRPr lang="en-US" altLang="en-US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改变训练集中的分布，使得小类数据得到更好的表示</a:t>
            </a:r>
            <a:endParaRPr lang="en-US" altLang="en-US" dirty="0"/>
          </a:p>
          <a:p>
            <a:pPr lvl="1"/>
            <a:r>
              <a:rPr lang="zh-CN" altLang="en-US" dirty="0"/>
              <a:t>对多类数据进行欠采样</a:t>
            </a:r>
            <a:endParaRPr lang="en-US" altLang="en-US" dirty="0"/>
          </a:p>
          <a:p>
            <a:pPr lvl="1"/>
            <a:r>
              <a:rPr lang="zh-CN" altLang="en-US" dirty="0"/>
              <a:t>对少类数据进行过采样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欠采样举例</a:t>
            </a:r>
          </a:p>
        </p:txBody>
      </p:sp>
      <p:pic>
        <p:nvPicPr>
          <p:cNvPr id="26626" name="Picture 2" descr="https://img-blog.csdn.net/20180511215238926?watermark/2/text/aHR0cHM6Ly9ibG9nLmNzZG4ubmV0L3Byb2dyYW1fZGV2ZWxvcGVy/font/5a6L5L2T/fontsize/400/fill/I0JBQkFCMA==/dissolve/7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219200"/>
            <a:ext cx="6473825" cy="5198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05844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解决不平衡分类问题的方法</a:t>
            </a:r>
            <a:r>
              <a:rPr lang="en-US" altLang="zh-CN" dirty="0"/>
              <a:t>——</a:t>
            </a:r>
            <a:r>
              <a:rPr lang="zh-CN" altLang="en-US" dirty="0"/>
              <a:t>代价敏感</a:t>
            </a:r>
            <a:endParaRPr lang="en-US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747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在设计损失函数中，通过调整不同类的代价或权重来偏重少数类以改进分类性能。</a:t>
                </a:r>
                <a:endParaRPr lang="en-US" altLang="en-US" dirty="0"/>
              </a:p>
              <a:p>
                <a:pPr lvl="1"/>
                <a:r>
                  <a:rPr lang="zh-CN" altLang="en-US" dirty="0"/>
                  <a:t>赋予少数类样本更大的权重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传统损失函数：</a:t>
                </a:r>
                <a:endParaRPr lang="en-US" altLang="zh-CN" dirty="0"/>
              </a:p>
              <a:p>
                <a:pPr lvl="2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US" alt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alt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altLang="en-US" i="1">
                                  <a:latin typeface="Cambria Math" panose="02040503050406030204" pitchFamily="18" charset="0"/>
                                </a:rPr>
                                <m:t>==</m:t>
                              </m:r>
                              <m:sSub>
                                <m:sSubPr>
                                  <m:ctrlPr>
                                    <a:rPr lang="en-US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加权损失函数</a:t>
                </a:r>
                <a:endParaRPr lang="en-US" altLang="zh-CN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US" alt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alt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altLang="en-US" i="1">
                                  <a:latin typeface="Cambria Math" panose="02040503050406030204" pitchFamily="18" charset="0"/>
                                </a:rPr>
                                <m:t>==</m:t>
                              </m:r>
                              <m:sSub>
                                <m:sSubPr>
                                  <m:ctrlPr>
                                    <a:rPr lang="en-US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2">
                  <a:buNone/>
                </a:pPr>
                <a:endParaRPr lang="en-US" altLang="en-US" dirty="0"/>
              </a:p>
            </p:txBody>
          </p:sp>
        </mc:Choice>
        <mc:Fallback xmlns="">
          <p:sp>
            <p:nvSpPr>
              <p:cNvPr id="317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026" t="-1294" r="-8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24833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EADFF7-2DBA-46CB-B18D-D5A555753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不平衡数据集损失函数</a:t>
            </a:r>
            <a:r>
              <a:rPr lang="en-US" altLang="zh-CN" dirty="0"/>
              <a:t>——</a:t>
            </a:r>
            <a:r>
              <a:rPr lang="zh-CN" altLang="en-US" dirty="0"/>
              <a:t>课后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7329D6-CDCC-4DF8-9BBE-9202B1991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hlinkClick r:id="rId2"/>
              </a:rPr>
              <a:t>https://mp.weixin.qq.com/s/SMIEIlalo59sMCO9GOqPMQ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720AC44-F238-4394-A4C4-2B5EB7011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63" y="2438400"/>
            <a:ext cx="8153400" cy="2264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7678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400" dirty="0"/>
              <a:t>解决不平衡分类问题的方法</a:t>
            </a:r>
            <a:r>
              <a:rPr lang="en-US" altLang="zh-CN" sz="2400" dirty="0"/>
              <a:t>——</a:t>
            </a:r>
            <a:r>
              <a:rPr lang="zh-CN" altLang="en-US" sz="2400" dirty="0"/>
              <a:t>集成学习</a:t>
            </a:r>
            <a:endParaRPr lang="en-US" altLang="en-US" sz="2400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Adaboost</a:t>
            </a:r>
            <a:r>
              <a:rPr lang="zh-CN" altLang="en-US" dirty="0"/>
              <a:t>方法</a:t>
            </a:r>
            <a:endParaRPr lang="en-US" altLang="en-US" dirty="0"/>
          </a:p>
          <a:p>
            <a:pPr lvl="1"/>
            <a:r>
              <a:rPr lang="zh-CN" altLang="en-US" dirty="0"/>
              <a:t>分错的样本，在下一轮被抽中的概率变大</a:t>
            </a:r>
            <a:endParaRPr lang="en-US" altLang="zh-CN" dirty="0"/>
          </a:p>
          <a:p>
            <a:pPr lvl="1"/>
            <a:r>
              <a:rPr lang="zh-CN" altLang="en-US" dirty="0"/>
              <a:t>本质上还是重采样中的过采样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038059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400" dirty="0"/>
              <a:t>解决不平衡分类问题的方法</a:t>
            </a:r>
            <a:r>
              <a:rPr lang="en-US" altLang="zh-CN" sz="2400" dirty="0"/>
              <a:t>——</a:t>
            </a:r>
            <a:r>
              <a:rPr lang="zh-CN" altLang="en-US" sz="2400" dirty="0"/>
              <a:t>各类方法优缺点</a:t>
            </a:r>
            <a:endParaRPr lang="en-US" altLang="en-US" sz="2400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0996782"/>
              </p:ext>
            </p:extLst>
          </p:nvPr>
        </p:nvGraphicFramePr>
        <p:xfrm>
          <a:off x="152400" y="1259840"/>
          <a:ext cx="8839200" cy="5181776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946400">
                  <a:extLst>
                    <a:ext uri="{9D8B030D-6E8A-4147-A177-3AD203B41FA5}">
                      <a16:colId xmlns:a16="http://schemas.microsoft.com/office/drawing/2014/main" val="763435908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607410424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3022821455"/>
                    </a:ext>
                  </a:extLst>
                </a:gridCol>
              </a:tblGrid>
              <a:tr h="540149"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2400" dirty="0"/>
                        <a:t>方法</a:t>
                      </a:r>
                      <a:endParaRPr lang="zh-CN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2400" dirty="0"/>
                        <a:t>优点</a:t>
                      </a:r>
                      <a:endParaRPr lang="zh-CN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2400" dirty="0"/>
                        <a:t>缺点</a:t>
                      </a:r>
                      <a:endParaRPr lang="zh-CN" alt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0430003"/>
                  </a:ext>
                </a:extLst>
              </a:tr>
              <a:tr h="1331875"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2400" dirty="0"/>
                        <a:t>过采样</a:t>
                      </a:r>
                      <a:endParaRPr lang="zh-CN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2400" dirty="0"/>
                        <a:t>减少运行时间，并且当数据集很大时，可以通过减少样本数量来解决存储问题</a:t>
                      </a:r>
                      <a:endParaRPr lang="zh-CN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2400" dirty="0"/>
                        <a:t>可能会丢失重要信息，采样后的数据不一定能代表全部数据，导致分类结果不精准</a:t>
                      </a:r>
                      <a:endParaRPr lang="zh-CN" alt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446865"/>
                  </a:ext>
                </a:extLst>
              </a:tr>
              <a:tr h="1331875"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2400" dirty="0"/>
                        <a:t>欠采样</a:t>
                      </a:r>
                      <a:endParaRPr lang="zh-CN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2400" dirty="0"/>
                        <a:t>不会造成信息缺失，表现优于欠采样</a:t>
                      </a:r>
                      <a:endParaRPr lang="zh-CN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2400" dirty="0"/>
                        <a:t>过采样会引起噪声数据的权重过大，也会加大过拟合的可能性</a:t>
                      </a:r>
                      <a:endParaRPr lang="zh-CN" alt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7645382"/>
                  </a:ext>
                </a:extLst>
              </a:tr>
              <a:tr h="932312"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2400" dirty="0"/>
                        <a:t>代价敏感</a:t>
                      </a:r>
                      <a:endParaRPr lang="en-US" altLang="zh-C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2400" dirty="0"/>
                        <a:t>不会造成信息缺失，过拟合的可能性小</a:t>
                      </a:r>
                      <a:endParaRPr lang="zh-CN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2400" dirty="0"/>
                        <a:t>权重不易设置</a:t>
                      </a:r>
                      <a:endParaRPr lang="en-US" altLang="zh-CN" sz="2400" b="1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79887"/>
                  </a:ext>
                </a:extLst>
              </a:tr>
              <a:tr h="547549"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2400" dirty="0"/>
                        <a:t>集成学习</a:t>
                      </a:r>
                      <a:endParaRPr lang="en-US" altLang="zh-C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2400" dirty="0"/>
                        <a:t>不会造成信息缺失</a:t>
                      </a:r>
                      <a:endParaRPr lang="zh-CN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2400" dirty="0"/>
                        <a:t>运算耗时、内存要求高</a:t>
                      </a:r>
                      <a:endParaRPr lang="en-US" altLang="zh-CN" sz="2400" b="1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9528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2703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近年来部分论文：</a:t>
            </a:r>
            <a:r>
              <a:rPr lang="en-US" altLang="zh-CN" dirty="0"/>
              <a:t>2020</a:t>
            </a:r>
            <a:r>
              <a:rPr lang="zh-CN" altLang="en-US" dirty="0"/>
              <a:t>年，</a:t>
            </a:r>
            <a:r>
              <a:rPr lang="en-US" altLang="zh-CN" dirty="0"/>
              <a:t>IEEE TPAMI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0600"/>
            <a:ext cx="9105900" cy="124073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3550" y="2130996"/>
            <a:ext cx="5676900" cy="4544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6924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近年来部分论文： </a:t>
            </a:r>
            <a:r>
              <a:rPr lang="en-US" altLang="zh-CN" dirty="0"/>
              <a:t>2019</a:t>
            </a:r>
            <a:r>
              <a:rPr lang="zh-CN" altLang="en-US" dirty="0"/>
              <a:t>年，</a:t>
            </a:r>
            <a:r>
              <a:rPr lang="en-US" altLang="zh-CN" dirty="0"/>
              <a:t>IEEE TIE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43000"/>
            <a:ext cx="8115300" cy="205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001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近年来部分论文： </a:t>
            </a:r>
            <a:r>
              <a:rPr lang="en-US" altLang="zh-CN" dirty="0"/>
              <a:t>2019</a:t>
            </a:r>
            <a:r>
              <a:rPr lang="zh-CN" altLang="en-US" dirty="0"/>
              <a:t>年，</a:t>
            </a:r>
            <a:r>
              <a:rPr lang="en-US" altLang="zh-CN" dirty="0"/>
              <a:t>IEEE TIE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066800"/>
            <a:ext cx="5562600" cy="571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2820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4533DF-0D2A-49D4-9AD2-4A1A18B74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FB8913-F945-40A4-B0E8-3B53C6873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不平衡数据很常见，设计分类器时要注意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选择合适的评价指标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选择解决不平衡分类的方法</a:t>
            </a:r>
          </a:p>
        </p:txBody>
      </p:sp>
    </p:spTree>
    <p:extLst>
      <p:ext uri="{BB962C8B-B14F-4D97-AF65-F5344CB8AC3E}">
        <p14:creationId xmlns:p14="http://schemas.microsoft.com/office/powerpoint/2010/main" val="41093988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457BA7-F68E-44B2-928B-4B3B360F3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第一次实验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C0065A-35B4-4497-BA5B-B951849C9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已在</a:t>
            </a:r>
            <a:r>
              <a:rPr lang="en-US" altLang="zh-CN" dirty="0" err="1"/>
              <a:t>kaggle</a:t>
            </a:r>
            <a:r>
              <a:rPr lang="zh-CN" altLang="en-US" dirty="0"/>
              <a:t>发布：</a:t>
            </a:r>
            <a:r>
              <a:rPr lang="en-US" altLang="zh-CN" dirty="0" err="1">
                <a:hlinkClick r:id="rId2"/>
              </a:rPr>
              <a:t>BigData</a:t>
            </a:r>
            <a:r>
              <a:rPr lang="en-US" altLang="zh-CN" dirty="0">
                <a:hlinkClick r:id="rId2"/>
              </a:rPr>
              <a:t> &amp; </a:t>
            </a:r>
            <a:r>
              <a:rPr lang="en-US" altLang="zh-CN" dirty="0" err="1">
                <a:hlinkClick r:id="rId2"/>
              </a:rPr>
              <a:t>DataMining</a:t>
            </a:r>
            <a:r>
              <a:rPr lang="en-US" altLang="zh-CN" dirty="0">
                <a:hlinkClick r:id="rId2"/>
              </a:rPr>
              <a:t>- 1st ex | Kaggle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从即日起至</a:t>
            </a:r>
            <a:r>
              <a:rPr lang="en-US" altLang="zh-CN" dirty="0"/>
              <a:t>4</a:t>
            </a:r>
            <a:r>
              <a:rPr lang="zh-CN" altLang="en-US" dirty="0"/>
              <a:t>月</a:t>
            </a:r>
            <a:r>
              <a:rPr lang="en-US" altLang="zh-CN" dirty="0"/>
              <a:t>30</a:t>
            </a:r>
            <a:r>
              <a:rPr lang="zh-CN" altLang="en-US" dirty="0"/>
              <a:t>日晚上</a:t>
            </a:r>
            <a:r>
              <a:rPr lang="en-US" altLang="zh-CN" dirty="0"/>
              <a:t>12</a:t>
            </a:r>
            <a:r>
              <a:rPr lang="zh-CN" altLang="en-US" dirty="0"/>
              <a:t>点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6A40CD1-356A-4B83-811A-2D644AE1F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057400"/>
            <a:ext cx="7708900" cy="3735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3656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446D91-F992-4A13-9E05-9424873D7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第一次实验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6D47227-A2E4-452B-BC05-A6F2DA663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752600"/>
            <a:ext cx="8686800" cy="291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459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caseSensitive&quot;:false,&quot;fuzzyMatch&quot;:false,&quot;Score&quot;:1.0,&quot;answers&quot;:[&quot;29600&quot;]},{&quot;num&quot;:2,&quot;caseSensitive&quot;:false,&quot;fuzzyMatch&quot;:false,&quot;Score&quot;:1.0,&quot;answers&quot;:[&quot;19800&quot;]}]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LC.BRev.FY97">
  <a:themeElements>
    <a:clrScheme name="">
      <a:dk1>
        <a:srgbClr val="000000"/>
      </a:dk1>
      <a:lt1>
        <a:srgbClr val="FFFFFF"/>
      </a:lt1>
      <a:dk2>
        <a:srgbClr val="006B61"/>
      </a:dk2>
      <a:lt2>
        <a:srgbClr val="C0C0C0"/>
      </a:lt2>
      <a:accent1>
        <a:srgbClr val="FF00FF"/>
      </a:accent1>
      <a:accent2>
        <a:srgbClr val="00C0C0"/>
      </a:accent2>
      <a:accent3>
        <a:srgbClr val="FFFFFF"/>
      </a:accent3>
      <a:accent4>
        <a:srgbClr val="000000"/>
      </a:accent4>
      <a:accent5>
        <a:srgbClr val="FFAAFF"/>
      </a:accent5>
      <a:accent6>
        <a:srgbClr val="00AEAE"/>
      </a:accent6>
      <a:hlink>
        <a:srgbClr val="00C000"/>
      </a:hlink>
      <a:folHlink>
        <a:srgbClr val="800080"/>
      </a:folHlink>
    </a:clrScheme>
    <a:fontScheme name="LC.BRev.FY97">
      <a:majorFont>
        <a:latin typeface="Tahom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LC.BRev.FY9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C.BRev.FY97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Porky:Words:ASCI:PSE:Budgets FY97:LC.BRev.FY97</Template>
  <TotalTime>146480446</TotalTime>
  <Pages>3</Pages>
  <Words>1303</Words>
  <Application>Microsoft Office PowerPoint</Application>
  <PresentationFormat>全屏显示(4:3)</PresentationFormat>
  <Paragraphs>310</Paragraphs>
  <Slides>32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32</vt:i4>
      </vt:variant>
    </vt:vector>
  </HeadingPairs>
  <TitlesOfParts>
    <vt:vector size="43" baseType="lpstr">
      <vt:lpstr>Microsoft Yahei</vt:lpstr>
      <vt:lpstr>Monotype Sorts</vt:lpstr>
      <vt:lpstr>Arial</vt:lpstr>
      <vt:lpstr>Cambria Math</vt:lpstr>
      <vt:lpstr>Symbol</vt:lpstr>
      <vt:lpstr>Tahoma</vt:lpstr>
      <vt:lpstr>Times New Roman</vt:lpstr>
      <vt:lpstr>Wingdings</vt:lpstr>
      <vt:lpstr>LC.BRev.FY97</vt:lpstr>
      <vt:lpstr>Equation</vt:lpstr>
      <vt:lpstr>Document</vt:lpstr>
      <vt:lpstr>PowerPoint 演示文稿</vt:lpstr>
      <vt:lpstr>类不平衡问题</vt:lpstr>
      <vt:lpstr>类不平衡问题</vt:lpstr>
      <vt:lpstr>不平衡分类的挑战</vt:lpstr>
      <vt:lpstr>Confusion Matrix：混淆矩阵</vt:lpstr>
      <vt:lpstr>Accuracy-准确率</vt:lpstr>
      <vt:lpstr>准确率的问题</vt:lpstr>
      <vt:lpstr>准确率的问题</vt:lpstr>
      <vt:lpstr>准确率的问题</vt:lpstr>
      <vt:lpstr>PowerPoint 演示文稿</vt:lpstr>
      <vt:lpstr>其他指标</vt:lpstr>
      <vt:lpstr>PowerPoint 演示文稿</vt:lpstr>
      <vt:lpstr>分类性能评价指标</vt:lpstr>
      <vt:lpstr>PowerPoint 演示文稿</vt:lpstr>
      <vt:lpstr>ROC (Receiver Operating Characteristic)观测者操作特性曲线</vt:lpstr>
      <vt:lpstr>ROC Curve</vt:lpstr>
      <vt:lpstr>ROC曲线——举例</vt:lpstr>
      <vt:lpstr>ROC用于模型比较</vt:lpstr>
      <vt:lpstr>如何绘制ROC曲线</vt:lpstr>
      <vt:lpstr>如何绘制ROC曲线</vt:lpstr>
      <vt:lpstr>解决不平衡分类问题的方法——重采样</vt:lpstr>
      <vt:lpstr>欠采样举例</vt:lpstr>
      <vt:lpstr>解决不平衡分类问题的方法——代价敏感</vt:lpstr>
      <vt:lpstr>不平衡数据集损失函数——课后</vt:lpstr>
      <vt:lpstr>解决不平衡分类问题的方法——集成学习</vt:lpstr>
      <vt:lpstr>解决不平衡分类问题的方法——各类方法优缺点</vt:lpstr>
      <vt:lpstr>近年来部分论文：2020年，IEEE TPAMI</vt:lpstr>
      <vt:lpstr>近年来部分论文： 2019年，IEEE TIE</vt:lpstr>
      <vt:lpstr>近年来部分论文： 2019年，IEEE TIE</vt:lpstr>
      <vt:lpstr>总结</vt:lpstr>
      <vt:lpstr>第一次实验</vt:lpstr>
      <vt:lpstr>第一次实验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Steven F. Ashby Center for Applied Scientific Computing  Month DD, 1997</dc:title>
  <dc:creator>Computations</dc:creator>
  <cp:lastModifiedBy>ly313</cp:lastModifiedBy>
  <cp:revision>484</cp:revision>
  <cp:lastPrinted>2019-09-27T17:30:37Z</cp:lastPrinted>
  <dcterms:created xsi:type="dcterms:W3CDTF">1998-03-18T13:44:31Z</dcterms:created>
  <dcterms:modified xsi:type="dcterms:W3CDTF">2022-04-13T09:04:54Z</dcterms:modified>
</cp:coreProperties>
</file>