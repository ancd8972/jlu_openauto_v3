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729" r:id="rId2"/>
    <p:sldId id="730" r:id="rId3"/>
    <p:sldId id="755" r:id="rId4"/>
    <p:sldId id="756" r:id="rId5"/>
    <p:sldId id="757" r:id="rId6"/>
    <p:sldId id="758" r:id="rId7"/>
    <p:sldId id="732" r:id="rId8"/>
    <p:sldId id="733" r:id="rId9"/>
    <p:sldId id="734" r:id="rId10"/>
    <p:sldId id="735" r:id="rId11"/>
    <p:sldId id="736" r:id="rId12"/>
    <p:sldId id="762" r:id="rId13"/>
    <p:sldId id="737" r:id="rId14"/>
    <p:sldId id="738" r:id="rId15"/>
    <p:sldId id="739" r:id="rId16"/>
    <p:sldId id="740" r:id="rId17"/>
    <p:sldId id="741" r:id="rId18"/>
    <p:sldId id="742" r:id="rId19"/>
    <p:sldId id="743" r:id="rId20"/>
    <p:sldId id="744" r:id="rId21"/>
    <p:sldId id="745" r:id="rId22"/>
    <p:sldId id="746" r:id="rId23"/>
    <p:sldId id="747" r:id="rId24"/>
    <p:sldId id="748" r:id="rId25"/>
    <p:sldId id="749" r:id="rId26"/>
    <p:sldId id="750" r:id="rId27"/>
    <p:sldId id="751" r:id="rId28"/>
    <p:sldId id="627" r:id="rId29"/>
    <p:sldId id="617" r:id="rId30"/>
    <p:sldId id="618" r:id="rId31"/>
    <p:sldId id="619" r:id="rId32"/>
    <p:sldId id="761" r:id="rId33"/>
    <p:sldId id="620" r:id="rId34"/>
    <p:sldId id="621" r:id="rId35"/>
    <p:sldId id="622" r:id="rId36"/>
    <p:sldId id="623" r:id="rId37"/>
    <p:sldId id="625" r:id="rId38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2" autoAdjust="0"/>
    <p:restoredTop sz="94551" autoAdjust="0"/>
  </p:normalViewPr>
  <p:slideViewPr>
    <p:cSldViewPr>
      <p:cViewPr varScale="1">
        <p:scale>
          <a:sx n="76" d="100"/>
          <a:sy n="76" d="100"/>
        </p:scale>
        <p:origin x="834" y="39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776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236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912" tIns="47958" rIns="95912" bIns="47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3163" y="698500"/>
            <a:ext cx="4591050" cy="3443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860120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06" tIns="45348" rIns="90706" bIns="45348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916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8483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825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1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82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217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795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52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507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91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221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8067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5188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9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1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10/26/2020             </a:t>
            </a:r>
            <a:r>
              <a:rPr lang="en-US" baseline="0"/>
              <a:t>         </a:t>
            </a:r>
            <a:r>
              <a:rPr lang="en-US" dirty="0"/>
              <a:t>Introduction to Data Mining, 2</a:t>
            </a:r>
            <a:r>
              <a:rPr lang="en-US" baseline="30000" dirty="0"/>
              <a:t>nd</a:t>
            </a:r>
            <a:r>
              <a:rPr lang="en-US" dirty="0"/>
              <a:t> Edition 			</a:t>
            </a:r>
            <a:r>
              <a:rPr lang="en-US" baseline="0" dirty="0"/>
              <a:t>           </a:t>
            </a:r>
            <a:fld id="{7C9F7F48-2944-4AF0-87BF-27ECBE076434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457200" y="2942877"/>
            <a:ext cx="82296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0" dirty="0"/>
              <a:t>算法与复杂度</a:t>
            </a: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371600"/>
            <a:ext cx="8763000" cy="838200"/>
          </a:xfrm>
          <a:noFill/>
        </p:spPr>
        <p:txBody>
          <a:bodyPr/>
          <a:lstStyle/>
          <a:p>
            <a:pPr algn="ctr"/>
            <a:br>
              <a:rPr lang="en-US" altLang="en-US"/>
            </a:br>
            <a:r>
              <a:rPr lang="en-US" altLang="en-US"/>
              <a:t>Association Analysis: Basic Concepts </a:t>
            </a:r>
            <a:br>
              <a:rPr lang="en-US" altLang="en-US"/>
            </a:br>
            <a:r>
              <a:rPr lang="en-US" altLang="en-US"/>
              <a:t>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04266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Factors Affecting Complexity of Apriori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Choice of minimum support threshold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Dimensionality (number of items) of the data set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Size of database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Average transaction width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1198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Factors Affecting Complexity of Apriori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Choice of minimum support threshold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lowering support threshold results in more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this may increase number of candidates and max length of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zh-CN" altLang="en-US" sz="2000" dirty="0"/>
              <a:t>不能为了计算效率，增大支持度阈值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Dimensionality (number of items) of the data set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Size of database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 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Average transaction width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</a:t>
            </a:r>
          </a:p>
        </p:txBody>
      </p:sp>
      <p:graphicFrame>
        <p:nvGraphicFramePr>
          <p:cNvPr id="4" name="Object 2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40132205"/>
              </p:ext>
            </p:extLst>
          </p:nvPr>
        </p:nvGraphicFramePr>
        <p:xfrm>
          <a:off x="5346700" y="3954689"/>
          <a:ext cx="3568700" cy="2065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7"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700" y="3954689"/>
                        <a:ext cx="3568700" cy="2065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156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Factors Affecting Complexity of Apriori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Choice of minimum support threshold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lowering support threshold results in more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this may increase number of candidates and max length of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Dimensionality (number of items) of the data set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More space is needed to store support count of 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I</a:t>
            </a:r>
            <a:r>
              <a:rPr lang="en-US" altLang="en-US" sz="2000" dirty="0"/>
              <a:t>f number of frequent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 also increases, both computation and I/O costs may also increase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Size of database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Average transaction width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</a:t>
            </a:r>
          </a:p>
        </p:txBody>
      </p:sp>
      <p:graphicFrame>
        <p:nvGraphicFramePr>
          <p:cNvPr id="4" name="Object 2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0132732"/>
              </p:ext>
            </p:extLst>
          </p:nvPr>
        </p:nvGraphicFramePr>
        <p:xfrm>
          <a:off x="5422900" y="4349336"/>
          <a:ext cx="3568700" cy="2051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1"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349336"/>
                        <a:ext cx="3568700" cy="2051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865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Factors Affecting Complexity of Apriori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Choice of minimum support threshold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lowering support threshold results in more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this may increase number of candidates and max length of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Dimensionality (number of items) of the data set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More space is needed to store support count of 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if number of frequent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 also increases, both computation and I/O costs may also increase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Size of database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run time of algorithm increases with number of transactions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/>
              <a:t>每一个项集需要比对的记录数量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Average transaction width</a:t>
            </a:r>
          </a:p>
        </p:txBody>
      </p:sp>
      <p:graphicFrame>
        <p:nvGraphicFramePr>
          <p:cNvPr id="4" name="Object 2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05469890"/>
              </p:ext>
            </p:extLst>
          </p:nvPr>
        </p:nvGraphicFramePr>
        <p:xfrm>
          <a:off x="5355314" y="4495800"/>
          <a:ext cx="3568700" cy="2078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5"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5314" y="4495800"/>
                        <a:ext cx="3568700" cy="2078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32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Factors Affecting Complexity of Apriori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Choice of minimum support threshold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lowering support threshold results in more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this may increase number of candidates and max length of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Dimensionality (number of items) of the data set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More space is needed to store support count of 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if number of frequent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 also increases, both computation and I/O costs may also increase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Size of database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 run time of algorithm increases with number of transactions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Average transaction width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transaction width increases the max length of frequent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number of subsets in a transaction increases with its width, increasing computation time for support counting</a:t>
            </a:r>
          </a:p>
        </p:txBody>
      </p:sp>
    </p:spTree>
    <p:extLst>
      <p:ext uri="{BB962C8B-B14F-4D97-AF65-F5344CB8AC3E}">
        <p14:creationId xmlns:p14="http://schemas.microsoft.com/office/powerpoint/2010/main" val="387744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86800" cy="533400"/>
          </a:xfrm>
        </p:spPr>
        <p:txBody>
          <a:bodyPr/>
          <a:lstStyle/>
          <a:p>
            <a:r>
              <a:rPr lang="en-US" altLang="en-US" sz="2400" dirty="0"/>
              <a:t>Compact Representation of Frequent </a:t>
            </a:r>
            <a:r>
              <a:rPr lang="en-US" altLang="en-US" sz="2400" dirty="0" err="1"/>
              <a:t>Itemsets</a:t>
            </a:r>
            <a:r>
              <a:rPr lang="en-US" altLang="zh-CN" sz="2400" dirty="0"/>
              <a:t>-</a:t>
            </a:r>
            <a:r>
              <a:rPr lang="zh-CN" altLang="en-US" sz="2400" dirty="0"/>
              <a:t>紧凑表示</a:t>
            </a:r>
            <a:endParaRPr lang="en-US" altLang="en-US" sz="24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Some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are redundant because they have identical support as their supersets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4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Number of frequent </a:t>
            </a:r>
            <a:r>
              <a:rPr lang="en-US" altLang="en-US" sz="2400" dirty="0" err="1"/>
              <a:t>itemsets</a:t>
            </a:r>
            <a:endParaRPr lang="en-US" altLang="en-US" sz="2400" dirty="0"/>
          </a:p>
          <a:p>
            <a:pPr lvl="4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Need a compact representation</a:t>
            </a:r>
          </a:p>
        </p:txBody>
      </p:sp>
      <p:pic>
        <p:nvPicPr>
          <p:cNvPr id="47108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963738"/>
            <a:ext cx="8839200" cy="2684462"/>
          </a:xfrm>
          <a:noFill/>
        </p:spPr>
      </p:pic>
      <p:graphicFrame>
        <p:nvGraphicFramePr>
          <p:cNvPr id="47109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724400" y="4800600"/>
          <a:ext cx="17145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82" name="Equation" r:id="rId4" imgW="1409700" imgH="838200" progId="Equation.3">
                  <p:embed/>
                </p:oleObj>
              </mc:Choice>
              <mc:Fallback>
                <p:oleObj name="Equation" r:id="rId4" imgW="1409700" imgH="838200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800600"/>
                        <a:ext cx="17145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278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Maximal Frequent </a:t>
            </a:r>
            <a:r>
              <a:rPr lang="en-US" altLang="en-US" dirty="0" err="1"/>
              <a:t>Itemset</a:t>
            </a:r>
            <a:r>
              <a:rPr lang="en-US" altLang="zh-CN" dirty="0"/>
              <a:t>-</a:t>
            </a:r>
            <a:r>
              <a:rPr lang="zh-CN" altLang="en-US" dirty="0"/>
              <a:t>最大频繁项集</a:t>
            </a:r>
            <a:endParaRPr lang="en-US" altLang="en-US" dirty="0"/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162050" y="1524000"/>
          <a:ext cx="7140575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6" name="Visio" r:id="rId3" imgW="9687611" imgH="7157416" progId="Visio.Drawing.6">
                  <p:embed/>
                </p:oleObj>
              </mc:Choice>
              <mc:Fallback>
                <p:oleObj name="Visio" r:id="rId3" imgW="9687611" imgH="7157416" progId="Visio.Drawing.6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1524000"/>
                        <a:ext cx="7140575" cy="487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7270750" y="5897563"/>
            <a:ext cx="111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Border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685800" y="5610225"/>
            <a:ext cx="11112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Infrequent Itemsets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844550" y="2097088"/>
            <a:ext cx="11128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Maximal Itemsets</a:t>
            </a:r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 flipH="1">
            <a:off x="1241425" y="4606925"/>
            <a:ext cx="158750" cy="10747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 flipH="1" flipV="1">
            <a:off x="1717675" y="2527300"/>
            <a:ext cx="1030288" cy="646113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auto">
          <a:xfrm flipH="1">
            <a:off x="1717675" y="4535488"/>
            <a:ext cx="1030288" cy="1146175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8" name="Line 10"/>
          <p:cNvSpPr>
            <a:spLocks noChangeShapeType="1"/>
          </p:cNvSpPr>
          <p:nvPr/>
        </p:nvSpPr>
        <p:spPr bwMode="auto">
          <a:xfrm flipH="1">
            <a:off x="1797050" y="5538788"/>
            <a:ext cx="635000" cy="2873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9" name="Line 11"/>
          <p:cNvSpPr>
            <a:spLocks noChangeShapeType="1"/>
          </p:cNvSpPr>
          <p:nvPr/>
        </p:nvSpPr>
        <p:spPr bwMode="auto">
          <a:xfrm flipH="1" flipV="1">
            <a:off x="1638300" y="5969000"/>
            <a:ext cx="2697163" cy="2873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0" name="Line 12"/>
          <p:cNvSpPr>
            <a:spLocks noChangeShapeType="1"/>
          </p:cNvSpPr>
          <p:nvPr/>
        </p:nvSpPr>
        <p:spPr bwMode="auto">
          <a:xfrm flipH="1" flipV="1">
            <a:off x="1558925" y="2598738"/>
            <a:ext cx="2632075" cy="1668462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 flipH="1">
            <a:off x="1479550" y="4535488"/>
            <a:ext cx="555625" cy="10747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381000" y="1050925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An itemset is maximal frequent if it is frequent and none of its immediate supersets is frequent</a:t>
            </a:r>
            <a:r>
              <a:rPr lang="en-US" altLang="zh-CN" sz="2000" dirty="0"/>
              <a:t>-</a:t>
            </a:r>
            <a:r>
              <a:rPr lang="zh-CN" altLang="en-US" sz="2000" dirty="0"/>
              <a:t>所有超集都不是频繁项集的频繁项集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18549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/>
              <a:t>What are the Maximal Frequent Itemsets in this Data?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  <p:pic>
        <p:nvPicPr>
          <p:cNvPr id="4915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295400"/>
            <a:ext cx="8839200" cy="2684463"/>
          </a:xfrm>
          <a:noFill/>
        </p:spPr>
      </p:pic>
      <p:sp>
        <p:nvSpPr>
          <p:cNvPr id="49157" name="TextBox 1"/>
          <p:cNvSpPr txBox="1">
            <a:spLocks noChangeArrowheads="1"/>
          </p:cNvSpPr>
          <p:nvPr/>
        </p:nvSpPr>
        <p:spPr bwMode="auto">
          <a:xfrm>
            <a:off x="609600" y="4343400"/>
            <a:ext cx="7010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Minimum support threshold =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1200" y="4876800"/>
            <a:ext cx="1239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(A1-A10)</a:t>
            </a:r>
          </a:p>
          <a:p>
            <a:r>
              <a:rPr lang="en-US" sz="2000" dirty="0"/>
              <a:t>(B1-B10)</a:t>
            </a:r>
          </a:p>
          <a:p>
            <a:r>
              <a:rPr lang="en-US" sz="2000" dirty="0"/>
              <a:t>(C1-C10)</a:t>
            </a:r>
          </a:p>
        </p:txBody>
      </p:sp>
    </p:spTree>
    <p:extLst>
      <p:ext uri="{BB962C8B-B14F-4D97-AF65-F5344CB8AC3E}">
        <p14:creationId xmlns:p14="http://schemas.microsoft.com/office/powerpoint/2010/main" val="46742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illustrative example</a:t>
            </a:r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10522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8558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illustrative example</a:t>
            </a:r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1052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{F}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{F}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332508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59B798-9448-4BAE-A8BD-E743A8B2E35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62599" y="1627188"/>
            <a:ext cx="3573459" cy="385921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en-US" sz="2400" dirty="0"/>
              <a:t>Support threshold (by count): 4</a:t>
            </a:r>
          </a:p>
          <a:p>
            <a:r>
              <a:rPr lang="zh-CN" altLang="en-US" sz="2400" dirty="0"/>
              <a:t>频繁项集有：</a:t>
            </a:r>
            <a:r>
              <a:rPr lang="zh-CN" altLang="en-US" sz="2400" dirty="0">
                <a:solidFill>
                  <a:srgbClr val="639EF4"/>
                </a:solidFill>
              </a:rPr>
              <a:t> </a:t>
            </a:r>
            <a:r>
              <a:rPr lang="en-US" altLang="zh-CN" sz="2400" dirty="0">
                <a:solidFill>
                  <a:srgbClr val="639EF4"/>
                </a:solidFill>
              </a:rPr>
              <a:t>[</a:t>
            </a:r>
            <a:r>
              <a:rPr lang="zh-CN" altLang="en-US" sz="2400" dirty="0">
                <a:solidFill>
                  <a:srgbClr val="639EF4"/>
                </a:solidFill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</a:rPr>
              <a:t>1]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rgbClr val="639EF4"/>
                </a:solidFill>
              </a:rPr>
              <a:t> </a:t>
            </a:r>
            <a:r>
              <a:rPr lang="en-US" altLang="zh-CN" sz="2400" dirty="0">
                <a:solidFill>
                  <a:srgbClr val="639EF4"/>
                </a:solidFill>
              </a:rPr>
              <a:t>[</a:t>
            </a:r>
            <a:r>
              <a:rPr lang="zh-CN" altLang="en-US" sz="2400" dirty="0">
                <a:solidFill>
                  <a:srgbClr val="639EF4"/>
                </a:solidFill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</a:rPr>
              <a:t>2]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rgbClr val="639EF4"/>
                </a:solidFill>
              </a:rPr>
              <a:t> </a:t>
            </a:r>
            <a:r>
              <a:rPr lang="en-US" altLang="zh-CN" sz="2400" dirty="0">
                <a:solidFill>
                  <a:srgbClr val="639EF4"/>
                </a:solidFill>
              </a:rPr>
              <a:t>[</a:t>
            </a:r>
            <a:r>
              <a:rPr lang="zh-CN" altLang="en-US" sz="2400" dirty="0">
                <a:solidFill>
                  <a:srgbClr val="639EF4"/>
                </a:solidFill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</a:rPr>
              <a:t>3]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rgbClr val="639EF4"/>
                </a:solidFill>
              </a:rPr>
              <a:t> </a:t>
            </a:r>
            <a:r>
              <a:rPr lang="en-US" altLang="zh-CN" sz="2400" dirty="0">
                <a:solidFill>
                  <a:srgbClr val="639EF4"/>
                </a:solidFill>
              </a:rPr>
              <a:t>[</a:t>
            </a:r>
            <a:r>
              <a:rPr lang="zh-CN" altLang="en-US" sz="2400" dirty="0">
                <a:solidFill>
                  <a:srgbClr val="639EF4"/>
                </a:solidFill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</a:rPr>
              <a:t>4]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，最大频繁项集有：</a:t>
            </a:r>
            <a:r>
              <a:rPr lang="zh-CN" altLang="en-US" sz="2400" dirty="0">
                <a:solidFill>
                  <a:srgbClr val="639EF4"/>
                </a:solidFill>
              </a:rPr>
              <a:t> </a:t>
            </a:r>
            <a:r>
              <a:rPr lang="en-US" altLang="zh-CN" sz="2400" dirty="0">
                <a:solidFill>
                  <a:srgbClr val="639EF4"/>
                </a:solidFill>
              </a:rPr>
              <a:t>[</a:t>
            </a:r>
            <a:r>
              <a:rPr lang="zh-CN" altLang="en-US" sz="2400" dirty="0">
                <a:solidFill>
                  <a:srgbClr val="639EF4"/>
                </a:solidFill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</a:rPr>
              <a:t>5]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、</a:t>
            </a:r>
            <a:r>
              <a:rPr lang="zh-CN" altLang="en-US" sz="2400" dirty="0">
                <a:solidFill>
                  <a:srgbClr val="639EF4"/>
                </a:solidFill>
              </a:rPr>
              <a:t> </a:t>
            </a:r>
            <a:r>
              <a:rPr lang="en-US" altLang="zh-CN" sz="2400" dirty="0">
                <a:solidFill>
                  <a:srgbClr val="639EF4"/>
                </a:solidFill>
              </a:rPr>
              <a:t>[</a:t>
            </a:r>
            <a:r>
              <a:rPr lang="zh-CN" altLang="en-US" sz="2400" dirty="0">
                <a:solidFill>
                  <a:srgbClr val="639EF4"/>
                </a:solidFill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</a:rPr>
              <a:t>6]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4B50CE7-6316-46E5-997A-0FD48BDF7FC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8C6DE26F-9F33-4398-A6C3-EA50E201DB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782935"/>
              </p:ext>
            </p:extLst>
          </p:nvPr>
        </p:nvGraphicFramePr>
        <p:xfrm>
          <a:off x="190500" y="1270000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EF16A28C-48D2-4113-A31D-E9637097A94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5C5A9BC2-39F2-4676-A7A1-FA8B53A3052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D6E80AA1-D820-41B0-88F9-E588B38FB03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A3093FAA-0739-4054-BFA7-073ED3B527E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628FE44D-1CF7-426E-9E13-258C286ECF3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21247F3-35A7-4219-8EC1-5059F9B1EBA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6307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illustrative example</a:t>
            </a:r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10522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4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{E}, {F}, {E,F}, {J}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{E,F}, {J}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08328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illustrative example</a:t>
            </a:r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09937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4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{E}, {F}, {E,F}, {J}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{E,F}, {J}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        All subsets of </a:t>
            </a:r>
            <a:r>
              <a:rPr lang="en-US" altLang="en-US" sz="1100" dirty="0">
                <a:solidFill>
                  <a:srgbClr val="FF0000"/>
                </a:solidFill>
              </a:rPr>
              <a:t>{C,D,E,F} + {J}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        {C,D,E,F}, {J}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2662067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illustrative example</a:t>
            </a:r>
          </a:p>
        </p:txBody>
      </p:sp>
      <p:sp>
        <p:nvSpPr>
          <p:cNvPr id="60419" name="TextBox 3"/>
          <p:cNvSpPr txBox="1">
            <a:spLocks noChangeArrowheads="1"/>
          </p:cNvSpPr>
          <p:nvPr/>
        </p:nvSpPr>
        <p:spPr bwMode="auto">
          <a:xfrm>
            <a:off x="5519738" y="1690688"/>
            <a:ext cx="3309937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Support threshold (by count) : 5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/>
              <a:t>Maximal itemsets: </a:t>
            </a:r>
            <a:r>
              <a:rPr lang="en-US" altLang="en-US" sz="1100">
                <a:solidFill>
                  <a:srgbClr val="FF0000"/>
                </a:solidFill>
              </a:rPr>
              <a:t>{A}, {B}, {C}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Support threshold (by count): 4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/>
              <a:t>Maximal itemsets: </a:t>
            </a:r>
            <a:r>
              <a:rPr lang="en-US" altLang="en-US" sz="1100">
                <a:solidFill>
                  <a:srgbClr val="FF0000"/>
                </a:solidFill>
              </a:rPr>
              <a:t>{A,B}, {A,C},{B,C}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Support threshold (by count): 3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/>
              <a:t>Maximal itemsets: </a:t>
            </a:r>
            <a:r>
              <a:rPr lang="en-US" altLang="en-US" sz="1100">
                <a:solidFill>
                  <a:srgbClr val="FF0000"/>
                </a:solidFill>
              </a:rPr>
              <a:t>{A,B,C}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0566" name="TextBox 5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sp>
        <p:nvSpPr>
          <p:cNvPr id="60567" name="TextBox 11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386921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Closed </a:t>
            </a:r>
            <a:r>
              <a:rPr lang="en-US" altLang="en-US" dirty="0" err="1"/>
              <a:t>Itemset</a:t>
            </a:r>
            <a:r>
              <a:rPr lang="en-US" altLang="zh-CN" dirty="0"/>
              <a:t>-</a:t>
            </a:r>
            <a:r>
              <a:rPr lang="zh-CN" altLang="en-US" dirty="0"/>
              <a:t>闭项集</a:t>
            </a:r>
            <a:endParaRPr lang="en-US" altLang="en-US" dirty="0"/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An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X is closed if none of its immediate supersets has the same support as the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X.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X is not closed if at least one of its immediate supersets has support count as X.</a:t>
            </a:r>
          </a:p>
          <a:p>
            <a:pPr>
              <a:buFont typeface="Monotype Sorts" pitchFamily="2" charset="2"/>
              <a:buNone/>
            </a:pPr>
            <a:endParaRPr lang="en-US" altLang="en-US" sz="2000" dirty="0"/>
          </a:p>
        </p:txBody>
      </p:sp>
      <p:graphicFrame>
        <p:nvGraphicFramePr>
          <p:cNvPr id="61444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38200" y="3551238"/>
          <a:ext cx="2032000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8" name="Worksheet" r:id="rId3" imgW="1988871" imgH="1744914" progId="Excel.Sheet.8">
                  <p:embed/>
                </p:oleObj>
              </mc:Choice>
              <mc:Fallback>
                <p:oleObj name="Worksheet" r:id="rId3" imgW="1988871" imgH="1744914" progId="Excel.Sheet.8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51238"/>
                        <a:ext cx="2032000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962400" y="2982913"/>
          <a:ext cx="2260600" cy="326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9" name="Worksheet" r:id="rId5" imgW="2209698" imgH="3192747" progId="Excel.Sheet.8">
                  <p:embed/>
                </p:oleObj>
              </mc:Choice>
              <mc:Fallback>
                <p:oleObj name="Worksheet" r:id="rId5" imgW="2209698" imgH="3192747" progId="Excel.Sheet.8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82913"/>
                        <a:ext cx="2260600" cy="326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553200" y="3665538"/>
          <a:ext cx="2209800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0" name="Worksheet" r:id="rId7" imgW="2209698" imgH="1744914" progId="Excel.Sheet.8">
                  <p:embed/>
                </p:oleObj>
              </mc:Choice>
              <mc:Fallback>
                <p:oleObj name="Worksheet" r:id="rId7" imgW="2209698" imgH="1744914" progId="Excel.Sheet.8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665538"/>
                        <a:ext cx="2209800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29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Maximal vs Closed Itemsets</a:t>
            </a: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228600" y="1143000"/>
          <a:ext cx="1600200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0" name="Worksheet" r:id="rId3" imgW="1733931" imgH="2229104" progId="Excel.Sheet.8">
                  <p:embed/>
                </p:oleObj>
              </mc:Choice>
              <mc:Fallback>
                <p:oleObj name="Worksheet" r:id="rId3" imgW="1733931" imgH="2229104" progId="Excel.Sheet.8">
                  <p:embed/>
                  <p:pic>
                    <p:nvPicPr>
                      <p:cNvPr id="624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1600200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1828800" y="1066800"/>
          <a:ext cx="7229475" cy="528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1" name="VISIO" r:id="rId5" imgW="10120884" imgH="7392924" progId="Visio.Drawing.6">
                  <p:embed/>
                </p:oleObj>
              </mc:Choice>
              <mc:Fallback>
                <p:oleObj name="VISIO" r:id="rId5" imgW="10120884" imgH="7392924" progId="Visio.Drawing.6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66800"/>
                        <a:ext cx="7229475" cy="528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7162800" y="990600"/>
            <a:ext cx="152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 Ids</a:t>
            </a:r>
          </a:p>
        </p:txBody>
      </p:sp>
      <p:sp>
        <p:nvSpPr>
          <p:cNvPr id="62470" name="Line 6"/>
          <p:cNvSpPr>
            <a:spLocks noChangeShapeType="1"/>
          </p:cNvSpPr>
          <p:nvPr/>
        </p:nvSpPr>
        <p:spPr bwMode="auto">
          <a:xfrm flipH="1">
            <a:off x="6400800" y="12954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1" name="Line 7"/>
          <p:cNvSpPr>
            <a:spLocks noChangeShapeType="1"/>
          </p:cNvSpPr>
          <p:nvPr/>
        </p:nvSpPr>
        <p:spPr bwMode="auto">
          <a:xfrm flipH="1">
            <a:off x="7772400" y="13716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1219200" y="5715000"/>
            <a:ext cx="1752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Not supported by any transactions</a:t>
            </a:r>
          </a:p>
        </p:txBody>
      </p:sp>
      <p:sp>
        <p:nvSpPr>
          <p:cNvPr id="62473" name="Line 9"/>
          <p:cNvSpPr>
            <a:spLocks noChangeShapeType="1"/>
          </p:cNvSpPr>
          <p:nvPr/>
        </p:nvSpPr>
        <p:spPr bwMode="auto">
          <a:xfrm>
            <a:off x="2819400" y="6019800"/>
            <a:ext cx="2286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 flipV="1">
            <a:off x="2819400" y="54864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9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914400" y="1104900"/>
          <a:ext cx="70866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44" name="VISIO" r:id="rId3" imgW="10169652" imgH="7367016" progId="Visio.Drawing.6">
                  <p:embed/>
                </p:oleObj>
              </mc:Choice>
              <mc:Fallback>
                <p:oleObj name="VISIO" r:id="rId3" imgW="10169652" imgH="7367016" progId="Visio.Drawing.6">
                  <p:embed/>
                  <p:pic>
                    <p:nvPicPr>
                      <p:cNvPr id="634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04900"/>
                        <a:ext cx="70866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Maximal Frequent vs Closed Frequent </a:t>
            </a:r>
            <a:r>
              <a:rPr lang="en-US" altLang="en-US" sz="2400" dirty="0" err="1"/>
              <a:t>Itemsets</a:t>
            </a:r>
            <a:endParaRPr lang="en-US" altLang="en-US" sz="2400" dirty="0"/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676400" y="11049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Minimum support = 2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7010400" y="5105400"/>
            <a:ext cx="15240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# Closed = 9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# Maximal = 4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7620000" y="1730354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Closed and maximal</a:t>
            </a:r>
          </a:p>
        </p:txBody>
      </p:sp>
      <p:sp>
        <p:nvSpPr>
          <p:cNvPr id="63495" name="Line 7"/>
          <p:cNvSpPr>
            <a:spLocks noChangeShapeType="1"/>
          </p:cNvSpPr>
          <p:nvPr/>
        </p:nvSpPr>
        <p:spPr bwMode="auto">
          <a:xfrm flipH="1">
            <a:off x="7162800" y="2247900"/>
            <a:ext cx="1066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 flipH="1">
            <a:off x="7924800" y="2247900"/>
            <a:ext cx="304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9"/>
          <p:cNvSpPr>
            <a:spLocks noChangeShapeType="1"/>
          </p:cNvSpPr>
          <p:nvPr/>
        </p:nvSpPr>
        <p:spPr bwMode="auto">
          <a:xfrm flipH="1">
            <a:off x="5562600" y="1409700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6172200" y="10287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Closed but not maximal</a:t>
            </a:r>
          </a:p>
        </p:txBody>
      </p:sp>
      <p:sp>
        <p:nvSpPr>
          <p:cNvPr id="63499" name="Line 11"/>
          <p:cNvSpPr>
            <a:spLocks noChangeShapeType="1"/>
          </p:cNvSpPr>
          <p:nvPr/>
        </p:nvSpPr>
        <p:spPr bwMode="auto">
          <a:xfrm flipH="1">
            <a:off x="4648200" y="12573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>
            <a:off x="6400800" y="14859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112434" y="1104900"/>
          <a:ext cx="1182966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45" name="Worksheet" r:id="rId5" imgW="1733639" imgH="2229028" progId="Excel.Sheet.8">
                  <p:embed/>
                </p:oleObj>
              </mc:Choice>
              <mc:Fallback>
                <p:oleObj name="Worksheet" r:id="rId5" imgW="1733639" imgH="2229028" progId="Excel.Sheet.8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34" y="1104900"/>
                        <a:ext cx="1182966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29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80400" cy="533400"/>
          </a:xfrm>
        </p:spPr>
        <p:txBody>
          <a:bodyPr/>
          <a:lstStyle/>
          <a:p>
            <a:r>
              <a:rPr lang="en-US" altLang="en-US" sz="2000"/>
              <a:t>What are the Closed Itemsets in this Data?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295400"/>
            <a:ext cx="8839200" cy="2684463"/>
          </a:xfrm>
          <a:noFill/>
        </p:spPr>
      </p:pic>
      <p:sp>
        <p:nvSpPr>
          <p:cNvPr id="5" name="TextBox 4"/>
          <p:cNvSpPr txBox="1"/>
          <p:nvPr/>
        </p:nvSpPr>
        <p:spPr>
          <a:xfrm>
            <a:off x="4570413" y="4800600"/>
            <a:ext cx="1239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(A1-A10)</a:t>
            </a:r>
          </a:p>
          <a:p>
            <a:r>
              <a:rPr lang="en-US" sz="2000" dirty="0"/>
              <a:t>(B1-B10)</a:t>
            </a:r>
          </a:p>
          <a:p>
            <a:r>
              <a:rPr lang="en-US" sz="2000" dirty="0"/>
              <a:t>(C1-C10)</a:t>
            </a:r>
          </a:p>
        </p:txBody>
      </p:sp>
    </p:spTree>
    <p:extLst>
      <p:ext uri="{BB962C8B-B14F-4D97-AF65-F5344CB8AC3E}">
        <p14:creationId xmlns:p14="http://schemas.microsoft.com/office/powerpoint/2010/main" val="12998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1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5685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65686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260725" cy="169227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51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37">
                <a:tc>
                  <a:txBody>
                    <a:bodyPr/>
                    <a:lstStyle/>
                    <a:p>
                      <a:r>
                        <a:rPr lang="en-US" sz="1600" b="1" baseline="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(counts)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{C}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{D}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{C,D}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554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1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6709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66710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260725" cy="169227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51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337">
                <a:tc>
                  <a:txBody>
                    <a:bodyPr/>
                    <a:lstStyle/>
                    <a:p>
                      <a:r>
                        <a:rPr lang="en-US" sz="1600" baseline="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(counts)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{C}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dirty="0"/>
                        <a:t>{D}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{C,D}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342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2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7733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67734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184524" cy="3175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6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926">
                <a:tc>
                  <a:txBody>
                    <a:bodyPr/>
                    <a:lstStyle/>
                    <a:p>
                      <a:r>
                        <a:rPr lang="en-US" sz="1600" baseline="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(counts)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{C}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{D}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{E}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{C,D}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{C,E}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{D,E}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{C,D,E}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690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2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8757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68758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184524" cy="3175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6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926">
                <a:tc>
                  <a:txBody>
                    <a:bodyPr/>
                    <a:lstStyle/>
                    <a:p>
                      <a:r>
                        <a:rPr lang="en-US" sz="1600" baseline="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(counts)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{C}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{C,D}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{C,D,E}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015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3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9781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69782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sp>
        <p:nvSpPr>
          <p:cNvPr id="69783" name="TextBox 2"/>
          <p:cNvSpPr txBox="1">
            <a:spLocks noChangeArrowheads="1"/>
          </p:cNvSpPr>
          <p:nvPr/>
        </p:nvSpPr>
        <p:spPr bwMode="auto">
          <a:xfrm>
            <a:off x="5910263" y="1870075"/>
            <a:ext cx="311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Closed itemsets: {C,D,E,F}, {C,F}</a:t>
            </a:r>
          </a:p>
        </p:txBody>
      </p:sp>
    </p:spTree>
    <p:extLst>
      <p:ext uri="{BB962C8B-B14F-4D97-AF65-F5344CB8AC3E}">
        <p14:creationId xmlns:p14="http://schemas.microsoft.com/office/powerpoint/2010/main" val="369305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4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68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</a:t>
                      </a:r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0805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</a:p>
        </p:txBody>
      </p:sp>
      <p:sp>
        <p:nvSpPr>
          <p:cNvPr id="70806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</a:p>
        </p:txBody>
      </p:sp>
      <p:sp>
        <p:nvSpPr>
          <p:cNvPr id="70807" name="TextBox 8"/>
          <p:cNvSpPr txBox="1">
            <a:spLocks noChangeArrowheads="1"/>
          </p:cNvSpPr>
          <p:nvPr/>
        </p:nvSpPr>
        <p:spPr bwMode="auto">
          <a:xfrm>
            <a:off x="5691188" y="1879600"/>
            <a:ext cx="3308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Closed itemsets: {C,D,E,F}, {C}, {F}</a:t>
            </a:r>
          </a:p>
        </p:txBody>
      </p:sp>
    </p:spTree>
    <p:extLst>
      <p:ext uri="{BB962C8B-B14F-4D97-AF65-F5344CB8AC3E}">
        <p14:creationId xmlns:p14="http://schemas.microsoft.com/office/powerpoint/2010/main" val="193984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/>
              <a:t>Maximal vs Closed </a:t>
            </a:r>
            <a:r>
              <a:rPr lang="en-US" altLang="en-US" dirty="0" err="1"/>
              <a:t>Itemsets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7" y="1219200"/>
            <a:ext cx="7787431" cy="3200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6800" y="4572000"/>
            <a:ext cx="7109639" cy="13849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最大频繁项集肯定是闭项集！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sz="2800"/>
              <a:t>其超集的支持数肯定不一样！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最大频繁项集的子集不必再确定关联规则</a:t>
            </a:r>
          </a:p>
        </p:txBody>
      </p:sp>
    </p:spTree>
    <p:extLst>
      <p:ext uri="{BB962C8B-B14F-4D97-AF65-F5344CB8AC3E}">
        <p14:creationId xmlns:p14="http://schemas.microsoft.com/office/powerpoint/2010/main" val="1045375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2436"/>
            <a:ext cx="8229600" cy="762000"/>
          </a:xfrm>
        </p:spPr>
        <p:txBody>
          <a:bodyPr>
            <a:normAutofit fontScale="92500"/>
          </a:bodyPr>
          <a:lstStyle/>
          <a:p>
            <a:r>
              <a:rPr lang="en-US" sz="1800" dirty="0"/>
              <a:t>Given the following transaction data sets (dark cells indicate presence of an item in a transaction) and a support threshold of 20%, answer the following questions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2286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79249"/>
            <a:ext cx="2286000" cy="228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901" y="1676400"/>
            <a:ext cx="2286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1792" y="4038600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1400" dirty="0"/>
              <a:t>What is the number of frequent </a:t>
            </a:r>
            <a:r>
              <a:rPr lang="en-US" sz="1400" dirty="0" err="1"/>
              <a:t>itemsets</a:t>
            </a:r>
            <a:r>
              <a:rPr lang="en-US" sz="1400" dirty="0"/>
              <a:t> for each dataset? Which dataset will produce the most number of frequent </a:t>
            </a:r>
            <a:r>
              <a:rPr lang="en-US" sz="1400" dirty="0" err="1"/>
              <a:t>itemsets</a:t>
            </a:r>
            <a:r>
              <a:rPr lang="en-US" sz="1400" dirty="0"/>
              <a:t>?</a:t>
            </a:r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Which dataset will produce the longest frequent </a:t>
            </a:r>
            <a:r>
              <a:rPr lang="en-US" sz="1400" dirty="0" err="1"/>
              <a:t>itemset</a:t>
            </a:r>
            <a:r>
              <a:rPr lang="en-US" sz="1400" dirty="0"/>
              <a:t>?</a:t>
            </a:r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Which dataset will produce frequent </a:t>
            </a:r>
            <a:r>
              <a:rPr lang="en-US" sz="1400" dirty="0" err="1"/>
              <a:t>itemsets</a:t>
            </a:r>
            <a:r>
              <a:rPr lang="en-US" sz="1400" dirty="0"/>
              <a:t> with highest maximum support?</a:t>
            </a:r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Which dataset will produce frequent </a:t>
            </a:r>
            <a:r>
              <a:rPr lang="en-US" sz="1400" dirty="0" err="1"/>
              <a:t>itemsets</a:t>
            </a:r>
            <a:r>
              <a:rPr lang="en-US" sz="1400" dirty="0"/>
              <a:t> containing items with widely varying support levels (i.e., </a:t>
            </a:r>
            <a:r>
              <a:rPr lang="en-US" sz="1400" dirty="0" err="1"/>
              <a:t>itemsets</a:t>
            </a:r>
            <a:r>
              <a:rPr lang="en-US" sz="1400" dirty="0"/>
              <a:t> containing items with mixed support, ranging from 20% to more than 70%)?</a:t>
            </a:r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What is the number of maximal frequent </a:t>
            </a:r>
            <a:r>
              <a:rPr lang="en-US" sz="1400" dirty="0" err="1"/>
              <a:t>itemsets</a:t>
            </a:r>
            <a:r>
              <a:rPr lang="en-US" sz="1400" dirty="0"/>
              <a:t> for each dataset? Which dataset will produce the most number of maximal frequent </a:t>
            </a:r>
            <a:r>
              <a:rPr lang="en-US" sz="1400" dirty="0" err="1"/>
              <a:t>itemsets</a:t>
            </a:r>
            <a:r>
              <a:rPr lang="en-US" sz="1400" dirty="0"/>
              <a:t>?</a:t>
            </a:r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What is the number of closed frequent </a:t>
            </a:r>
            <a:r>
              <a:rPr lang="en-US" sz="1400" dirty="0" err="1"/>
              <a:t>itemsets</a:t>
            </a:r>
            <a:r>
              <a:rPr lang="en-US" sz="1400" dirty="0"/>
              <a:t> for each dataset? Which dataset will produce the most number of closed frequent </a:t>
            </a:r>
            <a:r>
              <a:rPr lang="en-US" sz="1400" dirty="0" err="1"/>
              <a:t>itemsets</a:t>
            </a:r>
            <a:r>
              <a:rPr lang="en-US" sz="1400" dirty="0"/>
              <a:t>?</a:t>
            </a:r>
          </a:p>
          <a:p>
            <a:pPr marL="342900" indent="-342900">
              <a:buAutoNum type="alphaLcPeriod"/>
            </a:pPr>
            <a:endParaRPr lang="en-US" sz="1400" dirty="0"/>
          </a:p>
          <a:p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090828" y="3733800"/>
            <a:ext cx="1133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DataSet</a:t>
            </a:r>
            <a:r>
              <a:rPr lang="en-US" dirty="0"/>
              <a:t>: 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2028" y="3730823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Set: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733800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Set: C</a:t>
            </a:r>
          </a:p>
        </p:txBody>
      </p:sp>
    </p:spTree>
    <p:extLst>
      <p:ext uri="{BB962C8B-B14F-4D97-AF65-F5344CB8AC3E}">
        <p14:creationId xmlns:p14="http://schemas.microsoft.com/office/powerpoint/2010/main" val="1828262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Pattern Evaluation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Association rule algorithms can produce large number of rules </a:t>
            </a:r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r>
              <a:rPr lang="en-US" altLang="en-US" dirty="0"/>
              <a:t>Interestingness measures</a:t>
            </a:r>
            <a:r>
              <a:rPr lang="en-US" altLang="zh-CN" dirty="0"/>
              <a:t>-</a:t>
            </a:r>
            <a:r>
              <a:rPr lang="zh-CN" altLang="en-US" dirty="0"/>
              <a:t>趣味标准</a:t>
            </a:r>
            <a:r>
              <a:rPr lang="en-US" altLang="zh-CN" dirty="0"/>
              <a:t>-</a:t>
            </a:r>
            <a:r>
              <a:rPr lang="en-US" altLang="en-US" dirty="0"/>
              <a:t>can be used to prune/rank the patterns </a:t>
            </a:r>
          </a:p>
          <a:p>
            <a:pPr lvl="1"/>
            <a:r>
              <a:rPr lang="en-US" altLang="en-US" dirty="0"/>
              <a:t>In the original formulation, support &amp; confidence are the only measures used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Computing Interestingness Measure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143000"/>
            <a:ext cx="8610600" cy="914400"/>
          </a:xfrm>
        </p:spPr>
        <p:txBody>
          <a:bodyPr/>
          <a:lstStyle/>
          <a:p>
            <a:pPr marL="284163" indent="-284163"/>
            <a:r>
              <a:rPr lang="en-US" altLang="en-US" sz="2400" dirty="0"/>
              <a:t>Given X </a:t>
            </a:r>
            <a:r>
              <a:rPr lang="en-US" altLang="en-US" sz="2400" dirty="0">
                <a:sym typeface="Symbol" pitchFamily="18" charset="2"/>
              </a:rPr>
              <a:t> Y or {X,Y}, i</a:t>
            </a:r>
            <a:r>
              <a:rPr lang="en-US" altLang="en-US" sz="2400" dirty="0"/>
              <a:t>nformation needed to compute interestingness can be obtained from a contingency table</a:t>
            </a:r>
            <a:r>
              <a:rPr lang="en-US" altLang="zh-CN" sz="2400" dirty="0"/>
              <a:t>-</a:t>
            </a:r>
            <a:r>
              <a:rPr lang="zh-CN" altLang="en-US" sz="2400" dirty="0"/>
              <a:t>相依表</a:t>
            </a:r>
            <a:endParaRPr lang="en-US" altLang="en-US" sz="2400" dirty="0"/>
          </a:p>
        </p:txBody>
      </p:sp>
      <p:graphicFrame>
        <p:nvGraphicFramePr>
          <p:cNvPr id="1337348" name="Group 4"/>
          <p:cNvGraphicFramePr>
            <a:graphicFrameLocks noGrp="1"/>
          </p:cNvGraphicFramePr>
          <p:nvPr/>
        </p:nvGraphicFramePr>
        <p:xfrm>
          <a:off x="533400" y="2595563"/>
          <a:ext cx="3581400" cy="167640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879" name="Text Box 31"/>
          <p:cNvSpPr txBox="1">
            <a:spLocks noChangeArrowheads="1"/>
          </p:cNvSpPr>
          <p:nvPr/>
        </p:nvSpPr>
        <p:spPr bwMode="auto">
          <a:xfrm>
            <a:off x="381000" y="220980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 dirty="0">
                <a:solidFill>
                  <a:srgbClr val="CC0000"/>
                </a:solidFill>
              </a:rPr>
              <a:t>Contingency table</a:t>
            </a:r>
            <a:endParaRPr lang="en-US" altLang="en-US" sz="2400" b="0" dirty="0">
              <a:sym typeface="Symbol" pitchFamily="18" charset="2"/>
            </a:endParaRPr>
          </a:p>
        </p:txBody>
      </p:sp>
      <p:grpSp>
        <p:nvGrpSpPr>
          <p:cNvPr id="78880" name="Group 32"/>
          <p:cNvGrpSpPr>
            <a:grpSpLocks/>
          </p:cNvGrpSpPr>
          <p:nvPr/>
        </p:nvGrpSpPr>
        <p:grpSpPr bwMode="auto">
          <a:xfrm>
            <a:off x="4800600" y="2590800"/>
            <a:ext cx="4114800" cy="1552575"/>
            <a:chOff x="1152" y="3024"/>
            <a:chExt cx="2592" cy="978"/>
          </a:xfrm>
        </p:grpSpPr>
        <p:sp>
          <p:nvSpPr>
            <p:cNvPr id="78885" name="Text Box 33"/>
            <p:cNvSpPr txBox="1">
              <a:spLocks noChangeArrowheads="1"/>
            </p:cNvSpPr>
            <p:nvPr/>
          </p:nvSpPr>
          <p:spPr bwMode="auto">
            <a:xfrm>
              <a:off x="1152" y="3024"/>
              <a:ext cx="2592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2400" b="0" dirty="0"/>
                <a:t>f</a:t>
              </a:r>
              <a:r>
                <a:rPr lang="en-US" altLang="en-US" sz="2000" b="0" baseline="-25000" dirty="0"/>
                <a:t>11</a:t>
              </a:r>
              <a:r>
                <a:rPr lang="en-US" altLang="en-US" sz="2400" b="0" dirty="0"/>
                <a:t>: support of X and Y</a:t>
              </a:r>
              <a:br>
                <a:rPr lang="en-US" altLang="en-US" sz="2400" b="0" dirty="0"/>
              </a:br>
              <a:r>
                <a:rPr lang="en-US" altLang="en-US" sz="2400" b="0" dirty="0"/>
                <a:t>f</a:t>
              </a:r>
              <a:r>
                <a:rPr lang="en-US" altLang="en-US" sz="2000" b="0" baseline="-25000" dirty="0"/>
                <a:t>10</a:t>
              </a:r>
              <a:r>
                <a:rPr lang="en-US" altLang="en-US" sz="2400" b="0" dirty="0"/>
                <a:t>: support of X and Y</a:t>
              </a:r>
              <a:br>
                <a:rPr lang="en-US" altLang="en-US" sz="2400" b="0" dirty="0"/>
              </a:br>
              <a:r>
                <a:rPr lang="en-US" altLang="en-US" sz="2400" b="0" dirty="0"/>
                <a:t>f</a:t>
              </a:r>
              <a:r>
                <a:rPr lang="en-US" altLang="en-US" sz="2000" b="0" baseline="-25000" dirty="0"/>
                <a:t>01</a:t>
              </a:r>
              <a:r>
                <a:rPr lang="en-US" altLang="en-US" sz="2400" b="0" dirty="0"/>
                <a:t>: support of X and Y</a:t>
              </a:r>
              <a:br>
                <a:rPr lang="en-US" altLang="en-US" sz="2400" b="0" dirty="0"/>
              </a:br>
              <a:r>
                <a:rPr lang="en-US" altLang="en-US" sz="2400" b="0" dirty="0"/>
                <a:t>f</a:t>
              </a:r>
              <a:r>
                <a:rPr lang="en-US" altLang="en-US" sz="2000" b="0" baseline="-25000" dirty="0"/>
                <a:t>00</a:t>
              </a:r>
              <a:r>
                <a:rPr lang="en-US" altLang="en-US" sz="2400" b="0" dirty="0"/>
                <a:t>: support of X and Y</a:t>
              </a:r>
            </a:p>
          </p:txBody>
        </p:sp>
        <p:sp>
          <p:nvSpPr>
            <p:cNvPr id="78886" name="Line 34"/>
            <p:cNvSpPr>
              <a:spLocks noChangeShapeType="1"/>
            </p:cNvSpPr>
            <p:nvPr/>
          </p:nvSpPr>
          <p:spPr bwMode="auto">
            <a:xfrm>
              <a:off x="2928" y="33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7" name="Line 35"/>
            <p:cNvSpPr>
              <a:spLocks noChangeShapeType="1"/>
            </p:cNvSpPr>
            <p:nvPr/>
          </p:nvSpPr>
          <p:spPr bwMode="auto">
            <a:xfrm>
              <a:off x="2400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8" name="Line 36"/>
            <p:cNvSpPr>
              <a:spLocks noChangeShapeType="1"/>
            </p:cNvSpPr>
            <p:nvPr/>
          </p:nvSpPr>
          <p:spPr bwMode="auto">
            <a:xfrm>
              <a:off x="2389" y="35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9" name="Line 37"/>
            <p:cNvSpPr>
              <a:spLocks noChangeShapeType="1"/>
            </p:cNvSpPr>
            <p:nvPr/>
          </p:nvSpPr>
          <p:spPr bwMode="auto">
            <a:xfrm>
              <a:off x="2928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881" name="Text Box 38"/>
          <p:cNvSpPr txBox="1">
            <a:spLocks noChangeArrowheads="1"/>
          </p:cNvSpPr>
          <p:nvPr/>
        </p:nvSpPr>
        <p:spPr bwMode="auto">
          <a:xfrm>
            <a:off x="4038600" y="4724400"/>
            <a:ext cx="4876800" cy="138271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>
                <a:solidFill>
                  <a:srgbClr val="FF0000"/>
                </a:solidFill>
              </a:rPr>
              <a:t>Used to define various measures</a:t>
            </a:r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u"/>
            </a:pPr>
            <a:r>
              <a:rPr lang="en-US" altLang="en-US" sz="2400" b="0"/>
              <a:t> support, confidence, Gini,</a:t>
            </a:r>
            <a:br>
              <a:rPr lang="en-US" altLang="en-US" sz="2400" b="0"/>
            </a:br>
            <a:r>
              <a:rPr lang="en-US" altLang="en-US" sz="2400" b="0"/>
              <a:t>   entropy, etc.</a:t>
            </a:r>
          </a:p>
        </p:txBody>
      </p:sp>
      <p:sp>
        <p:nvSpPr>
          <p:cNvPr id="78882" name="Line 39"/>
          <p:cNvSpPr>
            <a:spLocks noChangeShapeType="1"/>
          </p:cNvSpPr>
          <p:nvPr/>
        </p:nvSpPr>
        <p:spPr bwMode="auto">
          <a:xfrm flipH="1" flipV="1">
            <a:off x="2743200" y="4271963"/>
            <a:ext cx="12954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3" name="Line 40"/>
          <p:cNvSpPr>
            <a:spLocks noChangeShapeType="1"/>
          </p:cNvSpPr>
          <p:nvPr/>
        </p:nvSpPr>
        <p:spPr bwMode="auto">
          <a:xfrm flipH="1">
            <a:off x="2667000" y="2667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4" name="Line 41"/>
          <p:cNvSpPr>
            <a:spLocks noChangeShapeType="1"/>
          </p:cNvSpPr>
          <p:nvPr/>
        </p:nvSpPr>
        <p:spPr bwMode="auto">
          <a:xfrm>
            <a:off x="914400" y="3505200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Drawback of Confidence</a:t>
            </a:r>
          </a:p>
        </p:txBody>
      </p:sp>
      <p:sp>
        <p:nvSpPr>
          <p:cNvPr id="1339424" name="Text Box 32"/>
          <p:cNvSpPr txBox="1">
            <a:spLocks noChangeArrowheads="1"/>
          </p:cNvSpPr>
          <p:nvPr/>
        </p:nvSpPr>
        <p:spPr bwMode="auto">
          <a:xfrm>
            <a:off x="914400" y="3825875"/>
            <a:ext cx="7391400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Coffee</a:t>
            </a:r>
            <a:b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endParaRPr lang="en-US" altLang="en-US" sz="2400" b="0" dirty="0">
              <a:solidFill>
                <a:srgbClr val="CC3300"/>
              </a:solidFill>
              <a:latin typeface="Tahoma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Confidence </a:t>
            </a:r>
            <a:r>
              <a:rPr lang="en-US" altLang="en-US" sz="2000" b="0" dirty="0">
                <a:latin typeface="Tahoma" pitchFamily="34" charset="0"/>
                <a:sym typeface="Symbol" pitchFamily="18" charset="2"/>
              </a:rPr>
              <a:t></a:t>
            </a:r>
            <a:r>
              <a:rPr lang="en-US" altLang="en-US" sz="2000" b="0" dirty="0">
                <a:latin typeface="Tahoma" pitchFamily="34" charset="0"/>
              </a:rPr>
              <a:t> P(</a:t>
            </a:r>
            <a:r>
              <a:rPr lang="en-US" altLang="en-US" sz="2000" b="0" dirty="0" err="1">
                <a:latin typeface="Tahoma" pitchFamily="34" charset="0"/>
              </a:rPr>
              <a:t>Coffee|Tea</a:t>
            </a:r>
            <a:r>
              <a:rPr lang="en-US" altLang="en-US" sz="2000" b="0" dirty="0">
                <a:latin typeface="Tahoma" pitchFamily="34" charset="0"/>
              </a:rPr>
              <a:t>) = 150/200 = </a:t>
            </a:r>
            <a:r>
              <a:rPr lang="en-US" altLang="en-US" sz="2000" b="0" dirty="0">
                <a:solidFill>
                  <a:srgbClr val="FF0000"/>
                </a:solidFill>
                <a:latin typeface="Tahoma" pitchFamily="34" charset="0"/>
              </a:rPr>
              <a:t>0.75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Confidence &gt; 50%, meaning people who drink tea are more likely to drink coffee than not drink coffee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So rule seems reasonable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304800" y="1077913"/>
          <a:ext cx="3836988" cy="2682874"/>
        </p:xfrm>
        <a:graphic>
          <a:graphicData uri="http://schemas.openxmlformats.org/drawingml/2006/table">
            <a:tbl>
              <a:tblPr/>
              <a:tblGrid>
                <a:gridCol w="95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Customers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C4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751" y="1219200"/>
            <a:ext cx="3708049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Drawback of Confidence</a:t>
            </a:r>
          </a:p>
        </p:txBody>
      </p:sp>
      <p:graphicFrame>
        <p:nvGraphicFramePr>
          <p:cNvPr id="13404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641610"/>
              </p:ext>
            </p:extLst>
          </p:nvPr>
        </p:nvGraphicFramePr>
        <p:xfrm>
          <a:off x="1066800" y="1219200"/>
          <a:ext cx="4038600" cy="1971676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5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926" name="Line 30"/>
          <p:cNvSpPr>
            <a:spLocks noChangeShapeType="1"/>
          </p:cNvSpPr>
          <p:nvPr/>
        </p:nvSpPr>
        <p:spPr bwMode="auto">
          <a:xfrm>
            <a:off x="3200400" y="160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7" name="Line 31"/>
          <p:cNvSpPr>
            <a:spLocks noChangeShapeType="1"/>
          </p:cNvSpPr>
          <p:nvPr/>
        </p:nvSpPr>
        <p:spPr bwMode="auto">
          <a:xfrm>
            <a:off x="1371600" y="2438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8" name="Text Box 32"/>
          <p:cNvSpPr txBox="1">
            <a:spLocks noChangeArrowheads="1"/>
          </p:cNvSpPr>
          <p:nvPr/>
        </p:nvSpPr>
        <p:spPr bwMode="auto">
          <a:xfrm>
            <a:off x="685800" y="3444875"/>
            <a:ext cx="739140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Coffee</a:t>
            </a:r>
            <a:b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endParaRPr lang="en-US" altLang="en-US" sz="2400" b="0" dirty="0">
              <a:solidFill>
                <a:srgbClr val="CC3300"/>
              </a:solidFill>
              <a:latin typeface="Tahoma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Confidence= P(</a:t>
            </a:r>
            <a:r>
              <a:rPr lang="en-US" altLang="en-US" sz="2000" b="0" dirty="0" err="1">
                <a:latin typeface="Tahoma" pitchFamily="34" charset="0"/>
              </a:rPr>
              <a:t>Coffee|Tea</a:t>
            </a:r>
            <a:r>
              <a:rPr lang="en-US" altLang="en-US" sz="2000" b="0" dirty="0">
                <a:latin typeface="Tahoma" pitchFamily="34" charset="0"/>
              </a:rPr>
              <a:t>) = 150/200 = </a:t>
            </a:r>
            <a:r>
              <a:rPr lang="en-US" altLang="en-US" sz="2000" b="0" dirty="0">
                <a:solidFill>
                  <a:srgbClr val="FF0000"/>
                </a:solidFill>
                <a:latin typeface="Tahoma" pitchFamily="34" charset="0"/>
              </a:rPr>
              <a:t>0.75</a:t>
            </a:r>
          </a:p>
        </p:txBody>
      </p:sp>
      <p:sp>
        <p:nvSpPr>
          <p:cNvPr id="80929" name="Line 33"/>
          <p:cNvSpPr>
            <a:spLocks noChangeShapeType="1"/>
          </p:cNvSpPr>
          <p:nvPr/>
        </p:nvSpPr>
        <p:spPr bwMode="auto">
          <a:xfrm>
            <a:off x="3505200" y="5638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30" name="Text Box 34"/>
          <p:cNvSpPr txBox="1">
            <a:spLocks noChangeArrowheads="1"/>
          </p:cNvSpPr>
          <p:nvPr/>
        </p:nvSpPr>
        <p:spPr bwMode="auto">
          <a:xfrm>
            <a:off x="838200" y="4876800"/>
            <a:ext cx="73914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but P(Coffee) = </a:t>
            </a:r>
            <a:r>
              <a:rPr lang="en-US" altLang="en-US" sz="2000" b="0" dirty="0">
                <a:solidFill>
                  <a:srgbClr val="FF0000"/>
                </a:solidFill>
                <a:latin typeface="Tahoma" pitchFamily="34" charset="0"/>
              </a:rPr>
              <a:t>0.8</a:t>
            </a:r>
            <a:r>
              <a:rPr lang="en-US" altLang="en-US" sz="2000" b="0" dirty="0">
                <a:latin typeface="Tahoma" pitchFamily="34" charset="0"/>
              </a:rPr>
              <a:t>, which means knowing </a:t>
            </a:r>
            <a:r>
              <a:rPr lang="en-US" altLang="en-US" sz="2000" b="0" dirty="0">
                <a:latin typeface="Tahoma" pitchFamily="34" charset="0"/>
                <a:sym typeface="Symbol" pitchFamily="18" charset="2"/>
              </a:rPr>
              <a:t>that a person drinks tea reduces the probability that the person drinks coffee!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itchFamily="18" charset="2"/>
              <a:buChar char="Þ"/>
            </a:pPr>
            <a:r>
              <a:rPr lang="en-US" altLang="en-US" sz="2000" b="0" dirty="0">
                <a:latin typeface="Tahoma" pitchFamily="34" charset="0"/>
              </a:rPr>
              <a:t> Note that P(</a:t>
            </a:r>
            <a:r>
              <a:rPr lang="en-US" altLang="en-US" sz="2000" b="0" dirty="0" err="1">
                <a:latin typeface="Tahoma" pitchFamily="34" charset="0"/>
              </a:rPr>
              <a:t>Coffee|Tea</a:t>
            </a:r>
            <a:r>
              <a:rPr lang="en-US" altLang="en-US" sz="2000" b="0" dirty="0">
                <a:latin typeface="Tahoma" pitchFamily="34" charset="0"/>
              </a:rPr>
              <a:t>) = 650/800 = 0.8125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Drawback of Confidence</a:t>
            </a:r>
          </a:p>
        </p:txBody>
      </p:sp>
      <p:sp>
        <p:nvSpPr>
          <p:cNvPr id="1339424" name="Text Box 32"/>
          <p:cNvSpPr txBox="1">
            <a:spLocks noChangeArrowheads="1"/>
          </p:cNvSpPr>
          <p:nvPr/>
        </p:nvSpPr>
        <p:spPr bwMode="auto">
          <a:xfrm>
            <a:off x="914400" y="3825875"/>
            <a:ext cx="7391400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Honey</a:t>
            </a:r>
            <a:b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r>
              <a:rPr lang="en-US" altLang="en-US" sz="2000" b="0" dirty="0">
                <a:latin typeface="Tahoma" pitchFamily="34" charset="0"/>
              </a:rPr>
              <a:t>Confidence </a:t>
            </a:r>
            <a:r>
              <a:rPr lang="en-US" altLang="en-US" sz="2000" b="0" dirty="0">
                <a:latin typeface="Tahoma" pitchFamily="34" charset="0"/>
                <a:sym typeface="Symbol" pitchFamily="18" charset="2"/>
              </a:rPr>
              <a:t></a:t>
            </a:r>
            <a:r>
              <a:rPr lang="en-US" altLang="en-US" sz="2000" b="0" dirty="0">
                <a:latin typeface="Tahoma" pitchFamily="34" charset="0"/>
              </a:rPr>
              <a:t> P(</a:t>
            </a:r>
            <a:r>
              <a:rPr lang="en-US" altLang="en-US" sz="2000" b="0" dirty="0" err="1">
                <a:latin typeface="Tahoma" pitchFamily="34" charset="0"/>
              </a:rPr>
              <a:t>Honey|Tea</a:t>
            </a:r>
            <a:r>
              <a:rPr lang="en-US" altLang="en-US" sz="2000" b="0" dirty="0">
                <a:latin typeface="Tahoma" pitchFamily="34" charset="0"/>
              </a:rPr>
              <a:t>) = 100/200 = </a:t>
            </a:r>
            <a:r>
              <a:rPr lang="en-US" altLang="en-US" sz="2000" b="0" dirty="0">
                <a:solidFill>
                  <a:srgbClr val="FF0000"/>
                </a:solidFill>
                <a:latin typeface="Tahoma" pitchFamily="34" charset="0"/>
              </a:rPr>
              <a:t>0.50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Confidence = 50%, which may mean that drinking tea has little influence whether honey is used or not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So rule seems uninteresting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But P(Honey) = 120/1000 = 0.12 (hence tea drinkers are far more likely to have honey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304800" y="1077913"/>
          <a:ext cx="3836988" cy="2682874"/>
        </p:xfrm>
        <a:graphic>
          <a:graphicData uri="http://schemas.openxmlformats.org/drawingml/2006/table">
            <a:tbl>
              <a:tblPr/>
              <a:tblGrid>
                <a:gridCol w="95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Customers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Honey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C4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91" y="1341437"/>
            <a:ext cx="357017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0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Measure for Association Rules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So, what kind of rules do we really want?</a:t>
            </a:r>
          </a:p>
          <a:p>
            <a:pPr lvl="1"/>
            <a:r>
              <a:rPr lang="en-US" altLang="en-US"/>
              <a:t>Confidence(X </a:t>
            </a:r>
            <a:r>
              <a:rPr lang="en-US" altLang="en-US">
                <a:sym typeface="Symbol" pitchFamily="18" charset="2"/>
              </a:rPr>
              <a:t> Y)</a:t>
            </a:r>
            <a:r>
              <a:rPr lang="en-US" altLang="en-US"/>
              <a:t> should be sufficiently high </a:t>
            </a:r>
          </a:p>
          <a:p>
            <a:pPr lvl="2"/>
            <a:r>
              <a:rPr lang="en-US" altLang="en-US"/>
              <a:t> To ensure that people who buy X will more likely buy Y than not buy Y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Confidence(X </a:t>
            </a:r>
            <a:r>
              <a:rPr lang="en-US" altLang="en-US">
                <a:sym typeface="Symbol" pitchFamily="18" charset="2"/>
              </a:rPr>
              <a:t> Y) &gt; support(Y) </a:t>
            </a:r>
          </a:p>
          <a:p>
            <a:pPr lvl="2"/>
            <a:r>
              <a:rPr lang="en-US" altLang="en-US">
                <a:sym typeface="Symbol" pitchFamily="18" charset="2"/>
              </a:rPr>
              <a:t> Otherwise, rule will be misleading because having item X actually reduces the chance of having item Y in the same transaction</a:t>
            </a:r>
          </a:p>
          <a:p>
            <a:pPr lvl="2"/>
            <a:r>
              <a:rPr lang="en-US" altLang="en-US">
                <a:sym typeface="Symbol" pitchFamily="18" charset="2"/>
              </a:rPr>
              <a:t> Is there any measure that capture this constraint?</a:t>
            </a:r>
          </a:p>
          <a:p>
            <a:pPr lvl="3"/>
            <a:r>
              <a:rPr lang="en-US" altLang="en-US">
                <a:sym typeface="Symbol" pitchFamily="18" charset="2"/>
              </a:rPr>
              <a:t>Answer: Yes. There are many of them.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686800" cy="533400"/>
          </a:xfrm>
        </p:spPr>
        <p:txBody>
          <a:bodyPr/>
          <a:lstStyle/>
          <a:p>
            <a:r>
              <a:rPr lang="en-US" altLang="en-US" dirty="0"/>
              <a:t>Statistical Relationship between X and 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1163" y="1295400"/>
            <a:ext cx="8318500" cy="5181600"/>
          </a:xfrm>
        </p:spPr>
        <p:txBody>
          <a:bodyPr/>
          <a:lstStyle/>
          <a:p>
            <a:r>
              <a:rPr lang="en-US" altLang="en-US" dirty="0"/>
              <a:t>The criterion </a:t>
            </a:r>
            <a:br>
              <a:rPr lang="en-US" altLang="en-US" dirty="0"/>
            </a:br>
            <a:r>
              <a:rPr lang="en-US" altLang="en-US" dirty="0"/>
              <a:t>	confidence(X </a:t>
            </a:r>
            <a:r>
              <a:rPr lang="en-US" altLang="en-US" dirty="0">
                <a:sym typeface="Symbol" pitchFamily="18" charset="2"/>
              </a:rPr>
              <a:t> Y) = support(Y) 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ym typeface="Symbol" pitchFamily="18" charset="2"/>
              </a:rPr>
              <a:t>	is equivalent to: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P(Y|X) = P(Y)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P(X,Y) = P(X)  P(Y) (X and Y are independent)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	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If P(X,Y) &gt; P(X) </a:t>
            </a:r>
            <a:r>
              <a:rPr lang="en-US" altLang="en-US" sz="2000" dirty="0">
                <a:sym typeface="Symbol" pitchFamily="18" charset="2"/>
              </a:rPr>
              <a:t></a:t>
            </a:r>
            <a:r>
              <a:rPr lang="en-US" altLang="en-US" dirty="0">
                <a:sym typeface="Symbol" pitchFamily="18" charset="2"/>
              </a:rPr>
              <a:t> P(Y) : X &amp; Y are positively correlated</a:t>
            </a:r>
          </a:p>
          <a:p>
            <a:pPr lvl="1">
              <a:buFont typeface="Arial" charset="0"/>
              <a:buNone/>
            </a:pPr>
            <a:endParaRPr lang="en-US" altLang="en-US" dirty="0">
              <a:sym typeface="Symbol" pitchFamily="18" charset="2"/>
            </a:endParaRP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If P(X,Y) &lt; P(X)  P(Y) : X &amp; Y are negatively correlated</a:t>
            </a:r>
          </a:p>
          <a:p>
            <a:pPr lvl="1">
              <a:buFont typeface="Arial" charset="0"/>
              <a:buNone/>
            </a:pPr>
            <a:endParaRPr lang="en-US" altLang="en-US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000"/>
              <a:t>Measures that take into account statistical dependence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en-US" dirty="0"/>
          </a:p>
        </p:txBody>
      </p:sp>
      <p:grpSp>
        <p:nvGrpSpPr>
          <p:cNvPr id="83972" name="Group 1"/>
          <p:cNvGrpSpPr>
            <a:grpSpLocks/>
          </p:cNvGrpSpPr>
          <p:nvPr/>
        </p:nvGrpSpPr>
        <p:grpSpPr bwMode="auto">
          <a:xfrm>
            <a:off x="752475" y="1644650"/>
            <a:ext cx="7694613" cy="3873500"/>
            <a:chOff x="763587" y="2254250"/>
            <a:chExt cx="7694613" cy="3873500"/>
          </a:xfrm>
        </p:grpSpPr>
        <p:graphicFrame>
          <p:nvGraphicFramePr>
            <p:cNvPr id="8397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6411004"/>
                </p:ext>
              </p:extLst>
            </p:nvPr>
          </p:nvGraphicFramePr>
          <p:xfrm>
            <a:off x="763587" y="2254250"/>
            <a:ext cx="7464425" cy="3873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13" name="Equation" r:id="rId3" imgW="3035160" imgH="1574640" progId="Equation.3">
                    <p:embed/>
                  </p:oleObj>
                </mc:Choice>
                <mc:Fallback>
                  <p:oleObj name="Equation" r:id="rId3" imgW="3035160" imgH="15746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587" y="2254250"/>
                          <a:ext cx="7464425" cy="3873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4" name="AutoShape 5"/>
            <p:cNvSpPr>
              <a:spLocks/>
            </p:cNvSpPr>
            <p:nvPr/>
          </p:nvSpPr>
          <p:spPr bwMode="auto">
            <a:xfrm>
              <a:off x="4419600" y="2362200"/>
              <a:ext cx="533400" cy="1905000"/>
            </a:xfrm>
            <a:prstGeom prst="rightBrace">
              <a:avLst>
                <a:gd name="adj1" fmla="val 2976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83975" name="Text Box 6"/>
            <p:cNvSpPr txBox="1">
              <a:spLocks noChangeArrowheads="1"/>
            </p:cNvSpPr>
            <p:nvPr/>
          </p:nvSpPr>
          <p:spPr bwMode="auto">
            <a:xfrm>
              <a:off x="5105400" y="2819400"/>
              <a:ext cx="3352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lift is used for rules while interest is used for itemsets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90600" y="522576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相关系数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Example: Lift/Interest</a:t>
            </a:r>
          </a:p>
        </p:txBody>
      </p:sp>
      <p:graphicFrame>
        <p:nvGraphicFramePr>
          <p:cNvPr id="13455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082094"/>
              </p:ext>
            </p:extLst>
          </p:nvPr>
        </p:nvGraphicFramePr>
        <p:xfrm>
          <a:off x="1066800" y="1219200"/>
          <a:ext cx="4038600" cy="1971676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25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Coffee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</a:t>
                      </a: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022" name="Line 30"/>
          <p:cNvSpPr>
            <a:spLocks noChangeShapeType="1"/>
          </p:cNvSpPr>
          <p:nvPr/>
        </p:nvSpPr>
        <p:spPr bwMode="auto">
          <a:xfrm>
            <a:off x="3200400" y="160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3" name="Line 31"/>
          <p:cNvSpPr>
            <a:spLocks noChangeShapeType="1"/>
          </p:cNvSpPr>
          <p:nvPr/>
        </p:nvSpPr>
        <p:spPr bwMode="auto">
          <a:xfrm>
            <a:off x="1371600" y="2438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685800" y="3444875"/>
            <a:ext cx="80772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  <a:t> Coffee</a:t>
            </a:r>
            <a:br>
              <a:rPr lang="en-US" altLang="en-US" sz="2400" b="0" dirty="0">
                <a:solidFill>
                  <a:srgbClr val="CC3300"/>
                </a:solidFill>
                <a:latin typeface="Tahoma" pitchFamily="34" charset="0"/>
                <a:sym typeface="Symbol" pitchFamily="18" charset="2"/>
              </a:rPr>
            </a:br>
            <a:endParaRPr lang="en-US" altLang="en-US" sz="2400" b="0" dirty="0">
              <a:solidFill>
                <a:srgbClr val="CC3300"/>
              </a:solidFill>
              <a:latin typeface="Tahoma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Confidence= P(</a:t>
            </a:r>
            <a:r>
              <a:rPr lang="en-US" altLang="en-US" sz="2000" b="0" dirty="0" err="1">
                <a:latin typeface="Tahoma" pitchFamily="34" charset="0"/>
              </a:rPr>
              <a:t>Coffee|Tea</a:t>
            </a:r>
            <a:r>
              <a:rPr lang="en-US" altLang="en-US" sz="2000" b="0" dirty="0">
                <a:latin typeface="Tahoma" pitchFamily="34" charset="0"/>
              </a:rPr>
              <a:t>) = </a:t>
            </a:r>
            <a:r>
              <a:rPr lang="en-US" altLang="en-US" sz="2000" b="0" dirty="0">
                <a:solidFill>
                  <a:srgbClr val="FF0000"/>
                </a:solidFill>
                <a:latin typeface="Tahoma" pitchFamily="34" charset="0"/>
              </a:rPr>
              <a:t>0.75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itchFamily="34" charset="0"/>
              </a:rPr>
              <a:t>but P(Coffee) = </a:t>
            </a:r>
            <a:r>
              <a:rPr lang="en-US" altLang="en-US" sz="2000" b="0" dirty="0">
                <a:solidFill>
                  <a:srgbClr val="FF0000"/>
                </a:solidFill>
                <a:latin typeface="Tahoma" pitchFamily="34" charset="0"/>
              </a:rPr>
              <a:t>0.8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itchFamily="18" charset="2"/>
              <a:buChar char="Þ"/>
            </a:pPr>
            <a:r>
              <a:rPr lang="en-US" altLang="en-US" sz="2000" b="0" dirty="0">
                <a:latin typeface="Tahoma" pitchFamily="34" charset="0"/>
                <a:sym typeface="Symbol" pitchFamily="18" charset="2"/>
              </a:rPr>
              <a:t> Interest =</a:t>
            </a:r>
            <a:r>
              <a:rPr lang="en-US" altLang="en-US" sz="2000" b="0" dirty="0">
                <a:latin typeface="Tahoma" pitchFamily="34" charset="0"/>
              </a:rPr>
              <a:t> 0.15 / (0.2×0.8) = 0.9375 (&lt; 1, therefore is negatively associated)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</a:pPr>
            <a:r>
              <a:rPr lang="en-US" altLang="en-US" sz="2000" b="0" dirty="0">
                <a:latin typeface="Tahoma" pitchFamily="34" charset="0"/>
              </a:rPr>
              <a:t>So, is it enough to use confidence/Interest for pruning?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0" y="1371600"/>
            <a:ext cx="2209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There are lots of measures proposed in the literature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97"/>
            <a:ext cx="6444317" cy="4572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6.0"/>
  <p:tag name="PROBLEMBLANK" val="[{&quot;num&quot;:1,&quot;caseSensitive&quot;:false,&quot;fuzzyMatch&quot;:false,&quot;Score&quot;:1.0,&quot;answers&quot;:[&quot;E&quot;]},{&quot;num&quot;:2,&quot;caseSensitive&quot;:false,&quot;fuzzyMatch&quot;:false,&quot;Score&quot;:1.0,&quot;answers&quot;:[&quot;F&quot;]},{&quot;num&quot;:3,&quot;caseSensitive&quot;:false,&quot;fuzzyMatch&quot;:false,&quot;Score&quot;:1.0,&quot;answers&quot;:[&quot;EF&quot;]},{&quot;num&quot;:4,&quot;caseSensitive&quot;:false,&quot;fuzzyMatch&quot;:false,&quot;Score&quot;:1.0,&quot;answers&quot;:[&quot;J&quot;]},{&quot;num&quot;:5,&quot;caseSensitive&quot;:false,&quot;fuzzyMatch&quot;:false,&quot;Score&quot;:1.0,&quot;answers&quot;:[&quot;EF&quot;]},{&quot;num&quot;:6,&quot;caseSensitive&quot;:false,&quot;fuzzyMatch&quot;:false,&quot;Score&quot;:1.0,&quot;answers&quot;:[&quot;J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146494323</TotalTime>
  <Pages>3</Pages>
  <Words>2222</Words>
  <Application>Microsoft Office PowerPoint</Application>
  <PresentationFormat>全屏显示(4:3)</PresentationFormat>
  <Paragraphs>644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Monotype Sorts</vt:lpstr>
      <vt:lpstr>Microsoft Yahei</vt:lpstr>
      <vt:lpstr>Arial</vt:lpstr>
      <vt:lpstr>Symbol</vt:lpstr>
      <vt:lpstr>Tahoma</vt:lpstr>
      <vt:lpstr>Times New Roman</vt:lpstr>
      <vt:lpstr>Wingdings</vt:lpstr>
      <vt:lpstr>LC.BRev.FY97</vt:lpstr>
      <vt:lpstr>Document</vt:lpstr>
      <vt:lpstr>Equation</vt:lpstr>
      <vt:lpstr>Visio</vt:lpstr>
      <vt:lpstr>Worksheet</vt:lpstr>
      <vt:lpstr>VISIO</vt:lpstr>
      <vt:lpstr> Association Analysis: Basic Concepts  and Algorithms</vt:lpstr>
      <vt:lpstr>Factors Affecting Complexity of Apriori</vt:lpstr>
      <vt:lpstr>Factors Affecting Complexity of Apriori</vt:lpstr>
      <vt:lpstr>Factors Affecting Complexity of Apriori</vt:lpstr>
      <vt:lpstr>Factors Affecting Complexity of Apriori</vt:lpstr>
      <vt:lpstr>Factors Affecting Complexity of Apriori</vt:lpstr>
      <vt:lpstr>Compact Representation of Frequent Itemsets-紧凑表示</vt:lpstr>
      <vt:lpstr>Maximal Frequent Itemset-最大频繁项集</vt:lpstr>
      <vt:lpstr>What are the Maximal Frequent Itemsets in this Data?</vt:lpstr>
      <vt:lpstr>An illustrative example</vt:lpstr>
      <vt:lpstr>An illustrative example</vt:lpstr>
      <vt:lpstr>PowerPoint 演示文稿</vt:lpstr>
      <vt:lpstr>An illustrative example</vt:lpstr>
      <vt:lpstr>An illustrative example</vt:lpstr>
      <vt:lpstr>Another illustrative example</vt:lpstr>
      <vt:lpstr>Closed Itemset-闭项集</vt:lpstr>
      <vt:lpstr>Maximal vs Closed Itemsets</vt:lpstr>
      <vt:lpstr>Maximal Frequent vs Closed Frequent Itemsets</vt:lpstr>
      <vt:lpstr>What are the Closed Itemsets in this Data?</vt:lpstr>
      <vt:lpstr>Example 1</vt:lpstr>
      <vt:lpstr>Example 1</vt:lpstr>
      <vt:lpstr>Example 2</vt:lpstr>
      <vt:lpstr>Example 2</vt:lpstr>
      <vt:lpstr>Example 3</vt:lpstr>
      <vt:lpstr>Example 4</vt:lpstr>
      <vt:lpstr>Maximal vs Closed Itemsets</vt:lpstr>
      <vt:lpstr>Example question</vt:lpstr>
      <vt:lpstr>Pattern Evaluation</vt:lpstr>
      <vt:lpstr>Computing Interestingness Measure</vt:lpstr>
      <vt:lpstr>Drawback of Confidence</vt:lpstr>
      <vt:lpstr>Drawback of Confidence</vt:lpstr>
      <vt:lpstr>Drawback of Confidence</vt:lpstr>
      <vt:lpstr>Measure for Association Rules</vt:lpstr>
      <vt:lpstr>Statistical Relationship between X and Y</vt:lpstr>
      <vt:lpstr>Measures that take into account statistical dependence</vt:lpstr>
      <vt:lpstr>Example: Lift/Interest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Yun Liu</cp:lastModifiedBy>
  <cp:revision>586</cp:revision>
  <cp:lastPrinted>2018-02-04T02:18:57Z</cp:lastPrinted>
  <dcterms:created xsi:type="dcterms:W3CDTF">1998-03-18T13:44:31Z</dcterms:created>
  <dcterms:modified xsi:type="dcterms:W3CDTF">2024-04-20T03:44:39Z</dcterms:modified>
</cp:coreProperties>
</file>