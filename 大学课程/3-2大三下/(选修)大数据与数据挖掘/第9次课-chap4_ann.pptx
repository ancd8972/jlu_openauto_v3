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2" r:id="rId2"/>
  </p:sldMasterIdLst>
  <p:notesMasterIdLst>
    <p:notesMasterId r:id="rId32"/>
  </p:notesMasterIdLst>
  <p:handoutMasterIdLst>
    <p:handoutMasterId r:id="rId33"/>
  </p:handoutMasterIdLst>
  <p:sldIdLst>
    <p:sldId id="667" r:id="rId3"/>
    <p:sldId id="673" r:id="rId4"/>
    <p:sldId id="686" r:id="rId5"/>
    <p:sldId id="582" r:id="rId6"/>
    <p:sldId id="583" r:id="rId7"/>
    <p:sldId id="588" r:id="rId8"/>
    <p:sldId id="589" r:id="rId9"/>
    <p:sldId id="590" r:id="rId10"/>
    <p:sldId id="687" r:id="rId11"/>
    <p:sldId id="592" r:id="rId12"/>
    <p:sldId id="675" r:id="rId13"/>
    <p:sldId id="594" r:id="rId14"/>
    <p:sldId id="676" r:id="rId15"/>
    <p:sldId id="586" r:id="rId16"/>
    <p:sldId id="677" r:id="rId17"/>
    <p:sldId id="595" r:id="rId18"/>
    <p:sldId id="678" r:id="rId19"/>
    <p:sldId id="679" r:id="rId20"/>
    <p:sldId id="681" r:id="rId21"/>
    <p:sldId id="598" r:id="rId22"/>
    <p:sldId id="599" r:id="rId23"/>
    <p:sldId id="688" r:id="rId24"/>
    <p:sldId id="256" r:id="rId25"/>
    <p:sldId id="267" r:id="rId26"/>
    <p:sldId id="281" r:id="rId27"/>
    <p:sldId id="282" r:id="rId28"/>
    <p:sldId id="682" r:id="rId29"/>
    <p:sldId id="284" r:id="rId30"/>
    <p:sldId id="280" r:id="rId31"/>
  </p:sldIdLst>
  <p:sldSz cx="9144000" cy="6858000" type="screen4x3"/>
  <p:notesSz cx="6946900" cy="92329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charset="0"/>
        <a:ea typeface="+mn-ea"/>
        <a:cs typeface="+mn-cs"/>
      </a:defRPr>
    </a:lvl1pPr>
    <a:lvl2pPr marL="457200" algn="l" rtl="0" eaLnBrk="0" fontAlgn="base" hangingPunct="0">
      <a:spcBef>
        <a:spcPct val="0"/>
      </a:spcBef>
      <a:spcAft>
        <a:spcPct val="0"/>
      </a:spcAft>
      <a:defRPr sz="1400" b="1" kern="1200">
        <a:solidFill>
          <a:schemeClr val="tx1"/>
        </a:solidFill>
        <a:latin typeface="Arial" charset="0"/>
        <a:ea typeface="+mn-ea"/>
        <a:cs typeface="+mn-cs"/>
      </a:defRPr>
    </a:lvl2pPr>
    <a:lvl3pPr marL="914400" algn="l" rtl="0" eaLnBrk="0" fontAlgn="base" hangingPunct="0">
      <a:spcBef>
        <a:spcPct val="0"/>
      </a:spcBef>
      <a:spcAft>
        <a:spcPct val="0"/>
      </a:spcAft>
      <a:defRPr sz="1400" b="1" kern="1200">
        <a:solidFill>
          <a:schemeClr val="tx1"/>
        </a:solidFill>
        <a:latin typeface="Arial" charset="0"/>
        <a:ea typeface="+mn-ea"/>
        <a:cs typeface="+mn-cs"/>
      </a:defRPr>
    </a:lvl3pPr>
    <a:lvl4pPr marL="1371600" algn="l" rtl="0" eaLnBrk="0" fontAlgn="base" hangingPunct="0">
      <a:spcBef>
        <a:spcPct val="0"/>
      </a:spcBef>
      <a:spcAft>
        <a:spcPct val="0"/>
      </a:spcAft>
      <a:defRPr sz="1400" b="1" kern="1200">
        <a:solidFill>
          <a:schemeClr val="tx1"/>
        </a:solidFill>
        <a:latin typeface="Arial" charset="0"/>
        <a:ea typeface="+mn-ea"/>
        <a:cs typeface="+mn-cs"/>
      </a:defRPr>
    </a:lvl4pPr>
    <a:lvl5pPr marL="1828800" algn="l" rtl="0" eaLnBrk="0" fontAlgn="base" hangingPunct="0">
      <a:spcBef>
        <a:spcPct val="0"/>
      </a:spcBef>
      <a:spcAft>
        <a:spcPct val="0"/>
      </a:spcAft>
      <a:defRPr sz="1400" b="1" kern="1200">
        <a:solidFill>
          <a:schemeClr val="tx1"/>
        </a:solidFill>
        <a:latin typeface="Arial" charset="0"/>
        <a:ea typeface="+mn-ea"/>
        <a:cs typeface="+mn-cs"/>
      </a:defRPr>
    </a:lvl5pPr>
    <a:lvl6pPr marL="2286000" algn="l" defTabSz="914400" rtl="0" eaLnBrk="1" latinLnBrk="0" hangingPunct="1">
      <a:defRPr sz="1400" b="1" kern="1200">
        <a:solidFill>
          <a:schemeClr val="tx1"/>
        </a:solidFill>
        <a:latin typeface="Arial" charset="0"/>
        <a:ea typeface="+mn-ea"/>
        <a:cs typeface="+mn-cs"/>
      </a:defRPr>
    </a:lvl6pPr>
    <a:lvl7pPr marL="2743200" algn="l" defTabSz="914400" rtl="0" eaLnBrk="1" latinLnBrk="0" hangingPunct="1">
      <a:defRPr sz="1400" b="1" kern="1200">
        <a:solidFill>
          <a:schemeClr val="tx1"/>
        </a:solidFill>
        <a:latin typeface="Arial" charset="0"/>
        <a:ea typeface="+mn-ea"/>
        <a:cs typeface="+mn-cs"/>
      </a:defRPr>
    </a:lvl7pPr>
    <a:lvl8pPr marL="3200400" algn="l" defTabSz="914400" rtl="0" eaLnBrk="1" latinLnBrk="0" hangingPunct="1">
      <a:defRPr sz="1400" b="1" kern="1200">
        <a:solidFill>
          <a:schemeClr val="tx1"/>
        </a:solidFill>
        <a:latin typeface="Arial" charset="0"/>
        <a:ea typeface="+mn-ea"/>
        <a:cs typeface="+mn-cs"/>
      </a:defRPr>
    </a:lvl8pPr>
    <a:lvl9pPr marL="3657600" algn="l" defTabSz="914400" rtl="0" eaLnBrk="1" latinLnBrk="0" hangingPunct="1">
      <a:defRPr sz="1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2909">
          <p15:clr>
            <a:srgbClr val="A4A3A4"/>
          </p15:clr>
        </p15:guide>
        <p15:guide id="2" pos="218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A8487"/>
    <a:srgbClr val="1C5A61"/>
    <a:srgbClr val="0C6D9C"/>
    <a:srgbClr val="FF0000"/>
    <a:srgbClr val="CC3300"/>
    <a:srgbClr val="F5F5F5"/>
    <a:srgbClr val="F4F4F4"/>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20" autoAdjust="0"/>
    <p:restoredTop sz="95872" autoAdjust="0"/>
  </p:normalViewPr>
  <p:slideViewPr>
    <p:cSldViewPr>
      <p:cViewPr varScale="1">
        <p:scale>
          <a:sx n="80" d="100"/>
          <a:sy n="80" d="100"/>
        </p:scale>
        <p:origin x="711" y="45"/>
      </p:cViewPr>
      <p:guideLst>
        <p:guide orient="horz" pos="2160"/>
        <p:guide pos="27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83" d="100"/>
          <a:sy n="83" d="100"/>
        </p:scale>
        <p:origin x="-840" y="-66"/>
      </p:cViewPr>
      <p:guideLst>
        <p:guide orient="horz" pos="2909"/>
        <p:guide pos="218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emf"/><Relationship Id="rId1" Type="http://schemas.openxmlformats.org/officeDocument/2006/relationships/image" Target="../media/image11.emf"/><Relationship Id="rId4" Type="http://schemas.openxmlformats.org/officeDocument/2006/relationships/image" Target="../media/image14.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2104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23925" y="4386263"/>
            <a:ext cx="5097463" cy="4151312"/>
          </a:xfrm>
          <a:prstGeom prst="rect">
            <a:avLst/>
          </a:prstGeom>
          <a:noFill/>
          <a:ln w="12700">
            <a:noFill/>
            <a:miter lim="800000"/>
            <a:headEnd/>
            <a:tailEnd/>
          </a:ln>
          <a:effectLst/>
        </p:spPr>
        <p:txBody>
          <a:bodyPr vert="horz" wrap="square" lIns="96066" tIns="48035" rIns="96066" bIns="48035"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507" name="Rectangle 3"/>
          <p:cNvSpPr>
            <a:spLocks noGrp="1" noRot="1" noChangeAspect="1" noChangeArrowheads="1" noTextEdit="1"/>
          </p:cNvSpPr>
          <p:nvPr>
            <p:ph type="sldImg" idx="2"/>
          </p:nvPr>
        </p:nvSpPr>
        <p:spPr bwMode="auto">
          <a:xfrm>
            <a:off x="1176338" y="700088"/>
            <a:ext cx="4597400" cy="34480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4175756358"/>
      </p:ext>
    </p:extLst>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1169988" y="695325"/>
            <a:ext cx="4611687" cy="3459163"/>
          </a:xfrm>
          <a:solidFill>
            <a:srgbClr val="FFFFFF"/>
          </a:solidFill>
          <a:ln/>
        </p:spPr>
      </p:sp>
      <p:sp>
        <p:nvSpPr>
          <p:cNvPr id="22531" name="Rectangle 3"/>
          <p:cNvSpPr>
            <a:spLocks noGrp="1" noChangeArrowheads="1"/>
          </p:cNvSpPr>
          <p:nvPr>
            <p:ph type="body" idx="1"/>
          </p:nvPr>
        </p:nvSpPr>
        <p:spPr>
          <a:xfrm>
            <a:off x="925513" y="4386263"/>
            <a:ext cx="5095875" cy="4151312"/>
          </a:xfrm>
          <a:solidFill>
            <a:srgbClr val="FFFFFF"/>
          </a:solidFill>
          <a:ln>
            <a:solidFill>
              <a:srgbClr val="000000"/>
            </a:solidFill>
          </a:ln>
        </p:spPr>
        <p:txBody>
          <a:bodyPr lIns="90865" tIns="45428" rIns="90865" bIns="45428"/>
          <a:lstStyle/>
          <a:p>
            <a:endParaRPr lang="en-US" altLang="en-US"/>
          </a:p>
        </p:txBody>
      </p:sp>
    </p:spTree>
    <p:extLst>
      <p:ext uri="{BB962C8B-B14F-4D97-AF65-F5344CB8AC3E}">
        <p14:creationId xmlns:p14="http://schemas.microsoft.com/office/powerpoint/2010/main" val="1888231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Hidden layers represent levels of abstraction. </a:t>
            </a:r>
            <a:r>
              <a:rPr lang="en-US" sz="1200" kern="1200" dirty="0">
                <a:solidFill>
                  <a:schemeClr val="tx1"/>
                </a:solidFill>
                <a:effectLst/>
                <a:latin typeface="Arial" charset="0"/>
                <a:ea typeface="+mn-ea"/>
                <a:cs typeface="+mn-cs"/>
              </a:rPr>
              <a:t>ANN models provide a natural way of representing features at multiple levels of abstraction, where complex features are seen as compositions of simpler features. In many classification problems, modeling such a hierarchy of features turns out to be very useful. For example, in order to detect a human face in an image, we can first identify low-level features such as sharp edges with different gradients and orientations. These features can then be combined to identify facial parts such as eyes, nose, ears, and lips. Finally, an appropriate arrangement of facial parts can be used to correctly identify a human face. ANN models provide a powerful architecture to represent a hierarchical abstraction of features, from </a:t>
            </a:r>
            <a:endParaRPr lang="en-US" dirty="0"/>
          </a:p>
          <a:p>
            <a:r>
              <a:rPr lang="en-US" sz="1200" kern="1200" dirty="0">
                <a:solidFill>
                  <a:schemeClr val="tx1"/>
                </a:solidFill>
                <a:effectLst/>
                <a:latin typeface="Arial" charset="0"/>
                <a:ea typeface="+mn-ea"/>
                <a:cs typeface="+mn-cs"/>
              </a:rPr>
              <a:t>k lower levels of abstraction (e.g., edges) to higher levels (e.g., facial parts). </a:t>
            </a:r>
            <a:endParaRPr lang="en-US" dirty="0"/>
          </a:p>
          <a:p>
            <a:pPr marL="0" marR="0" lvl="0" indent="0" algn="l" defTabSz="963613" rtl="0" eaLnBrk="0" fontAlgn="base" latinLnBrk="0" hangingPunct="0">
              <a:lnSpc>
                <a:spcPct val="100000"/>
              </a:lnSpc>
              <a:spcBef>
                <a:spcPct val="30000"/>
              </a:spcBef>
              <a:spcAft>
                <a:spcPct val="0"/>
              </a:spcAft>
              <a:buClrTx/>
              <a:buSzTx/>
              <a:buFontTx/>
              <a:buNone/>
              <a:tabLst/>
              <a:defRPr/>
            </a:pPr>
            <a:endParaRPr lang="en-US" sz="1200" dirty="0"/>
          </a:p>
          <a:p>
            <a:endParaRPr lang="en-US" dirty="0"/>
          </a:p>
        </p:txBody>
      </p:sp>
    </p:spTree>
    <p:extLst>
      <p:ext uri="{BB962C8B-B14F-4D97-AF65-F5344CB8AC3E}">
        <p14:creationId xmlns:p14="http://schemas.microsoft.com/office/powerpoint/2010/main" val="38858141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charset="0"/>
                <a:ea typeface="+mn-ea"/>
                <a:cs typeface="+mn-cs"/>
              </a:rPr>
              <a:t>ANN models provide a natural way of representing features at multiple levels of abstraction, where complex features are seen as compositions of simpler features. In many classification problems, modeling such a hierarchy of features turns out to be very useful. For example, in order to detect a human face in an image, we can first identify low-level features such as sharp edges with different gradients and orientations. These features can then be combined to identify facial parts such as eyes, nose, ears, and lips. Finally, an appropriate arrangement of facial parts can be used to correctly identify a human face. ANN models provide a powerful architecture to represent a hierarchical abstraction of features, from </a:t>
            </a:r>
            <a:endParaRPr lang="en-US" dirty="0"/>
          </a:p>
          <a:p>
            <a:r>
              <a:rPr lang="en-US" sz="1200" kern="1200" dirty="0">
                <a:solidFill>
                  <a:schemeClr val="tx1"/>
                </a:solidFill>
                <a:effectLst/>
                <a:latin typeface="Arial" charset="0"/>
                <a:ea typeface="+mn-ea"/>
                <a:cs typeface="+mn-cs"/>
              </a:rPr>
              <a:t>k lower levels of abstraction (e.g., edges) to higher levels (e.g., facial parts). </a:t>
            </a:r>
            <a:endParaRPr lang="en-US" dirty="0"/>
          </a:p>
          <a:p>
            <a:endParaRPr lang="en-US" dirty="0"/>
          </a:p>
        </p:txBody>
      </p:sp>
    </p:spTree>
    <p:extLst>
      <p:ext uri="{BB962C8B-B14F-4D97-AF65-F5344CB8AC3E}">
        <p14:creationId xmlns:p14="http://schemas.microsoft.com/office/powerpoint/2010/main" val="3297334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42531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AI 在五六十年代时正式提出，经历了人工智能起步期、专家系统推广和深度学习三个阶段。人工智能出现的</a:t>
            </a:r>
            <a:r>
              <a:rPr lang="en-US" altLang="zh-CN"/>
              <a:t>60</a:t>
            </a:r>
            <a:r>
              <a:rPr lang="zh-CN" altLang="en-US"/>
              <a:t>多年中尽力了几次寒冬，自深度学习算法出现后，近几年再次进入爆发期</a:t>
            </a:r>
          </a:p>
        </p:txBody>
      </p:sp>
    </p:spTree>
    <p:extLst>
      <p:ext uri="{BB962C8B-B14F-4D97-AF65-F5344CB8AC3E}">
        <p14:creationId xmlns:p14="http://schemas.microsoft.com/office/powerpoint/2010/main" val="25056034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1958~1969为</a:t>
            </a:r>
            <a:r>
              <a:rPr lang="zh-CN" altLang="en-US"/>
              <a:t>第一代神经网络</a:t>
            </a:r>
          </a:p>
          <a:p>
            <a:r>
              <a:rPr lang="zh-CN" altLang="en-US">
                <a:sym typeface="+mn-ea"/>
              </a:rPr>
              <a:t>1986~1998为</a:t>
            </a:r>
            <a:r>
              <a:rPr lang="zh-CN" altLang="en-US"/>
              <a:t>第二代神经网络</a:t>
            </a:r>
          </a:p>
          <a:p>
            <a:r>
              <a:rPr lang="zh-CN" altLang="en-US">
                <a:sym typeface="+mn-ea"/>
              </a:rPr>
              <a:t>2006-至今为</a:t>
            </a:r>
            <a:r>
              <a:rPr lang="zh-CN" altLang="en-US"/>
              <a:t>第三代神经网络：快速发展期（2006~2012）和爆发期（2012~至今）</a:t>
            </a:r>
          </a:p>
        </p:txBody>
      </p:sp>
    </p:spTree>
    <p:extLst>
      <p:ext uri="{BB962C8B-B14F-4D97-AF65-F5344CB8AC3E}">
        <p14:creationId xmlns:p14="http://schemas.microsoft.com/office/powerpoint/2010/main" val="2210467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latin typeface="宋体" panose="02010600030101010101" pitchFamily="2" charset="-122"/>
                <a:ea typeface="宋体" panose="02010600030101010101" pitchFamily="2" charset="-122"/>
                <a:sym typeface="+mn-ea"/>
              </a:rPr>
              <a:t>Hinton 和他的学生在《</a:t>
            </a:r>
            <a:r>
              <a:rPr lang="en-US" altLang="zh-CN">
                <a:latin typeface="宋体" panose="02010600030101010101" pitchFamily="2" charset="-122"/>
                <a:ea typeface="宋体" panose="02010600030101010101" pitchFamily="2" charset="-122"/>
                <a:sym typeface="+mn-ea"/>
              </a:rPr>
              <a:t>Science</a:t>
            </a:r>
            <a:r>
              <a:rPr lang="zh-CN" altLang="en-US">
                <a:latin typeface="宋体" panose="02010600030101010101" pitchFamily="2" charset="-122"/>
                <a:ea typeface="宋体" panose="02010600030101010101" pitchFamily="2" charset="-122"/>
                <a:sym typeface="+mn-ea"/>
              </a:rPr>
              <a:t>》上发表的一篇文章</a:t>
            </a:r>
            <a:r>
              <a:rPr lang="zh-CN" altLang="en-US" sz="2800">
                <a:solidFill>
                  <a:srgbClr val="DA1F28">
                    <a:lumMod val="60000"/>
                    <a:lumOff val="40000"/>
                  </a:srgbClr>
                </a:solidFill>
                <a:latin typeface="宋体" panose="02010600030101010101" pitchFamily="2" charset="-122"/>
                <a:ea typeface="宋体" panose="02010600030101010101" pitchFamily="2" charset="-122"/>
                <a:cs typeface="+mn-ea"/>
                <a:sym typeface="+mn-ea"/>
              </a:rPr>
              <a:t>开启了深度学习在学术界和工业界的浪潮。</a:t>
            </a:r>
            <a:endParaRPr lang="zh-CN" altLang="en-US"/>
          </a:p>
        </p:txBody>
      </p:sp>
    </p:spTree>
    <p:extLst>
      <p:ext uri="{BB962C8B-B14F-4D97-AF65-F5344CB8AC3E}">
        <p14:creationId xmlns:p14="http://schemas.microsoft.com/office/powerpoint/2010/main" val="4230439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247775" y="1279525"/>
            <a:ext cx="4606925" cy="3454400"/>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8781498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656173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303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20593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8636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8605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26271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449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77445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94153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6097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89640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81000" y="152400"/>
            <a:ext cx="8280400" cy="533400"/>
          </a:xfrm>
        </p:spPr>
        <p:txBody>
          <a:bodyPr/>
          <a:lstStyle/>
          <a:p>
            <a:r>
              <a:rPr lang="en-US"/>
              <a:t>Click to edit Master title style</a:t>
            </a:r>
          </a:p>
        </p:txBody>
      </p:sp>
      <p:sp>
        <p:nvSpPr>
          <p:cNvPr id="3" name="Content Placeholder 2"/>
          <p:cNvSpPr>
            <a:spLocks noGrp="1"/>
          </p:cNvSpPr>
          <p:nvPr>
            <p:ph sz="quarter" idx="1"/>
          </p:nvPr>
        </p:nvSpPr>
        <p:spPr>
          <a:xfrm>
            <a:off x="41116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1116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50008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53957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1FCFE92-89B6-4224-A41F-FE06D407084B}"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t>‹#›</a:t>
            </a:fld>
            <a:endParaRPr lang="en-US"/>
          </a:p>
        </p:txBody>
      </p:sp>
    </p:spTree>
    <p:extLst>
      <p:ext uri="{BB962C8B-B14F-4D97-AF65-F5344CB8AC3E}">
        <p14:creationId xmlns:p14="http://schemas.microsoft.com/office/powerpoint/2010/main" val="15129857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FCFE92-89B6-4224-A41F-FE06D407084B}"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t>‹#›</a:t>
            </a:fld>
            <a:endParaRPr lang="en-US"/>
          </a:p>
        </p:txBody>
      </p:sp>
    </p:spTree>
    <p:extLst>
      <p:ext uri="{BB962C8B-B14F-4D97-AF65-F5344CB8AC3E}">
        <p14:creationId xmlns:p14="http://schemas.microsoft.com/office/powerpoint/2010/main" val="31393273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1FCFE92-89B6-4224-A41F-FE06D407084B}"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t>‹#›</a:t>
            </a:fld>
            <a:endParaRPr lang="en-US"/>
          </a:p>
        </p:txBody>
      </p:sp>
    </p:spTree>
    <p:extLst>
      <p:ext uri="{BB962C8B-B14F-4D97-AF65-F5344CB8AC3E}">
        <p14:creationId xmlns:p14="http://schemas.microsoft.com/office/powerpoint/2010/main" val="20084896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1FCFE92-89B6-4224-A41F-FE06D407084B}"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03D2CB-2D05-44A0-B97E-7C27A7CBE271}" type="slidenum">
              <a:rPr lang="en-US" smtClean="0"/>
              <a:t>‹#›</a:t>
            </a:fld>
            <a:endParaRPr lang="en-US"/>
          </a:p>
        </p:txBody>
      </p:sp>
    </p:spTree>
    <p:extLst>
      <p:ext uri="{BB962C8B-B14F-4D97-AF65-F5344CB8AC3E}">
        <p14:creationId xmlns:p14="http://schemas.microsoft.com/office/powerpoint/2010/main" val="3194842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1FCFE92-89B6-4224-A41F-FE06D407084B}" type="datetimeFigureOut">
              <a:rPr lang="en-US" smtClean="0"/>
              <a:t>3/30/2024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403D2CB-2D05-44A0-B97E-7C27A7CBE271}" type="slidenum">
              <a:rPr lang="en-US" smtClean="0"/>
              <a:t>‹#›</a:t>
            </a:fld>
            <a:endParaRPr lang="en-US"/>
          </a:p>
        </p:txBody>
      </p:sp>
    </p:spTree>
    <p:extLst>
      <p:ext uri="{BB962C8B-B14F-4D97-AF65-F5344CB8AC3E}">
        <p14:creationId xmlns:p14="http://schemas.microsoft.com/office/powerpoint/2010/main" val="4206557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FCFE92-89B6-4224-A41F-FE06D407084B}" type="datetimeFigureOut">
              <a:rPr lang="en-US" smtClean="0"/>
              <a:t>3/30/2024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403D2CB-2D05-44A0-B97E-7C27A7CBE271}" type="slidenum">
              <a:rPr lang="en-US" smtClean="0"/>
              <a:t>‹#›</a:t>
            </a:fld>
            <a:endParaRPr lang="en-US"/>
          </a:p>
        </p:txBody>
      </p:sp>
    </p:spTree>
    <p:extLst>
      <p:ext uri="{BB962C8B-B14F-4D97-AF65-F5344CB8AC3E}">
        <p14:creationId xmlns:p14="http://schemas.microsoft.com/office/powerpoint/2010/main" val="3345663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FCFE92-89B6-4224-A41F-FE06D407084B}" type="datetimeFigureOut">
              <a:rPr lang="en-US" smtClean="0"/>
              <a:t>3/30/2024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403D2CB-2D05-44A0-B97E-7C27A7CBE271}" type="slidenum">
              <a:rPr lang="en-US" smtClean="0"/>
              <a:t>‹#›</a:t>
            </a:fld>
            <a:endParaRPr lang="en-US"/>
          </a:p>
        </p:txBody>
      </p:sp>
    </p:spTree>
    <p:extLst>
      <p:ext uri="{BB962C8B-B14F-4D97-AF65-F5344CB8AC3E}">
        <p14:creationId xmlns:p14="http://schemas.microsoft.com/office/powerpoint/2010/main" val="40504437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1FCFE92-89B6-4224-A41F-FE06D407084B}"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03D2CB-2D05-44A0-B97E-7C27A7CBE271}" type="slidenum">
              <a:rPr lang="en-US" smtClean="0"/>
              <a:t>‹#›</a:t>
            </a:fld>
            <a:endParaRPr lang="en-US"/>
          </a:p>
        </p:txBody>
      </p:sp>
    </p:spTree>
    <p:extLst>
      <p:ext uri="{BB962C8B-B14F-4D97-AF65-F5344CB8AC3E}">
        <p14:creationId xmlns:p14="http://schemas.microsoft.com/office/powerpoint/2010/main" val="22240026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1FCFE92-89B6-4224-A41F-FE06D407084B}" type="datetimeFigureOut">
              <a:rPr lang="en-US" smtClean="0"/>
              <a:t>3/30/2024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403D2CB-2D05-44A0-B97E-7C27A7CBE271}" type="slidenum">
              <a:rPr lang="en-US" smtClean="0"/>
              <a:t>‹#›</a:t>
            </a:fld>
            <a:endParaRPr lang="en-US"/>
          </a:p>
        </p:txBody>
      </p:sp>
    </p:spTree>
    <p:extLst>
      <p:ext uri="{BB962C8B-B14F-4D97-AF65-F5344CB8AC3E}">
        <p14:creationId xmlns:p14="http://schemas.microsoft.com/office/powerpoint/2010/main" val="11558991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FCFE92-89B6-4224-A41F-FE06D407084B}"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t>‹#›</a:t>
            </a:fld>
            <a:endParaRPr lang="en-US"/>
          </a:p>
        </p:txBody>
      </p:sp>
    </p:spTree>
    <p:extLst>
      <p:ext uri="{BB962C8B-B14F-4D97-AF65-F5344CB8AC3E}">
        <p14:creationId xmlns:p14="http://schemas.microsoft.com/office/powerpoint/2010/main" val="11032451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1FCFE92-89B6-4224-A41F-FE06D407084B}" type="datetimeFigureOut">
              <a:rPr lang="en-US" smtClean="0"/>
              <a:t>3/30/2024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403D2CB-2D05-44A0-B97E-7C27A7CBE271}" type="slidenum">
              <a:rPr lang="en-US" smtClean="0"/>
              <a:t>‹#›</a:t>
            </a:fld>
            <a:endParaRPr lang="en-US"/>
          </a:p>
        </p:txBody>
      </p:sp>
    </p:spTree>
    <p:extLst>
      <p:ext uri="{BB962C8B-B14F-4D97-AF65-F5344CB8AC3E}">
        <p14:creationId xmlns:p14="http://schemas.microsoft.com/office/powerpoint/2010/main" val="2933973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 Third Level</a:t>
            </a:r>
          </a:p>
        </p:txBody>
      </p:sp>
      <p:grpSp>
        <p:nvGrpSpPr>
          <p:cNvPr id="1028" name="Group 16"/>
          <p:cNvGrpSpPr>
            <a:grpSpLocks/>
          </p:cNvGrpSpPr>
          <p:nvPr userDrawn="1"/>
        </p:nvGrpSpPr>
        <p:grpSpPr bwMode="auto">
          <a:xfrm>
            <a:off x="304800" y="838200"/>
            <a:ext cx="8534400" cy="152400"/>
            <a:chOff x="264" y="788"/>
            <a:chExt cx="5232" cy="124"/>
          </a:xfrm>
        </p:grpSpPr>
        <p:sp>
          <p:nvSpPr>
            <p:cNvPr id="1030" name="Rectangle 17"/>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sp>
          <p:nvSpPr>
            <p:cNvPr id="1031" name="Rectangle 18"/>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grpSp>
      <p:sp>
        <p:nvSpPr>
          <p:cNvPr id="1029" name="Text Box 10"/>
          <p:cNvSpPr txBox="1">
            <a:spLocks noChangeArrowheads="1"/>
          </p:cNvSpPr>
          <p:nvPr userDrawn="1"/>
        </p:nvSpPr>
        <p:spPr bwMode="auto">
          <a:xfrm>
            <a:off x="457200" y="6400800"/>
            <a:ext cx="85344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defRPr/>
            </a:pPr>
            <a:r>
              <a:rPr lang="en-US" dirty="0"/>
              <a:t>10/12/2020	</a:t>
            </a:r>
            <a:r>
              <a:rPr lang="en-US" baseline="0" dirty="0"/>
              <a:t>      </a:t>
            </a:r>
            <a:r>
              <a:rPr lang="en-US" dirty="0"/>
              <a:t>Introduction to Data Mining, 2</a:t>
            </a:r>
            <a:r>
              <a:rPr lang="en-US" baseline="30000" dirty="0"/>
              <a:t>nd</a:t>
            </a:r>
            <a:r>
              <a:rPr lang="en-US" dirty="0"/>
              <a:t> Edition 			              </a:t>
            </a:r>
            <a:fld id="{D85E90EB-AD9D-48EC-8D84-2576A3EA70C6}" type="slidenum">
              <a:rPr lang="en-US" smtClean="0"/>
              <a:pPr>
                <a:spcBef>
                  <a:spcPct val="50000"/>
                </a:spcBef>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FCFE92-89B6-4224-A41F-FE06D407084B}" type="datetimeFigureOut">
              <a:rPr lang="en-US" smtClean="0"/>
              <a:t>3/30/2024</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03D2CB-2D05-44A0-B97E-7C27A7CBE271}" type="slidenum">
              <a:rPr lang="en-US" smtClean="0"/>
              <a:t>‹#›</a:t>
            </a:fld>
            <a:endParaRPr lang="en-US"/>
          </a:p>
        </p:txBody>
      </p:sp>
    </p:spTree>
    <p:extLst>
      <p:ext uri="{BB962C8B-B14F-4D97-AF65-F5344CB8AC3E}">
        <p14:creationId xmlns:p14="http://schemas.microsoft.com/office/powerpoint/2010/main" val="10421734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12.emf"/><Relationship Id="rId5" Type="http://schemas.openxmlformats.org/officeDocument/2006/relationships/oleObject" Target="../embeddings/oleObject5.bin"/><Relationship Id="rId10" Type="http://schemas.openxmlformats.org/officeDocument/2006/relationships/image" Target="../media/image14.emf"/><Relationship Id="rId4" Type="http://schemas.openxmlformats.org/officeDocument/2006/relationships/image" Target="../media/image11.emf"/><Relationship Id="rId9"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17.wmf"/><Relationship Id="rId5" Type="http://schemas.openxmlformats.org/officeDocument/2006/relationships/oleObject" Target="../embeddings/oleObject9.bin"/><Relationship Id="rId4" Type="http://schemas.openxmlformats.org/officeDocument/2006/relationships/image" Target="../media/image16.e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vmlDrawing" Target="../drawings/vmlDrawing5.vml"/><Relationship Id="rId5" Type="http://schemas.openxmlformats.org/officeDocument/2006/relationships/image" Target="../media/image18.emf"/><Relationship Id="rId4"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0.png"/><Relationship Id="rId4" Type="http://schemas.openxmlformats.org/officeDocument/2006/relationships/image" Target="../media/image19.emf"/></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image" Target="../media/image25.png"/><Relationship Id="rId4" Type="http://schemas.openxmlformats.org/officeDocument/2006/relationships/image" Target="../media/image22.emf"/></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10.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1.png"/><Relationship Id="rId7" Type="http://schemas.openxmlformats.org/officeDocument/2006/relationships/image" Target="../media/image4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22.emf"/><Relationship Id="rId4" Type="http://schemas.openxmlformats.org/officeDocument/2006/relationships/image" Target="../media/image33.png"/><Relationship Id="rId9"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1027"/>
          <p:cNvSpPr>
            <a:spLocks noChangeArrowheads="1"/>
          </p:cNvSpPr>
          <p:nvPr/>
        </p:nvSpPr>
        <p:spPr bwMode="auto">
          <a:xfrm>
            <a:off x="381000" y="1589353"/>
            <a:ext cx="8229600" cy="4003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lgn="ctr" eaLnBrk="1" hangingPunct="1">
              <a:spcBef>
                <a:spcPct val="20000"/>
              </a:spcBef>
              <a:buClr>
                <a:schemeClr val="folHlink"/>
              </a:buClr>
              <a:buSzPct val="60000"/>
              <a:buFont typeface="Monotype Sorts" pitchFamily="2" charset="2"/>
              <a:buNone/>
            </a:pPr>
            <a:r>
              <a:rPr lang="en-US" altLang="en-US" sz="3200" b="0" dirty="0"/>
              <a:t> </a:t>
            </a:r>
            <a:br>
              <a:rPr lang="en-US" altLang="en-US" sz="3200" b="0" dirty="0"/>
            </a:br>
            <a:r>
              <a:rPr lang="zh-CN" altLang="en-US" sz="3600" b="0" dirty="0"/>
              <a:t>人工神经网络</a:t>
            </a:r>
            <a:endParaRPr lang="en-US" altLang="en-US" sz="1600" b="0" dirty="0"/>
          </a:p>
          <a:p>
            <a:pPr algn="ctr" eaLnBrk="1" hangingPunct="1">
              <a:spcBef>
                <a:spcPct val="20000"/>
              </a:spcBef>
              <a:buClr>
                <a:schemeClr val="folHlink"/>
              </a:buClr>
              <a:buSzPct val="60000"/>
              <a:buFont typeface="Wingdings" pitchFamily="2" charset="2"/>
              <a:buNone/>
            </a:pPr>
            <a:endParaRPr lang="en-US" altLang="en-US" sz="3600" b="0" dirty="0"/>
          </a:p>
          <a:p>
            <a:pPr algn="ctr" eaLnBrk="1" hangingPunct="1">
              <a:spcBef>
                <a:spcPct val="20000"/>
              </a:spcBef>
              <a:buClr>
                <a:schemeClr val="folHlink"/>
              </a:buClr>
              <a:buSzPct val="60000"/>
              <a:buFont typeface="Wingdings" pitchFamily="2" charset="2"/>
              <a:buNone/>
            </a:pPr>
            <a:r>
              <a:rPr lang="zh-CN" altLang="en-US" sz="3600" b="0" dirty="0"/>
              <a:t>吉林大学</a:t>
            </a:r>
            <a:endParaRPr lang="en-US" altLang="zh-CN" sz="3600" b="0" dirty="0"/>
          </a:p>
          <a:p>
            <a:pPr algn="ctr" eaLnBrk="1" hangingPunct="1">
              <a:spcBef>
                <a:spcPct val="20000"/>
              </a:spcBef>
              <a:buClr>
                <a:schemeClr val="folHlink"/>
              </a:buClr>
              <a:buSzPct val="60000"/>
              <a:buFont typeface="Wingdings" pitchFamily="2" charset="2"/>
              <a:buNone/>
            </a:pPr>
            <a:r>
              <a:rPr lang="zh-CN" altLang="en-US" sz="3600" b="0" dirty="0"/>
              <a:t>控制科学与工程系</a:t>
            </a:r>
            <a:endParaRPr lang="en-US" altLang="zh-CN" sz="3600" b="0" dirty="0"/>
          </a:p>
          <a:p>
            <a:pPr algn="ctr" eaLnBrk="1" hangingPunct="1">
              <a:spcBef>
                <a:spcPct val="20000"/>
              </a:spcBef>
              <a:buClr>
                <a:schemeClr val="folHlink"/>
              </a:buClr>
              <a:buSzPct val="60000"/>
              <a:buFont typeface="Wingdings" pitchFamily="2" charset="2"/>
              <a:buNone/>
            </a:pPr>
            <a:r>
              <a:rPr lang="zh-CN" altLang="en-US" sz="3600" b="0" dirty="0"/>
              <a:t>刘云</a:t>
            </a:r>
            <a:endParaRPr lang="en-US" altLang="en-US" sz="2000" b="0" dirty="0"/>
          </a:p>
        </p:txBody>
      </p:sp>
      <p:sp>
        <p:nvSpPr>
          <p:cNvPr id="3" name="标题 2">
            <a:extLst>
              <a:ext uri="{FF2B5EF4-FFF2-40B4-BE49-F238E27FC236}">
                <a16:creationId xmlns:a16="http://schemas.microsoft.com/office/drawing/2014/main" id="{A70FA458-F058-48D7-A93C-7A02FF17F030}"/>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43855898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6C35-3FFF-6542-9955-469C9C8BFC53}"/>
              </a:ext>
            </a:extLst>
          </p:cNvPr>
          <p:cNvSpPr>
            <a:spLocks noGrp="1"/>
          </p:cNvSpPr>
          <p:nvPr>
            <p:ph type="title"/>
          </p:nvPr>
        </p:nvSpPr>
        <p:spPr/>
        <p:txBody>
          <a:bodyPr/>
          <a:lstStyle/>
          <a:p>
            <a:r>
              <a:rPr lang="en-US" dirty="0"/>
              <a:t>Artificial Neural Networks (ANN)</a:t>
            </a:r>
          </a:p>
        </p:txBody>
      </p:sp>
      <p:sp>
        <p:nvSpPr>
          <p:cNvPr id="3" name="Content Placeholder 2">
            <a:extLst>
              <a:ext uri="{FF2B5EF4-FFF2-40B4-BE49-F238E27FC236}">
                <a16:creationId xmlns:a16="http://schemas.microsoft.com/office/drawing/2014/main" id="{5B808FF2-9E7E-144C-B193-A9367500C06F}"/>
              </a:ext>
            </a:extLst>
          </p:cNvPr>
          <p:cNvSpPr>
            <a:spLocks noGrp="1"/>
          </p:cNvSpPr>
          <p:nvPr>
            <p:ph idx="1"/>
          </p:nvPr>
        </p:nvSpPr>
        <p:spPr>
          <a:xfrm>
            <a:off x="381000" y="1066800"/>
            <a:ext cx="8318500" cy="5181600"/>
          </a:xfrm>
        </p:spPr>
        <p:txBody>
          <a:bodyPr/>
          <a:lstStyle/>
          <a:p>
            <a:pPr>
              <a:lnSpc>
                <a:spcPct val="150000"/>
              </a:lnSpc>
            </a:pPr>
            <a:r>
              <a:rPr lang="zh-CN" altLang="en-US" sz="2600" b="1" dirty="0"/>
              <a:t>思想来源：</a:t>
            </a:r>
            <a:r>
              <a:rPr lang="zh-CN" altLang="en-US" sz="2600" dirty="0"/>
              <a:t>模拟人神经系统处理信息的方法</a:t>
            </a:r>
            <a:endParaRPr lang="en-US" altLang="zh-CN" sz="2600" dirty="0"/>
          </a:p>
          <a:p>
            <a:pPr>
              <a:lnSpc>
                <a:spcPct val="150000"/>
              </a:lnSpc>
            </a:pPr>
            <a:r>
              <a:rPr lang="zh-CN" altLang="en-US" sz="2600" b="1" dirty="0"/>
              <a:t>基本观点</a:t>
            </a:r>
            <a:r>
              <a:rPr lang="en-US" sz="2600" b="1" dirty="0"/>
              <a:t>: </a:t>
            </a:r>
            <a:r>
              <a:rPr lang="zh-CN" altLang="en-US" sz="2600" dirty="0"/>
              <a:t>一个复杂的非线性函数可由一组简单的处理单元学习得到</a:t>
            </a:r>
            <a:endParaRPr lang="en-US" sz="2600" dirty="0"/>
          </a:p>
          <a:p>
            <a:pPr>
              <a:lnSpc>
                <a:spcPct val="150000"/>
              </a:lnSpc>
            </a:pPr>
            <a:r>
              <a:rPr lang="en-US" altLang="zh-CN" sz="2600" dirty="0"/>
              <a:t>ANN</a:t>
            </a:r>
            <a:r>
              <a:rPr lang="zh-CN" altLang="en-US" sz="2600" dirty="0"/>
              <a:t>是由一组有向连接的简单处理单元（节点）组成</a:t>
            </a:r>
            <a:endParaRPr lang="en-US" sz="2600" dirty="0"/>
          </a:p>
          <a:p>
            <a:pPr lvl="1">
              <a:lnSpc>
                <a:spcPct val="150000"/>
              </a:lnSpc>
            </a:pPr>
            <a:r>
              <a:rPr lang="zh-CN" altLang="en-US" sz="2400" dirty="0"/>
              <a:t>类比于人类的神经系统，节点是神经元，信号是电脉冲</a:t>
            </a:r>
            <a:endParaRPr lang="en-US" altLang="zh-CN" sz="2400" dirty="0"/>
          </a:p>
          <a:p>
            <a:pPr lvl="1">
              <a:lnSpc>
                <a:spcPct val="150000"/>
              </a:lnSpc>
            </a:pPr>
            <a:r>
              <a:rPr lang="zh-CN" altLang="en-US" sz="2400" dirty="0"/>
              <a:t>每个节点接受信号，执行计算，再输出信号</a:t>
            </a:r>
            <a:endParaRPr lang="en-US" sz="2400" dirty="0"/>
          </a:p>
          <a:p>
            <a:pPr lvl="1">
              <a:lnSpc>
                <a:spcPct val="150000"/>
              </a:lnSpc>
            </a:pPr>
            <a:r>
              <a:rPr lang="zh-CN" altLang="en-US" sz="2400" dirty="0"/>
              <a:t>边的权重决定节点间的连接强度</a:t>
            </a:r>
            <a:endParaRPr lang="en-US" altLang="zh-CN" sz="2400" dirty="0"/>
          </a:p>
          <a:p>
            <a:pPr lvl="1">
              <a:lnSpc>
                <a:spcPct val="150000"/>
              </a:lnSpc>
            </a:pPr>
            <a:r>
              <a:rPr lang="zh-CN" altLang="en-US" sz="2400" dirty="0"/>
              <a:t>最简单的</a:t>
            </a:r>
            <a:r>
              <a:rPr lang="en-US" altLang="zh-CN" sz="2400" dirty="0"/>
              <a:t>ANN</a:t>
            </a:r>
            <a:r>
              <a:rPr lang="zh-CN" altLang="en-US" sz="2400" dirty="0"/>
              <a:t>：感知器（单神经元）</a:t>
            </a:r>
            <a:endParaRPr lang="en-US" sz="2400" dirty="0"/>
          </a:p>
        </p:txBody>
      </p:sp>
    </p:spTree>
    <p:extLst>
      <p:ext uri="{BB962C8B-B14F-4D97-AF65-F5344CB8AC3E}">
        <p14:creationId xmlns:p14="http://schemas.microsoft.com/office/powerpoint/2010/main" val="1918874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CE334-D1B8-2746-B850-FA5C5F71DE08}"/>
              </a:ext>
            </a:extLst>
          </p:cNvPr>
          <p:cNvSpPr>
            <a:spLocks noGrp="1"/>
          </p:cNvSpPr>
          <p:nvPr>
            <p:ph type="title"/>
          </p:nvPr>
        </p:nvSpPr>
        <p:spPr>
          <a:xfrm>
            <a:off x="258542" y="210385"/>
            <a:ext cx="8610600" cy="533400"/>
          </a:xfrm>
        </p:spPr>
        <p:txBody>
          <a:bodyPr/>
          <a:lstStyle/>
          <a:p>
            <a:r>
              <a:rPr lang="zh-CN" altLang="en-US" dirty="0"/>
              <a:t>感知机（</a:t>
            </a:r>
            <a:r>
              <a:rPr lang="en-US" altLang="zh-CN" dirty="0"/>
              <a:t>perceptron</a:t>
            </a:r>
            <a:r>
              <a:rPr lang="zh-CN" altLang="en-US" dirty="0"/>
              <a:t>）的基本结构</a:t>
            </a:r>
            <a:r>
              <a:rPr lang="en-US" altLang="zh-CN" dirty="0"/>
              <a:t>-</a:t>
            </a:r>
            <a:r>
              <a:rPr lang="zh-CN" altLang="en-US" sz="2400" dirty="0"/>
              <a:t>单层神经网络</a:t>
            </a:r>
            <a:endParaRPr lang="en-US" sz="2400" dirty="0"/>
          </a:p>
        </p:txBody>
      </p:sp>
      <p:pic>
        <p:nvPicPr>
          <p:cNvPr id="4" name="Content Placeholder 3">
            <a:extLst>
              <a:ext uri="{FF2B5EF4-FFF2-40B4-BE49-F238E27FC236}">
                <a16:creationId xmlns:a16="http://schemas.microsoft.com/office/drawing/2014/main" id="{53C9C821-6192-C343-931C-0DDD2A09232D}"/>
              </a:ext>
            </a:extLst>
          </p:cNvPr>
          <p:cNvPicPr>
            <a:picLocks noGrp="1" noChangeAspect="1"/>
          </p:cNvPicPr>
          <p:nvPr>
            <p:ph idx="1"/>
          </p:nvPr>
        </p:nvPicPr>
        <p:blipFill>
          <a:blip r:embed="rId2"/>
          <a:stretch>
            <a:fillRect/>
          </a:stretch>
        </p:blipFill>
        <p:spPr>
          <a:xfrm>
            <a:off x="409575" y="1726828"/>
            <a:ext cx="3988056" cy="2304210"/>
          </a:xfrm>
          <a:prstGeom prst="rect">
            <a:avLst/>
          </a:prstGeom>
        </p:spPr>
      </p:pic>
      <p:pic>
        <p:nvPicPr>
          <p:cNvPr id="5" name="Picture 4">
            <a:extLst>
              <a:ext uri="{FF2B5EF4-FFF2-40B4-BE49-F238E27FC236}">
                <a16:creationId xmlns:a16="http://schemas.microsoft.com/office/drawing/2014/main" id="{626AFE33-FD87-F34C-AD3B-FBD233C62D5B}"/>
              </a:ext>
            </a:extLst>
          </p:cNvPr>
          <p:cNvPicPr>
            <a:picLocks noChangeAspect="1"/>
          </p:cNvPicPr>
          <p:nvPr/>
        </p:nvPicPr>
        <p:blipFill>
          <a:blip r:embed="rId3"/>
          <a:stretch>
            <a:fillRect/>
          </a:stretch>
        </p:blipFill>
        <p:spPr>
          <a:xfrm>
            <a:off x="5017134" y="1676400"/>
            <a:ext cx="3710940" cy="1002957"/>
          </a:xfrm>
          <a:prstGeom prst="rect">
            <a:avLst/>
          </a:prstGeom>
        </p:spPr>
      </p:pic>
      <p:sp>
        <p:nvSpPr>
          <p:cNvPr id="6" name="Rectangle 3">
            <a:extLst>
              <a:ext uri="{FF2B5EF4-FFF2-40B4-BE49-F238E27FC236}">
                <a16:creationId xmlns:a16="http://schemas.microsoft.com/office/drawing/2014/main" id="{C3B2BD08-5703-F04C-AC67-864E5B2620FB}"/>
              </a:ext>
            </a:extLst>
          </p:cNvPr>
          <p:cNvSpPr txBox="1">
            <a:spLocks noChangeArrowheads="1"/>
          </p:cNvSpPr>
          <p:nvPr/>
        </p:nvSpPr>
        <p:spPr bwMode="auto">
          <a:xfrm>
            <a:off x="258542" y="4935738"/>
            <a:ext cx="8278177" cy="1877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a:lstStyle>
          <a:p>
            <a:r>
              <a:rPr lang="zh-CN" altLang="en-US" sz="2400" b="0" kern="0" dirty="0"/>
              <a:t>学习线性的决策边界</a:t>
            </a:r>
            <a:endParaRPr lang="en-US" altLang="en-US" sz="2400" b="0" kern="0" dirty="0"/>
          </a:p>
          <a:p>
            <a:r>
              <a:rPr lang="zh-CN" altLang="en-US" sz="2400" b="0" kern="0" dirty="0"/>
              <a:t>激活函数变一下，类似于逻辑回归</a:t>
            </a:r>
            <a:endParaRPr lang="en-US" altLang="en-US" sz="2400" b="0" kern="0" dirty="0"/>
          </a:p>
          <a:p>
            <a:endParaRPr lang="en-US" altLang="en-US" sz="2400" b="0" kern="0" dirty="0"/>
          </a:p>
          <a:p>
            <a:endParaRPr lang="en-US" altLang="en-US" sz="2400" b="0" kern="0" dirty="0"/>
          </a:p>
        </p:txBody>
      </p:sp>
      <p:pic>
        <p:nvPicPr>
          <p:cNvPr id="7" name="Picture 6">
            <a:extLst>
              <a:ext uri="{FF2B5EF4-FFF2-40B4-BE49-F238E27FC236}">
                <a16:creationId xmlns:a16="http://schemas.microsoft.com/office/drawing/2014/main" id="{9E2E8AF8-FF95-7E43-A61E-BC675DF1CBB1}"/>
              </a:ext>
            </a:extLst>
          </p:cNvPr>
          <p:cNvPicPr>
            <a:picLocks noChangeAspect="1"/>
          </p:cNvPicPr>
          <p:nvPr/>
        </p:nvPicPr>
        <p:blipFill>
          <a:blip r:embed="rId4"/>
          <a:stretch>
            <a:fillRect/>
          </a:stretch>
        </p:blipFill>
        <p:spPr>
          <a:xfrm>
            <a:off x="5807709" y="3584057"/>
            <a:ext cx="1752600" cy="615778"/>
          </a:xfrm>
          <a:prstGeom prst="rect">
            <a:avLst/>
          </a:prstGeom>
        </p:spPr>
      </p:pic>
      <p:pic>
        <p:nvPicPr>
          <p:cNvPr id="10" name="Picture 9">
            <a:extLst>
              <a:ext uri="{FF2B5EF4-FFF2-40B4-BE49-F238E27FC236}">
                <a16:creationId xmlns:a16="http://schemas.microsoft.com/office/drawing/2014/main" id="{F1CC6BB7-E059-E540-9090-FDFC61528AE9}"/>
              </a:ext>
            </a:extLst>
          </p:cNvPr>
          <p:cNvPicPr>
            <a:picLocks noChangeAspect="1"/>
          </p:cNvPicPr>
          <p:nvPr/>
        </p:nvPicPr>
        <p:blipFill>
          <a:blip r:embed="rId5"/>
          <a:stretch>
            <a:fillRect/>
          </a:stretch>
        </p:blipFill>
        <p:spPr>
          <a:xfrm>
            <a:off x="5017134" y="3119506"/>
            <a:ext cx="1581150" cy="287482"/>
          </a:xfrm>
          <a:prstGeom prst="rect">
            <a:avLst/>
          </a:prstGeom>
        </p:spPr>
      </p:pic>
      <p:pic>
        <p:nvPicPr>
          <p:cNvPr id="11" name="Picture 10">
            <a:extLst>
              <a:ext uri="{FF2B5EF4-FFF2-40B4-BE49-F238E27FC236}">
                <a16:creationId xmlns:a16="http://schemas.microsoft.com/office/drawing/2014/main" id="{CF11DE85-1B48-1244-A458-B6A9D8E09E23}"/>
              </a:ext>
            </a:extLst>
          </p:cNvPr>
          <p:cNvPicPr>
            <a:picLocks noChangeAspect="1"/>
          </p:cNvPicPr>
          <p:nvPr/>
        </p:nvPicPr>
        <p:blipFill>
          <a:blip r:embed="rId6"/>
          <a:stretch>
            <a:fillRect/>
          </a:stretch>
        </p:blipFill>
        <p:spPr>
          <a:xfrm>
            <a:off x="7144571" y="3062857"/>
            <a:ext cx="1418404" cy="440194"/>
          </a:xfrm>
          <a:prstGeom prst="rect">
            <a:avLst/>
          </a:prstGeom>
        </p:spPr>
      </p:pic>
      <p:sp>
        <p:nvSpPr>
          <p:cNvPr id="12" name="TextBox 11">
            <a:extLst>
              <a:ext uri="{FF2B5EF4-FFF2-40B4-BE49-F238E27FC236}">
                <a16:creationId xmlns:a16="http://schemas.microsoft.com/office/drawing/2014/main" id="{96A15FCC-2181-114A-9AFA-B26560915521}"/>
              </a:ext>
            </a:extLst>
          </p:cNvPr>
          <p:cNvSpPr txBox="1"/>
          <p:nvPr/>
        </p:nvSpPr>
        <p:spPr>
          <a:xfrm>
            <a:off x="5514657" y="4434457"/>
            <a:ext cx="2133918" cy="369332"/>
          </a:xfrm>
          <a:prstGeom prst="rect">
            <a:avLst/>
          </a:prstGeom>
          <a:solidFill>
            <a:schemeClr val="accent5"/>
          </a:solidFill>
        </p:spPr>
        <p:txBody>
          <a:bodyPr wrap="none" rtlCol="0">
            <a:spAutoFit/>
          </a:bodyPr>
          <a:lstStyle/>
          <a:p>
            <a:r>
              <a:rPr lang="en-US" sz="1800" b="0" dirty="0"/>
              <a:t>Activation Function</a:t>
            </a:r>
          </a:p>
        </p:txBody>
      </p:sp>
      <p:cxnSp>
        <p:nvCxnSpPr>
          <p:cNvPr id="14" name="Straight Arrow Connector 13">
            <a:extLst>
              <a:ext uri="{FF2B5EF4-FFF2-40B4-BE49-F238E27FC236}">
                <a16:creationId xmlns:a16="http://schemas.microsoft.com/office/drawing/2014/main" id="{46F75B0E-AD0B-E64F-B366-055A7B8533F9}"/>
              </a:ext>
            </a:extLst>
          </p:cNvPr>
          <p:cNvCxnSpPr>
            <a:cxnSpLocks/>
          </p:cNvCxnSpPr>
          <p:nvPr/>
        </p:nvCxnSpPr>
        <p:spPr bwMode="auto">
          <a:xfrm flipV="1">
            <a:off x="6581616" y="4031038"/>
            <a:ext cx="0" cy="403419"/>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016253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zh-CN" altLang="en-US" dirty="0"/>
              <a:t>感知机举例</a:t>
            </a:r>
            <a:endParaRPr lang="en-US" altLang="en-US" dirty="0"/>
          </a:p>
        </p:txBody>
      </p:sp>
      <p:graphicFrame>
        <p:nvGraphicFramePr>
          <p:cNvPr id="3075" name="Object 2"/>
          <p:cNvGraphicFramePr>
            <a:graphicFrameLocks noGrp="1" noChangeAspect="1"/>
          </p:cNvGraphicFramePr>
          <p:nvPr>
            <p:ph idx="1"/>
          </p:nvPr>
        </p:nvGraphicFramePr>
        <p:xfrm>
          <a:off x="533400" y="1219200"/>
          <a:ext cx="8078788" cy="3503613"/>
        </p:xfrm>
        <a:graphic>
          <a:graphicData uri="http://schemas.openxmlformats.org/presentationml/2006/ole">
            <mc:AlternateContent xmlns:mc="http://schemas.openxmlformats.org/markup-compatibility/2006">
              <mc:Choice xmlns:v="urn:schemas-microsoft-com:vml" Requires="v">
                <p:oleObj spid="_x0000_s3179" name="Visio" r:id="rId3" imgW="8939428" imgH="3877354" progId="Visio.Drawing.6">
                  <p:embed/>
                </p:oleObj>
              </mc:Choice>
              <mc:Fallback>
                <p:oleObj name="Visio" r:id="rId3" imgW="8939428" imgH="3877354" progId="Visio.Drawing.6">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1219200"/>
                        <a:ext cx="8078788" cy="350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6" name="Text Box 4"/>
          <p:cNvSpPr txBox="1">
            <a:spLocks noChangeArrowheads="1"/>
          </p:cNvSpPr>
          <p:nvPr/>
        </p:nvSpPr>
        <p:spPr bwMode="auto">
          <a:xfrm>
            <a:off x="1143000" y="5334000"/>
            <a:ext cx="6705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zh-CN" altLang="en-US" sz="1800" b="0" dirty="0"/>
              <a:t>输入至少两个为</a:t>
            </a:r>
            <a:r>
              <a:rPr lang="en-US" altLang="zh-CN" sz="1800" b="0" dirty="0"/>
              <a:t>1</a:t>
            </a:r>
            <a:r>
              <a:rPr lang="zh-CN" altLang="en-US" sz="1800" b="0" dirty="0"/>
              <a:t>，输出才为</a:t>
            </a:r>
            <a:r>
              <a:rPr lang="en-US" altLang="zh-CN" sz="1800" b="0" dirty="0"/>
              <a:t>1</a:t>
            </a:r>
            <a:r>
              <a:rPr lang="zh-CN" altLang="en-US" sz="1800" b="0" dirty="0"/>
              <a:t>！</a:t>
            </a:r>
            <a:endParaRPr lang="en-US" altLang="en-US" sz="1800" b="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zh-CN" altLang="en-US" dirty="0"/>
              <a:t>感知器举例</a:t>
            </a:r>
            <a:endParaRPr lang="en-US" altLang="en-US" dirty="0"/>
          </a:p>
        </p:txBody>
      </p:sp>
      <p:graphicFrame>
        <p:nvGraphicFramePr>
          <p:cNvPr id="4099" name="Object 2"/>
          <p:cNvGraphicFramePr>
            <a:graphicFrameLocks noGrp="1" noChangeAspect="1"/>
          </p:cNvGraphicFramePr>
          <p:nvPr>
            <p:ph idx="1"/>
          </p:nvPr>
        </p:nvGraphicFramePr>
        <p:xfrm>
          <a:off x="530225" y="1144588"/>
          <a:ext cx="8078788" cy="3503612"/>
        </p:xfrm>
        <a:graphic>
          <a:graphicData uri="http://schemas.openxmlformats.org/presentationml/2006/ole">
            <mc:AlternateContent xmlns:mc="http://schemas.openxmlformats.org/markup-compatibility/2006">
              <mc:Choice xmlns:v="urn:schemas-microsoft-com:vml" Requires="v">
                <p:oleObj spid="_x0000_s4298" name="Visio" r:id="rId3" imgW="8939428" imgH="3877354" progId="Visio.Drawing.6">
                  <p:embed/>
                </p:oleObj>
              </mc:Choice>
              <mc:Fallback>
                <p:oleObj name="Visio" r:id="rId3" imgW="8939428" imgH="3877354" progId="Visio.Drawing.6">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225" y="1144588"/>
                        <a:ext cx="8078788" cy="3503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00" name="Object 3"/>
          <p:cNvGraphicFramePr>
            <a:graphicFrameLocks noChangeAspect="1"/>
          </p:cNvGraphicFramePr>
          <p:nvPr/>
        </p:nvGraphicFramePr>
        <p:xfrm>
          <a:off x="1931988" y="4953000"/>
          <a:ext cx="5346700" cy="1412875"/>
        </p:xfrm>
        <a:graphic>
          <a:graphicData uri="http://schemas.openxmlformats.org/presentationml/2006/ole">
            <mc:AlternateContent xmlns:mc="http://schemas.openxmlformats.org/markup-compatibility/2006">
              <mc:Choice xmlns:v="urn:schemas-microsoft-com:vml" Requires="v">
                <p:oleObj spid="_x0000_s4299" name="Equation" r:id="rId5" imgW="2362200" imgH="711200" progId="Equation.3">
                  <p:embed/>
                </p:oleObj>
              </mc:Choice>
              <mc:Fallback>
                <p:oleObj name="Equation" r:id="rId5" imgW="2362200" imgH="711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1988" y="4953000"/>
                        <a:ext cx="5346700" cy="1412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dirty="0"/>
              <a:t>感知器学习规则</a:t>
            </a:r>
            <a:endParaRPr lang="en-US" altLang="en-US" dirty="0"/>
          </a:p>
        </p:txBody>
      </p:sp>
      <mc:AlternateContent xmlns:mc="http://schemas.openxmlformats.org/markup-compatibility/2006" xmlns:a14="http://schemas.microsoft.com/office/drawing/2010/main">
        <mc:Choice Requires="a14">
          <p:sp>
            <p:nvSpPr>
              <p:cNvPr id="9219" name="Rectangle 3"/>
              <p:cNvSpPr>
                <a:spLocks noGrp="1" noChangeArrowheads="1"/>
              </p:cNvSpPr>
              <p:nvPr>
                <p:ph type="body" idx="1"/>
              </p:nvPr>
            </p:nvSpPr>
            <p:spPr/>
            <p:txBody>
              <a:bodyPr/>
              <a:lstStyle/>
              <a:p>
                <a:r>
                  <a:rPr lang="zh-CN" altLang="en-US" dirty="0"/>
                  <a:t>随机初始化权重</a:t>
                </a:r>
                <a:r>
                  <a:rPr lang="en-US" altLang="en-US" dirty="0"/>
                  <a:t>(w</a:t>
                </a:r>
                <a:r>
                  <a:rPr lang="en-US" altLang="en-US" baseline="-25000" dirty="0"/>
                  <a:t>0</a:t>
                </a:r>
                <a:r>
                  <a:rPr lang="en-US" altLang="en-US" dirty="0"/>
                  <a:t>, w</a:t>
                </a:r>
                <a:r>
                  <a:rPr lang="en-US" altLang="en-US" baseline="-25000" dirty="0"/>
                  <a:t>1</a:t>
                </a:r>
                <a:r>
                  <a:rPr lang="en-US" altLang="en-US" dirty="0"/>
                  <a:t>, …, </a:t>
                </a:r>
                <a:r>
                  <a:rPr lang="en-US" altLang="en-US" dirty="0" err="1"/>
                  <a:t>w</a:t>
                </a:r>
                <a:r>
                  <a:rPr lang="en-US" altLang="en-US" baseline="-25000" dirty="0" err="1"/>
                  <a:t>d</a:t>
                </a:r>
                <a:r>
                  <a:rPr lang="en-US" altLang="en-US" dirty="0"/>
                  <a:t>)</a:t>
                </a:r>
              </a:p>
              <a:p>
                <a:r>
                  <a:rPr lang="zh-CN" altLang="en-US" dirty="0"/>
                  <a:t>迭代</a:t>
                </a:r>
                <a:endParaRPr lang="en-US" altLang="en-US" dirty="0"/>
              </a:p>
              <a:p>
                <a:pPr lvl="1"/>
                <a:r>
                  <a:rPr lang="zh-CN" altLang="en-US" dirty="0"/>
                  <a:t>对于每一个训练样本</a:t>
                </a:r>
                <a:r>
                  <a:rPr lang="en-US" altLang="en-US" dirty="0"/>
                  <a:t>(x</a:t>
                </a:r>
                <a:r>
                  <a:rPr lang="en-US" altLang="en-US" baseline="-25000" dirty="0"/>
                  <a:t>i</a:t>
                </a:r>
                <a:r>
                  <a:rPr lang="en-US" altLang="en-US" dirty="0"/>
                  <a:t>, </a:t>
                </a:r>
                <a:r>
                  <a:rPr lang="en-US" altLang="en-US" dirty="0" err="1"/>
                  <a:t>y</a:t>
                </a:r>
                <a:r>
                  <a:rPr lang="en-US" altLang="en-US" baseline="-25000" dirty="0" err="1"/>
                  <a:t>i</a:t>
                </a:r>
                <a:r>
                  <a:rPr lang="en-US" altLang="en-US" dirty="0"/>
                  <a:t>)</a:t>
                </a:r>
              </a:p>
              <a:p>
                <a:pPr lvl="2"/>
                <a:r>
                  <a:rPr lang="en-US" altLang="en-US" dirty="0"/>
                  <a:t> </a:t>
                </a:r>
                <a:r>
                  <a:rPr lang="zh-CN" altLang="en-US" dirty="0"/>
                  <a:t>计算网络输出</a:t>
                </a:r>
                <a:r>
                  <a:rPr lang="en-US" altLang="en-US" dirty="0"/>
                  <a:t> </a:t>
                </a:r>
                <a14:m>
                  <m:oMath xmlns:m="http://schemas.openxmlformats.org/officeDocument/2006/math">
                    <m:acc>
                      <m:accPr>
                        <m:chr m:val="̂"/>
                        <m:ctrlPr>
                          <a:rPr lang="en-US" altLang="en-US" sz="2800" b="0" i="1" smtClean="0">
                            <a:latin typeface="Cambria Math" panose="02040503050406030204" pitchFamily="18" charset="0"/>
                          </a:rPr>
                        </m:ctrlPr>
                      </m:accPr>
                      <m:e>
                        <m:sSub>
                          <m:sSubPr>
                            <m:ctrlPr>
                              <a:rPr lang="en-US" altLang="en-US" sz="2800" b="0" i="1" smtClean="0">
                                <a:latin typeface="Cambria Math" panose="02040503050406030204" pitchFamily="18" charset="0"/>
                              </a:rPr>
                            </m:ctrlPr>
                          </m:sSubPr>
                          <m:e>
                            <m:r>
                              <a:rPr lang="en-US" altLang="en-US" sz="2800" b="0" i="1" smtClean="0">
                                <a:latin typeface="Cambria Math" panose="02040503050406030204" pitchFamily="18" charset="0"/>
                              </a:rPr>
                              <m:t>𝑦</m:t>
                            </m:r>
                          </m:e>
                          <m:sub>
                            <m:r>
                              <a:rPr lang="en-US" altLang="en-US" sz="2800" b="0" i="1" smtClean="0">
                                <a:latin typeface="Cambria Math" panose="02040503050406030204" pitchFamily="18" charset="0"/>
                              </a:rPr>
                              <m:t>𝑖</m:t>
                            </m:r>
                          </m:sub>
                        </m:sSub>
                      </m:e>
                    </m:acc>
                  </m:oMath>
                </a14:m>
                <a:endParaRPr lang="en-US" altLang="en-US" dirty="0"/>
              </a:p>
              <a:p>
                <a:pPr lvl="2"/>
                <a:r>
                  <a:rPr lang="en-US" altLang="en-US" dirty="0"/>
                  <a:t> </a:t>
                </a:r>
                <a:r>
                  <a:rPr lang="zh-CN" altLang="en-US" dirty="0"/>
                  <a:t>更新权重</a:t>
                </a:r>
                <a:r>
                  <a:rPr lang="en-US" altLang="en-US" dirty="0"/>
                  <a:t>: </a:t>
                </a:r>
              </a:p>
              <a:p>
                <a:pPr lvl="2"/>
                <a:endParaRPr lang="en-US" altLang="en-US" dirty="0"/>
              </a:p>
              <a:p>
                <a:pPr lvl="2"/>
                <a:endParaRPr lang="en-US" altLang="en-US" dirty="0"/>
              </a:p>
              <a:p>
                <a:r>
                  <a:rPr lang="zh-CN" altLang="en-US" dirty="0"/>
                  <a:t>直到满足终止条件</a:t>
                </a:r>
                <a:endParaRPr lang="en-US" altLang="en-US" dirty="0"/>
              </a:p>
              <a:p>
                <a:endParaRPr lang="en-US" altLang="en-US" sz="1000" dirty="0"/>
              </a:p>
              <a:p>
                <a:r>
                  <a:rPr lang="en-US" altLang="en-US" sz="2400" dirty="0"/>
                  <a:t>k: </a:t>
                </a:r>
                <a:r>
                  <a:rPr lang="zh-CN" altLang="en-US" sz="2400" dirty="0"/>
                  <a:t>迭代次数</a:t>
                </a:r>
                <a:r>
                  <a:rPr lang="en-US" altLang="en-US" sz="2400" dirty="0"/>
                  <a:t>;	</a:t>
                </a:r>
                <a14:m>
                  <m:oMath xmlns:m="http://schemas.openxmlformats.org/officeDocument/2006/math">
                    <m:r>
                      <a:rPr lang="en-US" altLang="en-US" sz="2400" b="0" i="1" smtClean="0">
                        <a:latin typeface="Cambria Math" panose="02040503050406030204" pitchFamily="18" charset="0"/>
                      </a:rPr>
                      <m:t>𝜆</m:t>
                    </m:r>
                    <m:r>
                      <a:rPr lang="en-US" altLang="en-US" sz="2400" b="0" i="1" smtClean="0">
                        <a:latin typeface="Cambria Math" panose="02040503050406030204" pitchFamily="18" charset="0"/>
                      </a:rPr>
                      <m:t>:</m:t>
                    </m:r>
                  </m:oMath>
                </a14:m>
                <a:r>
                  <a:rPr lang="en-US" altLang="en-US" sz="2400" dirty="0"/>
                  <a:t> </a:t>
                </a:r>
                <a:r>
                  <a:rPr lang="zh-CN" altLang="en-US" sz="2400" dirty="0"/>
                  <a:t>学习率</a:t>
                </a:r>
                <a:r>
                  <a:rPr lang="en-US" altLang="en-US" sz="2400" dirty="0"/>
                  <a:t> </a:t>
                </a:r>
              </a:p>
            </p:txBody>
          </p:sp>
        </mc:Choice>
        <mc:Fallback xmlns="">
          <p:sp>
            <p:nvSpPr>
              <p:cNvPr id="9219" name="Rectangle 3"/>
              <p:cNvSpPr>
                <a:spLocks noGrp="1" noRot="1" noChangeAspect="1" noMove="1" noResize="1" noEditPoints="1" noAdjustHandles="1" noChangeArrowheads="1" noChangeShapeType="1" noTextEdit="1"/>
              </p:cNvSpPr>
              <p:nvPr>
                <p:ph type="body" idx="1"/>
              </p:nvPr>
            </p:nvSpPr>
            <p:spPr>
              <a:blipFill>
                <a:blip r:embed="rId2"/>
                <a:stretch>
                  <a:fillRect l="-733" t="-1412"/>
                </a:stretch>
              </a:blipFill>
            </p:spPr>
            <p:txBody>
              <a:bodyPr/>
              <a:lstStyle/>
              <a:p>
                <a:r>
                  <a:rPr lang="zh-CN" altLang="en-US">
                    <a:noFill/>
                  </a:rPr>
                  <a:t> </a:t>
                </a:r>
              </a:p>
            </p:txBody>
          </p:sp>
        </mc:Fallback>
      </mc:AlternateContent>
      <p:pic>
        <p:nvPicPr>
          <p:cNvPr id="2" name="Picture 1">
            <a:extLst>
              <a:ext uri="{FF2B5EF4-FFF2-40B4-BE49-F238E27FC236}">
                <a16:creationId xmlns:a16="http://schemas.microsoft.com/office/drawing/2014/main" id="{A70261F3-0B6E-1B4D-A01F-35002A75A4FC}"/>
              </a:ext>
            </a:extLst>
          </p:cNvPr>
          <p:cNvPicPr>
            <a:picLocks noChangeAspect="1"/>
          </p:cNvPicPr>
          <p:nvPr/>
        </p:nvPicPr>
        <p:blipFill>
          <a:blip r:embed="rId3"/>
          <a:stretch>
            <a:fillRect/>
          </a:stretch>
        </p:blipFill>
        <p:spPr>
          <a:xfrm>
            <a:off x="2286000" y="3657600"/>
            <a:ext cx="5357810" cy="1143000"/>
          </a:xfrm>
          <a:prstGeom prst="rect">
            <a:avLst/>
          </a:prstGeom>
        </p:spPr>
      </p:pic>
    </p:spTree>
    <p:extLst>
      <p:ext uri="{BB962C8B-B14F-4D97-AF65-F5344CB8AC3E}">
        <p14:creationId xmlns:p14="http://schemas.microsoft.com/office/powerpoint/2010/main" val="695526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zh-CN" altLang="en-US" dirty="0"/>
              <a:t>感知器学习规则</a:t>
            </a:r>
            <a:endParaRPr lang="en-US" altLang="en-US" dirty="0"/>
          </a:p>
        </p:txBody>
      </p:sp>
      <mc:AlternateContent xmlns:mc="http://schemas.openxmlformats.org/markup-compatibility/2006" xmlns:a14="http://schemas.microsoft.com/office/drawing/2010/main">
        <mc:Choice Requires="a14">
          <p:sp>
            <p:nvSpPr>
              <p:cNvPr id="10243" name="Rectangle 3"/>
              <p:cNvSpPr>
                <a:spLocks noGrp="1" noChangeArrowheads="1"/>
              </p:cNvSpPr>
              <p:nvPr>
                <p:ph type="body" idx="1"/>
              </p:nvPr>
            </p:nvSpPr>
            <p:spPr>
              <a:xfrm>
                <a:off x="411163" y="1143000"/>
                <a:ext cx="8318500" cy="5181600"/>
              </a:xfrm>
            </p:spPr>
            <p:txBody>
              <a:bodyPr/>
              <a:lstStyle/>
              <a:p>
                <a:r>
                  <a:rPr lang="zh-CN" altLang="en-US" dirty="0"/>
                  <a:t>权重更新方法</a:t>
                </a:r>
                <a:r>
                  <a:rPr lang="en-US" altLang="en-US" dirty="0"/>
                  <a:t>:</a:t>
                </a:r>
              </a:p>
              <a:p>
                <a:endParaRPr lang="en-US" altLang="en-US" dirty="0"/>
              </a:p>
              <a:p>
                <a:endParaRPr lang="en-US" altLang="en-US" dirty="0"/>
              </a:p>
              <a:p>
                <a:r>
                  <a:rPr lang="zh-CN" altLang="en-US" dirty="0"/>
                  <a:t>解释</a:t>
                </a:r>
                <a:r>
                  <a:rPr lang="en-US" altLang="en-US" dirty="0"/>
                  <a:t>:</a:t>
                </a:r>
              </a:p>
              <a:p>
                <a:pPr lvl="1"/>
                <a:r>
                  <a:rPr lang="zh-CN" altLang="en-US" dirty="0"/>
                  <a:t>基于误差更新权重</a:t>
                </a:r>
                <a:r>
                  <a:rPr lang="en-US" altLang="en-US" dirty="0"/>
                  <a:t>: e =  </a:t>
                </a:r>
              </a:p>
              <a:p>
                <a:pPr lvl="1"/>
                <a:r>
                  <a:rPr lang="en-US" altLang="en-US" dirty="0"/>
                  <a:t>If y = </a:t>
                </a:r>
                <a14:m>
                  <m:oMath xmlns:m="http://schemas.openxmlformats.org/officeDocument/2006/math">
                    <m:acc>
                      <m:accPr>
                        <m:chr m:val="̂"/>
                        <m:ctrlPr>
                          <a:rPr lang="en-US" altLang="en-US" b="0" i="1" dirty="0" smtClean="0">
                            <a:latin typeface="Cambria Math" panose="02040503050406030204" pitchFamily="18" charset="0"/>
                          </a:rPr>
                        </m:ctrlPr>
                      </m:accPr>
                      <m:e>
                        <m:r>
                          <a:rPr lang="en-US" altLang="en-US" b="0" i="1" dirty="0" smtClean="0">
                            <a:latin typeface="Cambria Math" panose="02040503050406030204" pitchFamily="18" charset="0"/>
                          </a:rPr>
                          <m:t>𝑦</m:t>
                        </m:r>
                      </m:e>
                    </m:acc>
                  </m:oMath>
                </a14:m>
                <a:r>
                  <a:rPr lang="en-US" altLang="en-US" dirty="0"/>
                  <a:t>, e=0: </a:t>
                </a:r>
                <a:r>
                  <a:rPr lang="zh-CN" altLang="en-US" dirty="0"/>
                  <a:t>无需更新</a:t>
                </a:r>
                <a:endParaRPr lang="en-US" altLang="en-US" dirty="0"/>
              </a:p>
              <a:p>
                <a:pPr lvl="1"/>
                <a:r>
                  <a:rPr lang="en-US" altLang="en-US" dirty="0"/>
                  <a:t>If y &gt; </a:t>
                </a:r>
                <a14:m>
                  <m:oMath xmlns:m="http://schemas.openxmlformats.org/officeDocument/2006/math">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𝑦</m:t>
                        </m:r>
                      </m:e>
                    </m:acc>
                  </m:oMath>
                </a14:m>
                <a:r>
                  <a:rPr lang="en-US" altLang="en-US" dirty="0"/>
                  <a:t>, e=2: </a:t>
                </a:r>
                <a:r>
                  <a:rPr lang="zh-CN" altLang="en-US" dirty="0"/>
                  <a:t>必须增加权重，使得</a:t>
                </a:r>
                <a:r>
                  <a:rPr lang="en-US" altLang="en-US" dirty="0"/>
                  <a:t> </a:t>
                </a:r>
                <a14:m>
                  <m:oMath xmlns:m="http://schemas.openxmlformats.org/officeDocument/2006/math">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𝑦</m:t>
                        </m:r>
                      </m:e>
                    </m:acc>
                  </m:oMath>
                </a14:m>
                <a:r>
                  <a:rPr lang="en-US" altLang="en-US" dirty="0"/>
                  <a:t> </a:t>
                </a:r>
                <a:r>
                  <a:rPr lang="zh-CN" altLang="en-US" dirty="0"/>
                  <a:t>增加</a:t>
                </a:r>
                <a:endParaRPr lang="en-US" altLang="en-US" dirty="0"/>
              </a:p>
              <a:p>
                <a:pPr lvl="1"/>
                <a:r>
                  <a:rPr lang="en-US" altLang="en-US" dirty="0"/>
                  <a:t>If y &lt; </a:t>
                </a:r>
                <a14:m>
                  <m:oMath xmlns:m="http://schemas.openxmlformats.org/officeDocument/2006/math">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𝑦</m:t>
                        </m:r>
                      </m:e>
                    </m:acc>
                  </m:oMath>
                </a14:m>
                <a:r>
                  <a:rPr lang="en-US" altLang="en-US" dirty="0"/>
                  <a:t>, e=-2: </a:t>
                </a:r>
                <a:r>
                  <a:rPr lang="zh-CN" altLang="en-US" dirty="0"/>
                  <a:t>必须减少权重，使得</a:t>
                </a:r>
                <a:r>
                  <a:rPr lang="en-US" altLang="en-US" dirty="0"/>
                  <a:t> </a:t>
                </a:r>
                <a14:m>
                  <m:oMath xmlns:m="http://schemas.openxmlformats.org/officeDocument/2006/math">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𝑦</m:t>
                        </m:r>
                      </m:e>
                    </m:acc>
                  </m:oMath>
                </a14:m>
                <a:r>
                  <a:rPr lang="en-US" altLang="en-US" dirty="0"/>
                  <a:t> </a:t>
                </a:r>
                <a:r>
                  <a:rPr lang="zh-CN" altLang="en-US" dirty="0"/>
                  <a:t>减少</a:t>
                </a:r>
                <a:endParaRPr lang="en-US" altLang="en-US" dirty="0"/>
              </a:p>
            </p:txBody>
          </p:sp>
        </mc:Choice>
        <mc:Fallback xmlns="">
          <p:sp>
            <p:nvSpPr>
              <p:cNvPr id="10243" name="Rectangle 3"/>
              <p:cNvSpPr>
                <a:spLocks noGrp="1" noRot="1" noChangeAspect="1" noMove="1" noResize="1" noEditPoints="1" noAdjustHandles="1" noChangeArrowheads="1" noChangeShapeType="1" noTextEdit="1"/>
              </p:cNvSpPr>
              <p:nvPr>
                <p:ph type="body" idx="1"/>
              </p:nvPr>
            </p:nvSpPr>
            <p:spPr>
              <a:xfrm>
                <a:off x="411163" y="1143000"/>
                <a:ext cx="8318500" cy="5181600"/>
              </a:xfrm>
              <a:blipFill>
                <a:blip r:embed="rId2"/>
                <a:stretch>
                  <a:fillRect l="-1026" t="-1412"/>
                </a:stretch>
              </a:blipFill>
            </p:spPr>
            <p:txBody>
              <a:bodyPr/>
              <a:lstStyle/>
              <a:p>
                <a:r>
                  <a:rPr lang="zh-CN" altLang="en-US">
                    <a:noFill/>
                  </a:rPr>
                  <a:t> </a:t>
                </a:r>
              </a:p>
            </p:txBody>
          </p:sp>
        </mc:Fallback>
      </mc:AlternateContent>
      <p:pic>
        <p:nvPicPr>
          <p:cNvPr id="6" name="Picture 5">
            <a:extLst>
              <a:ext uri="{FF2B5EF4-FFF2-40B4-BE49-F238E27FC236}">
                <a16:creationId xmlns:a16="http://schemas.microsoft.com/office/drawing/2014/main" id="{C1B95393-1E2B-FC48-808D-D4FEBC4343DE}"/>
              </a:ext>
            </a:extLst>
          </p:cNvPr>
          <p:cNvPicPr>
            <a:picLocks noChangeAspect="1"/>
          </p:cNvPicPr>
          <p:nvPr/>
        </p:nvPicPr>
        <p:blipFill>
          <a:blip r:embed="rId3"/>
          <a:stretch>
            <a:fillRect/>
          </a:stretch>
        </p:blipFill>
        <p:spPr>
          <a:xfrm>
            <a:off x="2147890" y="1625600"/>
            <a:ext cx="5357810" cy="1143000"/>
          </a:xfrm>
          <a:prstGeom prst="rect">
            <a:avLst/>
          </a:prstGeom>
        </p:spPr>
      </p:pic>
      <p:pic>
        <p:nvPicPr>
          <p:cNvPr id="2" name="Picture 1">
            <a:extLst>
              <a:ext uri="{FF2B5EF4-FFF2-40B4-BE49-F238E27FC236}">
                <a16:creationId xmlns:a16="http://schemas.microsoft.com/office/drawing/2014/main" id="{AC38AD4D-7559-064D-BA09-F56B310B1E41}"/>
              </a:ext>
            </a:extLst>
          </p:cNvPr>
          <p:cNvPicPr>
            <a:picLocks noChangeAspect="1"/>
          </p:cNvPicPr>
          <p:nvPr/>
        </p:nvPicPr>
        <p:blipFill>
          <a:blip r:embed="rId4"/>
          <a:stretch>
            <a:fillRect/>
          </a:stretch>
        </p:blipFill>
        <p:spPr>
          <a:xfrm>
            <a:off x="4876800" y="3231535"/>
            <a:ext cx="1327150" cy="558800"/>
          </a:xfrm>
          <a:prstGeom prst="rect">
            <a:avLst/>
          </a:prstGeom>
        </p:spPr>
      </p:pic>
    </p:spTree>
    <p:extLst>
      <p:ext uri="{BB962C8B-B14F-4D97-AF65-F5344CB8AC3E}">
        <p14:creationId xmlns:p14="http://schemas.microsoft.com/office/powerpoint/2010/main" val="1148176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sz="quarter"/>
          </p:nvPr>
        </p:nvSpPr>
        <p:spPr/>
        <p:txBody>
          <a:bodyPr/>
          <a:lstStyle/>
          <a:p>
            <a:r>
              <a:rPr lang="zh-CN" altLang="en-US" dirty="0"/>
              <a:t>感知器学习：举例</a:t>
            </a:r>
            <a:endParaRPr lang="en-US" altLang="en-US" dirty="0"/>
          </a:p>
        </p:txBody>
      </p:sp>
      <p:graphicFrame>
        <p:nvGraphicFramePr>
          <p:cNvPr id="11267" name="Object 2"/>
          <p:cNvGraphicFramePr>
            <a:graphicFrameLocks noGrp="1" noChangeAspect="1"/>
          </p:cNvGraphicFramePr>
          <p:nvPr>
            <p:ph sz="quarter" idx="1"/>
            <p:extLst>
              <p:ext uri="{D42A27DB-BD31-4B8C-83A1-F6EECF244321}">
                <p14:modId xmlns:p14="http://schemas.microsoft.com/office/powerpoint/2010/main" val="3936377030"/>
              </p:ext>
            </p:extLst>
          </p:nvPr>
        </p:nvGraphicFramePr>
        <p:xfrm>
          <a:off x="583803" y="1752600"/>
          <a:ext cx="1819275" cy="2667000"/>
        </p:xfrm>
        <a:graphic>
          <a:graphicData uri="http://schemas.openxmlformats.org/presentationml/2006/ole">
            <mc:AlternateContent xmlns:mc="http://schemas.openxmlformats.org/markup-compatibility/2006">
              <mc:Choice xmlns:v="urn:schemas-microsoft-com:vml" Requires="v">
                <p:oleObj spid="_x0000_s22807" name="Worksheet" r:id="rId3" imgW="2445859" imgH="2979548" progId="Excel.Sheet.8">
                  <p:embed/>
                </p:oleObj>
              </mc:Choice>
              <mc:Fallback>
                <p:oleObj name="Worksheet" r:id="rId3" imgW="2445859" imgH="2979548" progId="Excel.Sheet.8">
                  <p:embed/>
                  <p:pic>
                    <p:nvPicPr>
                      <p:cNvPr id="11267"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803" y="1752600"/>
                        <a:ext cx="1819275"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graphicFrame>
        <p:nvGraphicFramePr>
          <p:cNvPr id="11270" name="Object 5"/>
          <p:cNvGraphicFramePr>
            <a:graphicFrameLocks noGrp="1" noChangeAspect="1"/>
          </p:cNvGraphicFramePr>
          <p:nvPr>
            <p:ph sz="quarter" idx="4"/>
            <p:extLst>
              <p:ext uri="{D42A27DB-BD31-4B8C-83A1-F6EECF244321}">
                <p14:modId xmlns:p14="http://schemas.microsoft.com/office/powerpoint/2010/main" val="4082884346"/>
              </p:ext>
            </p:extLst>
          </p:nvPr>
        </p:nvGraphicFramePr>
        <p:xfrm>
          <a:off x="6172200" y="1752600"/>
          <a:ext cx="2760902" cy="2362200"/>
        </p:xfrm>
        <a:graphic>
          <a:graphicData uri="http://schemas.openxmlformats.org/presentationml/2006/ole">
            <mc:AlternateContent xmlns:mc="http://schemas.openxmlformats.org/markup-compatibility/2006">
              <mc:Choice xmlns:v="urn:schemas-microsoft-com:vml" Requires="v">
                <p:oleObj spid="_x0000_s22808" name="Worksheet" r:id="rId5" imgW="3169848" imgH="2712744" progId="Excel.Sheet.8">
                  <p:embed/>
                </p:oleObj>
              </mc:Choice>
              <mc:Fallback>
                <p:oleObj name="Worksheet" r:id="rId5" imgW="3169848" imgH="2712744" progId="Excel.Sheet.8">
                  <p:embed/>
                  <p:pic>
                    <p:nvPicPr>
                      <p:cNvPr id="11270" name="Object 5"/>
                      <p:cNvPicPr>
                        <a:picLocks noChangeAspect="1" noChangeArrowheads="1"/>
                      </p:cNvPicPr>
                      <p:nvPr/>
                    </p:nvPicPr>
                    <p:blipFill>
                      <a:blip r:embed="rId6"/>
                      <a:srcRect/>
                      <a:stretch>
                        <a:fillRect/>
                      </a:stretch>
                    </p:blipFill>
                    <p:spPr bwMode="auto">
                      <a:xfrm>
                        <a:off x="6172200" y="1752600"/>
                        <a:ext cx="2760902" cy="2362200"/>
                      </a:xfrm>
                      <a:prstGeom prst="rect">
                        <a:avLst/>
                      </a:prstGeom>
                      <a:noFill/>
                      <a:ln>
                        <a:noFill/>
                      </a:ln>
                    </p:spPr>
                  </p:pic>
                </p:oleObj>
              </mc:Fallback>
            </mc:AlternateContent>
          </a:graphicData>
        </a:graphic>
      </p:graphicFrame>
      <p:graphicFrame>
        <p:nvGraphicFramePr>
          <p:cNvPr id="11271" name="Object 6"/>
          <p:cNvGraphicFramePr>
            <a:graphicFrameLocks noChangeAspect="1"/>
          </p:cNvGraphicFramePr>
          <p:nvPr>
            <p:extLst>
              <p:ext uri="{D42A27DB-BD31-4B8C-83A1-F6EECF244321}">
                <p14:modId xmlns:p14="http://schemas.microsoft.com/office/powerpoint/2010/main" val="2448005996"/>
              </p:ext>
            </p:extLst>
          </p:nvPr>
        </p:nvGraphicFramePr>
        <p:xfrm>
          <a:off x="3581400" y="1295400"/>
          <a:ext cx="908050" cy="342900"/>
        </p:xfrm>
        <a:graphic>
          <a:graphicData uri="http://schemas.openxmlformats.org/presentationml/2006/ole">
            <mc:AlternateContent xmlns:mc="http://schemas.openxmlformats.org/markup-compatibility/2006">
              <mc:Choice xmlns:v="urn:schemas-microsoft-com:vml" Requires="v">
                <p:oleObj spid="_x0000_s22809" name="Equation" r:id="rId7" imgW="469800" imgH="177480" progId="Equation.3">
                  <p:embed/>
                </p:oleObj>
              </mc:Choice>
              <mc:Fallback>
                <p:oleObj name="Equation" r:id="rId7" imgW="469800" imgH="177480" progId="Equation.3">
                  <p:embed/>
                  <p:pic>
                    <p:nvPicPr>
                      <p:cNvPr id="11271"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1400" y="1295400"/>
                        <a:ext cx="908050" cy="342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2" name="Object 7"/>
          <p:cNvGraphicFramePr>
            <a:graphicFrameLocks noChangeAspect="1"/>
          </p:cNvGraphicFramePr>
          <p:nvPr>
            <p:extLst>
              <p:ext uri="{D42A27DB-BD31-4B8C-83A1-F6EECF244321}">
                <p14:modId xmlns:p14="http://schemas.microsoft.com/office/powerpoint/2010/main" val="3220459284"/>
              </p:ext>
            </p:extLst>
          </p:nvPr>
        </p:nvGraphicFramePr>
        <p:xfrm>
          <a:off x="2667000" y="1752600"/>
          <a:ext cx="3144838" cy="2655888"/>
        </p:xfrm>
        <a:graphic>
          <a:graphicData uri="http://schemas.openxmlformats.org/presentationml/2006/ole">
            <mc:AlternateContent xmlns:mc="http://schemas.openxmlformats.org/markup-compatibility/2006">
              <mc:Choice xmlns:v="urn:schemas-microsoft-com:vml" Requires="v">
                <p:oleObj spid="_x0000_s22810" name="Worksheet" r:id="rId9" imgW="3916712" imgH="3291840" progId="Excel.Sheet.8">
                  <p:embed/>
                </p:oleObj>
              </mc:Choice>
              <mc:Fallback>
                <p:oleObj name="Worksheet" r:id="rId9" imgW="3916712" imgH="3291840" progId="Excel.Sheet.8">
                  <p:embed/>
                  <p:pic>
                    <p:nvPicPr>
                      <p:cNvPr id="11272" name="Object 7"/>
                      <p:cNvPicPr>
                        <a:picLocks noChangeAspect="1" noChangeArrowheads="1"/>
                      </p:cNvPicPr>
                      <p:nvPr/>
                    </p:nvPicPr>
                    <p:blipFill>
                      <a:blip r:embed="rId10"/>
                      <a:srcRect/>
                      <a:stretch>
                        <a:fillRect/>
                      </a:stretch>
                    </p:blipFill>
                    <p:spPr bwMode="auto">
                      <a:xfrm>
                        <a:off x="2667000" y="1752600"/>
                        <a:ext cx="3144838"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a:extLst>
              <a:ext uri="{FF2B5EF4-FFF2-40B4-BE49-F238E27FC236}">
                <a16:creationId xmlns:a16="http://schemas.microsoft.com/office/drawing/2014/main" id="{6AD59033-856F-EC47-A227-FB3C68A00D03}"/>
              </a:ext>
            </a:extLst>
          </p:cNvPr>
          <p:cNvSpPr txBox="1"/>
          <p:nvPr/>
        </p:nvSpPr>
        <p:spPr>
          <a:xfrm>
            <a:off x="3191696" y="4505629"/>
            <a:ext cx="2095445" cy="369332"/>
          </a:xfrm>
          <a:prstGeom prst="rect">
            <a:avLst/>
          </a:prstGeom>
          <a:noFill/>
        </p:spPr>
        <p:txBody>
          <a:bodyPr wrap="none" rtlCol="0">
            <a:spAutoFit/>
          </a:bodyPr>
          <a:lstStyle/>
          <a:p>
            <a:r>
              <a:rPr lang="zh-CN" altLang="en-US" sz="1800" b="0" dirty="0"/>
              <a:t>第一步的权重更新</a:t>
            </a:r>
            <a:endParaRPr lang="en-US" sz="1800" b="0" dirty="0"/>
          </a:p>
        </p:txBody>
      </p:sp>
      <p:sp>
        <p:nvSpPr>
          <p:cNvPr id="14" name="TextBox 13">
            <a:extLst>
              <a:ext uri="{FF2B5EF4-FFF2-40B4-BE49-F238E27FC236}">
                <a16:creationId xmlns:a16="http://schemas.microsoft.com/office/drawing/2014/main" id="{F9570835-B238-B54C-9930-A354F80DD936}"/>
              </a:ext>
            </a:extLst>
          </p:cNvPr>
          <p:cNvSpPr txBox="1"/>
          <p:nvPr/>
        </p:nvSpPr>
        <p:spPr>
          <a:xfrm>
            <a:off x="6339681" y="4245789"/>
            <a:ext cx="2425939" cy="646331"/>
          </a:xfrm>
          <a:prstGeom prst="rect">
            <a:avLst/>
          </a:prstGeom>
          <a:noFill/>
        </p:spPr>
        <p:txBody>
          <a:bodyPr wrap="square" rtlCol="0">
            <a:spAutoFit/>
          </a:bodyPr>
          <a:lstStyle/>
          <a:p>
            <a:pPr algn="ctr"/>
            <a:r>
              <a:rPr lang="en-US" sz="1800" b="0" dirty="0"/>
              <a:t>Weight updates over all epochs</a:t>
            </a:r>
          </a:p>
        </p:txBody>
      </p:sp>
    </p:spTree>
    <p:extLst>
      <p:ext uri="{BB962C8B-B14F-4D97-AF65-F5344CB8AC3E}">
        <p14:creationId xmlns:p14="http://schemas.microsoft.com/office/powerpoint/2010/main" val="2430880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en-US" dirty="0"/>
              <a:t>感知器</a:t>
            </a:r>
            <a:r>
              <a:rPr lang="en-US" altLang="zh-CN" dirty="0"/>
              <a:t>——</a:t>
            </a:r>
            <a:r>
              <a:rPr lang="zh-CN" altLang="en-US" dirty="0">
                <a:solidFill>
                  <a:srgbClr val="FF0000"/>
                </a:solidFill>
              </a:rPr>
              <a:t>只能处理线性可分问题</a:t>
            </a:r>
            <a:endParaRPr lang="en-US" altLang="en-US" dirty="0">
              <a:solidFill>
                <a:srgbClr val="FF0000"/>
              </a:solidFill>
            </a:endParaRPr>
          </a:p>
        </p:txBody>
      </p:sp>
      <p:sp>
        <p:nvSpPr>
          <p:cNvPr id="12291" name="Rectangle 3"/>
          <p:cNvSpPr>
            <a:spLocks noGrp="1" noChangeArrowheads="1"/>
          </p:cNvSpPr>
          <p:nvPr>
            <p:ph type="body" idx="1"/>
          </p:nvPr>
        </p:nvSpPr>
        <p:spPr>
          <a:xfrm>
            <a:off x="457200" y="4038600"/>
            <a:ext cx="8318500" cy="2286000"/>
          </a:xfrm>
        </p:spPr>
        <p:txBody>
          <a:bodyPr/>
          <a:lstStyle/>
          <a:p>
            <a:pPr>
              <a:lnSpc>
                <a:spcPct val="90000"/>
              </a:lnSpc>
            </a:pPr>
            <a:r>
              <a:rPr lang="zh-CN" altLang="en-US" dirty="0"/>
              <a:t>用于</a:t>
            </a:r>
            <a:r>
              <a:rPr lang="en-US" altLang="zh-CN" dirty="0"/>
              <a:t>y</a:t>
            </a:r>
            <a:r>
              <a:rPr lang="zh-CN" altLang="en-US" dirty="0"/>
              <a:t>是输入</a:t>
            </a:r>
            <a:r>
              <a:rPr lang="en-US" altLang="zh-CN" dirty="0"/>
              <a:t>x</a:t>
            </a:r>
            <a:r>
              <a:rPr lang="zh-CN" altLang="en-US" dirty="0"/>
              <a:t>的线性组合，决策界面是线性的</a:t>
            </a:r>
            <a:endParaRPr lang="en-US" altLang="zh-CN" dirty="0"/>
          </a:p>
          <a:p>
            <a:pPr>
              <a:lnSpc>
                <a:spcPct val="90000"/>
              </a:lnSpc>
            </a:pPr>
            <a:endParaRPr lang="en-US" altLang="en-US" dirty="0"/>
          </a:p>
          <a:p>
            <a:pPr>
              <a:lnSpc>
                <a:spcPct val="90000"/>
              </a:lnSpc>
            </a:pPr>
            <a:r>
              <a:rPr lang="zh-CN" altLang="en-US" dirty="0"/>
              <a:t>对于非线性的划分问题，感知器学习算法往往会失败，因为没有线性的超平面能够完美的划分非线性分布的数据</a:t>
            </a:r>
            <a:r>
              <a:rPr lang="en-US" altLang="en-US" dirty="0"/>
              <a:t> </a:t>
            </a:r>
          </a:p>
        </p:txBody>
      </p:sp>
      <p:pic>
        <p:nvPicPr>
          <p:cNvPr id="2" name="Picture 1">
            <a:extLst>
              <a:ext uri="{FF2B5EF4-FFF2-40B4-BE49-F238E27FC236}">
                <a16:creationId xmlns:a16="http://schemas.microsoft.com/office/drawing/2014/main" id="{39A62D26-04A6-D441-B814-426EA642FD14}"/>
              </a:ext>
            </a:extLst>
          </p:cNvPr>
          <p:cNvPicPr>
            <a:picLocks noChangeAspect="1"/>
          </p:cNvPicPr>
          <p:nvPr/>
        </p:nvPicPr>
        <p:blipFill>
          <a:blip r:embed="rId2"/>
          <a:stretch>
            <a:fillRect/>
          </a:stretch>
        </p:blipFill>
        <p:spPr>
          <a:xfrm>
            <a:off x="2133600" y="914400"/>
            <a:ext cx="4547639" cy="3195638"/>
          </a:xfrm>
          <a:prstGeom prst="rect">
            <a:avLst/>
          </a:prstGeom>
        </p:spPr>
      </p:pic>
    </p:spTree>
    <p:extLst>
      <p:ext uri="{BB962C8B-B14F-4D97-AF65-F5344CB8AC3E}">
        <p14:creationId xmlns:p14="http://schemas.microsoft.com/office/powerpoint/2010/main" val="3401853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dirty="0"/>
              <a:t>线性不可分问题</a:t>
            </a:r>
            <a:r>
              <a:rPr lang="en-US" altLang="zh-CN" dirty="0"/>
              <a:t>—</a:t>
            </a:r>
            <a:r>
              <a:rPr lang="zh-CN" altLang="en-US" sz="2400" dirty="0"/>
              <a:t>异或数据</a:t>
            </a:r>
            <a:endParaRPr lang="en-US" altLang="en-US" sz="2400" dirty="0"/>
          </a:p>
        </p:txBody>
      </p:sp>
      <p:graphicFrame>
        <p:nvGraphicFramePr>
          <p:cNvPr id="13315" name="Object 2"/>
          <p:cNvGraphicFramePr>
            <a:graphicFrameLocks noGrp="1" noChangeAspect="1"/>
          </p:cNvGraphicFramePr>
          <p:nvPr>
            <p:ph sz="half" idx="1"/>
          </p:nvPr>
        </p:nvGraphicFramePr>
        <p:xfrm>
          <a:off x="685800" y="2066925"/>
          <a:ext cx="7924800" cy="4029075"/>
        </p:xfrm>
        <a:graphic>
          <a:graphicData uri="http://schemas.openxmlformats.org/presentationml/2006/ole">
            <mc:AlternateContent xmlns:mc="http://schemas.openxmlformats.org/markup-compatibility/2006">
              <mc:Choice xmlns:v="urn:schemas-microsoft-com:vml" Requires="v">
                <p:oleObj spid="_x0000_s23697" name="VISIO" r:id="rId3" imgW="9586620" imgH="4684064" progId="Visio.Drawing.6">
                  <p:embed/>
                </p:oleObj>
              </mc:Choice>
              <mc:Fallback>
                <p:oleObj name="VISIO" r:id="rId3" imgW="9586620" imgH="4684064" progId="Visio.Drawing.6">
                  <p:embed/>
                  <p:pic>
                    <p:nvPicPr>
                      <p:cNvPr id="13315" name="Object 2"/>
                      <p:cNvPicPr>
                        <a:picLocks noChangeAspect="1" noChangeArrowheads="1"/>
                      </p:cNvPicPr>
                      <p:nvPr/>
                    </p:nvPicPr>
                    <p:blipFill>
                      <a:blip r:embed="rId4">
                        <a:extLst>
                          <a:ext uri="{28A0092B-C50C-407E-A947-70E740481C1C}">
                            <a14:useLocalDpi xmlns:a14="http://schemas.microsoft.com/office/drawing/2010/main" val="0"/>
                          </a:ext>
                        </a:extLst>
                      </a:blip>
                      <a:srcRect r="3922"/>
                      <a:stretch>
                        <a:fillRect/>
                      </a:stretch>
                    </p:blipFill>
                    <p:spPr bwMode="auto">
                      <a:xfrm>
                        <a:off x="685800" y="2066925"/>
                        <a:ext cx="7924800" cy="402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graphicFrame>
        <p:nvGraphicFramePr>
          <p:cNvPr id="13316" name="Object 3"/>
          <p:cNvGraphicFramePr>
            <a:graphicFrameLocks noGrp="1" noChangeAspect="1"/>
          </p:cNvGraphicFramePr>
          <p:nvPr>
            <p:ph sz="half" idx="2"/>
          </p:nvPr>
        </p:nvGraphicFramePr>
        <p:xfrm>
          <a:off x="685800" y="2133600"/>
          <a:ext cx="2092325" cy="635000"/>
        </p:xfrm>
        <a:graphic>
          <a:graphicData uri="http://schemas.openxmlformats.org/presentationml/2006/ole">
            <mc:AlternateContent xmlns:mc="http://schemas.openxmlformats.org/markup-compatibility/2006">
              <mc:Choice xmlns:v="urn:schemas-microsoft-com:vml" Requires="v">
                <p:oleObj spid="_x0000_s23698" name="Equation" r:id="rId5" imgW="710891" imgH="215806" progId="Equation.3">
                  <p:embed/>
                </p:oleObj>
              </mc:Choice>
              <mc:Fallback>
                <p:oleObj name="Equation" r:id="rId5" imgW="710891" imgH="215806" progId="Equation.3">
                  <p:embed/>
                  <p:pic>
                    <p:nvPicPr>
                      <p:cNvPr id="13316"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 y="2133600"/>
                        <a:ext cx="2092325" cy="63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317" name="Text Box 5"/>
          <p:cNvSpPr txBox="1">
            <a:spLocks noChangeArrowheads="1"/>
          </p:cNvSpPr>
          <p:nvPr/>
        </p:nvSpPr>
        <p:spPr bwMode="auto">
          <a:xfrm>
            <a:off x="5486400" y="1676400"/>
            <a:ext cx="236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dirty="0"/>
              <a:t>XOR Data</a:t>
            </a:r>
          </a:p>
        </p:txBody>
      </p:sp>
    </p:spTree>
    <p:extLst>
      <p:ext uri="{BB962C8B-B14F-4D97-AF65-F5344CB8AC3E}">
        <p14:creationId xmlns:p14="http://schemas.microsoft.com/office/powerpoint/2010/main" val="833684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zh-CN" altLang="en-US" dirty="0"/>
              <a:t>多层神经网络</a:t>
            </a:r>
            <a:endParaRPr lang="en-US" altLang="en-US" dirty="0"/>
          </a:p>
        </p:txBody>
      </p:sp>
      <p:graphicFrame>
        <p:nvGraphicFramePr>
          <p:cNvPr id="6148" name="Object 3"/>
          <p:cNvGraphicFramePr>
            <a:graphicFrameLocks noGrp="1" noChangeAspect="1"/>
          </p:cNvGraphicFramePr>
          <p:nvPr>
            <p:ph sz="half" idx="2"/>
            <p:extLst>
              <p:ext uri="{D42A27DB-BD31-4B8C-83A1-F6EECF244321}">
                <p14:modId xmlns:p14="http://schemas.microsoft.com/office/powerpoint/2010/main" val="2172794347"/>
              </p:ext>
            </p:extLst>
          </p:nvPr>
        </p:nvGraphicFramePr>
        <p:xfrm>
          <a:off x="152400" y="1371600"/>
          <a:ext cx="3688729" cy="4462463"/>
        </p:xfrm>
        <a:graphic>
          <a:graphicData uri="http://schemas.openxmlformats.org/presentationml/2006/ole">
            <mc:AlternateContent xmlns:mc="http://schemas.openxmlformats.org/markup-compatibility/2006">
              <mc:Choice xmlns:v="urn:schemas-microsoft-com:vml" Requires="v">
                <p:oleObj spid="_x0000_s24647" name="Visio" r:id="rId4" imgW="5417922" imgH="6555254" progId="Visio.Drawing.6">
                  <p:embed/>
                </p:oleObj>
              </mc:Choice>
              <mc:Fallback>
                <p:oleObj name="Visio" r:id="rId4" imgW="5417922" imgH="6555254" progId="Visio.Drawing.6">
                  <p:embed/>
                  <p:pic>
                    <p:nvPicPr>
                      <p:cNvPr id="6148"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1371600"/>
                        <a:ext cx="3688729" cy="4462463"/>
                      </a:xfrm>
                      <a:prstGeom prst="rect">
                        <a:avLst/>
                      </a:prstGeom>
                      <a:noFill/>
                      <a:ln>
                        <a:noFill/>
                      </a:ln>
                      <a:effectLst/>
                    </p:spPr>
                  </p:pic>
                </p:oleObj>
              </mc:Fallback>
            </mc:AlternateContent>
          </a:graphicData>
        </a:graphic>
      </p:graphicFrame>
      <p:sp>
        <p:nvSpPr>
          <p:cNvPr id="3" name="Content Placeholder 2">
            <a:extLst>
              <a:ext uri="{FF2B5EF4-FFF2-40B4-BE49-F238E27FC236}">
                <a16:creationId xmlns:a16="http://schemas.microsoft.com/office/drawing/2014/main" id="{82B266B7-FD3F-5845-88CF-7C691A622FBD}"/>
              </a:ext>
            </a:extLst>
          </p:cNvPr>
          <p:cNvSpPr>
            <a:spLocks noGrp="1"/>
          </p:cNvSpPr>
          <p:nvPr>
            <p:ph sz="half" idx="1"/>
          </p:nvPr>
        </p:nvSpPr>
        <p:spPr>
          <a:xfrm>
            <a:off x="4114800" y="1905000"/>
            <a:ext cx="4724400" cy="3048000"/>
          </a:xfrm>
        </p:spPr>
        <p:txBody>
          <a:bodyPr/>
          <a:lstStyle/>
          <a:p>
            <a:r>
              <a:rPr lang="zh-CN" altLang="en-US" sz="2400" dirty="0"/>
              <a:t>隐层数大于</a:t>
            </a:r>
            <a:r>
              <a:rPr lang="en-US" altLang="zh-CN" sz="2400" dirty="0"/>
              <a:t>1</a:t>
            </a:r>
            <a:endParaRPr lang="en-US" sz="2400" dirty="0"/>
          </a:p>
          <a:p>
            <a:endParaRPr lang="en-US" sz="1000" dirty="0"/>
          </a:p>
          <a:p>
            <a:r>
              <a:rPr lang="zh-CN" altLang="en-US" sz="2400" dirty="0"/>
              <a:t>隐层的每一个节点接受前一层信号，执行一次激活计算，并传输至下一层的节点</a:t>
            </a:r>
            <a:endParaRPr lang="en-US" sz="2400" dirty="0"/>
          </a:p>
          <a:p>
            <a:pPr lvl="0"/>
            <a:endParaRPr lang="en-US" sz="1000" dirty="0">
              <a:solidFill>
                <a:srgbClr val="000000"/>
              </a:solidFill>
            </a:endParaRPr>
          </a:p>
          <a:p>
            <a:r>
              <a:rPr lang="zh-CN" altLang="en-US" sz="2400" dirty="0"/>
              <a:t>也称为前向神经网络</a:t>
            </a:r>
            <a:endParaRPr lang="en-US" sz="1000" dirty="0">
              <a:solidFill>
                <a:srgbClr val="000000"/>
              </a:solidFill>
            </a:endParaRPr>
          </a:p>
          <a:p>
            <a:pPr lvl="0"/>
            <a:endParaRPr lang="en-US" sz="1000" dirty="0">
              <a:solidFill>
                <a:srgbClr val="000000"/>
              </a:solidFill>
            </a:endParaRPr>
          </a:p>
          <a:p>
            <a:endParaRPr lang="en-US" sz="2400" dirty="0"/>
          </a:p>
          <a:p>
            <a:endParaRPr lang="en-US" sz="2400" dirty="0"/>
          </a:p>
        </p:txBody>
      </p:sp>
    </p:spTree>
    <p:extLst>
      <p:ext uri="{BB962C8B-B14F-4D97-AF65-F5344CB8AC3E}">
        <p14:creationId xmlns:p14="http://schemas.microsoft.com/office/powerpoint/2010/main" val="4181360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en-US" dirty="0"/>
              <a:t>多层神经网络</a:t>
            </a:r>
            <a:endParaRPr lang="en-US" altLang="en-US" dirty="0"/>
          </a:p>
        </p:txBody>
      </p:sp>
      <p:sp>
        <p:nvSpPr>
          <p:cNvPr id="15363" name="Rectangle 3"/>
          <p:cNvSpPr>
            <a:spLocks noGrp="1" noChangeArrowheads="1"/>
          </p:cNvSpPr>
          <p:nvPr>
            <p:ph type="body" idx="1"/>
          </p:nvPr>
        </p:nvSpPr>
        <p:spPr/>
        <p:txBody>
          <a:bodyPr/>
          <a:lstStyle/>
          <a:p>
            <a:r>
              <a:rPr lang="zh-CN" altLang="en-US" dirty="0"/>
              <a:t>拥有至少一层隐层的多层神经网络能够解决任何形式的非线性决策问题</a:t>
            </a:r>
            <a:endParaRPr lang="en-US" altLang="en-US" dirty="0"/>
          </a:p>
        </p:txBody>
      </p:sp>
      <p:graphicFrame>
        <p:nvGraphicFramePr>
          <p:cNvPr id="15364" name="Object 2"/>
          <p:cNvGraphicFramePr>
            <a:graphicFrameLocks noGrp="1" noChangeAspect="1"/>
          </p:cNvGraphicFramePr>
          <p:nvPr>
            <p:ph sz="quarter" idx="4294967295"/>
            <p:extLst>
              <p:ext uri="{D42A27DB-BD31-4B8C-83A1-F6EECF244321}">
                <p14:modId xmlns:p14="http://schemas.microsoft.com/office/powerpoint/2010/main" val="2228373916"/>
              </p:ext>
            </p:extLst>
          </p:nvPr>
        </p:nvGraphicFramePr>
        <p:xfrm>
          <a:off x="457200" y="2743200"/>
          <a:ext cx="3981450" cy="2514600"/>
        </p:xfrm>
        <a:graphic>
          <a:graphicData uri="http://schemas.openxmlformats.org/presentationml/2006/ole">
            <mc:AlternateContent xmlns:mc="http://schemas.openxmlformats.org/markup-compatibility/2006">
              <mc:Choice xmlns:v="urn:schemas-microsoft-com:vml" Requires="v">
                <p:oleObj spid="_x0000_s25667" name="Visio" r:id="rId3" imgW="6980428" imgH="4408899" progId="Visio.Drawing.6">
                  <p:embed/>
                </p:oleObj>
              </mc:Choice>
              <mc:Fallback>
                <p:oleObj name="Visio" r:id="rId3" imgW="6980428" imgH="4408899" progId="Visio.Drawing.6">
                  <p:embed/>
                  <p:pic>
                    <p:nvPicPr>
                      <p:cNvPr id="1536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743200"/>
                        <a:ext cx="398145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5365" name="Picture 5"/>
          <p:cNvPicPr>
            <a:picLocks noGrp="1" noChangeAspect="1" noChangeArrowheads="1"/>
          </p:cNvPicPr>
          <p:nvPr>
            <p:ph sz="quarter" idx="4294967295"/>
          </p:nvPr>
        </p:nvPicPr>
        <p:blipFill>
          <a:blip r:embed="rId5">
            <a:extLst>
              <a:ext uri="{28A0092B-C50C-407E-A947-70E740481C1C}">
                <a14:useLocalDpi xmlns:a14="http://schemas.microsoft.com/office/drawing/2010/main" val="0"/>
              </a:ext>
            </a:extLst>
          </a:blip>
          <a:srcRect/>
          <a:stretch>
            <a:fillRect/>
          </a:stretch>
        </p:blipFill>
        <p:spPr>
          <a:xfrm>
            <a:off x="4474855" y="2438400"/>
            <a:ext cx="4343400" cy="3257550"/>
          </a:xfrm>
          <a:noFill/>
        </p:spPr>
      </p:pic>
      <p:sp>
        <p:nvSpPr>
          <p:cNvPr id="15366" name="Text Box 6"/>
          <p:cNvSpPr txBox="1">
            <a:spLocks noChangeArrowheads="1"/>
          </p:cNvSpPr>
          <p:nvPr/>
        </p:nvSpPr>
        <p:spPr bwMode="auto">
          <a:xfrm>
            <a:off x="6248400" y="2346325"/>
            <a:ext cx="236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charset="0"/>
              </a:defRPr>
            </a:lvl1pPr>
            <a:lvl2pPr marL="742950" indent="-285750">
              <a:spcBef>
                <a:spcPct val="10000"/>
              </a:spcBef>
              <a:spcAft>
                <a:spcPts val="400"/>
              </a:spcAft>
              <a:buClr>
                <a:srgbClr val="0C7B9C"/>
              </a:buClr>
              <a:buSzPct val="100000"/>
              <a:buFont typeface="Arial" charset="0"/>
              <a:buChar char="–"/>
              <a:defRPr sz="2800">
                <a:solidFill>
                  <a:schemeClr val="tx1"/>
                </a:solidFill>
                <a:latin typeface="Arial" charset="0"/>
              </a:defRPr>
            </a:lvl2pPr>
            <a:lvl3pPr marL="1143000" indent="-228600">
              <a:spcBef>
                <a:spcPct val="10000"/>
              </a:spcBef>
              <a:spcAft>
                <a:spcPts val="400"/>
              </a:spcAft>
              <a:buClr>
                <a:srgbClr val="0C7B9C"/>
              </a:buClr>
              <a:buSzPct val="70000"/>
              <a:buFont typeface="Wingdings" pitchFamily="2" charset="2"/>
              <a:buChar char="u"/>
              <a:defRPr sz="2400">
                <a:solidFill>
                  <a:schemeClr val="tx1"/>
                </a:solidFill>
                <a:latin typeface="Arial" charset="0"/>
              </a:defRPr>
            </a:lvl3pPr>
            <a:lvl4pPr marL="1600200" indent="-228600">
              <a:spcBef>
                <a:spcPct val="20000"/>
              </a:spcBef>
              <a:buSzPct val="100000"/>
              <a:buChar char="–"/>
              <a:defRPr sz="2000">
                <a:solidFill>
                  <a:schemeClr val="tx1"/>
                </a:solidFill>
                <a:latin typeface="Times New Roman" pitchFamily="18" charset="0"/>
              </a:defRPr>
            </a:lvl4pPr>
            <a:lvl5pPr marL="2057400" indent="-228600">
              <a:spcBef>
                <a:spcPct val="20000"/>
              </a:spcBef>
              <a:buSzPct val="100000"/>
              <a:buChar char="•"/>
              <a:defRPr sz="2000">
                <a:solidFill>
                  <a:schemeClr val="tx1"/>
                </a:solidFill>
                <a:latin typeface="Times New Roman"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itchFamily="18" charset="0"/>
              </a:defRPr>
            </a:lvl9pPr>
          </a:lstStyle>
          <a:p>
            <a:pPr>
              <a:spcBef>
                <a:spcPct val="50000"/>
              </a:spcBef>
              <a:spcAft>
                <a:spcPct val="0"/>
              </a:spcAft>
              <a:buClrTx/>
              <a:buSzTx/>
              <a:buFontTx/>
              <a:buNone/>
            </a:pPr>
            <a:r>
              <a:rPr lang="en-US" altLang="en-US" sz="2000" dirty="0"/>
              <a:t>XOR Data</a:t>
            </a:r>
          </a:p>
        </p:txBody>
      </p:sp>
    </p:spTree>
    <p:extLst>
      <p:ext uri="{BB962C8B-B14F-4D97-AF65-F5344CB8AC3E}">
        <p14:creationId xmlns:p14="http://schemas.microsoft.com/office/powerpoint/2010/main" val="3289871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AA6D5-4CE0-E64D-92AB-1005F1EFBACB}"/>
              </a:ext>
            </a:extLst>
          </p:cNvPr>
          <p:cNvSpPr>
            <a:spLocks noGrp="1"/>
          </p:cNvSpPr>
          <p:nvPr>
            <p:ph type="title"/>
          </p:nvPr>
        </p:nvSpPr>
        <p:spPr/>
        <p:txBody>
          <a:bodyPr/>
          <a:lstStyle/>
          <a:p>
            <a:r>
              <a:rPr lang="zh-CN" altLang="en-US" dirty="0"/>
              <a:t>为什么要使用多层神经网络</a:t>
            </a:r>
            <a:r>
              <a:rPr lang="en-US" dirty="0"/>
              <a:t>?</a:t>
            </a:r>
          </a:p>
        </p:txBody>
      </p:sp>
      <p:sp>
        <p:nvSpPr>
          <p:cNvPr id="5" name="Content Placeholder 4">
            <a:extLst>
              <a:ext uri="{FF2B5EF4-FFF2-40B4-BE49-F238E27FC236}">
                <a16:creationId xmlns:a16="http://schemas.microsoft.com/office/drawing/2014/main" id="{1654C092-07C7-8747-A0B6-A7AE4E6A6CC7}"/>
              </a:ext>
            </a:extLst>
          </p:cNvPr>
          <p:cNvSpPr>
            <a:spLocks noGrp="1"/>
          </p:cNvSpPr>
          <p:nvPr>
            <p:ph idx="1"/>
          </p:nvPr>
        </p:nvSpPr>
        <p:spPr>
          <a:xfrm>
            <a:off x="176213" y="1143000"/>
            <a:ext cx="8619815" cy="5181600"/>
          </a:xfrm>
        </p:spPr>
        <p:txBody>
          <a:bodyPr/>
          <a:lstStyle/>
          <a:p>
            <a:r>
              <a:rPr lang="zh-CN" altLang="en-US" sz="2600" dirty="0"/>
              <a:t>隐含层的激活函数相当于特征提取</a:t>
            </a:r>
            <a:endParaRPr lang="en-US" sz="2600" dirty="0"/>
          </a:p>
          <a:p>
            <a:r>
              <a:rPr lang="zh-CN" altLang="en-US" sz="2600" dirty="0"/>
              <a:t>每一个隐含层代表一级特征提取</a:t>
            </a:r>
            <a:endParaRPr lang="en-US" sz="2600" dirty="0"/>
          </a:p>
          <a:p>
            <a:pPr lvl="1"/>
            <a:r>
              <a:rPr lang="zh-CN" altLang="en-US" sz="2400" dirty="0"/>
              <a:t>复杂特征由简单特征组成</a:t>
            </a:r>
            <a:endParaRPr lang="en-US" altLang="zh-CN" sz="2400" dirty="0"/>
          </a:p>
          <a:p>
            <a:pPr lvl="1"/>
            <a:endParaRPr lang="en-US" sz="2400" i="1" dirty="0"/>
          </a:p>
          <a:p>
            <a:pPr lvl="1"/>
            <a:endParaRPr lang="en-US" sz="2400" i="1" dirty="0"/>
          </a:p>
          <a:p>
            <a:pPr lvl="1"/>
            <a:endParaRPr lang="en-US" sz="2400" i="1" dirty="0"/>
          </a:p>
          <a:p>
            <a:pPr lvl="1"/>
            <a:endParaRPr lang="en-US" sz="2400" i="1" dirty="0"/>
          </a:p>
          <a:p>
            <a:pPr lvl="1"/>
            <a:endParaRPr lang="en-US" sz="2400" i="1" dirty="0"/>
          </a:p>
          <a:p>
            <a:pPr marL="457200" lvl="1" indent="0">
              <a:buNone/>
            </a:pPr>
            <a:endParaRPr lang="en-US" sz="2000" i="1" dirty="0"/>
          </a:p>
          <a:p>
            <a:r>
              <a:rPr lang="zh-CN" altLang="en-US" sz="2600" dirty="0"/>
              <a:t>层数相当于神经网络的深度</a:t>
            </a:r>
            <a:endParaRPr lang="en-US" sz="2600" dirty="0"/>
          </a:p>
          <a:p>
            <a:pPr lvl="1"/>
            <a:r>
              <a:rPr lang="zh-CN" altLang="en-US" sz="2400" dirty="0"/>
              <a:t>深度神经网络能描述特征的复杂层次</a:t>
            </a:r>
            <a:endParaRPr lang="en-US" sz="2400" dirty="0"/>
          </a:p>
        </p:txBody>
      </p:sp>
      <p:pic>
        <p:nvPicPr>
          <p:cNvPr id="6" name="Picture 5">
            <a:extLst>
              <a:ext uri="{FF2B5EF4-FFF2-40B4-BE49-F238E27FC236}">
                <a16:creationId xmlns:a16="http://schemas.microsoft.com/office/drawing/2014/main" id="{DF9113C5-5C10-8B40-B87A-3A5769A526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595" t="19235" r="8582" b="48436"/>
          <a:stretch>
            <a:fillRect/>
          </a:stretch>
        </p:blipFill>
        <p:spPr bwMode="auto">
          <a:xfrm>
            <a:off x="555383" y="2743200"/>
            <a:ext cx="7931634" cy="183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2209800" y="4648200"/>
            <a:ext cx="4493538" cy="461665"/>
          </a:xfrm>
          <a:prstGeom prst="rect">
            <a:avLst/>
          </a:prstGeom>
        </p:spPr>
        <p:style>
          <a:lnRef idx="1">
            <a:schemeClr val="accent1"/>
          </a:lnRef>
          <a:fillRef idx="3">
            <a:schemeClr val="accent1"/>
          </a:fillRef>
          <a:effectRef idx="2">
            <a:schemeClr val="accent1"/>
          </a:effectRef>
          <a:fontRef idx="minor">
            <a:schemeClr val="lt1"/>
          </a:fontRef>
        </p:style>
        <p:txBody>
          <a:bodyPr wrap="none" rtlCol="0">
            <a:spAutoFit/>
          </a:bodyPr>
          <a:lstStyle/>
          <a:p>
            <a:r>
              <a:rPr lang="zh-CN" altLang="en-US" sz="2400" dirty="0"/>
              <a:t>人脸识别不同卷积层的特征效果</a:t>
            </a:r>
          </a:p>
        </p:txBody>
      </p:sp>
    </p:spTree>
    <p:extLst>
      <p:ext uri="{BB962C8B-B14F-4D97-AF65-F5344CB8AC3E}">
        <p14:creationId xmlns:p14="http://schemas.microsoft.com/office/powerpoint/2010/main" val="1233001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000" y="152400"/>
            <a:ext cx="8280400" cy="533400"/>
          </a:xfrm>
        </p:spPr>
        <p:txBody>
          <a:bodyPr/>
          <a:lstStyle/>
          <a:p>
            <a:r>
              <a:rPr lang="zh-CN" altLang="en-US" dirty="0"/>
              <a:t>多层神经网络架构</a:t>
            </a:r>
            <a:endParaRPr lang="en-US" altLang="en-US" dirty="0"/>
          </a:p>
        </p:txBody>
      </p:sp>
      <p:pic>
        <p:nvPicPr>
          <p:cNvPr id="6" name="Picture 5">
            <a:extLst>
              <a:ext uri="{FF2B5EF4-FFF2-40B4-BE49-F238E27FC236}">
                <a16:creationId xmlns:a16="http://schemas.microsoft.com/office/drawing/2014/main" id="{9E5773F0-1697-5E4A-AA84-F3F3FADA5FAD}"/>
              </a:ext>
            </a:extLst>
          </p:cNvPr>
          <p:cNvPicPr>
            <a:picLocks noChangeAspect="1"/>
          </p:cNvPicPr>
          <p:nvPr/>
        </p:nvPicPr>
        <p:blipFill>
          <a:blip r:embed="rId2"/>
          <a:stretch>
            <a:fillRect/>
          </a:stretch>
        </p:blipFill>
        <p:spPr>
          <a:xfrm>
            <a:off x="3124200" y="4495800"/>
            <a:ext cx="3967201" cy="813785"/>
          </a:xfrm>
          <a:prstGeom prst="rect">
            <a:avLst/>
          </a:prstGeom>
        </p:spPr>
      </p:pic>
      <p:sp>
        <p:nvSpPr>
          <p:cNvPr id="7" name="TextBox 6">
            <a:extLst>
              <a:ext uri="{FF2B5EF4-FFF2-40B4-BE49-F238E27FC236}">
                <a16:creationId xmlns:a16="http://schemas.microsoft.com/office/drawing/2014/main" id="{F4A827D4-9138-A840-A783-818CD574AC2C}"/>
              </a:ext>
            </a:extLst>
          </p:cNvPr>
          <p:cNvSpPr txBox="1"/>
          <p:nvPr/>
        </p:nvSpPr>
        <p:spPr>
          <a:xfrm>
            <a:off x="767952" y="5466649"/>
            <a:ext cx="2057400" cy="369332"/>
          </a:xfrm>
          <a:prstGeom prst="rect">
            <a:avLst/>
          </a:prstGeom>
          <a:noFill/>
        </p:spPr>
        <p:txBody>
          <a:bodyPr wrap="square" rtlCol="0">
            <a:spAutoFit/>
          </a:bodyPr>
          <a:lstStyle/>
          <a:p>
            <a:pPr algn="ctr"/>
            <a:r>
              <a:rPr lang="en-US" altLang="zh-CN" sz="1800" dirty="0"/>
              <a:t>l</a:t>
            </a:r>
            <a:r>
              <a:rPr lang="zh-CN" altLang="en-US" sz="1800" dirty="0"/>
              <a:t>层节点</a:t>
            </a:r>
            <a:r>
              <a:rPr lang="en-US" altLang="zh-CN" sz="1800" dirty="0" err="1"/>
              <a:t>i</a:t>
            </a:r>
            <a:r>
              <a:rPr lang="zh-CN" altLang="en-US" sz="1800" dirty="0"/>
              <a:t>的输出</a:t>
            </a:r>
            <a:endParaRPr lang="en-US" sz="1800" b="0" baseline="30000" dirty="0"/>
          </a:p>
        </p:txBody>
      </p:sp>
      <p:pic>
        <p:nvPicPr>
          <p:cNvPr id="8" name="Picture 7">
            <a:extLst>
              <a:ext uri="{FF2B5EF4-FFF2-40B4-BE49-F238E27FC236}">
                <a16:creationId xmlns:a16="http://schemas.microsoft.com/office/drawing/2014/main" id="{745CD011-69BC-4247-9F1B-945CC10CB89E}"/>
              </a:ext>
            </a:extLst>
          </p:cNvPr>
          <p:cNvPicPr>
            <a:picLocks noChangeAspect="1"/>
          </p:cNvPicPr>
          <p:nvPr/>
        </p:nvPicPr>
        <p:blipFill>
          <a:blip r:embed="rId3"/>
          <a:stretch>
            <a:fillRect/>
          </a:stretch>
        </p:blipFill>
        <p:spPr>
          <a:xfrm>
            <a:off x="1611719" y="1143000"/>
            <a:ext cx="5942419" cy="3048000"/>
          </a:xfrm>
          <a:prstGeom prst="rect">
            <a:avLst/>
          </a:prstGeom>
        </p:spPr>
      </p:pic>
      <p:sp>
        <p:nvSpPr>
          <p:cNvPr id="17" name="TextBox 16">
            <a:extLst>
              <a:ext uri="{FF2B5EF4-FFF2-40B4-BE49-F238E27FC236}">
                <a16:creationId xmlns:a16="http://schemas.microsoft.com/office/drawing/2014/main" id="{0D71096E-E36F-5D44-820D-E7C5629E1326}"/>
              </a:ext>
            </a:extLst>
          </p:cNvPr>
          <p:cNvSpPr txBox="1"/>
          <p:nvPr/>
        </p:nvSpPr>
        <p:spPr>
          <a:xfrm>
            <a:off x="3178968" y="5506325"/>
            <a:ext cx="1414463" cy="369332"/>
          </a:xfrm>
          <a:prstGeom prst="rect">
            <a:avLst/>
          </a:prstGeom>
          <a:solidFill>
            <a:schemeClr val="accent5"/>
          </a:solidFill>
        </p:spPr>
        <p:txBody>
          <a:bodyPr wrap="square" rtlCol="0">
            <a:spAutoFit/>
          </a:bodyPr>
          <a:lstStyle/>
          <a:p>
            <a:pPr algn="ctr"/>
            <a:r>
              <a:rPr lang="zh-CN" altLang="en-US" sz="1800" dirty="0"/>
              <a:t>激活函数</a:t>
            </a:r>
            <a:endParaRPr lang="en-US" sz="1800" b="0" baseline="30000" dirty="0"/>
          </a:p>
        </p:txBody>
      </p:sp>
      <p:sp>
        <p:nvSpPr>
          <p:cNvPr id="18" name="TextBox 17">
            <a:extLst>
              <a:ext uri="{FF2B5EF4-FFF2-40B4-BE49-F238E27FC236}">
                <a16:creationId xmlns:a16="http://schemas.microsoft.com/office/drawing/2014/main" id="{A8BCFEC9-9B75-E746-BF88-46AB15A1E6A5}"/>
              </a:ext>
            </a:extLst>
          </p:cNvPr>
          <p:cNvSpPr txBox="1"/>
          <p:nvPr/>
        </p:nvSpPr>
        <p:spPr>
          <a:xfrm>
            <a:off x="4809550" y="5705557"/>
            <a:ext cx="2425302" cy="369332"/>
          </a:xfrm>
          <a:prstGeom prst="rect">
            <a:avLst/>
          </a:prstGeom>
          <a:noFill/>
        </p:spPr>
        <p:txBody>
          <a:bodyPr wrap="square" rtlCol="0">
            <a:spAutoFit/>
          </a:bodyPr>
          <a:lstStyle/>
          <a:p>
            <a:pPr algn="ctr"/>
            <a:r>
              <a:rPr lang="zh-CN" altLang="en-US" sz="1800" dirty="0"/>
              <a:t>线性计算</a:t>
            </a:r>
            <a:endParaRPr lang="en-US" sz="1800" b="0" baseline="30000" dirty="0"/>
          </a:p>
        </p:txBody>
      </p:sp>
      <p:cxnSp>
        <p:nvCxnSpPr>
          <p:cNvPr id="19" name="Straight Arrow Connector 18">
            <a:extLst>
              <a:ext uri="{FF2B5EF4-FFF2-40B4-BE49-F238E27FC236}">
                <a16:creationId xmlns:a16="http://schemas.microsoft.com/office/drawing/2014/main" id="{F2C5C300-99C5-E840-948E-FD739FCE3F87}"/>
              </a:ext>
            </a:extLst>
          </p:cNvPr>
          <p:cNvCxnSpPr>
            <a:cxnSpLocks/>
          </p:cNvCxnSpPr>
          <p:nvPr/>
        </p:nvCxnSpPr>
        <p:spPr bwMode="auto">
          <a:xfrm flipV="1">
            <a:off x="3886200" y="4993180"/>
            <a:ext cx="0" cy="508986"/>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0440F1F1-3044-8341-9270-AE57716A4843}"/>
              </a:ext>
            </a:extLst>
          </p:cNvPr>
          <p:cNvCxnSpPr>
            <a:cxnSpLocks/>
            <a:stCxn id="7" idx="0"/>
            <a:endCxn id="6" idx="1"/>
          </p:cNvCxnSpPr>
          <p:nvPr/>
        </p:nvCxnSpPr>
        <p:spPr bwMode="auto">
          <a:xfrm flipV="1">
            <a:off x="1796652" y="4902693"/>
            <a:ext cx="1327548" cy="563956"/>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22" name="Left Brace 21">
            <a:extLst>
              <a:ext uri="{FF2B5EF4-FFF2-40B4-BE49-F238E27FC236}">
                <a16:creationId xmlns:a16="http://schemas.microsoft.com/office/drawing/2014/main" id="{947B9E7E-13C8-4343-B9D4-615E29005245}"/>
              </a:ext>
            </a:extLst>
          </p:cNvPr>
          <p:cNvSpPr/>
          <p:nvPr/>
        </p:nvSpPr>
        <p:spPr bwMode="auto">
          <a:xfrm rot="16200000">
            <a:off x="5818436" y="4550469"/>
            <a:ext cx="407531" cy="1828802"/>
          </a:xfrm>
          <a:prstGeom prst="leftBrace">
            <a:avLst>
              <a:gd name="adj1" fmla="val 110003"/>
              <a:gd name="adj2" fmla="val 52091"/>
            </a:avLst>
          </a:prstGeom>
          <a:no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a:ln>
                <a:noFill/>
              </a:ln>
              <a:solidFill>
                <a:schemeClr val="tx1"/>
              </a:solidFill>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7" grpId="0" animBg="1"/>
      <p:bldP spid="18" grpId="0"/>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1A9B4-1ED2-1F4D-B518-3C9BF55F8FE6}"/>
              </a:ext>
            </a:extLst>
          </p:cNvPr>
          <p:cNvSpPr>
            <a:spLocks noGrp="1"/>
          </p:cNvSpPr>
          <p:nvPr>
            <p:ph type="title"/>
          </p:nvPr>
        </p:nvSpPr>
        <p:spPr/>
        <p:txBody>
          <a:bodyPr/>
          <a:lstStyle/>
          <a:p>
            <a:r>
              <a:rPr lang="zh-CN" altLang="en-US" dirty="0"/>
              <a:t>激活函数</a:t>
            </a:r>
            <a:r>
              <a:rPr lang="en-US" altLang="zh-CN" dirty="0"/>
              <a:t>-</a:t>
            </a:r>
            <a:r>
              <a:rPr lang="zh-CN" altLang="en-US" dirty="0"/>
              <a:t>神经网络的非线性手段</a:t>
            </a:r>
            <a:endParaRPr lang="en-US" dirty="0"/>
          </a:p>
        </p:txBody>
      </p:sp>
      <p:pic>
        <p:nvPicPr>
          <p:cNvPr id="4" name="Picture 5">
            <a:extLst>
              <a:ext uri="{FF2B5EF4-FFF2-40B4-BE49-F238E27FC236}">
                <a16:creationId xmlns:a16="http://schemas.microsoft.com/office/drawing/2014/main" id="{F87F4F65-24C3-E744-9C6A-D9A72C2C5F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362200"/>
            <a:ext cx="5302250" cy="397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5" name="Picture 4">
            <a:extLst>
              <a:ext uri="{FF2B5EF4-FFF2-40B4-BE49-F238E27FC236}">
                <a16:creationId xmlns:a16="http://schemas.microsoft.com/office/drawing/2014/main" id="{711E6844-0913-974D-B1F6-7F6DEB7497B4}"/>
              </a:ext>
            </a:extLst>
          </p:cNvPr>
          <p:cNvPicPr>
            <a:picLocks noChangeAspect="1"/>
          </p:cNvPicPr>
          <p:nvPr/>
        </p:nvPicPr>
        <p:blipFill>
          <a:blip r:embed="rId4"/>
          <a:stretch>
            <a:fillRect/>
          </a:stretch>
        </p:blipFill>
        <p:spPr>
          <a:xfrm>
            <a:off x="2667000" y="1091215"/>
            <a:ext cx="3967201" cy="813785"/>
          </a:xfrm>
          <a:prstGeom prst="rect">
            <a:avLst/>
          </a:prstGeom>
        </p:spPr>
      </p:pic>
      <p:pic>
        <p:nvPicPr>
          <p:cNvPr id="3" name="Picture 2"/>
          <p:cNvPicPr>
            <a:picLocks noChangeAspect="1"/>
          </p:cNvPicPr>
          <p:nvPr/>
        </p:nvPicPr>
        <p:blipFill>
          <a:blip r:embed="rId5"/>
          <a:stretch>
            <a:fillRect/>
          </a:stretch>
        </p:blipFill>
        <p:spPr>
          <a:xfrm>
            <a:off x="5943600" y="2362200"/>
            <a:ext cx="2863800" cy="1057275"/>
          </a:xfrm>
          <a:prstGeom prst="rect">
            <a:avLst/>
          </a:prstGeom>
        </p:spPr>
      </p:pic>
      <p:pic>
        <p:nvPicPr>
          <p:cNvPr id="6" name="Picture 5">
            <a:extLst>
              <a:ext uri="{FF2B5EF4-FFF2-40B4-BE49-F238E27FC236}">
                <a16:creationId xmlns:a16="http://schemas.microsoft.com/office/drawing/2014/main" id="{8D878394-7F36-CD48-991E-F0151F8A1892}"/>
              </a:ext>
            </a:extLst>
          </p:cNvPr>
          <p:cNvPicPr>
            <a:picLocks noChangeAspect="1"/>
          </p:cNvPicPr>
          <p:nvPr/>
        </p:nvPicPr>
        <p:blipFill>
          <a:blip r:embed="rId6"/>
          <a:stretch>
            <a:fillRect/>
          </a:stretch>
        </p:blipFill>
        <p:spPr>
          <a:xfrm>
            <a:off x="6182891" y="3276600"/>
            <a:ext cx="2351509" cy="651187"/>
          </a:xfrm>
          <a:prstGeom prst="rect">
            <a:avLst/>
          </a:prstGeom>
        </p:spPr>
      </p:pic>
    </p:spTree>
    <p:extLst>
      <p:ext uri="{BB962C8B-B14F-4D97-AF65-F5344CB8AC3E}">
        <p14:creationId xmlns:p14="http://schemas.microsoft.com/office/powerpoint/2010/main" val="3875228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zh-CN" altLang="en-US" dirty="0"/>
              <a:t>多层神经网络的学习</a:t>
            </a:r>
            <a:endParaRPr lang="en-US" altLang="en-US" dirty="0"/>
          </a:p>
        </p:txBody>
      </p:sp>
      <mc:AlternateContent xmlns:mc="http://schemas.openxmlformats.org/markup-compatibility/2006" xmlns:a14="http://schemas.microsoft.com/office/drawing/2010/main">
        <mc:Choice Requires="a14">
          <p:sp>
            <p:nvSpPr>
              <p:cNvPr id="16387" name="Rectangle 3"/>
              <p:cNvSpPr>
                <a:spLocks noGrp="1" noChangeArrowheads="1"/>
              </p:cNvSpPr>
              <p:nvPr>
                <p:ph type="body" idx="1"/>
              </p:nvPr>
            </p:nvSpPr>
            <p:spPr/>
            <p:txBody>
              <a:bodyPr/>
              <a:lstStyle/>
              <a:p>
                <a:pPr>
                  <a:lnSpc>
                    <a:spcPct val="150000"/>
                  </a:lnSpc>
                  <a:buFont typeface="Wingdings" panose="05000000000000000000" pitchFamily="2" charset="2"/>
                  <a:buChar char="p"/>
                </a:pPr>
                <a:r>
                  <a:rPr lang="zh-CN" altLang="en-US" dirty="0"/>
                  <a:t>感知器的学习规则是否可以应用于每一个神经元，包括隐含层神经元：</a:t>
                </a:r>
                <a:endParaRPr lang="en-US" altLang="en-US" dirty="0"/>
              </a:p>
              <a:p>
                <a:pPr lvl="1">
                  <a:lnSpc>
                    <a:spcPct val="150000"/>
                  </a:lnSpc>
                </a:pPr>
                <a:r>
                  <a:rPr lang="zh-CN" altLang="en-US" dirty="0"/>
                  <a:t>在感知器学习中，利用误差</a:t>
                </a:r>
                <a:r>
                  <a:rPr lang="en-US" altLang="en-US" dirty="0"/>
                  <a:t> e = y - </a:t>
                </a:r>
                <a14:m>
                  <m:oMath xmlns:m="http://schemas.openxmlformats.org/officeDocument/2006/math">
                    <m:acc>
                      <m:accPr>
                        <m:chr m:val="̂"/>
                        <m:ctrlPr>
                          <a:rPr lang="en-US" altLang="en-US" i="1" dirty="0">
                            <a:latin typeface="Cambria Math" panose="02040503050406030204" pitchFamily="18" charset="0"/>
                          </a:rPr>
                        </m:ctrlPr>
                      </m:accPr>
                      <m:e>
                        <m:r>
                          <a:rPr lang="en-US" altLang="en-US" i="1" dirty="0">
                            <a:latin typeface="Cambria Math" panose="02040503050406030204" pitchFamily="18" charset="0"/>
                          </a:rPr>
                          <m:t>𝑦</m:t>
                        </m:r>
                      </m:e>
                    </m:acc>
                  </m:oMath>
                </a14:m>
                <a:r>
                  <a:rPr lang="en-US" altLang="en-US" dirty="0"/>
                  <a:t> </a:t>
                </a:r>
                <a:r>
                  <a:rPr lang="zh-CN" altLang="en-US" dirty="0"/>
                  <a:t>更新权重</a:t>
                </a:r>
                <a:endParaRPr lang="en-US" altLang="en-US" dirty="0"/>
              </a:p>
              <a:p>
                <a:pPr marL="1254125" lvl="2" indent="-339725">
                  <a:lnSpc>
                    <a:spcPct val="150000"/>
                  </a:lnSpc>
                </a:pPr>
                <a:r>
                  <a:rPr lang="en-US" altLang="en-US" dirty="0"/>
                  <a:t>Problem: </a:t>
                </a:r>
                <a:r>
                  <a:rPr lang="zh-CN" altLang="en-US" dirty="0"/>
                  <a:t>如何确定隐层神经元对应的误差</a:t>
                </a:r>
                <a:r>
                  <a:rPr lang="en-US" altLang="en-US" dirty="0"/>
                  <a:t>?</a:t>
                </a:r>
              </a:p>
              <a:p>
                <a:pPr lvl="1">
                  <a:lnSpc>
                    <a:spcPct val="150000"/>
                  </a:lnSpc>
                </a:pPr>
                <a:r>
                  <a:rPr lang="zh-CN" altLang="en-US" dirty="0"/>
                  <a:t>利用输出神经元的误差估计隐层神经元的误差</a:t>
                </a:r>
                <a:endParaRPr lang="en-US" altLang="en-US" dirty="0"/>
              </a:p>
              <a:p>
                <a:pPr lvl="2">
                  <a:lnSpc>
                    <a:spcPct val="150000"/>
                  </a:lnSpc>
                </a:pPr>
                <a:r>
                  <a:rPr lang="en-US" altLang="en-US" dirty="0"/>
                  <a:t> Problem: </a:t>
                </a:r>
              </a:p>
              <a:p>
                <a:pPr lvl="3">
                  <a:lnSpc>
                    <a:spcPct val="150000"/>
                  </a:lnSpc>
                </a:pPr>
                <a:r>
                  <a:rPr lang="zh-CN" altLang="en-US" dirty="0"/>
                  <a:t>隐层神经元的调节如何应用整体性能？</a:t>
                </a:r>
                <a:r>
                  <a:rPr lang="en-US" altLang="en-US" dirty="0"/>
                  <a:t> </a:t>
                </a:r>
              </a:p>
              <a:p>
                <a:pPr lvl="3">
                  <a:lnSpc>
                    <a:spcPct val="150000"/>
                  </a:lnSpc>
                </a:pPr>
                <a:r>
                  <a:rPr lang="zh-CN" altLang="en-US" dirty="0"/>
                  <a:t>不能保证收敛于最优解</a:t>
                </a:r>
                <a:endParaRPr lang="en-US" altLang="en-US" dirty="0"/>
              </a:p>
            </p:txBody>
          </p:sp>
        </mc:Choice>
        <mc:Fallback xmlns="">
          <p:sp>
            <p:nvSpPr>
              <p:cNvPr id="16387" name="Rectangle 3"/>
              <p:cNvSpPr>
                <a:spLocks noGrp="1" noRot="1" noChangeAspect="1" noMove="1" noResize="1" noEditPoints="1" noAdjustHandles="1" noChangeArrowheads="1" noChangeShapeType="1" noTextEdit="1"/>
              </p:cNvSpPr>
              <p:nvPr>
                <p:ph type="body" idx="1"/>
              </p:nvPr>
            </p:nvSpPr>
            <p:spPr>
              <a:blipFill>
                <a:blip r:embed="rId2"/>
                <a:stretch>
                  <a:fillRect l="-733" r="-879" b="-941"/>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梯度下降</a:t>
            </a:r>
            <a:r>
              <a:rPr lang="en-US" altLang="zh-CN" dirty="0"/>
              <a:t>+</a:t>
            </a:r>
            <a:r>
              <a:rPr lang="zh-CN" altLang="en-US" dirty="0"/>
              <a:t>链式法则</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p"/>
            </a:pPr>
            <a:r>
              <a:rPr lang="zh-CN" altLang="en-US" sz="2400" dirty="0"/>
              <a:t>损失函数用于测量所有训练点的误差</a:t>
            </a:r>
            <a:endParaRPr lang="en-US" sz="2400" dirty="0"/>
          </a:p>
          <a:p>
            <a:endParaRPr lang="en-US" sz="2400" dirty="0"/>
          </a:p>
          <a:p>
            <a:endParaRPr lang="en-US" sz="2400" dirty="0"/>
          </a:p>
          <a:p>
            <a:pPr lvl="1"/>
            <a:endParaRPr lang="en-US" sz="1200" dirty="0"/>
          </a:p>
          <a:p>
            <a:pPr>
              <a:buFont typeface="Wingdings" panose="05000000000000000000" pitchFamily="2" charset="2"/>
              <a:buChar char="p"/>
            </a:pPr>
            <a:r>
              <a:rPr lang="zh-CN" altLang="en-US" sz="2400" dirty="0">
                <a:solidFill>
                  <a:srgbClr val="000000"/>
                </a:solidFill>
              </a:rPr>
              <a:t>梯度下降：朝着使损失函数“下降最大” 的方向调整网络参数</a:t>
            </a:r>
            <a:endParaRPr lang="en-US" sz="2400" dirty="0">
              <a:solidFill>
                <a:srgbClr val="000000"/>
              </a:solidFill>
            </a:endParaRPr>
          </a:p>
          <a:p>
            <a:pPr lvl="0"/>
            <a:endParaRPr lang="en-US" sz="2400" dirty="0">
              <a:solidFill>
                <a:srgbClr val="000000"/>
              </a:solidFill>
            </a:endParaRPr>
          </a:p>
          <a:p>
            <a:pPr lvl="0"/>
            <a:endParaRPr lang="en-US" sz="2400" dirty="0">
              <a:solidFill>
                <a:srgbClr val="000000"/>
              </a:solidFill>
            </a:endParaRPr>
          </a:p>
          <a:p>
            <a:pPr lvl="0"/>
            <a:endParaRPr lang="en-US" sz="2400" dirty="0">
              <a:solidFill>
                <a:srgbClr val="000000"/>
              </a:solidFill>
            </a:endParaRPr>
          </a:p>
          <a:p>
            <a:pPr lvl="0">
              <a:buFont typeface="Wingdings" panose="05000000000000000000" pitchFamily="2" charset="2"/>
              <a:buChar char="p"/>
            </a:pPr>
            <a:r>
              <a:rPr lang="zh-CN" altLang="en-US" sz="2400" dirty="0"/>
              <a:t>随机梯度下降</a:t>
            </a:r>
            <a:r>
              <a:rPr lang="en-US" altLang="en-US" sz="2400" dirty="0"/>
              <a:t>(SGD): </a:t>
            </a:r>
            <a:r>
              <a:rPr lang="zh-CN" altLang="en-US" sz="2400" dirty="0"/>
              <a:t>对每一个样本更新权重</a:t>
            </a:r>
            <a:r>
              <a:rPr lang="en-US" altLang="en-US" sz="2400" dirty="0"/>
              <a:t>(</a:t>
            </a:r>
            <a:r>
              <a:rPr lang="zh-CN" altLang="en-US" sz="2400" dirty="0"/>
              <a:t>最小批量</a:t>
            </a:r>
            <a:r>
              <a:rPr lang="en-US" altLang="en-US" sz="2400" dirty="0"/>
              <a:t>SGD: update over min-batches of instances)</a:t>
            </a:r>
            <a:endParaRPr lang="en-US" sz="2400" dirty="0">
              <a:solidFill>
                <a:srgbClr val="000000"/>
              </a:solidFill>
            </a:endParaRPr>
          </a:p>
          <a:p>
            <a:pPr lvl="1"/>
            <a:endParaRPr lang="en-US" sz="2400" dirty="0"/>
          </a:p>
        </p:txBody>
      </p:sp>
      <p:pic>
        <p:nvPicPr>
          <p:cNvPr id="4" name="Picture 3"/>
          <p:cNvPicPr>
            <a:picLocks noChangeAspect="1"/>
          </p:cNvPicPr>
          <p:nvPr/>
        </p:nvPicPr>
        <p:blipFill>
          <a:blip r:embed="rId2"/>
          <a:stretch>
            <a:fillRect/>
          </a:stretch>
        </p:blipFill>
        <p:spPr>
          <a:xfrm>
            <a:off x="724351" y="1672023"/>
            <a:ext cx="3386137" cy="1039224"/>
          </a:xfrm>
          <a:prstGeom prst="rect">
            <a:avLst/>
          </a:prstGeom>
        </p:spPr>
      </p:pic>
      <p:pic>
        <p:nvPicPr>
          <p:cNvPr id="5" name="Picture 4"/>
          <p:cNvPicPr>
            <a:picLocks noChangeAspect="1"/>
          </p:cNvPicPr>
          <p:nvPr/>
        </p:nvPicPr>
        <p:blipFill>
          <a:blip r:embed="rId3"/>
          <a:stretch>
            <a:fillRect/>
          </a:stretch>
        </p:blipFill>
        <p:spPr>
          <a:xfrm>
            <a:off x="4524513" y="2195022"/>
            <a:ext cx="3419475" cy="514350"/>
          </a:xfrm>
          <a:prstGeom prst="rect">
            <a:avLst/>
          </a:prstGeom>
        </p:spPr>
      </p:pic>
      <p:pic>
        <p:nvPicPr>
          <p:cNvPr id="6" name="Picture 5"/>
          <p:cNvPicPr>
            <a:picLocks noChangeAspect="1"/>
          </p:cNvPicPr>
          <p:nvPr/>
        </p:nvPicPr>
        <p:blipFill>
          <a:blip r:embed="rId4"/>
          <a:stretch>
            <a:fillRect/>
          </a:stretch>
        </p:blipFill>
        <p:spPr>
          <a:xfrm>
            <a:off x="1895136" y="3188117"/>
            <a:ext cx="3048000" cy="1651760"/>
          </a:xfrm>
          <a:prstGeom prst="rect">
            <a:avLst/>
          </a:prstGeom>
        </p:spPr>
      </p:pic>
      <mc:AlternateContent xmlns:mc="http://schemas.openxmlformats.org/markup-compatibility/2006" xmlns:a14="http://schemas.microsoft.com/office/drawing/2010/main">
        <mc:Choice Requires="a14">
          <p:sp>
            <p:nvSpPr>
              <p:cNvPr id="7" name="TextBox 6"/>
              <p:cNvSpPr txBox="1"/>
              <p:nvPr/>
            </p:nvSpPr>
            <p:spPr>
              <a:xfrm>
                <a:off x="5483004" y="3799194"/>
                <a:ext cx="1888209" cy="400110"/>
              </a:xfrm>
              <a:prstGeom prst="rect">
                <a:avLst/>
              </a:prstGeom>
              <a:noFill/>
            </p:spPr>
            <p:txBody>
              <a:bodyPr wrap="none" rtlCol="0">
                <a:spAutoFit/>
              </a:bodyPr>
              <a:lstStyle/>
              <a:p>
                <a14:m>
                  <m:oMath xmlns:m="http://schemas.openxmlformats.org/officeDocument/2006/math">
                    <m:r>
                      <a:rPr lang="en-US" sz="2000" b="0" i="1" smtClean="0">
                        <a:latin typeface="Cambria Math" panose="02040503050406030204" pitchFamily="18" charset="0"/>
                      </a:rPr>
                      <m:t>𝜆</m:t>
                    </m:r>
                  </m:oMath>
                </a14:m>
                <a:r>
                  <a:rPr lang="en-US" sz="2000" b="0" dirty="0"/>
                  <a:t>: learning rate</a:t>
                </a:r>
              </a:p>
            </p:txBody>
          </p:sp>
        </mc:Choice>
        <mc:Fallback xmlns="">
          <p:sp>
            <p:nvSpPr>
              <p:cNvPr id="7" name="TextBox 6"/>
              <p:cNvSpPr txBox="1">
                <a:spLocks noRot="1" noChangeAspect="1" noMove="1" noResize="1" noEditPoints="1" noAdjustHandles="1" noChangeArrowheads="1" noChangeShapeType="1" noTextEdit="1"/>
              </p:cNvSpPr>
              <p:nvPr/>
            </p:nvSpPr>
            <p:spPr>
              <a:xfrm>
                <a:off x="5483004" y="3799194"/>
                <a:ext cx="1888209" cy="400110"/>
              </a:xfrm>
              <a:prstGeom prst="rect">
                <a:avLst/>
              </a:prstGeom>
              <a:blipFill>
                <a:blip r:embed="rId5"/>
                <a:stretch>
                  <a:fillRect t="-6061" r="-2581" b="-27273"/>
                </a:stretch>
              </a:blipFill>
            </p:spPr>
            <p:txBody>
              <a:bodyPr/>
              <a:lstStyle/>
              <a:p>
                <a:r>
                  <a:rPr lang="zh-CN" altLang="en-US">
                    <a:noFill/>
                  </a:rPr>
                  <a:t> </a:t>
                </a:r>
              </a:p>
            </p:txBody>
          </p:sp>
        </mc:Fallback>
      </mc:AlternateContent>
      <p:sp>
        <p:nvSpPr>
          <p:cNvPr id="8" name="Rectangle 7">
            <a:extLst>
              <a:ext uri="{FF2B5EF4-FFF2-40B4-BE49-F238E27FC236}">
                <a16:creationId xmlns:a16="http://schemas.microsoft.com/office/drawing/2014/main" id="{C16DCFCB-C9DA-FB4D-99BE-50FC2D0A59F4}"/>
              </a:ext>
            </a:extLst>
          </p:cNvPr>
          <p:cNvSpPr/>
          <p:nvPr/>
        </p:nvSpPr>
        <p:spPr>
          <a:xfrm>
            <a:off x="4906265" y="1791525"/>
            <a:ext cx="2299027" cy="400110"/>
          </a:xfrm>
          <a:prstGeom prst="rect">
            <a:avLst/>
          </a:prstGeom>
        </p:spPr>
        <p:txBody>
          <a:bodyPr wrap="none">
            <a:spAutoFit/>
          </a:bodyPr>
          <a:lstStyle/>
          <a:p>
            <a:pPr lvl="1">
              <a:spcBef>
                <a:spcPct val="10000"/>
              </a:spcBef>
              <a:spcAft>
                <a:spcPts val="400"/>
              </a:spcAft>
              <a:buClr>
                <a:srgbClr val="0C7B9C"/>
              </a:buClr>
              <a:buSzPct val="100000"/>
            </a:pPr>
            <a:r>
              <a:rPr lang="en-US" sz="2000" b="0" kern="0" dirty="0">
                <a:solidFill>
                  <a:srgbClr val="000000"/>
                </a:solidFill>
                <a:latin typeface="Arial"/>
              </a:rPr>
              <a:t>Squared Loss:</a:t>
            </a:r>
          </a:p>
        </p:txBody>
      </p:sp>
    </p:spTree>
    <p:extLst>
      <p:ext uri="{BB962C8B-B14F-4D97-AF65-F5344CB8AC3E}">
        <p14:creationId xmlns:p14="http://schemas.microsoft.com/office/powerpoint/2010/main" val="206765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梯度计算</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endParaRPr lang="en-US" sz="2400" dirty="0"/>
              </a:p>
              <a:p>
                <a:endParaRPr lang="en-US" sz="2400" dirty="0"/>
              </a:p>
              <a:p>
                <a:r>
                  <a:rPr lang="zh-CN" altLang="en-US" sz="2400" dirty="0"/>
                  <a:t>利用微分链式法则</a:t>
                </a:r>
                <a:r>
                  <a:rPr lang="en-US" sz="2400" dirty="0"/>
                  <a:t>:</a:t>
                </a:r>
              </a:p>
              <a:p>
                <a:endParaRPr lang="en-US" sz="2400" dirty="0"/>
              </a:p>
              <a:p>
                <a:endParaRPr lang="en-US" sz="3200" dirty="0"/>
              </a:p>
              <a:p>
                <a:r>
                  <a:rPr lang="zh-CN" altLang="en-US" sz="2400" dirty="0"/>
                  <a:t>对于</a:t>
                </a:r>
                <a:r>
                  <a:rPr lang="en-US" altLang="zh-CN" sz="2400" dirty="0"/>
                  <a:t>sigmoid</a:t>
                </a:r>
                <a:r>
                  <a:rPr lang="zh-CN" altLang="en-US" sz="2400" dirty="0"/>
                  <a:t>激活函数</a:t>
                </a:r>
                <a:r>
                  <a:rPr lang="en-US" sz="2400" dirty="0"/>
                  <a:t>:</a:t>
                </a:r>
              </a:p>
              <a:p>
                <a:endParaRPr lang="en-US" sz="2400" dirty="0"/>
              </a:p>
              <a:p>
                <a:endParaRPr lang="en-US" sz="2400" dirty="0"/>
              </a:p>
              <a:p>
                <a:endParaRPr lang="en-US" sz="2400" dirty="0"/>
              </a:p>
              <a:p>
                <a:endParaRPr lang="en-US" sz="2400" dirty="0"/>
              </a:p>
              <a:p>
                <a:r>
                  <a:rPr lang="zh-CN" altLang="en-US" sz="2400" dirty="0"/>
                  <a:t>如何计算每一层的</a:t>
                </a:r>
                <a14:m>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𝛿</m:t>
                        </m:r>
                      </m:e>
                      <m:sub>
                        <m:r>
                          <a:rPr lang="en-US" sz="2400" b="0" i="1" smtClean="0">
                            <a:latin typeface="Cambria Math" panose="02040503050406030204" pitchFamily="18" charset="0"/>
                          </a:rPr>
                          <m:t>𝑖</m:t>
                        </m:r>
                      </m:sub>
                      <m:sup>
                        <m:r>
                          <a:rPr lang="en-US" sz="2400" b="0" i="1" smtClean="0">
                            <a:latin typeface="Cambria Math" panose="02040503050406030204" pitchFamily="18" charset="0"/>
                          </a:rPr>
                          <m:t>𝑙</m:t>
                        </m:r>
                      </m:sup>
                    </m:sSubSup>
                  </m:oMath>
                </a14:m>
                <a:r>
                  <a:rPr lang="en-US" sz="24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40" b="-2000"/>
                </a:stretch>
              </a:blipFill>
            </p:spPr>
            <p:txBody>
              <a:bodyPr/>
              <a:lstStyle/>
              <a:p>
                <a:r>
                  <a:rPr lang="zh-CN" altLang="en-US">
                    <a:noFill/>
                  </a:rPr>
                  <a:t> </a:t>
                </a:r>
              </a:p>
            </p:txBody>
          </p:sp>
        </mc:Fallback>
      </mc:AlternateContent>
      <p:pic>
        <p:nvPicPr>
          <p:cNvPr id="4" name="Picture 3"/>
          <p:cNvPicPr>
            <a:picLocks noChangeAspect="1"/>
          </p:cNvPicPr>
          <p:nvPr/>
        </p:nvPicPr>
        <p:blipFill>
          <a:blip r:embed="rId3"/>
          <a:stretch>
            <a:fillRect/>
          </a:stretch>
        </p:blipFill>
        <p:spPr>
          <a:xfrm>
            <a:off x="762000" y="1046036"/>
            <a:ext cx="3116494" cy="1006620"/>
          </a:xfrm>
          <a:prstGeom prst="rect">
            <a:avLst/>
          </a:prstGeom>
        </p:spPr>
      </p:pic>
      <p:pic>
        <p:nvPicPr>
          <p:cNvPr id="5" name="Picture 4"/>
          <p:cNvPicPr>
            <a:picLocks noChangeAspect="1"/>
          </p:cNvPicPr>
          <p:nvPr/>
        </p:nvPicPr>
        <p:blipFill>
          <a:blip r:embed="rId4"/>
          <a:stretch>
            <a:fillRect/>
          </a:stretch>
        </p:blipFill>
        <p:spPr>
          <a:xfrm>
            <a:off x="2590800" y="2651778"/>
            <a:ext cx="3543300" cy="789190"/>
          </a:xfrm>
          <a:prstGeom prst="rect">
            <a:avLst/>
          </a:prstGeom>
        </p:spPr>
      </p:pic>
      <p:pic>
        <p:nvPicPr>
          <p:cNvPr id="6" name="Picture 5">
            <a:extLst>
              <a:ext uri="{FF2B5EF4-FFF2-40B4-BE49-F238E27FC236}">
                <a16:creationId xmlns:a16="http://schemas.microsoft.com/office/drawing/2014/main" id="{711E6844-0913-974D-B1F6-7F6DEB7497B4}"/>
              </a:ext>
            </a:extLst>
          </p:cNvPr>
          <p:cNvPicPr>
            <a:picLocks noChangeAspect="1"/>
          </p:cNvPicPr>
          <p:nvPr/>
        </p:nvPicPr>
        <p:blipFill>
          <a:blip r:embed="rId5"/>
          <a:stretch>
            <a:fillRect/>
          </a:stretch>
        </p:blipFill>
        <p:spPr>
          <a:xfrm>
            <a:off x="4809660" y="1371600"/>
            <a:ext cx="3506130" cy="719206"/>
          </a:xfrm>
          <a:prstGeom prst="rect">
            <a:avLst/>
          </a:prstGeom>
        </p:spPr>
      </p:pic>
      <p:pic>
        <p:nvPicPr>
          <p:cNvPr id="7" name="Picture 6"/>
          <p:cNvPicPr>
            <a:picLocks noChangeAspect="1"/>
          </p:cNvPicPr>
          <p:nvPr/>
        </p:nvPicPr>
        <p:blipFill>
          <a:blip r:embed="rId6"/>
          <a:stretch>
            <a:fillRect/>
          </a:stretch>
        </p:blipFill>
        <p:spPr>
          <a:xfrm>
            <a:off x="1828800" y="4114800"/>
            <a:ext cx="4733925" cy="1733550"/>
          </a:xfrm>
          <a:prstGeom prst="rect">
            <a:avLst/>
          </a:prstGeom>
        </p:spPr>
      </p:pic>
      <mc:AlternateContent xmlns:mc="http://schemas.openxmlformats.org/markup-compatibility/2006" xmlns:a14="http://schemas.microsoft.com/office/drawing/2010/main">
        <mc:Choice Requires="a14">
          <p:sp>
            <p:nvSpPr>
              <p:cNvPr id="8" name="TextBox 7"/>
              <p:cNvSpPr txBox="1"/>
              <p:nvPr/>
            </p:nvSpPr>
            <p:spPr>
              <a:xfrm>
                <a:off x="5893485" y="1033046"/>
                <a:ext cx="900568" cy="3385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2200" b="0" i="1" smtClean="0">
                              <a:latin typeface="Cambria Math" panose="02040503050406030204" pitchFamily="18" charset="0"/>
                            </a:rPr>
                          </m:ctrlPr>
                        </m:accPr>
                        <m:e>
                          <m:r>
                            <a:rPr lang="en-US" sz="2200" b="0" i="1" smtClean="0">
                              <a:latin typeface="Cambria Math" panose="02040503050406030204" pitchFamily="18" charset="0"/>
                            </a:rPr>
                            <m:t>𝑦</m:t>
                          </m:r>
                        </m:e>
                      </m:acc>
                      <m:r>
                        <a:rPr lang="en-US" sz="2200" b="0" i="1" smtClean="0">
                          <a:latin typeface="Cambria Math" panose="02040503050406030204" pitchFamily="18" charset="0"/>
                        </a:rPr>
                        <m:t>=</m:t>
                      </m:r>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𝑎</m:t>
                          </m:r>
                        </m:e>
                        <m:sup>
                          <m:r>
                            <a:rPr lang="en-US" sz="2200" b="0" i="1" smtClean="0">
                              <a:latin typeface="Cambria Math" panose="02040503050406030204" pitchFamily="18" charset="0"/>
                            </a:rPr>
                            <m:t>𝐿</m:t>
                          </m:r>
                        </m:sup>
                      </m:sSup>
                    </m:oMath>
                  </m:oMathPara>
                </a14:m>
                <a:endParaRPr lang="en-US" sz="2200" b="0" dirty="0"/>
              </a:p>
            </p:txBody>
          </p:sp>
        </mc:Choice>
        <mc:Fallback xmlns="">
          <p:sp>
            <p:nvSpPr>
              <p:cNvPr id="8" name="TextBox 7"/>
              <p:cNvSpPr txBox="1">
                <a:spLocks noRot="1" noChangeAspect="1" noMove="1" noResize="1" noEditPoints="1" noAdjustHandles="1" noChangeArrowheads="1" noChangeShapeType="1" noTextEdit="1"/>
              </p:cNvSpPr>
              <p:nvPr/>
            </p:nvSpPr>
            <p:spPr>
              <a:xfrm>
                <a:off x="5893485" y="1033046"/>
                <a:ext cx="900568" cy="338554"/>
              </a:xfrm>
              <a:prstGeom prst="rect">
                <a:avLst/>
              </a:prstGeom>
              <a:blipFill>
                <a:blip r:embed="rId7"/>
                <a:stretch>
                  <a:fillRect l="-5556" t="-10714" b="-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A4EA5B6-A84A-4A4A-AF25-EA098DBC3D25}"/>
                  </a:ext>
                </a:extLst>
              </p:cNvPr>
              <p:cNvSpPr txBox="1"/>
              <p:nvPr/>
            </p:nvSpPr>
            <p:spPr>
              <a:xfrm>
                <a:off x="2971800" y="1689556"/>
                <a:ext cx="172996" cy="215444"/>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𝑖𝑗</m:t>
                      </m:r>
                    </m:oMath>
                  </m:oMathPara>
                </a14:m>
                <a:endParaRPr lang="en-US" b="0" dirty="0"/>
              </a:p>
            </p:txBody>
          </p:sp>
        </mc:Choice>
        <mc:Fallback xmlns="">
          <p:sp>
            <p:nvSpPr>
              <p:cNvPr id="10" name="TextBox 9">
                <a:extLst>
                  <a:ext uri="{FF2B5EF4-FFF2-40B4-BE49-F238E27FC236}">
                    <a16:creationId xmlns:a16="http://schemas.microsoft.com/office/drawing/2014/main" id="{5A4EA5B6-A84A-4A4A-AF25-EA098DBC3D25}"/>
                  </a:ext>
                </a:extLst>
              </p:cNvPr>
              <p:cNvSpPr txBox="1">
                <a:spLocks noRot="1" noChangeAspect="1" noMove="1" noResize="1" noEditPoints="1" noAdjustHandles="1" noChangeArrowheads="1" noChangeShapeType="1" noTextEdit="1"/>
              </p:cNvSpPr>
              <p:nvPr/>
            </p:nvSpPr>
            <p:spPr>
              <a:xfrm>
                <a:off x="2971800" y="1689556"/>
                <a:ext cx="172996" cy="215444"/>
              </a:xfrm>
              <a:prstGeom prst="rect">
                <a:avLst/>
              </a:prstGeom>
              <a:blipFill>
                <a:blip r:embed="rId8"/>
                <a:stretch>
                  <a:fillRect l="-26667" r="-20000"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45125F8-19BD-D44A-B0F9-67081967AD4A}"/>
                  </a:ext>
                </a:extLst>
              </p:cNvPr>
              <p:cNvSpPr txBox="1"/>
              <p:nvPr/>
            </p:nvSpPr>
            <p:spPr>
              <a:xfrm>
                <a:off x="1143000" y="1705043"/>
                <a:ext cx="172996" cy="215444"/>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𝑖𝑗</m:t>
                      </m:r>
                    </m:oMath>
                  </m:oMathPara>
                </a14:m>
                <a:endParaRPr lang="en-US" b="0" dirty="0"/>
              </a:p>
            </p:txBody>
          </p:sp>
        </mc:Choice>
        <mc:Fallback xmlns="">
          <p:sp>
            <p:nvSpPr>
              <p:cNvPr id="11" name="TextBox 10">
                <a:extLst>
                  <a:ext uri="{FF2B5EF4-FFF2-40B4-BE49-F238E27FC236}">
                    <a16:creationId xmlns:a16="http://schemas.microsoft.com/office/drawing/2014/main" id="{C45125F8-19BD-D44A-B0F9-67081967AD4A}"/>
                  </a:ext>
                </a:extLst>
              </p:cNvPr>
              <p:cNvSpPr txBox="1">
                <a:spLocks noRot="1" noChangeAspect="1" noMove="1" noResize="1" noEditPoints="1" noAdjustHandles="1" noChangeArrowheads="1" noChangeShapeType="1" noTextEdit="1"/>
              </p:cNvSpPr>
              <p:nvPr/>
            </p:nvSpPr>
            <p:spPr>
              <a:xfrm>
                <a:off x="1143000" y="1705043"/>
                <a:ext cx="172996" cy="215444"/>
              </a:xfrm>
              <a:prstGeom prst="rect">
                <a:avLst/>
              </a:prstGeom>
              <a:blipFill>
                <a:blip r:embed="rId9"/>
                <a:stretch>
                  <a:fillRect l="-26667" r="-20000" b="-33333"/>
                </a:stretch>
              </a:blipFill>
            </p:spPr>
            <p:txBody>
              <a:bodyPr/>
              <a:lstStyle/>
              <a:p>
                <a:r>
                  <a:rPr lang="en-US">
                    <a:noFill/>
                  </a:rPr>
                  <a:t> </a:t>
                </a:r>
              </a:p>
            </p:txBody>
          </p:sp>
        </mc:Fallback>
      </mc:AlternateContent>
    </p:spTree>
    <p:extLst>
      <p:ext uri="{BB962C8B-B14F-4D97-AF65-F5344CB8AC3E}">
        <p14:creationId xmlns:p14="http://schemas.microsoft.com/office/powerpoint/2010/main" val="154937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z="2800" dirty="0"/>
              <a:t>反向传播算法</a:t>
            </a:r>
            <a:endParaRPr lang="en-US" sz="2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1066800"/>
                <a:ext cx="8686800" cy="5257800"/>
              </a:xfrm>
            </p:spPr>
            <p:txBody>
              <a:bodyPr/>
              <a:lstStyle/>
              <a:p>
                <a:r>
                  <a:rPr lang="zh-CN" altLang="en-US" sz="2400" dirty="0"/>
                  <a:t>输出层 </a:t>
                </a:r>
                <a:r>
                  <a:rPr lang="en-US" sz="2400" dirty="0"/>
                  <a:t>L:</a:t>
                </a:r>
              </a:p>
              <a:p>
                <a:endParaRPr lang="en-US" sz="2400" dirty="0"/>
              </a:p>
              <a:p>
                <a:pPr marL="0" indent="0">
                  <a:buNone/>
                </a:pPr>
                <a:endParaRPr lang="en-US" sz="3200" dirty="0"/>
              </a:p>
              <a:p>
                <a:r>
                  <a:rPr lang="zh-CN" altLang="en-US" sz="2400" dirty="0"/>
                  <a:t>隐层</a:t>
                </a:r>
                <a14:m>
                  <m:oMath xmlns:m="http://schemas.openxmlformats.org/officeDocument/2006/math">
                    <m:r>
                      <a:rPr lang="en-US" sz="2400" b="0" i="0" smtClean="0">
                        <a:latin typeface="Cambria Math" panose="02040503050406030204" pitchFamily="18" charset="0"/>
                      </a:rPr>
                      <m:t> </m:t>
                    </m:r>
                    <m:r>
                      <a:rPr lang="en-US" sz="2400" b="0" i="1" smtClean="0">
                        <a:latin typeface="Cambria Math" panose="02040503050406030204" pitchFamily="18" charset="0"/>
                      </a:rPr>
                      <m:t>𝑙</m:t>
                    </m:r>
                  </m:oMath>
                </a14:m>
                <a:r>
                  <a:rPr lang="en-US" sz="2400" dirty="0"/>
                  <a:t> (</a:t>
                </a:r>
                <a:r>
                  <a:rPr lang="zh-CN" altLang="en-US" sz="2400" dirty="0"/>
                  <a:t>利用链式法则</a:t>
                </a:r>
                <a:r>
                  <a:rPr lang="en-US" sz="2400" dirty="0"/>
                  <a:t>):</a:t>
                </a:r>
              </a:p>
              <a:p>
                <a:endParaRPr lang="en-US" sz="2400" dirty="0"/>
              </a:p>
              <a:p>
                <a:endParaRPr lang="en-US" sz="2400" dirty="0"/>
              </a:p>
              <a:p>
                <a:pPr lvl="1"/>
                <a:r>
                  <a:rPr lang="en-US" sz="2000" dirty="0"/>
                  <a:t>l </a:t>
                </a:r>
                <a:r>
                  <a:rPr lang="zh-CN" altLang="en-US" sz="2000" dirty="0"/>
                  <a:t>层的梯度可用 </a:t>
                </a:r>
                <a:r>
                  <a:rPr lang="en-US" sz="2000" dirty="0"/>
                  <a:t>l + 1 </a:t>
                </a:r>
                <a:r>
                  <a:rPr lang="zh-CN" altLang="en-US" sz="2000" dirty="0"/>
                  <a:t>层计算</a:t>
                </a:r>
                <a:endParaRPr lang="en-US" sz="2000" dirty="0"/>
              </a:p>
              <a:p>
                <a:pPr lvl="1"/>
                <a:r>
                  <a:rPr lang="zh-CN" altLang="en-US" sz="2000" dirty="0"/>
                  <a:t>从输出层 </a:t>
                </a:r>
                <a:r>
                  <a:rPr lang="en-US" altLang="zh-CN" sz="2000" dirty="0"/>
                  <a:t>L </a:t>
                </a:r>
                <a:r>
                  <a:rPr lang="zh-CN" altLang="en-US" sz="2000" dirty="0"/>
                  <a:t>开始，逐层向前计算</a:t>
                </a:r>
                <a:endParaRPr lang="en-US" sz="100" dirty="0"/>
              </a:p>
              <a:p>
                <a:r>
                  <a:rPr lang="zh-CN" altLang="en-US" sz="2000" dirty="0"/>
                  <a:t>每一步迭代中，利用梯度下降更新权重</a:t>
                </a:r>
                <a:endParaRPr lang="en-US" altLang="en-US" sz="2000" dirty="0"/>
              </a:p>
              <a:p>
                <a:r>
                  <a:rPr lang="zh-CN" altLang="en-US" sz="2000" dirty="0"/>
                  <a:t>下一步中，利用更新后的权重计算损失，并继续更新权重</a:t>
                </a:r>
                <a:endParaRPr lang="en-US" altLang="en-US" sz="2000" dirty="0"/>
              </a:p>
              <a:p>
                <a:r>
                  <a:rPr lang="zh-CN" altLang="en-US" sz="2000" dirty="0"/>
                  <a:t>前向计算误差，反向传播更新参数，直到收敛（损失不再下降）</a:t>
                </a:r>
                <a:r>
                  <a:rPr lang="en-US" altLang="en-US" sz="2400" dirty="0"/>
                  <a:t> </a:t>
                </a:r>
              </a:p>
              <a:p>
                <a:endParaRPr lang="en-US" sz="2400" dirty="0"/>
              </a:p>
              <a:p>
                <a:endParaRPr lang="en-US" sz="2400" dirty="0"/>
              </a:p>
              <a:p>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1066800"/>
                <a:ext cx="8686800" cy="5257800"/>
              </a:xfrm>
              <a:blipFill>
                <a:blip r:embed="rId2"/>
                <a:stretch>
                  <a:fillRect l="-842" t="-927"/>
                </a:stretch>
              </a:blipFill>
            </p:spPr>
            <p:txBody>
              <a:bodyPr/>
              <a:lstStyle/>
              <a:p>
                <a:r>
                  <a:rPr lang="zh-CN" altLang="en-US">
                    <a:noFill/>
                  </a:rPr>
                  <a:t> </a:t>
                </a:r>
              </a:p>
            </p:txBody>
          </p:sp>
        </mc:Fallback>
      </mc:AlternateContent>
      <p:pic>
        <p:nvPicPr>
          <p:cNvPr id="4" name="Picture 3"/>
          <p:cNvPicPr>
            <a:picLocks noChangeAspect="1"/>
          </p:cNvPicPr>
          <p:nvPr/>
        </p:nvPicPr>
        <p:blipFill>
          <a:blip r:embed="rId3"/>
          <a:stretch>
            <a:fillRect/>
          </a:stretch>
        </p:blipFill>
        <p:spPr>
          <a:xfrm>
            <a:off x="2023844" y="1649754"/>
            <a:ext cx="5090631" cy="1010708"/>
          </a:xfrm>
          <a:prstGeom prst="rect">
            <a:avLst/>
          </a:prstGeom>
        </p:spPr>
      </p:pic>
      <p:pic>
        <p:nvPicPr>
          <p:cNvPr id="6" name="Picture 5"/>
          <p:cNvPicPr>
            <a:picLocks noChangeAspect="1"/>
          </p:cNvPicPr>
          <p:nvPr/>
        </p:nvPicPr>
        <p:blipFill rotWithShape="1">
          <a:blip r:embed="rId4"/>
          <a:srcRect t="69314"/>
          <a:stretch/>
        </p:blipFill>
        <p:spPr>
          <a:xfrm>
            <a:off x="1905000" y="3152775"/>
            <a:ext cx="5534025" cy="809625"/>
          </a:xfrm>
          <a:prstGeom prst="rect">
            <a:avLst/>
          </a:prstGeom>
        </p:spPr>
      </p:pic>
      <p:pic>
        <p:nvPicPr>
          <p:cNvPr id="5" name="Picture 4"/>
          <p:cNvPicPr>
            <a:picLocks noChangeAspect="1"/>
          </p:cNvPicPr>
          <p:nvPr/>
        </p:nvPicPr>
        <p:blipFill rotWithShape="1">
          <a:blip r:embed="rId4"/>
          <a:srcRect t="2887" r="91738" b="74008"/>
          <a:stretch/>
        </p:blipFill>
        <p:spPr>
          <a:xfrm>
            <a:off x="2012269" y="3167063"/>
            <a:ext cx="457201" cy="609600"/>
          </a:xfrm>
          <a:prstGeom prst="rect">
            <a:avLst/>
          </a:prstGeom>
        </p:spPr>
      </p:pic>
    </p:spTree>
    <p:extLst>
      <p:ext uri="{BB962C8B-B14F-4D97-AF65-F5344CB8AC3E}">
        <p14:creationId xmlns:p14="http://schemas.microsoft.com/office/powerpoint/2010/main" val="681801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en-US" dirty="0"/>
              <a:t>如何设计</a:t>
            </a:r>
            <a:r>
              <a:rPr lang="en-US" altLang="en-US" dirty="0"/>
              <a:t>ANN</a:t>
            </a:r>
          </a:p>
        </p:txBody>
      </p:sp>
      <p:sp>
        <p:nvSpPr>
          <p:cNvPr id="19459" name="Rectangle 3"/>
          <p:cNvSpPr>
            <a:spLocks noGrp="1" noChangeArrowheads="1"/>
          </p:cNvSpPr>
          <p:nvPr>
            <p:ph type="body" idx="1"/>
          </p:nvPr>
        </p:nvSpPr>
        <p:spPr/>
        <p:txBody>
          <a:bodyPr/>
          <a:lstStyle/>
          <a:p>
            <a:r>
              <a:rPr lang="zh-CN" altLang="en-US" sz="2400" dirty="0"/>
              <a:t>输入层神经元数量</a:t>
            </a:r>
            <a:r>
              <a:rPr lang="en-US" altLang="en-US" sz="2400" dirty="0"/>
              <a:t> </a:t>
            </a:r>
          </a:p>
          <a:p>
            <a:pPr lvl="1"/>
            <a:r>
              <a:rPr lang="zh-CN" altLang="en-US" sz="2400" dirty="0"/>
              <a:t>每一个属性一个神经元</a:t>
            </a:r>
            <a:endParaRPr lang="en-US" altLang="en-US" sz="2400" dirty="0"/>
          </a:p>
          <a:p>
            <a:pPr lvl="1"/>
            <a:r>
              <a:rPr lang="zh-CN" altLang="en-US" sz="2400" dirty="0"/>
              <a:t>离散属性两种编码方式：</a:t>
            </a:r>
            <a:r>
              <a:rPr lang="en-US" altLang="en-US" sz="2400" dirty="0"/>
              <a:t>k or log</a:t>
            </a:r>
            <a:r>
              <a:rPr lang="en-US" altLang="en-US" sz="2400" baseline="-25000" dirty="0"/>
              <a:t>2</a:t>
            </a:r>
            <a:r>
              <a:rPr lang="en-US" altLang="en-US" sz="2400" dirty="0"/>
              <a:t> k </a:t>
            </a:r>
          </a:p>
          <a:p>
            <a:r>
              <a:rPr lang="zh-CN" altLang="en-US" sz="2400" dirty="0"/>
              <a:t>输出层神经元数量</a:t>
            </a:r>
            <a:endParaRPr lang="en-US" altLang="en-US" sz="2400" dirty="0"/>
          </a:p>
          <a:p>
            <a:pPr lvl="1"/>
            <a:r>
              <a:rPr lang="en-US" altLang="en-US" sz="2400" dirty="0"/>
              <a:t>2 </a:t>
            </a:r>
            <a:r>
              <a:rPr lang="zh-CN" altLang="en-US" sz="2400" dirty="0"/>
              <a:t>分类问题：一个神经元即可</a:t>
            </a:r>
            <a:endParaRPr lang="en-US" altLang="en-US" sz="2400" dirty="0"/>
          </a:p>
          <a:p>
            <a:pPr lvl="1"/>
            <a:r>
              <a:rPr lang="en-US" altLang="zh-CN" sz="2400" dirty="0"/>
              <a:t>k </a:t>
            </a:r>
            <a:r>
              <a:rPr lang="zh-CN" altLang="en-US" sz="2400" dirty="0"/>
              <a:t>分类问题：</a:t>
            </a:r>
            <a:r>
              <a:rPr lang="en-US" altLang="en-US" sz="2400" dirty="0"/>
              <a:t>k or log</a:t>
            </a:r>
            <a:r>
              <a:rPr lang="en-US" altLang="en-US" sz="2400" baseline="-25000" dirty="0"/>
              <a:t>2</a:t>
            </a:r>
            <a:r>
              <a:rPr lang="en-US" altLang="en-US" sz="2400" dirty="0"/>
              <a:t> k </a:t>
            </a:r>
            <a:r>
              <a:rPr lang="zh-CN" altLang="en-US" sz="2400" dirty="0"/>
              <a:t>个节点</a:t>
            </a:r>
            <a:endParaRPr lang="en-US" altLang="en-US" sz="2400" dirty="0"/>
          </a:p>
          <a:p>
            <a:r>
              <a:rPr lang="zh-CN" altLang="en-US" sz="2400" dirty="0"/>
              <a:t>隐含层数量及每层神经元数量</a:t>
            </a:r>
            <a:endParaRPr lang="en-US" altLang="en-US" sz="2400" dirty="0"/>
          </a:p>
          <a:p>
            <a:r>
              <a:rPr lang="zh-CN" altLang="en-US" sz="2400" dirty="0"/>
              <a:t>初始化网络权重和偏置</a:t>
            </a:r>
            <a:endParaRPr lang="en-US" altLang="en-US" sz="2400" dirty="0"/>
          </a:p>
          <a:p>
            <a:r>
              <a:rPr lang="zh-CN" altLang="en-US" sz="2400" dirty="0"/>
              <a:t>学习率</a:t>
            </a:r>
            <a:r>
              <a:rPr lang="en-US" altLang="en-US" sz="2400" dirty="0"/>
              <a:t>, </a:t>
            </a:r>
            <a:r>
              <a:rPr lang="zh-CN" altLang="en-US" sz="2400" dirty="0"/>
              <a:t>最大迭代步数</a:t>
            </a:r>
            <a:r>
              <a:rPr lang="en-US" altLang="en-US" sz="2400" dirty="0"/>
              <a:t>, </a:t>
            </a:r>
            <a:r>
              <a:rPr lang="zh-CN" altLang="en-US" sz="2400" dirty="0"/>
              <a:t>批大小</a:t>
            </a:r>
            <a:r>
              <a:rPr lang="en-US" altLang="en-US" sz="2400" dirty="0"/>
              <a:t> …</a:t>
            </a:r>
          </a:p>
          <a:p>
            <a:endParaRPr lang="en-US" altLang="en-US" sz="2400" dirty="0"/>
          </a:p>
          <a:p>
            <a:endParaRPr lang="en-US" alt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zh-CN" dirty="0"/>
              <a:t>ANN</a:t>
            </a:r>
            <a:r>
              <a:rPr lang="zh-CN" altLang="en-US" dirty="0"/>
              <a:t>的特点</a:t>
            </a:r>
            <a:endParaRPr lang="en-US" altLang="en-US" dirty="0"/>
          </a:p>
        </p:txBody>
      </p:sp>
      <p:sp>
        <p:nvSpPr>
          <p:cNvPr id="20483" name="Rectangle 3"/>
          <p:cNvSpPr>
            <a:spLocks noGrp="1" noChangeArrowheads="1"/>
          </p:cNvSpPr>
          <p:nvPr>
            <p:ph type="body" idx="1"/>
          </p:nvPr>
        </p:nvSpPr>
        <p:spPr/>
        <p:txBody>
          <a:bodyPr/>
          <a:lstStyle/>
          <a:p>
            <a:pPr>
              <a:lnSpc>
                <a:spcPct val="150000"/>
              </a:lnSpc>
              <a:buFont typeface="Wingdings" panose="05000000000000000000" pitchFamily="2" charset="2"/>
              <a:buChar char="p"/>
            </a:pPr>
            <a:r>
              <a:rPr lang="zh-CN" altLang="en-US" sz="2400" dirty="0"/>
              <a:t>太复杂的网络会出现过拟合</a:t>
            </a:r>
            <a:endParaRPr lang="en-US" altLang="en-US" sz="2400" dirty="0"/>
          </a:p>
          <a:p>
            <a:pPr>
              <a:lnSpc>
                <a:spcPct val="150000"/>
              </a:lnSpc>
              <a:buFont typeface="Wingdings" panose="05000000000000000000" pitchFamily="2" charset="2"/>
              <a:buChar char="p"/>
            </a:pPr>
            <a:r>
              <a:rPr lang="zh-CN" altLang="en-US" sz="2400" dirty="0"/>
              <a:t>随机初始化引发的局部最优问题</a:t>
            </a:r>
            <a:endParaRPr lang="en-US" altLang="en-US" sz="2400" dirty="0"/>
          </a:p>
          <a:p>
            <a:pPr>
              <a:lnSpc>
                <a:spcPct val="150000"/>
              </a:lnSpc>
              <a:buFont typeface="Wingdings" panose="05000000000000000000" pitchFamily="2" charset="2"/>
              <a:buChar char="p"/>
            </a:pPr>
            <a:r>
              <a:rPr lang="zh-CN" altLang="en-US" sz="2400" dirty="0"/>
              <a:t>训练慢，测试快</a:t>
            </a:r>
            <a:r>
              <a:rPr lang="en-US" altLang="en-US" sz="2400" dirty="0"/>
              <a:t> </a:t>
            </a:r>
          </a:p>
          <a:p>
            <a:pPr>
              <a:lnSpc>
                <a:spcPct val="150000"/>
              </a:lnSpc>
              <a:buFont typeface="Wingdings" panose="05000000000000000000" pitchFamily="2" charset="2"/>
              <a:buChar char="p"/>
            </a:pPr>
            <a:r>
              <a:rPr lang="zh-CN" altLang="en-US" sz="2400" dirty="0"/>
              <a:t>能够处理冗余特征和无关特征</a:t>
            </a:r>
            <a:r>
              <a:rPr lang="en-US" altLang="zh-CN" sz="2400" dirty="0"/>
              <a:t>——</a:t>
            </a:r>
            <a:r>
              <a:rPr lang="zh-CN" altLang="en-US" sz="2400" dirty="0"/>
              <a:t>因为特征的权重是自动更新的</a:t>
            </a:r>
            <a:endParaRPr lang="en-US" altLang="en-US" sz="2400" dirty="0"/>
          </a:p>
          <a:p>
            <a:pPr>
              <a:lnSpc>
                <a:spcPct val="150000"/>
              </a:lnSpc>
              <a:buFont typeface="Wingdings" panose="05000000000000000000" pitchFamily="2" charset="2"/>
              <a:buChar char="p"/>
            </a:pPr>
            <a:r>
              <a:rPr lang="zh-CN" altLang="en-US" sz="2400" dirty="0"/>
              <a:t>对噪声敏感</a:t>
            </a:r>
            <a:endParaRPr lang="en-US" altLang="en-US" sz="2400" dirty="0"/>
          </a:p>
          <a:p>
            <a:pPr>
              <a:lnSpc>
                <a:spcPct val="150000"/>
              </a:lnSpc>
              <a:buFont typeface="Wingdings" panose="05000000000000000000" pitchFamily="2" charset="2"/>
              <a:buChar char="p"/>
            </a:pPr>
            <a:r>
              <a:rPr lang="zh-CN" altLang="en-US" sz="2400" dirty="0"/>
              <a:t>无法处理缺失值</a:t>
            </a:r>
            <a:endParaRPr lang="en-US" alt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70246E-74DF-4966-87CC-8B0C88EE6323}"/>
              </a:ext>
            </a:extLst>
          </p:cNvPr>
          <p:cNvSpPr>
            <a:spLocks noGrp="1"/>
          </p:cNvSpPr>
          <p:nvPr>
            <p:ph type="title"/>
          </p:nvPr>
        </p:nvSpPr>
        <p:spPr/>
        <p:txBody>
          <a:bodyPr/>
          <a:lstStyle/>
          <a:p>
            <a:r>
              <a:rPr lang="zh-CN" altLang="en-US" dirty="0"/>
              <a:t>多层神经网络</a:t>
            </a:r>
            <a:r>
              <a:rPr lang="en-US" altLang="zh-CN" dirty="0"/>
              <a:t>Python</a:t>
            </a:r>
            <a:r>
              <a:rPr lang="zh-CN" altLang="en-US" dirty="0"/>
              <a:t>实现</a:t>
            </a:r>
          </a:p>
        </p:txBody>
      </p:sp>
      <p:pic>
        <p:nvPicPr>
          <p:cNvPr id="4" name="图片 3">
            <a:extLst>
              <a:ext uri="{FF2B5EF4-FFF2-40B4-BE49-F238E27FC236}">
                <a16:creationId xmlns:a16="http://schemas.microsoft.com/office/drawing/2014/main" id="{A3B255BE-7C44-4E2A-BAB6-CAE40A319EAF}"/>
              </a:ext>
            </a:extLst>
          </p:cNvPr>
          <p:cNvPicPr>
            <a:picLocks noChangeAspect="1"/>
          </p:cNvPicPr>
          <p:nvPr/>
        </p:nvPicPr>
        <p:blipFill>
          <a:blip r:embed="rId2"/>
          <a:stretch>
            <a:fillRect/>
          </a:stretch>
        </p:blipFill>
        <p:spPr>
          <a:xfrm>
            <a:off x="381000" y="1143000"/>
            <a:ext cx="7324725" cy="838200"/>
          </a:xfrm>
          <a:prstGeom prst="rect">
            <a:avLst/>
          </a:prstGeom>
        </p:spPr>
      </p:pic>
      <p:pic>
        <p:nvPicPr>
          <p:cNvPr id="5" name="图片 4">
            <a:extLst>
              <a:ext uri="{FF2B5EF4-FFF2-40B4-BE49-F238E27FC236}">
                <a16:creationId xmlns:a16="http://schemas.microsoft.com/office/drawing/2014/main" id="{86BCF9BD-BD38-4EDA-A249-D2262A6F941C}"/>
              </a:ext>
            </a:extLst>
          </p:cNvPr>
          <p:cNvPicPr>
            <a:picLocks noChangeAspect="1"/>
          </p:cNvPicPr>
          <p:nvPr/>
        </p:nvPicPr>
        <p:blipFill>
          <a:blip r:embed="rId3"/>
          <a:stretch>
            <a:fillRect/>
          </a:stretch>
        </p:blipFill>
        <p:spPr>
          <a:xfrm>
            <a:off x="114300" y="2220856"/>
            <a:ext cx="8915400" cy="3494144"/>
          </a:xfrm>
          <a:prstGeom prst="rect">
            <a:avLst/>
          </a:prstGeom>
        </p:spPr>
      </p:pic>
    </p:spTree>
    <p:extLst>
      <p:ext uri="{BB962C8B-B14F-4D97-AF65-F5344CB8AC3E}">
        <p14:creationId xmlns:p14="http://schemas.microsoft.com/office/powerpoint/2010/main" val="1366331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1200" y="1354836"/>
            <a:ext cx="4588476" cy="4512564"/>
          </a:xfrm>
          <a:prstGeom prst="rect">
            <a:avLst/>
          </a:prstGeom>
        </p:spPr>
      </p:pic>
      <p:sp>
        <p:nvSpPr>
          <p:cNvPr id="3" name="Rectangle 2">
            <a:extLst>
              <a:ext uri="{FF2B5EF4-FFF2-40B4-BE49-F238E27FC236}">
                <a16:creationId xmlns:a16="http://schemas.microsoft.com/office/drawing/2014/main" id="{5558E7D1-7DF1-4B23-A1CA-37D850E1F6CD}"/>
              </a:ext>
            </a:extLst>
          </p:cNvPr>
          <p:cNvSpPr txBox="1">
            <a:spLocks noChangeArrowheads="1"/>
          </p:cNvSpPr>
          <p:nvPr/>
        </p:nvSpPr>
        <p:spPr>
          <a:xfrm>
            <a:off x="381000" y="152400"/>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zh-CN" altLang="en-US" kern="0" dirty="0"/>
              <a:t>从</a:t>
            </a:r>
            <a:r>
              <a:rPr lang="en-US" altLang="zh-CN" kern="0" dirty="0"/>
              <a:t>ANN</a:t>
            </a:r>
            <a:r>
              <a:rPr lang="zh-CN" altLang="en-US" kern="0" dirty="0"/>
              <a:t>到</a:t>
            </a:r>
            <a:r>
              <a:rPr lang="en-US" altLang="zh-CN" kern="0" dirty="0"/>
              <a:t>Deep Learning</a:t>
            </a:r>
            <a:endParaRPr lang="en-US" altLang="en-US" kern="0" dirty="0"/>
          </a:p>
        </p:txBody>
      </p:sp>
      <p:sp>
        <p:nvSpPr>
          <p:cNvPr id="4" name="Rectangle 3">
            <a:extLst>
              <a:ext uri="{FF2B5EF4-FFF2-40B4-BE49-F238E27FC236}">
                <a16:creationId xmlns:a16="http://schemas.microsoft.com/office/drawing/2014/main" id="{6D416522-9C91-4EBD-A701-90209A35940C}"/>
              </a:ext>
            </a:extLst>
          </p:cNvPr>
          <p:cNvSpPr txBox="1">
            <a:spLocks noChangeArrowheads="1"/>
          </p:cNvSpPr>
          <p:nvPr/>
        </p:nvSpPr>
        <p:spPr>
          <a:xfrm>
            <a:off x="685800" y="2209800"/>
            <a:ext cx="3703637" cy="1524000"/>
          </a:xfrm>
          <a:prstGeom prst="rect">
            <a:avLst/>
          </a:prstGeom>
        </p:spPr>
        <p:txBody>
          <a:bodyPr/>
          <a:lst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a:lstStyle>
          <a:p>
            <a:pPr>
              <a:lnSpc>
                <a:spcPct val="150000"/>
              </a:lnSpc>
              <a:buFont typeface="Wingdings" panose="05000000000000000000" pitchFamily="2" charset="2"/>
              <a:buChar char="p"/>
            </a:pPr>
            <a:r>
              <a:rPr lang="zh-CN" altLang="en-US" sz="2400" b="0" kern="0" dirty="0"/>
              <a:t>多隐层</a:t>
            </a:r>
            <a:r>
              <a:rPr lang="en-US" altLang="zh-CN" sz="2400" b="0" kern="0" dirty="0"/>
              <a:t>ANN</a:t>
            </a:r>
          </a:p>
          <a:p>
            <a:pPr>
              <a:lnSpc>
                <a:spcPct val="150000"/>
              </a:lnSpc>
              <a:buFont typeface="Wingdings" panose="05000000000000000000" pitchFamily="2" charset="2"/>
              <a:buChar char="p"/>
            </a:pPr>
            <a:r>
              <a:rPr lang="zh-CN" altLang="en-US" sz="2400" b="0" kern="0" dirty="0"/>
              <a:t>现阶段人工智能的核心</a:t>
            </a:r>
            <a:endParaRPr lang="en-US" altLang="en-US" sz="2400" b="0" kern="0" dirty="0"/>
          </a:p>
        </p:txBody>
      </p:sp>
    </p:spTree>
    <p:extLst>
      <p:ext uri="{BB962C8B-B14F-4D97-AF65-F5344CB8AC3E}">
        <p14:creationId xmlns:p14="http://schemas.microsoft.com/office/powerpoint/2010/main" val="420972751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1595" y="1447800"/>
            <a:ext cx="8919210" cy="3925253"/>
            <a:chOff x="205105" y="1101217"/>
            <a:chExt cx="11892280" cy="5233670"/>
          </a:xfrm>
        </p:grpSpPr>
        <p:grpSp>
          <p:nvGrpSpPr>
            <p:cNvPr id="76" name="组合 75"/>
            <p:cNvGrpSpPr/>
            <p:nvPr/>
          </p:nvGrpSpPr>
          <p:grpSpPr>
            <a:xfrm>
              <a:off x="205105" y="1911477"/>
              <a:ext cx="11892280" cy="4423410"/>
              <a:chOff x="323" y="2691"/>
              <a:chExt cx="18728" cy="6966"/>
            </a:xfrm>
          </p:grpSpPr>
          <p:sp>
            <p:nvSpPr>
              <p:cNvPr id="2" name="右箭头 1"/>
              <p:cNvSpPr/>
              <p:nvPr/>
            </p:nvSpPr>
            <p:spPr>
              <a:xfrm>
                <a:off x="807" y="5547"/>
                <a:ext cx="18244" cy="420"/>
              </a:xfrm>
              <a:prstGeom prst="rightArrow">
                <a:avLst/>
              </a:prstGeom>
              <a:noFill/>
              <a:ln w="12700"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cxnSp>
            <p:nvCxnSpPr>
              <p:cNvPr id="3" name="直接箭头连接符 2"/>
              <p:cNvCxnSpPr/>
              <p:nvPr/>
            </p:nvCxnSpPr>
            <p:spPr>
              <a:xfrm flipV="1">
                <a:off x="1374" y="4877"/>
                <a:ext cx="0" cy="745"/>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V="1">
                <a:off x="7174" y="4879"/>
                <a:ext cx="0" cy="745"/>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flipV="1">
                <a:off x="4160" y="4877"/>
                <a:ext cx="0" cy="745"/>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11544" y="4877"/>
                <a:ext cx="0" cy="745"/>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a:off x="2244" y="5892"/>
                <a:ext cx="4" cy="720"/>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17575" y="5892"/>
                <a:ext cx="4" cy="720"/>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7584" y="5892"/>
                <a:ext cx="4" cy="720"/>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10441" y="5892"/>
                <a:ext cx="4" cy="720"/>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12921" y="5892"/>
                <a:ext cx="4" cy="720"/>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flipH="1">
                <a:off x="15193" y="5892"/>
                <a:ext cx="4" cy="720"/>
              </a:xfrm>
              <a:prstGeom prst="straightConnector1">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20" name="组合 19"/>
              <p:cNvGrpSpPr/>
              <p:nvPr/>
            </p:nvGrpSpPr>
            <p:grpSpPr>
              <a:xfrm>
                <a:off x="323" y="2691"/>
                <a:ext cx="2120" cy="2185"/>
                <a:chOff x="848" y="2691"/>
                <a:chExt cx="2865" cy="2185"/>
              </a:xfrm>
            </p:grpSpPr>
            <p:grpSp>
              <p:nvGrpSpPr>
                <p:cNvPr id="17" name="组合 16"/>
                <p:cNvGrpSpPr/>
                <p:nvPr/>
              </p:nvGrpSpPr>
              <p:grpSpPr>
                <a:xfrm>
                  <a:off x="848" y="2691"/>
                  <a:ext cx="2865" cy="2185"/>
                  <a:chOff x="2757" y="7750"/>
                  <a:chExt cx="2532" cy="1774"/>
                </a:xfrm>
              </p:grpSpPr>
              <p:sp>
                <p:nvSpPr>
                  <p:cNvPr id="15" name="矩形 14"/>
                  <p:cNvSpPr/>
                  <p:nvPr/>
                </p:nvSpPr>
                <p:spPr>
                  <a:xfrm>
                    <a:off x="2769" y="7750"/>
                    <a:ext cx="2520" cy="177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cxnSp>
                <p:nvCxnSpPr>
                  <p:cNvPr id="16" name="直接连接符 15"/>
                  <p:cNvCxnSpPr/>
                  <p:nvPr/>
                </p:nvCxnSpPr>
                <p:spPr>
                  <a:xfrm flipV="1">
                    <a:off x="2757" y="8445"/>
                    <a:ext cx="251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文本框 17"/>
                <p:cNvSpPr txBox="1"/>
                <p:nvPr/>
              </p:nvSpPr>
              <p:spPr>
                <a:xfrm>
                  <a:off x="1118" y="2816"/>
                  <a:ext cx="2339" cy="533"/>
                </a:xfrm>
                <a:prstGeom prst="rect">
                  <a:avLst/>
                </a:prstGeom>
                <a:noFill/>
              </p:spPr>
              <p:txBody>
                <a:bodyPr wrap="square" rtlCol="0">
                  <a:spAutoFit/>
                </a:bodyPr>
                <a:lstStyle/>
                <a:p>
                  <a:pPr algn="ctr"/>
                  <a:r>
                    <a:rPr lang="en-US" altLang="zh-CN" sz="1050">
                      <a:solidFill>
                        <a:srgbClr val="DA1F28">
                          <a:lumMod val="75000"/>
                        </a:srgbClr>
                      </a:solidFill>
                    </a:rPr>
                    <a:t>1956</a:t>
                  </a:r>
                  <a:r>
                    <a:rPr lang="zh-CN" altLang="en-US" sz="1050">
                      <a:solidFill>
                        <a:srgbClr val="DA1F28">
                          <a:lumMod val="75000"/>
                        </a:srgbClr>
                      </a:solidFill>
                    </a:rPr>
                    <a:t>年</a:t>
                  </a:r>
                </a:p>
              </p:txBody>
            </p:sp>
            <p:sp>
              <p:nvSpPr>
                <p:cNvPr id="19" name="文本框 18"/>
                <p:cNvSpPr txBox="1"/>
                <p:nvPr/>
              </p:nvSpPr>
              <p:spPr>
                <a:xfrm>
                  <a:off x="862" y="3736"/>
                  <a:ext cx="2826" cy="872"/>
                </a:xfrm>
                <a:prstGeom prst="rect">
                  <a:avLst/>
                </a:prstGeom>
                <a:noFill/>
              </p:spPr>
              <p:txBody>
                <a:bodyPr wrap="square" rtlCol="0">
                  <a:spAutoFit/>
                </a:bodyPr>
                <a:lstStyle/>
                <a:p>
                  <a:pPr algn="ctr"/>
                  <a:r>
                    <a:rPr lang="zh-CN" altLang="en-US" sz="1050">
                      <a:solidFill>
                        <a:prstClr val="black"/>
                      </a:solidFill>
                    </a:rPr>
                    <a:t>达特茅斯会议</a:t>
                  </a:r>
                </a:p>
                <a:p>
                  <a:pPr algn="ctr"/>
                  <a:r>
                    <a:rPr lang="zh-CN" altLang="en-US" sz="1050">
                      <a:solidFill>
                        <a:prstClr val="black"/>
                      </a:solidFill>
                    </a:rPr>
                    <a:t>标志</a:t>
                  </a:r>
                  <a:r>
                    <a:rPr lang="en-US" altLang="zh-CN" sz="1050">
                      <a:solidFill>
                        <a:prstClr val="black"/>
                      </a:solidFill>
                    </a:rPr>
                    <a:t>AI</a:t>
                  </a:r>
                  <a:r>
                    <a:rPr lang="zh-CN" altLang="en-US" sz="1050">
                      <a:solidFill>
                        <a:prstClr val="black"/>
                      </a:solidFill>
                    </a:rPr>
                    <a:t>诞生</a:t>
                  </a:r>
                </a:p>
              </p:txBody>
            </p:sp>
          </p:grpSp>
          <p:grpSp>
            <p:nvGrpSpPr>
              <p:cNvPr id="21" name="组合 20"/>
              <p:cNvGrpSpPr/>
              <p:nvPr/>
            </p:nvGrpSpPr>
            <p:grpSpPr>
              <a:xfrm>
                <a:off x="2740" y="2693"/>
                <a:ext cx="2865" cy="2185"/>
                <a:chOff x="848" y="2691"/>
                <a:chExt cx="2865" cy="2185"/>
              </a:xfrm>
            </p:grpSpPr>
            <p:grpSp>
              <p:nvGrpSpPr>
                <p:cNvPr id="22" name="组合 21"/>
                <p:cNvGrpSpPr/>
                <p:nvPr/>
              </p:nvGrpSpPr>
              <p:grpSpPr>
                <a:xfrm>
                  <a:off x="848" y="2691"/>
                  <a:ext cx="2865" cy="2185"/>
                  <a:chOff x="2757" y="7750"/>
                  <a:chExt cx="2532" cy="1774"/>
                </a:xfrm>
              </p:grpSpPr>
              <p:sp>
                <p:nvSpPr>
                  <p:cNvPr id="23" name="矩形 22"/>
                  <p:cNvSpPr/>
                  <p:nvPr/>
                </p:nvSpPr>
                <p:spPr>
                  <a:xfrm>
                    <a:off x="2769" y="7750"/>
                    <a:ext cx="2520" cy="177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cxnSp>
                <p:nvCxnSpPr>
                  <p:cNvPr id="24" name="直接连接符 23"/>
                  <p:cNvCxnSpPr/>
                  <p:nvPr/>
                </p:nvCxnSpPr>
                <p:spPr>
                  <a:xfrm flipV="1">
                    <a:off x="2757" y="8445"/>
                    <a:ext cx="251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文本框 24"/>
                <p:cNvSpPr txBox="1"/>
                <p:nvPr/>
              </p:nvSpPr>
              <p:spPr>
                <a:xfrm>
                  <a:off x="1118" y="2816"/>
                  <a:ext cx="2339" cy="533"/>
                </a:xfrm>
                <a:prstGeom prst="rect">
                  <a:avLst/>
                </a:prstGeom>
                <a:noFill/>
              </p:spPr>
              <p:txBody>
                <a:bodyPr wrap="square" rtlCol="0">
                  <a:spAutoFit/>
                </a:bodyPr>
                <a:lstStyle/>
                <a:p>
                  <a:pPr algn="ctr"/>
                  <a:r>
                    <a:rPr lang="en-US" altLang="zh-CN" sz="1050">
                      <a:solidFill>
                        <a:srgbClr val="DA1F28">
                          <a:lumMod val="75000"/>
                        </a:srgbClr>
                      </a:solidFill>
                    </a:rPr>
                    <a:t>1960</a:t>
                  </a:r>
                  <a:r>
                    <a:rPr lang="zh-CN" altLang="en-US" sz="1050">
                      <a:solidFill>
                        <a:srgbClr val="DA1F28">
                          <a:lumMod val="75000"/>
                        </a:srgbClr>
                      </a:solidFill>
                    </a:rPr>
                    <a:t>年</a:t>
                  </a:r>
                </a:p>
              </p:txBody>
            </p:sp>
            <p:sp>
              <p:nvSpPr>
                <p:cNvPr id="26" name="文本框 25"/>
                <p:cNvSpPr txBox="1"/>
                <p:nvPr/>
              </p:nvSpPr>
              <p:spPr>
                <a:xfrm>
                  <a:off x="862" y="3662"/>
                  <a:ext cx="2826" cy="1212"/>
                </a:xfrm>
                <a:prstGeom prst="rect">
                  <a:avLst/>
                </a:prstGeom>
                <a:noFill/>
              </p:spPr>
              <p:txBody>
                <a:bodyPr wrap="square" rtlCol="0">
                  <a:spAutoFit/>
                </a:bodyPr>
                <a:lstStyle/>
                <a:p>
                  <a:pPr algn="dist"/>
                  <a:r>
                    <a:rPr lang="zh-CN" altLang="en-US" sz="1050" dirty="0">
                      <a:solidFill>
                        <a:prstClr val="black"/>
                      </a:solidFill>
                    </a:rPr>
                    <a:t>通用问题求解（</a:t>
                  </a:r>
                  <a:r>
                    <a:rPr lang="en-US" altLang="zh-CN" sz="1050" dirty="0">
                      <a:solidFill>
                        <a:prstClr val="black"/>
                      </a:solidFill>
                    </a:rPr>
                    <a:t>General Problem Solving</a:t>
                  </a:r>
                  <a:r>
                    <a:rPr lang="zh-CN" altLang="en-US" sz="1050" dirty="0">
                      <a:solidFill>
                        <a:prstClr val="black"/>
                      </a:solidFill>
                    </a:rPr>
                    <a:t>）系统</a:t>
                  </a:r>
                </a:p>
              </p:txBody>
            </p:sp>
          </p:grpSp>
          <p:grpSp>
            <p:nvGrpSpPr>
              <p:cNvPr id="27" name="组合 26"/>
              <p:cNvGrpSpPr/>
              <p:nvPr/>
            </p:nvGrpSpPr>
            <p:grpSpPr>
              <a:xfrm>
                <a:off x="5850" y="2693"/>
                <a:ext cx="2673" cy="2185"/>
                <a:chOff x="848" y="2691"/>
                <a:chExt cx="2866" cy="2185"/>
              </a:xfrm>
            </p:grpSpPr>
            <p:grpSp>
              <p:nvGrpSpPr>
                <p:cNvPr id="28" name="组合 27"/>
                <p:cNvGrpSpPr/>
                <p:nvPr/>
              </p:nvGrpSpPr>
              <p:grpSpPr>
                <a:xfrm>
                  <a:off x="848" y="2691"/>
                  <a:ext cx="2865" cy="2185"/>
                  <a:chOff x="2757" y="7750"/>
                  <a:chExt cx="2532" cy="1774"/>
                </a:xfrm>
              </p:grpSpPr>
              <p:sp>
                <p:nvSpPr>
                  <p:cNvPr id="29" name="矩形 28"/>
                  <p:cNvSpPr/>
                  <p:nvPr/>
                </p:nvSpPr>
                <p:spPr>
                  <a:xfrm>
                    <a:off x="2769" y="7750"/>
                    <a:ext cx="2520" cy="177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cxnSp>
                <p:nvCxnSpPr>
                  <p:cNvPr id="30" name="直接连接符 29"/>
                  <p:cNvCxnSpPr/>
                  <p:nvPr/>
                </p:nvCxnSpPr>
                <p:spPr>
                  <a:xfrm flipV="1">
                    <a:off x="2757" y="8445"/>
                    <a:ext cx="251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文本框 30"/>
                <p:cNvSpPr txBox="1"/>
                <p:nvPr/>
              </p:nvSpPr>
              <p:spPr>
                <a:xfrm>
                  <a:off x="1118" y="2816"/>
                  <a:ext cx="2339" cy="533"/>
                </a:xfrm>
                <a:prstGeom prst="rect">
                  <a:avLst/>
                </a:prstGeom>
                <a:noFill/>
              </p:spPr>
              <p:txBody>
                <a:bodyPr wrap="square" rtlCol="0">
                  <a:spAutoFit/>
                </a:bodyPr>
                <a:lstStyle/>
                <a:p>
                  <a:pPr algn="ctr"/>
                  <a:r>
                    <a:rPr lang="en-US" altLang="zh-CN" sz="1050">
                      <a:solidFill>
                        <a:srgbClr val="DA1F28">
                          <a:lumMod val="75000"/>
                        </a:srgbClr>
                      </a:solidFill>
                    </a:rPr>
                    <a:t>1965</a:t>
                  </a:r>
                  <a:r>
                    <a:rPr lang="zh-CN" altLang="en-US" sz="1050">
                      <a:solidFill>
                        <a:srgbClr val="DA1F28">
                          <a:lumMod val="75000"/>
                        </a:srgbClr>
                      </a:solidFill>
                    </a:rPr>
                    <a:t>年</a:t>
                  </a:r>
                </a:p>
              </p:txBody>
            </p:sp>
            <p:sp>
              <p:nvSpPr>
                <p:cNvPr id="32" name="文本框 31"/>
                <p:cNvSpPr txBox="1"/>
                <p:nvPr/>
              </p:nvSpPr>
              <p:spPr>
                <a:xfrm>
                  <a:off x="888" y="3662"/>
                  <a:ext cx="2826" cy="1212"/>
                </a:xfrm>
                <a:prstGeom prst="rect">
                  <a:avLst/>
                </a:prstGeom>
                <a:noFill/>
              </p:spPr>
              <p:txBody>
                <a:bodyPr wrap="square" rtlCol="0">
                  <a:spAutoFit/>
                </a:bodyPr>
                <a:lstStyle/>
                <a:p>
                  <a:pPr algn="ctr"/>
                  <a:r>
                    <a:rPr lang="en-US" sz="1050">
                      <a:solidFill>
                        <a:prstClr val="black"/>
                      </a:solidFill>
                    </a:rPr>
                    <a:t>DENDRAL</a:t>
                  </a:r>
                  <a:r>
                    <a:rPr lang="zh-CN" altLang="en-US" sz="1050">
                      <a:solidFill>
                        <a:prstClr val="black"/>
                      </a:solidFill>
                    </a:rPr>
                    <a:t>专家系统问世，标志人工智能新时期的开始</a:t>
                  </a:r>
                </a:p>
              </p:txBody>
            </p:sp>
          </p:grpSp>
          <p:grpSp>
            <p:nvGrpSpPr>
              <p:cNvPr id="33" name="组合 32"/>
              <p:cNvGrpSpPr/>
              <p:nvPr/>
            </p:nvGrpSpPr>
            <p:grpSpPr>
              <a:xfrm>
                <a:off x="9900" y="2693"/>
                <a:ext cx="3523" cy="2185"/>
                <a:chOff x="848" y="2691"/>
                <a:chExt cx="3043" cy="2185"/>
              </a:xfrm>
            </p:grpSpPr>
            <p:grpSp>
              <p:nvGrpSpPr>
                <p:cNvPr id="34" name="组合 33"/>
                <p:cNvGrpSpPr/>
                <p:nvPr/>
              </p:nvGrpSpPr>
              <p:grpSpPr>
                <a:xfrm>
                  <a:off x="848" y="2691"/>
                  <a:ext cx="2865" cy="2185"/>
                  <a:chOff x="2757" y="7750"/>
                  <a:chExt cx="2532" cy="1774"/>
                </a:xfrm>
              </p:grpSpPr>
              <p:sp>
                <p:nvSpPr>
                  <p:cNvPr id="35" name="矩形 34"/>
                  <p:cNvSpPr/>
                  <p:nvPr/>
                </p:nvSpPr>
                <p:spPr>
                  <a:xfrm>
                    <a:off x="2769" y="7750"/>
                    <a:ext cx="2520" cy="177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cxnSp>
                <p:nvCxnSpPr>
                  <p:cNvPr id="36" name="直接连接符 35"/>
                  <p:cNvCxnSpPr/>
                  <p:nvPr/>
                </p:nvCxnSpPr>
                <p:spPr>
                  <a:xfrm flipV="1">
                    <a:off x="2757" y="8445"/>
                    <a:ext cx="251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文本框 36"/>
                <p:cNvSpPr txBox="1"/>
                <p:nvPr/>
              </p:nvSpPr>
              <p:spPr>
                <a:xfrm>
                  <a:off x="1118" y="2816"/>
                  <a:ext cx="2339" cy="533"/>
                </a:xfrm>
                <a:prstGeom prst="rect">
                  <a:avLst/>
                </a:prstGeom>
                <a:noFill/>
              </p:spPr>
              <p:txBody>
                <a:bodyPr wrap="square" rtlCol="0">
                  <a:spAutoFit/>
                </a:bodyPr>
                <a:lstStyle/>
                <a:p>
                  <a:pPr algn="ctr"/>
                  <a:r>
                    <a:rPr lang="en-US" sz="1050">
                      <a:solidFill>
                        <a:srgbClr val="DA1F28">
                          <a:lumMod val="75000"/>
                        </a:srgbClr>
                      </a:solidFill>
                    </a:rPr>
                    <a:t>20</a:t>
                  </a:r>
                  <a:r>
                    <a:rPr lang="zh-CN" altLang="en-US" sz="1050">
                      <a:solidFill>
                        <a:srgbClr val="DA1F28">
                          <a:lumMod val="75000"/>
                        </a:srgbClr>
                      </a:solidFill>
                    </a:rPr>
                    <a:t>世纪</a:t>
                  </a:r>
                  <a:r>
                    <a:rPr lang="en-US" altLang="zh-CN" sz="1050">
                      <a:solidFill>
                        <a:srgbClr val="DA1F28">
                          <a:lumMod val="75000"/>
                        </a:srgbClr>
                      </a:solidFill>
                    </a:rPr>
                    <a:t>80</a:t>
                  </a:r>
                  <a:r>
                    <a:rPr lang="zh-CN" altLang="en-US" sz="1050">
                      <a:solidFill>
                        <a:srgbClr val="DA1F28">
                          <a:lumMod val="75000"/>
                        </a:srgbClr>
                      </a:solidFill>
                    </a:rPr>
                    <a:t>年代</a:t>
                  </a:r>
                </a:p>
              </p:txBody>
            </p:sp>
            <p:sp>
              <p:nvSpPr>
                <p:cNvPr id="38" name="文本框 37"/>
                <p:cNvSpPr txBox="1"/>
                <p:nvPr/>
              </p:nvSpPr>
              <p:spPr>
                <a:xfrm>
                  <a:off x="862" y="3734"/>
                  <a:ext cx="3029" cy="872"/>
                </a:xfrm>
                <a:prstGeom prst="rect">
                  <a:avLst/>
                </a:prstGeom>
                <a:noFill/>
              </p:spPr>
              <p:txBody>
                <a:bodyPr wrap="square" rtlCol="0">
                  <a:spAutoFit/>
                </a:bodyPr>
                <a:lstStyle/>
                <a:p>
                  <a:r>
                    <a:rPr lang="zh-CN" altLang="en-US" sz="1050">
                      <a:solidFill>
                        <a:prstClr val="black"/>
                      </a:solidFill>
                    </a:rPr>
                    <a:t>符号学习的代表方法是决策树和基于逻辑的学习</a:t>
                  </a:r>
                </a:p>
              </p:txBody>
            </p:sp>
          </p:grpSp>
          <p:grpSp>
            <p:nvGrpSpPr>
              <p:cNvPr id="39" name="组合 38"/>
              <p:cNvGrpSpPr/>
              <p:nvPr/>
            </p:nvGrpSpPr>
            <p:grpSpPr>
              <a:xfrm>
                <a:off x="1181" y="6612"/>
                <a:ext cx="2120" cy="1979"/>
                <a:chOff x="848" y="2691"/>
                <a:chExt cx="2865" cy="2185"/>
              </a:xfrm>
            </p:grpSpPr>
            <p:grpSp>
              <p:nvGrpSpPr>
                <p:cNvPr id="40" name="组合 39"/>
                <p:cNvGrpSpPr/>
                <p:nvPr/>
              </p:nvGrpSpPr>
              <p:grpSpPr>
                <a:xfrm>
                  <a:off x="848" y="2691"/>
                  <a:ext cx="2865" cy="2185"/>
                  <a:chOff x="2757" y="7750"/>
                  <a:chExt cx="2532" cy="1774"/>
                </a:xfrm>
              </p:grpSpPr>
              <p:sp>
                <p:nvSpPr>
                  <p:cNvPr id="41" name="矩形 40"/>
                  <p:cNvSpPr/>
                  <p:nvPr/>
                </p:nvSpPr>
                <p:spPr>
                  <a:xfrm>
                    <a:off x="2769" y="7750"/>
                    <a:ext cx="2520" cy="177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cxnSp>
                <p:nvCxnSpPr>
                  <p:cNvPr id="42" name="直接连接符 41"/>
                  <p:cNvCxnSpPr/>
                  <p:nvPr/>
                </p:nvCxnSpPr>
                <p:spPr>
                  <a:xfrm flipV="1">
                    <a:off x="2757" y="8445"/>
                    <a:ext cx="2510" cy="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文本框 42"/>
                <p:cNvSpPr txBox="1"/>
                <p:nvPr/>
              </p:nvSpPr>
              <p:spPr>
                <a:xfrm>
                  <a:off x="1118" y="2816"/>
                  <a:ext cx="2339" cy="589"/>
                </a:xfrm>
                <a:prstGeom prst="rect">
                  <a:avLst/>
                </a:prstGeom>
                <a:noFill/>
              </p:spPr>
              <p:txBody>
                <a:bodyPr wrap="square" rtlCol="0">
                  <a:spAutoFit/>
                </a:bodyPr>
                <a:lstStyle/>
                <a:p>
                  <a:pPr algn="ctr"/>
                  <a:r>
                    <a:rPr lang="en-US" altLang="zh-CN" sz="1050">
                      <a:solidFill>
                        <a:srgbClr val="DA1F28">
                          <a:lumMod val="75000"/>
                        </a:srgbClr>
                      </a:solidFill>
                    </a:rPr>
                    <a:t>1957</a:t>
                  </a:r>
                  <a:r>
                    <a:rPr lang="zh-CN" altLang="en-US" sz="1050">
                      <a:solidFill>
                        <a:srgbClr val="DA1F28">
                          <a:lumMod val="75000"/>
                        </a:srgbClr>
                      </a:solidFill>
                    </a:rPr>
                    <a:t>年</a:t>
                  </a:r>
                </a:p>
              </p:txBody>
            </p:sp>
            <p:sp>
              <p:nvSpPr>
                <p:cNvPr id="44" name="文本框 43"/>
                <p:cNvSpPr txBox="1"/>
                <p:nvPr/>
              </p:nvSpPr>
              <p:spPr>
                <a:xfrm>
                  <a:off x="862" y="3736"/>
                  <a:ext cx="2826" cy="963"/>
                </a:xfrm>
                <a:prstGeom prst="rect">
                  <a:avLst/>
                </a:prstGeom>
                <a:noFill/>
              </p:spPr>
              <p:txBody>
                <a:bodyPr wrap="square" rtlCol="0">
                  <a:spAutoFit/>
                </a:bodyPr>
                <a:lstStyle/>
                <a:p>
                  <a:pPr algn="ctr"/>
                  <a:r>
                    <a:rPr lang="zh-CN" altLang="en-US" sz="1050">
                      <a:solidFill>
                        <a:prstClr val="black"/>
                      </a:solidFill>
                    </a:rPr>
                    <a:t>罗森布拉特发明感知机</a:t>
                  </a:r>
                </a:p>
              </p:txBody>
            </p:sp>
          </p:grpSp>
          <p:grpSp>
            <p:nvGrpSpPr>
              <p:cNvPr id="45" name="组合 44"/>
              <p:cNvGrpSpPr/>
              <p:nvPr/>
            </p:nvGrpSpPr>
            <p:grpSpPr>
              <a:xfrm>
                <a:off x="5794" y="6612"/>
                <a:ext cx="3614" cy="3045"/>
                <a:chOff x="664" y="2691"/>
                <a:chExt cx="3241" cy="2224"/>
              </a:xfrm>
            </p:grpSpPr>
            <p:grpSp>
              <p:nvGrpSpPr>
                <p:cNvPr id="46" name="组合 45"/>
                <p:cNvGrpSpPr/>
                <p:nvPr/>
              </p:nvGrpSpPr>
              <p:grpSpPr>
                <a:xfrm>
                  <a:off x="829" y="2691"/>
                  <a:ext cx="2884" cy="2186"/>
                  <a:chOff x="2740" y="7750"/>
                  <a:chExt cx="2549" cy="1775"/>
                </a:xfrm>
              </p:grpSpPr>
              <p:sp>
                <p:nvSpPr>
                  <p:cNvPr id="47" name="矩形 46"/>
                  <p:cNvSpPr/>
                  <p:nvPr/>
                </p:nvSpPr>
                <p:spPr>
                  <a:xfrm>
                    <a:off x="2769" y="7750"/>
                    <a:ext cx="2520" cy="1775"/>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cxnSp>
                <p:nvCxnSpPr>
                  <p:cNvPr id="48" name="直接连接符 47"/>
                  <p:cNvCxnSpPr/>
                  <p:nvPr/>
                </p:nvCxnSpPr>
                <p:spPr>
                  <a:xfrm flipV="1">
                    <a:off x="2740" y="8202"/>
                    <a:ext cx="2527" cy="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文本框 48"/>
                <p:cNvSpPr txBox="1"/>
                <p:nvPr/>
              </p:nvSpPr>
              <p:spPr>
                <a:xfrm>
                  <a:off x="1118" y="2816"/>
                  <a:ext cx="2339" cy="389"/>
                </a:xfrm>
                <a:prstGeom prst="rect">
                  <a:avLst/>
                </a:prstGeom>
                <a:noFill/>
              </p:spPr>
              <p:txBody>
                <a:bodyPr wrap="square" rtlCol="0">
                  <a:spAutoFit/>
                </a:bodyPr>
                <a:lstStyle/>
                <a:p>
                  <a:pPr algn="ctr"/>
                  <a:r>
                    <a:rPr lang="en-US" altLang="zh-CN" sz="1050">
                      <a:solidFill>
                        <a:srgbClr val="DA1F28">
                          <a:lumMod val="75000"/>
                        </a:srgbClr>
                      </a:solidFill>
                    </a:rPr>
                    <a:t>1969</a:t>
                  </a:r>
                  <a:r>
                    <a:rPr lang="zh-CN" altLang="en-US" sz="1050">
                      <a:solidFill>
                        <a:srgbClr val="DA1F28">
                          <a:lumMod val="75000"/>
                        </a:srgbClr>
                      </a:solidFill>
                    </a:rPr>
                    <a:t>年</a:t>
                  </a:r>
                </a:p>
              </p:txBody>
            </p:sp>
            <p:sp>
              <p:nvSpPr>
                <p:cNvPr id="50" name="文本框 49"/>
                <p:cNvSpPr txBox="1"/>
                <p:nvPr/>
              </p:nvSpPr>
              <p:spPr>
                <a:xfrm>
                  <a:off x="664" y="3286"/>
                  <a:ext cx="3241" cy="1629"/>
                </a:xfrm>
                <a:prstGeom prst="rect">
                  <a:avLst/>
                </a:prstGeom>
                <a:noFill/>
              </p:spPr>
              <p:txBody>
                <a:bodyPr wrap="square" rtlCol="0">
                  <a:spAutoFit/>
                </a:bodyPr>
                <a:lstStyle/>
                <a:p>
                  <a:pPr algn="ctr"/>
                  <a:r>
                    <a:rPr lang="zh-CN" altLang="en-US" sz="1050" dirty="0">
                      <a:solidFill>
                        <a:prstClr val="black"/>
                      </a:solidFill>
                    </a:rPr>
                    <a:t>Marvin Minsky和Seymour Papert分析了以感知机为代表的单层神经网络系统的局限，外加本身技术的限制，是的连接主义陷入谷底</a:t>
                  </a:r>
                </a:p>
              </p:txBody>
            </p:sp>
          </p:grpSp>
          <p:grpSp>
            <p:nvGrpSpPr>
              <p:cNvPr id="51" name="组合 50"/>
              <p:cNvGrpSpPr/>
              <p:nvPr/>
            </p:nvGrpSpPr>
            <p:grpSpPr>
              <a:xfrm>
                <a:off x="9361" y="6613"/>
                <a:ext cx="2183" cy="2705"/>
                <a:chOff x="829" y="2691"/>
                <a:chExt cx="2884" cy="1976"/>
              </a:xfrm>
            </p:grpSpPr>
            <p:grpSp>
              <p:nvGrpSpPr>
                <p:cNvPr id="52" name="组合 51"/>
                <p:cNvGrpSpPr/>
                <p:nvPr/>
              </p:nvGrpSpPr>
              <p:grpSpPr>
                <a:xfrm>
                  <a:off x="829" y="2691"/>
                  <a:ext cx="2884" cy="1938"/>
                  <a:chOff x="2740" y="7750"/>
                  <a:chExt cx="2549" cy="1574"/>
                </a:xfrm>
              </p:grpSpPr>
              <p:sp>
                <p:nvSpPr>
                  <p:cNvPr id="53" name="矩形 52"/>
                  <p:cNvSpPr/>
                  <p:nvPr/>
                </p:nvSpPr>
                <p:spPr>
                  <a:xfrm>
                    <a:off x="2769" y="7750"/>
                    <a:ext cx="2520" cy="15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cxnSp>
                <p:nvCxnSpPr>
                  <p:cNvPr id="54" name="直接连接符 53"/>
                  <p:cNvCxnSpPr/>
                  <p:nvPr/>
                </p:nvCxnSpPr>
                <p:spPr>
                  <a:xfrm flipV="1">
                    <a:off x="2740" y="8202"/>
                    <a:ext cx="2527" cy="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文本框 54"/>
                <p:cNvSpPr txBox="1"/>
                <p:nvPr/>
              </p:nvSpPr>
              <p:spPr>
                <a:xfrm>
                  <a:off x="1118" y="2816"/>
                  <a:ext cx="2339" cy="389"/>
                </a:xfrm>
                <a:prstGeom prst="rect">
                  <a:avLst/>
                </a:prstGeom>
                <a:noFill/>
              </p:spPr>
              <p:txBody>
                <a:bodyPr wrap="square" rtlCol="0">
                  <a:spAutoFit/>
                </a:bodyPr>
                <a:lstStyle/>
                <a:p>
                  <a:pPr algn="ctr"/>
                  <a:r>
                    <a:rPr lang="en-US" altLang="zh-CN" sz="1050">
                      <a:solidFill>
                        <a:srgbClr val="DA1F28">
                          <a:lumMod val="75000"/>
                        </a:srgbClr>
                      </a:solidFill>
                    </a:rPr>
                    <a:t>1983</a:t>
                  </a:r>
                  <a:r>
                    <a:rPr lang="zh-CN" altLang="en-US" sz="1050">
                      <a:solidFill>
                        <a:srgbClr val="DA1F28">
                          <a:lumMod val="75000"/>
                        </a:srgbClr>
                      </a:solidFill>
                    </a:rPr>
                    <a:t>年</a:t>
                  </a:r>
                </a:p>
              </p:txBody>
            </p:sp>
            <p:sp>
              <p:nvSpPr>
                <p:cNvPr id="56" name="文本框 55"/>
                <p:cNvSpPr txBox="1"/>
                <p:nvPr/>
              </p:nvSpPr>
              <p:spPr>
                <a:xfrm>
                  <a:off x="887" y="3286"/>
                  <a:ext cx="2826" cy="1381"/>
                </a:xfrm>
                <a:prstGeom prst="rect">
                  <a:avLst/>
                </a:prstGeom>
                <a:noFill/>
              </p:spPr>
              <p:txBody>
                <a:bodyPr wrap="square" rtlCol="0">
                  <a:spAutoFit/>
                </a:bodyPr>
                <a:lstStyle/>
                <a:p>
                  <a:pPr algn="ctr"/>
                  <a:r>
                    <a:rPr lang="en-US" altLang="zh-CN" sz="1050">
                      <a:solidFill>
                        <a:prstClr val="black"/>
                      </a:solidFill>
                    </a:rPr>
                    <a:t>J.JHopfield</a:t>
                  </a:r>
                  <a:r>
                    <a:rPr lang="zh-CN" altLang="en-US" sz="1050">
                      <a:solidFill>
                        <a:prstClr val="black"/>
                      </a:solidFill>
                    </a:rPr>
                    <a:t>解决了</a:t>
                  </a:r>
                  <a:r>
                    <a:rPr lang="en-US" altLang="zh-CN" sz="1050">
                      <a:solidFill>
                        <a:prstClr val="black"/>
                      </a:solidFill>
                    </a:rPr>
                    <a:t>NP</a:t>
                  </a:r>
                  <a:r>
                    <a:rPr lang="zh-CN" altLang="en-US" sz="1050">
                      <a:solidFill>
                        <a:prstClr val="black"/>
                      </a:solidFill>
                    </a:rPr>
                    <a:t>难问题，使得连接主义重新受到人们注意</a:t>
                  </a:r>
                </a:p>
              </p:txBody>
            </p:sp>
          </p:grpSp>
          <p:grpSp>
            <p:nvGrpSpPr>
              <p:cNvPr id="58" name="组合 57"/>
              <p:cNvGrpSpPr/>
              <p:nvPr/>
            </p:nvGrpSpPr>
            <p:grpSpPr>
              <a:xfrm>
                <a:off x="11832" y="6613"/>
                <a:ext cx="2183" cy="2026"/>
                <a:chOff x="829" y="2691"/>
                <a:chExt cx="2884" cy="1480"/>
              </a:xfrm>
            </p:grpSpPr>
            <p:grpSp>
              <p:nvGrpSpPr>
                <p:cNvPr id="59" name="组合 58"/>
                <p:cNvGrpSpPr/>
                <p:nvPr/>
              </p:nvGrpSpPr>
              <p:grpSpPr>
                <a:xfrm>
                  <a:off x="829" y="2691"/>
                  <a:ext cx="2884" cy="1446"/>
                  <a:chOff x="2740" y="7750"/>
                  <a:chExt cx="2549" cy="1174"/>
                </a:xfrm>
              </p:grpSpPr>
              <p:sp>
                <p:nvSpPr>
                  <p:cNvPr id="60" name="矩形 59"/>
                  <p:cNvSpPr/>
                  <p:nvPr/>
                </p:nvSpPr>
                <p:spPr>
                  <a:xfrm>
                    <a:off x="2769" y="7750"/>
                    <a:ext cx="2520" cy="11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cxnSp>
                <p:nvCxnSpPr>
                  <p:cNvPr id="61" name="直接连接符 60"/>
                  <p:cNvCxnSpPr/>
                  <p:nvPr/>
                </p:nvCxnSpPr>
                <p:spPr>
                  <a:xfrm flipV="1">
                    <a:off x="2740" y="8202"/>
                    <a:ext cx="2527" cy="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2" name="文本框 61"/>
                <p:cNvSpPr txBox="1"/>
                <p:nvPr/>
              </p:nvSpPr>
              <p:spPr>
                <a:xfrm>
                  <a:off x="1118" y="2816"/>
                  <a:ext cx="2339" cy="390"/>
                </a:xfrm>
                <a:prstGeom prst="rect">
                  <a:avLst/>
                </a:prstGeom>
                <a:noFill/>
              </p:spPr>
              <p:txBody>
                <a:bodyPr wrap="square" rtlCol="0">
                  <a:spAutoFit/>
                </a:bodyPr>
                <a:lstStyle/>
                <a:p>
                  <a:pPr algn="ctr"/>
                  <a:r>
                    <a:rPr lang="en-US" altLang="zh-CN" sz="1050">
                      <a:solidFill>
                        <a:srgbClr val="DA1F28">
                          <a:lumMod val="75000"/>
                        </a:srgbClr>
                      </a:solidFill>
                    </a:rPr>
                    <a:t>1986</a:t>
                  </a:r>
                  <a:r>
                    <a:rPr lang="zh-CN" altLang="en-US" sz="1050">
                      <a:solidFill>
                        <a:srgbClr val="DA1F28">
                          <a:lumMod val="75000"/>
                        </a:srgbClr>
                      </a:solidFill>
                    </a:rPr>
                    <a:t>年</a:t>
                  </a:r>
                </a:p>
              </p:txBody>
            </p:sp>
            <p:sp>
              <p:nvSpPr>
                <p:cNvPr id="63" name="文本框 62"/>
                <p:cNvSpPr txBox="1"/>
                <p:nvPr/>
              </p:nvSpPr>
              <p:spPr>
                <a:xfrm>
                  <a:off x="887" y="3286"/>
                  <a:ext cx="2826" cy="885"/>
                </a:xfrm>
                <a:prstGeom prst="rect">
                  <a:avLst/>
                </a:prstGeom>
                <a:noFill/>
              </p:spPr>
              <p:txBody>
                <a:bodyPr wrap="square" rtlCol="0">
                  <a:spAutoFit/>
                </a:bodyPr>
                <a:lstStyle/>
                <a:p>
                  <a:pPr algn="ctr"/>
                  <a:r>
                    <a:rPr lang="en-US" sz="1050">
                      <a:solidFill>
                        <a:prstClr val="black"/>
                      </a:solidFill>
                    </a:rPr>
                    <a:t>D.E.Rumelhart</a:t>
                  </a:r>
                  <a:r>
                    <a:rPr lang="zh-CN" altLang="en-US" sz="1050">
                      <a:solidFill>
                        <a:prstClr val="black"/>
                      </a:solidFill>
                    </a:rPr>
                    <a:t>等人发明了</a:t>
                  </a:r>
                  <a:r>
                    <a:rPr lang="en-US" altLang="zh-CN" sz="1050">
                      <a:solidFill>
                        <a:prstClr val="black"/>
                      </a:solidFill>
                    </a:rPr>
                    <a:t>BP</a:t>
                  </a:r>
                  <a:r>
                    <a:rPr lang="zh-CN" altLang="en-US" sz="1050">
                      <a:solidFill>
                        <a:prstClr val="black"/>
                      </a:solidFill>
                    </a:rPr>
                    <a:t>算法</a:t>
                  </a:r>
                </a:p>
              </p:txBody>
            </p:sp>
          </p:grpSp>
          <p:grpSp>
            <p:nvGrpSpPr>
              <p:cNvPr id="64" name="组合 63"/>
              <p:cNvGrpSpPr/>
              <p:nvPr/>
            </p:nvGrpSpPr>
            <p:grpSpPr>
              <a:xfrm>
                <a:off x="14104" y="6612"/>
                <a:ext cx="2183" cy="2993"/>
                <a:chOff x="829" y="2691"/>
                <a:chExt cx="2884" cy="1692"/>
              </a:xfrm>
            </p:grpSpPr>
            <p:grpSp>
              <p:nvGrpSpPr>
                <p:cNvPr id="65" name="组合 64"/>
                <p:cNvGrpSpPr/>
                <p:nvPr/>
              </p:nvGrpSpPr>
              <p:grpSpPr>
                <a:xfrm>
                  <a:off x="829" y="2691"/>
                  <a:ext cx="2884" cy="1692"/>
                  <a:chOff x="2740" y="7750"/>
                  <a:chExt cx="2549" cy="1374"/>
                </a:xfrm>
              </p:grpSpPr>
              <p:sp>
                <p:nvSpPr>
                  <p:cNvPr id="66" name="矩形 65"/>
                  <p:cNvSpPr/>
                  <p:nvPr/>
                </p:nvSpPr>
                <p:spPr>
                  <a:xfrm>
                    <a:off x="2769" y="7750"/>
                    <a:ext cx="2520" cy="13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cxnSp>
                <p:nvCxnSpPr>
                  <p:cNvPr id="67" name="直接连接符 66"/>
                  <p:cNvCxnSpPr/>
                  <p:nvPr/>
                </p:nvCxnSpPr>
                <p:spPr>
                  <a:xfrm flipV="1">
                    <a:off x="2740" y="8202"/>
                    <a:ext cx="2527" cy="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8" name="文本框 67"/>
                <p:cNvSpPr txBox="1"/>
                <p:nvPr/>
              </p:nvSpPr>
              <p:spPr>
                <a:xfrm>
                  <a:off x="1118" y="2691"/>
                  <a:ext cx="2339" cy="493"/>
                </a:xfrm>
                <a:prstGeom prst="rect">
                  <a:avLst/>
                </a:prstGeom>
                <a:noFill/>
              </p:spPr>
              <p:txBody>
                <a:bodyPr wrap="square" rtlCol="0">
                  <a:spAutoFit/>
                </a:bodyPr>
                <a:lstStyle/>
                <a:p>
                  <a:pPr algn="ctr"/>
                  <a:r>
                    <a:rPr lang="en-US" altLang="zh-CN" sz="1050">
                      <a:solidFill>
                        <a:srgbClr val="DA1F28">
                          <a:lumMod val="75000"/>
                        </a:srgbClr>
                      </a:solidFill>
                    </a:rPr>
                    <a:t>20</a:t>
                  </a:r>
                  <a:r>
                    <a:rPr lang="zh-CN" altLang="en-US" sz="1050">
                      <a:solidFill>
                        <a:srgbClr val="DA1F28">
                          <a:lumMod val="75000"/>
                        </a:srgbClr>
                      </a:solidFill>
                    </a:rPr>
                    <a:t>世纪</a:t>
                  </a:r>
                  <a:r>
                    <a:rPr lang="en-US" altLang="zh-CN" sz="1050">
                      <a:solidFill>
                        <a:srgbClr val="DA1F28">
                          <a:lumMod val="75000"/>
                        </a:srgbClr>
                      </a:solidFill>
                    </a:rPr>
                    <a:t>90</a:t>
                  </a:r>
                  <a:r>
                    <a:rPr lang="zh-CN" altLang="en-US" sz="1050">
                      <a:solidFill>
                        <a:srgbClr val="DA1F28">
                          <a:lumMod val="75000"/>
                        </a:srgbClr>
                      </a:solidFill>
                    </a:rPr>
                    <a:t>年代</a:t>
                  </a:r>
                </a:p>
              </p:txBody>
            </p:sp>
            <p:sp>
              <p:nvSpPr>
                <p:cNvPr id="69" name="文本框 68"/>
                <p:cNvSpPr txBox="1"/>
                <p:nvPr/>
              </p:nvSpPr>
              <p:spPr>
                <a:xfrm>
                  <a:off x="857" y="3266"/>
                  <a:ext cx="2826" cy="1069"/>
                </a:xfrm>
                <a:prstGeom prst="rect">
                  <a:avLst/>
                </a:prstGeom>
                <a:noFill/>
              </p:spPr>
              <p:txBody>
                <a:bodyPr wrap="square" rtlCol="0">
                  <a:spAutoFit/>
                </a:bodyPr>
                <a:lstStyle/>
                <a:p>
                  <a:pPr algn="just"/>
                  <a:r>
                    <a:rPr lang="zh-CN" altLang="en-US" sz="1050">
                      <a:solidFill>
                        <a:prstClr val="black"/>
                      </a:solidFill>
                    </a:rPr>
                    <a:t>统计学习登场，并迅速占领了历史舞台，代表性技术是</a:t>
                  </a:r>
                  <a:r>
                    <a:rPr lang="en-US" altLang="zh-CN" sz="1050">
                      <a:solidFill>
                        <a:prstClr val="black"/>
                      </a:solidFill>
                    </a:rPr>
                    <a:t>SVM</a:t>
                  </a:r>
                </a:p>
              </p:txBody>
            </p:sp>
          </p:grpSp>
          <p:grpSp>
            <p:nvGrpSpPr>
              <p:cNvPr id="70" name="组合 69"/>
              <p:cNvGrpSpPr/>
              <p:nvPr/>
            </p:nvGrpSpPr>
            <p:grpSpPr>
              <a:xfrm>
                <a:off x="16508" y="6623"/>
                <a:ext cx="2183" cy="2694"/>
                <a:chOff x="829" y="2691"/>
                <a:chExt cx="2884" cy="1978"/>
              </a:xfrm>
            </p:grpSpPr>
            <p:grpSp>
              <p:nvGrpSpPr>
                <p:cNvPr id="71" name="组合 70"/>
                <p:cNvGrpSpPr/>
                <p:nvPr/>
              </p:nvGrpSpPr>
              <p:grpSpPr>
                <a:xfrm>
                  <a:off x="829" y="2691"/>
                  <a:ext cx="2884" cy="1941"/>
                  <a:chOff x="2740" y="7750"/>
                  <a:chExt cx="2549" cy="1576"/>
                </a:xfrm>
              </p:grpSpPr>
              <p:sp>
                <p:nvSpPr>
                  <p:cNvPr id="72" name="矩形 71"/>
                  <p:cNvSpPr/>
                  <p:nvPr/>
                </p:nvSpPr>
                <p:spPr>
                  <a:xfrm>
                    <a:off x="2769" y="7750"/>
                    <a:ext cx="2520" cy="1576"/>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cxnSp>
                <p:nvCxnSpPr>
                  <p:cNvPr id="73" name="直接连接符 72"/>
                  <p:cNvCxnSpPr/>
                  <p:nvPr/>
                </p:nvCxnSpPr>
                <p:spPr>
                  <a:xfrm flipV="1">
                    <a:off x="2740" y="8202"/>
                    <a:ext cx="2527" cy="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4" name="文本框 73"/>
                <p:cNvSpPr txBox="1"/>
                <p:nvPr/>
              </p:nvSpPr>
              <p:spPr>
                <a:xfrm>
                  <a:off x="1118" y="2816"/>
                  <a:ext cx="2339" cy="391"/>
                </a:xfrm>
                <a:prstGeom prst="rect">
                  <a:avLst/>
                </a:prstGeom>
                <a:noFill/>
              </p:spPr>
              <p:txBody>
                <a:bodyPr wrap="square" rtlCol="0">
                  <a:spAutoFit/>
                </a:bodyPr>
                <a:lstStyle/>
                <a:p>
                  <a:pPr algn="ctr"/>
                  <a:r>
                    <a:rPr lang="en-US" altLang="zh-CN" sz="1050">
                      <a:solidFill>
                        <a:srgbClr val="DA1F28">
                          <a:lumMod val="75000"/>
                        </a:srgbClr>
                      </a:solidFill>
                    </a:rPr>
                    <a:t>2006</a:t>
                  </a:r>
                  <a:r>
                    <a:rPr lang="zh-CN" altLang="en-US" sz="1050">
                      <a:solidFill>
                        <a:srgbClr val="DA1F28">
                          <a:lumMod val="75000"/>
                        </a:srgbClr>
                      </a:solidFill>
                    </a:rPr>
                    <a:t>年</a:t>
                  </a:r>
                </a:p>
              </p:txBody>
            </p:sp>
            <p:sp>
              <p:nvSpPr>
                <p:cNvPr id="75" name="文本框 74"/>
                <p:cNvSpPr txBox="1"/>
                <p:nvPr/>
              </p:nvSpPr>
              <p:spPr>
                <a:xfrm>
                  <a:off x="829" y="3281"/>
                  <a:ext cx="2826" cy="1388"/>
                </a:xfrm>
                <a:prstGeom prst="rect">
                  <a:avLst/>
                </a:prstGeom>
                <a:noFill/>
              </p:spPr>
              <p:txBody>
                <a:bodyPr wrap="square" rtlCol="0">
                  <a:spAutoFit/>
                </a:bodyPr>
                <a:lstStyle/>
                <a:p>
                  <a:pPr algn="ctr"/>
                  <a:r>
                    <a:rPr lang="en-US" sz="1050">
                      <a:solidFill>
                        <a:prstClr val="black"/>
                      </a:solidFill>
                    </a:rPr>
                    <a:t>Hinton</a:t>
                  </a:r>
                  <a:r>
                    <a:rPr lang="zh-CN" altLang="en-US" sz="1050">
                      <a:solidFill>
                        <a:prstClr val="black"/>
                      </a:solidFill>
                    </a:rPr>
                    <a:t>提出了深度学习的神经网络，从此进入深度学习的时代</a:t>
                  </a:r>
                </a:p>
              </p:txBody>
            </p:sp>
          </p:grpSp>
        </p:grpSp>
        <p:sp>
          <p:nvSpPr>
            <p:cNvPr id="77" name="文本框 76"/>
            <p:cNvSpPr txBox="1"/>
            <p:nvPr/>
          </p:nvSpPr>
          <p:spPr>
            <a:xfrm>
              <a:off x="488316" y="1101217"/>
              <a:ext cx="3386455" cy="553997"/>
            </a:xfrm>
            <a:prstGeom prst="rect">
              <a:avLst/>
            </a:prstGeom>
            <a:noFill/>
          </p:spPr>
          <p:txBody>
            <a:bodyPr wrap="square" rtlCol="0">
              <a:spAutoFit/>
            </a:bodyPr>
            <a:lstStyle/>
            <a:p>
              <a:pPr algn="ctr"/>
              <a:r>
                <a:rPr lang="zh-CN" altLang="en-US" sz="1050" dirty="0">
                  <a:solidFill>
                    <a:prstClr val="black"/>
                  </a:solidFill>
                  <a:latin typeface="宋体" panose="02010600030101010101" pitchFamily="2" charset="-122"/>
                  <a:ea typeface="宋体" panose="02010600030101010101" pitchFamily="2" charset="-122"/>
                </a:rPr>
                <a:t>第</a:t>
              </a:r>
              <a:r>
                <a:rPr lang="en-US" altLang="zh-CN" sz="1050" dirty="0">
                  <a:solidFill>
                    <a:prstClr val="black"/>
                  </a:solidFill>
                  <a:latin typeface="宋体" panose="02010600030101010101" pitchFamily="2" charset="-122"/>
                  <a:ea typeface="宋体" panose="02010600030101010101" pitchFamily="2" charset="-122"/>
                </a:rPr>
                <a:t>1</a:t>
              </a:r>
              <a:r>
                <a:rPr lang="zh-CN" altLang="en-US" sz="1050" dirty="0">
                  <a:solidFill>
                    <a:prstClr val="black"/>
                  </a:solidFill>
                  <a:latin typeface="宋体" panose="02010600030101010101" pitchFamily="2" charset="-122"/>
                  <a:ea typeface="宋体" panose="02010600030101010101" pitchFamily="2" charset="-122"/>
                </a:rPr>
                <a:t>阶段：人工智能起步期</a:t>
              </a:r>
            </a:p>
            <a:p>
              <a:pPr algn="ctr"/>
              <a:r>
                <a:rPr lang="zh-CN" altLang="en-US" sz="1050" dirty="0">
                  <a:solidFill>
                    <a:prstClr val="black"/>
                  </a:solidFill>
                  <a:latin typeface="宋体" panose="02010600030101010101" pitchFamily="2" charset="-122"/>
                  <a:ea typeface="宋体" panose="02010600030101010101" pitchFamily="2" charset="-122"/>
                </a:rPr>
                <a:t>（</a:t>
              </a:r>
              <a:r>
                <a:rPr lang="en-US" altLang="zh-CN" sz="1050" dirty="0">
                  <a:solidFill>
                    <a:prstClr val="black"/>
                  </a:solidFill>
                  <a:latin typeface="宋体" panose="02010600030101010101" pitchFamily="2" charset="-122"/>
                  <a:ea typeface="宋体" panose="02010600030101010101" pitchFamily="2" charset="-122"/>
                </a:rPr>
                <a:t>1956-1980s</a:t>
              </a:r>
              <a:r>
                <a:rPr lang="zh-CN" altLang="en-US" sz="1050" dirty="0">
                  <a:solidFill>
                    <a:prstClr val="black"/>
                  </a:solidFill>
                  <a:latin typeface="宋体" panose="02010600030101010101" pitchFamily="2" charset="-122"/>
                  <a:ea typeface="宋体" panose="02010600030101010101" pitchFamily="2" charset="-122"/>
                </a:rPr>
                <a:t>）</a:t>
              </a:r>
            </a:p>
          </p:txBody>
        </p:sp>
        <p:sp>
          <p:nvSpPr>
            <p:cNvPr id="78" name="文本框 77"/>
            <p:cNvSpPr txBox="1"/>
            <p:nvPr/>
          </p:nvSpPr>
          <p:spPr>
            <a:xfrm>
              <a:off x="5585460" y="1101217"/>
              <a:ext cx="3386455" cy="553997"/>
            </a:xfrm>
            <a:prstGeom prst="rect">
              <a:avLst/>
            </a:prstGeom>
            <a:noFill/>
          </p:spPr>
          <p:txBody>
            <a:bodyPr wrap="square" rtlCol="0">
              <a:spAutoFit/>
            </a:bodyPr>
            <a:lstStyle/>
            <a:p>
              <a:pPr algn="ctr"/>
              <a:r>
                <a:rPr lang="zh-CN" altLang="en-US" sz="1050">
                  <a:solidFill>
                    <a:prstClr val="black"/>
                  </a:solidFill>
                  <a:latin typeface="宋体" panose="02010600030101010101" pitchFamily="2" charset="-122"/>
                  <a:ea typeface="宋体" panose="02010600030101010101" pitchFamily="2" charset="-122"/>
                </a:rPr>
                <a:t>第</a:t>
              </a:r>
              <a:r>
                <a:rPr lang="en-US" altLang="zh-CN" sz="1050">
                  <a:solidFill>
                    <a:prstClr val="black"/>
                  </a:solidFill>
                  <a:latin typeface="宋体" panose="02010600030101010101" pitchFamily="2" charset="-122"/>
                  <a:ea typeface="宋体" panose="02010600030101010101" pitchFamily="2" charset="-122"/>
                </a:rPr>
                <a:t>2</a:t>
              </a:r>
              <a:r>
                <a:rPr lang="zh-CN" altLang="en-US" sz="1050">
                  <a:solidFill>
                    <a:prstClr val="black"/>
                  </a:solidFill>
                  <a:latin typeface="宋体" panose="02010600030101010101" pitchFamily="2" charset="-122"/>
                  <a:ea typeface="宋体" panose="02010600030101010101" pitchFamily="2" charset="-122"/>
                </a:rPr>
                <a:t>阶段：专家系统推广</a:t>
              </a:r>
            </a:p>
            <a:p>
              <a:pPr algn="ctr"/>
              <a:r>
                <a:rPr lang="zh-CN" altLang="en-US" sz="1050">
                  <a:solidFill>
                    <a:prstClr val="black"/>
                  </a:solidFill>
                  <a:latin typeface="宋体" panose="02010600030101010101" pitchFamily="2" charset="-122"/>
                  <a:ea typeface="宋体" panose="02010600030101010101" pitchFamily="2" charset="-122"/>
                </a:rPr>
                <a:t>（</a:t>
              </a:r>
              <a:r>
                <a:rPr lang="en-US" altLang="zh-CN" sz="1050">
                  <a:solidFill>
                    <a:prstClr val="black"/>
                  </a:solidFill>
                  <a:latin typeface="宋体" panose="02010600030101010101" pitchFamily="2" charset="-122"/>
                  <a:ea typeface="宋体" panose="02010600030101010101" pitchFamily="2" charset="-122"/>
                </a:rPr>
                <a:t>1980s-1990s</a:t>
              </a:r>
              <a:r>
                <a:rPr lang="zh-CN" altLang="en-US" sz="1050">
                  <a:solidFill>
                    <a:prstClr val="black"/>
                  </a:solidFill>
                  <a:latin typeface="宋体" panose="02010600030101010101" pitchFamily="2" charset="-122"/>
                  <a:ea typeface="宋体" panose="02010600030101010101" pitchFamily="2" charset="-122"/>
                </a:rPr>
                <a:t>）</a:t>
              </a:r>
            </a:p>
          </p:txBody>
        </p:sp>
        <p:sp>
          <p:nvSpPr>
            <p:cNvPr id="79" name="文本框 78"/>
            <p:cNvSpPr txBox="1"/>
            <p:nvPr/>
          </p:nvSpPr>
          <p:spPr>
            <a:xfrm>
              <a:off x="8710930" y="1101217"/>
              <a:ext cx="3386455" cy="553997"/>
            </a:xfrm>
            <a:prstGeom prst="rect">
              <a:avLst/>
            </a:prstGeom>
            <a:noFill/>
          </p:spPr>
          <p:txBody>
            <a:bodyPr wrap="square" rtlCol="0">
              <a:spAutoFit/>
            </a:bodyPr>
            <a:lstStyle/>
            <a:p>
              <a:pPr algn="ctr"/>
              <a:r>
                <a:rPr lang="zh-CN" altLang="en-US" sz="1050" dirty="0">
                  <a:solidFill>
                    <a:srgbClr val="FF0000"/>
                  </a:solidFill>
                  <a:latin typeface="宋体" panose="02010600030101010101" pitchFamily="2" charset="-122"/>
                  <a:ea typeface="宋体" panose="02010600030101010101" pitchFamily="2" charset="-122"/>
                </a:rPr>
                <a:t>第</a:t>
              </a:r>
              <a:r>
                <a:rPr lang="en-US" altLang="zh-CN" sz="1050" dirty="0">
                  <a:solidFill>
                    <a:srgbClr val="FF0000"/>
                  </a:solidFill>
                  <a:latin typeface="宋体" panose="02010600030101010101" pitchFamily="2" charset="-122"/>
                  <a:ea typeface="宋体" panose="02010600030101010101" pitchFamily="2" charset="-122"/>
                </a:rPr>
                <a:t>3</a:t>
              </a:r>
              <a:r>
                <a:rPr lang="zh-CN" altLang="en-US" sz="1050" dirty="0">
                  <a:solidFill>
                    <a:srgbClr val="FF0000"/>
                  </a:solidFill>
                  <a:latin typeface="宋体" panose="02010600030101010101" pitchFamily="2" charset="-122"/>
                  <a:ea typeface="宋体" panose="02010600030101010101" pitchFamily="2" charset="-122"/>
                </a:rPr>
                <a:t>阶段：深度学习</a:t>
              </a:r>
            </a:p>
            <a:p>
              <a:pPr algn="ctr"/>
              <a:r>
                <a:rPr lang="zh-CN" altLang="en-US" sz="1050" dirty="0">
                  <a:solidFill>
                    <a:srgbClr val="FF0000"/>
                  </a:solidFill>
                  <a:latin typeface="宋体" panose="02010600030101010101" pitchFamily="2" charset="-122"/>
                  <a:ea typeface="宋体" panose="02010600030101010101" pitchFamily="2" charset="-122"/>
                </a:rPr>
                <a:t>（</a:t>
              </a:r>
              <a:r>
                <a:rPr lang="en-US" altLang="zh-CN" sz="1050" dirty="0">
                  <a:solidFill>
                    <a:srgbClr val="FF0000"/>
                  </a:solidFill>
                  <a:latin typeface="宋体" panose="02010600030101010101" pitchFamily="2" charset="-122"/>
                  <a:ea typeface="宋体" panose="02010600030101010101" pitchFamily="2" charset="-122"/>
                </a:rPr>
                <a:t>2000s</a:t>
              </a:r>
              <a:r>
                <a:rPr lang="zh-CN" altLang="en-US" sz="1050" dirty="0">
                  <a:solidFill>
                    <a:srgbClr val="FF0000"/>
                  </a:solidFill>
                  <a:latin typeface="宋体" panose="02010600030101010101" pitchFamily="2" charset="-122"/>
                  <a:ea typeface="宋体" panose="02010600030101010101" pitchFamily="2" charset="-122"/>
                </a:rPr>
                <a:t>至今）</a:t>
              </a:r>
            </a:p>
          </p:txBody>
        </p:sp>
      </p:grpSp>
      <p:sp>
        <p:nvSpPr>
          <p:cNvPr id="80" name="Rectangle 2">
            <a:extLst>
              <a:ext uri="{FF2B5EF4-FFF2-40B4-BE49-F238E27FC236}">
                <a16:creationId xmlns:a16="http://schemas.microsoft.com/office/drawing/2014/main" id="{D048C872-E54C-486F-9233-8D617D475585}"/>
              </a:ext>
            </a:extLst>
          </p:cNvPr>
          <p:cNvSpPr txBox="1">
            <a:spLocks noChangeArrowheads="1"/>
          </p:cNvSpPr>
          <p:nvPr/>
        </p:nvSpPr>
        <p:spPr>
          <a:xfrm>
            <a:off x="381000" y="152400"/>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zh-CN" altLang="en-US" kern="0" dirty="0"/>
              <a:t>深度学习与人工智能</a:t>
            </a:r>
            <a:endParaRPr lang="en-US" altLang="en-US" kern="0" dirty="0"/>
          </a:p>
        </p:txBody>
      </p:sp>
    </p:spTree>
    <p:extLst>
      <p:ext uri="{BB962C8B-B14F-4D97-AF65-F5344CB8AC3E}">
        <p14:creationId xmlns:p14="http://schemas.microsoft.com/office/powerpoint/2010/main" val="31004808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流程图: 联系 15"/>
          <p:cNvSpPr/>
          <p:nvPr/>
        </p:nvSpPr>
        <p:spPr>
          <a:xfrm flipH="1" flipV="1">
            <a:off x="3287744" y="4023551"/>
            <a:ext cx="162878" cy="175736"/>
          </a:xfrm>
          <a:prstGeom prst="flowChartConnector">
            <a:avLst/>
          </a:prstGeom>
          <a:solidFill>
            <a:srgbClr val="92D050"/>
          </a:solidFill>
          <a:ln w="12700" cmpd="sng">
            <a:solidFill>
              <a:srgbClr val="92D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sp>
        <p:nvSpPr>
          <p:cNvPr id="18" name="流程图: 联系 17"/>
          <p:cNvSpPr/>
          <p:nvPr/>
        </p:nvSpPr>
        <p:spPr>
          <a:xfrm flipH="1" flipV="1">
            <a:off x="3678269" y="3577305"/>
            <a:ext cx="162878" cy="175736"/>
          </a:xfrm>
          <a:prstGeom prst="flowChartConnector">
            <a:avLst/>
          </a:prstGeom>
          <a:solidFill>
            <a:srgbClr val="92D050"/>
          </a:solidFill>
          <a:ln w="12700" cmpd="sng">
            <a:solidFill>
              <a:srgbClr val="92D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sp>
        <p:nvSpPr>
          <p:cNvPr id="37" name="文本框 36"/>
          <p:cNvSpPr txBox="1"/>
          <p:nvPr/>
        </p:nvSpPr>
        <p:spPr>
          <a:xfrm>
            <a:off x="578834" y="4731258"/>
            <a:ext cx="641985" cy="253916"/>
          </a:xfrm>
          <a:prstGeom prst="rect">
            <a:avLst/>
          </a:prstGeom>
          <a:noFill/>
        </p:spPr>
        <p:txBody>
          <a:bodyPr wrap="square" rtlCol="0">
            <a:spAutoFit/>
          </a:bodyPr>
          <a:lstStyle/>
          <a:p>
            <a:pPr algn="ctr"/>
            <a:r>
              <a:rPr lang="en-US" altLang="zh-CN" sz="1050">
                <a:solidFill>
                  <a:prstClr val="black"/>
                </a:solidFill>
              </a:rPr>
              <a:t>1943</a:t>
            </a:r>
          </a:p>
        </p:txBody>
      </p:sp>
      <p:sp>
        <p:nvSpPr>
          <p:cNvPr id="38" name="文本框 37"/>
          <p:cNvSpPr txBox="1"/>
          <p:nvPr/>
        </p:nvSpPr>
        <p:spPr>
          <a:xfrm>
            <a:off x="1433227" y="2779586"/>
            <a:ext cx="641985" cy="253916"/>
          </a:xfrm>
          <a:prstGeom prst="rect">
            <a:avLst/>
          </a:prstGeom>
          <a:noFill/>
        </p:spPr>
        <p:txBody>
          <a:bodyPr wrap="square" rtlCol="0">
            <a:spAutoFit/>
          </a:bodyPr>
          <a:lstStyle/>
          <a:p>
            <a:pPr algn="ctr"/>
            <a:r>
              <a:rPr lang="en-US" altLang="zh-CN" sz="1050">
                <a:solidFill>
                  <a:prstClr val="black"/>
                </a:solidFill>
              </a:rPr>
              <a:t>1969</a:t>
            </a:r>
          </a:p>
        </p:txBody>
      </p:sp>
      <p:sp>
        <p:nvSpPr>
          <p:cNvPr id="39" name="文本框 38"/>
          <p:cNvSpPr txBox="1"/>
          <p:nvPr/>
        </p:nvSpPr>
        <p:spPr>
          <a:xfrm>
            <a:off x="2495741" y="4600766"/>
            <a:ext cx="641985" cy="253916"/>
          </a:xfrm>
          <a:prstGeom prst="rect">
            <a:avLst/>
          </a:prstGeom>
          <a:noFill/>
        </p:spPr>
        <p:txBody>
          <a:bodyPr wrap="square" rtlCol="0">
            <a:spAutoFit/>
          </a:bodyPr>
          <a:lstStyle/>
          <a:p>
            <a:pPr algn="ctr"/>
            <a:r>
              <a:rPr lang="en-US" altLang="zh-CN" sz="1050">
                <a:solidFill>
                  <a:prstClr val="black"/>
                </a:solidFill>
              </a:rPr>
              <a:t>1986</a:t>
            </a:r>
          </a:p>
        </p:txBody>
      </p:sp>
      <p:sp>
        <p:nvSpPr>
          <p:cNvPr id="40" name="文本框 39"/>
          <p:cNvSpPr txBox="1"/>
          <p:nvPr/>
        </p:nvSpPr>
        <p:spPr>
          <a:xfrm>
            <a:off x="3967353" y="2882932"/>
            <a:ext cx="641985" cy="253916"/>
          </a:xfrm>
          <a:prstGeom prst="rect">
            <a:avLst/>
          </a:prstGeom>
          <a:noFill/>
        </p:spPr>
        <p:txBody>
          <a:bodyPr wrap="square" rtlCol="0">
            <a:spAutoFit/>
          </a:bodyPr>
          <a:lstStyle/>
          <a:p>
            <a:pPr algn="ctr"/>
            <a:r>
              <a:rPr lang="en-US" altLang="zh-CN" sz="1050">
                <a:solidFill>
                  <a:prstClr val="black"/>
                </a:solidFill>
              </a:rPr>
              <a:t>1998</a:t>
            </a:r>
          </a:p>
        </p:txBody>
      </p:sp>
      <p:sp>
        <p:nvSpPr>
          <p:cNvPr id="41" name="文本框 40"/>
          <p:cNvSpPr txBox="1"/>
          <p:nvPr/>
        </p:nvSpPr>
        <p:spPr>
          <a:xfrm>
            <a:off x="5069396" y="4324541"/>
            <a:ext cx="641985" cy="253916"/>
          </a:xfrm>
          <a:prstGeom prst="rect">
            <a:avLst/>
          </a:prstGeom>
          <a:noFill/>
        </p:spPr>
        <p:txBody>
          <a:bodyPr wrap="square" rtlCol="0">
            <a:spAutoFit/>
          </a:bodyPr>
          <a:lstStyle/>
          <a:p>
            <a:pPr algn="ctr"/>
            <a:r>
              <a:rPr lang="en-US" altLang="zh-CN" sz="1050">
                <a:solidFill>
                  <a:prstClr val="black"/>
                </a:solidFill>
              </a:rPr>
              <a:t>2006</a:t>
            </a:r>
          </a:p>
        </p:txBody>
      </p:sp>
      <p:grpSp>
        <p:nvGrpSpPr>
          <p:cNvPr id="66" name="组合 65"/>
          <p:cNvGrpSpPr/>
          <p:nvPr/>
        </p:nvGrpSpPr>
        <p:grpSpPr>
          <a:xfrm>
            <a:off x="117824" y="1852327"/>
            <a:ext cx="8781098" cy="4004787"/>
            <a:chOff x="113" y="1859"/>
            <a:chExt cx="18438" cy="8409"/>
          </a:xfrm>
        </p:grpSpPr>
        <p:grpSp>
          <p:nvGrpSpPr>
            <p:cNvPr id="64" name="组合 63"/>
            <p:cNvGrpSpPr/>
            <p:nvPr/>
          </p:nvGrpSpPr>
          <p:grpSpPr>
            <a:xfrm>
              <a:off x="113" y="1859"/>
              <a:ext cx="18438" cy="7740"/>
              <a:chOff x="113" y="1859"/>
              <a:chExt cx="18438" cy="7740"/>
            </a:xfrm>
          </p:grpSpPr>
          <p:grpSp>
            <p:nvGrpSpPr>
              <p:cNvPr id="36" name="组合 35"/>
              <p:cNvGrpSpPr/>
              <p:nvPr/>
            </p:nvGrpSpPr>
            <p:grpSpPr>
              <a:xfrm>
                <a:off x="1029" y="2041"/>
                <a:ext cx="16744" cy="6878"/>
                <a:chOff x="1029" y="2041"/>
                <a:chExt cx="16744" cy="6878"/>
              </a:xfrm>
            </p:grpSpPr>
            <p:grpSp>
              <p:nvGrpSpPr>
                <p:cNvPr id="34" name="组合 33"/>
                <p:cNvGrpSpPr/>
                <p:nvPr/>
              </p:nvGrpSpPr>
              <p:grpSpPr>
                <a:xfrm>
                  <a:off x="1029" y="2041"/>
                  <a:ext cx="16744" cy="6878"/>
                  <a:chOff x="1029" y="2041"/>
                  <a:chExt cx="16744" cy="6878"/>
                </a:xfrm>
              </p:grpSpPr>
              <p:grpSp>
                <p:nvGrpSpPr>
                  <p:cNvPr id="33" name="组合 32"/>
                  <p:cNvGrpSpPr/>
                  <p:nvPr/>
                </p:nvGrpSpPr>
                <p:grpSpPr>
                  <a:xfrm>
                    <a:off x="1029" y="2041"/>
                    <a:ext cx="16744" cy="6878"/>
                    <a:chOff x="1029" y="2041"/>
                    <a:chExt cx="16744" cy="6878"/>
                  </a:xfrm>
                </p:grpSpPr>
                <p:grpSp>
                  <p:nvGrpSpPr>
                    <p:cNvPr id="29" name="组合 28"/>
                    <p:cNvGrpSpPr/>
                    <p:nvPr/>
                  </p:nvGrpSpPr>
                  <p:grpSpPr>
                    <a:xfrm>
                      <a:off x="1029" y="2041"/>
                      <a:ext cx="16745" cy="6879"/>
                      <a:chOff x="1029" y="2041"/>
                      <a:chExt cx="16745" cy="6879"/>
                    </a:xfrm>
                  </p:grpSpPr>
                  <p:sp>
                    <p:nvSpPr>
                      <p:cNvPr id="14" name="流程图: 联系 13"/>
                      <p:cNvSpPr/>
                      <p:nvPr/>
                    </p:nvSpPr>
                    <p:spPr>
                      <a:xfrm flipH="1" flipV="1">
                        <a:off x="14327" y="5481"/>
                        <a:ext cx="526" cy="568"/>
                      </a:xfrm>
                      <a:prstGeom prst="flowChartConnector">
                        <a:avLst/>
                      </a:prstGeom>
                      <a:solidFill>
                        <a:srgbClr val="92D050"/>
                      </a:solidFill>
                      <a:ln w="12700" cmpd="sng">
                        <a:solidFill>
                          <a:srgbClr val="92D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sp>
                    <p:nvSpPr>
                      <p:cNvPr id="15" name="流程图: 联系 14"/>
                      <p:cNvSpPr/>
                      <p:nvPr/>
                    </p:nvSpPr>
                    <p:spPr>
                      <a:xfrm flipH="1" flipV="1">
                        <a:off x="16008" y="3587"/>
                        <a:ext cx="526" cy="568"/>
                      </a:xfrm>
                      <a:prstGeom prst="flowChartConnector">
                        <a:avLst/>
                      </a:prstGeom>
                      <a:solidFill>
                        <a:srgbClr val="92D050"/>
                      </a:solidFill>
                      <a:ln w="12700" cmpd="sng">
                        <a:solidFill>
                          <a:srgbClr val="92D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grpSp>
                    <p:nvGrpSpPr>
                      <p:cNvPr id="25" name="组合 24"/>
                      <p:cNvGrpSpPr/>
                      <p:nvPr/>
                    </p:nvGrpSpPr>
                    <p:grpSpPr>
                      <a:xfrm>
                        <a:off x="1029" y="3370"/>
                        <a:ext cx="10933" cy="5550"/>
                        <a:chOff x="1029" y="3370"/>
                        <a:chExt cx="10933" cy="5550"/>
                      </a:xfrm>
                    </p:grpSpPr>
                    <p:sp>
                      <p:nvSpPr>
                        <p:cNvPr id="13" name="流程图: 联系 12"/>
                        <p:cNvSpPr/>
                        <p:nvPr/>
                      </p:nvSpPr>
                      <p:spPr>
                        <a:xfrm>
                          <a:off x="10510" y="6629"/>
                          <a:ext cx="1452" cy="1452"/>
                        </a:xfrm>
                        <a:prstGeom prst="flowChartConnector">
                          <a:avLst/>
                        </a:prstGeom>
                        <a:noFill/>
                        <a:ln w="1270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grpSp>
                      <p:nvGrpSpPr>
                        <p:cNvPr id="23" name="组合 22"/>
                        <p:cNvGrpSpPr/>
                        <p:nvPr/>
                      </p:nvGrpSpPr>
                      <p:grpSpPr>
                        <a:xfrm>
                          <a:off x="1029" y="3370"/>
                          <a:ext cx="8619" cy="5550"/>
                          <a:chOff x="1029" y="3370"/>
                          <a:chExt cx="8619" cy="5550"/>
                        </a:xfrm>
                      </p:grpSpPr>
                      <p:sp>
                        <p:nvSpPr>
                          <p:cNvPr id="11" name="流程图: 联系 10"/>
                          <p:cNvSpPr/>
                          <p:nvPr/>
                        </p:nvSpPr>
                        <p:spPr>
                          <a:xfrm>
                            <a:off x="5106" y="7194"/>
                            <a:ext cx="1452" cy="1452"/>
                          </a:xfrm>
                          <a:prstGeom prst="flowChartConnector">
                            <a:avLst/>
                          </a:prstGeom>
                          <a:noFill/>
                          <a:ln w="1270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sp>
                        <p:nvSpPr>
                          <p:cNvPr id="12" name="流程图: 联系 11"/>
                          <p:cNvSpPr/>
                          <p:nvPr/>
                        </p:nvSpPr>
                        <p:spPr>
                          <a:xfrm>
                            <a:off x="8196" y="3587"/>
                            <a:ext cx="1452" cy="1452"/>
                          </a:xfrm>
                          <a:prstGeom prst="flowChartConnector">
                            <a:avLst/>
                          </a:prstGeom>
                          <a:noFill/>
                          <a:ln w="1270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grpSp>
                        <p:nvGrpSpPr>
                          <p:cNvPr id="20" name="组合 19"/>
                          <p:cNvGrpSpPr/>
                          <p:nvPr/>
                        </p:nvGrpSpPr>
                        <p:grpSpPr>
                          <a:xfrm>
                            <a:off x="1029" y="3370"/>
                            <a:ext cx="3246" cy="5550"/>
                            <a:chOff x="1029" y="3370"/>
                            <a:chExt cx="3246" cy="5550"/>
                          </a:xfrm>
                        </p:grpSpPr>
                        <p:sp>
                          <p:nvSpPr>
                            <p:cNvPr id="9" name="流程图: 联系 8"/>
                            <p:cNvSpPr/>
                            <p:nvPr/>
                          </p:nvSpPr>
                          <p:spPr>
                            <a:xfrm>
                              <a:off x="1029" y="7468"/>
                              <a:ext cx="1452" cy="1452"/>
                            </a:xfrm>
                            <a:prstGeom prst="flowChartConnector">
                              <a:avLst/>
                            </a:prstGeom>
                            <a:noFill/>
                            <a:ln w="1270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sp>
                          <p:nvSpPr>
                            <p:cNvPr id="10" name="流程图: 联系 9"/>
                            <p:cNvSpPr/>
                            <p:nvPr/>
                          </p:nvSpPr>
                          <p:spPr>
                            <a:xfrm>
                              <a:off x="2823" y="3370"/>
                              <a:ext cx="1452" cy="1452"/>
                            </a:xfrm>
                            <a:prstGeom prst="flowChartConnector">
                              <a:avLst/>
                            </a:prstGeom>
                            <a:noFill/>
                            <a:ln w="12700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sp>
                          <p:nvSpPr>
                            <p:cNvPr id="17" name="流程图: 联系 16"/>
                            <p:cNvSpPr/>
                            <p:nvPr/>
                          </p:nvSpPr>
                          <p:spPr>
                            <a:xfrm flipH="1" flipV="1">
                              <a:off x="2481" y="5956"/>
                              <a:ext cx="342" cy="369"/>
                            </a:xfrm>
                            <a:prstGeom prst="flowChartConnector">
                              <a:avLst/>
                            </a:prstGeom>
                            <a:solidFill>
                              <a:srgbClr val="92D050"/>
                            </a:solidFill>
                            <a:ln w="12700" cmpd="sng">
                              <a:solidFill>
                                <a:srgbClr val="92D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cxnSp>
                          <p:nvCxnSpPr>
                            <p:cNvPr id="19" name="直接连接符 18"/>
                            <p:cNvCxnSpPr/>
                            <p:nvPr/>
                          </p:nvCxnSpPr>
                          <p:spPr>
                            <a:xfrm flipV="1">
                              <a:off x="2046" y="4822"/>
                              <a:ext cx="1213" cy="2637"/>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grpSp>
                      <p:cxnSp>
                        <p:nvCxnSpPr>
                          <p:cNvPr id="21" name="直接连接符 20"/>
                          <p:cNvCxnSpPr>
                            <a:stCxn id="10" idx="5"/>
                            <a:endCxn id="11" idx="1"/>
                          </p:cNvCxnSpPr>
                          <p:nvPr/>
                        </p:nvCxnSpPr>
                        <p:spPr>
                          <a:xfrm>
                            <a:off x="4062" y="4609"/>
                            <a:ext cx="1257" cy="2798"/>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endCxn id="12" idx="3"/>
                          </p:cNvCxnSpPr>
                          <p:nvPr/>
                        </p:nvCxnSpPr>
                        <p:spPr>
                          <a:xfrm flipV="1">
                            <a:off x="6333" y="4826"/>
                            <a:ext cx="2076" cy="2581"/>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grpSp>
                    <p:cxnSp>
                      <p:nvCxnSpPr>
                        <p:cNvPr id="24" name="直接连接符 23"/>
                        <p:cNvCxnSpPr/>
                        <p:nvPr/>
                      </p:nvCxnSpPr>
                      <p:spPr>
                        <a:xfrm>
                          <a:off x="9490" y="4826"/>
                          <a:ext cx="1217" cy="1984"/>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grpSp>
                  <p:cxnSp>
                    <p:nvCxnSpPr>
                      <p:cNvPr id="26" name="直接连接符 25"/>
                      <p:cNvCxnSpPr>
                        <a:endCxn id="14" idx="7"/>
                      </p:cNvCxnSpPr>
                      <p:nvPr/>
                    </p:nvCxnSpPr>
                    <p:spPr>
                      <a:xfrm flipV="1">
                        <a:off x="11962" y="5966"/>
                        <a:ext cx="2442" cy="1170"/>
                      </a:xfrm>
                      <a:prstGeom prst="line">
                        <a:avLst/>
                      </a:prstGeom>
                      <a:ln w="762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14768" y="2041"/>
                        <a:ext cx="3006" cy="3661"/>
                      </a:xfrm>
                      <a:prstGeom prst="straightConnector1">
                        <a:avLst/>
                      </a:prstGeom>
                      <a:ln w="76200">
                        <a:solidFill>
                          <a:srgbClr val="92D050"/>
                        </a:solidFill>
                        <a:tailEnd type="arrow"/>
                      </a:ln>
                    </p:spPr>
                    <p:style>
                      <a:lnRef idx="1">
                        <a:schemeClr val="accent1"/>
                      </a:lnRef>
                      <a:fillRef idx="0">
                        <a:schemeClr val="accent1"/>
                      </a:fillRef>
                      <a:effectRef idx="0">
                        <a:schemeClr val="accent1"/>
                      </a:effectRef>
                      <a:fontRef idx="minor">
                        <a:schemeClr val="tx1"/>
                      </a:fontRef>
                    </p:style>
                  </p:cxnSp>
                </p:grpSp>
                <p:sp>
                  <p:nvSpPr>
                    <p:cNvPr id="30" name="流程图: 联系 29"/>
                    <p:cNvSpPr/>
                    <p:nvPr/>
                  </p:nvSpPr>
                  <p:spPr>
                    <a:xfrm flipH="1" flipV="1">
                      <a:off x="13589" y="6049"/>
                      <a:ext cx="342" cy="369"/>
                    </a:xfrm>
                    <a:prstGeom prst="flowChartConnector">
                      <a:avLst/>
                    </a:prstGeom>
                    <a:solidFill>
                      <a:srgbClr val="92D050"/>
                    </a:solidFill>
                    <a:ln w="12700" cmpd="sng">
                      <a:solidFill>
                        <a:srgbClr val="92D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sp>
                  <p:nvSpPr>
                    <p:cNvPr id="31" name="流程图: 联系 30"/>
                    <p:cNvSpPr/>
                    <p:nvPr/>
                  </p:nvSpPr>
                  <p:spPr>
                    <a:xfrm flipH="1" flipV="1">
                      <a:off x="12391" y="6629"/>
                      <a:ext cx="342" cy="369"/>
                    </a:xfrm>
                    <a:prstGeom prst="flowChartConnector">
                      <a:avLst/>
                    </a:prstGeom>
                    <a:solidFill>
                      <a:srgbClr val="92D050"/>
                    </a:solidFill>
                    <a:ln w="12700" cmpd="sng">
                      <a:solidFill>
                        <a:srgbClr val="92D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grpSp>
              <p:sp>
                <p:nvSpPr>
                  <p:cNvPr id="32" name="流程图: 联系 31"/>
                  <p:cNvSpPr/>
                  <p:nvPr/>
                </p:nvSpPr>
                <p:spPr>
                  <a:xfrm flipH="1" flipV="1">
                    <a:off x="15303" y="4609"/>
                    <a:ext cx="342" cy="369"/>
                  </a:xfrm>
                  <a:prstGeom prst="flowChartConnector">
                    <a:avLst/>
                  </a:prstGeom>
                  <a:solidFill>
                    <a:srgbClr val="92D050"/>
                  </a:solidFill>
                  <a:ln w="12700" cmpd="sng">
                    <a:solidFill>
                      <a:srgbClr val="92D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grpSp>
            <p:sp>
              <p:nvSpPr>
                <p:cNvPr id="35" name="流程图: 联系 34"/>
                <p:cNvSpPr/>
                <p:nvPr/>
              </p:nvSpPr>
              <p:spPr>
                <a:xfrm flipH="1" flipV="1">
                  <a:off x="16859" y="2779"/>
                  <a:ext cx="342" cy="369"/>
                </a:xfrm>
                <a:prstGeom prst="flowChartConnector">
                  <a:avLst/>
                </a:prstGeom>
                <a:solidFill>
                  <a:schemeClr val="accent2"/>
                </a:solidFill>
                <a:ln w="12700" cmpd="sng">
                  <a:solidFill>
                    <a:schemeClr val="accent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grpSp>
          <p:grpSp>
            <p:nvGrpSpPr>
              <p:cNvPr id="63" name="组合 62"/>
              <p:cNvGrpSpPr/>
              <p:nvPr/>
            </p:nvGrpSpPr>
            <p:grpSpPr>
              <a:xfrm>
                <a:off x="113" y="1859"/>
                <a:ext cx="18438" cy="7740"/>
                <a:chOff x="113" y="1859"/>
                <a:chExt cx="18438" cy="7740"/>
              </a:xfrm>
            </p:grpSpPr>
            <p:sp>
              <p:nvSpPr>
                <p:cNvPr id="43" name="文本框 42"/>
                <p:cNvSpPr txBox="1"/>
                <p:nvPr/>
              </p:nvSpPr>
              <p:spPr>
                <a:xfrm>
                  <a:off x="113" y="5504"/>
                  <a:ext cx="2316" cy="1163"/>
                </a:xfrm>
                <a:prstGeom prst="rect">
                  <a:avLst/>
                </a:prstGeom>
                <a:solidFill>
                  <a:schemeClr val="accent2">
                    <a:lumMod val="40000"/>
                    <a:lumOff val="60000"/>
                  </a:schemeClr>
                </a:solidFill>
              </p:spPr>
              <p:txBody>
                <a:bodyPr wrap="square" rtlCol="0">
                  <a:spAutoFit/>
                </a:bodyPr>
                <a:lstStyle/>
                <a:p>
                  <a:pPr algn="ctr"/>
                  <a:r>
                    <a:rPr lang="zh-CN" altLang="en-US" sz="1500">
                      <a:solidFill>
                        <a:prstClr val="black"/>
                      </a:solidFill>
                      <a:latin typeface="宋体" panose="02010600030101010101" pitchFamily="2" charset="-122"/>
                      <a:ea typeface="宋体" panose="02010600030101010101" pitchFamily="2" charset="-122"/>
                    </a:rPr>
                    <a:t>单层感知机</a:t>
                  </a:r>
                </a:p>
              </p:txBody>
            </p:sp>
            <p:sp>
              <p:nvSpPr>
                <p:cNvPr id="44" name="文本框 43"/>
                <p:cNvSpPr txBox="1"/>
                <p:nvPr/>
              </p:nvSpPr>
              <p:spPr>
                <a:xfrm>
                  <a:off x="631" y="2520"/>
                  <a:ext cx="5688" cy="679"/>
                </a:xfrm>
                <a:prstGeom prst="rect">
                  <a:avLst/>
                </a:prstGeom>
                <a:solidFill>
                  <a:schemeClr val="accent2">
                    <a:lumMod val="40000"/>
                    <a:lumOff val="60000"/>
                  </a:schemeClr>
                </a:solidFill>
              </p:spPr>
              <p:txBody>
                <a:bodyPr wrap="square" rtlCol="0">
                  <a:spAutoFit/>
                </a:bodyPr>
                <a:lstStyle/>
                <a:p>
                  <a:pPr algn="ctr"/>
                  <a:r>
                    <a:rPr lang="zh-CN" altLang="en-US" sz="1500" dirty="0">
                      <a:solidFill>
                        <a:prstClr val="black"/>
                      </a:solidFill>
                      <a:latin typeface="宋体" panose="02010600030101010101" pitchFamily="2" charset="-122"/>
                      <a:ea typeface="宋体" panose="02010600030101010101" pitchFamily="2" charset="-122"/>
                    </a:rPr>
                    <a:t>单层感知机不能解决</a:t>
                  </a:r>
                  <a:r>
                    <a:rPr lang="en-US" altLang="zh-CN" sz="1500" dirty="0">
                      <a:solidFill>
                        <a:prstClr val="black"/>
                      </a:solidFill>
                      <a:latin typeface="宋体" panose="02010600030101010101" pitchFamily="2" charset="-122"/>
                      <a:ea typeface="宋体" panose="02010600030101010101" pitchFamily="2" charset="-122"/>
                    </a:rPr>
                    <a:t>XOR</a:t>
                  </a:r>
                  <a:r>
                    <a:rPr lang="zh-CN" altLang="en-US" sz="1500" dirty="0">
                      <a:solidFill>
                        <a:prstClr val="black"/>
                      </a:solidFill>
                      <a:latin typeface="宋体" panose="02010600030101010101" pitchFamily="2" charset="-122"/>
                      <a:ea typeface="宋体" panose="02010600030101010101" pitchFamily="2" charset="-122"/>
                    </a:rPr>
                    <a:t>问题</a:t>
                  </a:r>
                </a:p>
              </p:txBody>
            </p:sp>
            <p:sp>
              <p:nvSpPr>
                <p:cNvPr id="45" name="文本框 44"/>
                <p:cNvSpPr txBox="1"/>
                <p:nvPr/>
              </p:nvSpPr>
              <p:spPr>
                <a:xfrm>
                  <a:off x="4348" y="8920"/>
                  <a:ext cx="2967" cy="679"/>
                </a:xfrm>
                <a:prstGeom prst="rect">
                  <a:avLst/>
                </a:prstGeom>
                <a:solidFill>
                  <a:schemeClr val="bg2">
                    <a:lumMod val="90000"/>
                  </a:schemeClr>
                </a:solidFill>
              </p:spPr>
              <p:txBody>
                <a:bodyPr wrap="square" rtlCol="0">
                  <a:spAutoFit/>
                </a:bodyPr>
                <a:lstStyle/>
                <a:p>
                  <a:pPr algn="ctr"/>
                  <a:r>
                    <a:rPr lang="zh-CN" altLang="en-US" sz="1500">
                      <a:solidFill>
                        <a:prstClr val="black"/>
                      </a:solidFill>
                      <a:latin typeface="宋体" panose="02010600030101010101" pitchFamily="2" charset="-122"/>
                      <a:ea typeface="宋体" panose="02010600030101010101" pitchFamily="2" charset="-122"/>
                    </a:rPr>
                    <a:t>反向传播算法</a:t>
                  </a:r>
                </a:p>
              </p:txBody>
            </p:sp>
            <p:sp>
              <p:nvSpPr>
                <p:cNvPr id="46" name="文本框 45"/>
                <p:cNvSpPr txBox="1"/>
                <p:nvPr/>
              </p:nvSpPr>
              <p:spPr>
                <a:xfrm>
                  <a:off x="12306" y="5421"/>
                  <a:ext cx="1283" cy="679"/>
                </a:xfrm>
                <a:prstGeom prst="rect">
                  <a:avLst/>
                </a:prstGeom>
                <a:solidFill>
                  <a:schemeClr val="bg2">
                    <a:lumMod val="90000"/>
                  </a:schemeClr>
                </a:solidFill>
              </p:spPr>
              <p:txBody>
                <a:bodyPr wrap="square" rtlCol="0">
                  <a:spAutoFit/>
                </a:bodyPr>
                <a:lstStyle/>
                <a:p>
                  <a:pPr algn="ctr"/>
                  <a:r>
                    <a:rPr lang="en-US" altLang="zh-CN" sz="1500">
                      <a:solidFill>
                        <a:prstClr val="black"/>
                      </a:solidFill>
                      <a:latin typeface="宋体" panose="02010600030101010101" pitchFamily="2" charset="-122"/>
                      <a:ea typeface="宋体" panose="02010600030101010101" pitchFamily="2" charset="-122"/>
                    </a:rPr>
                    <a:t>ReLU</a:t>
                  </a:r>
                </a:p>
              </p:txBody>
            </p:sp>
            <p:sp>
              <p:nvSpPr>
                <p:cNvPr id="47" name="文本框 46"/>
                <p:cNvSpPr txBox="1"/>
                <p:nvPr/>
              </p:nvSpPr>
              <p:spPr>
                <a:xfrm>
                  <a:off x="7111" y="6810"/>
                  <a:ext cx="2967" cy="1163"/>
                </a:xfrm>
                <a:prstGeom prst="rect">
                  <a:avLst/>
                </a:prstGeom>
                <a:solidFill>
                  <a:srgbClr val="FFFF00"/>
                </a:solidFill>
              </p:spPr>
              <p:txBody>
                <a:bodyPr wrap="square" rtlCol="0">
                  <a:spAutoFit/>
                </a:bodyPr>
                <a:lstStyle/>
                <a:p>
                  <a:pPr algn="ctr"/>
                  <a:r>
                    <a:rPr lang="zh-CN" altLang="en-US" sz="1500">
                      <a:solidFill>
                        <a:prstClr val="black"/>
                      </a:solidFill>
                      <a:latin typeface="宋体" panose="02010600030101010101" pitchFamily="2" charset="-122"/>
                      <a:ea typeface="宋体" panose="02010600030101010101" pitchFamily="2" charset="-122"/>
                    </a:rPr>
                    <a:t>万能逼近定里</a:t>
                  </a:r>
                </a:p>
                <a:p>
                  <a:pPr algn="ctr"/>
                  <a:r>
                    <a:rPr lang="zh-CN" altLang="en-US" sz="1500">
                      <a:solidFill>
                        <a:prstClr val="black"/>
                      </a:solidFill>
                      <a:latin typeface="宋体" panose="02010600030101010101" pitchFamily="2" charset="-122"/>
                      <a:ea typeface="宋体" panose="02010600030101010101" pitchFamily="2" charset="-122"/>
                    </a:rPr>
                    <a:t>卷积神经网络</a:t>
                  </a:r>
                </a:p>
              </p:txBody>
            </p:sp>
            <p:sp>
              <p:nvSpPr>
                <p:cNvPr id="48" name="文本框 47"/>
                <p:cNvSpPr txBox="1"/>
                <p:nvPr/>
              </p:nvSpPr>
              <p:spPr>
                <a:xfrm>
                  <a:off x="13355" y="1859"/>
                  <a:ext cx="2968" cy="1648"/>
                </a:xfrm>
                <a:prstGeom prst="rect">
                  <a:avLst/>
                </a:prstGeom>
                <a:solidFill>
                  <a:srgbClr val="FFFF00"/>
                </a:solidFill>
              </p:spPr>
              <p:txBody>
                <a:bodyPr wrap="square" rtlCol="0">
                  <a:spAutoFit/>
                </a:bodyPr>
                <a:lstStyle/>
                <a:p>
                  <a:r>
                    <a:rPr lang="en-US" altLang="zh-CN" sz="1500">
                      <a:solidFill>
                        <a:prstClr val="black"/>
                      </a:solidFill>
                      <a:latin typeface="宋体" panose="02010600030101010101" pitchFamily="2" charset="-122"/>
                      <a:ea typeface="宋体" panose="02010600030101010101" pitchFamily="2" charset="-122"/>
                    </a:rPr>
                    <a:t>BN</a:t>
                  </a:r>
                </a:p>
                <a:p>
                  <a:r>
                    <a:rPr lang="en-US" altLang="zh-CN" sz="1500">
                      <a:solidFill>
                        <a:prstClr val="black"/>
                      </a:solidFill>
                      <a:latin typeface="宋体" panose="02010600030101010101" pitchFamily="2" charset="-122"/>
                      <a:ea typeface="宋体" panose="02010600030101010101" pitchFamily="2" charset="-122"/>
                    </a:rPr>
                    <a:t>Faster R-CNN</a:t>
                  </a:r>
                </a:p>
                <a:p>
                  <a:r>
                    <a:rPr lang="en-US" altLang="zh-CN" sz="1500">
                      <a:solidFill>
                        <a:prstClr val="black"/>
                      </a:solidFill>
                      <a:latin typeface="宋体" panose="02010600030101010101" pitchFamily="2" charset="-122"/>
                      <a:ea typeface="宋体" panose="02010600030101010101" pitchFamily="2" charset="-122"/>
                    </a:rPr>
                    <a:t>Residial Net</a:t>
                  </a:r>
                </a:p>
              </p:txBody>
            </p:sp>
            <p:sp>
              <p:nvSpPr>
                <p:cNvPr id="49" name="文本框 48"/>
                <p:cNvSpPr txBox="1"/>
                <p:nvPr/>
              </p:nvSpPr>
              <p:spPr>
                <a:xfrm>
                  <a:off x="8007" y="2742"/>
                  <a:ext cx="1727" cy="679"/>
                </a:xfrm>
                <a:prstGeom prst="rect">
                  <a:avLst/>
                </a:prstGeom>
                <a:solidFill>
                  <a:schemeClr val="accent3">
                    <a:lumMod val="40000"/>
                    <a:lumOff val="60000"/>
                  </a:schemeClr>
                </a:solidFill>
              </p:spPr>
              <p:txBody>
                <a:bodyPr wrap="square" rtlCol="0">
                  <a:spAutoFit/>
                </a:bodyPr>
                <a:lstStyle/>
                <a:p>
                  <a:pPr algn="ctr"/>
                  <a:r>
                    <a:rPr lang="en-US" altLang="zh-CN" sz="1500">
                      <a:solidFill>
                        <a:prstClr val="black"/>
                      </a:solidFill>
                      <a:latin typeface="宋体" panose="02010600030101010101" pitchFamily="2" charset="-122"/>
                      <a:ea typeface="宋体" panose="02010600030101010101" pitchFamily="2" charset="-122"/>
                    </a:rPr>
                    <a:t>LeNet</a:t>
                  </a:r>
                </a:p>
              </p:txBody>
            </p:sp>
            <p:sp>
              <p:nvSpPr>
                <p:cNvPr id="50" name="文本框 49"/>
                <p:cNvSpPr txBox="1"/>
                <p:nvPr/>
              </p:nvSpPr>
              <p:spPr>
                <a:xfrm>
                  <a:off x="13355" y="3975"/>
                  <a:ext cx="1948" cy="1163"/>
                </a:xfrm>
                <a:prstGeom prst="rect">
                  <a:avLst/>
                </a:prstGeom>
                <a:solidFill>
                  <a:schemeClr val="accent3">
                    <a:lumMod val="40000"/>
                    <a:lumOff val="60000"/>
                  </a:schemeClr>
                </a:solidFill>
              </p:spPr>
              <p:txBody>
                <a:bodyPr wrap="square" rtlCol="0">
                  <a:spAutoFit/>
                </a:bodyPr>
                <a:lstStyle/>
                <a:p>
                  <a:pPr algn="ctr"/>
                  <a:r>
                    <a:rPr lang="en-US" altLang="zh-CN" sz="1500">
                      <a:solidFill>
                        <a:prstClr val="black"/>
                      </a:solidFill>
                      <a:latin typeface="宋体" panose="02010600030101010101" pitchFamily="2" charset="-122"/>
                      <a:ea typeface="宋体" panose="02010600030101010101" pitchFamily="2" charset="-122"/>
                    </a:rPr>
                    <a:t>Clarifai</a:t>
                  </a:r>
                </a:p>
              </p:txBody>
            </p:sp>
            <p:sp>
              <p:nvSpPr>
                <p:cNvPr id="51" name="文本框 50"/>
                <p:cNvSpPr txBox="1"/>
                <p:nvPr/>
              </p:nvSpPr>
              <p:spPr>
                <a:xfrm>
                  <a:off x="8077" y="5328"/>
                  <a:ext cx="1588" cy="679"/>
                </a:xfrm>
                <a:prstGeom prst="rect">
                  <a:avLst/>
                </a:prstGeom>
                <a:solidFill>
                  <a:srgbClr val="92D050"/>
                </a:solidFill>
              </p:spPr>
              <p:txBody>
                <a:bodyPr wrap="square" rtlCol="0">
                  <a:spAutoFit/>
                </a:bodyPr>
                <a:lstStyle/>
                <a:p>
                  <a:pPr algn="ctr"/>
                  <a:r>
                    <a:rPr lang="en-US" altLang="zh-CN" sz="1500">
                      <a:solidFill>
                        <a:prstClr val="black"/>
                      </a:solidFill>
                      <a:latin typeface="宋体" panose="02010600030101010101" pitchFamily="2" charset="-122"/>
                      <a:ea typeface="宋体" panose="02010600030101010101" pitchFamily="2" charset="-122"/>
                    </a:rPr>
                    <a:t>LSTM</a:t>
                  </a:r>
                </a:p>
              </p:txBody>
            </p:sp>
            <p:sp>
              <p:nvSpPr>
                <p:cNvPr id="52" name="文本框 51"/>
                <p:cNvSpPr txBox="1"/>
                <p:nvPr/>
              </p:nvSpPr>
              <p:spPr>
                <a:xfrm>
                  <a:off x="9733" y="8210"/>
                  <a:ext cx="3000" cy="679"/>
                </a:xfrm>
                <a:prstGeom prst="rect">
                  <a:avLst/>
                </a:prstGeom>
                <a:solidFill>
                  <a:schemeClr val="bg2">
                    <a:lumMod val="90000"/>
                  </a:schemeClr>
                </a:solidFill>
              </p:spPr>
              <p:txBody>
                <a:bodyPr wrap="square" rtlCol="0">
                  <a:spAutoFit/>
                </a:bodyPr>
                <a:lstStyle/>
                <a:p>
                  <a:pPr algn="ctr"/>
                  <a:r>
                    <a:rPr lang="zh-CN" altLang="en-US" sz="1500">
                      <a:solidFill>
                        <a:prstClr val="black"/>
                      </a:solidFill>
                      <a:latin typeface="宋体" panose="02010600030101010101" pitchFamily="2" charset="-122"/>
                      <a:ea typeface="宋体" panose="02010600030101010101" pitchFamily="2" charset="-122"/>
                    </a:rPr>
                    <a:t>深度信念网络</a:t>
                  </a:r>
                </a:p>
              </p:txBody>
            </p:sp>
            <p:sp>
              <p:nvSpPr>
                <p:cNvPr id="53" name="文本框 52"/>
                <p:cNvSpPr txBox="1"/>
                <p:nvPr/>
              </p:nvSpPr>
              <p:spPr>
                <a:xfrm>
                  <a:off x="12733" y="7026"/>
                  <a:ext cx="1727" cy="679"/>
                </a:xfrm>
                <a:prstGeom prst="rect">
                  <a:avLst/>
                </a:prstGeom>
                <a:solidFill>
                  <a:srgbClr val="CC78C7"/>
                </a:solidFill>
              </p:spPr>
              <p:txBody>
                <a:bodyPr wrap="square" rtlCol="0">
                  <a:spAutoFit/>
                </a:bodyPr>
                <a:lstStyle/>
                <a:p>
                  <a:pPr algn="ctr"/>
                  <a:r>
                    <a:rPr lang="en-US" altLang="zh-CN" sz="1500">
                      <a:solidFill>
                        <a:prstClr val="black"/>
                      </a:solidFill>
                      <a:latin typeface="宋体" panose="02010600030101010101" pitchFamily="2" charset="-122"/>
                      <a:ea typeface="宋体" panose="02010600030101010101" pitchFamily="2" charset="-122"/>
                    </a:rPr>
                    <a:t>Xavier</a:t>
                  </a:r>
                </a:p>
              </p:txBody>
            </p:sp>
            <p:sp>
              <p:nvSpPr>
                <p:cNvPr id="54" name="文本框 53"/>
                <p:cNvSpPr txBox="1"/>
                <p:nvPr/>
              </p:nvSpPr>
              <p:spPr>
                <a:xfrm>
                  <a:off x="16534" y="4023"/>
                  <a:ext cx="2017" cy="1648"/>
                </a:xfrm>
                <a:prstGeom prst="rect">
                  <a:avLst/>
                </a:prstGeom>
                <a:solidFill>
                  <a:srgbClr val="E0ACDD"/>
                </a:solidFill>
              </p:spPr>
              <p:txBody>
                <a:bodyPr wrap="square" rtlCol="0">
                  <a:spAutoFit/>
                </a:bodyPr>
                <a:lstStyle/>
                <a:p>
                  <a:r>
                    <a:rPr lang="en-US" altLang="zh-CN" sz="1500">
                      <a:solidFill>
                        <a:prstClr val="black"/>
                      </a:solidFill>
                      <a:latin typeface="宋体" panose="02010600030101010101" pitchFamily="2" charset="-122"/>
                      <a:ea typeface="宋体" panose="02010600030101010101" pitchFamily="2" charset="-122"/>
                    </a:rPr>
                    <a:t>GooleNet</a:t>
                  </a:r>
                </a:p>
                <a:p>
                  <a:r>
                    <a:rPr lang="en-US" altLang="zh-CN" sz="1500">
                      <a:solidFill>
                        <a:prstClr val="black"/>
                      </a:solidFill>
                      <a:latin typeface="宋体" panose="02010600030101010101" pitchFamily="2" charset="-122"/>
                      <a:ea typeface="宋体" panose="02010600030101010101" pitchFamily="2" charset="-122"/>
                    </a:rPr>
                    <a:t>VGGNet</a:t>
                  </a:r>
                </a:p>
                <a:p>
                  <a:r>
                    <a:rPr lang="en-US" altLang="zh-CN" sz="1500">
                      <a:solidFill>
                        <a:prstClr val="black"/>
                      </a:solidFill>
                      <a:latin typeface="宋体" panose="02010600030101010101" pitchFamily="2" charset="-122"/>
                      <a:ea typeface="宋体" panose="02010600030101010101" pitchFamily="2" charset="-122"/>
                    </a:rPr>
                    <a:t>R-CNN</a:t>
                  </a:r>
                </a:p>
              </p:txBody>
            </p:sp>
            <p:sp>
              <p:nvSpPr>
                <p:cNvPr id="55" name="文本框 54"/>
                <p:cNvSpPr txBox="1"/>
                <p:nvPr/>
              </p:nvSpPr>
              <p:spPr>
                <a:xfrm>
                  <a:off x="14853" y="5966"/>
                  <a:ext cx="1727" cy="2133"/>
                </a:xfrm>
                <a:prstGeom prst="rect">
                  <a:avLst/>
                </a:prstGeom>
                <a:solidFill>
                  <a:srgbClr val="42CC42"/>
                </a:solidFill>
              </p:spPr>
              <p:txBody>
                <a:bodyPr wrap="square" rtlCol="0">
                  <a:spAutoFit/>
                </a:bodyPr>
                <a:lstStyle/>
                <a:p>
                  <a:pPr algn="ctr"/>
                  <a:r>
                    <a:rPr lang="en-US" altLang="zh-CN" sz="1500">
                      <a:solidFill>
                        <a:prstClr val="black"/>
                      </a:solidFill>
                      <a:latin typeface="宋体" panose="02010600030101010101" pitchFamily="2" charset="-122"/>
                      <a:ea typeface="宋体" panose="02010600030101010101" pitchFamily="2" charset="-122"/>
                    </a:rPr>
                    <a:t>Dropout</a:t>
                  </a:r>
                </a:p>
                <a:p>
                  <a:pPr algn="ctr"/>
                  <a:r>
                    <a:rPr lang="en-US" altLang="zh-CN" sz="1500">
                      <a:solidFill>
                        <a:prstClr val="black"/>
                      </a:solidFill>
                      <a:latin typeface="宋体" panose="02010600030101010101" pitchFamily="2" charset="-122"/>
                      <a:ea typeface="宋体" panose="02010600030101010101" pitchFamily="2" charset="-122"/>
                    </a:rPr>
                    <a:t>AlexNet</a:t>
                  </a:r>
                </a:p>
              </p:txBody>
            </p:sp>
            <p:sp>
              <p:nvSpPr>
                <p:cNvPr id="56" name="文本框 55"/>
                <p:cNvSpPr txBox="1"/>
                <p:nvPr/>
              </p:nvSpPr>
              <p:spPr>
                <a:xfrm rot="17760000">
                  <a:off x="2265" y="6128"/>
                  <a:ext cx="1699" cy="533"/>
                </a:xfrm>
                <a:prstGeom prst="rect">
                  <a:avLst/>
                </a:prstGeom>
                <a:noFill/>
              </p:spPr>
              <p:txBody>
                <a:bodyPr wrap="square" rtlCol="0">
                  <a:spAutoFit/>
                </a:bodyPr>
                <a:lstStyle/>
                <a:p>
                  <a:pPr algn="ctr"/>
                  <a:r>
                    <a:rPr lang="en-US" altLang="zh-CN" sz="1050">
                      <a:solidFill>
                        <a:prstClr val="black"/>
                      </a:solidFill>
                    </a:rPr>
                    <a:t>1957</a:t>
                  </a:r>
                </a:p>
              </p:txBody>
            </p:sp>
            <p:sp>
              <p:nvSpPr>
                <p:cNvPr id="57" name="文本框 56"/>
                <p:cNvSpPr txBox="1"/>
                <p:nvPr/>
              </p:nvSpPr>
              <p:spPr>
                <a:xfrm rot="18720000">
                  <a:off x="5660" y="5715"/>
                  <a:ext cx="1699" cy="533"/>
                </a:xfrm>
                <a:prstGeom prst="rect">
                  <a:avLst/>
                </a:prstGeom>
                <a:noFill/>
              </p:spPr>
              <p:txBody>
                <a:bodyPr wrap="square" rtlCol="0">
                  <a:spAutoFit/>
                </a:bodyPr>
                <a:lstStyle/>
                <a:p>
                  <a:r>
                    <a:rPr lang="en-US" altLang="zh-CN" sz="1050">
                      <a:solidFill>
                        <a:prstClr val="black"/>
                      </a:solidFill>
                    </a:rPr>
                    <a:t>1989</a:t>
                  </a:r>
                </a:p>
              </p:txBody>
            </p:sp>
            <p:sp>
              <p:nvSpPr>
                <p:cNvPr id="58" name="文本框 57"/>
                <p:cNvSpPr txBox="1"/>
                <p:nvPr/>
              </p:nvSpPr>
              <p:spPr>
                <a:xfrm rot="18780000">
                  <a:off x="6572" y="4826"/>
                  <a:ext cx="1435" cy="533"/>
                </a:xfrm>
                <a:prstGeom prst="rect">
                  <a:avLst/>
                </a:prstGeom>
                <a:noFill/>
              </p:spPr>
              <p:txBody>
                <a:bodyPr wrap="square" rtlCol="0">
                  <a:spAutoFit/>
                </a:bodyPr>
                <a:lstStyle/>
                <a:p>
                  <a:r>
                    <a:rPr lang="en-US" altLang="zh-CN" sz="1050">
                      <a:solidFill>
                        <a:prstClr val="black"/>
                      </a:solidFill>
                    </a:rPr>
                    <a:t>1997</a:t>
                  </a:r>
                </a:p>
              </p:txBody>
            </p:sp>
            <p:sp>
              <p:nvSpPr>
                <p:cNvPr id="59" name="文本框 58"/>
                <p:cNvSpPr txBox="1"/>
                <p:nvPr/>
              </p:nvSpPr>
              <p:spPr>
                <a:xfrm rot="20340000">
                  <a:off x="11609" y="5966"/>
                  <a:ext cx="1699" cy="533"/>
                </a:xfrm>
                <a:prstGeom prst="rect">
                  <a:avLst/>
                </a:prstGeom>
                <a:noFill/>
              </p:spPr>
              <p:txBody>
                <a:bodyPr wrap="square" rtlCol="0">
                  <a:spAutoFit/>
                </a:bodyPr>
                <a:lstStyle/>
                <a:p>
                  <a:r>
                    <a:rPr lang="en-US" altLang="zh-CN" sz="1050">
                      <a:solidFill>
                        <a:prstClr val="black"/>
                      </a:solidFill>
                    </a:rPr>
                    <a:t>2010</a:t>
                  </a:r>
                </a:p>
              </p:txBody>
            </p:sp>
            <p:sp>
              <p:nvSpPr>
                <p:cNvPr id="60" name="文本框 59"/>
                <p:cNvSpPr txBox="1"/>
                <p:nvPr/>
              </p:nvSpPr>
              <p:spPr>
                <a:xfrm rot="20160000">
                  <a:off x="13401" y="6284"/>
                  <a:ext cx="1699" cy="533"/>
                </a:xfrm>
                <a:prstGeom prst="rect">
                  <a:avLst/>
                </a:prstGeom>
                <a:noFill/>
              </p:spPr>
              <p:txBody>
                <a:bodyPr wrap="square" rtlCol="0">
                  <a:spAutoFit/>
                </a:bodyPr>
                <a:lstStyle/>
                <a:p>
                  <a:r>
                    <a:rPr lang="en-US" altLang="zh-CN" sz="1050">
                      <a:solidFill>
                        <a:prstClr val="black"/>
                      </a:solidFill>
                    </a:rPr>
                    <a:t>2011</a:t>
                  </a:r>
                </a:p>
              </p:txBody>
            </p:sp>
            <p:sp>
              <p:nvSpPr>
                <p:cNvPr id="61" name="文本框 60"/>
                <p:cNvSpPr txBox="1"/>
                <p:nvPr/>
              </p:nvSpPr>
              <p:spPr>
                <a:xfrm rot="19740000">
                  <a:off x="13617" y="4897"/>
                  <a:ext cx="1699" cy="533"/>
                </a:xfrm>
                <a:prstGeom prst="rect">
                  <a:avLst/>
                </a:prstGeom>
                <a:noFill/>
              </p:spPr>
              <p:txBody>
                <a:bodyPr wrap="square" rtlCol="0">
                  <a:spAutoFit/>
                </a:bodyPr>
                <a:lstStyle/>
                <a:p>
                  <a:r>
                    <a:rPr lang="en-US" altLang="zh-CN" sz="1050">
                      <a:solidFill>
                        <a:prstClr val="black"/>
                      </a:solidFill>
                    </a:rPr>
                    <a:t>2012</a:t>
                  </a:r>
                </a:p>
              </p:txBody>
            </p:sp>
            <p:sp>
              <p:nvSpPr>
                <p:cNvPr id="62" name="文本框 61"/>
                <p:cNvSpPr txBox="1"/>
                <p:nvPr/>
              </p:nvSpPr>
              <p:spPr>
                <a:xfrm rot="18840000">
                  <a:off x="16808" y="2896"/>
                  <a:ext cx="1699" cy="533"/>
                </a:xfrm>
                <a:prstGeom prst="rect">
                  <a:avLst/>
                </a:prstGeom>
                <a:noFill/>
              </p:spPr>
              <p:txBody>
                <a:bodyPr wrap="square" rtlCol="0">
                  <a:spAutoFit/>
                </a:bodyPr>
                <a:lstStyle/>
                <a:p>
                  <a:r>
                    <a:rPr lang="en-US" altLang="zh-CN" sz="1050">
                      <a:solidFill>
                        <a:prstClr val="black"/>
                      </a:solidFill>
                    </a:rPr>
                    <a:t>2015</a:t>
                  </a:r>
                </a:p>
              </p:txBody>
            </p:sp>
          </p:grpSp>
        </p:grpSp>
        <p:sp>
          <p:nvSpPr>
            <p:cNvPr id="65" name="文本框 64"/>
            <p:cNvSpPr txBox="1"/>
            <p:nvPr/>
          </p:nvSpPr>
          <p:spPr>
            <a:xfrm>
              <a:off x="509" y="9105"/>
              <a:ext cx="2366" cy="1163"/>
            </a:xfrm>
            <a:prstGeom prst="rect">
              <a:avLst/>
            </a:prstGeom>
            <a:solidFill>
              <a:srgbClr val="92D050"/>
            </a:solidFill>
          </p:spPr>
          <p:txBody>
            <a:bodyPr wrap="square" rtlCol="0">
              <a:spAutoFit/>
            </a:bodyPr>
            <a:lstStyle/>
            <a:p>
              <a:pPr algn="ctr"/>
              <a:r>
                <a:rPr lang="en-US" altLang="zh-CN" sz="1500">
                  <a:solidFill>
                    <a:prstClr val="black"/>
                  </a:solidFill>
                  <a:latin typeface="宋体" panose="02010600030101010101" pitchFamily="2" charset="-122"/>
                  <a:ea typeface="宋体" panose="02010600030101010101" pitchFamily="2" charset="-122"/>
                </a:rPr>
                <a:t>MCP</a:t>
              </a:r>
              <a:r>
                <a:rPr lang="zh-CN" altLang="en-US" sz="1500">
                  <a:solidFill>
                    <a:prstClr val="black"/>
                  </a:solidFill>
                  <a:latin typeface="宋体" panose="02010600030101010101" pitchFamily="2" charset="-122"/>
                  <a:ea typeface="宋体" panose="02010600030101010101" pitchFamily="2" charset="-122"/>
                </a:rPr>
                <a:t>神经元数学模型</a:t>
              </a:r>
            </a:p>
          </p:txBody>
        </p:sp>
      </p:grpSp>
      <p:sp>
        <p:nvSpPr>
          <p:cNvPr id="2" name="文本框 1"/>
          <p:cNvSpPr txBox="1"/>
          <p:nvPr/>
        </p:nvSpPr>
        <p:spPr>
          <a:xfrm>
            <a:off x="6406009" y="4945444"/>
            <a:ext cx="2685351" cy="738664"/>
          </a:xfrm>
          <a:prstGeom prst="rect">
            <a:avLst/>
          </a:prstGeom>
        </p:spPr>
        <p:style>
          <a:lnRef idx="1">
            <a:schemeClr val="accent1"/>
          </a:lnRef>
          <a:fillRef idx="2">
            <a:schemeClr val="accent1"/>
          </a:fillRef>
          <a:effectRef idx="1">
            <a:schemeClr val="accent1"/>
          </a:effectRef>
          <a:fontRef idx="minor">
            <a:schemeClr val="dk1"/>
          </a:fontRef>
        </p:style>
        <p:txBody>
          <a:bodyPr wrap="none" rtlCol="0">
            <a:spAutoFit/>
          </a:bodyPr>
          <a:lstStyle/>
          <a:p>
            <a:pPr marL="342900" indent="-342900">
              <a:buFont typeface="Arial" panose="020B0604020202020204" pitchFamily="34" charset="0"/>
              <a:buChar char="•"/>
            </a:pPr>
            <a:r>
              <a:rPr lang="zh-CN" altLang="en-US" sz="2100" dirty="0"/>
              <a:t>深度网络的训练难</a:t>
            </a:r>
            <a:endParaRPr lang="en-US" altLang="zh-CN" sz="2100" dirty="0"/>
          </a:p>
          <a:p>
            <a:pPr marL="342900" indent="-342900">
              <a:buFont typeface="Arial" panose="020B0604020202020204" pitchFamily="34" charset="0"/>
              <a:buChar char="•"/>
            </a:pPr>
            <a:r>
              <a:rPr lang="zh-CN" altLang="en-US" sz="2100" dirty="0"/>
              <a:t>算力不足</a:t>
            </a:r>
          </a:p>
        </p:txBody>
      </p:sp>
      <p:sp>
        <p:nvSpPr>
          <p:cNvPr id="67" name="Rectangle 2">
            <a:extLst>
              <a:ext uri="{FF2B5EF4-FFF2-40B4-BE49-F238E27FC236}">
                <a16:creationId xmlns:a16="http://schemas.microsoft.com/office/drawing/2014/main" id="{F6158D50-9CE2-4E4F-A8D1-B1439BB57963}"/>
              </a:ext>
            </a:extLst>
          </p:cNvPr>
          <p:cNvSpPr txBox="1">
            <a:spLocks noChangeArrowheads="1"/>
          </p:cNvSpPr>
          <p:nvPr/>
        </p:nvSpPr>
        <p:spPr>
          <a:xfrm>
            <a:off x="381000" y="152400"/>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zh-CN" altLang="en-US" kern="0" dirty="0"/>
              <a:t>深度学习的发展历程</a:t>
            </a:r>
            <a:endParaRPr lang="en-US" altLang="en-US" kern="0" dirty="0"/>
          </a:p>
        </p:txBody>
      </p:sp>
    </p:spTree>
    <p:extLst>
      <p:ext uri="{BB962C8B-B14F-4D97-AF65-F5344CB8AC3E}">
        <p14:creationId xmlns:p14="http://schemas.microsoft.com/office/powerpoint/2010/main" val="1941261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257800" y="1098738"/>
            <a:ext cx="3588655" cy="2420045"/>
          </a:xfrm>
          <a:prstGeom prst="rect">
            <a:avLst/>
          </a:prstGeom>
        </p:spPr>
      </p:pic>
      <p:sp>
        <p:nvSpPr>
          <p:cNvPr id="3" name="文本框 2"/>
          <p:cNvSpPr txBox="1"/>
          <p:nvPr/>
        </p:nvSpPr>
        <p:spPr>
          <a:xfrm>
            <a:off x="0" y="1304534"/>
            <a:ext cx="5257800" cy="2031325"/>
          </a:xfrm>
          <a:prstGeom prst="rect">
            <a:avLst/>
          </a:prstGeom>
          <a:noFill/>
        </p:spPr>
        <p:txBody>
          <a:bodyPr wrap="square" rtlCol="0">
            <a:spAutoFit/>
          </a:bodyPr>
          <a:lstStyle/>
          <a:p>
            <a:pPr algn="just"/>
            <a:r>
              <a:rPr lang="zh-CN" altLang="en-US" sz="21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Geoffrey Hinton 和他的学生 Ruslan Salakhutdinov 在顶尖学术刊物《</a:t>
            </a:r>
            <a:r>
              <a:rPr lang="en-US" altLang="zh-CN" sz="21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Science</a:t>
            </a:r>
            <a:r>
              <a:rPr lang="zh-CN" altLang="en-US" sz="21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》上发表了一篇文章《Reducing the Dimensionality of Data with Neural Network》，解决了</a:t>
            </a:r>
            <a:r>
              <a:rPr lang="en-US" altLang="zh-CN" sz="21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DNN</a:t>
            </a:r>
            <a:r>
              <a:rPr lang="zh-CN" altLang="en-US" sz="21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训练难的问题，</a:t>
            </a:r>
            <a:r>
              <a:rPr lang="zh-CN" altLang="en-US" sz="2100" dirty="0">
                <a:solidFill>
                  <a:srgbClr val="DA1F28">
                    <a:lumMod val="60000"/>
                    <a:lumOff val="40000"/>
                  </a:srgbClr>
                </a:solidFill>
                <a:latin typeface="Times New Roman" panose="02020603050405020304" pitchFamily="18" charset="0"/>
                <a:ea typeface="宋体" panose="02010600030101010101" pitchFamily="2" charset="-122"/>
                <a:cs typeface="Times New Roman" panose="02020603050405020304" pitchFamily="18" charset="0"/>
              </a:rPr>
              <a:t>开启了深度学习在学术界和工业界的浪潮</a:t>
            </a:r>
            <a:r>
              <a:rPr lang="zh-CN" altLang="en-US" sz="21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p>
        </p:txBody>
      </p:sp>
      <p:pic>
        <p:nvPicPr>
          <p:cNvPr id="4" name="图片 3" descr="QQ截图20180428032619"/>
          <p:cNvPicPr>
            <a:picLocks noChangeAspect="1"/>
          </p:cNvPicPr>
          <p:nvPr/>
        </p:nvPicPr>
        <p:blipFill>
          <a:blip r:embed="rId4"/>
          <a:stretch>
            <a:fillRect/>
          </a:stretch>
        </p:blipFill>
        <p:spPr>
          <a:xfrm>
            <a:off x="76200" y="3954593"/>
            <a:ext cx="8319611" cy="2258854"/>
          </a:xfrm>
          <a:prstGeom prst="rect">
            <a:avLst/>
          </a:prstGeom>
        </p:spPr>
      </p:pic>
      <p:sp>
        <p:nvSpPr>
          <p:cNvPr id="5" name="Rectangle 2">
            <a:extLst>
              <a:ext uri="{FF2B5EF4-FFF2-40B4-BE49-F238E27FC236}">
                <a16:creationId xmlns:a16="http://schemas.microsoft.com/office/drawing/2014/main" id="{1B745CA3-BCCB-48FC-B08F-B145FDAB7B26}"/>
              </a:ext>
            </a:extLst>
          </p:cNvPr>
          <p:cNvSpPr txBox="1">
            <a:spLocks noChangeArrowheads="1"/>
          </p:cNvSpPr>
          <p:nvPr/>
        </p:nvSpPr>
        <p:spPr>
          <a:xfrm>
            <a:off x="381000" y="152400"/>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zh-CN" altLang="en-US" kern="0" dirty="0"/>
              <a:t>深度学习的兴起</a:t>
            </a:r>
            <a:endParaRPr lang="en-US" altLang="en-US" kern="0" dirty="0"/>
          </a:p>
        </p:txBody>
      </p:sp>
      <p:sp>
        <p:nvSpPr>
          <p:cNvPr id="6" name="文本框 5">
            <a:extLst>
              <a:ext uri="{FF2B5EF4-FFF2-40B4-BE49-F238E27FC236}">
                <a16:creationId xmlns:a16="http://schemas.microsoft.com/office/drawing/2014/main" id="{FC20443E-4F9C-4265-8A1E-5B869268E7A2}"/>
              </a:ext>
            </a:extLst>
          </p:cNvPr>
          <p:cNvSpPr txBox="1"/>
          <p:nvPr/>
        </p:nvSpPr>
        <p:spPr>
          <a:xfrm>
            <a:off x="4899591" y="3536633"/>
            <a:ext cx="4219425" cy="400110"/>
          </a:xfrm>
          <a:prstGeom prst="rect">
            <a:avLst/>
          </a:prstGeom>
        </p:spPr>
        <p:style>
          <a:lnRef idx="1">
            <a:schemeClr val="accent5"/>
          </a:lnRef>
          <a:fillRef idx="2">
            <a:schemeClr val="accent5"/>
          </a:fillRef>
          <a:effectRef idx="1">
            <a:schemeClr val="accent5"/>
          </a:effectRef>
          <a:fontRef idx="minor">
            <a:schemeClr val="dk1"/>
          </a:fontRef>
        </p:style>
        <p:txBody>
          <a:bodyPr wrap="none" rtlCol="0">
            <a:spAutoFit/>
          </a:bodyPr>
          <a:lstStyle/>
          <a:p>
            <a:r>
              <a:rPr lang="en-US" altLang="zh-CN" sz="2000" dirty="0"/>
              <a:t>Hinton</a:t>
            </a:r>
            <a:r>
              <a:rPr lang="zh-CN" altLang="en-US" sz="2000" dirty="0"/>
              <a:t>，</a:t>
            </a:r>
            <a:r>
              <a:rPr lang="en-US" altLang="zh-CN" sz="2000" dirty="0"/>
              <a:t>DL</a:t>
            </a:r>
            <a:r>
              <a:rPr lang="zh-CN" altLang="en-US" sz="2000" dirty="0"/>
              <a:t>教父，</a:t>
            </a:r>
            <a:r>
              <a:rPr lang="en-US" altLang="zh-CN" sz="2000" dirty="0"/>
              <a:t>2018</a:t>
            </a:r>
            <a:r>
              <a:rPr lang="zh-CN" altLang="en-US" sz="2000" dirty="0"/>
              <a:t>年度图灵奖</a:t>
            </a:r>
          </a:p>
        </p:txBody>
      </p:sp>
    </p:spTree>
    <p:extLst>
      <p:ext uri="{BB962C8B-B14F-4D97-AF65-F5344CB8AC3E}">
        <p14:creationId xmlns:p14="http://schemas.microsoft.com/office/powerpoint/2010/main" val="38252170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64535-8FF5-1F4D-8D58-A47BB9E21170}"/>
              </a:ext>
            </a:extLst>
          </p:cNvPr>
          <p:cNvSpPr>
            <a:spLocks noGrp="1"/>
          </p:cNvSpPr>
          <p:nvPr>
            <p:ph type="title"/>
          </p:nvPr>
        </p:nvSpPr>
        <p:spPr/>
        <p:txBody>
          <a:bodyPr/>
          <a:lstStyle/>
          <a:p>
            <a:r>
              <a:rPr lang="zh-CN" altLang="en-US" dirty="0"/>
              <a:t>深度学习的兴起</a:t>
            </a:r>
            <a:endParaRPr lang="en-US" dirty="0"/>
          </a:p>
        </p:txBody>
      </p:sp>
      <p:sp>
        <p:nvSpPr>
          <p:cNvPr id="3" name="Content Placeholder 2">
            <a:extLst>
              <a:ext uri="{FF2B5EF4-FFF2-40B4-BE49-F238E27FC236}">
                <a16:creationId xmlns:a16="http://schemas.microsoft.com/office/drawing/2014/main" id="{2C759B39-65D2-AF46-8295-BC1EC3A78BC7}"/>
              </a:ext>
            </a:extLst>
          </p:cNvPr>
          <p:cNvSpPr>
            <a:spLocks noGrp="1"/>
          </p:cNvSpPr>
          <p:nvPr>
            <p:ph idx="1"/>
          </p:nvPr>
        </p:nvSpPr>
        <p:spPr/>
        <p:txBody>
          <a:bodyPr/>
          <a:lstStyle/>
          <a:p>
            <a:pPr>
              <a:lnSpc>
                <a:spcPct val="150000"/>
              </a:lnSpc>
              <a:buFont typeface="Wingdings" panose="05000000000000000000" pitchFamily="2" charset="2"/>
              <a:buChar char="p"/>
            </a:pPr>
            <a:r>
              <a:rPr lang="zh-CN" altLang="en-US" sz="2400" dirty="0"/>
              <a:t>进展</a:t>
            </a:r>
            <a:r>
              <a:rPr lang="en-US" sz="2400" dirty="0"/>
              <a:t>:</a:t>
            </a:r>
          </a:p>
          <a:p>
            <a:pPr lvl="1">
              <a:lnSpc>
                <a:spcPct val="150000"/>
              </a:lnSpc>
            </a:pPr>
            <a:r>
              <a:rPr lang="zh-CN" altLang="en-US" sz="2400" dirty="0"/>
              <a:t>特定结构</a:t>
            </a:r>
            <a:r>
              <a:rPr lang="en-US" sz="2400" dirty="0"/>
              <a:t>: </a:t>
            </a:r>
          </a:p>
          <a:p>
            <a:pPr lvl="2">
              <a:lnSpc>
                <a:spcPct val="150000"/>
              </a:lnSpc>
            </a:pPr>
            <a:r>
              <a:rPr lang="zh-CN" altLang="en-US" sz="2000" dirty="0"/>
              <a:t>卷积神经网络</a:t>
            </a:r>
            <a:r>
              <a:rPr lang="en-US" altLang="zh-CN" sz="2000" dirty="0"/>
              <a:t>CNN——</a:t>
            </a:r>
            <a:r>
              <a:rPr lang="zh-CN" altLang="en-US" sz="2000" dirty="0"/>
              <a:t>图像数据</a:t>
            </a:r>
            <a:endParaRPr lang="en-US" sz="2000" dirty="0"/>
          </a:p>
          <a:p>
            <a:pPr lvl="2">
              <a:lnSpc>
                <a:spcPct val="150000"/>
              </a:lnSpc>
            </a:pPr>
            <a:r>
              <a:rPr lang="zh-CN" altLang="en-US" sz="2000" dirty="0"/>
              <a:t>循环神经网络</a:t>
            </a:r>
            <a:r>
              <a:rPr lang="en-US" altLang="zh-CN" sz="2000" dirty="0"/>
              <a:t>RNN——</a:t>
            </a:r>
            <a:r>
              <a:rPr lang="zh-CN" altLang="en-US" sz="2000" dirty="0"/>
              <a:t>序列数据</a:t>
            </a:r>
            <a:endParaRPr lang="en-US" sz="2000" dirty="0"/>
          </a:p>
          <a:p>
            <a:pPr lvl="2">
              <a:lnSpc>
                <a:spcPct val="150000"/>
              </a:lnSpc>
            </a:pPr>
            <a:r>
              <a:rPr lang="zh-CN" altLang="en-US" sz="2000" dirty="0"/>
              <a:t>残差神经网络</a:t>
            </a:r>
            <a:r>
              <a:rPr lang="en-US" altLang="zh-CN" sz="2000" dirty="0"/>
              <a:t>——</a:t>
            </a:r>
            <a:r>
              <a:rPr lang="zh-CN" altLang="en-US" sz="2000" dirty="0"/>
              <a:t>跨层连接</a:t>
            </a:r>
            <a:endParaRPr lang="en-US" altLang="zh-CN" sz="2000" dirty="0"/>
          </a:p>
          <a:p>
            <a:pPr lvl="2">
              <a:lnSpc>
                <a:spcPct val="150000"/>
              </a:lnSpc>
            </a:pPr>
            <a:r>
              <a:rPr lang="zh-CN" altLang="en-US" sz="2000" dirty="0"/>
              <a:t>长序列学习</a:t>
            </a:r>
            <a:r>
              <a:rPr lang="en-US" altLang="zh-CN" sz="2000" dirty="0"/>
              <a:t>——Transformer</a:t>
            </a:r>
            <a:r>
              <a:rPr lang="zh-CN" altLang="en-US" sz="2000" dirty="0"/>
              <a:t>、注意力</a:t>
            </a:r>
            <a:endParaRPr lang="en-US" sz="2000" dirty="0"/>
          </a:p>
          <a:p>
            <a:pPr lvl="1">
              <a:lnSpc>
                <a:spcPct val="150000"/>
              </a:lnSpc>
            </a:pPr>
            <a:r>
              <a:rPr lang="zh-CN" altLang="en-US" sz="2400" dirty="0"/>
              <a:t>无监督学习模型</a:t>
            </a:r>
            <a:r>
              <a:rPr lang="en-US" sz="2400" dirty="0"/>
              <a:t>: </a:t>
            </a:r>
            <a:r>
              <a:rPr lang="zh-CN" altLang="en-US" sz="2400" dirty="0"/>
              <a:t>自编码器</a:t>
            </a:r>
            <a:endParaRPr lang="en-US" sz="2400" dirty="0"/>
          </a:p>
          <a:p>
            <a:pPr lvl="1">
              <a:lnSpc>
                <a:spcPct val="150000"/>
              </a:lnSpc>
            </a:pPr>
            <a:r>
              <a:rPr lang="zh-CN" altLang="en-US" sz="2400" dirty="0"/>
              <a:t>生成模型</a:t>
            </a:r>
            <a:r>
              <a:rPr lang="en-US" sz="2400" dirty="0"/>
              <a:t>: </a:t>
            </a:r>
            <a:r>
              <a:rPr lang="zh-CN" altLang="en-US" sz="2400" dirty="0"/>
              <a:t>生成对抗网络、扩散模型</a:t>
            </a:r>
            <a:endParaRPr lang="en-US" sz="2400" dirty="0"/>
          </a:p>
        </p:txBody>
      </p:sp>
    </p:spTree>
    <p:extLst>
      <p:ext uri="{BB962C8B-B14F-4D97-AF65-F5344CB8AC3E}">
        <p14:creationId xmlns:p14="http://schemas.microsoft.com/office/powerpoint/2010/main" val="2929472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33400" y="1676400"/>
            <a:ext cx="7848600" cy="3491063"/>
            <a:chOff x="1503680" y="1259205"/>
            <a:chExt cx="10491344" cy="5122628"/>
          </a:xfrm>
        </p:grpSpPr>
        <p:pic>
          <p:nvPicPr>
            <p:cNvPr id="3" name="图片 2"/>
            <p:cNvPicPr>
              <a:picLocks noChangeAspect="1"/>
            </p:cNvPicPr>
            <p:nvPr/>
          </p:nvPicPr>
          <p:blipFill>
            <a:blip r:embed="rId3"/>
            <a:stretch>
              <a:fillRect/>
            </a:stretch>
          </p:blipFill>
          <p:spPr>
            <a:xfrm>
              <a:off x="4001135" y="1259205"/>
              <a:ext cx="6971665" cy="3959225"/>
            </a:xfrm>
            <a:prstGeom prst="rect">
              <a:avLst/>
            </a:prstGeom>
          </p:spPr>
        </p:pic>
        <p:sp>
          <p:nvSpPr>
            <p:cNvPr id="4" name="虚尾箭头 3"/>
            <p:cNvSpPr/>
            <p:nvPr/>
          </p:nvSpPr>
          <p:spPr>
            <a:xfrm rot="9240000">
              <a:off x="3239135" y="3821430"/>
              <a:ext cx="1104900" cy="301625"/>
            </a:xfrm>
            <a:prstGeom prst="striped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sp>
          <p:nvSpPr>
            <p:cNvPr id="6" name="虚尾箭头 5"/>
            <p:cNvSpPr/>
            <p:nvPr/>
          </p:nvSpPr>
          <p:spPr>
            <a:xfrm rot="7500000">
              <a:off x="3720465" y="4516120"/>
              <a:ext cx="2849245" cy="301625"/>
            </a:xfrm>
            <a:prstGeom prst="striped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sp>
          <p:nvSpPr>
            <p:cNvPr id="7" name="虚尾箭头 6"/>
            <p:cNvSpPr/>
            <p:nvPr/>
          </p:nvSpPr>
          <p:spPr>
            <a:xfrm rot="2100000">
              <a:off x="7331075" y="4751705"/>
              <a:ext cx="2216150" cy="301625"/>
            </a:xfrm>
            <a:prstGeom prst="striped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solidFill>
                  <a:prstClr val="white"/>
                </a:solidFill>
              </a:endParaRPr>
            </a:p>
          </p:txBody>
        </p:sp>
        <p:sp>
          <p:nvSpPr>
            <p:cNvPr id="8" name="文本框 7"/>
            <p:cNvSpPr txBox="1"/>
            <p:nvPr/>
          </p:nvSpPr>
          <p:spPr>
            <a:xfrm>
              <a:off x="1503680" y="4013200"/>
              <a:ext cx="1725294" cy="609683"/>
            </a:xfrm>
            <a:prstGeom prst="rect">
              <a:avLst/>
            </a:prstGeom>
            <a:noFill/>
          </p:spPr>
          <p:txBody>
            <a:bodyPr wrap="square" rtlCol="0">
              <a:spAutoFit/>
            </a:bodyPr>
            <a:lstStyle/>
            <a:p>
              <a:r>
                <a:rPr lang="zh-CN" altLang="en-US" sz="2100">
                  <a:solidFill>
                    <a:prstClr val="black"/>
                  </a:solidFill>
                  <a:latin typeface="宋体" panose="02010600030101010101" pitchFamily="2" charset="-122"/>
                  <a:ea typeface="宋体" panose="02010600030101010101" pitchFamily="2" charset="-122"/>
                </a:rPr>
                <a:t>海量数据</a:t>
              </a:r>
            </a:p>
          </p:txBody>
        </p:sp>
        <p:sp>
          <p:nvSpPr>
            <p:cNvPr id="9" name="文本框 8"/>
            <p:cNvSpPr txBox="1"/>
            <p:nvPr/>
          </p:nvSpPr>
          <p:spPr>
            <a:xfrm>
              <a:off x="2275840" y="5772150"/>
              <a:ext cx="2430144" cy="609683"/>
            </a:xfrm>
            <a:prstGeom prst="rect">
              <a:avLst/>
            </a:prstGeom>
            <a:noFill/>
          </p:spPr>
          <p:txBody>
            <a:bodyPr wrap="square" rtlCol="0">
              <a:spAutoFit/>
            </a:bodyPr>
            <a:lstStyle/>
            <a:p>
              <a:r>
                <a:rPr lang="zh-CN" altLang="en-US" sz="2100">
                  <a:solidFill>
                    <a:prstClr val="black"/>
                  </a:solidFill>
                  <a:latin typeface="宋体" panose="02010600030101010101" pitchFamily="2" charset="-122"/>
                  <a:ea typeface="宋体" panose="02010600030101010101" pitchFamily="2" charset="-122"/>
                </a:rPr>
                <a:t>先进的模型</a:t>
              </a:r>
            </a:p>
          </p:txBody>
        </p:sp>
        <p:sp>
          <p:nvSpPr>
            <p:cNvPr id="10" name="文本框 9"/>
            <p:cNvSpPr txBox="1"/>
            <p:nvPr/>
          </p:nvSpPr>
          <p:spPr>
            <a:xfrm>
              <a:off x="8947785" y="5661660"/>
              <a:ext cx="3047239" cy="609683"/>
            </a:xfrm>
            <a:prstGeom prst="rect">
              <a:avLst/>
            </a:prstGeom>
            <a:noFill/>
          </p:spPr>
          <p:txBody>
            <a:bodyPr wrap="square" rtlCol="0">
              <a:spAutoFit/>
            </a:bodyPr>
            <a:lstStyle/>
            <a:p>
              <a:r>
                <a:rPr lang="zh-CN" altLang="en-US" sz="2100" dirty="0">
                  <a:solidFill>
                    <a:prstClr val="black"/>
                  </a:solidFill>
                  <a:latin typeface="宋体" panose="02010600030101010101" pitchFamily="2" charset="-122"/>
                  <a:ea typeface="宋体" panose="02010600030101010101" pitchFamily="2" charset="-122"/>
                </a:rPr>
                <a:t>强大的计算能力</a:t>
              </a:r>
            </a:p>
          </p:txBody>
        </p:sp>
      </p:grpSp>
      <p:sp>
        <p:nvSpPr>
          <p:cNvPr id="12" name="Title 1">
            <a:extLst>
              <a:ext uri="{FF2B5EF4-FFF2-40B4-BE49-F238E27FC236}">
                <a16:creationId xmlns:a16="http://schemas.microsoft.com/office/drawing/2014/main" id="{57C05977-0F29-4D81-8BA0-8F2D83300628}"/>
              </a:ext>
            </a:extLst>
          </p:cNvPr>
          <p:cNvSpPr txBox="1">
            <a:spLocks/>
          </p:cNvSpPr>
          <p:nvPr/>
        </p:nvSpPr>
        <p:spPr>
          <a:xfrm>
            <a:off x="381000" y="152400"/>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zh-CN" altLang="en-US" kern="0" dirty="0"/>
              <a:t>深度学习成功的三要素</a:t>
            </a:r>
            <a:endParaRPr lang="en-US" kern="0" dirty="0"/>
          </a:p>
        </p:txBody>
      </p:sp>
    </p:spTree>
    <p:extLst>
      <p:ext uri="{BB962C8B-B14F-4D97-AF65-F5344CB8AC3E}">
        <p14:creationId xmlns:p14="http://schemas.microsoft.com/office/powerpoint/2010/main" val="39838769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noChangeArrowheads="1"/>
          </p:cNvSpPr>
          <p:nvPr>
            <p:ph idx="4294967295"/>
          </p:nvPr>
        </p:nvSpPr>
        <p:spPr>
          <a:xfrm>
            <a:off x="114300" y="1066800"/>
            <a:ext cx="8915400" cy="4648200"/>
          </a:xfrm>
        </p:spPr>
        <p:txBody>
          <a:bodyPr/>
          <a:lstStyle/>
          <a:p>
            <a:pPr eaLnBrk="1" hangingPunct="1">
              <a:buFont typeface="Wingdings" panose="05000000000000000000" pitchFamily="2" charset="2"/>
              <a:buChar char="p"/>
            </a:pPr>
            <a:r>
              <a:rPr lang="zh-CN" altLang="en-US" sz="2400" dirty="0">
                <a:latin typeface="华文楷体" panose="02010600040101010101" pitchFamily="2" charset="-122"/>
                <a:ea typeface="华文楷体" panose="02010600040101010101" pitchFamily="2" charset="-122"/>
                <a:sym typeface="华文楷体" panose="02010600040101010101" pitchFamily="2" charset="-122"/>
              </a:rPr>
              <a:t>深度学习的实质</a:t>
            </a:r>
            <a:endParaRPr lang="en-US" sz="2400" dirty="0">
              <a:latin typeface="华文楷体" panose="02010600040101010101" pitchFamily="2" charset="-122"/>
              <a:ea typeface="华文楷体" panose="02010600040101010101" pitchFamily="2" charset="-122"/>
              <a:sym typeface="华文楷体" panose="02010600040101010101" pitchFamily="2" charset="-122"/>
            </a:endParaRPr>
          </a:p>
          <a:p>
            <a:pPr lvl="1" eaLnBrk="1" hangingPunct="1"/>
            <a:r>
              <a:rPr lang="zh-CN" altLang="en-US" sz="2400" dirty="0">
                <a:latin typeface="华文楷体" panose="02010600040101010101" pitchFamily="2" charset="-122"/>
                <a:ea typeface="华文楷体" panose="02010600040101010101" pitchFamily="2" charset="-122"/>
                <a:sym typeface="华文楷体" panose="02010600040101010101" pitchFamily="2" charset="-122"/>
              </a:rPr>
              <a:t>通过构建具有</a:t>
            </a:r>
            <a:r>
              <a:rPr lang="zh-CN" altLang="en-US" sz="2400" dirty="0">
                <a:solidFill>
                  <a:srgbClr val="FF0000"/>
                </a:solidFill>
                <a:latin typeface="华文楷体" panose="02010600040101010101" pitchFamily="2" charset="-122"/>
                <a:ea typeface="华文楷体" panose="02010600040101010101" pitchFamily="2" charset="-122"/>
                <a:sym typeface="华文楷体" panose="02010600040101010101" pitchFamily="2" charset="-122"/>
              </a:rPr>
              <a:t>很多隐层</a:t>
            </a:r>
            <a:r>
              <a:rPr lang="zh-CN" altLang="en-US" sz="2400" dirty="0">
                <a:latin typeface="华文楷体" panose="02010600040101010101" pitchFamily="2" charset="-122"/>
                <a:ea typeface="华文楷体" panose="02010600040101010101" pitchFamily="2" charset="-122"/>
                <a:sym typeface="华文楷体" panose="02010600040101010101" pitchFamily="2" charset="-122"/>
              </a:rPr>
              <a:t>的机器学习模型和</a:t>
            </a:r>
            <a:r>
              <a:rPr lang="zh-CN" altLang="en-US" sz="2400" dirty="0">
                <a:solidFill>
                  <a:srgbClr val="FF0000"/>
                </a:solidFill>
                <a:latin typeface="华文楷体" panose="02010600040101010101" pitchFamily="2" charset="-122"/>
                <a:ea typeface="华文楷体" panose="02010600040101010101" pitchFamily="2" charset="-122"/>
                <a:sym typeface="华文楷体" panose="02010600040101010101" pitchFamily="2" charset="-122"/>
              </a:rPr>
              <a:t>海量</a:t>
            </a:r>
            <a:r>
              <a:rPr lang="zh-CN" altLang="en-US" sz="2400" dirty="0">
                <a:latin typeface="华文楷体" panose="02010600040101010101" pitchFamily="2" charset="-122"/>
                <a:ea typeface="华文楷体" panose="02010600040101010101" pitchFamily="2" charset="-122"/>
                <a:sym typeface="华文楷体" panose="02010600040101010101" pitchFamily="2" charset="-122"/>
              </a:rPr>
              <a:t>的训练数据，来学习更有用的特征，从而最终提升分类或预测的准确性。因此，</a:t>
            </a:r>
            <a:r>
              <a:rPr lang="zh-CN" altLang="en-US" sz="2400" dirty="0">
                <a:solidFill>
                  <a:srgbClr val="FF0000"/>
                </a:solidFill>
                <a:latin typeface="华文楷体" panose="02010600040101010101" pitchFamily="2" charset="-122"/>
                <a:ea typeface="华文楷体" panose="02010600040101010101" pitchFamily="2" charset="-122"/>
                <a:sym typeface="华文楷体" panose="02010600040101010101" pitchFamily="2" charset="-122"/>
              </a:rPr>
              <a:t>“深度模型”是手段，“特征学习”是目的</a:t>
            </a:r>
            <a:r>
              <a:rPr lang="zh-CN" altLang="en-US" sz="2400" dirty="0">
                <a:latin typeface="华文楷体" panose="02010600040101010101" pitchFamily="2" charset="-122"/>
                <a:ea typeface="华文楷体" panose="02010600040101010101" pitchFamily="2" charset="-122"/>
                <a:sym typeface="华文楷体" panose="02010600040101010101" pitchFamily="2" charset="-122"/>
              </a:rPr>
              <a:t>。</a:t>
            </a:r>
            <a:endParaRPr lang="en-US" sz="2400" dirty="0">
              <a:latin typeface="华文楷体" panose="02010600040101010101" pitchFamily="2" charset="-122"/>
              <a:ea typeface="华文楷体" panose="02010600040101010101" pitchFamily="2" charset="-122"/>
              <a:sym typeface="华文楷体" panose="02010600040101010101" pitchFamily="2" charset="-122"/>
            </a:endParaRPr>
          </a:p>
          <a:p>
            <a:pPr eaLnBrk="1" hangingPunct="1">
              <a:buFont typeface="Wingdings" panose="05000000000000000000" pitchFamily="2" charset="2"/>
              <a:buChar char="p"/>
            </a:pPr>
            <a:r>
              <a:rPr lang="zh-CN" altLang="en-US" sz="2400" dirty="0">
                <a:latin typeface="华文楷体" panose="02010600040101010101" pitchFamily="2" charset="-122"/>
                <a:ea typeface="华文楷体" panose="02010600040101010101" pitchFamily="2" charset="-122"/>
                <a:sym typeface="华文楷体" panose="02010600040101010101" pitchFamily="2" charset="-122"/>
              </a:rPr>
              <a:t>深度学习与浅层学习的区别</a:t>
            </a:r>
            <a:endParaRPr lang="en-US" sz="2400" dirty="0">
              <a:latin typeface="华文楷体" panose="02010600040101010101" pitchFamily="2" charset="-122"/>
              <a:ea typeface="华文楷体" panose="02010600040101010101" pitchFamily="2" charset="-122"/>
              <a:sym typeface="华文楷体" panose="02010600040101010101" pitchFamily="2" charset="-122"/>
            </a:endParaRPr>
          </a:p>
          <a:p>
            <a:pPr lvl="1" eaLnBrk="1" hangingPunct="1"/>
            <a:r>
              <a:rPr lang="zh-CN" altLang="en-US" sz="2400" dirty="0">
                <a:latin typeface="华文楷体" panose="02010600040101010101" pitchFamily="2" charset="-122"/>
                <a:ea typeface="华文楷体" panose="02010600040101010101" pitchFamily="2" charset="-122"/>
                <a:sym typeface="华文楷体" panose="02010600040101010101" pitchFamily="2" charset="-122"/>
              </a:rPr>
              <a:t>强调了模型结构的深度，通常有</a:t>
            </a:r>
            <a:r>
              <a:rPr lang="en-US" altLang="zh-CN" sz="2400" dirty="0">
                <a:latin typeface="华文楷体" panose="02010600040101010101" pitchFamily="2" charset="-122"/>
                <a:ea typeface="华文楷体" panose="02010600040101010101" pitchFamily="2" charset="-122"/>
                <a:sym typeface="华文楷体" panose="02010600040101010101" pitchFamily="2" charset="-122"/>
              </a:rPr>
              <a:t>5-10</a:t>
            </a:r>
            <a:r>
              <a:rPr lang="zh-CN" altLang="en-US" sz="2400" dirty="0">
                <a:latin typeface="华文楷体" panose="02010600040101010101" pitchFamily="2" charset="-122"/>
                <a:ea typeface="华文楷体" panose="02010600040101010101" pitchFamily="2" charset="-122"/>
                <a:sym typeface="华文楷体" panose="02010600040101010101" pitchFamily="2" charset="-122"/>
              </a:rPr>
              <a:t>多层的隐层节点；</a:t>
            </a:r>
            <a:endParaRPr lang="en-US" sz="2400" dirty="0">
              <a:latin typeface="华文楷体" panose="02010600040101010101" pitchFamily="2" charset="-122"/>
              <a:ea typeface="华文楷体" panose="02010600040101010101" pitchFamily="2" charset="-122"/>
              <a:sym typeface="华文楷体" panose="02010600040101010101" pitchFamily="2" charset="-122"/>
            </a:endParaRPr>
          </a:p>
          <a:p>
            <a:pPr lvl="1" eaLnBrk="1" hangingPunct="1"/>
            <a:r>
              <a:rPr lang="zh-CN" altLang="en-US" sz="2400" dirty="0">
                <a:latin typeface="华文楷体" panose="02010600040101010101" pitchFamily="2" charset="-122"/>
                <a:ea typeface="华文楷体" panose="02010600040101010101" pitchFamily="2" charset="-122"/>
                <a:sym typeface="华文楷体" panose="02010600040101010101" pitchFamily="2" charset="-122"/>
              </a:rPr>
              <a:t>明确突出了特征学习的重要性，通过逐层特征变换，将样本在原空间的特征表示变换到一个新特征空间，从而使分类或预测更加容易。与人工规则构造特征的方法相比，利用大数据来学习特征，更能够刻画数据的丰富内在信息。</a:t>
            </a:r>
            <a:endParaRPr lang="zh-CN" altLang="en-US" sz="2400" dirty="0"/>
          </a:p>
        </p:txBody>
      </p:sp>
      <p:sp>
        <p:nvSpPr>
          <p:cNvPr id="3" name="Rectangle 2">
            <a:extLst>
              <a:ext uri="{FF2B5EF4-FFF2-40B4-BE49-F238E27FC236}">
                <a16:creationId xmlns:a16="http://schemas.microsoft.com/office/drawing/2014/main" id="{D80592F6-5EFF-4DD1-8E8E-AA64B57BC229}"/>
              </a:ext>
            </a:extLst>
          </p:cNvPr>
          <p:cNvSpPr txBox="1">
            <a:spLocks noChangeArrowheads="1"/>
          </p:cNvSpPr>
          <p:nvPr/>
        </p:nvSpPr>
        <p:spPr>
          <a:xfrm>
            <a:off x="381000" y="152400"/>
            <a:ext cx="8280400" cy="533400"/>
          </a:xfrm>
          <a:prstGeom prst="rect">
            <a:avLst/>
          </a:prstGeom>
        </p:spPr>
        <p:txBody>
          <a:bodyPr/>
          <a:lst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a:lstStyle>
          <a:p>
            <a:r>
              <a:rPr lang="en-US" altLang="zh-CN" kern="0" dirty="0"/>
              <a:t>DL</a:t>
            </a:r>
            <a:r>
              <a:rPr lang="zh-CN" altLang="en-US" kern="0" dirty="0"/>
              <a:t>的本质</a:t>
            </a:r>
            <a:endParaRPr lang="en-US" altLang="en-US" kern="0" dirty="0"/>
          </a:p>
        </p:txBody>
      </p:sp>
    </p:spTree>
    <p:extLst>
      <p:ext uri="{BB962C8B-B14F-4D97-AF65-F5344CB8AC3E}">
        <p14:creationId xmlns:p14="http://schemas.microsoft.com/office/powerpoint/2010/main" val="366246710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146489596</TotalTime>
  <Pages>3</Pages>
  <Words>1723</Words>
  <Application>Microsoft Office PowerPoint</Application>
  <PresentationFormat>全屏显示(4:3)</PresentationFormat>
  <Paragraphs>240</Paragraphs>
  <Slides>29</Slides>
  <Notes>8</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4</vt:i4>
      </vt:variant>
      <vt:variant>
        <vt:lpstr>幻灯片标题</vt:lpstr>
      </vt:variant>
      <vt:variant>
        <vt:i4>29</vt:i4>
      </vt:variant>
    </vt:vector>
  </HeadingPairs>
  <TitlesOfParts>
    <vt:vector size="45" baseType="lpstr">
      <vt:lpstr>Monotype Sorts</vt:lpstr>
      <vt:lpstr>华文楷体</vt:lpstr>
      <vt:lpstr>宋体</vt:lpstr>
      <vt:lpstr>Arial</vt:lpstr>
      <vt:lpstr>Calibri</vt:lpstr>
      <vt:lpstr>Calibri Light</vt:lpstr>
      <vt:lpstr>Cambria Math</vt:lpstr>
      <vt:lpstr>Tahoma</vt:lpstr>
      <vt:lpstr>Times New Roman</vt:lpstr>
      <vt:lpstr>Wingdings</vt:lpstr>
      <vt:lpstr>LC.BRev.FY97</vt:lpstr>
      <vt:lpstr>Custom Design</vt:lpstr>
      <vt:lpstr>Visio</vt:lpstr>
      <vt:lpstr>Equation</vt:lpstr>
      <vt:lpstr>Worksheet</vt:lpstr>
      <vt:lpstr>VISIO</vt:lpstr>
      <vt:lpstr>PowerPoint 演示文稿</vt:lpstr>
      <vt:lpstr>Artificial Neural Networks (ANN)</vt:lpstr>
      <vt:lpstr>感知机（perceptron）的基本结构-单层神经网络</vt:lpstr>
      <vt:lpstr>感知机举例</vt:lpstr>
      <vt:lpstr>感知器举例</vt:lpstr>
      <vt:lpstr>感知器学习规则</vt:lpstr>
      <vt:lpstr>感知器学习规则</vt:lpstr>
      <vt:lpstr>感知器学习：举例</vt:lpstr>
      <vt:lpstr>感知器——只能处理线性可分问题</vt:lpstr>
      <vt:lpstr>线性不可分问题—异或数据</vt:lpstr>
      <vt:lpstr>多层神经网络</vt:lpstr>
      <vt:lpstr>多层神经网络</vt:lpstr>
      <vt:lpstr>为什么要使用多层神经网络?</vt:lpstr>
      <vt:lpstr>多层神经网络架构</vt:lpstr>
      <vt:lpstr>激活函数-神经网络的非线性手段</vt:lpstr>
      <vt:lpstr>多层神经网络的学习</vt:lpstr>
      <vt:lpstr>梯度下降+链式法则</vt:lpstr>
      <vt:lpstr>梯度计算</vt:lpstr>
      <vt:lpstr>反向传播算法</vt:lpstr>
      <vt:lpstr>如何设计ANN</vt:lpstr>
      <vt:lpstr>ANN的特点</vt:lpstr>
      <vt:lpstr>多层神经网络Python实现</vt:lpstr>
      <vt:lpstr>PowerPoint 演示文稿</vt:lpstr>
      <vt:lpstr>PowerPoint 演示文稿</vt:lpstr>
      <vt:lpstr>PowerPoint 演示文稿</vt:lpstr>
      <vt:lpstr>PowerPoint 演示文稿</vt:lpstr>
      <vt:lpstr>深度学习的兴起</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Steven F. Ashby Center for Applied Scientific Computing  Month DD, 1997</dc:title>
  <dc:creator>Computations</dc:creator>
  <cp:lastModifiedBy>Yun Liu</cp:lastModifiedBy>
  <cp:revision>485</cp:revision>
  <cp:lastPrinted>2019-03-05T05:35:48Z</cp:lastPrinted>
  <dcterms:created xsi:type="dcterms:W3CDTF">1998-03-18T13:44:31Z</dcterms:created>
  <dcterms:modified xsi:type="dcterms:W3CDTF">2024-03-29T16:39:29Z</dcterms:modified>
</cp:coreProperties>
</file>