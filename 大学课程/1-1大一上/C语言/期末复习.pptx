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302" r:id="rId6"/>
    <p:sldId id="299" r:id="rId7"/>
    <p:sldId id="303" r:id="rId8"/>
    <p:sldId id="301" r:id="rId9"/>
    <p:sldId id="305" r:id="rId10"/>
    <p:sldId id="306" r:id="rId11"/>
    <p:sldId id="307" r:id="rId12"/>
    <p:sldId id="309" r:id="rId13"/>
  </p:sldIdLst>
  <p:sldSz cx="9144000" cy="6858000" type="screen4x3"/>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293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gs" Target="tags/tag73.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899100" y="914400"/>
            <a:ext cx="73494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899100" y="3560400"/>
            <a:ext cx="73494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456300" y="1490400"/>
            <a:ext cx="82269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493100" y="3848400"/>
            <a:ext cx="58266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493100" y="4615200"/>
            <a:ext cx="58266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456300" y="1501200"/>
            <a:ext cx="38826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4808700" y="1501200"/>
            <a:ext cx="38826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456300" y="1429200"/>
            <a:ext cx="40068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456300" y="1854000"/>
            <a:ext cx="40068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4676813" y="1421729"/>
            <a:ext cx="40068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4676813" y="1854000"/>
            <a:ext cx="40068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456300" y="1555200"/>
            <a:ext cx="3924808"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4762800" y="1555200"/>
            <a:ext cx="39204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7676100" y="914400"/>
            <a:ext cx="783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685800" y="914400"/>
            <a:ext cx="68769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456300" y="774000"/>
            <a:ext cx="82296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899100" y="2484000"/>
            <a:ext cx="73494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899100" y="3560400"/>
            <a:ext cx="73494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456300" y="608400"/>
            <a:ext cx="82269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456300" y="1490400"/>
            <a:ext cx="82269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459000" y="6314400"/>
            <a:ext cx="2025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3087000" y="6314400"/>
            <a:ext cx="297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6658200" y="6314400"/>
            <a:ext cx="2025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tags" Target="../tags/tag63.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tags" Target="../tags/tag64.xml"/><Relationship Id="rId2" Type="http://schemas.openxmlformats.org/officeDocument/2006/relationships/image" Target="../media/image1.jpe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tags" Target="../tags/tag65.xml"/><Relationship Id="rId2" Type="http://schemas.openxmlformats.org/officeDocument/2006/relationships/image" Target="../media/image1.jpe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tags" Target="../tags/tag66.xml"/><Relationship Id="rId2" Type="http://schemas.openxmlformats.org/officeDocument/2006/relationships/image" Target="../media/image1.jpe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tags" Target="../tags/tag67.xml"/><Relationship Id="rId2" Type="http://schemas.openxmlformats.org/officeDocument/2006/relationships/image" Target="../media/image1.jpe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tags" Target="../tags/tag68.xml"/><Relationship Id="rId2" Type="http://schemas.openxmlformats.org/officeDocument/2006/relationships/image" Target="../media/image1.jpe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tags" Target="../tags/tag69.xml"/><Relationship Id="rId2" Type="http://schemas.openxmlformats.org/officeDocument/2006/relationships/image" Target="../media/image1.jpe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tags" Target="../tags/tag70.xml"/><Relationship Id="rId2" Type="http://schemas.openxmlformats.org/officeDocument/2006/relationships/image" Target="../media/image1.jpe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tags" Target="../tags/tag71.xml"/><Relationship Id="rId2" Type="http://schemas.openxmlformats.org/officeDocument/2006/relationships/image" Target="../media/image1.jpe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tags" Target="../tags/tag72.xml"/><Relationship Id="rId2" Type="http://schemas.openxmlformats.org/officeDocument/2006/relationships/image" Target="../media/image1.jpe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3" name="图片 131137" descr="008_JPG"/>
          <p:cNvPicPr>
            <a:picLocks noChangeAspect="1"/>
          </p:cNvPicPr>
          <p:nvPr/>
        </p:nvPicPr>
        <p:blipFill>
          <a:blip r:embed="rId1"/>
          <a:stretch>
            <a:fillRect/>
          </a:stretch>
        </p:blipFill>
        <p:spPr>
          <a:xfrm>
            <a:off x="1549400" y="2000250"/>
            <a:ext cx="1444625" cy="1725613"/>
          </a:xfrm>
          <a:prstGeom prst="rect">
            <a:avLst/>
          </a:prstGeom>
          <a:noFill/>
          <a:ln w="9525">
            <a:noFill/>
          </a:ln>
        </p:spPr>
      </p:pic>
      <p:sp>
        <p:nvSpPr>
          <p:cNvPr id="3" name="矩形 2"/>
          <p:cNvSpPr/>
          <p:nvPr/>
        </p:nvSpPr>
        <p:spPr>
          <a:xfrm>
            <a:off x="1604963" y="3740150"/>
            <a:ext cx="6170613" cy="76200"/>
          </a:xfrm>
          <a:prstGeom prst="rect">
            <a:avLst/>
          </a:prstGeom>
          <a:gradFill>
            <a:gsLst>
              <a:gs pos="0">
                <a:srgbClr val="007BD3"/>
              </a:gs>
              <a:gs pos="100000">
                <a:srgbClr val="034373"/>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8195" name="矩形 3"/>
          <p:cNvSpPr/>
          <p:nvPr/>
        </p:nvSpPr>
        <p:spPr>
          <a:xfrm>
            <a:off x="2757488" y="2678113"/>
            <a:ext cx="4730750" cy="520700"/>
          </a:xfrm>
          <a:prstGeom prst="rect">
            <a:avLst/>
          </a:prstGeom>
          <a:noFill/>
          <a:ln w="9525">
            <a:noFill/>
          </a:ln>
        </p:spPr>
        <p:txBody>
          <a:bodyPr wrap="square" lIns="90000" tIns="46800" rIns="90000" bIns="46800" anchor="t" anchorCtr="0"/>
          <a:p>
            <a:pPr algn="ctr"/>
            <a:r>
              <a:rPr lang="zh-CN" altLang="en-US" sz="4800" dirty="0">
                <a:latin typeface="黑体" panose="02010609060101010101" charset="-122"/>
                <a:ea typeface="黑体" panose="02010609060101010101" charset="-122"/>
              </a:rPr>
              <a:t>期末</a:t>
            </a:r>
            <a:r>
              <a:rPr lang="zh-CN" altLang="en-US" sz="4800" dirty="0">
                <a:latin typeface="黑体" panose="02010609060101010101" charset="-122"/>
                <a:ea typeface="黑体" panose="02010609060101010101" charset="-122"/>
              </a:rPr>
              <a:t>练习</a:t>
            </a:r>
            <a:endParaRPr lang="zh-CN" altLang="en-US" sz="4800" dirty="0">
              <a:latin typeface="黑体" panose="02010609060101010101" charset="-122"/>
              <a:ea typeface="黑体" panose="02010609060101010101" charset="-122"/>
            </a:endParaRPr>
          </a:p>
        </p:txBody>
      </p:sp>
      <p:pic>
        <p:nvPicPr>
          <p:cNvPr id="8196" name="Picture 4" descr="d:\documents and settings\administrator\application data\360se6\User Data\temp\t0146773f76b13eed21.jpg"/>
          <p:cNvPicPr>
            <a:picLocks noChangeAspect="1"/>
          </p:cNvPicPr>
          <p:nvPr/>
        </p:nvPicPr>
        <p:blipFill>
          <a:blip r:embed="rId2"/>
          <a:srcRect l="13019" t="14429" r="14584" b="17989"/>
          <a:stretch>
            <a:fillRect/>
          </a:stretch>
        </p:blipFill>
        <p:spPr>
          <a:xfrm>
            <a:off x="1450975" y="100013"/>
            <a:ext cx="2165350" cy="1262062"/>
          </a:xfrm>
          <a:prstGeom prst="rect">
            <a:avLst/>
          </a:prstGeom>
          <a:noFill/>
          <a:ln w="9525">
            <a:noFill/>
          </a:ln>
        </p:spPr>
      </p:pic>
      <p:pic>
        <p:nvPicPr>
          <p:cNvPr id="2" name="图片 1"/>
          <p:cNvPicPr>
            <a:picLocks noChangeAspect="1"/>
          </p:cNvPicPr>
          <p:nvPr/>
        </p:nvPicPr>
        <p:blipFill>
          <a:blip r:embed="rId3"/>
          <a:stretch>
            <a:fillRect/>
          </a:stretch>
        </p:blipFill>
        <p:spPr>
          <a:xfrm>
            <a:off x="127000" y="114300"/>
            <a:ext cx="1279525" cy="1277938"/>
          </a:xfrm>
          <a:prstGeom prst="rect">
            <a:avLst/>
          </a:prstGeom>
          <a:effectLst>
            <a:outerShdw blurRad="63500" dist="38100" dir="2700000" algn="tl" rotWithShape="0">
              <a:prstClr val="black">
                <a:alpha val="40000"/>
              </a:prstClr>
            </a:outerShdw>
          </a:effectLst>
        </p:spPr>
      </p:pic>
      <p:sp>
        <p:nvSpPr>
          <p:cNvPr id="4" name="文本框 3"/>
          <p:cNvSpPr txBox="1"/>
          <p:nvPr/>
        </p:nvSpPr>
        <p:spPr>
          <a:xfrm>
            <a:off x="1600200" y="4724400"/>
            <a:ext cx="6438900" cy="1198880"/>
          </a:xfrm>
          <a:prstGeom prst="rect">
            <a:avLst/>
          </a:prstGeom>
          <a:noFill/>
        </p:spPr>
        <p:txBody>
          <a:bodyPr wrap="square" rtlCol="0">
            <a:spAutoFit/>
          </a:bodyPr>
          <a:p>
            <a:pPr>
              <a:lnSpc>
                <a:spcPct val="150000"/>
              </a:lnSpc>
            </a:pPr>
            <a:r>
              <a:rPr lang="zh-CN" altLang="en-US" sz="2400"/>
              <a:t>吉林大学通信工程学院</a:t>
            </a:r>
            <a:endParaRPr lang="zh-CN" altLang="en-US" sz="2400"/>
          </a:p>
          <a:p>
            <a:pPr>
              <a:lnSpc>
                <a:spcPct val="150000"/>
              </a:lnSpc>
            </a:pPr>
            <a:r>
              <a:rPr lang="zh-CN" altLang="en-US" sz="2400"/>
              <a:t>主讲：李明阳</a:t>
            </a:r>
            <a:r>
              <a:rPr lang="en-US" altLang="zh-CN" sz="2400"/>
              <a:t>   </a:t>
            </a:r>
            <a:r>
              <a:rPr lang="zh-CN" altLang="en-US" sz="2400"/>
              <a:t>邮箱：</a:t>
            </a:r>
            <a:r>
              <a:rPr lang="en-US" altLang="zh-CN" sz="2400"/>
              <a:t>limingyang@jlu.edu.cn</a:t>
            </a:r>
            <a:endParaRPr lang="en-US" altLang="zh-CN" sz="2400"/>
          </a:p>
        </p:txBody>
      </p:sp>
    </p:spTree>
    <p:custDataLst>
      <p:tags r:id="rId4"/>
    </p:custData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65100" y="995363"/>
            <a:ext cx="6170613" cy="76200"/>
          </a:xfrm>
          <a:prstGeom prst="rect">
            <a:avLst/>
          </a:prstGeom>
          <a:gradFill>
            <a:gsLst>
              <a:gs pos="0">
                <a:srgbClr val="007BD3"/>
              </a:gs>
              <a:gs pos="100000">
                <a:srgbClr val="034373"/>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9218" name="矩形 3"/>
          <p:cNvSpPr/>
          <p:nvPr/>
        </p:nvSpPr>
        <p:spPr>
          <a:xfrm>
            <a:off x="973138" y="179388"/>
            <a:ext cx="3292475" cy="520700"/>
          </a:xfrm>
          <a:prstGeom prst="rect">
            <a:avLst/>
          </a:prstGeom>
          <a:noFill/>
          <a:ln w="9525">
            <a:noFill/>
          </a:ln>
        </p:spPr>
        <p:txBody>
          <a:bodyPr wrap="square" lIns="90000" tIns="46800" rIns="90000" bIns="46800" anchor="t" anchorCtr="0"/>
          <a:p>
            <a:pPr algn="ctr"/>
            <a:r>
              <a:rPr lang="zh-CN" sz="4000" dirty="0">
                <a:latin typeface="黑体" panose="02010609060101010101" charset="-122"/>
                <a:ea typeface="黑体" panose="02010609060101010101" charset="-122"/>
                <a:sym typeface="+mn-ea"/>
              </a:rPr>
              <a:t>期末练习</a:t>
            </a:r>
            <a:endParaRPr lang="zh-CN" sz="4000" dirty="0">
              <a:latin typeface="黑体" panose="02010609060101010101" charset="-122"/>
              <a:ea typeface="黑体" panose="02010609060101010101" charset="-122"/>
              <a:sym typeface="+mn-ea"/>
            </a:endParaRPr>
          </a:p>
        </p:txBody>
      </p:sp>
      <p:sp>
        <p:nvSpPr>
          <p:cNvPr id="7" name="矩形 6"/>
          <p:cNvSpPr>
            <a:spLocks noChangeAspect="1"/>
          </p:cNvSpPr>
          <p:nvPr/>
        </p:nvSpPr>
        <p:spPr>
          <a:xfrm>
            <a:off x="5491163" y="-12700"/>
            <a:ext cx="3646488" cy="1281113"/>
          </a:xfrm>
          <a:prstGeom prst="rect">
            <a:avLst/>
          </a:prstGeom>
          <a:blipFill dpi="0" rotWithShape="1">
            <a:blip r:embed="rId1">
              <a:alphaModFix amt="49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defRPr/>
            </a:pPr>
            <a:endParaRPr lang="zh-CN" altLang="en-US" strike="noStrike" noProof="1"/>
          </a:p>
        </p:txBody>
      </p:sp>
      <p:pic>
        <p:nvPicPr>
          <p:cNvPr id="9258" name="图片 131137" descr="008_JPG"/>
          <p:cNvPicPr>
            <a:picLocks noChangeAspect="1"/>
          </p:cNvPicPr>
          <p:nvPr/>
        </p:nvPicPr>
        <p:blipFill>
          <a:blip r:embed="rId2"/>
          <a:stretch>
            <a:fillRect/>
          </a:stretch>
        </p:blipFill>
        <p:spPr>
          <a:xfrm>
            <a:off x="254000" y="93663"/>
            <a:ext cx="742950" cy="889000"/>
          </a:xfrm>
          <a:prstGeom prst="rect">
            <a:avLst/>
          </a:prstGeom>
          <a:noFill/>
          <a:ln w="9525">
            <a:noFill/>
          </a:ln>
        </p:spPr>
      </p:pic>
      <p:sp>
        <p:nvSpPr>
          <p:cNvPr id="10" name="文本框 9"/>
          <p:cNvSpPr txBox="1"/>
          <p:nvPr/>
        </p:nvSpPr>
        <p:spPr>
          <a:xfrm>
            <a:off x="88900" y="1924050"/>
            <a:ext cx="8870950" cy="2030095"/>
          </a:xfrm>
          <a:prstGeom prst="rect">
            <a:avLst/>
          </a:prstGeom>
          <a:noFill/>
        </p:spPr>
        <p:txBody>
          <a:bodyPr wrap="square" rtlCol="0">
            <a:spAutoFit/>
          </a:bodyPr>
          <a:p>
            <a:pPr>
              <a:lnSpc>
                <a:spcPct val="150000"/>
              </a:lnSpc>
            </a:pPr>
            <a:r>
              <a:rPr lang="zh-CN" altLang="en-US" sz="2800"/>
              <a:t>从键盘输入</a:t>
            </a:r>
            <a:r>
              <a:rPr lang="en-US" altLang="zh-CN" sz="2800"/>
              <a:t>10</a:t>
            </a:r>
            <a:r>
              <a:rPr lang="zh-CN" altLang="en-US" sz="2800"/>
              <a:t>个整数，输出这</a:t>
            </a:r>
            <a:r>
              <a:rPr lang="en-US" altLang="zh-CN" sz="2800"/>
              <a:t>10</a:t>
            </a:r>
            <a:r>
              <a:rPr lang="zh-CN" altLang="en-US" sz="2800"/>
              <a:t>个数中仅出现一次的数。</a:t>
            </a:r>
            <a:endParaRPr lang="zh-CN" altLang="en-US" sz="2800"/>
          </a:p>
          <a:p>
            <a:pPr>
              <a:lnSpc>
                <a:spcPct val="150000"/>
              </a:lnSpc>
            </a:pPr>
            <a:r>
              <a:rPr lang="zh-CN" altLang="en-US" sz="2800"/>
              <a:t>如输入：</a:t>
            </a:r>
            <a:r>
              <a:rPr lang="en-US" altLang="zh-CN" sz="2800"/>
              <a:t>12 36 72 36 87 87 12 35</a:t>
            </a:r>
            <a:endParaRPr lang="en-US" altLang="zh-CN" sz="2800"/>
          </a:p>
          <a:p>
            <a:pPr>
              <a:lnSpc>
                <a:spcPct val="150000"/>
              </a:lnSpc>
            </a:pPr>
            <a:r>
              <a:rPr lang="zh-CN" altLang="en-US" sz="2800"/>
              <a:t>则输出：</a:t>
            </a:r>
            <a:r>
              <a:rPr lang="en-US" altLang="zh-CN" sz="2800"/>
              <a:t>72 99 35</a:t>
            </a:r>
            <a:endParaRPr lang="en-US" altLang="zh-CN" sz="2800"/>
          </a:p>
        </p:txBody>
      </p:sp>
      <p:sp>
        <p:nvSpPr>
          <p:cNvPr id="11" name="矩形 10"/>
          <p:cNvSpPr/>
          <p:nvPr/>
        </p:nvSpPr>
        <p:spPr>
          <a:xfrm>
            <a:off x="158433" y="1122680"/>
            <a:ext cx="1936115" cy="922020"/>
          </a:xfrm>
          <a:prstGeom prst="rect">
            <a:avLst/>
          </a:prstGeom>
          <a:noFill/>
          <a:ln>
            <a:noFill/>
          </a:ln>
        </p:spPr>
        <p:txBody>
          <a:bodyPr wrap="none" rtlCol="0" anchor="t">
            <a:spAutoFit/>
          </a:bodyPr>
          <a:p>
            <a:pPr algn="ctr"/>
            <a:r>
              <a:rPr lang="zh-CN" altLang="en-US" sz="5400" b="1">
                <a:solidFill>
                  <a:schemeClr val="accent1"/>
                </a:solidFill>
                <a:effectLst>
                  <a:outerShdw blurRad="38100" dist="25400" dir="5400000" algn="ctr" rotWithShape="0">
                    <a:srgbClr val="6E747A">
                      <a:alpha val="43000"/>
                    </a:srgbClr>
                  </a:outerShdw>
                </a:effectLst>
              </a:rPr>
              <a:t>练习</a:t>
            </a:r>
            <a:r>
              <a:rPr lang="en-US" altLang="zh-CN" sz="5400" b="1">
                <a:solidFill>
                  <a:schemeClr val="accent1"/>
                </a:solidFill>
                <a:effectLst>
                  <a:outerShdw blurRad="38100" dist="25400" dir="5400000" algn="ctr" rotWithShape="0">
                    <a:srgbClr val="6E747A">
                      <a:alpha val="43000"/>
                    </a:srgbClr>
                  </a:outerShdw>
                </a:effectLst>
              </a:rPr>
              <a:t>1</a:t>
            </a:r>
            <a:endParaRPr lang="en-US" altLang="zh-CN" sz="5400" b="1">
              <a:solidFill>
                <a:schemeClr val="accent1"/>
              </a:solidFill>
              <a:effectLst>
                <a:outerShdw blurRad="38100" dist="25400" dir="5400000" algn="ctr" rotWithShape="0">
                  <a:srgbClr val="6E747A">
                    <a:alpha val="43000"/>
                  </a:srgbClr>
                </a:outerShdw>
              </a:effectLst>
            </a:endParaRPr>
          </a:p>
        </p:txBody>
      </p:sp>
    </p:spTree>
    <p:custDataLst>
      <p:tags r:id="rId3"/>
    </p:custData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65100" y="995363"/>
            <a:ext cx="6170613" cy="76200"/>
          </a:xfrm>
          <a:prstGeom prst="rect">
            <a:avLst/>
          </a:prstGeom>
          <a:gradFill>
            <a:gsLst>
              <a:gs pos="0">
                <a:srgbClr val="007BD3"/>
              </a:gs>
              <a:gs pos="100000">
                <a:srgbClr val="034373"/>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9218" name="矩形 3"/>
          <p:cNvSpPr/>
          <p:nvPr/>
        </p:nvSpPr>
        <p:spPr>
          <a:xfrm>
            <a:off x="973138" y="179388"/>
            <a:ext cx="3292475" cy="520700"/>
          </a:xfrm>
          <a:prstGeom prst="rect">
            <a:avLst/>
          </a:prstGeom>
          <a:noFill/>
          <a:ln w="9525">
            <a:noFill/>
          </a:ln>
        </p:spPr>
        <p:txBody>
          <a:bodyPr wrap="square" lIns="90000" tIns="46800" rIns="90000" bIns="46800" anchor="t" anchorCtr="0"/>
          <a:p>
            <a:pPr algn="ctr"/>
            <a:r>
              <a:rPr lang="zh-CN" sz="4000" dirty="0">
                <a:latin typeface="黑体" panose="02010609060101010101" charset="-122"/>
                <a:ea typeface="黑体" panose="02010609060101010101" charset="-122"/>
                <a:sym typeface="+mn-ea"/>
              </a:rPr>
              <a:t>期末练习</a:t>
            </a:r>
            <a:endParaRPr lang="zh-CN" sz="4000" dirty="0">
              <a:latin typeface="黑体" panose="02010609060101010101" charset="-122"/>
              <a:ea typeface="黑体" panose="02010609060101010101" charset="-122"/>
              <a:sym typeface="+mn-ea"/>
            </a:endParaRPr>
          </a:p>
        </p:txBody>
      </p:sp>
      <p:sp>
        <p:nvSpPr>
          <p:cNvPr id="7" name="矩形 6"/>
          <p:cNvSpPr>
            <a:spLocks noChangeAspect="1"/>
          </p:cNvSpPr>
          <p:nvPr/>
        </p:nvSpPr>
        <p:spPr>
          <a:xfrm>
            <a:off x="5491163" y="-12700"/>
            <a:ext cx="3646488" cy="1281113"/>
          </a:xfrm>
          <a:prstGeom prst="rect">
            <a:avLst/>
          </a:prstGeom>
          <a:blipFill dpi="0" rotWithShape="1">
            <a:blip r:embed="rId1">
              <a:alphaModFix amt="49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defRPr/>
            </a:pPr>
            <a:endParaRPr lang="zh-CN" altLang="en-US" strike="noStrike" noProof="1"/>
          </a:p>
        </p:txBody>
      </p:sp>
      <p:pic>
        <p:nvPicPr>
          <p:cNvPr id="9258" name="图片 131137" descr="008_JPG"/>
          <p:cNvPicPr>
            <a:picLocks noChangeAspect="1"/>
          </p:cNvPicPr>
          <p:nvPr/>
        </p:nvPicPr>
        <p:blipFill>
          <a:blip r:embed="rId2"/>
          <a:stretch>
            <a:fillRect/>
          </a:stretch>
        </p:blipFill>
        <p:spPr>
          <a:xfrm>
            <a:off x="254000" y="93663"/>
            <a:ext cx="742950" cy="889000"/>
          </a:xfrm>
          <a:prstGeom prst="rect">
            <a:avLst/>
          </a:prstGeom>
          <a:noFill/>
          <a:ln w="9525">
            <a:noFill/>
          </a:ln>
        </p:spPr>
      </p:pic>
      <p:sp>
        <p:nvSpPr>
          <p:cNvPr id="2" name="文本框 1"/>
          <p:cNvSpPr txBox="1"/>
          <p:nvPr/>
        </p:nvSpPr>
        <p:spPr>
          <a:xfrm>
            <a:off x="254000" y="1100455"/>
            <a:ext cx="4502785" cy="460375"/>
          </a:xfrm>
          <a:prstGeom prst="rect">
            <a:avLst/>
          </a:prstGeom>
          <a:noFill/>
        </p:spPr>
        <p:txBody>
          <a:bodyPr wrap="square" rtlCol="0">
            <a:spAutoFit/>
          </a:bodyPr>
          <a:p>
            <a:r>
              <a:rPr lang="zh-CN" altLang="en-US" sz="2400"/>
              <a:t>参考程序：</a:t>
            </a:r>
            <a:endParaRPr lang="zh-CN" altLang="en-US" sz="2400"/>
          </a:p>
        </p:txBody>
      </p:sp>
      <p:sp>
        <p:nvSpPr>
          <p:cNvPr id="4" name="文本框 3"/>
          <p:cNvSpPr txBox="1"/>
          <p:nvPr/>
        </p:nvSpPr>
        <p:spPr>
          <a:xfrm>
            <a:off x="292100" y="1589405"/>
            <a:ext cx="5916930" cy="5262245"/>
          </a:xfrm>
          <a:prstGeom prst="rect">
            <a:avLst/>
          </a:prstGeom>
          <a:noFill/>
        </p:spPr>
        <p:txBody>
          <a:bodyPr wrap="square" rtlCol="0">
            <a:spAutoFit/>
          </a:bodyPr>
          <a:p>
            <a:r>
              <a:rPr lang="en-US" altLang="zh-CN" sz="2400"/>
              <a:t>#include&lt;stdio.h&gt;</a:t>
            </a:r>
            <a:endParaRPr lang="en-US" altLang="zh-CN" sz="2400"/>
          </a:p>
          <a:p>
            <a:r>
              <a:rPr lang="en-US" altLang="zh-CN" sz="2400"/>
              <a:t>int main()</a:t>
            </a:r>
            <a:endParaRPr lang="en-US" altLang="zh-CN" sz="2400"/>
          </a:p>
          <a:p>
            <a:r>
              <a:rPr lang="en-US" altLang="zh-CN" sz="2400"/>
              <a:t>{ int a[10],i,j;</a:t>
            </a:r>
            <a:endParaRPr lang="en-US" altLang="zh-CN" sz="2400"/>
          </a:p>
          <a:p>
            <a:r>
              <a:rPr lang="en-US" altLang="zh-CN" sz="2400"/>
              <a:t>   for(i=0;i&lt;10;i++)</a:t>
            </a:r>
            <a:endParaRPr lang="en-US" altLang="zh-CN" sz="2400"/>
          </a:p>
          <a:p>
            <a:r>
              <a:rPr lang="en-US" altLang="zh-CN" sz="2400"/>
              <a:t>      scanf("%d",&amp;a[i]);</a:t>
            </a:r>
            <a:endParaRPr lang="en-US" altLang="zh-CN" sz="2400"/>
          </a:p>
          <a:p>
            <a:r>
              <a:rPr lang="en-US" altLang="zh-CN" sz="2400"/>
              <a:t>   for(i=0;i&lt;10;i++)</a:t>
            </a:r>
            <a:endParaRPr lang="en-US" altLang="zh-CN" sz="2400"/>
          </a:p>
          <a:p>
            <a:r>
              <a:rPr lang="en-US" altLang="zh-CN" sz="2400"/>
              <a:t>     {  for(j=0;j&lt;10;j++)</a:t>
            </a:r>
            <a:endParaRPr lang="en-US" altLang="zh-CN" sz="2400"/>
          </a:p>
          <a:p>
            <a:r>
              <a:rPr lang="en-US" altLang="zh-CN" sz="2400"/>
              <a:t>            if(i!=j&amp;&amp;a[i]==a[j])</a:t>
            </a:r>
            <a:endParaRPr lang="en-US" altLang="zh-CN" sz="2400"/>
          </a:p>
          <a:p>
            <a:r>
              <a:rPr lang="en-US" altLang="zh-CN" sz="2400"/>
              <a:t>                  break;</a:t>
            </a:r>
            <a:endParaRPr lang="en-US" altLang="zh-CN" sz="2400"/>
          </a:p>
          <a:p>
            <a:r>
              <a:rPr lang="en-US" altLang="zh-CN" sz="2400"/>
              <a:t>            if(j&gt;=10)</a:t>
            </a:r>
            <a:endParaRPr lang="en-US" altLang="zh-CN" sz="2400"/>
          </a:p>
          <a:p>
            <a:r>
              <a:rPr lang="en-US" altLang="zh-CN" sz="2400"/>
              <a:t>                  printf("%d  ",a[i]);</a:t>
            </a:r>
            <a:endParaRPr lang="en-US" altLang="zh-CN" sz="2400"/>
          </a:p>
          <a:p>
            <a:r>
              <a:rPr lang="en-US" altLang="zh-CN" sz="2400"/>
              <a:t>     }</a:t>
            </a:r>
            <a:endParaRPr lang="en-US" altLang="zh-CN" sz="2400"/>
          </a:p>
          <a:p>
            <a:r>
              <a:rPr lang="en-US" altLang="zh-CN" sz="2400"/>
              <a:t>return 0;</a:t>
            </a:r>
            <a:endParaRPr lang="en-US" altLang="zh-CN" sz="2400"/>
          </a:p>
          <a:p>
            <a:r>
              <a:rPr lang="en-US" altLang="zh-CN" sz="2400"/>
              <a:t>}</a:t>
            </a:r>
            <a:endParaRPr lang="en-US" altLang="zh-CN" sz="2400"/>
          </a:p>
        </p:txBody>
      </p:sp>
    </p:spTree>
    <p:custDataLst>
      <p:tags r:id="rId3"/>
    </p:custData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65100" y="995363"/>
            <a:ext cx="6170613" cy="76200"/>
          </a:xfrm>
          <a:prstGeom prst="rect">
            <a:avLst/>
          </a:prstGeom>
          <a:gradFill>
            <a:gsLst>
              <a:gs pos="0">
                <a:srgbClr val="007BD3"/>
              </a:gs>
              <a:gs pos="100000">
                <a:srgbClr val="034373"/>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9218" name="矩形 3"/>
          <p:cNvSpPr/>
          <p:nvPr/>
        </p:nvSpPr>
        <p:spPr>
          <a:xfrm>
            <a:off x="973138" y="179388"/>
            <a:ext cx="3292475" cy="520700"/>
          </a:xfrm>
          <a:prstGeom prst="rect">
            <a:avLst/>
          </a:prstGeom>
          <a:noFill/>
          <a:ln w="9525">
            <a:noFill/>
          </a:ln>
        </p:spPr>
        <p:txBody>
          <a:bodyPr wrap="square" lIns="90000" tIns="46800" rIns="90000" bIns="46800" anchor="t" anchorCtr="0"/>
          <a:p>
            <a:pPr algn="ctr"/>
            <a:r>
              <a:rPr lang="zh-CN" sz="4000" dirty="0">
                <a:latin typeface="黑体" panose="02010609060101010101" charset="-122"/>
                <a:ea typeface="黑体" panose="02010609060101010101" charset="-122"/>
                <a:sym typeface="+mn-ea"/>
              </a:rPr>
              <a:t>期末练习</a:t>
            </a:r>
            <a:endParaRPr lang="zh-CN" sz="4000" dirty="0">
              <a:latin typeface="黑体" panose="02010609060101010101" charset="-122"/>
              <a:ea typeface="黑体" panose="02010609060101010101" charset="-122"/>
              <a:sym typeface="+mn-ea"/>
            </a:endParaRPr>
          </a:p>
        </p:txBody>
      </p:sp>
      <p:sp>
        <p:nvSpPr>
          <p:cNvPr id="7" name="矩形 6"/>
          <p:cNvSpPr>
            <a:spLocks noChangeAspect="1"/>
          </p:cNvSpPr>
          <p:nvPr/>
        </p:nvSpPr>
        <p:spPr>
          <a:xfrm>
            <a:off x="5491163" y="-12700"/>
            <a:ext cx="3646488" cy="1281113"/>
          </a:xfrm>
          <a:prstGeom prst="rect">
            <a:avLst/>
          </a:prstGeom>
          <a:blipFill dpi="0" rotWithShape="1">
            <a:blip r:embed="rId1">
              <a:alphaModFix amt="49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defRPr/>
            </a:pPr>
            <a:endParaRPr lang="zh-CN" altLang="en-US" strike="noStrike" noProof="1"/>
          </a:p>
        </p:txBody>
      </p:sp>
      <p:pic>
        <p:nvPicPr>
          <p:cNvPr id="9258" name="图片 131137" descr="008_JPG"/>
          <p:cNvPicPr>
            <a:picLocks noChangeAspect="1"/>
          </p:cNvPicPr>
          <p:nvPr/>
        </p:nvPicPr>
        <p:blipFill>
          <a:blip r:embed="rId2"/>
          <a:stretch>
            <a:fillRect/>
          </a:stretch>
        </p:blipFill>
        <p:spPr>
          <a:xfrm>
            <a:off x="254000" y="93663"/>
            <a:ext cx="742950" cy="889000"/>
          </a:xfrm>
          <a:prstGeom prst="rect">
            <a:avLst/>
          </a:prstGeom>
          <a:noFill/>
          <a:ln w="9525">
            <a:noFill/>
          </a:ln>
        </p:spPr>
      </p:pic>
      <p:sp>
        <p:nvSpPr>
          <p:cNvPr id="11" name="矩形 10"/>
          <p:cNvSpPr/>
          <p:nvPr/>
        </p:nvSpPr>
        <p:spPr>
          <a:xfrm>
            <a:off x="158433" y="1122680"/>
            <a:ext cx="1936115" cy="922020"/>
          </a:xfrm>
          <a:prstGeom prst="rect">
            <a:avLst/>
          </a:prstGeom>
          <a:noFill/>
          <a:ln>
            <a:noFill/>
          </a:ln>
        </p:spPr>
        <p:txBody>
          <a:bodyPr wrap="none" rtlCol="0" anchor="t">
            <a:spAutoFit/>
          </a:bodyPr>
          <a:p>
            <a:pPr algn="ctr"/>
            <a:r>
              <a:rPr lang="zh-CN" altLang="en-US" sz="5400" b="1">
                <a:solidFill>
                  <a:schemeClr val="accent1"/>
                </a:solidFill>
                <a:effectLst>
                  <a:outerShdw blurRad="38100" dist="25400" dir="5400000" algn="ctr" rotWithShape="0">
                    <a:srgbClr val="6E747A">
                      <a:alpha val="43000"/>
                    </a:srgbClr>
                  </a:outerShdw>
                </a:effectLst>
              </a:rPr>
              <a:t>练习</a:t>
            </a:r>
            <a:r>
              <a:rPr lang="en-US" altLang="zh-CN" sz="5400" b="1">
                <a:solidFill>
                  <a:schemeClr val="accent1"/>
                </a:solidFill>
                <a:effectLst>
                  <a:outerShdw blurRad="38100" dist="25400" dir="5400000" algn="ctr" rotWithShape="0">
                    <a:srgbClr val="6E747A">
                      <a:alpha val="43000"/>
                    </a:srgbClr>
                  </a:outerShdw>
                </a:effectLst>
              </a:rPr>
              <a:t>2</a:t>
            </a:r>
            <a:endParaRPr lang="en-US" altLang="zh-CN" sz="5400" b="1">
              <a:solidFill>
                <a:schemeClr val="accent1"/>
              </a:solidFill>
              <a:effectLst>
                <a:outerShdw blurRad="38100" dist="25400" dir="5400000" algn="ctr" rotWithShape="0">
                  <a:srgbClr val="6E747A">
                    <a:alpha val="43000"/>
                  </a:srgbClr>
                </a:outerShdw>
              </a:effectLst>
            </a:endParaRPr>
          </a:p>
        </p:txBody>
      </p:sp>
      <p:sp>
        <p:nvSpPr>
          <p:cNvPr id="10" name="文本框 9"/>
          <p:cNvSpPr txBox="1"/>
          <p:nvPr/>
        </p:nvSpPr>
        <p:spPr>
          <a:xfrm>
            <a:off x="88900" y="1924050"/>
            <a:ext cx="8870950" cy="2676525"/>
          </a:xfrm>
          <a:prstGeom prst="rect">
            <a:avLst/>
          </a:prstGeom>
          <a:noFill/>
        </p:spPr>
        <p:txBody>
          <a:bodyPr wrap="square" rtlCol="0">
            <a:spAutoFit/>
          </a:bodyPr>
          <a:p>
            <a:pPr>
              <a:lnSpc>
                <a:spcPct val="150000"/>
              </a:lnSpc>
            </a:pPr>
            <a:r>
              <a:rPr lang="zh-CN" altLang="en-US" sz="2800"/>
              <a:t>从键盘输入</a:t>
            </a:r>
            <a:r>
              <a:rPr lang="en-US" altLang="zh-CN" sz="2800"/>
              <a:t>M</a:t>
            </a:r>
            <a:r>
              <a:rPr lang="zh-CN" altLang="en-US" sz="2800"/>
              <a:t>（</a:t>
            </a:r>
            <a:r>
              <a:rPr lang="en-US" altLang="zh-CN" sz="2800"/>
              <a:t>10</a:t>
            </a:r>
            <a:r>
              <a:rPr lang="zh-CN" altLang="en-US" sz="2800"/>
              <a:t>）个整数，去掉其中最大的</a:t>
            </a:r>
            <a:r>
              <a:rPr lang="en-US" altLang="zh-CN" sz="2800"/>
              <a:t>2</a:t>
            </a:r>
            <a:r>
              <a:rPr lang="zh-CN" altLang="en-US" sz="2800"/>
              <a:t>个数和最小的</a:t>
            </a:r>
            <a:r>
              <a:rPr lang="en-US" altLang="zh-CN" sz="2800"/>
              <a:t>2</a:t>
            </a:r>
            <a:r>
              <a:rPr lang="zh-CN" altLang="en-US" sz="2800"/>
              <a:t>个数，求剩余数据的</a:t>
            </a:r>
            <a:r>
              <a:rPr lang="zh-CN" altLang="en-US" sz="2800"/>
              <a:t>平均值。</a:t>
            </a:r>
            <a:endParaRPr lang="zh-CN" altLang="en-US" sz="2800"/>
          </a:p>
          <a:p>
            <a:pPr>
              <a:lnSpc>
                <a:spcPct val="150000"/>
              </a:lnSpc>
            </a:pPr>
            <a:r>
              <a:rPr lang="zh-CN" altLang="en-US" sz="2800"/>
              <a:t>如输入：</a:t>
            </a:r>
            <a:r>
              <a:rPr lang="en-US" altLang="zh-CN" sz="2800"/>
              <a:t>1 3 8 6 5 9 10 17 2 4</a:t>
            </a:r>
            <a:endParaRPr lang="en-US" altLang="zh-CN" sz="2800"/>
          </a:p>
          <a:p>
            <a:pPr>
              <a:lnSpc>
                <a:spcPct val="150000"/>
              </a:lnSpc>
            </a:pPr>
            <a:r>
              <a:rPr lang="zh-CN" altLang="en-US" sz="2800"/>
              <a:t>则输出：</a:t>
            </a:r>
            <a:r>
              <a:rPr lang="en-US" altLang="zh-CN" sz="2800"/>
              <a:t>5.833333</a:t>
            </a:r>
            <a:endParaRPr lang="en-US" altLang="zh-CN" sz="2800"/>
          </a:p>
        </p:txBody>
      </p:sp>
    </p:spTree>
    <p:custDataLst>
      <p:tags r:id="rId3"/>
    </p:custData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65100" y="995363"/>
            <a:ext cx="6170613" cy="76200"/>
          </a:xfrm>
          <a:prstGeom prst="rect">
            <a:avLst/>
          </a:prstGeom>
          <a:gradFill>
            <a:gsLst>
              <a:gs pos="0">
                <a:srgbClr val="007BD3"/>
              </a:gs>
              <a:gs pos="100000">
                <a:srgbClr val="034373"/>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9218" name="矩形 3"/>
          <p:cNvSpPr/>
          <p:nvPr/>
        </p:nvSpPr>
        <p:spPr>
          <a:xfrm>
            <a:off x="973138" y="179388"/>
            <a:ext cx="3292475" cy="520700"/>
          </a:xfrm>
          <a:prstGeom prst="rect">
            <a:avLst/>
          </a:prstGeom>
          <a:noFill/>
          <a:ln w="9525">
            <a:noFill/>
          </a:ln>
        </p:spPr>
        <p:txBody>
          <a:bodyPr wrap="square" lIns="90000" tIns="46800" rIns="90000" bIns="46800" anchor="t" anchorCtr="0"/>
          <a:p>
            <a:pPr algn="ctr"/>
            <a:r>
              <a:rPr lang="zh-CN" sz="4000" dirty="0">
                <a:latin typeface="黑体" panose="02010609060101010101" charset="-122"/>
                <a:ea typeface="黑体" panose="02010609060101010101" charset="-122"/>
                <a:sym typeface="+mn-ea"/>
              </a:rPr>
              <a:t>期末练习</a:t>
            </a:r>
            <a:endParaRPr lang="zh-CN" sz="4000" dirty="0">
              <a:latin typeface="黑体" panose="02010609060101010101" charset="-122"/>
              <a:ea typeface="黑体" panose="02010609060101010101" charset="-122"/>
              <a:sym typeface="+mn-ea"/>
            </a:endParaRPr>
          </a:p>
        </p:txBody>
      </p:sp>
      <p:sp>
        <p:nvSpPr>
          <p:cNvPr id="7" name="矩形 6"/>
          <p:cNvSpPr>
            <a:spLocks noChangeAspect="1"/>
          </p:cNvSpPr>
          <p:nvPr/>
        </p:nvSpPr>
        <p:spPr>
          <a:xfrm>
            <a:off x="5491163" y="-12700"/>
            <a:ext cx="3646488" cy="1281113"/>
          </a:xfrm>
          <a:prstGeom prst="rect">
            <a:avLst/>
          </a:prstGeom>
          <a:blipFill dpi="0" rotWithShape="1">
            <a:blip r:embed="rId1">
              <a:alphaModFix amt="49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defRPr/>
            </a:pPr>
            <a:endParaRPr lang="zh-CN" altLang="en-US" strike="noStrike" noProof="1"/>
          </a:p>
        </p:txBody>
      </p:sp>
      <p:pic>
        <p:nvPicPr>
          <p:cNvPr id="9258" name="图片 131137" descr="008_JPG"/>
          <p:cNvPicPr>
            <a:picLocks noChangeAspect="1"/>
          </p:cNvPicPr>
          <p:nvPr/>
        </p:nvPicPr>
        <p:blipFill>
          <a:blip r:embed="rId2"/>
          <a:stretch>
            <a:fillRect/>
          </a:stretch>
        </p:blipFill>
        <p:spPr>
          <a:xfrm>
            <a:off x="254000" y="93663"/>
            <a:ext cx="742950" cy="889000"/>
          </a:xfrm>
          <a:prstGeom prst="rect">
            <a:avLst/>
          </a:prstGeom>
          <a:noFill/>
          <a:ln w="9525">
            <a:noFill/>
          </a:ln>
        </p:spPr>
      </p:pic>
      <p:sp>
        <p:nvSpPr>
          <p:cNvPr id="2" name="文本框 1"/>
          <p:cNvSpPr txBox="1"/>
          <p:nvPr/>
        </p:nvSpPr>
        <p:spPr>
          <a:xfrm>
            <a:off x="254000" y="1100455"/>
            <a:ext cx="4502785" cy="460375"/>
          </a:xfrm>
          <a:prstGeom prst="rect">
            <a:avLst/>
          </a:prstGeom>
          <a:noFill/>
        </p:spPr>
        <p:txBody>
          <a:bodyPr wrap="square" rtlCol="0">
            <a:spAutoFit/>
          </a:bodyPr>
          <a:p>
            <a:r>
              <a:rPr lang="zh-CN" altLang="en-US" sz="2400"/>
              <a:t>参考程序：</a:t>
            </a:r>
            <a:endParaRPr lang="zh-CN" altLang="en-US" sz="2400"/>
          </a:p>
        </p:txBody>
      </p:sp>
      <p:sp>
        <p:nvSpPr>
          <p:cNvPr id="4" name="文本框 3"/>
          <p:cNvSpPr txBox="1"/>
          <p:nvPr/>
        </p:nvSpPr>
        <p:spPr>
          <a:xfrm>
            <a:off x="292100" y="1589405"/>
            <a:ext cx="5916930" cy="4523105"/>
          </a:xfrm>
          <a:prstGeom prst="rect">
            <a:avLst/>
          </a:prstGeom>
          <a:noFill/>
        </p:spPr>
        <p:txBody>
          <a:bodyPr wrap="square" rtlCol="0">
            <a:spAutoFit/>
          </a:bodyPr>
          <a:p>
            <a:r>
              <a:rPr lang="en-US" altLang="zh-CN" sz="2400"/>
              <a:t>#include&lt;stdio.h&gt;</a:t>
            </a:r>
            <a:endParaRPr lang="en-US" altLang="zh-CN" sz="2400"/>
          </a:p>
          <a:p>
            <a:r>
              <a:rPr lang="en-US" altLang="zh-CN" sz="2400"/>
              <a:t>#define M 10</a:t>
            </a:r>
            <a:endParaRPr lang="en-US" altLang="zh-CN" sz="2400"/>
          </a:p>
          <a:p>
            <a:r>
              <a:rPr lang="en-US" altLang="zh-CN" sz="2400"/>
              <a:t>int main()</a:t>
            </a:r>
            <a:endParaRPr lang="en-US" altLang="zh-CN" sz="2400"/>
          </a:p>
          <a:p>
            <a:r>
              <a:rPr lang="en-US" altLang="zh-CN" sz="2400"/>
              <a:t>{ int a[M],sum=0, i, j,t;</a:t>
            </a:r>
            <a:endParaRPr lang="en-US" altLang="zh-CN" sz="2400"/>
          </a:p>
          <a:p>
            <a:r>
              <a:rPr lang="en-US" altLang="zh-CN" sz="2400"/>
              <a:t>   for(i=0;i&lt;M;i++)</a:t>
            </a:r>
            <a:endParaRPr lang="en-US" altLang="zh-CN" sz="2400"/>
          </a:p>
          <a:p>
            <a:r>
              <a:rPr lang="en-US" altLang="zh-CN" sz="2400"/>
              <a:t>      scanf("%d",&amp;a[i]);</a:t>
            </a:r>
            <a:endParaRPr lang="en-US" altLang="zh-CN" sz="2400"/>
          </a:p>
          <a:p>
            <a:r>
              <a:rPr lang="en-US" altLang="zh-CN" sz="2400"/>
              <a:t>   for(i=0;i&lt;M-1;i++)</a:t>
            </a:r>
            <a:endParaRPr lang="en-US" altLang="zh-CN" sz="2400"/>
          </a:p>
          <a:p>
            <a:r>
              <a:rPr lang="en-US" altLang="zh-CN" sz="2400"/>
              <a:t>       for(j=0;j&lt;M-i-1;j++)</a:t>
            </a:r>
            <a:endParaRPr lang="en-US" altLang="zh-CN" sz="2400"/>
          </a:p>
          <a:p>
            <a:r>
              <a:rPr lang="en-US" altLang="zh-CN" sz="2400"/>
              <a:t>            if(a[j]&gt;a[j+1])</a:t>
            </a:r>
            <a:endParaRPr lang="en-US" altLang="zh-CN" sz="2400"/>
          </a:p>
          <a:p>
            <a:r>
              <a:rPr lang="en-US" altLang="zh-CN" sz="2400"/>
              <a:t>                { t=a[j];</a:t>
            </a:r>
            <a:endParaRPr lang="en-US" altLang="zh-CN" sz="2400"/>
          </a:p>
          <a:p>
            <a:r>
              <a:rPr lang="en-US" altLang="zh-CN" sz="2400"/>
              <a:t>                 a[j]=a[j+1];</a:t>
            </a:r>
            <a:endParaRPr lang="en-US" altLang="zh-CN" sz="2400"/>
          </a:p>
          <a:p>
            <a:r>
              <a:rPr lang="en-US" altLang="zh-CN" sz="2400"/>
              <a:t>                  a[j+1]=t;}  </a:t>
            </a:r>
            <a:endParaRPr lang="en-US" altLang="zh-CN" sz="2400"/>
          </a:p>
        </p:txBody>
      </p:sp>
      <p:sp>
        <p:nvSpPr>
          <p:cNvPr id="5" name="文本框 4"/>
          <p:cNvSpPr txBox="1"/>
          <p:nvPr/>
        </p:nvSpPr>
        <p:spPr>
          <a:xfrm>
            <a:off x="4065270" y="1589405"/>
            <a:ext cx="5007610" cy="3046095"/>
          </a:xfrm>
          <a:prstGeom prst="rect">
            <a:avLst/>
          </a:prstGeom>
          <a:noFill/>
        </p:spPr>
        <p:txBody>
          <a:bodyPr wrap="square" rtlCol="0">
            <a:spAutoFit/>
          </a:bodyPr>
          <a:p>
            <a:r>
              <a:rPr lang="en-US" altLang="zh-CN" sz="2400"/>
              <a:t>for(i=0;i&lt;M;i++)</a:t>
            </a:r>
            <a:endParaRPr lang="en-US" altLang="zh-CN" sz="2400"/>
          </a:p>
          <a:p>
            <a:r>
              <a:rPr lang="en-US" altLang="zh-CN" sz="2400"/>
              <a:t>   printf("%d   ",a[i]);</a:t>
            </a:r>
            <a:endParaRPr lang="en-US" altLang="zh-CN" sz="2400"/>
          </a:p>
          <a:p>
            <a:r>
              <a:rPr lang="en-US" altLang="zh-CN" sz="2400"/>
              <a:t>for(i=2;i&lt;M-2;i++)</a:t>
            </a:r>
            <a:endParaRPr lang="en-US" altLang="zh-CN" sz="2400"/>
          </a:p>
          <a:p>
            <a:r>
              <a:rPr lang="en-US" altLang="zh-CN" sz="2400"/>
              <a:t>   sum+=a[i];</a:t>
            </a:r>
            <a:endParaRPr lang="en-US" altLang="zh-CN" sz="2400"/>
          </a:p>
          <a:p>
            <a:r>
              <a:rPr lang="en-US" altLang="zh-CN" sz="2400"/>
              <a:t>   printf("\n平均值为：%f\n",(float)sum/(M-4));  </a:t>
            </a:r>
            <a:endParaRPr lang="en-US" altLang="zh-CN" sz="2400"/>
          </a:p>
          <a:p>
            <a:r>
              <a:rPr lang="en-US" altLang="zh-CN" sz="2400"/>
              <a:t>return 0;</a:t>
            </a:r>
            <a:endParaRPr lang="en-US" altLang="zh-CN" sz="2400"/>
          </a:p>
          <a:p>
            <a:r>
              <a:rPr lang="en-US" altLang="zh-CN" sz="2400"/>
              <a:t>}</a:t>
            </a:r>
            <a:endParaRPr lang="en-US" altLang="zh-CN" sz="2400"/>
          </a:p>
        </p:txBody>
      </p:sp>
    </p:spTree>
    <p:custDataLst>
      <p:tags r:id="rId3"/>
    </p:custData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65100" y="995363"/>
            <a:ext cx="6170613" cy="76200"/>
          </a:xfrm>
          <a:prstGeom prst="rect">
            <a:avLst/>
          </a:prstGeom>
          <a:gradFill>
            <a:gsLst>
              <a:gs pos="0">
                <a:srgbClr val="007BD3"/>
              </a:gs>
              <a:gs pos="100000">
                <a:srgbClr val="034373"/>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9218" name="矩形 3"/>
          <p:cNvSpPr/>
          <p:nvPr/>
        </p:nvSpPr>
        <p:spPr>
          <a:xfrm>
            <a:off x="973138" y="179388"/>
            <a:ext cx="3292475" cy="520700"/>
          </a:xfrm>
          <a:prstGeom prst="rect">
            <a:avLst/>
          </a:prstGeom>
          <a:noFill/>
          <a:ln w="9525">
            <a:noFill/>
          </a:ln>
        </p:spPr>
        <p:txBody>
          <a:bodyPr wrap="square" lIns="90000" tIns="46800" rIns="90000" bIns="46800" anchor="t" anchorCtr="0"/>
          <a:p>
            <a:pPr algn="ctr"/>
            <a:r>
              <a:rPr lang="zh-CN" sz="4000" dirty="0">
                <a:latin typeface="黑体" panose="02010609060101010101" charset="-122"/>
                <a:ea typeface="黑体" panose="02010609060101010101" charset="-122"/>
                <a:sym typeface="+mn-ea"/>
              </a:rPr>
              <a:t>期末练习</a:t>
            </a:r>
            <a:endParaRPr lang="zh-CN" sz="4000" dirty="0">
              <a:latin typeface="黑体" panose="02010609060101010101" charset="-122"/>
              <a:ea typeface="黑体" panose="02010609060101010101" charset="-122"/>
              <a:sym typeface="+mn-ea"/>
            </a:endParaRPr>
          </a:p>
        </p:txBody>
      </p:sp>
      <p:sp>
        <p:nvSpPr>
          <p:cNvPr id="7" name="矩形 6"/>
          <p:cNvSpPr>
            <a:spLocks noChangeAspect="1"/>
          </p:cNvSpPr>
          <p:nvPr/>
        </p:nvSpPr>
        <p:spPr>
          <a:xfrm>
            <a:off x="5491163" y="-12700"/>
            <a:ext cx="3646488" cy="1281113"/>
          </a:xfrm>
          <a:prstGeom prst="rect">
            <a:avLst/>
          </a:prstGeom>
          <a:blipFill dpi="0" rotWithShape="1">
            <a:blip r:embed="rId1">
              <a:alphaModFix amt="49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defRPr/>
            </a:pPr>
            <a:endParaRPr lang="zh-CN" altLang="en-US" strike="noStrike" noProof="1"/>
          </a:p>
        </p:txBody>
      </p:sp>
      <p:pic>
        <p:nvPicPr>
          <p:cNvPr id="9258" name="图片 131137" descr="008_JPG"/>
          <p:cNvPicPr>
            <a:picLocks noChangeAspect="1"/>
          </p:cNvPicPr>
          <p:nvPr/>
        </p:nvPicPr>
        <p:blipFill>
          <a:blip r:embed="rId2"/>
          <a:stretch>
            <a:fillRect/>
          </a:stretch>
        </p:blipFill>
        <p:spPr>
          <a:xfrm>
            <a:off x="254000" y="93663"/>
            <a:ext cx="742950" cy="889000"/>
          </a:xfrm>
          <a:prstGeom prst="rect">
            <a:avLst/>
          </a:prstGeom>
          <a:noFill/>
          <a:ln w="9525">
            <a:noFill/>
          </a:ln>
        </p:spPr>
      </p:pic>
      <p:sp>
        <p:nvSpPr>
          <p:cNvPr id="11" name="矩形 10"/>
          <p:cNvSpPr/>
          <p:nvPr/>
        </p:nvSpPr>
        <p:spPr>
          <a:xfrm>
            <a:off x="158433" y="1122680"/>
            <a:ext cx="1936115" cy="922020"/>
          </a:xfrm>
          <a:prstGeom prst="rect">
            <a:avLst/>
          </a:prstGeom>
          <a:noFill/>
          <a:ln>
            <a:noFill/>
          </a:ln>
        </p:spPr>
        <p:txBody>
          <a:bodyPr wrap="none" rtlCol="0" anchor="t">
            <a:spAutoFit/>
          </a:bodyPr>
          <a:p>
            <a:pPr algn="ctr"/>
            <a:r>
              <a:rPr lang="zh-CN" altLang="en-US" sz="5400" b="1">
                <a:solidFill>
                  <a:schemeClr val="accent1"/>
                </a:solidFill>
                <a:effectLst>
                  <a:outerShdw blurRad="38100" dist="25400" dir="5400000" algn="ctr" rotWithShape="0">
                    <a:srgbClr val="6E747A">
                      <a:alpha val="43000"/>
                    </a:srgbClr>
                  </a:outerShdw>
                </a:effectLst>
              </a:rPr>
              <a:t>练习</a:t>
            </a:r>
            <a:r>
              <a:rPr lang="en-US" altLang="zh-CN" sz="5400" b="1">
                <a:solidFill>
                  <a:schemeClr val="accent1"/>
                </a:solidFill>
                <a:effectLst>
                  <a:outerShdw blurRad="38100" dist="25400" dir="5400000" algn="ctr" rotWithShape="0">
                    <a:srgbClr val="6E747A">
                      <a:alpha val="43000"/>
                    </a:srgbClr>
                  </a:outerShdw>
                </a:effectLst>
              </a:rPr>
              <a:t>3</a:t>
            </a:r>
            <a:endParaRPr lang="en-US" altLang="zh-CN" sz="5400" b="1">
              <a:solidFill>
                <a:schemeClr val="accent1"/>
              </a:solidFill>
              <a:effectLst>
                <a:outerShdw blurRad="38100" dist="25400" dir="5400000" algn="ctr" rotWithShape="0">
                  <a:srgbClr val="6E747A">
                    <a:alpha val="43000"/>
                  </a:srgbClr>
                </a:outerShdw>
              </a:effectLst>
            </a:endParaRPr>
          </a:p>
        </p:txBody>
      </p:sp>
      <p:sp>
        <p:nvSpPr>
          <p:cNvPr id="10" name="文本框 9"/>
          <p:cNvSpPr txBox="1"/>
          <p:nvPr/>
        </p:nvSpPr>
        <p:spPr>
          <a:xfrm>
            <a:off x="88900" y="1924050"/>
            <a:ext cx="8870950" cy="3322955"/>
          </a:xfrm>
          <a:prstGeom prst="rect">
            <a:avLst/>
          </a:prstGeom>
          <a:noFill/>
        </p:spPr>
        <p:txBody>
          <a:bodyPr wrap="square" rtlCol="0">
            <a:spAutoFit/>
          </a:bodyPr>
          <a:p>
            <a:pPr>
              <a:lnSpc>
                <a:spcPct val="150000"/>
              </a:lnSpc>
            </a:pPr>
            <a:r>
              <a:rPr lang="zh-CN" altLang="en-US" sz="2800"/>
              <a:t>编写一个函数，用一个自然数中包含的偶数数字从右到左依次取出构成一个新数返回。要求在主函数中输入该数，并输出结果。</a:t>
            </a:r>
            <a:endParaRPr lang="zh-CN" altLang="en-US" sz="2800"/>
          </a:p>
          <a:p>
            <a:pPr>
              <a:lnSpc>
                <a:spcPct val="150000"/>
              </a:lnSpc>
            </a:pPr>
            <a:r>
              <a:rPr lang="zh-CN" altLang="en-US" sz="2800"/>
              <a:t>如输入：</a:t>
            </a:r>
            <a:r>
              <a:rPr lang="en-US" altLang="zh-CN" sz="2800">
                <a:sym typeface="+mn-ea"/>
              </a:rPr>
              <a:t>8831421</a:t>
            </a:r>
            <a:endParaRPr lang="en-US" altLang="zh-CN" sz="2800">
              <a:sym typeface="+mn-ea"/>
            </a:endParaRPr>
          </a:p>
          <a:p>
            <a:pPr>
              <a:lnSpc>
                <a:spcPct val="150000"/>
              </a:lnSpc>
            </a:pPr>
            <a:r>
              <a:rPr lang="zh-CN" altLang="en-US" sz="2800"/>
              <a:t>则输出：</a:t>
            </a:r>
            <a:r>
              <a:rPr lang="en-US" altLang="zh-CN" sz="2800">
                <a:sym typeface="+mn-ea"/>
              </a:rPr>
              <a:t>8842</a:t>
            </a:r>
            <a:endParaRPr lang="en-US" altLang="zh-CN" sz="2800"/>
          </a:p>
        </p:txBody>
      </p:sp>
    </p:spTree>
    <p:custDataLst>
      <p:tags r:id="rId3"/>
    </p:custData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65100" y="995363"/>
            <a:ext cx="6170613" cy="76200"/>
          </a:xfrm>
          <a:prstGeom prst="rect">
            <a:avLst/>
          </a:prstGeom>
          <a:gradFill>
            <a:gsLst>
              <a:gs pos="0">
                <a:srgbClr val="007BD3"/>
              </a:gs>
              <a:gs pos="100000">
                <a:srgbClr val="034373"/>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9218" name="矩形 3"/>
          <p:cNvSpPr/>
          <p:nvPr/>
        </p:nvSpPr>
        <p:spPr>
          <a:xfrm>
            <a:off x="973138" y="179388"/>
            <a:ext cx="3292475" cy="520700"/>
          </a:xfrm>
          <a:prstGeom prst="rect">
            <a:avLst/>
          </a:prstGeom>
          <a:noFill/>
          <a:ln w="9525">
            <a:noFill/>
          </a:ln>
        </p:spPr>
        <p:txBody>
          <a:bodyPr wrap="square" lIns="90000" tIns="46800" rIns="90000" bIns="46800" anchor="t" anchorCtr="0"/>
          <a:p>
            <a:pPr algn="ctr"/>
            <a:r>
              <a:rPr lang="zh-CN" sz="4000" dirty="0">
                <a:latin typeface="黑体" panose="02010609060101010101" charset="-122"/>
                <a:ea typeface="黑体" panose="02010609060101010101" charset="-122"/>
                <a:sym typeface="+mn-ea"/>
              </a:rPr>
              <a:t>期末练习</a:t>
            </a:r>
            <a:endParaRPr lang="zh-CN" sz="4000" dirty="0">
              <a:latin typeface="黑体" panose="02010609060101010101" charset="-122"/>
              <a:ea typeface="黑体" panose="02010609060101010101" charset="-122"/>
              <a:sym typeface="+mn-ea"/>
            </a:endParaRPr>
          </a:p>
        </p:txBody>
      </p:sp>
      <p:sp>
        <p:nvSpPr>
          <p:cNvPr id="7" name="矩形 6"/>
          <p:cNvSpPr>
            <a:spLocks noChangeAspect="1"/>
          </p:cNvSpPr>
          <p:nvPr/>
        </p:nvSpPr>
        <p:spPr>
          <a:xfrm>
            <a:off x="5491163" y="-12700"/>
            <a:ext cx="3646488" cy="1281113"/>
          </a:xfrm>
          <a:prstGeom prst="rect">
            <a:avLst/>
          </a:prstGeom>
          <a:blipFill dpi="0" rotWithShape="1">
            <a:blip r:embed="rId1">
              <a:alphaModFix amt="49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defRPr/>
            </a:pPr>
            <a:endParaRPr lang="zh-CN" altLang="en-US" strike="noStrike" noProof="1"/>
          </a:p>
        </p:txBody>
      </p:sp>
      <p:pic>
        <p:nvPicPr>
          <p:cNvPr id="9258" name="图片 131137" descr="008_JPG"/>
          <p:cNvPicPr>
            <a:picLocks noChangeAspect="1"/>
          </p:cNvPicPr>
          <p:nvPr/>
        </p:nvPicPr>
        <p:blipFill>
          <a:blip r:embed="rId2"/>
          <a:stretch>
            <a:fillRect/>
          </a:stretch>
        </p:blipFill>
        <p:spPr>
          <a:xfrm>
            <a:off x="254000" y="93663"/>
            <a:ext cx="742950" cy="889000"/>
          </a:xfrm>
          <a:prstGeom prst="rect">
            <a:avLst/>
          </a:prstGeom>
          <a:noFill/>
          <a:ln w="9525">
            <a:noFill/>
          </a:ln>
        </p:spPr>
      </p:pic>
      <p:sp>
        <p:nvSpPr>
          <p:cNvPr id="2" name="文本框 1"/>
          <p:cNvSpPr txBox="1"/>
          <p:nvPr/>
        </p:nvSpPr>
        <p:spPr>
          <a:xfrm>
            <a:off x="254000" y="1100455"/>
            <a:ext cx="4502785" cy="460375"/>
          </a:xfrm>
          <a:prstGeom prst="rect">
            <a:avLst/>
          </a:prstGeom>
          <a:noFill/>
        </p:spPr>
        <p:txBody>
          <a:bodyPr wrap="square" rtlCol="0">
            <a:spAutoFit/>
          </a:bodyPr>
          <a:p>
            <a:r>
              <a:rPr lang="zh-CN" altLang="en-US" sz="2400"/>
              <a:t>参考程序：</a:t>
            </a:r>
            <a:endParaRPr lang="zh-CN" altLang="en-US" sz="2400"/>
          </a:p>
        </p:txBody>
      </p:sp>
      <p:sp>
        <p:nvSpPr>
          <p:cNvPr id="4" name="文本框 3"/>
          <p:cNvSpPr txBox="1"/>
          <p:nvPr/>
        </p:nvSpPr>
        <p:spPr>
          <a:xfrm>
            <a:off x="292100" y="1589405"/>
            <a:ext cx="5916930" cy="5262245"/>
          </a:xfrm>
          <a:prstGeom prst="rect">
            <a:avLst/>
          </a:prstGeom>
          <a:noFill/>
        </p:spPr>
        <p:txBody>
          <a:bodyPr wrap="square" rtlCol="0">
            <a:spAutoFit/>
          </a:bodyPr>
          <a:p>
            <a:r>
              <a:rPr lang="en-US" altLang="zh-CN" sz="2400"/>
              <a:t>#include&lt;stdio.h&gt;</a:t>
            </a:r>
            <a:endParaRPr lang="en-US" altLang="zh-CN" sz="2400"/>
          </a:p>
          <a:p>
            <a:r>
              <a:rPr lang="en-US" altLang="zh-CN" sz="2400"/>
              <a:t>int fun(int s)  </a:t>
            </a:r>
            <a:endParaRPr lang="en-US" altLang="zh-CN" sz="2400"/>
          </a:p>
          <a:p>
            <a:r>
              <a:rPr lang="en-US" altLang="zh-CN" sz="2400"/>
              <a:t>{</a:t>
            </a:r>
            <a:endParaRPr lang="en-US" altLang="zh-CN" sz="2400"/>
          </a:p>
          <a:p>
            <a:r>
              <a:rPr lang="en-US" altLang="zh-CN" sz="2400"/>
              <a:t>   int digit, sum=0,pow=1;</a:t>
            </a:r>
            <a:endParaRPr lang="en-US" altLang="zh-CN" sz="2400"/>
          </a:p>
          <a:p>
            <a:r>
              <a:rPr lang="en-US" altLang="zh-CN" sz="2400"/>
              <a:t>   while(s&gt;0)</a:t>
            </a:r>
            <a:endParaRPr lang="en-US" altLang="zh-CN" sz="2400"/>
          </a:p>
          <a:p>
            <a:r>
              <a:rPr lang="en-US" altLang="zh-CN" sz="2400"/>
              <a:t>    {    digit=s%10;</a:t>
            </a:r>
            <a:endParaRPr lang="en-US" altLang="zh-CN" sz="2400"/>
          </a:p>
          <a:p>
            <a:r>
              <a:rPr lang="en-US" altLang="zh-CN" sz="2400"/>
              <a:t>         if(digit%2==0)</a:t>
            </a:r>
            <a:endParaRPr lang="en-US" altLang="zh-CN" sz="2400"/>
          </a:p>
          <a:p>
            <a:r>
              <a:rPr lang="en-US" altLang="zh-CN" sz="2400"/>
              <a:t>          {</a:t>
            </a:r>
            <a:endParaRPr lang="en-US" altLang="zh-CN" sz="2400"/>
          </a:p>
          <a:p>
            <a:r>
              <a:rPr lang="en-US" altLang="zh-CN" sz="2400"/>
              <a:t>              sum+=digit*pow;</a:t>
            </a:r>
            <a:endParaRPr lang="en-US" altLang="zh-CN" sz="2400"/>
          </a:p>
          <a:p>
            <a:r>
              <a:rPr lang="en-US" altLang="zh-CN" sz="2400"/>
              <a:t>              pow*=10;</a:t>
            </a:r>
            <a:endParaRPr lang="en-US" altLang="zh-CN" sz="2400"/>
          </a:p>
          <a:p>
            <a:r>
              <a:rPr lang="en-US" altLang="zh-CN" sz="2400"/>
              <a:t>           }</a:t>
            </a:r>
            <a:endParaRPr lang="en-US" altLang="zh-CN" sz="2400"/>
          </a:p>
          <a:p>
            <a:r>
              <a:rPr lang="en-US" altLang="zh-CN" sz="2400"/>
              <a:t>            s=s/10;</a:t>
            </a:r>
            <a:endParaRPr lang="en-US" altLang="zh-CN" sz="2400"/>
          </a:p>
          <a:p>
            <a:r>
              <a:rPr lang="en-US" altLang="zh-CN" sz="2400"/>
              <a:t>     }</a:t>
            </a:r>
            <a:endParaRPr lang="en-US" altLang="zh-CN" sz="2400"/>
          </a:p>
          <a:p>
            <a:r>
              <a:rPr lang="en-US" altLang="zh-CN" sz="2400"/>
              <a:t>    return sum;  }</a:t>
            </a:r>
            <a:endParaRPr lang="en-US" altLang="zh-CN" sz="2400"/>
          </a:p>
        </p:txBody>
      </p:sp>
      <p:sp>
        <p:nvSpPr>
          <p:cNvPr id="5" name="文本框 4"/>
          <p:cNvSpPr txBox="1"/>
          <p:nvPr/>
        </p:nvSpPr>
        <p:spPr>
          <a:xfrm>
            <a:off x="4044315" y="1589405"/>
            <a:ext cx="5916930" cy="3046095"/>
          </a:xfrm>
          <a:prstGeom prst="rect">
            <a:avLst/>
          </a:prstGeom>
          <a:noFill/>
        </p:spPr>
        <p:txBody>
          <a:bodyPr wrap="square" rtlCol="0">
            <a:spAutoFit/>
          </a:bodyPr>
          <a:p>
            <a:r>
              <a:rPr lang="en-US" altLang="zh-CN" sz="2400"/>
              <a:t>int main()</a:t>
            </a:r>
            <a:endParaRPr lang="en-US" altLang="zh-CN" sz="2400"/>
          </a:p>
          <a:p>
            <a:r>
              <a:rPr lang="en-US" altLang="zh-CN" sz="2400"/>
              <a:t>{ int num;</a:t>
            </a:r>
            <a:endParaRPr lang="en-US" altLang="zh-CN" sz="2400"/>
          </a:p>
          <a:p>
            <a:r>
              <a:rPr lang="en-US" altLang="zh-CN" sz="2400"/>
              <a:t>   printf("Enter a natural num: ");</a:t>
            </a:r>
            <a:endParaRPr lang="en-US" altLang="zh-CN" sz="2400"/>
          </a:p>
          <a:p>
            <a:r>
              <a:rPr lang="en-US" altLang="zh-CN" sz="2400"/>
              <a:t>   scanf("%d",&amp;num);</a:t>
            </a:r>
            <a:endParaRPr lang="en-US" altLang="zh-CN" sz="2400"/>
          </a:p>
          <a:p>
            <a:r>
              <a:rPr lang="en-US" altLang="zh-CN" sz="2400"/>
              <a:t>   printf("Result: %d\n",fun(num));</a:t>
            </a:r>
            <a:endParaRPr lang="en-US" altLang="zh-CN" sz="2400"/>
          </a:p>
          <a:p>
            <a:r>
              <a:rPr lang="en-US" altLang="zh-CN" sz="2400"/>
              <a:t>   return 0;</a:t>
            </a:r>
            <a:endParaRPr lang="en-US" altLang="zh-CN" sz="2400"/>
          </a:p>
          <a:p>
            <a:r>
              <a:rPr lang="en-US" altLang="zh-CN" sz="2400"/>
              <a:t>}</a:t>
            </a:r>
            <a:endParaRPr lang="en-US" altLang="zh-CN" sz="2400"/>
          </a:p>
          <a:p>
            <a:r>
              <a:rPr lang="en-US" altLang="zh-CN" sz="2400"/>
              <a:t>     </a:t>
            </a:r>
            <a:endParaRPr lang="en-US" altLang="zh-CN" sz="2400"/>
          </a:p>
        </p:txBody>
      </p:sp>
    </p:spTree>
    <p:custDataLst>
      <p:tags r:id="rId3"/>
    </p:custData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65100" y="995363"/>
            <a:ext cx="6170613" cy="76200"/>
          </a:xfrm>
          <a:prstGeom prst="rect">
            <a:avLst/>
          </a:prstGeom>
          <a:gradFill>
            <a:gsLst>
              <a:gs pos="0">
                <a:srgbClr val="007BD3"/>
              </a:gs>
              <a:gs pos="100000">
                <a:srgbClr val="034373"/>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9218" name="矩形 3"/>
          <p:cNvSpPr/>
          <p:nvPr/>
        </p:nvSpPr>
        <p:spPr>
          <a:xfrm>
            <a:off x="973138" y="179388"/>
            <a:ext cx="3292475" cy="520700"/>
          </a:xfrm>
          <a:prstGeom prst="rect">
            <a:avLst/>
          </a:prstGeom>
          <a:noFill/>
          <a:ln w="9525">
            <a:noFill/>
          </a:ln>
        </p:spPr>
        <p:txBody>
          <a:bodyPr wrap="square" lIns="90000" tIns="46800" rIns="90000" bIns="46800" anchor="t" anchorCtr="0"/>
          <a:p>
            <a:pPr algn="ctr"/>
            <a:r>
              <a:rPr lang="zh-CN" sz="4000" dirty="0">
                <a:latin typeface="黑体" panose="02010609060101010101" charset="-122"/>
                <a:ea typeface="黑体" panose="02010609060101010101" charset="-122"/>
                <a:sym typeface="+mn-ea"/>
              </a:rPr>
              <a:t>期末练习</a:t>
            </a:r>
            <a:endParaRPr lang="zh-CN" sz="4000" dirty="0">
              <a:latin typeface="黑体" panose="02010609060101010101" charset="-122"/>
              <a:ea typeface="黑体" panose="02010609060101010101" charset="-122"/>
              <a:sym typeface="+mn-ea"/>
            </a:endParaRPr>
          </a:p>
        </p:txBody>
      </p:sp>
      <p:sp>
        <p:nvSpPr>
          <p:cNvPr id="7" name="矩形 6"/>
          <p:cNvSpPr>
            <a:spLocks noChangeAspect="1"/>
          </p:cNvSpPr>
          <p:nvPr/>
        </p:nvSpPr>
        <p:spPr>
          <a:xfrm>
            <a:off x="5491163" y="-12700"/>
            <a:ext cx="3646488" cy="1281113"/>
          </a:xfrm>
          <a:prstGeom prst="rect">
            <a:avLst/>
          </a:prstGeom>
          <a:blipFill dpi="0" rotWithShape="1">
            <a:blip r:embed="rId1">
              <a:alphaModFix amt="49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defRPr/>
            </a:pPr>
            <a:endParaRPr lang="zh-CN" altLang="en-US" strike="noStrike" noProof="1"/>
          </a:p>
        </p:txBody>
      </p:sp>
      <p:pic>
        <p:nvPicPr>
          <p:cNvPr id="9258" name="图片 131137" descr="008_JPG"/>
          <p:cNvPicPr>
            <a:picLocks noChangeAspect="1"/>
          </p:cNvPicPr>
          <p:nvPr/>
        </p:nvPicPr>
        <p:blipFill>
          <a:blip r:embed="rId2"/>
          <a:stretch>
            <a:fillRect/>
          </a:stretch>
        </p:blipFill>
        <p:spPr>
          <a:xfrm>
            <a:off x="254000" y="93663"/>
            <a:ext cx="742950" cy="889000"/>
          </a:xfrm>
          <a:prstGeom prst="rect">
            <a:avLst/>
          </a:prstGeom>
          <a:noFill/>
          <a:ln w="9525">
            <a:noFill/>
          </a:ln>
        </p:spPr>
      </p:pic>
      <p:sp>
        <p:nvSpPr>
          <p:cNvPr id="10" name="文本框 9"/>
          <p:cNvSpPr txBox="1"/>
          <p:nvPr/>
        </p:nvSpPr>
        <p:spPr>
          <a:xfrm>
            <a:off x="88900" y="1924050"/>
            <a:ext cx="8870950" cy="1383665"/>
          </a:xfrm>
          <a:prstGeom prst="rect">
            <a:avLst/>
          </a:prstGeom>
          <a:noFill/>
        </p:spPr>
        <p:txBody>
          <a:bodyPr wrap="square" rtlCol="0">
            <a:spAutoFit/>
          </a:bodyPr>
          <a:p>
            <a:pPr>
              <a:lnSpc>
                <a:spcPct val="150000"/>
              </a:lnSpc>
            </a:pPr>
            <a:r>
              <a:rPr lang="zh-CN" altLang="en-US" sz="2800"/>
              <a:t>下面函数要实现的功能是：输入一个整数，输出其是否为质数。该程序中有</a:t>
            </a:r>
            <a:r>
              <a:rPr lang="en-US" altLang="zh-CN" sz="2800"/>
              <a:t>3</a:t>
            </a:r>
            <a:r>
              <a:rPr lang="zh-CN" altLang="en-US" sz="2800"/>
              <a:t>处</a:t>
            </a:r>
            <a:r>
              <a:rPr lang="zh-CN" altLang="en-US" sz="2800"/>
              <a:t>错误。</a:t>
            </a:r>
            <a:endParaRPr lang="zh-CN" altLang="en-US" sz="2800"/>
          </a:p>
        </p:txBody>
      </p:sp>
      <p:sp>
        <p:nvSpPr>
          <p:cNvPr id="11" name="矩形 10"/>
          <p:cNvSpPr/>
          <p:nvPr/>
        </p:nvSpPr>
        <p:spPr>
          <a:xfrm>
            <a:off x="158433" y="1122680"/>
            <a:ext cx="1936115" cy="922020"/>
          </a:xfrm>
          <a:prstGeom prst="rect">
            <a:avLst/>
          </a:prstGeom>
          <a:noFill/>
          <a:ln>
            <a:noFill/>
          </a:ln>
        </p:spPr>
        <p:txBody>
          <a:bodyPr wrap="none" rtlCol="0" anchor="t">
            <a:spAutoFit/>
          </a:bodyPr>
          <a:p>
            <a:pPr algn="ctr"/>
            <a:r>
              <a:rPr lang="zh-CN" altLang="en-US" sz="5400" b="1">
                <a:solidFill>
                  <a:schemeClr val="accent1"/>
                </a:solidFill>
                <a:effectLst>
                  <a:outerShdw blurRad="38100" dist="25400" dir="5400000" algn="ctr" rotWithShape="0">
                    <a:srgbClr val="6E747A">
                      <a:alpha val="43000"/>
                    </a:srgbClr>
                  </a:outerShdw>
                </a:effectLst>
              </a:rPr>
              <a:t>练习</a:t>
            </a:r>
            <a:r>
              <a:rPr lang="en-US" altLang="zh-CN" sz="5400" b="1">
                <a:solidFill>
                  <a:schemeClr val="accent1"/>
                </a:solidFill>
                <a:effectLst>
                  <a:outerShdw blurRad="38100" dist="25400" dir="5400000" algn="ctr" rotWithShape="0">
                    <a:srgbClr val="6E747A">
                      <a:alpha val="43000"/>
                    </a:srgbClr>
                  </a:outerShdw>
                </a:effectLst>
              </a:rPr>
              <a:t>4</a:t>
            </a:r>
            <a:endParaRPr lang="en-US" altLang="zh-CN" sz="5400" b="1">
              <a:solidFill>
                <a:schemeClr val="accent1"/>
              </a:solidFill>
              <a:effectLst>
                <a:outerShdw blurRad="38100" dist="25400" dir="5400000" algn="ctr" rotWithShape="0">
                  <a:srgbClr val="6E747A">
                    <a:alpha val="43000"/>
                  </a:srgbClr>
                </a:outerShdw>
              </a:effectLst>
            </a:endParaRPr>
          </a:p>
        </p:txBody>
      </p:sp>
    </p:spTree>
    <p:custDataLst>
      <p:tags r:id="rId3"/>
    </p:custData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65100" y="995363"/>
            <a:ext cx="6170613" cy="76200"/>
          </a:xfrm>
          <a:prstGeom prst="rect">
            <a:avLst/>
          </a:prstGeom>
          <a:gradFill>
            <a:gsLst>
              <a:gs pos="0">
                <a:srgbClr val="007BD3"/>
              </a:gs>
              <a:gs pos="100000">
                <a:srgbClr val="034373"/>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9218" name="矩形 3"/>
          <p:cNvSpPr/>
          <p:nvPr/>
        </p:nvSpPr>
        <p:spPr>
          <a:xfrm>
            <a:off x="973138" y="179388"/>
            <a:ext cx="3292475" cy="520700"/>
          </a:xfrm>
          <a:prstGeom prst="rect">
            <a:avLst/>
          </a:prstGeom>
          <a:noFill/>
          <a:ln w="9525">
            <a:noFill/>
          </a:ln>
        </p:spPr>
        <p:txBody>
          <a:bodyPr wrap="square" lIns="90000" tIns="46800" rIns="90000" bIns="46800" anchor="t" anchorCtr="0"/>
          <a:p>
            <a:pPr algn="ctr"/>
            <a:r>
              <a:rPr lang="zh-CN" sz="4000" dirty="0">
                <a:latin typeface="黑体" panose="02010609060101010101" charset="-122"/>
                <a:ea typeface="黑体" panose="02010609060101010101" charset="-122"/>
                <a:sym typeface="+mn-ea"/>
              </a:rPr>
              <a:t>期末练习</a:t>
            </a:r>
            <a:endParaRPr lang="zh-CN" sz="4000" dirty="0">
              <a:latin typeface="黑体" panose="02010609060101010101" charset="-122"/>
              <a:ea typeface="黑体" panose="02010609060101010101" charset="-122"/>
              <a:sym typeface="+mn-ea"/>
            </a:endParaRPr>
          </a:p>
        </p:txBody>
      </p:sp>
      <p:sp>
        <p:nvSpPr>
          <p:cNvPr id="7" name="矩形 6"/>
          <p:cNvSpPr>
            <a:spLocks noChangeAspect="1"/>
          </p:cNvSpPr>
          <p:nvPr/>
        </p:nvSpPr>
        <p:spPr>
          <a:xfrm>
            <a:off x="5491163" y="-12700"/>
            <a:ext cx="3646488" cy="1281113"/>
          </a:xfrm>
          <a:prstGeom prst="rect">
            <a:avLst/>
          </a:prstGeom>
          <a:blipFill dpi="0" rotWithShape="1">
            <a:blip r:embed="rId1">
              <a:alphaModFix amt="49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defRPr/>
            </a:pPr>
            <a:endParaRPr lang="zh-CN" altLang="en-US" strike="noStrike" noProof="1"/>
          </a:p>
        </p:txBody>
      </p:sp>
      <p:pic>
        <p:nvPicPr>
          <p:cNvPr id="9258" name="图片 131137" descr="008_JPG"/>
          <p:cNvPicPr>
            <a:picLocks noChangeAspect="1"/>
          </p:cNvPicPr>
          <p:nvPr/>
        </p:nvPicPr>
        <p:blipFill>
          <a:blip r:embed="rId2"/>
          <a:stretch>
            <a:fillRect/>
          </a:stretch>
        </p:blipFill>
        <p:spPr>
          <a:xfrm>
            <a:off x="254000" y="93663"/>
            <a:ext cx="742950" cy="889000"/>
          </a:xfrm>
          <a:prstGeom prst="rect">
            <a:avLst/>
          </a:prstGeom>
          <a:noFill/>
          <a:ln w="9525">
            <a:noFill/>
          </a:ln>
        </p:spPr>
      </p:pic>
      <p:sp>
        <p:nvSpPr>
          <p:cNvPr id="4" name="文本框 3"/>
          <p:cNvSpPr txBox="1"/>
          <p:nvPr/>
        </p:nvSpPr>
        <p:spPr>
          <a:xfrm>
            <a:off x="54610" y="1330960"/>
            <a:ext cx="6500495" cy="4523105"/>
          </a:xfrm>
          <a:prstGeom prst="rect">
            <a:avLst/>
          </a:prstGeom>
          <a:solidFill>
            <a:schemeClr val="accent2"/>
          </a:solidFill>
        </p:spPr>
        <p:txBody>
          <a:bodyPr wrap="square" rtlCol="0">
            <a:spAutoFit/>
          </a:bodyPr>
          <a:p>
            <a:r>
              <a:rPr lang="en-US" altLang="zh-CN" sz="2400"/>
              <a:t>#include&lt;stdio.h&gt;</a:t>
            </a:r>
            <a:endParaRPr lang="en-US" altLang="zh-CN" sz="2400"/>
          </a:p>
          <a:p>
            <a:r>
              <a:rPr lang="en-US" altLang="zh-CN" sz="2400"/>
              <a:t>int prime(int);</a:t>
            </a:r>
            <a:endParaRPr lang="en-US" altLang="zh-CN" sz="2400"/>
          </a:p>
          <a:p>
            <a:r>
              <a:rPr lang="en-US" altLang="zh-CN" sz="2400"/>
              <a:t>int main()</a:t>
            </a:r>
            <a:endParaRPr lang="en-US" altLang="zh-CN" sz="2400"/>
          </a:p>
          <a:p>
            <a:r>
              <a:rPr lang="en-US" altLang="zh-CN" sz="2400"/>
              <a:t>{  int  n=0;</a:t>
            </a:r>
            <a:endParaRPr lang="en-US" altLang="zh-CN" sz="2400"/>
          </a:p>
          <a:p>
            <a:r>
              <a:rPr lang="en-US" altLang="zh-CN" sz="2400"/>
              <a:t>   printf("Enter an integer:");</a:t>
            </a:r>
            <a:endParaRPr lang="en-US" altLang="zh-CN" sz="2400"/>
          </a:p>
          <a:p>
            <a:r>
              <a:rPr lang="en-US" altLang="zh-CN" sz="2400"/>
              <a:t>   scanf("%d",&amp;n);</a:t>
            </a:r>
            <a:endParaRPr lang="en-US" altLang="zh-CN" sz="2400"/>
          </a:p>
          <a:p>
            <a:r>
              <a:rPr lang="en-US" altLang="zh-CN" sz="2400"/>
              <a:t>   if(prime(n)=1)</a:t>
            </a:r>
            <a:endParaRPr lang="en-US" altLang="zh-CN" sz="2400"/>
          </a:p>
          <a:p>
            <a:r>
              <a:rPr lang="en-US" altLang="zh-CN" sz="2400"/>
              <a:t>         </a:t>
            </a:r>
            <a:r>
              <a:rPr lang="en-US" altLang="zh-CN" sz="2400">
                <a:sym typeface="+mn-ea"/>
              </a:rPr>
              <a:t>printf("\n%d is a prime number.\n",n);</a:t>
            </a:r>
            <a:endParaRPr lang="en-US" altLang="zh-CN" sz="2400"/>
          </a:p>
          <a:p>
            <a:r>
              <a:rPr lang="en-US" altLang="zh-CN" sz="2400"/>
              <a:t>   else</a:t>
            </a:r>
            <a:endParaRPr lang="en-US" altLang="zh-CN" sz="2400"/>
          </a:p>
          <a:p>
            <a:r>
              <a:rPr lang="en-US" altLang="zh-CN" sz="2400"/>
              <a:t>         </a:t>
            </a:r>
            <a:r>
              <a:rPr lang="en-US" altLang="zh-CN" sz="2400">
                <a:sym typeface="+mn-ea"/>
              </a:rPr>
              <a:t>printf("\n%d is not a prime number.\n",n);</a:t>
            </a:r>
            <a:r>
              <a:rPr lang="en-US" altLang="zh-CN" sz="2400"/>
              <a:t> </a:t>
            </a:r>
            <a:endParaRPr lang="en-US" altLang="zh-CN" sz="2400"/>
          </a:p>
          <a:p>
            <a:r>
              <a:rPr lang="en-US" altLang="zh-CN" sz="2400"/>
              <a:t>    return 0;  </a:t>
            </a:r>
            <a:endParaRPr lang="en-US" altLang="zh-CN" sz="2400"/>
          </a:p>
          <a:p>
            <a:r>
              <a:rPr lang="en-US" altLang="zh-CN" sz="2400"/>
              <a:t>}</a:t>
            </a:r>
            <a:endParaRPr lang="en-US" altLang="zh-CN" sz="2400"/>
          </a:p>
        </p:txBody>
      </p:sp>
      <p:sp>
        <p:nvSpPr>
          <p:cNvPr id="2" name="文本框 1"/>
          <p:cNvSpPr txBox="1"/>
          <p:nvPr/>
        </p:nvSpPr>
        <p:spPr>
          <a:xfrm>
            <a:off x="6297295" y="1372870"/>
            <a:ext cx="6263005" cy="4523105"/>
          </a:xfrm>
          <a:prstGeom prst="rect">
            <a:avLst/>
          </a:prstGeom>
          <a:noFill/>
        </p:spPr>
        <p:txBody>
          <a:bodyPr wrap="square" rtlCol="0">
            <a:spAutoFit/>
          </a:bodyPr>
          <a:p>
            <a:r>
              <a:rPr lang="en-US" altLang="zh-CN" sz="2400"/>
              <a:t>int prime(n)</a:t>
            </a:r>
            <a:endParaRPr lang="en-US" altLang="zh-CN" sz="2400"/>
          </a:p>
          <a:p>
            <a:r>
              <a:rPr lang="en-US" altLang="zh-CN" sz="2400"/>
              <a:t>{</a:t>
            </a:r>
            <a:endParaRPr lang="en-US" altLang="zh-CN" sz="2400"/>
          </a:p>
          <a:p>
            <a:r>
              <a:rPr lang="en-US" altLang="zh-CN" sz="2400"/>
              <a:t>    int flag=1,i;</a:t>
            </a:r>
            <a:endParaRPr lang="en-US" altLang="zh-CN" sz="2400"/>
          </a:p>
          <a:p>
            <a:r>
              <a:rPr lang="en-US" altLang="zh-CN" sz="2400"/>
              <a:t>    for(i=2;i*i&lt;=n;i++)</a:t>
            </a:r>
            <a:endParaRPr lang="en-US" altLang="zh-CN" sz="2400"/>
          </a:p>
          <a:p>
            <a:r>
              <a:rPr lang="en-US" altLang="zh-CN" sz="2400"/>
              <a:t>       if(n/i==0)</a:t>
            </a:r>
            <a:endParaRPr lang="en-US" altLang="zh-CN" sz="2400"/>
          </a:p>
          <a:p>
            <a:r>
              <a:rPr lang="en-US" altLang="zh-CN" sz="2400"/>
              <a:t>        {</a:t>
            </a:r>
            <a:endParaRPr lang="en-US" altLang="zh-CN" sz="2400"/>
          </a:p>
          <a:p>
            <a:r>
              <a:rPr lang="en-US" altLang="zh-CN" sz="2400"/>
              <a:t>             flag=0;</a:t>
            </a:r>
            <a:endParaRPr lang="en-US" altLang="zh-CN" sz="2400"/>
          </a:p>
          <a:p>
            <a:r>
              <a:rPr lang="en-US" altLang="zh-CN" sz="2400"/>
              <a:t>             break;</a:t>
            </a:r>
            <a:endParaRPr lang="en-US" altLang="zh-CN" sz="2400"/>
          </a:p>
          <a:p>
            <a:r>
              <a:rPr lang="en-US" altLang="zh-CN" sz="2400"/>
              <a:t>         }</a:t>
            </a:r>
            <a:endParaRPr lang="en-US" altLang="zh-CN" sz="2400"/>
          </a:p>
          <a:p>
            <a:r>
              <a:rPr lang="en-US" altLang="zh-CN" sz="2400"/>
              <a:t>     return flag;</a:t>
            </a:r>
            <a:endParaRPr lang="en-US" altLang="zh-CN" sz="2400"/>
          </a:p>
          <a:p>
            <a:r>
              <a:rPr lang="en-US" altLang="zh-CN" sz="2400"/>
              <a:t>}</a:t>
            </a:r>
            <a:endParaRPr lang="en-US" altLang="zh-CN" sz="2400"/>
          </a:p>
          <a:p>
            <a:endParaRPr lang="en-US" altLang="zh-CN" sz="2400"/>
          </a:p>
        </p:txBody>
      </p:sp>
    </p:spTree>
    <p:custDataLst>
      <p:tags r:id="rId3"/>
    </p:custData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65100" y="995363"/>
            <a:ext cx="6170613" cy="76200"/>
          </a:xfrm>
          <a:prstGeom prst="rect">
            <a:avLst/>
          </a:prstGeom>
          <a:gradFill>
            <a:gsLst>
              <a:gs pos="0">
                <a:srgbClr val="007BD3"/>
              </a:gs>
              <a:gs pos="100000">
                <a:srgbClr val="034373"/>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9218" name="矩形 3"/>
          <p:cNvSpPr/>
          <p:nvPr/>
        </p:nvSpPr>
        <p:spPr>
          <a:xfrm>
            <a:off x="973138" y="179388"/>
            <a:ext cx="3292475" cy="520700"/>
          </a:xfrm>
          <a:prstGeom prst="rect">
            <a:avLst/>
          </a:prstGeom>
          <a:noFill/>
          <a:ln w="9525">
            <a:noFill/>
          </a:ln>
        </p:spPr>
        <p:txBody>
          <a:bodyPr wrap="square" lIns="90000" tIns="46800" rIns="90000" bIns="46800" anchor="t" anchorCtr="0"/>
          <a:p>
            <a:pPr algn="ctr"/>
            <a:r>
              <a:rPr lang="zh-CN" sz="4000" dirty="0">
                <a:latin typeface="黑体" panose="02010609060101010101" charset="-122"/>
                <a:ea typeface="黑体" panose="02010609060101010101" charset="-122"/>
                <a:sym typeface="+mn-ea"/>
              </a:rPr>
              <a:t>期末练习</a:t>
            </a:r>
            <a:endParaRPr lang="zh-CN" sz="4000" dirty="0">
              <a:latin typeface="黑体" panose="02010609060101010101" charset="-122"/>
              <a:ea typeface="黑体" panose="02010609060101010101" charset="-122"/>
              <a:sym typeface="+mn-ea"/>
            </a:endParaRPr>
          </a:p>
        </p:txBody>
      </p:sp>
      <p:sp>
        <p:nvSpPr>
          <p:cNvPr id="7" name="矩形 6"/>
          <p:cNvSpPr>
            <a:spLocks noChangeAspect="1"/>
          </p:cNvSpPr>
          <p:nvPr/>
        </p:nvSpPr>
        <p:spPr>
          <a:xfrm>
            <a:off x="5491163" y="-12700"/>
            <a:ext cx="3646488" cy="1281113"/>
          </a:xfrm>
          <a:prstGeom prst="rect">
            <a:avLst/>
          </a:prstGeom>
          <a:blipFill dpi="0" rotWithShape="1">
            <a:blip r:embed="rId1">
              <a:alphaModFix amt="49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defRPr/>
            </a:pPr>
            <a:endParaRPr lang="zh-CN" altLang="en-US" strike="noStrike" noProof="1"/>
          </a:p>
        </p:txBody>
      </p:sp>
      <p:pic>
        <p:nvPicPr>
          <p:cNvPr id="9258" name="图片 131137" descr="008_JPG"/>
          <p:cNvPicPr>
            <a:picLocks noChangeAspect="1"/>
          </p:cNvPicPr>
          <p:nvPr/>
        </p:nvPicPr>
        <p:blipFill>
          <a:blip r:embed="rId2"/>
          <a:stretch>
            <a:fillRect/>
          </a:stretch>
        </p:blipFill>
        <p:spPr>
          <a:xfrm>
            <a:off x="254000" y="93663"/>
            <a:ext cx="742950" cy="889000"/>
          </a:xfrm>
          <a:prstGeom prst="rect">
            <a:avLst/>
          </a:prstGeom>
          <a:noFill/>
          <a:ln w="9525">
            <a:noFill/>
          </a:ln>
        </p:spPr>
      </p:pic>
      <p:sp>
        <p:nvSpPr>
          <p:cNvPr id="4" name="文本框 3"/>
          <p:cNvSpPr txBox="1"/>
          <p:nvPr/>
        </p:nvSpPr>
        <p:spPr>
          <a:xfrm>
            <a:off x="54610" y="1330960"/>
            <a:ext cx="6500495" cy="4523105"/>
          </a:xfrm>
          <a:prstGeom prst="rect">
            <a:avLst/>
          </a:prstGeom>
          <a:solidFill>
            <a:schemeClr val="accent2"/>
          </a:solidFill>
        </p:spPr>
        <p:txBody>
          <a:bodyPr wrap="square" rtlCol="0">
            <a:spAutoFit/>
          </a:bodyPr>
          <a:p>
            <a:r>
              <a:rPr lang="en-US" altLang="zh-CN" sz="2400"/>
              <a:t>#include&lt;stdio.h&gt;</a:t>
            </a:r>
            <a:endParaRPr lang="en-US" altLang="zh-CN" sz="2400"/>
          </a:p>
          <a:p>
            <a:r>
              <a:rPr lang="en-US" altLang="zh-CN" sz="2400"/>
              <a:t>int prime(int);</a:t>
            </a:r>
            <a:endParaRPr lang="en-US" altLang="zh-CN" sz="2400"/>
          </a:p>
          <a:p>
            <a:r>
              <a:rPr lang="en-US" altLang="zh-CN" sz="2400"/>
              <a:t>int main()</a:t>
            </a:r>
            <a:endParaRPr lang="en-US" altLang="zh-CN" sz="2400"/>
          </a:p>
          <a:p>
            <a:r>
              <a:rPr lang="en-US" altLang="zh-CN" sz="2400"/>
              <a:t>{  int  n=0;</a:t>
            </a:r>
            <a:endParaRPr lang="en-US" altLang="zh-CN" sz="2400"/>
          </a:p>
          <a:p>
            <a:r>
              <a:rPr lang="en-US" altLang="zh-CN" sz="2400"/>
              <a:t>   printf("Enter an integer:");</a:t>
            </a:r>
            <a:endParaRPr lang="en-US" altLang="zh-CN" sz="2400"/>
          </a:p>
          <a:p>
            <a:r>
              <a:rPr lang="en-US" altLang="zh-CN" sz="2400"/>
              <a:t>   scanf("%d",&amp;n);</a:t>
            </a:r>
            <a:endParaRPr lang="en-US" altLang="zh-CN" sz="2400"/>
          </a:p>
          <a:p>
            <a:r>
              <a:rPr lang="en-US" altLang="zh-CN" sz="2400"/>
              <a:t>   if(prime(n)=1)</a:t>
            </a:r>
            <a:endParaRPr lang="en-US" altLang="zh-CN" sz="2400"/>
          </a:p>
          <a:p>
            <a:r>
              <a:rPr lang="en-US" altLang="zh-CN" sz="2400"/>
              <a:t>         </a:t>
            </a:r>
            <a:r>
              <a:rPr lang="en-US" altLang="zh-CN" sz="2400">
                <a:sym typeface="+mn-ea"/>
              </a:rPr>
              <a:t>printf("\n%d is a prime number.\n",n);</a:t>
            </a:r>
            <a:endParaRPr lang="en-US" altLang="zh-CN" sz="2400"/>
          </a:p>
          <a:p>
            <a:r>
              <a:rPr lang="en-US" altLang="zh-CN" sz="2400"/>
              <a:t>   else</a:t>
            </a:r>
            <a:endParaRPr lang="en-US" altLang="zh-CN" sz="2400"/>
          </a:p>
          <a:p>
            <a:r>
              <a:rPr lang="en-US" altLang="zh-CN" sz="2400"/>
              <a:t>         </a:t>
            </a:r>
            <a:r>
              <a:rPr lang="en-US" altLang="zh-CN" sz="2400">
                <a:sym typeface="+mn-ea"/>
              </a:rPr>
              <a:t>printf("\n%d is not a prime number.\n",n);</a:t>
            </a:r>
            <a:r>
              <a:rPr lang="en-US" altLang="zh-CN" sz="2400"/>
              <a:t> </a:t>
            </a:r>
            <a:endParaRPr lang="en-US" altLang="zh-CN" sz="2400"/>
          </a:p>
          <a:p>
            <a:r>
              <a:rPr lang="en-US" altLang="zh-CN" sz="2400"/>
              <a:t>    return 0;  </a:t>
            </a:r>
            <a:endParaRPr lang="en-US" altLang="zh-CN" sz="2400"/>
          </a:p>
          <a:p>
            <a:r>
              <a:rPr lang="en-US" altLang="zh-CN" sz="2400"/>
              <a:t>}</a:t>
            </a:r>
            <a:endParaRPr lang="en-US" altLang="zh-CN" sz="2400"/>
          </a:p>
        </p:txBody>
      </p:sp>
      <p:sp>
        <p:nvSpPr>
          <p:cNvPr id="2" name="文本框 1"/>
          <p:cNvSpPr txBox="1"/>
          <p:nvPr/>
        </p:nvSpPr>
        <p:spPr>
          <a:xfrm>
            <a:off x="6536055" y="1372870"/>
            <a:ext cx="6263005" cy="4523105"/>
          </a:xfrm>
          <a:prstGeom prst="rect">
            <a:avLst/>
          </a:prstGeom>
          <a:noFill/>
        </p:spPr>
        <p:txBody>
          <a:bodyPr wrap="square" rtlCol="0">
            <a:spAutoFit/>
          </a:bodyPr>
          <a:p>
            <a:r>
              <a:rPr lang="en-US" altLang="zh-CN" sz="2400"/>
              <a:t>int prime(n)</a:t>
            </a:r>
            <a:endParaRPr lang="en-US" altLang="zh-CN" sz="2400"/>
          </a:p>
          <a:p>
            <a:r>
              <a:rPr lang="en-US" altLang="zh-CN" sz="2400"/>
              <a:t>{</a:t>
            </a:r>
            <a:endParaRPr lang="en-US" altLang="zh-CN" sz="2400"/>
          </a:p>
          <a:p>
            <a:r>
              <a:rPr lang="en-US" altLang="zh-CN" sz="2400"/>
              <a:t>    int flag=1,i;</a:t>
            </a:r>
            <a:endParaRPr lang="en-US" altLang="zh-CN" sz="2400"/>
          </a:p>
          <a:p>
            <a:r>
              <a:rPr lang="en-US" altLang="zh-CN" sz="2400"/>
              <a:t>    for(i=2;i*i&lt;=n;i++)</a:t>
            </a:r>
            <a:endParaRPr lang="en-US" altLang="zh-CN" sz="2400"/>
          </a:p>
          <a:p>
            <a:r>
              <a:rPr lang="en-US" altLang="zh-CN" sz="2400"/>
              <a:t>       if(n/i==0)</a:t>
            </a:r>
            <a:endParaRPr lang="en-US" altLang="zh-CN" sz="2400"/>
          </a:p>
          <a:p>
            <a:r>
              <a:rPr lang="en-US" altLang="zh-CN" sz="2400"/>
              <a:t>        {</a:t>
            </a:r>
            <a:endParaRPr lang="en-US" altLang="zh-CN" sz="2400"/>
          </a:p>
          <a:p>
            <a:r>
              <a:rPr lang="en-US" altLang="zh-CN" sz="2400"/>
              <a:t>             flag=0;</a:t>
            </a:r>
            <a:endParaRPr lang="en-US" altLang="zh-CN" sz="2400"/>
          </a:p>
          <a:p>
            <a:r>
              <a:rPr lang="en-US" altLang="zh-CN" sz="2400"/>
              <a:t>             break;</a:t>
            </a:r>
            <a:endParaRPr lang="en-US" altLang="zh-CN" sz="2400"/>
          </a:p>
          <a:p>
            <a:r>
              <a:rPr lang="en-US" altLang="zh-CN" sz="2400"/>
              <a:t>         }</a:t>
            </a:r>
            <a:endParaRPr lang="en-US" altLang="zh-CN" sz="2400"/>
          </a:p>
          <a:p>
            <a:r>
              <a:rPr lang="en-US" altLang="zh-CN" sz="2400"/>
              <a:t>     return flag;</a:t>
            </a:r>
            <a:endParaRPr lang="en-US" altLang="zh-CN" sz="2400"/>
          </a:p>
          <a:p>
            <a:r>
              <a:rPr lang="en-US" altLang="zh-CN" sz="2400"/>
              <a:t>}</a:t>
            </a:r>
            <a:endParaRPr lang="en-US" altLang="zh-CN" sz="2400"/>
          </a:p>
          <a:p>
            <a:endParaRPr lang="en-US" altLang="zh-CN" sz="2400"/>
          </a:p>
        </p:txBody>
      </p:sp>
      <p:sp>
        <p:nvSpPr>
          <p:cNvPr id="5" name="圆角矩形 4"/>
          <p:cNvSpPr/>
          <p:nvPr/>
        </p:nvSpPr>
        <p:spPr>
          <a:xfrm>
            <a:off x="6450330" y="1235710"/>
            <a:ext cx="1962785" cy="614045"/>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4278630" y="1639570"/>
            <a:ext cx="1941195" cy="368300"/>
          </a:xfrm>
          <a:prstGeom prst="rect">
            <a:avLst/>
          </a:prstGeom>
          <a:solidFill>
            <a:schemeClr val="accent6"/>
          </a:solidFill>
        </p:spPr>
        <p:txBody>
          <a:bodyPr wrap="square" rtlCol="0">
            <a:spAutoFit/>
          </a:bodyPr>
          <a:p>
            <a:r>
              <a:rPr lang="en-US" altLang="zh-CN"/>
              <a:t>int prime(int n)</a:t>
            </a:r>
            <a:endParaRPr lang="en-US" altLang="zh-CN"/>
          </a:p>
        </p:txBody>
      </p:sp>
      <p:sp>
        <p:nvSpPr>
          <p:cNvPr id="8" name="圆角矩形 7"/>
          <p:cNvSpPr/>
          <p:nvPr/>
        </p:nvSpPr>
        <p:spPr>
          <a:xfrm>
            <a:off x="6923405" y="2885440"/>
            <a:ext cx="1962785" cy="382905"/>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4509135" y="2900045"/>
            <a:ext cx="1941195" cy="368300"/>
          </a:xfrm>
          <a:prstGeom prst="rect">
            <a:avLst/>
          </a:prstGeom>
          <a:solidFill>
            <a:schemeClr val="accent6"/>
          </a:solidFill>
        </p:spPr>
        <p:txBody>
          <a:bodyPr wrap="square" rtlCol="0">
            <a:spAutoFit/>
          </a:bodyPr>
          <a:p>
            <a:r>
              <a:rPr lang="en-US" altLang="zh-CN"/>
              <a:t>if (n%i==0)</a:t>
            </a:r>
            <a:endParaRPr lang="en-US" altLang="zh-CN"/>
          </a:p>
        </p:txBody>
      </p:sp>
      <p:sp>
        <p:nvSpPr>
          <p:cNvPr id="10" name="圆角矩形 9"/>
          <p:cNvSpPr/>
          <p:nvPr/>
        </p:nvSpPr>
        <p:spPr>
          <a:xfrm>
            <a:off x="378460" y="3556635"/>
            <a:ext cx="2222500" cy="441960"/>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文本框 10"/>
          <p:cNvSpPr txBox="1"/>
          <p:nvPr/>
        </p:nvSpPr>
        <p:spPr>
          <a:xfrm>
            <a:off x="2825115" y="3593465"/>
            <a:ext cx="1941195" cy="368300"/>
          </a:xfrm>
          <a:prstGeom prst="rect">
            <a:avLst/>
          </a:prstGeom>
          <a:solidFill>
            <a:schemeClr val="accent6"/>
          </a:solidFill>
        </p:spPr>
        <p:txBody>
          <a:bodyPr wrap="square" rtlCol="0">
            <a:spAutoFit/>
          </a:bodyPr>
          <a:p>
            <a:r>
              <a:rPr lang="en-US" altLang="zh-CN"/>
              <a:t>if (</a:t>
            </a:r>
            <a:r>
              <a:rPr lang="en-US" altLang="zh-CN">
                <a:sym typeface="+mn-ea"/>
              </a:rPr>
              <a:t>prime(n)==1</a:t>
            </a:r>
            <a:r>
              <a:rPr lang="en-US" altLang="zh-CN"/>
              <a:t>)</a:t>
            </a:r>
            <a:endParaRPr lang="en-US" altLang="zh-CN"/>
          </a:p>
        </p:txBody>
      </p:sp>
    </p:spTree>
    <p:custDataLst>
      <p:tags r:id="rId3"/>
    </p:custDataLst>
  </p:cSld>
  <p:clrMapOvr>
    <a:masterClrMapping/>
  </p:clrMapOvr>
  <p:transition>
    <p:fade/>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TEMPLATE_CATEGORY" val="basetag"/>
  <p:tag name="KSO_WM_TEMPLATE_INDEX" val="20164352"/>
  <p:tag name="KSO_WM_TAG_VERSION" val="1.0"/>
  <p:tag name="KSO_WM_SLIDE_ID" val="basetag20164352_2"/>
  <p:tag name="KSO_WM_SLIDE_INDEX" val="2"/>
  <p:tag name="KSO_WM_SLIDE_ITEM_CNT" val="0"/>
  <p:tag name="KSO_WM_SLIDE_TYPE" val="contents"/>
  <p:tag name="KSO_WM_BEAUTIFY_FLAG" val="#wm#"/>
</p:tagLst>
</file>

<file path=ppt/tags/tag64.xml><?xml version="1.0" encoding="utf-8"?>
<p:tagLst xmlns:p="http://schemas.openxmlformats.org/presentationml/2006/main">
  <p:tag name="KSO_WM_TEMPLATE_CATEGORY" val="basetag"/>
  <p:tag name="KSO_WM_TEMPLATE_INDEX" val="20164352"/>
  <p:tag name="KSO_WM_TAG_VERSION" val="1.0"/>
  <p:tag name="KSO_WM_SLIDE_ID" val="basetag20164352_2"/>
  <p:tag name="KSO_WM_SLIDE_INDEX" val="2"/>
  <p:tag name="KSO_WM_SLIDE_ITEM_CNT" val="0"/>
  <p:tag name="KSO_WM_SLIDE_TYPE" val="contents"/>
  <p:tag name="KSO_WM_BEAUTIFY_FLAG" val="#wm#"/>
</p:tagLst>
</file>

<file path=ppt/tags/tag65.xml><?xml version="1.0" encoding="utf-8"?>
<p:tagLst xmlns:p="http://schemas.openxmlformats.org/presentationml/2006/main">
  <p:tag name="KSO_WM_TEMPLATE_CATEGORY" val="basetag"/>
  <p:tag name="KSO_WM_TEMPLATE_INDEX" val="20164352"/>
  <p:tag name="KSO_WM_TAG_VERSION" val="1.0"/>
  <p:tag name="KSO_WM_SLIDE_ID" val="basetag20164352_2"/>
  <p:tag name="KSO_WM_SLIDE_INDEX" val="2"/>
  <p:tag name="KSO_WM_SLIDE_ITEM_CNT" val="0"/>
  <p:tag name="KSO_WM_SLIDE_TYPE" val="contents"/>
  <p:tag name="KSO_WM_BEAUTIFY_FLAG" val="#wm#"/>
</p:tagLst>
</file>

<file path=ppt/tags/tag66.xml><?xml version="1.0" encoding="utf-8"?>
<p:tagLst xmlns:p="http://schemas.openxmlformats.org/presentationml/2006/main">
  <p:tag name="KSO_WM_TEMPLATE_CATEGORY" val="basetag"/>
  <p:tag name="KSO_WM_TEMPLATE_INDEX" val="20164352"/>
  <p:tag name="KSO_WM_TAG_VERSION" val="1.0"/>
  <p:tag name="KSO_WM_SLIDE_ID" val="basetag20164352_2"/>
  <p:tag name="KSO_WM_SLIDE_INDEX" val="2"/>
  <p:tag name="KSO_WM_SLIDE_ITEM_CNT" val="0"/>
  <p:tag name="KSO_WM_SLIDE_TYPE" val="contents"/>
  <p:tag name="KSO_WM_BEAUTIFY_FLAG" val="#wm#"/>
</p:tagLst>
</file>

<file path=ppt/tags/tag67.xml><?xml version="1.0" encoding="utf-8"?>
<p:tagLst xmlns:p="http://schemas.openxmlformats.org/presentationml/2006/main">
  <p:tag name="KSO_WM_TEMPLATE_CATEGORY" val="basetag"/>
  <p:tag name="KSO_WM_TEMPLATE_INDEX" val="20164352"/>
  <p:tag name="KSO_WM_TAG_VERSION" val="1.0"/>
  <p:tag name="KSO_WM_SLIDE_ID" val="basetag20164352_2"/>
  <p:tag name="KSO_WM_SLIDE_INDEX" val="2"/>
  <p:tag name="KSO_WM_SLIDE_ITEM_CNT" val="0"/>
  <p:tag name="KSO_WM_SLIDE_TYPE" val="contents"/>
  <p:tag name="KSO_WM_BEAUTIFY_FLAG" val="#wm#"/>
</p:tagLst>
</file>

<file path=ppt/tags/tag68.xml><?xml version="1.0" encoding="utf-8"?>
<p:tagLst xmlns:p="http://schemas.openxmlformats.org/presentationml/2006/main">
  <p:tag name="KSO_WM_TEMPLATE_CATEGORY" val="basetag"/>
  <p:tag name="KSO_WM_TEMPLATE_INDEX" val="20164352"/>
  <p:tag name="KSO_WM_TAG_VERSION" val="1.0"/>
  <p:tag name="KSO_WM_SLIDE_ID" val="basetag20164352_2"/>
  <p:tag name="KSO_WM_SLIDE_INDEX" val="2"/>
  <p:tag name="KSO_WM_SLIDE_ITEM_CNT" val="0"/>
  <p:tag name="KSO_WM_SLIDE_TYPE" val="contents"/>
  <p:tag name="KSO_WM_BEAUTIFY_FLAG" val="#wm#"/>
</p:tagLst>
</file>

<file path=ppt/tags/tag69.xml><?xml version="1.0" encoding="utf-8"?>
<p:tagLst xmlns:p="http://schemas.openxmlformats.org/presentationml/2006/main">
  <p:tag name="KSO_WM_TEMPLATE_CATEGORY" val="basetag"/>
  <p:tag name="KSO_WM_TEMPLATE_INDEX" val="20164352"/>
  <p:tag name="KSO_WM_TAG_VERSION" val="1.0"/>
  <p:tag name="KSO_WM_SLIDE_ID" val="basetag20164352_2"/>
  <p:tag name="KSO_WM_SLIDE_INDEX" val="2"/>
  <p:tag name="KSO_WM_SLIDE_ITEM_CNT" val="0"/>
  <p:tag name="KSO_WM_SLIDE_TYPE" val="contents"/>
  <p:tag name="KSO_WM_BEAUTIFY_FLAG" val="#wm#"/>
</p:tagLst>
</file>

<file path=ppt/tags/tag70.xml><?xml version="1.0" encoding="utf-8"?>
<p:tagLst xmlns:p="http://schemas.openxmlformats.org/presentationml/2006/main">
  <p:tag name="KSO_WM_TEMPLATE_CATEGORY" val="basetag"/>
  <p:tag name="KSO_WM_TEMPLATE_INDEX" val="20164352"/>
  <p:tag name="KSO_WM_TAG_VERSION" val="1.0"/>
  <p:tag name="KSO_WM_SLIDE_ID" val="basetag20164352_2"/>
  <p:tag name="KSO_WM_SLIDE_INDEX" val="2"/>
  <p:tag name="KSO_WM_SLIDE_ITEM_CNT" val="0"/>
  <p:tag name="KSO_WM_SLIDE_TYPE" val="contents"/>
  <p:tag name="KSO_WM_BEAUTIFY_FLAG" val="#wm#"/>
</p:tagLst>
</file>

<file path=ppt/tags/tag71.xml><?xml version="1.0" encoding="utf-8"?>
<p:tagLst xmlns:p="http://schemas.openxmlformats.org/presentationml/2006/main">
  <p:tag name="KSO_WM_TEMPLATE_CATEGORY" val="basetag"/>
  <p:tag name="KSO_WM_TEMPLATE_INDEX" val="20164352"/>
  <p:tag name="KSO_WM_TAG_VERSION" val="1.0"/>
  <p:tag name="KSO_WM_SLIDE_ID" val="basetag20164352_2"/>
  <p:tag name="KSO_WM_SLIDE_INDEX" val="2"/>
  <p:tag name="KSO_WM_SLIDE_ITEM_CNT" val="0"/>
  <p:tag name="KSO_WM_SLIDE_TYPE" val="contents"/>
  <p:tag name="KSO_WM_BEAUTIFY_FLAG" val="#wm#"/>
</p:tagLst>
</file>

<file path=ppt/tags/tag72.xml><?xml version="1.0" encoding="utf-8"?>
<p:tagLst xmlns:p="http://schemas.openxmlformats.org/presentationml/2006/main">
  <p:tag name="KSO_WM_TEMPLATE_CATEGORY" val="basetag"/>
  <p:tag name="KSO_WM_TEMPLATE_INDEX" val="20164352"/>
  <p:tag name="KSO_WM_TAG_VERSION" val="1.0"/>
  <p:tag name="KSO_WM_SLIDE_ID" val="basetag20164352_2"/>
  <p:tag name="KSO_WM_SLIDE_INDEX" val="2"/>
  <p:tag name="KSO_WM_SLIDE_ITEM_CNT" val="0"/>
  <p:tag name="KSO_WM_SLIDE_TYPE" val="contents"/>
  <p:tag name="KSO_WM_BEAUTIFY_FLAG" val="#wm#"/>
</p:tagLst>
</file>

<file path=ppt/tags/tag73.xml><?xml version="1.0" encoding="utf-8"?>
<p:tagLst xmlns:p="http://schemas.openxmlformats.org/presentationml/2006/main">
  <p:tag name="COMMONDATA" val="eyJoZGlkIjoiYzgyMTYwOWIyNzI0MzYwOGEzMGRjOTY4OWZkNmEzOTIifQ=="/>
  <p:tag name="KSO_WPP_MARK_KEY" val="98a58fc3-3730-42a4-a65b-9e8b24b5842d"/>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2202</Words>
  <Application>WPS 演示</Application>
  <PresentationFormat>宽屏</PresentationFormat>
  <Paragraphs>169</Paragraphs>
  <Slides>10</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宋体</vt:lpstr>
      <vt:lpstr>Wingdings</vt:lpstr>
      <vt:lpstr>Wingdings</vt:lpstr>
      <vt:lpstr>黑体</vt:lpstr>
      <vt:lpstr>微软雅黑</vt:lpstr>
      <vt:lpstr>Calibri</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Rosemary阳</cp:lastModifiedBy>
  <cp:revision>162</cp:revision>
  <dcterms:created xsi:type="dcterms:W3CDTF">2019-06-19T02:08:00Z</dcterms:created>
  <dcterms:modified xsi:type="dcterms:W3CDTF">2022-12-05T07:20:13Z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6EE191231B5E4071A1D4EBB2326AD491</vt:lpwstr>
  </property>
</Properties>
</file>