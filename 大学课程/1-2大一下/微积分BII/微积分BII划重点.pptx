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34"/>
  </p:handoutMasterIdLst>
  <p:sldIdLst>
    <p:sldId id="788" r:id="rId4"/>
    <p:sldId id="761" r:id="rId6"/>
    <p:sldId id="768" r:id="rId7"/>
    <p:sldId id="762" r:id="rId8"/>
    <p:sldId id="764" r:id="rId9"/>
    <p:sldId id="766" r:id="rId10"/>
    <p:sldId id="811" r:id="rId11"/>
    <p:sldId id="812" r:id="rId12"/>
    <p:sldId id="813" r:id="rId13"/>
    <p:sldId id="814" r:id="rId14"/>
    <p:sldId id="831" r:id="rId15"/>
    <p:sldId id="832" r:id="rId16"/>
    <p:sldId id="833" r:id="rId17"/>
    <p:sldId id="834" r:id="rId18"/>
    <p:sldId id="848" r:id="rId19"/>
    <p:sldId id="849" r:id="rId20"/>
    <p:sldId id="850" r:id="rId21"/>
    <p:sldId id="851" r:id="rId22"/>
    <p:sldId id="852" r:id="rId23"/>
    <p:sldId id="853" r:id="rId24"/>
    <p:sldId id="854" r:id="rId25"/>
    <p:sldId id="855" r:id="rId26"/>
    <p:sldId id="856" r:id="rId27"/>
    <p:sldId id="857" r:id="rId28"/>
    <p:sldId id="858" r:id="rId29"/>
    <p:sldId id="859" r:id="rId30"/>
    <p:sldId id="860" r:id="rId31"/>
    <p:sldId id="862" r:id="rId32"/>
    <p:sldId id="791" r:id="rId33"/>
  </p:sldIdLst>
  <p:sldSz cx="12198350" cy="6858000"/>
  <p:notesSz cx="6858000" cy="9144000"/>
  <p:custDataLst>
    <p:tags r:id="rId3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1" userDrawn="1">
          <p15:clr>
            <a:srgbClr val="A4A3A4"/>
          </p15:clr>
        </p15:guide>
        <p15:guide id="2" pos="37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5F8C"/>
    <a:srgbClr val="EE3A3A"/>
    <a:srgbClr val="00918D"/>
    <a:srgbClr val="004052"/>
    <a:srgbClr val="F3F8F8"/>
    <a:srgbClr val="F19D39"/>
    <a:srgbClr val="EA5230"/>
    <a:srgbClr val="F8F8F8"/>
    <a:srgbClr val="E57848"/>
    <a:srgbClr val="F7A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88439" autoAdjust="0"/>
  </p:normalViewPr>
  <p:slideViewPr>
    <p:cSldViewPr snapToObjects="1" showGuides="1">
      <p:cViewPr varScale="1">
        <p:scale>
          <a:sx n="96" d="100"/>
          <a:sy n="96" d="100"/>
        </p:scale>
        <p:origin x="1032" y="84"/>
      </p:cViewPr>
      <p:guideLst>
        <p:guide orient="horz" pos="2091"/>
        <p:guide pos="37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1" d="100"/>
          <a:sy n="81" d="100"/>
        </p:scale>
        <p:origin x="-2088" y="-102"/>
      </p:cViewPr>
      <p:guideLst>
        <p:guide orient="horz" pos="2788"/>
        <p:guide pos="2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8" Type="http://schemas.openxmlformats.org/officeDocument/2006/relationships/tags" Target="tags/tag20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66804-583B-42BE-962B-441699487C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0FDFD-A5D4-42F3-BCC8-12887DAA73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9413" y="685800"/>
            <a:ext cx="609917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14360" y="2420888"/>
            <a:ext cx="6334949" cy="863600"/>
          </a:xfrm>
          <a:prstGeom prst="rect">
            <a:avLst/>
          </a:prstGeo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zh-CN" noProof="0"/>
              <a:t>单击此处编辑母版标题样式</a:t>
            </a:r>
            <a:endParaRPr lang="zh-CN" noProof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15947" y="3500388"/>
            <a:ext cx="6336536" cy="6477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zh-CN" noProof="0"/>
              <a:t>单击此处编辑母版副标题样式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907" y="590550"/>
            <a:ext cx="10514536" cy="635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 bwMode="auto">
          <a:xfrm>
            <a:off x="0" y="6704111"/>
            <a:ext cx="12196763" cy="153889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 userDrawn="1"/>
        </p:nvSpPr>
        <p:spPr bwMode="auto">
          <a:xfrm>
            <a:off x="11710577" y="6505599"/>
            <a:ext cx="436476" cy="27922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32167" y="6505599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BCBF865-A225-49B7-8C06-A3D8CF7C3037}" type="slidenum">
              <a:rPr lang="zh-CN" altLang="en-US" sz="1400" smtClean="0">
                <a:solidFill>
                  <a:srgbClr val="F8F8F8"/>
                </a:solidFill>
              </a:rPr>
            </a:fld>
            <a:endParaRPr lang="zh-CN" altLang="en-US" sz="1400" dirty="0">
              <a:solidFill>
                <a:srgbClr val="F8F8F8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39" y="4406902"/>
            <a:ext cx="10367724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39" y="2906713"/>
            <a:ext cx="10367724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907" y="590550"/>
            <a:ext cx="10514536" cy="635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0" y="1600202"/>
            <a:ext cx="541249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4592" y="1600202"/>
            <a:ext cx="541408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0" y="274638"/>
            <a:ext cx="1097899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0" y="1535113"/>
            <a:ext cx="539026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0" y="2174875"/>
            <a:ext cx="53902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820" y="1535113"/>
            <a:ext cx="539185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820" y="2174875"/>
            <a:ext cx="53918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907" y="590550"/>
            <a:ext cx="10514536" cy="635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0" y="273050"/>
            <a:ext cx="4013722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471" y="273052"/>
            <a:ext cx="6819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0" y="1435102"/>
            <a:ext cx="401372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0" y="273050"/>
            <a:ext cx="4013722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471" y="273052"/>
            <a:ext cx="6819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0" y="1435102"/>
            <a:ext cx="401372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TextBox 6"/>
          <p:cNvSpPr txBox="1"/>
          <p:nvPr userDrawn="1"/>
        </p:nvSpPr>
        <p:spPr>
          <a:xfrm>
            <a:off x="986607" y="6381328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1088" y="4800600"/>
            <a:ext cx="731932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1088" y="612775"/>
            <a:ext cx="731932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1088" y="5367338"/>
            <a:ext cx="73193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907" y="590550"/>
            <a:ext cx="10514536" cy="635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5113" y="908050"/>
            <a:ext cx="2743557" cy="5218113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80" y="908050"/>
            <a:ext cx="8083014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7454" y="2886611"/>
            <a:ext cx="1060487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1559" y="2758267"/>
            <a:ext cx="1096957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040587" y="1447781"/>
            <a:ext cx="3014123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8018" y="3771071"/>
            <a:ext cx="524195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7300" y="2904248"/>
            <a:ext cx="401210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8504" y="2574151"/>
            <a:ext cx="981859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/>
          <a:srcRect/>
          <a:stretch>
            <a:fillRect/>
          </a:stretch>
        </p:blipFill>
        <p:spPr bwMode="auto">
          <a:xfrm>
            <a:off x="3262367" y="3206628"/>
            <a:ext cx="1477829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353101" y="3446016"/>
            <a:ext cx="1834683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7388" y="2725340"/>
            <a:ext cx="1116940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3834" y="3624921"/>
            <a:ext cx="522180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6344" y="2365002"/>
            <a:ext cx="522179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54705" y="2795896"/>
            <a:ext cx="169758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3984146" y="2785815"/>
            <a:ext cx="437502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8520449" y="3325063"/>
            <a:ext cx="703632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240210" y="2909287"/>
            <a:ext cx="36088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9746259" y="3446015"/>
            <a:ext cx="282259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638"/>
            <a:ext cx="10978515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201"/>
            <a:ext cx="10978515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6351"/>
            <a:ext cx="2846282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fld id="{2E3AAC11-D570-4EA9-AFC0-30FB72BA45EB}" type="datetimeFigureOut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6351"/>
            <a:ext cx="3862811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6351"/>
            <a:ext cx="2846282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fld id="{55ECCFAA-F4FB-487C-9F1E-C8836D0C3DC9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74639"/>
            <a:ext cx="274462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74639"/>
            <a:ext cx="803058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6351"/>
            <a:ext cx="2846282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fld id="{2E3AAC11-D570-4EA9-AFC0-30FB72BA45EB}" type="datetimeFigureOut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6351"/>
            <a:ext cx="3862811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6351"/>
            <a:ext cx="2846282" cy="365125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fld id="{55ECCFAA-F4FB-487C-9F1E-C8836D0C3DC9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microsoft.com/office/2007/relationships/hdphoto" Target="../media/image15.wdp"/><Relationship Id="rId15" Type="http://schemas.openxmlformats.org/officeDocument/2006/relationships/image" Target="../media/image14.png"/><Relationship Id="rId14" Type="http://schemas.openxmlformats.org/officeDocument/2006/relationships/tags" Target="../tags/tag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41907" y="1600201"/>
            <a:ext cx="10514536" cy="427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  <p:pic>
        <p:nvPicPr>
          <p:cNvPr id="6" name="Picture 8" descr="C:\Users\zl\Desktop\图片f1.png"/>
          <p:cNvPicPr>
            <a:picLocks noChangeAspect="1" noChangeArrowheads="1"/>
          </p:cNvPicPr>
          <p:nvPr userDrawn="1">
            <p:custDataLst>
              <p:tags r:id="rId14"/>
            </p:custDataLst>
          </p:nvPr>
        </p:nvPicPr>
        <p:blipFill>
          <a:blip r:embed="rId15" cstate="print">
            <a:duotone>
              <a:prstClr val="black"/>
              <a:srgbClr val="01569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51" y="261135"/>
            <a:ext cx="2736000" cy="99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3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3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3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microsoft.com/office/2007/relationships/hdphoto" Target="../media/image15.wdp"/><Relationship Id="rId8" Type="http://schemas.openxmlformats.org/officeDocument/2006/relationships/image" Target="../media/image14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6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3" Type="http://schemas.openxmlformats.org/officeDocument/2006/relationships/image" Target="../media/image20.png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jpeg"/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jpe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jpeg"/><Relationship Id="rId1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jpe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0.jpeg"/><Relationship Id="rId4" Type="http://schemas.openxmlformats.org/officeDocument/2006/relationships/tags" Target="../tags/tag8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4.jpeg"/><Relationship Id="rId5" Type="http://schemas.openxmlformats.org/officeDocument/2006/relationships/tags" Target="../tags/tag10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9.jpe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7.jpeg"/><Relationship Id="rId7" Type="http://schemas.openxmlformats.org/officeDocument/2006/relationships/image" Target="../media/image66.jpe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7.png"/><Relationship Id="rId6" Type="http://schemas.openxmlformats.org/officeDocument/2006/relationships/tags" Target="../tags/tag1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6.jpe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tags" Target="../tags/tag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tags" Target="../tags/tag13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image" Target="../media/image110.png"/><Relationship Id="rId7" Type="http://schemas.openxmlformats.org/officeDocument/2006/relationships/image" Target="../media/image109.png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1" Type="http://schemas.openxmlformats.org/officeDocument/2006/relationships/notesSlide" Target="../notesSlides/notesSlide26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5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7.jpeg"/><Relationship Id="rId1" Type="http://schemas.openxmlformats.org/officeDocument/2006/relationships/image" Target="../media/image116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microsoft.com/office/2007/relationships/hdphoto" Target="../media/image15.wdp"/><Relationship Id="rId7" Type="http://schemas.openxmlformats.org/officeDocument/2006/relationships/image" Target="../media/image14.png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29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A_组合 36"/>
          <p:cNvGrpSpPr/>
          <p:nvPr>
            <p:custDataLst>
              <p:tags r:id="rId1"/>
            </p:custDataLst>
          </p:nvPr>
        </p:nvGrpSpPr>
        <p:grpSpPr>
          <a:xfrm>
            <a:off x="2337113" y="1009106"/>
            <a:ext cx="9433048" cy="6684477"/>
            <a:chOff x="1753130" y="836464"/>
            <a:chExt cx="10416772" cy="68580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3130" y="836464"/>
              <a:ext cx="10416772" cy="6858000"/>
            </a:xfrm>
            <a:prstGeom prst="rect">
              <a:avLst/>
            </a:prstGeom>
          </p:spPr>
        </p:pic>
        <p:sp>
          <p:nvSpPr>
            <p:cNvPr id="10" name="任意多边形: 形状 9"/>
            <p:cNvSpPr/>
            <p:nvPr/>
          </p:nvSpPr>
          <p:spPr bwMode="auto">
            <a:xfrm>
              <a:off x="6341735" y="2276872"/>
              <a:ext cx="3501856" cy="360040"/>
            </a:xfrm>
            <a:custGeom>
              <a:avLst/>
              <a:gdLst>
                <a:gd name="connsiteX0" fmla="*/ 0 w 3501856"/>
                <a:gd name="connsiteY0" fmla="*/ 0 h 432048"/>
                <a:gd name="connsiteX1" fmla="*/ 3501856 w 3501856"/>
                <a:gd name="connsiteY1" fmla="*/ 0 h 432048"/>
                <a:gd name="connsiteX2" fmla="*/ 3501856 w 3501856"/>
                <a:gd name="connsiteY2" fmla="*/ 81033 h 432048"/>
                <a:gd name="connsiteX3" fmla="*/ 3306940 w 3501856"/>
                <a:gd name="connsiteY3" fmla="*/ 432048 h 432048"/>
                <a:gd name="connsiteX4" fmla="*/ 266248 w 3501856"/>
                <a:gd name="connsiteY4" fmla="*/ 432048 h 43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1856" h="432048">
                  <a:moveTo>
                    <a:pt x="0" y="0"/>
                  </a:moveTo>
                  <a:lnTo>
                    <a:pt x="3501856" y="0"/>
                  </a:lnTo>
                  <a:lnTo>
                    <a:pt x="3501856" y="81033"/>
                  </a:lnTo>
                  <a:lnTo>
                    <a:pt x="3306940" y="432048"/>
                  </a:lnTo>
                  <a:lnTo>
                    <a:pt x="266248" y="432048"/>
                  </a:lnTo>
                  <a:close/>
                </a:path>
              </a:pathLst>
            </a:custGeom>
            <a:solidFill>
              <a:srgbClr val="00918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任意多边形: 形状 14"/>
            <p:cNvSpPr/>
            <p:nvPr/>
          </p:nvSpPr>
          <p:spPr bwMode="auto">
            <a:xfrm rot="1461578">
              <a:off x="6191245" y="5210083"/>
              <a:ext cx="378527" cy="1806388"/>
            </a:xfrm>
            <a:custGeom>
              <a:avLst/>
              <a:gdLst>
                <a:gd name="connsiteX0" fmla="*/ 0 w 378527"/>
                <a:gd name="connsiteY0" fmla="*/ 0 h 1806388"/>
                <a:gd name="connsiteX1" fmla="*/ 378527 w 378527"/>
                <a:gd name="connsiteY1" fmla="*/ 0 h 1806388"/>
                <a:gd name="connsiteX2" fmla="*/ 378527 w 378527"/>
                <a:gd name="connsiteY2" fmla="*/ 1635002 h 1806388"/>
                <a:gd name="connsiteX3" fmla="*/ 0 w 378527"/>
                <a:gd name="connsiteY3" fmla="*/ 1806388 h 180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527" h="1806388">
                  <a:moveTo>
                    <a:pt x="0" y="0"/>
                  </a:moveTo>
                  <a:lnTo>
                    <a:pt x="378527" y="0"/>
                  </a:lnTo>
                  <a:lnTo>
                    <a:pt x="378527" y="1635002"/>
                  </a:lnTo>
                  <a:lnTo>
                    <a:pt x="0" y="1806388"/>
                  </a:lnTo>
                  <a:close/>
                </a:path>
              </a:pathLst>
            </a:custGeom>
            <a:solidFill>
              <a:srgbClr val="003F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任意多边形: 形状 17"/>
            <p:cNvSpPr/>
            <p:nvPr/>
          </p:nvSpPr>
          <p:spPr bwMode="auto">
            <a:xfrm rot="20250776">
              <a:off x="10361773" y="5905979"/>
              <a:ext cx="378527" cy="1064893"/>
            </a:xfrm>
            <a:custGeom>
              <a:avLst/>
              <a:gdLst>
                <a:gd name="connsiteX0" fmla="*/ 378527 w 378527"/>
                <a:gd name="connsiteY0" fmla="*/ 0 h 1064893"/>
                <a:gd name="connsiteX1" fmla="*/ 378527 w 378527"/>
                <a:gd name="connsiteY1" fmla="*/ 1064893 h 1064893"/>
                <a:gd name="connsiteX2" fmla="*/ 0 w 378527"/>
                <a:gd name="connsiteY2" fmla="*/ 908203 h 1064893"/>
                <a:gd name="connsiteX3" fmla="*/ 0 w 378527"/>
                <a:gd name="connsiteY3" fmla="*/ 0 h 106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527" h="1064893">
                  <a:moveTo>
                    <a:pt x="378527" y="0"/>
                  </a:moveTo>
                  <a:lnTo>
                    <a:pt x="378527" y="1064893"/>
                  </a:lnTo>
                  <a:lnTo>
                    <a:pt x="0" y="908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 rot="1895203">
              <a:off x="2021795" y="5379462"/>
              <a:ext cx="495283" cy="865396"/>
            </a:xfrm>
            <a:prstGeom prst="rect">
              <a:avLst/>
            </a:prstGeom>
            <a:solidFill>
              <a:srgbClr val="00405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 rot="20933253">
              <a:off x="6990981" y="4045620"/>
              <a:ext cx="143251" cy="144000"/>
            </a:xfrm>
            <a:prstGeom prst="ellipse">
              <a:avLst/>
            </a:prstGeom>
            <a:solidFill>
              <a:srgbClr val="00405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动作按钮: 空白 22">
              <a:hlinkClick r:id="" action="ppaction://noaction" highlightClick="1"/>
            </p:cNvPr>
            <p:cNvSpPr/>
            <p:nvPr/>
          </p:nvSpPr>
          <p:spPr bwMode="auto">
            <a:xfrm>
              <a:off x="8676905" y="4300282"/>
              <a:ext cx="136800" cy="136800"/>
            </a:xfrm>
            <a:prstGeom prst="actionButtonBlank">
              <a:avLst/>
            </a:prstGeom>
            <a:solidFill>
              <a:srgbClr val="00405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动作按钮: 空白 23">
              <a:hlinkClick r:id="" action="ppaction://noaction" highlightClick="1"/>
            </p:cNvPr>
            <p:cNvSpPr/>
            <p:nvPr/>
          </p:nvSpPr>
          <p:spPr bwMode="auto">
            <a:xfrm>
              <a:off x="8826130" y="4300282"/>
              <a:ext cx="136800" cy="136800"/>
            </a:xfrm>
            <a:prstGeom prst="actionButtonBlank">
              <a:avLst/>
            </a:prstGeom>
            <a:solidFill>
              <a:srgbClr val="00405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动作按钮: 空白 24">
              <a:hlinkClick r:id="" action="ppaction://noaction" highlightClick="1"/>
            </p:cNvPr>
            <p:cNvSpPr/>
            <p:nvPr/>
          </p:nvSpPr>
          <p:spPr bwMode="auto">
            <a:xfrm>
              <a:off x="8975355" y="4300282"/>
              <a:ext cx="136800" cy="136800"/>
            </a:xfrm>
            <a:prstGeom prst="actionButtonBlank">
              <a:avLst/>
            </a:prstGeom>
            <a:solidFill>
              <a:srgbClr val="00405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6697646" y="4054620"/>
              <a:ext cx="280800" cy="126000"/>
            </a:xfrm>
            <a:prstGeom prst="rect">
              <a:avLst/>
            </a:prstGeom>
            <a:solidFill>
              <a:srgbClr val="00918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PA_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-69850" y="1765935"/>
            <a:ext cx="6659880" cy="1376680"/>
          </a:xfrm>
          <a:effectLst>
            <a:outerShdw blurRad="50800" dist="76200" dir="5400000" algn="ctr" rotWithShape="0">
              <a:srgbClr val="000000">
                <a:alpha val="43137"/>
              </a:srgbClr>
            </a:outerShdw>
          </a:effectLst>
        </p:spPr>
        <p:txBody>
          <a:bodyPr/>
          <a:lstStyle/>
          <a:p>
            <a:r>
              <a:rPr lang="zh-CN" altLang="en-US" sz="9700" dirty="0">
                <a:solidFill>
                  <a:srgbClr val="EA5230"/>
                </a:solidFill>
                <a:latin typeface="+mn-ea"/>
                <a:ea typeface="+mn-ea"/>
                <a:cs typeface="Aharoni" panose="02010803020104030203" pitchFamily="2" charset="-79"/>
              </a:rPr>
              <a:t>微积分</a:t>
            </a:r>
            <a:r>
              <a:rPr lang="en-US" altLang="zh-CN" sz="9700" dirty="0">
                <a:solidFill>
                  <a:srgbClr val="EA5230"/>
                </a:solidFill>
                <a:latin typeface="+mn-ea"/>
                <a:ea typeface="+mn-ea"/>
                <a:cs typeface="Aharoni" panose="02010803020104030203" pitchFamily="2" charset="-79"/>
              </a:rPr>
              <a:t>BII</a:t>
            </a:r>
            <a:endParaRPr lang="en-US" altLang="zh-CN" sz="9700" dirty="0">
              <a:solidFill>
                <a:srgbClr val="EA5230"/>
              </a:solidFill>
              <a:latin typeface="+mn-ea"/>
              <a:ea typeface="+mn-ea"/>
              <a:cs typeface="Aharoni" panose="02010803020104030203" pitchFamily="2" charset="-79"/>
            </a:endParaRPr>
          </a:p>
        </p:txBody>
      </p:sp>
      <p:sp>
        <p:nvSpPr>
          <p:cNvPr id="3" name="PA_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23994" y="3412933"/>
            <a:ext cx="5209579" cy="1507973"/>
          </a:xfrm>
        </p:spPr>
        <p:txBody>
          <a:bodyPr/>
          <a:lstStyle/>
          <a:p>
            <a:r>
              <a:rPr lang="zh-CN" altLang="en-US" sz="4400" b="1" dirty="0">
                <a:solidFill>
                  <a:srgbClr val="003F50"/>
                </a:solidFill>
              </a:rPr>
              <a:t>  划重点</a:t>
            </a:r>
            <a:endParaRPr lang="zh-CN" altLang="en-US" sz="4400" b="1" dirty="0">
              <a:solidFill>
                <a:srgbClr val="003F50"/>
              </a:solidFill>
            </a:endParaRPr>
          </a:p>
        </p:txBody>
      </p:sp>
      <p:sp>
        <p:nvSpPr>
          <p:cNvPr id="40" name="PA_矩形 39"/>
          <p:cNvSpPr/>
          <p:nvPr>
            <p:custDataLst>
              <p:tags r:id="rId5"/>
            </p:custDataLst>
          </p:nvPr>
        </p:nvSpPr>
        <p:spPr bwMode="auto">
          <a:xfrm>
            <a:off x="998855" y="4436745"/>
            <a:ext cx="4082415" cy="3962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cap="none" normalizeH="0" baseline="0" dirty="0">
                <a:ln>
                  <a:noFill/>
                </a:ln>
                <a:solidFill>
                  <a:srgbClr val="003F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分享人：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3F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kumimoji="0" lang="zh-CN" altLang="en-US" sz="2000" i="0" u="none" strike="noStrike" cap="none" normalizeH="0" baseline="0" dirty="0">
                <a:ln>
                  <a:noFill/>
                </a:ln>
                <a:solidFill>
                  <a:srgbClr val="003F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级电科由姗卉</a:t>
            </a:r>
            <a:endParaRPr kumimoji="0" lang="zh-CN" altLang="en-US" sz="2000" i="0" u="none" strike="noStrike" cap="none" normalizeH="0" baseline="0" dirty="0">
              <a:ln>
                <a:noFill/>
              </a:ln>
              <a:solidFill>
                <a:srgbClr val="003F5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PA_矩形 40"/>
          <p:cNvSpPr/>
          <p:nvPr>
            <p:custDataLst>
              <p:tags r:id="rId6"/>
            </p:custDataLst>
          </p:nvPr>
        </p:nvSpPr>
        <p:spPr bwMode="auto">
          <a:xfrm>
            <a:off x="1202631" y="4187282"/>
            <a:ext cx="1620000" cy="39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i="0" u="none" strike="noStrike" cap="none" normalizeH="0" baseline="0" dirty="0">
              <a:ln>
                <a:noFill/>
              </a:ln>
              <a:solidFill>
                <a:srgbClr val="003F5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8" descr="C:\Users\zl\Desktop\图片f1.pn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8" cstate="print">
            <a:duotone>
              <a:prstClr val="black"/>
              <a:srgbClr val="01569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41" y="260500"/>
            <a:ext cx="2472649" cy="89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" grpId="1" bldLvl="0" animBg="1"/>
      <p:bldP spid="2" grpId="2" bldLvl="0" animBg="1"/>
      <p:bldP spid="2" grpId="3" bldLvl="0" animBg="1"/>
      <p:bldP spid="3" grpId="0" build="p"/>
      <p:bldP spid="3" grpId="1" build="p"/>
      <p:bldP spid="40" grpId="0"/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圆角矩形 65"/>
          <p:cNvSpPr/>
          <p:nvPr/>
        </p:nvSpPr>
        <p:spPr>
          <a:xfrm>
            <a:off x="4331335" y="548640"/>
            <a:ext cx="3573145" cy="56324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TextBox 4"/>
          <p:cNvSpPr txBox="1"/>
          <p:nvPr/>
        </p:nvSpPr>
        <p:spPr>
          <a:xfrm>
            <a:off x="4083269" y="54852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一、个人介绍</a:t>
            </a:r>
            <a:endParaRPr lang="en-US" altLang="zh-CN" sz="2800" dirty="0"/>
          </a:p>
        </p:txBody>
      </p:sp>
      <p:pic>
        <p:nvPicPr>
          <p:cNvPr id="3" name="图片 2" descr="微信图片_202305141123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55" y="1628775"/>
            <a:ext cx="7590155" cy="41103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15300" y="3068955"/>
            <a:ext cx="3726815" cy="962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/>
              <a:t>微积分</a:t>
            </a:r>
            <a:r>
              <a:rPr lang="en-US" altLang="zh-CN" sz="2800" b="1"/>
              <a:t>AII </a:t>
            </a:r>
            <a:r>
              <a:rPr lang="zh-CN" altLang="en-US" sz="2800" b="1"/>
              <a:t>成绩：</a:t>
            </a:r>
            <a:r>
              <a:rPr lang="en-US" altLang="zh-CN" sz="2800" b="1"/>
              <a:t>98</a:t>
            </a:r>
            <a:r>
              <a:rPr lang="zh-CN" altLang="en-US" sz="2800" b="1"/>
              <a:t>分</a:t>
            </a:r>
            <a:endParaRPr lang="zh-CN" altLang="en-US" sz="2800" b="1"/>
          </a:p>
        </p:txBody>
      </p:sp>
      <p:sp>
        <p:nvSpPr>
          <p:cNvPr id="2" name="文本框 1"/>
          <p:cNvSpPr txBox="1"/>
          <p:nvPr/>
        </p:nvSpPr>
        <p:spPr>
          <a:xfrm>
            <a:off x="8234680" y="4114165"/>
            <a:ext cx="3121025" cy="156845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CN" altLang="en-US" sz="2400" b="1"/>
              <a:t>一个月创造奇迹！！！</a:t>
            </a:r>
            <a:endParaRPr lang="zh-CN" altLang="en-US" sz="2400" b="1"/>
          </a:p>
          <a:p>
            <a:r>
              <a:rPr lang="zh-CN" altLang="en-US" sz="2400" b="1"/>
              <a:t>抓住课本基础</a:t>
            </a:r>
            <a:endParaRPr lang="zh-CN" altLang="en-US" sz="2400" b="1"/>
          </a:p>
          <a:p>
            <a:r>
              <a:rPr lang="zh-CN" altLang="en-US" sz="2400" b="1"/>
              <a:t>做好标准化作业</a:t>
            </a:r>
            <a:endParaRPr lang="zh-CN" altLang="en-US" sz="2400" b="1"/>
          </a:p>
          <a:p>
            <a:r>
              <a:rPr lang="zh-CN" altLang="en-US" sz="2400" b="1"/>
              <a:t>考前做历年真题</a:t>
            </a:r>
            <a:endParaRPr lang="zh-CN" altLang="en-US" sz="2400" b="1"/>
          </a:p>
        </p:txBody>
      </p:sp>
      <p:pic>
        <p:nvPicPr>
          <p:cNvPr id="5" name="图片 4" descr="微信图片_20230520001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220000">
            <a:off x="9434195" y="467995"/>
            <a:ext cx="2214245" cy="20383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61" grpId="0" bldLvl="0" animBg="1"/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4923855" y="4798053"/>
            <a:ext cx="2206625" cy="1150153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 flipH="1">
            <a:off x="4923855" y="1591032"/>
            <a:ext cx="2206625" cy="114804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4923855" y="2739073"/>
            <a:ext cx="2206625" cy="1150153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 flipH="1">
            <a:off x="4923855" y="3889226"/>
            <a:ext cx="2206625" cy="1150153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59065" y="1412240"/>
            <a:ext cx="415671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多元函数的极限、连续性、微分学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15365" y="2540000"/>
            <a:ext cx="32797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二重积分、三重积分的计算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755255" y="3317875"/>
            <a:ext cx="411035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第一型曲线、曲面积分的计算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第二型曲线、曲面积分的计算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重点来啦！！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Green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Gauss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Stokes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778635" y="4696460"/>
            <a:ext cx="2439035" cy="6311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827645" y="5516880"/>
            <a:ext cx="24714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常微分方程、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差分方程（不做要求）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561452" y="1120761"/>
            <a:ext cx="1024320" cy="1027140"/>
            <a:chOff x="6560658" y="1120761"/>
            <a:chExt cx="1024320" cy="1027140"/>
          </a:xfrm>
        </p:grpSpPr>
        <p:sp>
          <p:nvSpPr>
            <p:cNvPr id="29" name="Oval 18"/>
            <p:cNvSpPr>
              <a:spLocks noChangeArrowheads="1"/>
            </p:cNvSpPr>
            <p:nvPr/>
          </p:nvSpPr>
          <p:spPr bwMode="auto">
            <a:xfrm>
              <a:off x="6560658" y="1120761"/>
              <a:ext cx="1024320" cy="1027140"/>
            </a:xfrm>
            <a:prstGeom prst="ellipse">
              <a:avLst/>
            </a:prstGeom>
            <a:gradFill flip="none" rotWithShape="1">
              <a:gsLst>
                <a:gs pos="100000">
                  <a:srgbClr val="00637E"/>
                </a:gs>
                <a:gs pos="0">
                  <a:srgbClr val="003C4C"/>
                </a:gs>
              </a:gsLst>
              <a:lin ang="5400000" scaled="1"/>
              <a:tileRect/>
            </a:gradFill>
            <a:ln w="38100" cap="flat">
              <a:gradFill flip="none" rotWithShape="1">
                <a:gsLst>
                  <a:gs pos="0">
                    <a:srgbClr val="00485C"/>
                  </a:gs>
                  <a:gs pos="100000">
                    <a:srgbClr val="006C8A"/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>
              <a:outerShdw blurRad="190500" dist="1778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4000" b="1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文本框 30"/>
            <p:cNvSpPr>
              <a:spLocks noChangeArrowheads="1"/>
            </p:cNvSpPr>
            <p:nvPr/>
          </p:nvSpPr>
          <p:spPr bwMode="auto">
            <a:xfrm>
              <a:off x="6850614" y="1232946"/>
              <a:ext cx="426070" cy="778457"/>
            </a:xfrm>
            <a:prstGeom prst="rect">
              <a:avLst/>
            </a:prstGeom>
            <a:noFill/>
            <a:ln w="381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sz="4000" b="1" dirty="0">
                  <a:solidFill>
                    <a:schemeClr val="accent2"/>
                  </a:solidFill>
                  <a:latin typeface="+mj-ea"/>
                  <a:ea typeface="+mj-ea"/>
                  <a:sym typeface="Segoe UI Light" panose="020B0502040204020203" pitchFamily="2" charset="0"/>
                </a:rPr>
                <a:t>1</a:t>
              </a:r>
              <a:endParaRPr lang="zh-CN" altLang="en-US" sz="4000" b="1" dirty="0">
                <a:solidFill>
                  <a:schemeClr val="accent2"/>
                </a:solidFill>
                <a:latin typeface="+mj-ea"/>
                <a:ea typeface="+mj-ea"/>
                <a:sym typeface="Segoe UI Light" panose="020B0502040204020203" pitchFamily="2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32401" y="2226230"/>
            <a:ext cx="1024320" cy="1027140"/>
            <a:chOff x="4431607" y="2226230"/>
            <a:chExt cx="1024320" cy="1027140"/>
          </a:xfrm>
        </p:grpSpPr>
        <p:sp>
          <p:nvSpPr>
            <p:cNvPr id="32" name="Oval 18"/>
            <p:cNvSpPr>
              <a:spLocks noChangeArrowheads="1"/>
            </p:cNvSpPr>
            <p:nvPr/>
          </p:nvSpPr>
          <p:spPr bwMode="auto">
            <a:xfrm>
              <a:off x="4431607" y="2226230"/>
              <a:ext cx="1024320" cy="1027140"/>
            </a:xfrm>
            <a:prstGeom prst="ellipse">
              <a:avLst/>
            </a:prstGeom>
            <a:gradFill flip="none" rotWithShape="1">
              <a:gsLst>
                <a:gs pos="100000">
                  <a:srgbClr val="009A96"/>
                </a:gs>
                <a:gs pos="0">
                  <a:srgbClr val="006664"/>
                </a:gs>
              </a:gsLst>
              <a:lin ang="5400000" scaled="1"/>
              <a:tileRect/>
            </a:gradFill>
            <a:ln w="38100" cap="flat">
              <a:gradFill flip="none" rotWithShape="1">
                <a:gsLst>
                  <a:gs pos="0">
                    <a:srgbClr val="006C6C"/>
                  </a:gs>
                  <a:gs pos="100000">
                    <a:srgbClr val="009696"/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>
              <a:outerShdw blurRad="190500" dist="1778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4000" b="1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  <p:sp>
          <p:nvSpPr>
            <p:cNvPr id="33" name="文本框 30"/>
            <p:cNvSpPr>
              <a:spLocks noChangeArrowheads="1"/>
            </p:cNvSpPr>
            <p:nvPr/>
          </p:nvSpPr>
          <p:spPr bwMode="auto">
            <a:xfrm>
              <a:off x="4730732" y="2364910"/>
              <a:ext cx="426070" cy="769441"/>
            </a:xfrm>
            <a:prstGeom prst="rect">
              <a:avLst/>
            </a:prstGeom>
            <a:noFill/>
            <a:ln w="381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sz="4000" b="1" dirty="0">
                  <a:solidFill>
                    <a:schemeClr val="accent2"/>
                  </a:solidFill>
                  <a:latin typeface="+mj-ea"/>
                  <a:ea typeface="+mj-ea"/>
                  <a:sym typeface="Segoe UI Light" panose="020B0502040204020203" pitchFamily="2" charset="0"/>
                </a:rPr>
                <a:t>2</a:t>
              </a:r>
              <a:endParaRPr lang="zh-CN" altLang="en-US" sz="4000" b="1" dirty="0">
                <a:solidFill>
                  <a:schemeClr val="accent2"/>
                </a:solidFill>
                <a:latin typeface="+mj-ea"/>
                <a:ea typeface="+mj-ea"/>
                <a:sym typeface="Segoe UI Light" panose="020B0502040204020203" pitchFamily="2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564780" y="3318051"/>
            <a:ext cx="1024320" cy="1027140"/>
            <a:chOff x="6563986" y="3318051"/>
            <a:chExt cx="1024320" cy="1027140"/>
          </a:xfrm>
        </p:grpSpPr>
        <p:sp>
          <p:nvSpPr>
            <p:cNvPr id="35" name="Oval 18"/>
            <p:cNvSpPr>
              <a:spLocks noChangeArrowheads="1"/>
            </p:cNvSpPr>
            <p:nvPr/>
          </p:nvSpPr>
          <p:spPr bwMode="auto">
            <a:xfrm>
              <a:off x="6563986" y="3318051"/>
              <a:ext cx="1024320" cy="1027140"/>
            </a:xfrm>
            <a:prstGeom prst="ellipse">
              <a:avLst/>
            </a:prstGeom>
            <a:gradFill flip="none" rotWithShape="1">
              <a:gsLst>
                <a:gs pos="100000">
                  <a:srgbClr val="83BC3E"/>
                </a:gs>
                <a:gs pos="0">
                  <a:srgbClr val="537426"/>
                </a:gs>
              </a:gsLst>
              <a:lin ang="5400000" scaled="1"/>
              <a:tileRect/>
            </a:gradFill>
            <a:ln w="38100" cap="flat">
              <a:gradFill flip="none" rotWithShape="1">
                <a:gsLst>
                  <a:gs pos="0">
                    <a:srgbClr val="587B29"/>
                  </a:gs>
                  <a:gs pos="100000">
                    <a:srgbClr val="83BC3E"/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>
              <a:outerShdw blurRad="190500" dist="1778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4000" b="1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  <p:sp>
          <p:nvSpPr>
            <p:cNvPr id="36" name="文本框 30"/>
            <p:cNvSpPr>
              <a:spLocks noChangeArrowheads="1"/>
            </p:cNvSpPr>
            <p:nvPr/>
          </p:nvSpPr>
          <p:spPr bwMode="auto">
            <a:xfrm>
              <a:off x="6850614" y="3439731"/>
              <a:ext cx="426070" cy="769441"/>
            </a:xfrm>
            <a:prstGeom prst="rect">
              <a:avLst/>
            </a:prstGeom>
            <a:noFill/>
            <a:ln w="381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sz="4000" b="1" dirty="0">
                  <a:solidFill>
                    <a:schemeClr val="accent2"/>
                  </a:solidFill>
                  <a:latin typeface="+mj-ea"/>
                  <a:ea typeface="+mj-ea"/>
                  <a:sym typeface="Segoe UI Light" panose="020B0502040204020203" pitchFamily="2" charset="0"/>
                </a:rPr>
                <a:t>3</a:t>
              </a:r>
              <a:endParaRPr lang="zh-CN" altLang="en-US" sz="4000" b="1" dirty="0">
                <a:solidFill>
                  <a:schemeClr val="accent2"/>
                </a:solidFill>
                <a:latin typeface="+mj-ea"/>
                <a:ea typeface="+mj-ea"/>
                <a:sym typeface="Segoe UI Light" panose="020B0502040204020203" pitchFamily="2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411694" y="4423520"/>
            <a:ext cx="1024320" cy="1027140"/>
            <a:chOff x="4410900" y="4423520"/>
            <a:chExt cx="1024320" cy="1027140"/>
          </a:xfrm>
        </p:grpSpPr>
        <p:sp>
          <p:nvSpPr>
            <p:cNvPr id="38" name="Oval 18"/>
            <p:cNvSpPr>
              <a:spLocks noChangeArrowheads="1"/>
            </p:cNvSpPr>
            <p:nvPr/>
          </p:nvSpPr>
          <p:spPr bwMode="auto">
            <a:xfrm>
              <a:off x="4410900" y="4423520"/>
              <a:ext cx="1024320" cy="1027140"/>
            </a:xfrm>
            <a:prstGeom prst="ellipse">
              <a:avLst/>
            </a:prstGeom>
            <a:gradFill>
              <a:gsLst>
                <a:gs pos="0">
                  <a:srgbClr val="E2810C"/>
                </a:gs>
                <a:gs pos="100000">
                  <a:srgbClr val="F5A545"/>
                </a:gs>
              </a:gsLst>
              <a:lin ang="5400000" scaled="0"/>
            </a:gradFill>
            <a:ln w="38100" cap="flat">
              <a:gradFill>
                <a:gsLst>
                  <a:gs pos="0">
                    <a:srgbClr val="F5A039"/>
                  </a:gs>
                  <a:gs pos="100000">
                    <a:srgbClr val="E2810C"/>
                  </a:gs>
                </a:gsLst>
                <a:lin ang="5400000" scaled="0"/>
              </a:gradFill>
              <a:prstDash val="solid"/>
              <a:miter lim="800000"/>
            </a:ln>
            <a:effectLst>
              <a:outerShdw blurRad="190500" dist="1778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4000" b="1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  <p:sp>
          <p:nvSpPr>
            <p:cNvPr id="39" name="文本框 30"/>
            <p:cNvSpPr>
              <a:spLocks noChangeArrowheads="1"/>
            </p:cNvSpPr>
            <p:nvPr/>
          </p:nvSpPr>
          <p:spPr bwMode="auto">
            <a:xfrm>
              <a:off x="4668887" y="4562678"/>
              <a:ext cx="426070" cy="769441"/>
            </a:xfrm>
            <a:prstGeom prst="rect">
              <a:avLst/>
            </a:prstGeom>
            <a:noFill/>
            <a:ln w="381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sz="4000" b="1" dirty="0">
                  <a:solidFill>
                    <a:schemeClr val="accent2"/>
                  </a:solidFill>
                  <a:latin typeface="+mj-ea"/>
                  <a:ea typeface="+mj-ea"/>
                  <a:sym typeface="Segoe UI Light" panose="020B0502040204020203" pitchFamily="2" charset="0"/>
                </a:rPr>
                <a:t>4</a:t>
              </a:r>
              <a:endParaRPr lang="zh-CN" altLang="en-US" sz="4000" b="1" dirty="0">
                <a:solidFill>
                  <a:schemeClr val="accent2"/>
                </a:solidFill>
                <a:latin typeface="+mj-ea"/>
                <a:ea typeface="+mj-ea"/>
                <a:sym typeface="Segoe UI Light" panose="020B0502040204020203" pitchFamily="2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561452" y="5351568"/>
            <a:ext cx="1024320" cy="1027140"/>
            <a:chOff x="6560658" y="5351568"/>
            <a:chExt cx="1024320" cy="1027140"/>
          </a:xfrm>
        </p:grpSpPr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6560658" y="5351568"/>
              <a:ext cx="1024320" cy="1027140"/>
            </a:xfrm>
            <a:prstGeom prst="ellipse">
              <a:avLst/>
            </a:prstGeom>
            <a:gradFill>
              <a:gsLst>
                <a:gs pos="100000">
                  <a:srgbClr val="F86B2C"/>
                </a:gs>
                <a:gs pos="0">
                  <a:srgbClr val="C64106"/>
                </a:gs>
              </a:gsLst>
              <a:lin ang="5400000" scaled="1"/>
            </a:gradFill>
            <a:ln w="38100" cap="flat">
              <a:gradFill flip="none" rotWithShape="1">
                <a:gsLst>
                  <a:gs pos="0">
                    <a:srgbClr val="CC4306"/>
                  </a:gs>
                  <a:gs pos="100000">
                    <a:srgbClr val="F85D18"/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>
              <a:outerShdw blurRad="190500" dist="177800" dir="5400000" algn="t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4000" b="1">
                <a:solidFill>
                  <a:schemeClr val="accent2"/>
                </a:solidFill>
                <a:latin typeface="+mj-ea"/>
                <a:ea typeface="+mj-ea"/>
              </a:endParaRPr>
            </a:p>
          </p:txBody>
        </p:sp>
        <p:sp>
          <p:nvSpPr>
            <p:cNvPr id="42" name="文本框 30"/>
            <p:cNvSpPr>
              <a:spLocks noChangeArrowheads="1"/>
            </p:cNvSpPr>
            <p:nvPr/>
          </p:nvSpPr>
          <p:spPr bwMode="auto">
            <a:xfrm>
              <a:off x="6868617" y="5525204"/>
              <a:ext cx="426070" cy="769441"/>
            </a:xfrm>
            <a:prstGeom prst="rect">
              <a:avLst/>
            </a:prstGeom>
            <a:noFill/>
            <a:ln w="38100" cap="flat">
              <a:noFill/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sz="4000" b="1" dirty="0">
                  <a:solidFill>
                    <a:schemeClr val="accent2"/>
                  </a:solidFill>
                  <a:latin typeface="+mj-ea"/>
                  <a:ea typeface="+mj-ea"/>
                  <a:sym typeface="Segoe UI Light" panose="020B0502040204020203" pitchFamily="2" charset="0"/>
                </a:rPr>
                <a:t>5</a:t>
              </a:r>
              <a:endParaRPr lang="zh-CN" altLang="en-US" sz="4000" b="1" dirty="0">
                <a:solidFill>
                  <a:schemeClr val="accent2"/>
                </a:solidFill>
                <a:latin typeface="+mj-ea"/>
                <a:ea typeface="+mj-ea"/>
                <a:sym typeface="Segoe UI Light" panose="020B0502040204020203" pitchFamily="2" charset="0"/>
              </a:endParaRPr>
            </a:p>
          </p:txBody>
        </p:sp>
      </p:grpSp>
      <p:sp>
        <p:nvSpPr>
          <p:cNvPr id="46" name="圆角矩形 65"/>
          <p:cNvSpPr/>
          <p:nvPr/>
        </p:nvSpPr>
        <p:spPr>
          <a:xfrm>
            <a:off x="4370705" y="292735"/>
            <a:ext cx="5130800" cy="62420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Box 4"/>
          <p:cNvSpPr txBox="1"/>
          <p:nvPr/>
        </p:nvSpPr>
        <p:spPr>
          <a:xfrm>
            <a:off x="4298950" y="332105"/>
            <a:ext cx="4984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二、微积分</a:t>
            </a:r>
            <a:r>
              <a:rPr lang="en-US" altLang="zh-CN" sz="2800" dirty="0"/>
              <a:t>BII</a:t>
            </a:r>
            <a:r>
              <a:rPr lang="zh-CN" altLang="en-US" sz="2800" dirty="0"/>
              <a:t>主要内容介绍</a:t>
            </a:r>
            <a:endParaRPr lang="zh-CN" altLang="en-US" sz="28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8" grpId="0" animBg="1"/>
      <p:bldP spid="14" grpId="0" animBg="1"/>
      <p:bldP spid="16" grpId="0" animBg="1"/>
      <p:bldP spid="17" grpId="0" animBg="1"/>
      <p:bldP spid="18" grpId="0"/>
      <p:bldP spid="20" grpId="0"/>
      <p:bldP spid="22" grpId="0"/>
      <p:bldP spid="24" grpId="0"/>
      <p:bldP spid="26" grpId="0"/>
      <p:bldP spid="46" grpId="0" bldLvl="0" animBg="1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圆角矩形 65"/>
          <p:cNvSpPr/>
          <p:nvPr/>
        </p:nvSpPr>
        <p:spPr>
          <a:xfrm>
            <a:off x="3538855" y="187960"/>
            <a:ext cx="3617595" cy="52260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4"/>
          <p:cNvSpPr txBox="1"/>
          <p:nvPr/>
        </p:nvSpPr>
        <p:spPr>
          <a:xfrm>
            <a:off x="3362544" y="188476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sz="2800" dirty="0">
                <a:sym typeface="+mn-ea"/>
              </a:rPr>
              <a:t>多元函数的极限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339090" y="1340485"/>
            <a:ext cx="4269105" cy="935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关于函数极限有三种题型：</a:t>
            </a:r>
            <a:endParaRPr lang="zh-CN" altLang="en-US" sz="3600">
              <a:solidFill>
                <a:schemeClr val="accent1">
                  <a:lumMod val="50000"/>
                </a:schemeClr>
              </a:solidFill>
            </a:endParaRPr>
          </a:p>
          <a:p>
            <a:endParaRPr lang="zh-CN" altLang="en-US" sz="36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0" y="1988820"/>
            <a:ext cx="758825" cy="4519295"/>
          </a:xfrm>
          <a:prstGeom prst="leftBrace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2645" y="1988820"/>
            <a:ext cx="6380480" cy="2747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证明极限存在且为定值（</a:t>
            </a:r>
            <a:r>
              <a:rPr lang="zh-CN" altLang="en-US" sz="2400" b="1">
                <a:solidFill>
                  <a:srgbClr val="EA523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定义</a:t>
            </a:r>
            <a:r>
              <a:rPr lang="zh-CN" altLang="en-US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800">
              <a:solidFill>
                <a:schemeClr val="accent1"/>
              </a:solidFill>
            </a:endParaRPr>
          </a:p>
          <a:p>
            <a:endParaRPr lang="zh-CN" altLang="en-US" sz="2800"/>
          </a:p>
          <a:p>
            <a:endParaRPr lang="zh-CN" altLang="en-US" sz="2800"/>
          </a:p>
          <a:p>
            <a:endParaRPr lang="zh-CN" altLang="en-US" sz="2800"/>
          </a:p>
          <a:p>
            <a:endParaRPr lang="en-US" altLang="zh-CN" sz="2800"/>
          </a:p>
          <a:p>
            <a:r>
              <a:rPr lang="en-US" altLang="zh-CN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求极限（</a:t>
            </a:r>
            <a:r>
              <a:rPr lang="zh-CN" altLang="en-US" sz="2400" b="1">
                <a:solidFill>
                  <a:srgbClr val="EA523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夹挤定理</a:t>
            </a:r>
            <a:r>
              <a:rPr lang="zh-CN" altLang="en-US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、放缩</a:t>
            </a:r>
            <a:r>
              <a:rPr lang="en-US" altLang="zh-CN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...</a:t>
            </a:r>
            <a:r>
              <a:rPr lang="zh-CN" altLang="en-US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800" b="1">
              <a:solidFill>
                <a:schemeClr val="accent1"/>
              </a:solidFill>
            </a:endParaRPr>
          </a:p>
          <a:p>
            <a:r>
              <a:rPr lang="en-US" altLang="zh-CN" sz="2400" b="1">
                <a:solidFill>
                  <a:schemeClr val="accent1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zh-CN" altLang="en-US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证明极限不存在（</a:t>
            </a:r>
            <a:r>
              <a:rPr lang="zh-CN" altLang="en-US" sz="2400" b="1">
                <a:solidFill>
                  <a:srgbClr val="EA523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不同路径</a:t>
            </a:r>
            <a:r>
              <a:rPr lang="zh-CN" altLang="en-US" sz="2400" b="1">
                <a:solidFill>
                  <a:schemeClr val="accent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函数不趋于同一个常数）</a:t>
            </a:r>
            <a:endParaRPr lang="zh-CN" altLang="en-US" sz="2400" b="1">
              <a:solidFill>
                <a:schemeClr val="accent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41975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41975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 descr="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690" y="2564765"/>
            <a:ext cx="8789670" cy="1509395"/>
          </a:xfrm>
          <a:prstGeom prst="rect">
            <a:avLst/>
          </a:prstGeom>
        </p:spPr>
      </p:pic>
      <p:pic>
        <p:nvPicPr>
          <p:cNvPr id="12" name="图片 11" descr="微信图片_2023051800315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98310" y="1268730"/>
            <a:ext cx="5397500" cy="1743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798310" y="836930"/>
            <a:ext cx="2767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多元函数极限</a:t>
            </a:r>
            <a:r>
              <a:rPr lang="zh-CN" altLang="en-US" b="1">
                <a:solidFill>
                  <a:srgbClr val="EA5230"/>
                </a:solidFill>
              </a:rPr>
              <a:t>定义</a:t>
            </a:r>
            <a:endParaRPr lang="zh-CN" altLang="en-US" b="1">
              <a:solidFill>
                <a:srgbClr val="EA523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8763635" y="565785"/>
                <a:ext cx="3637280" cy="639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用来限制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𝑃𝑃𝑜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距离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用来限制函数值与极限距离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635" y="565785"/>
                <a:ext cx="3637280" cy="63944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单圆角矩形 35"/>
          <p:cNvSpPr/>
          <p:nvPr/>
        </p:nvSpPr>
        <p:spPr>
          <a:xfrm>
            <a:off x="5451475" y="3140710"/>
            <a:ext cx="190500" cy="396240"/>
          </a:xfrm>
          <a:prstGeom prst="round1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00000">
                    <a:alpha val="0"/>
                  </a:srgbClr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7" name="图片 36" descr="图片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280" y="4331970"/>
            <a:ext cx="4751070" cy="239395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887730" y="5445125"/>
            <a:ext cx="5668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习题</a:t>
            </a:r>
            <a:r>
              <a:rPr lang="en-US" altLang="zh-CN" sz="2000" b="1"/>
              <a:t>1.2</a:t>
            </a:r>
            <a:r>
              <a:rPr lang="zh-CN" altLang="en-US" sz="2000"/>
              <a:t>（</a:t>
            </a:r>
            <a:r>
              <a:rPr lang="en-US" altLang="zh-CN" sz="2000"/>
              <a:t>A</a:t>
            </a:r>
            <a:r>
              <a:rPr lang="zh-CN" altLang="en-US" sz="2000"/>
              <a:t>）</a:t>
            </a:r>
            <a:r>
              <a:rPr lang="en-US" altLang="zh-CN" sz="2000"/>
              <a:t>1.</a:t>
            </a:r>
            <a:r>
              <a:rPr lang="zh-CN" altLang="en-US" sz="2000">
                <a:solidFill>
                  <a:srgbClr val="FF0000"/>
                </a:solidFill>
              </a:rPr>
              <a:t>（</a:t>
            </a:r>
            <a:r>
              <a:rPr lang="en-US" altLang="zh-CN" sz="2000">
                <a:solidFill>
                  <a:srgbClr val="FF0000"/>
                </a:solidFill>
              </a:rPr>
              <a:t>2</a:t>
            </a:r>
            <a:r>
              <a:rPr lang="zh-CN" altLang="en-US" sz="2000">
                <a:solidFill>
                  <a:srgbClr val="FF0000"/>
                </a:solidFill>
              </a:rPr>
              <a:t>）</a:t>
            </a:r>
            <a:endParaRPr lang="zh-CN" altLang="en-US" sz="2000"/>
          </a:p>
          <a:p>
            <a:r>
              <a:rPr lang="en-US" altLang="zh-CN" sz="2000"/>
              <a:t>            </a:t>
            </a:r>
            <a:r>
              <a:rPr lang="zh-CN" altLang="en-US" sz="2000"/>
              <a:t>（</a:t>
            </a:r>
            <a:r>
              <a:rPr lang="en-US" altLang="zh-CN" sz="2000"/>
              <a:t>B</a:t>
            </a:r>
            <a:r>
              <a:rPr lang="zh-CN" altLang="en-US" sz="2000"/>
              <a:t>）</a:t>
            </a:r>
            <a:r>
              <a:rPr lang="en-US" altLang="zh-CN" sz="2000"/>
              <a:t>1.</a:t>
            </a:r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</a:t>
            </a:r>
            <a:r>
              <a:rPr lang="zh-CN" altLang="en-US" sz="2000">
                <a:solidFill>
                  <a:srgbClr val="FF0000"/>
                </a:solidFill>
              </a:rPr>
              <a:t>（</a:t>
            </a:r>
            <a:r>
              <a:rPr lang="en-US" altLang="zh-CN" sz="2000">
                <a:solidFill>
                  <a:srgbClr val="FF0000"/>
                </a:solidFill>
              </a:rPr>
              <a:t>2</a:t>
            </a:r>
            <a:r>
              <a:rPr lang="zh-CN" altLang="en-US" sz="2000">
                <a:solidFill>
                  <a:srgbClr val="FF0000"/>
                </a:solidFill>
              </a:rPr>
              <a:t>）</a:t>
            </a:r>
            <a:r>
              <a:rPr lang="zh-CN" altLang="en-US" sz="2000"/>
              <a:t>（</a:t>
            </a:r>
            <a:r>
              <a:rPr lang="en-US" altLang="zh-CN" sz="2000"/>
              <a:t>3</a:t>
            </a:r>
            <a:r>
              <a:rPr lang="zh-CN" altLang="en-US" sz="2000"/>
              <a:t>）</a:t>
            </a:r>
            <a:endParaRPr lang="zh-CN" altLang="en-US" sz="2000"/>
          </a:p>
          <a:p>
            <a:r>
              <a:rPr lang="zh-CN" altLang="en-US" sz="2000"/>
              <a:t>其中标红的两道题长相非常相近，注意区分！！其中一道是去年考试题</a:t>
            </a:r>
            <a:r>
              <a:rPr lang="en-US" altLang="zh-CN" sz="2000"/>
              <a:t>~</a:t>
            </a:r>
            <a:endParaRPr lang="en-US" altLang="zh-CN" sz="20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34" grpId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多元函数的连续性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423670" y="1235075"/>
            <a:ext cx="100037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2"/>
                </a:solidFill>
              </a:rPr>
              <a:t>1.</a:t>
            </a:r>
            <a:r>
              <a:rPr lang="zh-CN" altLang="en-US" sz="2000" b="1">
                <a:solidFill>
                  <a:schemeClr val="bg2"/>
                </a:solidFill>
              </a:rPr>
              <a:t>证明函数在某一点连续：在该点极限存在且等于函数值</a:t>
            </a:r>
            <a:endParaRPr lang="zh-CN" altLang="en-US" sz="2000" b="1">
              <a:solidFill>
                <a:schemeClr val="bg2"/>
              </a:solidFill>
            </a:endParaRPr>
          </a:p>
          <a:p>
            <a:endParaRPr lang="zh-CN" altLang="en-US" sz="2000" b="1">
              <a:solidFill>
                <a:schemeClr val="bg2"/>
              </a:solidFill>
            </a:endParaRPr>
          </a:p>
        </p:txBody>
      </p:sp>
      <p:pic>
        <p:nvPicPr>
          <p:cNvPr id="3" name="图片 2" descr="图片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880" y="1772920"/>
            <a:ext cx="8059420" cy="91948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5440045" y="2682875"/>
            <a:ext cx="1163320" cy="0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423670" y="2838450"/>
            <a:ext cx="79533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E57848"/>
                </a:solidFill>
              </a:rPr>
              <a:t>2.</a:t>
            </a:r>
            <a:r>
              <a:rPr lang="zh-CN" altLang="en-US" sz="2000" b="1">
                <a:solidFill>
                  <a:srgbClr val="E57848"/>
                </a:solidFill>
              </a:rPr>
              <a:t>证明函数在某处间断：在该点极限不存在</a:t>
            </a:r>
            <a:endParaRPr lang="zh-CN" altLang="en-US" sz="2000" b="1">
              <a:solidFill>
                <a:srgbClr val="E57848"/>
              </a:solidFill>
            </a:endParaRPr>
          </a:p>
          <a:p>
            <a:r>
              <a:rPr lang="en-US" altLang="zh-CN" sz="2000" b="1">
                <a:solidFill>
                  <a:srgbClr val="E57848"/>
                </a:solidFill>
              </a:rPr>
              <a:t>3.</a:t>
            </a:r>
            <a:r>
              <a:rPr lang="zh-CN" altLang="en-US" sz="2000" b="1">
                <a:solidFill>
                  <a:srgbClr val="E57848"/>
                </a:solidFill>
              </a:rPr>
              <a:t>单变量的连续性</a:t>
            </a:r>
            <a:endParaRPr lang="zh-CN" altLang="en-US" sz="2000" b="1">
              <a:solidFill>
                <a:srgbClr val="E57848"/>
              </a:solidFill>
            </a:endParaRPr>
          </a:p>
          <a:p>
            <a:endParaRPr lang="zh-CN" altLang="en-US" sz="2000" b="1">
              <a:solidFill>
                <a:srgbClr val="E57848"/>
              </a:solidFill>
            </a:endParaRPr>
          </a:p>
        </p:txBody>
      </p:sp>
      <p:pic>
        <p:nvPicPr>
          <p:cNvPr id="6" name="图片 5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505" y="3534410"/>
            <a:ext cx="8471535" cy="853440"/>
          </a:xfrm>
          <a:prstGeom prst="rect">
            <a:avLst/>
          </a:prstGeom>
        </p:spPr>
      </p:pic>
      <p:pic>
        <p:nvPicPr>
          <p:cNvPr id="7" name="图片 6" descr="图片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010" y="3993515"/>
            <a:ext cx="7308850" cy="356870"/>
          </a:xfrm>
          <a:prstGeom prst="rect">
            <a:avLst/>
          </a:prstGeom>
        </p:spPr>
      </p:pic>
      <p:pic>
        <p:nvPicPr>
          <p:cNvPr id="9" name="图片 8" descr="图片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755" y="4583430"/>
            <a:ext cx="8460105" cy="7893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23670" y="5517515"/>
            <a:ext cx="91567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E57848"/>
                </a:solidFill>
              </a:rPr>
              <a:t>4.</a:t>
            </a:r>
            <a:r>
              <a:rPr lang="zh-CN" altLang="en-US" sz="2000" b="1">
                <a:solidFill>
                  <a:srgbClr val="E57848"/>
                </a:solidFill>
              </a:rPr>
              <a:t>连续函数的</a:t>
            </a:r>
            <a:r>
              <a:rPr lang="en-US" altLang="zh-CN" sz="2000" b="1">
                <a:solidFill>
                  <a:srgbClr val="E57848"/>
                </a:solidFill>
              </a:rPr>
              <a:t>4</a:t>
            </a:r>
            <a:r>
              <a:rPr lang="zh-CN" altLang="en-US" sz="2000" b="1">
                <a:solidFill>
                  <a:srgbClr val="E57848"/>
                </a:solidFill>
              </a:rPr>
              <a:t>个性质</a:t>
            </a:r>
            <a:endParaRPr lang="zh-CN" altLang="en-US" sz="2000" b="1">
              <a:solidFill>
                <a:srgbClr val="E57848"/>
              </a:solidFill>
            </a:endParaRPr>
          </a:p>
        </p:txBody>
      </p:sp>
      <p:pic>
        <p:nvPicPr>
          <p:cNvPr id="8" name="图片 7" descr="微信图片_202305200015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00000">
            <a:off x="9782810" y="4570095"/>
            <a:ext cx="1962150" cy="201485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39" grpId="0" animBg="1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多元函数的微分学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316355" y="1222375"/>
            <a:ext cx="59639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</a:t>
            </a:r>
            <a:r>
              <a:rPr lang="zh-CN" altLang="en-US" sz="2400" b="1"/>
              <a:t>偏导数定义</a:t>
            </a:r>
            <a:r>
              <a:rPr lang="zh-CN" altLang="en-US" sz="2000" b="1">
                <a:solidFill>
                  <a:srgbClr val="E57848"/>
                </a:solidFill>
              </a:rPr>
              <a:t>（应用不多，但复杂形式考虑定义）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3" name="图片 2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590" y="1652270"/>
            <a:ext cx="8081645" cy="22809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10005" y="3933190"/>
            <a:ext cx="6929120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2.</a:t>
            </a:r>
            <a:r>
              <a:rPr lang="zh-CN" altLang="en-US" sz="2400" b="1"/>
              <a:t>偏导数计算式</a:t>
            </a:r>
            <a:r>
              <a:rPr lang="zh-CN" altLang="en-US" sz="2000" b="1">
                <a:solidFill>
                  <a:srgbClr val="E57848"/>
                </a:solidFill>
              </a:rPr>
              <a:t>（常用且必考）</a:t>
            </a:r>
            <a:endParaRPr lang="zh-CN" altLang="en-US" sz="2000" b="1">
              <a:solidFill>
                <a:srgbClr val="E57848"/>
              </a:solidFill>
            </a:endParaRPr>
          </a:p>
          <a:p>
            <a:endParaRPr lang="zh-CN" altLang="en-US">
              <a:solidFill>
                <a:srgbClr val="E57848"/>
              </a:solidFill>
            </a:endParaRPr>
          </a:p>
          <a:p>
            <a:endParaRPr lang="zh-CN" altLang="en-US">
              <a:solidFill>
                <a:srgbClr val="E57848"/>
              </a:solidFill>
            </a:endParaRPr>
          </a:p>
          <a:p>
            <a:endParaRPr lang="zh-CN" altLang="en-US">
              <a:solidFill>
                <a:srgbClr val="E57848"/>
              </a:solidFill>
            </a:endParaRPr>
          </a:p>
          <a:p>
            <a:endParaRPr lang="zh-CN" altLang="en-US">
              <a:solidFill>
                <a:srgbClr val="E57848"/>
              </a:solidFill>
            </a:endParaRPr>
          </a:p>
          <a:p>
            <a:endParaRPr lang="zh-CN" altLang="en-US"/>
          </a:p>
          <a:p>
            <a:r>
              <a:rPr lang="zh-CN" altLang="en-US"/>
              <a:t>不论是高阶偏导数、全微分、方向导数、梯度、切线、切平面、法线、法平面、旋度</a:t>
            </a:r>
            <a:r>
              <a:rPr lang="en-US" altLang="zh-CN"/>
              <a:t>......</a:t>
            </a:r>
            <a:r>
              <a:rPr lang="zh-CN" altLang="en-US"/>
              <a:t>都要用到偏导数的知识，每个人必会！！</a:t>
            </a:r>
            <a:endParaRPr lang="zh-CN" altLang="en-US"/>
          </a:p>
          <a:p>
            <a:r>
              <a:rPr lang="zh-CN" altLang="en-US" sz="2400" b="1">
                <a:solidFill>
                  <a:srgbClr val="FF0000"/>
                </a:solidFill>
              </a:rPr>
              <a:t>多练，求偏导是基础！！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5" name="图片 4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35" y="4364990"/>
            <a:ext cx="6226810" cy="1021080"/>
          </a:xfrm>
          <a:prstGeom prst="rect">
            <a:avLst/>
          </a:prstGeom>
        </p:spPr>
      </p:pic>
      <p:pic>
        <p:nvPicPr>
          <p:cNvPr id="6" name="图片 5" descr="微信图片_202305200015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0">
            <a:off x="9177020" y="4189095"/>
            <a:ext cx="2259330" cy="2115820"/>
          </a:xfrm>
          <a:prstGeom prst="rect">
            <a:avLst/>
          </a:prstGeom>
        </p:spPr>
      </p:pic>
      <p:pic>
        <p:nvPicPr>
          <p:cNvPr id="7" name="图片 6" descr="微信图片_202305200015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520000">
            <a:off x="9689465" y="1064895"/>
            <a:ext cx="2122170" cy="210883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多元函数的微分学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316355" y="1222375"/>
            <a:ext cx="9279890" cy="1045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3.</a:t>
            </a:r>
            <a:r>
              <a:rPr lang="zh-CN" altLang="en-US" sz="2400" b="1"/>
              <a:t>偏导数的几何意义</a:t>
            </a:r>
            <a:r>
              <a:rPr lang="zh-CN" altLang="en-US" sz="2000" b="1"/>
              <a:t>（作为一道题中一个</a:t>
            </a:r>
            <a:r>
              <a:rPr lang="zh-CN" altLang="en-US" sz="2000" b="1">
                <a:solidFill>
                  <a:srgbClr val="FF0000"/>
                </a:solidFill>
              </a:rPr>
              <a:t>小知识点</a:t>
            </a:r>
            <a:r>
              <a:rPr lang="zh-CN" altLang="en-US" sz="2000" b="1"/>
              <a:t>出现，不知道的话此题无解）</a:t>
            </a:r>
            <a:endParaRPr lang="zh-CN" altLang="en-US" sz="2000" b="1"/>
          </a:p>
          <a:p>
            <a:endParaRPr lang="zh-CN" altLang="en-US" b="1"/>
          </a:p>
          <a:p>
            <a:r>
              <a:rPr lang="zh-CN" altLang="en-US" sz="2000"/>
              <a:t>下面以在</a:t>
            </a:r>
            <a:r>
              <a:rPr lang="en-US" altLang="zh-CN" sz="2000"/>
              <a:t>Mo</a:t>
            </a:r>
            <a:r>
              <a:rPr lang="zh-CN" altLang="en-US" sz="2000"/>
              <a:t>点关于</a:t>
            </a:r>
            <a:r>
              <a:rPr lang="en-US" altLang="zh-CN" sz="2000"/>
              <a:t>x</a:t>
            </a:r>
            <a:r>
              <a:rPr lang="zh-CN" altLang="en-US" sz="2000"/>
              <a:t>的偏导数为例，要知道几何意义和切向量表达式</a:t>
            </a:r>
            <a:endParaRPr lang="zh-CN" altLang="en-US" sz="2000"/>
          </a:p>
        </p:txBody>
      </p:sp>
      <p:sp>
        <p:nvSpPr>
          <p:cNvPr id="6" name="闪电形 5"/>
          <p:cNvSpPr/>
          <p:nvPr/>
        </p:nvSpPr>
        <p:spPr>
          <a:xfrm>
            <a:off x="10164445" y="1052830"/>
            <a:ext cx="431800" cy="429895"/>
          </a:xfrm>
          <a:prstGeom prst="lightningBolt">
            <a:avLst/>
          </a:prstGeom>
          <a:solidFill>
            <a:srgbClr val="FFFF00"/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图片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590" y="2420620"/>
            <a:ext cx="8049260" cy="2743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09320" y="5436870"/>
            <a:ext cx="106622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19D39"/>
                </a:solidFill>
                <a:latin typeface="Franklin Gothic Medium" panose="020B0603020102020204" charset="0"/>
              </a:rPr>
              <a:t>因为时间关系，无法详细去讲，大家知道哪里需要掌握，回去自己按模块具体的学习！！</a:t>
            </a:r>
            <a:endParaRPr lang="zh-CN" altLang="en-US" sz="2000" b="1">
              <a:solidFill>
                <a:srgbClr val="F19D39"/>
              </a:solidFill>
              <a:latin typeface="Franklin Gothic Medium" panose="020B060302010202020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多元函数的微分学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42645" y="1279525"/>
                <a:ext cx="10460355" cy="107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4.</a:t>
                </a:r>
                <a:r>
                  <a:rPr lang="zh-CN" altLang="en-US" sz="2400" b="1"/>
                  <a:t>高阶偏导数</a:t>
                </a:r>
                <a:endParaRPr lang="zh-CN" altLang="en-US" sz="1800" b="1"/>
              </a:p>
              <a:p>
                <a:r>
                  <a:rPr lang="zh-CN" sz="2000"/>
                  <a:t>求高阶偏导数时我们只需把所求出的低阶偏导数当做函数计算即可</a:t>
                </a:r>
                <a:endParaRPr lang="zh-CN" sz="2000"/>
              </a:p>
              <a:p>
                <a:r>
                  <a:rPr lang="zh-CN" sz="2000"/>
                  <a:t>注意：二元函数的</a:t>
                </a:r>
                <a:r>
                  <a:rPr lang="en-US" altLang="zh-CN" sz="2000"/>
                  <a:t>n</a:t>
                </a:r>
                <a:r>
                  <a:rPr lang="zh-CN" altLang="en-US" sz="2000"/>
                  <a:t>阶偏导数共有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个</a:t>
                </a:r>
                <a:endParaRPr lang="zh-CN" altLang="en-US" sz="20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" y="1279525"/>
                <a:ext cx="10460355" cy="10763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片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63470"/>
            <a:ext cx="10674350" cy="1621790"/>
          </a:xfrm>
          <a:prstGeom prst="rect">
            <a:avLst/>
          </a:prstGeom>
        </p:spPr>
      </p:pic>
      <p:pic>
        <p:nvPicPr>
          <p:cNvPr id="5" name="图片 4" descr="图片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077335"/>
            <a:ext cx="8124190" cy="16668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8500" y="5888355"/>
            <a:ext cx="100082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掌握是否记牢公式用</a:t>
            </a:r>
            <a:r>
              <a:rPr lang="zh-CN" altLang="en-US" sz="2000">
                <a:solidFill>
                  <a:srgbClr val="EA5230"/>
                </a:solidFill>
              </a:rPr>
              <a:t>例</a:t>
            </a:r>
            <a:r>
              <a:rPr lang="en-US" altLang="zh-CN" sz="2000">
                <a:solidFill>
                  <a:srgbClr val="EA5230"/>
                </a:solidFill>
              </a:rPr>
              <a:t>1.4</a:t>
            </a:r>
            <a:r>
              <a:rPr lang="zh-CN" altLang="en-US" sz="2000"/>
              <a:t>检验一下</a:t>
            </a:r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对于复杂高阶偏导数无法层层求导的情况下要把思路转回定义，有能力的同学看</a:t>
            </a:r>
            <a:r>
              <a:rPr lang="zh-CN" altLang="en-US" sz="2000">
                <a:solidFill>
                  <a:srgbClr val="EA5230"/>
                </a:solidFill>
              </a:rPr>
              <a:t>例</a:t>
            </a:r>
            <a:r>
              <a:rPr lang="en-US" altLang="zh-CN" sz="2000">
                <a:solidFill>
                  <a:srgbClr val="EA5230"/>
                </a:solidFill>
              </a:rPr>
              <a:t>1.5</a:t>
            </a:r>
            <a:endParaRPr lang="en-US" altLang="zh-CN" sz="2000">
              <a:solidFill>
                <a:srgbClr val="EA5230"/>
              </a:solidFill>
            </a:endParaRPr>
          </a:p>
        </p:txBody>
      </p:sp>
      <p:pic>
        <p:nvPicPr>
          <p:cNvPr id="4" name="图片 3" descr="微信图片_202305201049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680" y="189230"/>
            <a:ext cx="1776730" cy="17767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411335" y="1988820"/>
            <a:ext cx="2295525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泰酷辣！！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多元函数的微分学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698500" y="5888355"/>
            <a:ext cx="100082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>
              <a:solidFill>
                <a:srgbClr val="EA5230"/>
              </a:solidFill>
            </a:endParaRPr>
          </a:p>
        </p:txBody>
      </p:sp>
      <p:pic>
        <p:nvPicPr>
          <p:cNvPr id="4" name="图片 3" descr="图片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545" y="2925445"/>
            <a:ext cx="9064625" cy="14630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70305" y="1556385"/>
            <a:ext cx="10429240" cy="1032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  <a:p>
            <a:r>
              <a:rPr lang="zh-CN" altLang="en-US" sz="2400" b="1"/>
              <a:t>一般来说，函数的二阶偏导先对</a:t>
            </a:r>
            <a:r>
              <a:rPr lang="en-US" altLang="zh-CN" sz="2400" b="1"/>
              <a:t>x</a:t>
            </a:r>
            <a:r>
              <a:rPr lang="zh-CN" altLang="en-US" sz="2400" b="1"/>
              <a:t>和求偏导和先对</a:t>
            </a:r>
            <a:r>
              <a:rPr lang="en-US" altLang="zh-CN" sz="2400" b="1"/>
              <a:t>y</a:t>
            </a:r>
            <a:r>
              <a:rPr lang="zh-CN" altLang="en-US" sz="2400" b="1"/>
              <a:t>求偏导结果是不同的</a:t>
            </a:r>
            <a:endParaRPr lang="zh-CN" altLang="en-US" sz="2400" b="1"/>
          </a:p>
          <a:p>
            <a:r>
              <a:rPr lang="zh-CN" altLang="en-US" sz="2400" b="1"/>
              <a:t>下面情况特殊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02690" y="4725035"/>
            <a:ext cx="8008620" cy="1419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习题</a:t>
            </a:r>
            <a:r>
              <a:rPr lang="en-US" altLang="zh-CN" sz="2400" b="1"/>
              <a:t>2.1</a:t>
            </a:r>
            <a:r>
              <a:rPr lang="zh-CN" altLang="en-US" sz="2400" b="1"/>
              <a:t>（</a:t>
            </a:r>
            <a:r>
              <a:rPr lang="en-US" altLang="zh-CN" sz="2400" b="1"/>
              <a:t>B</a:t>
            </a:r>
            <a:r>
              <a:rPr lang="zh-CN" altLang="en-US" sz="2400" b="1"/>
              <a:t>）</a:t>
            </a:r>
            <a:r>
              <a:rPr lang="en-US" altLang="zh-CN" sz="2400" b="1"/>
              <a:t>.2    </a:t>
            </a:r>
            <a:r>
              <a:rPr lang="zh-CN" altLang="en-US" sz="2400" b="1"/>
              <a:t>用</a:t>
            </a:r>
            <a:r>
              <a:rPr lang="zh-CN" altLang="en-US" sz="2400" b="1">
                <a:solidFill>
                  <a:srgbClr val="EA5230"/>
                </a:solidFill>
              </a:rPr>
              <a:t>定义</a:t>
            </a:r>
            <a:r>
              <a:rPr lang="zh-CN" altLang="en-US" sz="2400" b="1"/>
              <a:t>证明连续、可偏导</a:t>
            </a:r>
            <a:endParaRPr lang="zh-CN" altLang="en-US" sz="2400" b="1"/>
          </a:p>
          <a:p>
            <a:r>
              <a:rPr lang="zh-CN" altLang="en-US" sz="2400" b="1"/>
              <a:t> </a:t>
            </a:r>
            <a:r>
              <a:rPr lang="en-US" altLang="zh-CN" sz="2400" b="1"/>
              <a:t>                          </a:t>
            </a:r>
            <a:r>
              <a:rPr lang="zh-CN" altLang="en-US" sz="2400" b="1"/>
              <a:t>（此题型</a:t>
            </a:r>
            <a:r>
              <a:rPr lang="zh-CN" altLang="en-US" sz="2400" b="1">
                <a:solidFill>
                  <a:srgbClr val="EA5230"/>
                </a:solidFill>
              </a:rPr>
              <a:t>必考</a:t>
            </a:r>
            <a:r>
              <a:rPr lang="en-US" altLang="zh-CN" sz="2400" b="1">
                <a:solidFill>
                  <a:srgbClr val="EA5230"/>
                </a:solidFill>
              </a:rPr>
              <a:t> </a:t>
            </a:r>
            <a:r>
              <a:rPr lang="zh-CN" altLang="en-US" sz="2400" b="1"/>
              <a:t>可能是独立的大题或选填）</a:t>
            </a:r>
            <a:endParaRPr lang="zh-CN" altLang="en-US" sz="2400" b="1"/>
          </a:p>
        </p:txBody>
      </p:sp>
      <p:pic>
        <p:nvPicPr>
          <p:cNvPr id="2" name="图片 1" descr="微信图片_20230520105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725" y="4149090"/>
            <a:ext cx="2730500" cy="27305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多元函数的微分学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79525"/>
            <a:ext cx="10460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5.</a:t>
            </a:r>
            <a:r>
              <a:rPr lang="zh-CN" sz="2400" b="1"/>
              <a:t>全微分（</a:t>
            </a:r>
            <a:r>
              <a:rPr lang="zh-CN" sz="2400" b="1">
                <a:solidFill>
                  <a:srgbClr val="EA5230"/>
                </a:solidFill>
              </a:rPr>
              <a:t>必考</a:t>
            </a:r>
            <a:r>
              <a:rPr lang="zh-CN" sz="2400" b="1"/>
              <a:t>）</a:t>
            </a:r>
            <a:endParaRPr lang="zh-CN" sz="2400" b="1"/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8500" y="5888355"/>
            <a:ext cx="100082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>
              <a:solidFill>
                <a:srgbClr val="EA523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02005" y="1913255"/>
                <a:ext cx="9041765" cy="490283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1.</a:t>
                </a:r>
                <a:r>
                  <a:rPr lang="zh-CN" altLang="en-US"/>
                  <a:t>全微分计算公式：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𝑑𝑧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𝑑𝑥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𝑑𝑦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/>
                  <a:t>2.</a:t>
                </a:r>
                <a:r>
                  <a:rPr lang="zh-CN" altLang="en-US"/>
                  <a:t>求全微分</a:t>
                </a:r>
                <a:r>
                  <a:rPr lang="en-US" altLang="zh-CN"/>
                  <a:t>     1.</a:t>
                </a:r>
                <a:r>
                  <a:rPr lang="zh-CN" altLang="en-US"/>
                  <a:t>分别求关于</a:t>
                </a:r>
                <a:r>
                  <a:rPr lang="en-US" altLang="zh-CN"/>
                  <a:t>x,y</a:t>
                </a:r>
                <a:r>
                  <a:rPr lang="zh-CN" altLang="en-US"/>
                  <a:t>的偏导</a:t>
                </a:r>
                <a:r>
                  <a:rPr lang="zh-CN" altLang="en-US"/>
                  <a:t>数</a:t>
                </a:r>
                <a:endParaRPr lang="zh-CN" altLang="en-US"/>
              </a:p>
              <a:p>
                <a:r>
                  <a:rPr lang="en-US" altLang="zh-CN"/>
                  <a:t>                    </a:t>
                </a:r>
                <a:endParaRPr lang="en-US" altLang="zh-CN"/>
              </a:p>
              <a:p>
                <a:r>
                  <a:rPr lang="en-US" altLang="zh-CN"/>
                  <a:t>                     2.</a:t>
                </a:r>
                <a:r>
                  <a:rPr lang="zh-CN" altLang="en-US"/>
                  <a:t>代入</a:t>
                </a:r>
                <a:r>
                  <a:rPr lang="zh-CN" altLang="en-US"/>
                  <a:t>表达式</a:t>
                </a:r>
                <a:endParaRPr lang="zh-CN" altLang="en-US"/>
              </a:p>
              <a:p>
                <a:endParaRPr lang="zh-CN" altLang="en-US"/>
              </a:p>
              <a:p>
                <a:r>
                  <a:rPr lang="en-US" altLang="zh-CN"/>
                  <a:t>3.</a:t>
                </a:r>
                <a:r>
                  <a:rPr lang="zh-CN" altLang="en-US"/>
                  <a:t>可微的必要条件：可微一定可偏导，一定连续；反之：连续可偏导未必</a:t>
                </a:r>
                <a:r>
                  <a:rPr lang="zh-CN" altLang="en-US"/>
                  <a:t>可微；</a:t>
                </a:r>
                <a:endParaRPr lang="zh-CN" altLang="en-US"/>
              </a:p>
              <a:p>
                <a:r>
                  <a:rPr lang="en-US" altLang="zh-CN"/>
                  <a:t>   </a:t>
                </a:r>
                <a:r>
                  <a:rPr lang="zh-CN" altLang="en-US"/>
                  <a:t>可微</a:t>
                </a:r>
                <a:r>
                  <a:rPr lang="zh-CN" altLang="en-US"/>
                  <a:t>的充分条件：在某点可偏导，偏导数连续在该点</a:t>
                </a:r>
                <a:r>
                  <a:rPr lang="zh-CN" altLang="en-US"/>
                  <a:t>可微</a:t>
                </a:r>
                <a:endParaRPr lang="zh-CN" altLang="en-US"/>
              </a:p>
              <a:p>
                <a:r>
                  <a:rPr lang="en-US" altLang="zh-CN"/>
                  <a:t>4.</a:t>
                </a:r>
                <a:r>
                  <a:rPr lang="zh-CN" altLang="en-US"/>
                  <a:t>如何判断在一点</a:t>
                </a:r>
                <a:r>
                  <a:rPr lang="zh-CN" altLang="en-US"/>
                  <a:t>是否可微：</a:t>
                </a:r>
                <a:endParaRPr lang="zh-CN" altLang="en-US"/>
              </a:p>
              <a:p>
                <a:endParaRPr lang="zh-CN" altLang="en-US"/>
              </a:p>
              <a:p>
                <a:endParaRPr lang="zh-CN" altLang="en-US"/>
              </a:p>
              <a:p>
                <a:endParaRPr lang="zh-CN" altLang="en-US"/>
              </a:p>
              <a:p>
                <a:endParaRPr lang="zh-CN" altLang="en-US"/>
              </a:p>
              <a:p>
                <a:endParaRPr lang="zh-CN" altLang="en-US"/>
              </a:p>
              <a:p>
                <a:endParaRPr lang="zh-CN" altLang="en-US"/>
              </a:p>
              <a:p>
                <a:r>
                  <a:rPr lang="zh-CN" altLang="en-US"/>
                  <a:t>习题</a:t>
                </a:r>
                <a:r>
                  <a:rPr lang="en-US" altLang="zh-CN"/>
                  <a:t>2.2</a:t>
                </a:r>
                <a:r>
                  <a:rPr lang="zh-CN" altLang="en-US">
                    <a:solidFill>
                      <a:srgbClr val="FF0000"/>
                    </a:solidFill>
                  </a:rPr>
                  <a:t>（</a:t>
                </a:r>
                <a:r>
                  <a:rPr lang="en-US" altLang="zh-CN">
                    <a:solidFill>
                      <a:srgbClr val="FF0000"/>
                    </a:solidFill>
                  </a:rPr>
                  <a:t>A</a:t>
                </a:r>
                <a:r>
                  <a:rPr lang="zh-CN" altLang="en-US">
                    <a:solidFill>
                      <a:srgbClr val="FF0000"/>
                    </a:solidFill>
                  </a:rPr>
                  <a:t>）</a:t>
                </a:r>
                <a:r>
                  <a:rPr lang="en-US" altLang="zh-CN">
                    <a:solidFill>
                      <a:srgbClr val="FF0000"/>
                    </a:solidFill>
                  </a:rPr>
                  <a:t>3.</a:t>
                </a:r>
                <a:r>
                  <a:rPr lang="en-US" altLang="zh-CN"/>
                  <a:t>  </a:t>
                </a:r>
                <a:r>
                  <a:rPr lang="zh-CN" altLang="en-US">
                    <a:solidFill>
                      <a:srgbClr val="FF0000"/>
                    </a:solidFill>
                  </a:rPr>
                  <a:t>（</a:t>
                </a:r>
                <a:r>
                  <a:rPr lang="en-US" altLang="zh-CN">
                    <a:solidFill>
                      <a:srgbClr val="FF0000"/>
                    </a:solidFill>
                  </a:rPr>
                  <a:t>B</a:t>
                </a:r>
                <a:r>
                  <a:rPr lang="zh-CN" altLang="en-US">
                    <a:solidFill>
                      <a:srgbClr val="FF0000"/>
                    </a:solidFill>
                  </a:rPr>
                  <a:t>）</a:t>
                </a:r>
                <a:r>
                  <a:rPr lang="en-US" altLang="zh-CN">
                    <a:solidFill>
                      <a:srgbClr val="FF0000"/>
                    </a:solidFill>
                  </a:rPr>
                  <a:t>1.</a:t>
                </a:r>
                <a:endParaRPr lang="zh-CN" altLang="en-US">
                  <a:solidFill>
                    <a:srgbClr val="FF0000"/>
                  </a:solidFill>
                </a:endParaRPr>
              </a:p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05" y="1913255"/>
                <a:ext cx="9041765" cy="49028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左大括号 5"/>
          <p:cNvSpPr/>
          <p:nvPr/>
        </p:nvSpPr>
        <p:spPr>
          <a:xfrm>
            <a:off x="1851025" y="2483485"/>
            <a:ext cx="270510" cy="894080"/>
          </a:xfrm>
          <a:prstGeom prst="leftBrac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80890"/>
            <a:ext cx="5184775" cy="1454150"/>
          </a:xfrm>
          <a:prstGeom prst="rect">
            <a:avLst/>
          </a:prstGeom>
        </p:spPr>
      </p:pic>
      <p:pic>
        <p:nvPicPr>
          <p:cNvPr id="5" name="图片 4" descr="图片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510" y="1278890"/>
            <a:ext cx="5090795" cy="2133600"/>
          </a:xfrm>
          <a:prstGeom prst="rect">
            <a:avLst/>
          </a:prstGeom>
        </p:spPr>
      </p:pic>
      <p:pic>
        <p:nvPicPr>
          <p:cNvPr id="9" name="图片 8" descr="微信图片_202305200015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40000">
            <a:off x="8599805" y="3862070"/>
            <a:ext cx="2663190" cy="26631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多元函数的微分学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914400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6.</a:t>
            </a:r>
            <a:r>
              <a:rPr lang="zh-CN" altLang="en-US" sz="2400" b="1"/>
              <a:t>复合函数微分法</a:t>
            </a:r>
            <a:r>
              <a:rPr lang="zh-CN" sz="2400" b="1"/>
              <a:t>（</a:t>
            </a:r>
            <a:r>
              <a:rPr lang="zh-CN" sz="2400" b="1">
                <a:solidFill>
                  <a:srgbClr val="EA5230"/>
                </a:solidFill>
              </a:rPr>
              <a:t>必考</a:t>
            </a:r>
            <a:r>
              <a:rPr lang="zh-CN" sz="2400" b="1"/>
              <a:t>）</a:t>
            </a:r>
            <a:endParaRPr lang="zh-CN" sz="2400" b="1"/>
          </a:p>
          <a:p>
            <a:r>
              <a:rPr lang="zh-CN" sz="2000">
                <a:solidFill>
                  <a:srgbClr val="004052"/>
                </a:solidFill>
              </a:rPr>
              <a:t>方法：（</a:t>
            </a:r>
            <a:r>
              <a:rPr lang="en-US" altLang="zh-CN" sz="2000">
                <a:solidFill>
                  <a:srgbClr val="004052"/>
                </a:solidFill>
              </a:rPr>
              <a:t>1</a:t>
            </a:r>
            <a:r>
              <a:rPr lang="zh-CN" sz="2000">
                <a:solidFill>
                  <a:srgbClr val="004052"/>
                </a:solidFill>
              </a:rPr>
              <a:t>）链法则</a:t>
            </a:r>
            <a:r>
              <a:rPr lang="en-US" altLang="zh-CN" sz="2000">
                <a:solidFill>
                  <a:srgbClr val="004052"/>
                </a:solidFill>
              </a:rPr>
              <a:t> </a:t>
            </a:r>
            <a:r>
              <a:rPr lang="zh-CN" altLang="en-US" sz="2000">
                <a:solidFill>
                  <a:srgbClr val="004052"/>
                </a:solidFill>
              </a:rPr>
              <a:t>（</a:t>
            </a:r>
            <a:r>
              <a:rPr lang="en-US" altLang="zh-CN" sz="2000">
                <a:solidFill>
                  <a:srgbClr val="004052"/>
                </a:solidFill>
              </a:rPr>
              <a:t>2</a:t>
            </a:r>
            <a:r>
              <a:rPr lang="zh-CN" altLang="en-US" sz="2000">
                <a:solidFill>
                  <a:srgbClr val="004052"/>
                </a:solidFill>
              </a:rPr>
              <a:t>）一阶微分形式不变性（高阶没有形式不变性）</a:t>
            </a:r>
            <a:endParaRPr lang="zh-CN" altLang="en-US" sz="2000">
              <a:solidFill>
                <a:srgbClr val="004052"/>
              </a:solidFill>
            </a:endParaRPr>
          </a:p>
          <a:p>
            <a:endParaRPr lang="zh-CN" altLang="en-US" sz="2000" b="1"/>
          </a:p>
          <a:p>
            <a:r>
              <a:rPr lang="zh-CN" sz="2000" b="1"/>
              <a:t>链法则：</a:t>
            </a:r>
            <a:endParaRPr lang="zh-CN" sz="2000" b="1"/>
          </a:p>
          <a:p>
            <a:endParaRPr lang="zh-CN" altLang="en-US" sz="20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8500" y="5888355"/>
            <a:ext cx="100082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>
              <a:solidFill>
                <a:srgbClr val="EA523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4400" y="1913255"/>
            <a:ext cx="9041765" cy="4902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 descr="图片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790" y="2731135"/>
            <a:ext cx="4728845" cy="23761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pic>
        <p:nvPicPr>
          <p:cNvPr id="15" name="图片 14" descr="微信图片_202305181805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510" y="2708910"/>
            <a:ext cx="2260600" cy="231902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树状图（</a:t>
            </a:r>
            <a:r>
              <a:rPr lang="zh-CN" altLang="en-US" sz="2000" b="1">
                <a:solidFill>
                  <a:srgbClr val="FF0000"/>
                </a:solidFill>
              </a:rPr>
              <a:t>前后相乘，分叉相加</a:t>
            </a:r>
            <a:r>
              <a:rPr lang="zh-CN" altLang="en-US" sz="2000" b="1"/>
              <a:t>）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86790" y="5222240"/>
            <a:ext cx="7841615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一阶微分形式不变性（</a:t>
            </a:r>
            <a:r>
              <a:rPr lang="zh-CN" altLang="en-US" sz="2000" b="1">
                <a:solidFill>
                  <a:srgbClr val="FF0000"/>
                </a:solidFill>
              </a:rPr>
              <a:t>逐层表示，向下求解</a:t>
            </a:r>
            <a:r>
              <a:rPr lang="zh-CN" altLang="en-US" sz="2000" b="1"/>
              <a:t>）</a:t>
            </a:r>
            <a:endParaRPr lang="zh-CN" altLang="en-US" sz="2000" b="1"/>
          </a:p>
          <a:p>
            <a:r>
              <a:rPr lang="zh-CN" altLang="en-US" sz="2000"/>
              <a:t>三个公式</a:t>
            </a:r>
            <a:r>
              <a:rPr lang="zh-CN" altLang="en-US"/>
              <a:t>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8" name="图片 17" descr="图片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970" y="5589270"/>
            <a:ext cx="5337810" cy="10287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多元函数的微分学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914400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/>
              <a:t>7.</a:t>
            </a:r>
            <a:r>
              <a:rPr lang="zh-CN" altLang="en-US" sz="2400" b="1"/>
              <a:t>隐函数求导法（去年考了一道</a:t>
            </a:r>
            <a:r>
              <a:rPr lang="zh-CN" altLang="en-US" sz="2400" b="1">
                <a:solidFill>
                  <a:srgbClr val="FF0000"/>
                </a:solidFill>
              </a:rPr>
              <a:t>隐函数求偏导</a:t>
            </a:r>
            <a:r>
              <a:rPr lang="zh-CN" altLang="en-US" sz="2400" b="1"/>
              <a:t>的</a:t>
            </a:r>
            <a:r>
              <a:rPr lang="zh-CN" altLang="en-US" sz="2400" b="1"/>
              <a:t>大题）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000" b="1">
                <a:latin typeface="Cambria Math" panose="02040503050406030204" charset="0"/>
                <a:cs typeface="Cambria Math" panose="02040503050406030204" charset="0"/>
              </a:rPr>
              <a:t>抽象！！特别多公式，但可以</a:t>
            </a:r>
            <a:r>
              <a:rPr lang="zh-CN" altLang="en-US" sz="2000" b="1">
                <a:latin typeface="Cambria Math" panose="02040503050406030204" charset="0"/>
                <a:cs typeface="Cambria Math" panose="02040503050406030204" charset="0"/>
              </a:rPr>
              <a:t>不都掌握，可用其他方法</a:t>
            </a:r>
            <a:r>
              <a:rPr lang="zh-CN" altLang="en-US" sz="2000" b="1">
                <a:latin typeface="Cambria Math" panose="02040503050406030204" charset="0"/>
                <a:cs typeface="Cambria Math" panose="02040503050406030204" charset="0"/>
              </a:rPr>
              <a:t>求解</a:t>
            </a:r>
            <a:endParaRPr lang="zh-CN" altLang="en-US" sz="20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8500" y="5888355"/>
            <a:ext cx="100082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>
              <a:solidFill>
                <a:srgbClr val="EA523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3" name="图片 2" descr="图片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545" y="2420620"/>
            <a:ext cx="5810250" cy="8572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02690" y="3357245"/>
            <a:ext cx="76955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）隐函数公式求导法</a:t>
            </a:r>
            <a:endParaRPr lang="zh-CN" altLang="en-US" sz="2400"/>
          </a:p>
          <a:p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）复合函数求导法</a:t>
            </a:r>
            <a:endParaRPr lang="zh-CN" altLang="en-US" sz="2400"/>
          </a:p>
          <a:p>
            <a:r>
              <a:rPr lang="zh-CN" altLang="en-US" sz="2400">
                <a:solidFill>
                  <a:srgbClr val="EA5230"/>
                </a:solidFill>
              </a:rPr>
              <a:t>思路</a:t>
            </a:r>
            <a:r>
              <a:rPr lang="zh-CN" altLang="en-US" sz="2400"/>
              <a:t>：求</a:t>
            </a:r>
            <a:r>
              <a:rPr lang="en-US" altLang="zh-CN" sz="2400"/>
              <a:t>z</a:t>
            </a:r>
            <a:r>
              <a:rPr lang="zh-CN" altLang="en-US" sz="2400"/>
              <a:t>对</a:t>
            </a:r>
            <a:r>
              <a:rPr lang="en-US" altLang="zh-CN" sz="2400"/>
              <a:t>x</a:t>
            </a:r>
            <a:r>
              <a:rPr lang="zh-CN" altLang="en-US" sz="2400"/>
              <a:t>的二阶偏导数，</a:t>
            </a:r>
            <a:r>
              <a:rPr lang="en-US" altLang="zh-CN" sz="2400"/>
              <a:t>z</a:t>
            </a:r>
            <a:r>
              <a:rPr lang="zh-CN" altLang="en-US" sz="2400"/>
              <a:t>看作</a:t>
            </a:r>
            <a:r>
              <a:rPr lang="en-US" altLang="zh-CN" sz="2400"/>
              <a:t>x,y</a:t>
            </a:r>
            <a:r>
              <a:rPr lang="zh-CN" altLang="en-US" sz="2400"/>
              <a:t>的函数，方程两边同时对</a:t>
            </a:r>
            <a:r>
              <a:rPr lang="en-US" altLang="zh-CN" sz="2400"/>
              <a:t>x</a:t>
            </a:r>
            <a:r>
              <a:rPr lang="zh-CN" altLang="en-US" sz="2400"/>
              <a:t>求偏导，继而求二阶偏导</a:t>
            </a:r>
            <a:r>
              <a:rPr lang="en-US" altLang="zh-CN" sz="2400"/>
              <a:t>.</a:t>
            </a:r>
            <a:endParaRPr lang="en-US" altLang="zh-CN" sz="2400"/>
          </a:p>
        </p:txBody>
      </p:sp>
      <p:sp>
        <p:nvSpPr>
          <p:cNvPr id="8" name="文本框 7"/>
          <p:cNvSpPr txBox="1"/>
          <p:nvPr/>
        </p:nvSpPr>
        <p:spPr>
          <a:xfrm>
            <a:off x="952500" y="5307965"/>
            <a:ext cx="9107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8.方向导数：</a:t>
            </a:r>
            <a:endParaRPr lang="zh-CN" altLang="en-US" sz="2400" b="1"/>
          </a:p>
          <a:p>
            <a:r>
              <a:rPr lang="zh-CN" altLang="en-US" sz="2400" b="1"/>
              <a:t>9.梯度：</a:t>
            </a:r>
            <a:endParaRPr lang="zh-CN" altLang="en-US" sz="2400" b="1"/>
          </a:p>
        </p:txBody>
      </p:sp>
      <p:pic>
        <p:nvPicPr>
          <p:cNvPr id="11" name="图片 10" descr="图片9"/>
          <p:cNvPicPr>
            <a:picLocks noChangeAspect="1"/>
          </p:cNvPicPr>
          <p:nvPr/>
        </p:nvPicPr>
        <p:blipFill>
          <a:blip r:embed="rId2"/>
          <a:srcRect t="58697" r="22736"/>
          <a:stretch>
            <a:fillRect/>
          </a:stretch>
        </p:blipFill>
        <p:spPr>
          <a:xfrm>
            <a:off x="2858770" y="5118100"/>
            <a:ext cx="5181600" cy="643255"/>
          </a:xfrm>
          <a:prstGeom prst="rect">
            <a:avLst/>
          </a:prstGeom>
        </p:spPr>
      </p:pic>
      <p:pic>
        <p:nvPicPr>
          <p:cNvPr id="12" name="图片 11" descr="图片10"/>
          <p:cNvPicPr>
            <a:picLocks noChangeAspect="1"/>
          </p:cNvPicPr>
          <p:nvPr/>
        </p:nvPicPr>
        <p:blipFill>
          <a:blip r:embed="rId3"/>
          <a:srcRect t="79244"/>
          <a:stretch>
            <a:fillRect/>
          </a:stretch>
        </p:blipFill>
        <p:spPr>
          <a:xfrm>
            <a:off x="2066925" y="5876925"/>
            <a:ext cx="6414135" cy="4267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</a:t>
            </a:r>
            <a:r>
              <a:rPr lang="zh-CN" altLang="en-US"/>
              <a:t>在</a:t>
            </a:r>
            <a:r>
              <a:rPr lang="zh-CN" altLang="en-US" u="sng"/>
              <a:t>哪一点</a:t>
            </a:r>
            <a:r>
              <a:rPr lang="zh-CN" altLang="en-US"/>
              <a:t>沿</a:t>
            </a:r>
            <a:r>
              <a:rPr lang="zh-CN" altLang="en-US" u="sng"/>
              <a:t>哪个方向</a:t>
            </a:r>
            <a:r>
              <a:rPr lang="zh-CN" altLang="en-US"/>
              <a:t>的</a:t>
            </a:r>
            <a:r>
              <a:rPr lang="zh-CN" altLang="en-US"/>
              <a:t>方向导数</a:t>
            </a:r>
            <a:endParaRPr lang="zh-CN" altLang="en-US"/>
          </a:p>
          <a:p>
            <a:r>
              <a:rPr lang="zh-CN" altLang="en-US"/>
              <a:t>求出该点偏导数</a:t>
            </a:r>
            <a:r>
              <a:rPr lang="en-US" altLang="zh-CN"/>
              <a:t>     </a:t>
            </a:r>
            <a:r>
              <a:rPr lang="zh-CN" altLang="en-US"/>
              <a:t>求该方向</a:t>
            </a:r>
            <a:r>
              <a:rPr lang="zh-CN" altLang="en-US"/>
              <a:t>单位向量</a:t>
            </a:r>
            <a:endParaRPr lang="zh-CN" altLang="en-US"/>
          </a:p>
          <a:p>
            <a:r>
              <a:rPr lang="zh-CN" altLang="en-US"/>
              <a:t>沿梯度方向方向导数</a:t>
            </a:r>
            <a:r>
              <a:rPr lang="zh-CN" altLang="en-US"/>
              <a:t>最大</a:t>
            </a:r>
            <a:endParaRPr lang="zh-CN" altLang="en-US"/>
          </a:p>
          <a:p>
            <a:r>
              <a:rPr lang="zh-CN" altLang="en-US"/>
              <a:t>梯度反方向方向导数</a:t>
            </a:r>
            <a:r>
              <a:rPr lang="zh-CN" altLang="en-US"/>
              <a:t>最小</a:t>
            </a:r>
            <a:endParaRPr lang="zh-CN" altLang="en-US"/>
          </a:p>
          <a:p>
            <a:r>
              <a:rPr lang="zh-CN" altLang="en-US"/>
              <a:t>垂直于梯度方向方向导数为</a:t>
            </a:r>
            <a:r>
              <a:rPr lang="en-US" altLang="zh-CN"/>
              <a:t>0</a:t>
            </a:r>
            <a:endParaRPr lang="en-US" altLang="zh-CN"/>
          </a:p>
        </p:txBody>
      </p:sp>
      <p:pic>
        <p:nvPicPr>
          <p:cNvPr id="6" name="图片 5" descr="微信图片_2023052000130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1200000">
            <a:off x="8724265" y="673735"/>
            <a:ext cx="2813685" cy="28136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多元函数的微分学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 altLang="zh-CN" sz="2400" b="1">
                <a:latin typeface="Cambria Math" panose="02040503050406030204" charset="0"/>
                <a:cs typeface="Cambria Math" panose="02040503050406030204" charset="0"/>
              </a:rPr>
              <a:t>10.</a:t>
            </a:r>
            <a:r>
              <a:rPr lang="zh-CN" altLang="en-US" sz="2400" b="1">
                <a:latin typeface="Cambria Math" panose="02040503050406030204" charset="0"/>
                <a:cs typeface="Cambria Math" panose="02040503050406030204" charset="0"/>
              </a:rPr>
              <a:t>四种方程</a:t>
            </a:r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  <a:p>
            <a:r>
              <a:rPr lang="en-US" altLang="zh-CN" sz="2400" b="1">
                <a:latin typeface="Cambria Math" panose="02040503050406030204" charset="0"/>
                <a:cs typeface="Cambria Math" panose="02040503050406030204" charset="0"/>
              </a:rPr>
              <a:t>  </a:t>
            </a:r>
            <a:r>
              <a:rPr lang="zh-CN" altLang="en-US" sz="2400" b="1">
                <a:latin typeface="Cambria Math" panose="02040503050406030204" charset="0"/>
                <a:cs typeface="Cambria Math" panose="02040503050406030204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Cambria Math" panose="02040503050406030204" charset="0"/>
                <a:cs typeface="Cambria Math" panose="02040503050406030204" charset="0"/>
              </a:rPr>
              <a:t>必考</a:t>
            </a:r>
            <a:r>
              <a:rPr lang="zh-CN" altLang="en-US" sz="2400" b="1">
                <a:latin typeface="Cambria Math" panose="02040503050406030204" charset="0"/>
                <a:cs typeface="Cambria Math" panose="02040503050406030204" charset="0"/>
              </a:rPr>
              <a:t>）</a:t>
            </a:r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4" name="左大括号 3"/>
          <p:cNvSpPr/>
          <p:nvPr/>
        </p:nvSpPr>
        <p:spPr>
          <a:xfrm>
            <a:off x="2571115" y="1340485"/>
            <a:ext cx="383540" cy="1958340"/>
          </a:xfrm>
          <a:prstGeom prst="leftBrace">
            <a:avLst/>
          </a:prstGeom>
          <a:noFill/>
          <a:ln w="9525" cap="flat" cmpd="sng" algn="ctr">
            <a:solidFill>
              <a:srgbClr val="00405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切线方程</a:t>
            </a:r>
            <a:endParaRPr lang="zh-CN" altLang="en-US" sz="2000" b="1"/>
          </a:p>
          <a:p>
            <a:r>
              <a:rPr lang="zh-CN" altLang="en-US" sz="2000" b="1"/>
              <a:t>法平面方程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  <a:p>
            <a:r>
              <a:rPr lang="zh-CN" altLang="en-US" sz="2000" b="1"/>
              <a:t>法线方程</a:t>
            </a:r>
            <a:endParaRPr lang="zh-CN" altLang="en-US" sz="2000" b="1"/>
          </a:p>
          <a:p>
            <a:r>
              <a:rPr lang="zh-CN" altLang="en-US" sz="2000" b="1"/>
              <a:t>切平面方程</a:t>
            </a:r>
            <a:endParaRPr lang="zh-CN" altLang="en-US" sz="2000" b="1"/>
          </a:p>
        </p:txBody>
      </p:sp>
      <p:sp>
        <p:nvSpPr>
          <p:cNvPr id="14" name="文本框 13"/>
          <p:cNvSpPr txBox="1"/>
          <p:nvPr/>
        </p:nvSpPr>
        <p:spPr>
          <a:xfrm>
            <a:off x="4668520" y="1484630"/>
            <a:ext cx="2222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求方向向量</a:t>
            </a:r>
            <a:endParaRPr lang="zh-CN" altLang="en-US" sz="2000" b="1"/>
          </a:p>
        </p:txBody>
      </p:sp>
      <p:sp>
        <p:nvSpPr>
          <p:cNvPr id="15" name="文本框 14"/>
          <p:cNvSpPr txBox="1"/>
          <p:nvPr/>
        </p:nvSpPr>
        <p:spPr>
          <a:xfrm>
            <a:off x="4730750" y="2780665"/>
            <a:ext cx="15500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求法向量</a:t>
            </a:r>
            <a:endParaRPr lang="zh-CN" altLang="en-US" sz="2000" b="1"/>
          </a:p>
        </p:txBody>
      </p:sp>
      <p:sp>
        <p:nvSpPr>
          <p:cNvPr id="17" name="文本框 16"/>
          <p:cNvSpPr txBox="1"/>
          <p:nvPr/>
        </p:nvSpPr>
        <p:spPr>
          <a:xfrm>
            <a:off x="6747510" y="1844675"/>
            <a:ext cx="4109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注意</a:t>
            </a:r>
            <a:r>
              <a:rPr lang="zh-CN" altLang="en-US"/>
              <a:t>：记准公式对应的形式</a:t>
            </a:r>
            <a:r>
              <a:rPr lang="en-US" altLang="zh-CN"/>
              <a:t>! </a:t>
            </a:r>
            <a:r>
              <a:rPr lang="zh-CN" altLang="en-US"/>
              <a:t>比如切线、法线方程是</a:t>
            </a:r>
            <a:r>
              <a:rPr lang="zh-CN" altLang="en-US" b="1">
                <a:solidFill>
                  <a:srgbClr val="FF0000"/>
                </a:solidFill>
              </a:rPr>
              <a:t>除以</a:t>
            </a:r>
            <a:r>
              <a:rPr lang="zh-CN" altLang="en-US"/>
              <a:t>向量，而求平面方程是</a:t>
            </a:r>
            <a:r>
              <a:rPr lang="zh-CN" altLang="en-US" b="1">
                <a:solidFill>
                  <a:srgbClr val="FF0000"/>
                </a:solidFill>
              </a:rPr>
              <a:t>乘以</a:t>
            </a:r>
            <a:r>
              <a:rPr lang="zh-CN" altLang="en-US"/>
              <a:t>对应项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18" name="右大括号 17"/>
          <p:cNvSpPr/>
          <p:nvPr/>
        </p:nvSpPr>
        <p:spPr>
          <a:xfrm>
            <a:off x="4443095" y="1484630"/>
            <a:ext cx="360045" cy="360045"/>
          </a:xfrm>
          <a:prstGeom prst="rightBrace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右大括号 19"/>
          <p:cNvSpPr/>
          <p:nvPr>
            <p:custDataLst>
              <p:tags r:id="rId1"/>
            </p:custDataLst>
          </p:nvPr>
        </p:nvSpPr>
        <p:spPr>
          <a:xfrm>
            <a:off x="4443095" y="2766695"/>
            <a:ext cx="360045" cy="382905"/>
          </a:xfrm>
          <a:prstGeom prst="rightBrace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86790" y="3572510"/>
            <a:ext cx="7147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泰勒公式我们考前是明确不做</a:t>
            </a:r>
            <a:r>
              <a:rPr lang="zh-CN" altLang="en-US" sz="2000" b="1"/>
              <a:t>考试要求的</a:t>
            </a:r>
            <a:r>
              <a:rPr lang="en-US" altLang="zh-CN" sz="2000" b="1"/>
              <a:t>.</a:t>
            </a:r>
            <a:endParaRPr lang="en-US" altLang="zh-CN" sz="20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914400" y="4071620"/>
                <a:ext cx="11034395" cy="21520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2400" b="1"/>
                  <a:t>11.</a:t>
                </a:r>
                <a:r>
                  <a:rPr lang="zh-CN" altLang="en-US" sz="2400" b="1"/>
                  <a:t>极值问题</a:t>
                </a:r>
                <a:r>
                  <a:rPr lang="en-US" altLang="zh-CN"/>
                  <a:t>       </a:t>
                </a:r>
                <a:r>
                  <a:rPr lang="en-US" altLang="zh-CN" sz="2000" b="1"/>
                  <a:t> </a:t>
                </a:r>
                <a:r>
                  <a:rPr lang="zh-CN" altLang="en-US" sz="2000" b="1"/>
                  <a:t>无条件极值问题</a:t>
                </a:r>
                <a:r>
                  <a:rPr lang="en-US" altLang="zh-CN" sz="2000" b="1"/>
                  <a:t> </a:t>
                </a:r>
                <a:endParaRPr lang="zh-CN" altLang="en-US" sz="2000" b="1"/>
              </a:p>
              <a:p>
                <a:r>
                  <a:rPr lang="zh-CN" altLang="en-US" sz="2000" b="1"/>
                  <a:t> </a:t>
                </a:r>
                <a:r>
                  <a:rPr lang="en-US" altLang="zh-CN" sz="2000" b="1"/>
                  <a:t>                                                              </a:t>
                </a:r>
                <a:r>
                  <a:rPr lang="zh-CN" altLang="en-US" sz="2000" u="sng"/>
                  <a:t>方法:求出驻点，利用</a:t>
                </a:r>
                <a:r>
                  <a:rPr lang="en-US" altLang="zh-CN" sz="2000" u="sng"/>
                  <a:t>A</a:t>
                </a:r>
                <a:r>
                  <a:rPr lang="zh-CN" altLang="en-US" sz="2000" u="sng"/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u="sng">
                        <a:latin typeface="Cambria Math" panose="02040503050406030204" charset="0"/>
                        <a:cs typeface="Cambria Math" panose="02040503050406030204" charset="0"/>
                      </a:rPr>
                      <m:t>AC</m:t>
                    </m:r>
                  </m:oMath>
                </a14:m>
                <a:r>
                  <a:rPr lang="en-US" altLang="zh-CN" sz="2000" u="sng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u="sng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 u="sng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 u="sng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u="sng">
                    <a:latin typeface="Cambria Math" panose="02040503050406030204" charset="0"/>
                    <a:cs typeface="Cambria Math" panose="02040503050406030204" charset="0"/>
                  </a:rPr>
                  <a:t>正负判断极大极小值</a:t>
                </a:r>
                <a:r>
                  <a:rPr lang="en-US" altLang="zh-CN" sz="2000" u="sng">
                    <a:latin typeface="Cambria Math" panose="02040503050406030204" charset="0"/>
                    <a:cs typeface="Cambria Math" panose="02040503050406030204" charset="0"/>
                  </a:rPr>
                  <a:t>.</a:t>
                </a:r>
                <a:endParaRPr lang="zh-CN" altLang="en-US" sz="2000" u="sng"/>
              </a:p>
              <a:p>
                <a:r>
                  <a:rPr lang="en-US" altLang="zh-CN" sz="2000" b="1"/>
                  <a:t>   </a:t>
                </a:r>
                <a:r>
                  <a:rPr lang="zh-CN" altLang="en-US" sz="2400" b="1"/>
                  <a:t>（</a:t>
                </a:r>
                <a:r>
                  <a:rPr lang="zh-CN" altLang="en-US" sz="2400" b="1">
                    <a:solidFill>
                      <a:srgbClr val="FF0000"/>
                    </a:solidFill>
                  </a:rPr>
                  <a:t>必考</a:t>
                </a:r>
                <a:r>
                  <a:rPr lang="zh-CN" altLang="en-US" sz="2400" b="1"/>
                  <a:t>）</a:t>
                </a:r>
                <a:r>
                  <a:rPr lang="en-US" altLang="zh-CN" sz="2000" b="1"/>
                  <a:t>     </a:t>
                </a:r>
                <a:endParaRPr lang="en-US" altLang="zh-CN" sz="2000" b="1"/>
              </a:p>
              <a:p>
                <a:r>
                  <a:rPr lang="en-US" altLang="zh-CN" sz="2000" b="1"/>
                  <a:t>                             </a:t>
                </a:r>
                <a:r>
                  <a:rPr lang="zh-CN" altLang="en-US" sz="2000" b="1"/>
                  <a:t>有条件极值问题</a:t>
                </a:r>
                <a:endParaRPr lang="zh-CN" altLang="en-US" sz="2000" b="1"/>
              </a:p>
              <a:p>
                <a:r>
                  <a:rPr lang="zh-CN" altLang="en-US" sz="2000" b="1"/>
                  <a:t> </a:t>
                </a:r>
                <a:r>
                  <a:rPr lang="en-US" altLang="zh-CN" sz="2000" b="1"/>
                  <a:t>                                                                     </a:t>
                </a:r>
                <a:endParaRPr lang="en-US" altLang="zh-CN" sz="2000" b="1"/>
              </a:p>
              <a:p>
                <a:r>
                  <a:rPr lang="en-US" altLang="zh-CN" sz="2000" b="1"/>
                  <a:t>                                                              </a:t>
                </a:r>
                <a:r>
                  <a:rPr lang="en-US" altLang="zh-CN" sz="1800" b="1"/>
                  <a:t> </a:t>
                </a:r>
                <a:r>
                  <a:rPr lang="zh-CN" altLang="en-US" sz="2000" u="sng"/>
                  <a:t> 方法：利用拉格朗日函数,求解方程组得极值点</a:t>
                </a:r>
                <a:endParaRPr lang="zh-CN" altLang="en-US" sz="2000" u="sng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071620"/>
                <a:ext cx="11034395" cy="21520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左大括号 24"/>
          <p:cNvSpPr/>
          <p:nvPr/>
        </p:nvSpPr>
        <p:spPr>
          <a:xfrm>
            <a:off x="2498725" y="4220845"/>
            <a:ext cx="383540" cy="1203960"/>
          </a:xfrm>
          <a:prstGeom prst="leftBrace">
            <a:avLst/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6" name="图片 25" descr="图片11"/>
          <p:cNvPicPr>
            <a:picLocks noChangeAspect="1"/>
          </p:cNvPicPr>
          <p:nvPr/>
        </p:nvPicPr>
        <p:blipFill>
          <a:blip r:embed="rId3"/>
          <a:srcRect l="13437" t="9776"/>
          <a:stretch>
            <a:fillRect/>
          </a:stretch>
        </p:blipFill>
        <p:spPr>
          <a:xfrm>
            <a:off x="5234940" y="4076700"/>
            <a:ext cx="6496050" cy="357505"/>
          </a:xfrm>
          <a:prstGeom prst="rect">
            <a:avLst/>
          </a:prstGeom>
        </p:spPr>
      </p:pic>
      <p:pic>
        <p:nvPicPr>
          <p:cNvPr id="27" name="图片 26" descr="图片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685" y="4940935"/>
            <a:ext cx="6351905" cy="72898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54355" y="6261735"/>
            <a:ext cx="10877550" cy="526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</a:rPr>
              <a:t>以上是多元函数的全部介绍了，内容很多很杂，大家可以按照我所列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</a:rPr>
              <a:t>知识点分模块学习！！</a:t>
            </a:r>
            <a:endParaRPr lang="zh-CN" altLang="en-US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图片 2" descr="微信图片_2023052010500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203815" y="2602230"/>
            <a:ext cx="1365250" cy="13652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二重积分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346835" y="1340485"/>
            <a:ext cx="5101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</a:t>
            </a:r>
            <a:r>
              <a:rPr lang="zh-CN" altLang="en-US" sz="2400" b="1"/>
              <a:t>二重积分的</a:t>
            </a:r>
            <a:r>
              <a:rPr lang="zh-CN" altLang="en-US" sz="2400" b="1"/>
              <a:t>几何意义</a:t>
            </a:r>
            <a:endParaRPr lang="zh-CN" altLang="en-US" sz="2400" b="1"/>
          </a:p>
        </p:txBody>
      </p:sp>
      <p:pic>
        <p:nvPicPr>
          <p:cNvPr id="8" name="图片 7" descr="图片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445" y="1822450"/>
            <a:ext cx="7263765" cy="128651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46835" y="32124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2.</a:t>
            </a:r>
            <a:r>
              <a:rPr lang="zh-CN" altLang="en-US" sz="2400" b="1"/>
              <a:t>二重积分的计算</a:t>
            </a:r>
            <a:endParaRPr lang="zh-CN" altLang="en-US" sz="2400" b="1"/>
          </a:p>
          <a:p>
            <a:endParaRPr lang="zh-CN" altLang="en-US" sz="2400" b="1"/>
          </a:p>
        </p:txBody>
      </p:sp>
      <p:pic>
        <p:nvPicPr>
          <p:cNvPr id="3" name="图片 2" descr="图片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0" y="2924810"/>
            <a:ext cx="4194175" cy="1172210"/>
          </a:xfrm>
          <a:prstGeom prst="rect">
            <a:avLst/>
          </a:prstGeom>
        </p:spPr>
      </p:pic>
      <p:pic>
        <p:nvPicPr>
          <p:cNvPr id="4" name="图片 3" descr="图片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295" y="4192270"/>
            <a:ext cx="3138170" cy="990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346835" y="3860800"/>
                <a:ext cx="6247130" cy="2281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000"/>
                  <a:t>（</a:t>
                </a:r>
                <a:r>
                  <a:rPr lang="en-US" altLang="zh-CN" sz="2000"/>
                  <a:t>1</a:t>
                </a:r>
                <a:r>
                  <a:rPr lang="zh-CN" altLang="en-US" sz="2000"/>
                  <a:t>）我们首先分析</a:t>
                </a:r>
                <a:r>
                  <a:rPr lang="en-US" altLang="zh-CN" sz="2000">
                    <a:solidFill>
                      <a:srgbClr val="FF0000"/>
                    </a:solidFill>
                  </a:rPr>
                  <a:t>x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型域</a:t>
                </a:r>
                <a:r>
                  <a:rPr lang="zh-CN" altLang="en-US" sz="2000"/>
                  <a:t>还是</a:t>
                </a:r>
                <a:r>
                  <a:rPr lang="en-US" altLang="zh-CN" sz="2000">
                    <a:solidFill>
                      <a:srgbClr val="FF0000"/>
                    </a:solidFill>
                  </a:rPr>
                  <a:t>y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型域</a:t>
                </a:r>
                <a:r>
                  <a:rPr lang="zh-CN" altLang="en-US" sz="2000"/>
                  <a:t>，有时两种都可，有时必须是其中一种。特别注意：一种方法积不出来考虑</a:t>
                </a:r>
                <a:r>
                  <a:rPr lang="zh-CN" altLang="en-US" sz="2000" b="1">
                    <a:solidFill>
                      <a:srgbClr val="FF0000"/>
                    </a:solidFill>
                  </a:rPr>
                  <a:t>积分换序</a:t>
                </a:r>
                <a:r>
                  <a:rPr lang="zh-CN" altLang="en-US" sz="2000"/>
                  <a:t>。</a:t>
                </a:r>
                <a:endParaRPr lang="zh-CN" altLang="en-US" sz="2000"/>
              </a:p>
              <a:p>
                <a:r>
                  <a:rPr lang="zh-CN" altLang="en-US" sz="2000"/>
                  <a:t> (</a:t>
                </a:r>
                <a:r>
                  <a:rPr lang="en-US" altLang="zh-CN" sz="2000"/>
                  <a:t>2</a:t>
                </a:r>
                <a:r>
                  <a:rPr lang="zh-CN" altLang="en-US" sz="2000"/>
                  <a:t>)</a:t>
                </a:r>
                <a:r>
                  <a:rPr lang="en-US" altLang="zh-CN" sz="2000"/>
                  <a:t> </a:t>
                </a:r>
                <a:r>
                  <a:rPr lang="zh-CN" altLang="en-US" sz="2000"/>
                  <a:t>极坐标计算，当积分区域为圆或是圆的一部分时，或是f(x,y)有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>
                            <a:solidFill>
                              <a:srgbClr val="FF0000"/>
                            </a:solidFill>
                          </a:rPr>
                        </m:ctrlPr>
                      </m:sSupPr>
                      <m:e>
                        <m:r>
                          <a:rPr lang="zh-CN" altLang="en-US" sz="2000">
                            <a:solidFill>
                              <a:srgbClr val="FF0000"/>
                            </a:solidFill>
                            <a:latin typeface="Cambria Math" panose="02040503050406030204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000">
                            <a:solidFill>
                              <a:srgbClr val="FF0000"/>
                            </a:solidFill>
                            <a:latin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>
                    <a:solidFill>
                      <a:srgbClr val="FF0000"/>
                    </a:solidFill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>
                            <a:solidFill>
                              <a:srgbClr val="FF0000"/>
                            </a:solidFill>
                          </a:rPr>
                        </m:ctrlPr>
                      </m:sSupPr>
                      <m:e>
                        <m:r>
                          <a:rPr lang="zh-CN" altLang="en-US" sz="2000">
                            <a:solidFill>
                              <a:srgbClr val="FF0000"/>
                            </a:solidFill>
                            <a:latin typeface="Cambria Math" panose="02040503050406030204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000">
                            <a:solidFill>
                              <a:srgbClr val="FF0000"/>
                            </a:solidFill>
                            <a:latin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zh-CN" altLang="en-US" sz="2000">
                        <a:latin typeface="Cambria Math" panose="02040503050406030204" charset="0"/>
                      </a:rPr>
                      <m:t>形式</m:t>
                    </m:r>
                  </m:oMath>
                </a14:m>
                <a:r>
                  <a:rPr lang="zh-CN" altLang="en-US" sz="2000"/>
                  <a:t>，考虑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极坐标</a:t>
                </a:r>
                <a:r>
                  <a:rPr lang="zh-CN" altLang="en-US" sz="2000"/>
                  <a:t>计算。</a:t>
                </a:r>
                <a:endParaRPr lang="zh-CN" altLang="en-US" sz="2000"/>
              </a:p>
              <a:p>
                <a:r>
                  <a:rPr lang="zh-CN" altLang="en-US" sz="2000"/>
                  <a:t>（3）换元法计算二重积分，利用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雅可比</a:t>
                </a:r>
                <a:r>
                  <a:rPr lang="zh-CN" altLang="en-US" sz="2000"/>
                  <a:t>行列式求解。</a:t>
                </a:r>
                <a:endParaRPr lang="zh-CN" altLang="en-US" sz="2000"/>
              </a:p>
              <a:p>
                <a:endParaRPr lang="zh-CN" altLang="en-US" sz="200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35" y="3860800"/>
                <a:ext cx="6247130" cy="228155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微信图片_202305201049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380" y="5214620"/>
            <a:ext cx="1471295" cy="147383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二重积分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346835" y="32124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1" name="文本框 10"/>
          <p:cNvSpPr txBox="1"/>
          <p:nvPr/>
        </p:nvSpPr>
        <p:spPr>
          <a:xfrm>
            <a:off x="1130935" y="1306195"/>
            <a:ext cx="8298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极坐标方法</a:t>
            </a:r>
            <a:r>
              <a:rPr lang="zh-CN" altLang="en-US" sz="2000"/>
              <a:t>计算</a:t>
            </a:r>
            <a:endParaRPr lang="zh-CN" altLang="en-US" sz="2000"/>
          </a:p>
        </p:txBody>
      </p:sp>
      <p:pic>
        <p:nvPicPr>
          <p:cNvPr id="12" name="图片 11" descr="图片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690" y="2780665"/>
            <a:ext cx="4938395" cy="1749425"/>
          </a:xfrm>
          <a:prstGeom prst="rect">
            <a:avLst/>
          </a:prstGeom>
        </p:spPr>
      </p:pic>
      <p:pic>
        <p:nvPicPr>
          <p:cNvPr id="14" name="图片 13" descr="图片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45" y="1844675"/>
            <a:ext cx="4385310" cy="8420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6315075" y="3140710"/>
                <a:ext cx="5142230" cy="111188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2000"/>
                  <a:t>通过</a:t>
                </a:r>
                <a:r>
                  <a:rPr lang="en-US" altLang="zh-CN" sz="2000"/>
                  <a:t>x,y</a:t>
                </a:r>
                <a:r>
                  <a:rPr lang="zh-CN" altLang="en-US" sz="2000"/>
                  <a:t>的范围求出</a:t>
                </a:r>
                <a:r>
                  <a:rPr lang="en-US" altLang="zh-CN" sz="2000">
                    <a:solidFill>
                      <a:srgbClr val="FF0000"/>
                    </a:solidFill>
                  </a:rPr>
                  <a:t>r</a:t>
                </a:r>
                <a:r>
                  <a:rPr lang="zh-CN" altLang="en-US" sz="2000">
                    <a:solidFill>
                      <a:srgbClr val="FF0000"/>
                    </a:solidFill>
                  </a:rPr>
                  <a:t>的范围</a:t>
                </a:r>
                <a:r>
                  <a:rPr lang="zh-CN" altLang="en-US" sz="2000"/>
                  <a:t>，</a:t>
                </a:r>
                <a:r>
                  <a:rPr lang="en-US" altLang="zh-CN" sz="2000"/>
                  <a:t>r1,r2</a:t>
                </a:r>
                <a:endParaRPr lang="en-US" altLang="zh-CN" sz="2000"/>
              </a:p>
              <a:p>
                <a:r>
                  <a:rPr lang="zh-CN" altLang="en-US" sz="2000"/>
                  <a:t>结合图形或其他条件找出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𝜃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的范围</m:t>
                    </m:r>
                  </m:oMath>
                </a14:m>
                <a:r>
                  <a:rPr lang="en-US" altLang="zh-CN" sz="200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000"/>
                  <a:t>完成换元</a:t>
                </a:r>
                <a:endParaRPr lang="zh-CN" altLang="en-US"/>
              </a:p>
              <a:p>
                <a:r>
                  <a:rPr lang="zh-CN" altLang="en-US" sz="2400" b="1">
                    <a:solidFill>
                      <a:srgbClr val="FF0000"/>
                    </a:solidFill>
                  </a:rPr>
                  <a:t>注意公式最后不要忘记乘</a:t>
                </a:r>
                <a:r>
                  <a:rPr lang="en-US" altLang="zh-CN" sz="2400" b="1">
                    <a:solidFill>
                      <a:srgbClr val="FF0000"/>
                    </a:solidFill>
                  </a:rPr>
                  <a:t>r!!</a:t>
                </a:r>
                <a:endParaRPr lang="en-US" altLang="zh-CN" sz="2400" b="1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075" y="3140710"/>
                <a:ext cx="5142230" cy="11118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 descr="图片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45" y="5036185"/>
            <a:ext cx="3550920" cy="1438275"/>
          </a:xfrm>
          <a:prstGeom prst="rect">
            <a:avLst/>
          </a:prstGeom>
        </p:spPr>
      </p:pic>
      <p:pic>
        <p:nvPicPr>
          <p:cNvPr id="18" name="图片 17" descr="图片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185" y="5090795"/>
            <a:ext cx="3564255" cy="1374140"/>
          </a:xfrm>
          <a:prstGeom prst="rect">
            <a:avLst/>
          </a:prstGeom>
        </p:spPr>
      </p:pic>
      <p:pic>
        <p:nvPicPr>
          <p:cNvPr id="19" name="图片 18" descr="图片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0315" y="5046980"/>
            <a:ext cx="3231515" cy="141795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144905" y="4552950"/>
            <a:ext cx="51701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一些对称性！！！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3" name="图片 2" descr="微信图片_202305201100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720000">
            <a:off x="9125585" y="1123315"/>
            <a:ext cx="1985645" cy="1896110"/>
          </a:xfrm>
          <a:prstGeom prst="rect">
            <a:avLst/>
          </a:prstGeom>
        </p:spPr>
      </p:pic>
      <p:pic>
        <p:nvPicPr>
          <p:cNvPr id="4" name="图片 3" descr="微信图片_2023052011000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000000">
            <a:off x="6443980" y="1139190"/>
            <a:ext cx="1859280" cy="16497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三重积分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7920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pic>
        <p:nvPicPr>
          <p:cNvPr id="6" name="图片 5" descr="图片15"/>
          <p:cNvPicPr>
            <a:picLocks noChangeAspect="1"/>
          </p:cNvPicPr>
          <p:nvPr/>
        </p:nvPicPr>
        <p:blipFill>
          <a:blip r:embed="rId1"/>
          <a:srcRect l="21874" t="28311"/>
          <a:stretch>
            <a:fillRect/>
          </a:stretch>
        </p:blipFill>
        <p:spPr>
          <a:xfrm>
            <a:off x="2642870" y="1772285"/>
            <a:ext cx="3940175" cy="673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02690" y="1916430"/>
            <a:ext cx="9015095" cy="1071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      </a:t>
            </a:r>
            <a:r>
              <a:rPr lang="zh-CN" altLang="en-US" sz="2000"/>
              <a:t>我们称</a:t>
            </a:r>
            <a:r>
              <a:rPr lang="en-US" altLang="zh-CN" sz="2000"/>
              <a:t>                                                          </a:t>
            </a:r>
            <a:r>
              <a:rPr lang="zh-CN" altLang="en-US" sz="2000"/>
              <a:t>为</a:t>
            </a:r>
            <a:r>
              <a:rPr lang="en-US" altLang="zh-CN" sz="2000"/>
              <a:t>f(x,y,z)</a:t>
            </a:r>
            <a:r>
              <a:rPr lang="zh-CN" altLang="en-US" sz="2000"/>
              <a:t>在区域</a:t>
            </a:r>
            <a:r>
              <a:rPr lang="zh-CN" altLang="en-US" sz="2000">
                <a:cs typeface="Arial" panose="020B0604020202020204" pitchFamily="34" charset="0"/>
              </a:rPr>
              <a:t>Ω</a:t>
            </a:r>
            <a:r>
              <a:rPr lang="zh-CN" altLang="en-US" sz="2000"/>
              <a:t>的三重积分</a:t>
            </a:r>
            <a:endParaRPr lang="zh-CN" altLang="en-US" sz="2000"/>
          </a:p>
        </p:txBody>
      </p:sp>
      <p:pic>
        <p:nvPicPr>
          <p:cNvPr id="8" name="图片 7" descr="图片16"/>
          <p:cNvPicPr>
            <a:picLocks noChangeAspect="1"/>
          </p:cNvPicPr>
          <p:nvPr/>
        </p:nvPicPr>
        <p:blipFill>
          <a:blip r:embed="rId2"/>
          <a:srcRect r="42224" b="2315"/>
          <a:stretch>
            <a:fillRect/>
          </a:stretch>
        </p:blipFill>
        <p:spPr>
          <a:xfrm>
            <a:off x="1706880" y="2420620"/>
            <a:ext cx="3658870" cy="61341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55980" y="1339850"/>
            <a:ext cx="3658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  </a:t>
            </a:r>
            <a:r>
              <a:rPr lang="zh-CN" altLang="en-US" sz="2400" b="1"/>
              <a:t>1.三重积分的</a:t>
            </a:r>
            <a:r>
              <a:rPr lang="zh-CN" altLang="en-US" sz="2400" b="1">
                <a:solidFill>
                  <a:srgbClr val="FF0000"/>
                </a:solidFill>
              </a:rPr>
              <a:t>概念</a:t>
            </a:r>
            <a:r>
              <a:rPr lang="zh-CN" altLang="en-US" sz="2400" b="1"/>
              <a:t>：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18590" y="3284855"/>
            <a:ext cx="73723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2.三重积分的</a:t>
            </a:r>
            <a:r>
              <a:rPr lang="zh-CN" altLang="en-US" sz="2400" b="1">
                <a:solidFill>
                  <a:srgbClr val="FF0000"/>
                </a:solidFill>
              </a:rPr>
              <a:t>计算：</a:t>
            </a:r>
            <a:endParaRPr lang="zh-CN" altLang="en-US" sz="2400" b="1"/>
          </a:p>
          <a:p>
            <a:r>
              <a:rPr lang="en-US" altLang="zh-CN"/>
              <a:t>     </a:t>
            </a:r>
            <a:endParaRPr lang="en-US" altLang="zh-CN"/>
          </a:p>
        </p:txBody>
      </p:sp>
      <p:sp>
        <p:nvSpPr>
          <p:cNvPr id="25" name="左大括号 24"/>
          <p:cNvSpPr/>
          <p:nvPr/>
        </p:nvSpPr>
        <p:spPr>
          <a:xfrm>
            <a:off x="1490980" y="3860800"/>
            <a:ext cx="315595" cy="2513965"/>
          </a:xfrm>
          <a:prstGeom prst="leftBrace">
            <a:avLst/>
          </a:prstGeom>
          <a:solidFill>
            <a:schemeClr val="accent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先一后二法（基础方法，必会）</a:t>
            </a:r>
            <a:endParaRPr lang="zh-CN" altLang="en-US" sz="2000" b="1"/>
          </a:p>
          <a:p>
            <a:endParaRPr lang="zh-CN" altLang="en-US" sz="2000" b="1"/>
          </a:p>
          <a:p>
            <a:r>
              <a:rPr lang="zh-CN" altLang="en-US" sz="2000" b="1">
                <a:solidFill>
                  <a:srgbClr val="FF0000"/>
                </a:solidFill>
              </a:rPr>
              <a:t>！先二后一法</a:t>
            </a:r>
            <a:endParaRPr lang="zh-CN" altLang="en-US" sz="2000" b="1">
              <a:solidFill>
                <a:srgbClr val="FF0000"/>
              </a:solidFill>
            </a:endParaRPr>
          </a:p>
          <a:p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 sz="2000" b="1"/>
              <a:t>三次积分法（可用先二后一法解决）</a:t>
            </a:r>
            <a:endParaRPr lang="zh-CN" altLang="en-US" sz="2000" b="1"/>
          </a:p>
          <a:p>
            <a:endParaRPr lang="zh-CN" altLang="en-US" sz="2000" b="1"/>
          </a:p>
          <a:p>
            <a:r>
              <a:rPr lang="zh-CN" altLang="en-US" sz="2000" b="1">
                <a:solidFill>
                  <a:srgbClr val="FF0000"/>
                </a:solidFill>
              </a:rPr>
              <a:t>！柱面坐标法</a:t>
            </a:r>
            <a:r>
              <a:rPr lang="zh-CN" altLang="en-US" sz="2000" b="1">
                <a:solidFill>
                  <a:srgbClr val="004052"/>
                </a:solidFill>
              </a:rPr>
              <a:t>（换元）</a:t>
            </a:r>
            <a:endParaRPr lang="zh-CN" altLang="en-US" sz="2000" b="1">
              <a:solidFill>
                <a:srgbClr val="FF0000"/>
              </a:solidFill>
            </a:endParaRPr>
          </a:p>
          <a:p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！球面坐标法</a:t>
            </a:r>
            <a:r>
              <a:rPr lang="zh-CN" altLang="en-US" sz="2000" b="1">
                <a:solidFill>
                  <a:srgbClr val="004052"/>
                </a:solidFill>
              </a:rPr>
              <a:t>（换元）</a:t>
            </a:r>
            <a:endParaRPr lang="zh-CN" altLang="en-US" sz="2000" b="1">
              <a:solidFill>
                <a:srgbClr val="004052"/>
              </a:solidFill>
            </a:endParaRPr>
          </a:p>
        </p:txBody>
      </p:sp>
      <p:pic>
        <p:nvPicPr>
          <p:cNvPr id="28" name="图片 27" descr="图片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890" y="3147060"/>
            <a:ext cx="5208905" cy="1148080"/>
          </a:xfrm>
          <a:prstGeom prst="rect">
            <a:avLst/>
          </a:prstGeom>
        </p:spPr>
      </p:pic>
      <p:pic>
        <p:nvPicPr>
          <p:cNvPr id="29" name="图片 28" descr="图片18"/>
          <p:cNvPicPr>
            <a:picLocks noChangeAspect="1"/>
          </p:cNvPicPr>
          <p:nvPr/>
        </p:nvPicPr>
        <p:blipFill>
          <a:blip r:embed="rId4"/>
          <a:srcRect l="13843" t="24605"/>
          <a:stretch>
            <a:fillRect/>
          </a:stretch>
        </p:blipFill>
        <p:spPr>
          <a:xfrm>
            <a:off x="6612890" y="4364990"/>
            <a:ext cx="4481830" cy="788035"/>
          </a:xfrm>
          <a:prstGeom prst="rect">
            <a:avLst/>
          </a:prstGeom>
        </p:spPr>
      </p:pic>
      <p:sp>
        <p:nvSpPr>
          <p:cNvPr id="30" name="左大括号 29"/>
          <p:cNvSpPr/>
          <p:nvPr/>
        </p:nvSpPr>
        <p:spPr>
          <a:xfrm>
            <a:off x="6243320" y="3068955"/>
            <a:ext cx="267970" cy="2005965"/>
          </a:xfrm>
          <a:prstGeom prst="leftBrace">
            <a:avLst/>
          </a:prstGeom>
          <a:solidFill>
            <a:schemeClr val="accent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87465" y="5412740"/>
            <a:ext cx="5243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简单理解先一后二法，就是先对</a:t>
            </a:r>
            <a:r>
              <a:rPr lang="en-US" altLang="zh-CN"/>
              <a:t>x,y,z</a:t>
            </a:r>
            <a:r>
              <a:rPr lang="zh-CN" altLang="en-US"/>
              <a:t>中的一个进行积分，向另两个变量的坐标面投影，接着进行二重积分计算</a:t>
            </a:r>
            <a:r>
              <a:rPr lang="en-US" altLang="zh-CN"/>
              <a:t>.</a:t>
            </a:r>
            <a:r>
              <a:rPr lang="zh-CN" altLang="en-US"/>
              <a:t>上面以</a:t>
            </a:r>
            <a:r>
              <a:rPr lang="en-US" altLang="zh-CN"/>
              <a:t>xy</a:t>
            </a:r>
            <a:r>
              <a:rPr lang="zh-CN" altLang="en-US"/>
              <a:t>型域为例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三重积分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 </a:t>
            </a:r>
            <a:r>
              <a:rPr lang="zh-CN" altLang="en-US" sz="2400" b="1"/>
              <a:t>柱面坐标法（思路</a:t>
            </a:r>
            <a:r>
              <a:rPr lang="zh-CN" altLang="en-US" sz="2400" b="1">
                <a:solidFill>
                  <a:srgbClr val="EE3A3A"/>
                </a:solidFill>
              </a:rPr>
              <a:t>换元</a:t>
            </a:r>
            <a:r>
              <a:rPr lang="zh-CN" altLang="en-US" sz="2400" b="1"/>
              <a:t>）：</a:t>
            </a:r>
            <a:endParaRPr lang="zh-CN" altLang="en-US" sz="2400" b="1"/>
          </a:p>
          <a:p>
            <a:r>
              <a:rPr lang="en-US" altLang="zh-CN" sz="2400" b="1"/>
              <a:t>    </a:t>
            </a:r>
            <a:r>
              <a:rPr lang="zh-CN" altLang="en-US" sz="2000"/>
              <a:t>三个变量</a:t>
            </a:r>
            <a:r>
              <a:rPr lang="en-US" altLang="zh-CN" sz="2000">
                <a:solidFill>
                  <a:srgbClr val="EE3A3A"/>
                </a:solidFill>
              </a:rPr>
              <a:t>r,</a:t>
            </a:r>
            <a:r>
              <a:rPr lang="en-US" altLang="zh-CN" sz="2000">
                <a:solidFill>
                  <a:srgbClr val="EE3A3A"/>
                </a:solidFill>
                <a:cs typeface="Arial" panose="020B0604020202020204" pitchFamily="34" charset="0"/>
              </a:rPr>
              <a:t>θ,z</a:t>
            </a:r>
            <a:endParaRPr lang="en-US" altLang="zh-CN" sz="2000">
              <a:cs typeface="Arial" panose="020B0604020202020204" pitchFamily="34" charset="0"/>
            </a:endParaRPr>
          </a:p>
          <a:p>
            <a:r>
              <a:rPr lang="en-US" altLang="zh-CN" sz="2000"/>
              <a:t>     </a:t>
            </a:r>
            <a:r>
              <a:rPr lang="zh-CN" altLang="en-US" sz="2000"/>
              <a:t>要知道三个变量的取值范围以及几何意义</a:t>
            </a:r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pic>
        <p:nvPicPr>
          <p:cNvPr id="3" name="图片 2" descr="图片19"/>
          <p:cNvPicPr>
            <a:picLocks noChangeAspect="1"/>
          </p:cNvPicPr>
          <p:nvPr/>
        </p:nvPicPr>
        <p:blipFill>
          <a:blip r:embed="rId1"/>
          <a:srcRect t="48638"/>
          <a:stretch>
            <a:fillRect/>
          </a:stretch>
        </p:blipFill>
        <p:spPr>
          <a:xfrm>
            <a:off x="1418590" y="2649220"/>
            <a:ext cx="6819900" cy="815340"/>
          </a:xfrm>
          <a:prstGeom prst="rect">
            <a:avLst/>
          </a:prstGeom>
        </p:spPr>
      </p:pic>
      <p:pic>
        <p:nvPicPr>
          <p:cNvPr id="4" name="图片 3" descr="图片20"/>
          <p:cNvPicPr>
            <a:picLocks noChangeAspect="1"/>
          </p:cNvPicPr>
          <p:nvPr/>
        </p:nvPicPr>
        <p:blipFill>
          <a:blip r:embed="rId2"/>
          <a:srcRect l="41763" r="32736" b="52601"/>
          <a:stretch>
            <a:fillRect/>
          </a:stretch>
        </p:blipFill>
        <p:spPr>
          <a:xfrm>
            <a:off x="5810885" y="1292225"/>
            <a:ext cx="1697990" cy="1130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62660" y="3899535"/>
                <a:ext cx="7728585" cy="1137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/>
                  <a:t>    </a:t>
                </a:r>
                <a:r>
                  <a:rPr lang="zh-CN" altLang="en-US" sz="2400" b="1"/>
                  <a:t>球面坐标法（思路</a:t>
                </a:r>
                <a:r>
                  <a:rPr lang="zh-CN" altLang="en-US" sz="2400" b="1">
                    <a:solidFill>
                      <a:srgbClr val="EE3A3A"/>
                    </a:solidFill>
                  </a:rPr>
                  <a:t>换元</a:t>
                </a:r>
                <a:r>
                  <a:rPr lang="zh-CN" altLang="en-US" sz="2400" b="1"/>
                  <a:t>）：</a:t>
                </a:r>
                <a:endParaRPr lang="zh-CN" altLang="en-US" sz="2400" b="1"/>
              </a:p>
              <a:p>
                <a:r>
                  <a:rPr lang="en-US" altLang="zh-CN" sz="2400" b="1">
                    <a:sym typeface="+mn-ea"/>
                  </a:rPr>
                  <a:t>    </a:t>
                </a:r>
                <a:r>
                  <a:rPr lang="zh-CN" altLang="en-US" sz="2000">
                    <a:sym typeface="+mn-ea"/>
                  </a:rPr>
                  <a:t>三个变量</a:t>
                </a:r>
                <a:r>
                  <a:rPr lang="en-US" altLang="zh-CN" sz="2000">
                    <a:solidFill>
                      <a:srgbClr val="EE3A3A"/>
                    </a:solidFill>
                    <a:sym typeface="+mn-ea"/>
                  </a:rPr>
                  <a:t>r,</a:t>
                </a:r>
                <a:r>
                  <a:rPr lang="en-US" altLang="zh-CN" sz="2000">
                    <a:solidFill>
                      <a:srgbClr val="EE3A3A"/>
                    </a:solidFill>
                    <a:cs typeface="Arial" panose="020B0604020202020204" pitchFamily="34" charset="0"/>
                    <a:sym typeface="+mn-ea"/>
                  </a:rPr>
                  <a:t>θ,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EE3A3A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𝜑</m:t>
                    </m:r>
                  </m:oMath>
                </a14:m>
                <a:endParaRPr lang="en-US" altLang="zh-CN" sz="2000">
                  <a:cs typeface="Arial" panose="020B0604020202020204" pitchFamily="34" charset="0"/>
                </a:endParaRPr>
              </a:p>
              <a:p>
                <a:r>
                  <a:rPr lang="en-US" altLang="zh-CN" sz="2000">
                    <a:sym typeface="+mn-ea"/>
                  </a:rPr>
                  <a:t>    </a:t>
                </a:r>
                <a:r>
                  <a:rPr lang="zh-CN" altLang="en-US" sz="2000">
                    <a:sym typeface="+mn-ea"/>
                  </a:rPr>
                  <a:t>要知道三个变量的取值范围以及几何意义</a:t>
                </a:r>
                <a:endParaRPr lang="zh-CN" altLang="en-US" sz="2000" b="1">
                  <a:sym typeface="+mn-ea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660" y="3899535"/>
                <a:ext cx="7728585" cy="11372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 descr="图片21"/>
          <p:cNvPicPr>
            <a:picLocks noChangeAspect="1"/>
          </p:cNvPicPr>
          <p:nvPr/>
        </p:nvPicPr>
        <p:blipFill>
          <a:blip r:embed="rId4"/>
          <a:srcRect l="24309" r="29084" b="26312"/>
          <a:stretch>
            <a:fillRect/>
          </a:stretch>
        </p:blipFill>
        <p:spPr>
          <a:xfrm>
            <a:off x="6819265" y="3789045"/>
            <a:ext cx="2736215" cy="1356360"/>
          </a:xfrm>
          <a:prstGeom prst="rect">
            <a:avLst/>
          </a:prstGeom>
        </p:spPr>
      </p:pic>
      <p:pic>
        <p:nvPicPr>
          <p:cNvPr id="14" name="图片 13" descr="图片22"/>
          <p:cNvPicPr>
            <a:picLocks noChangeAspect="1"/>
          </p:cNvPicPr>
          <p:nvPr/>
        </p:nvPicPr>
        <p:blipFill>
          <a:blip r:embed="rId5"/>
          <a:srcRect t="39190" b="16283"/>
          <a:stretch>
            <a:fillRect/>
          </a:stretch>
        </p:blipFill>
        <p:spPr>
          <a:xfrm>
            <a:off x="1346835" y="5229225"/>
            <a:ext cx="6892290" cy="796925"/>
          </a:xfrm>
          <a:prstGeom prst="rect">
            <a:avLst/>
          </a:prstGeom>
        </p:spPr>
      </p:pic>
      <p:sp>
        <p:nvSpPr>
          <p:cNvPr id="17" name="等腰三角形 16"/>
          <p:cNvSpPr/>
          <p:nvPr/>
        </p:nvSpPr>
        <p:spPr>
          <a:xfrm>
            <a:off x="962660" y="1412240"/>
            <a:ext cx="292735" cy="306070"/>
          </a:xfrm>
          <a:prstGeom prst="triangle">
            <a:avLst>
              <a:gd name="adj" fmla="val 50108"/>
            </a:avLst>
          </a:prstGeom>
          <a:solidFill>
            <a:schemeClr val="accent2"/>
          </a:solidFill>
          <a:ln w="9525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等腰三角形 17"/>
          <p:cNvSpPr/>
          <p:nvPr>
            <p:custDataLst>
              <p:tags r:id="rId6"/>
            </p:custDataLst>
          </p:nvPr>
        </p:nvSpPr>
        <p:spPr>
          <a:xfrm>
            <a:off x="962660" y="3946525"/>
            <a:ext cx="292735" cy="306070"/>
          </a:xfrm>
          <a:prstGeom prst="triangle">
            <a:avLst>
              <a:gd name="adj" fmla="val 50108"/>
            </a:avLst>
          </a:prstGeom>
          <a:solidFill>
            <a:schemeClr val="accent2"/>
          </a:solidFill>
          <a:ln w="9525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6747510" y="5718175"/>
                <a:ext cx="2346325" cy="63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(</a:t>
                </a:r>
                <a:r>
                  <a:rPr lang="zh-CN" altLang="en-US"/>
                  <a:t>雅可比行列式算出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𝑠𝑖𝑛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𝜑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510" y="5718175"/>
                <a:ext cx="2346325" cy="6375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重积分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pic>
        <p:nvPicPr>
          <p:cNvPr id="24" name="图片 23" descr="图片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5165" y="2564765"/>
            <a:ext cx="3928110" cy="1736725"/>
          </a:xfrm>
          <a:prstGeom prst="rect">
            <a:avLst/>
          </a:prstGeom>
        </p:spPr>
      </p:pic>
      <p:pic>
        <p:nvPicPr>
          <p:cNvPr id="25" name="图片 24" descr="图片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" y="2564765"/>
            <a:ext cx="6108700" cy="158940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130935" y="1880870"/>
            <a:ext cx="33750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3.</a:t>
            </a:r>
            <a:r>
              <a:rPr lang="zh-CN" altLang="en-US" sz="2800" b="1"/>
              <a:t>对称性</a:t>
            </a:r>
            <a:endParaRPr lang="zh-CN" altLang="en-US" sz="2800" b="1"/>
          </a:p>
        </p:txBody>
      </p:sp>
      <p:sp>
        <p:nvSpPr>
          <p:cNvPr id="29" name="文本框 28"/>
          <p:cNvSpPr txBox="1"/>
          <p:nvPr/>
        </p:nvSpPr>
        <p:spPr>
          <a:xfrm>
            <a:off x="1294765" y="4184650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30" name="文本框 29"/>
          <p:cNvSpPr txBox="1"/>
          <p:nvPr/>
        </p:nvSpPr>
        <p:spPr>
          <a:xfrm>
            <a:off x="1058545" y="4509135"/>
            <a:ext cx="9382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19D39"/>
                </a:solidFill>
                <a:sym typeface="+mn-ea"/>
              </a:rPr>
              <a:t>以上是重积分内容的简单概括，大家可以按模块进行有效复习！！</a:t>
            </a:r>
            <a:endParaRPr lang="zh-CN" altLang="en-US" sz="2400" b="1">
              <a:solidFill>
                <a:srgbClr val="F19D39"/>
              </a:solidFill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第一、二型曲线积分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999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</a:t>
            </a:r>
            <a:r>
              <a:rPr lang="zh-CN" altLang="en-US" sz="2400" b="1"/>
              <a:t>第一型曲线积分</a:t>
            </a:r>
            <a:endParaRPr lang="zh-CN" altLang="en-US" sz="2400" b="1"/>
          </a:p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pic>
        <p:nvPicPr>
          <p:cNvPr id="31" name="图片 30" descr="图片25"/>
          <p:cNvPicPr>
            <a:picLocks noChangeAspect="1"/>
          </p:cNvPicPr>
          <p:nvPr/>
        </p:nvPicPr>
        <p:blipFill>
          <a:blip r:embed="rId1"/>
          <a:srcRect l="32443" t="55475" r="34984"/>
          <a:stretch>
            <a:fillRect/>
          </a:stretch>
        </p:blipFill>
        <p:spPr>
          <a:xfrm>
            <a:off x="914400" y="1864995"/>
            <a:ext cx="2611755" cy="699770"/>
          </a:xfrm>
          <a:prstGeom prst="rect">
            <a:avLst/>
          </a:prstGeom>
        </p:spPr>
      </p:pic>
      <p:pic>
        <p:nvPicPr>
          <p:cNvPr id="32" name="图片 31" descr="图片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780665"/>
            <a:ext cx="4571365" cy="2220595"/>
          </a:xfrm>
          <a:prstGeom prst="rect">
            <a:avLst/>
          </a:prstGeom>
        </p:spPr>
      </p:pic>
      <p:pic>
        <p:nvPicPr>
          <p:cNvPr id="4" name="图片 3" descr="图片28"/>
          <p:cNvPicPr>
            <a:picLocks noChangeAspect="1"/>
          </p:cNvPicPr>
          <p:nvPr/>
        </p:nvPicPr>
        <p:blipFill>
          <a:blip r:embed="rId3"/>
          <a:srcRect r="12764"/>
          <a:stretch>
            <a:fillRect/>
          </a:stretch>
        </p:blipFill>
        <p:spPr>
          <a:xfrm>
            <a:off x="3722370" y="1783080"/>
            <a:ext cx="4632325" cy="8369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19490" y="1772285"/>
            <a:ext cx="310134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通常采用</a:t>
            </a:r>
            <a:r>
              <a:rPr lang="zh-CN" altLang="en-US" sz="2000" b="1">
                <a:solidFill>
                  <a:srgbClr val="EE3A3A"/>
                </a:solidFill>
              </a:rPr>
              <a:t>换元法</a:t>
            </a:r>
            <a:r>
              <a:rPr lang="zh-CN" altLang="en-US" sz="2000"/>
              <a:t>解题</a:t>
            </a:r>
            <a:endParaRPr lang="zh-CN" altLang="en-US" sz="2000"/>
          </a:p>
          <a:p>
            <a:r>
              <a:rPr lang="en-US" altLang="zh-CN" sz="2000"/>
              <a:t>x,y</a:t>
            </a:r>
            <a:r>
              <a:rPr lang="zh-CN" altLang="en-US" sz="2000"/>
              <a:t>换成</a:t>
            </a:r>
            <a:r>
              <a:rPr lang="en-US" altLang="zh-CN" sz="2000"/>
              <a:t>t</a:t>
            </a:r>
            <a:endParaRPr lang="en-US" altLang="zh-CN" sz="2000"/>
          </a:p>
          <a:p>
            <a:r>
              <a:rPr lang="en-US" altLang="zh-CN" sz="2000"/>
              <a:t>x</a:t>
            </a:r>
            <a:r>
              <a:rPr lang="zh-CN" altLang="en-US" sz="2000"/>
              <a:t>代</a:t>
            </a:r>
            <a:r>
              <a:rPr lang="en-US" altLang="zh-CN" sz="2000"/>
              <a:t>y,y</a:t>
            </a:r>
            <a:r>
              <a:rPr lang="zh-CN" altLang="en-US" sz="2000"/>
              <a:t>代</a:t>
            </a:r>
            <a:r>
              <a:rPr lang="en-US" altLang="zh-CN" sz="2000"/>
              <a:t>x</a:t>
            </a:r>
            <a:endParaRPr lang="en-US" altLang="zh-CN" sz="2000"/>
          </a:p>
          <a:p>
            <a:r>
              <a:rPr lang="zh-CN" altLang="en-US" sz="2000"/>
              <a:t>极坐标表示</a:t>
            </a:r>
            <a:endParaRPr lang="zh-CN" altLang="en-US" sz="2000"/>
          </a:p>
          <a:p>
            <a:r>
              <a:rPr lang="zh-CN" altLang="en-US" sz="2000"/>
              <a:t>注意第一型曲线积分化为定积分时下标小于上标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198880" y="5012690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2.</a:t>
            </a:r>
            <a:r>
              <a:rPr lang="zh-CN" altLang="en-US" sz="2400" b="1"/>
              <a:t>第二型曲线积分</a:t>
            </a:r>
            <a:endParaRPr lang="zh-CN" altLang="en-US" sz="2400" b="1"/>
          </a:p>
        </p:txBody>
      </p:sp>
      <p:pic>
        <p:nvPicPr>
          <p:cNvPr id="11" name="图片 10" descr="图片29"/>
          <p:cNvPicPr>
            <a:picLocks noChangeAspect="1"/>
          </p:cNvPicPr>
          <p:nvPr/>
        </p:nvPicPr>
        <p:blipFill>
          <a:blip r:embed="rId4"/>
          <a:srcRect l="20528" t="9521" r="28115" b="67258"/>
          <a:stretch>
            <a:fillRect/>
          </a:stretch>
        </p:blipFill>
        <p:spPr>
          <a:xfrm>
            <a:off x="1024890" y="5445125"/>
            <a:ext cx="2842260" cy="7156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083050" y="5445125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EE3A3A"/>
                </a:solidFill>
              </a:rPr>
              <a:t>换元法</a:t>
            </a:r>
            <a:r>
              <a:rPr lang="zh-CN" altLang="en-US" sz="2000" b="1">
                <a:solidFill>
                  <a:srgbClr val="004052"/>
                </a:solidFill>
              </a:rPr>
              <a:t>解题</a:t>
            </a:r>
            <a:endParaRPr lang="zh-CN" altLang="en-US" sz="2000" b="1">
              <a:solidFill>
                <a:srgbClr val="EE3A3A"/>
              </a:solidFill>
            </a:endParaRPr>
          </a:p>
          <a:p>
            <a:r>
              <a:rPr lang="zh-CN" altLang="en-US" sz="2000"/>
              <a:t>化为定积分时下标不一定小于上标</a:t>
            </a:r>
            <a:endParaRPr lang="zh-CN" altLang="en-US" sz="20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第一、二型曲线积分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862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2.</a:t>
            </a:r>
            <a:r>
              <a:rPr lang="zh-CN" altLang="en-US" sz="2400" b="1"/>
              <a:t>第二型曲线积分</a:t>
            </a:r>
            <a:r>
              <a:rPr lang="en-US" altLang="zh-CN" sz="2400" b="1"/>
              <a:t>   </a:t>
            </a:r>
            <a:r>
              <a:rPr lang="zh-CN" altLang="en-US" sz="2400" b="1">
                <a:solidFill>
                  <a:srgbClr val="EE3A3A"/>
                </a:solidFill>
              </a:rPr>
              <a:t>一些对称性！！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7195" y="211709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pic>
        <p:nvPicPr>
          <p:cNvPr id="3" name="图片 2" descr="图片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590" y="1916430"/>
            <a:ext cx="5952490" cy="2065020"/>
          </a:xfrm>
          <a:prstGeom prst="rect">
            <a:avLst/>
          </a:prstGeom>
        </p:spPr>
      </p:pic>
      <p:pic>
        <p:nvPicPr>
          <p:cNvPr id="8" name="图片 7" descr="图片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90" y="4220845"/>
            <a:ext cx="5975350" cy="1414145"/>
          </a:xfrm>
          <a:prstGeom prst="rect">
            <a:avLst/>
          </a:prstGeom>
        </p:spPr>
      </p:pic>
      <p:pic>
        <p:nvPicPr>
          <p:cNvPr id="4" name="图片 3" descr="微信图片_202305201049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980" y="1645285"/>
            <a:ext cx="3335020" cy="32956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第一、二型曲面积分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862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3..</a:t>
            </a:r>
            <a:r>
              <a:rPr lang="zh-CN" altLang="en-US" sz="2400" b="1"/>
              <a:t>第一型曲面积分的计算</a:t>
            </a:r>
            <a:r>
              <a:rPr lang="en-US" altLang="zh-CN" sz="2400" b="1"/>
              <a:t>(</a:t>
            </a:r>
            <a:r>
              <a:rPr lang="zh-CN" altLang="en-US" sz="2400" b="1">
                <a:solidFill>
                  <a:srgbClr val="EE3A3A"/>
                </a:solidFill>
              </a:rPr>
              <a:t>一投二代三微变</a:t>
            </a:r>
            <a:r>
              <a:rPr lang="en-US" altLang="zh-CN" sz="2400" b="1"/>
              <a:t>)   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7195" y="211709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pic>
        <p:nvPicPr>
          <p:cNvPr id="6" name="图片 5" descr="图片34"/>
          <p:cNvPicPr>
            <a:picLocks noChangeAspect="1"/>
          </p:cNvPicPr>
          <p:nvPr/>
        </p:nvPicPr>
        <p:blipFill>
          <a:blip r:embed="rId1"/>
          <a:srcRect t="30437"/>
          <a:stretch>
            <a:fillRect/>
          </a:stretch>
        </p:blipFill>
        <p:spPr>
          <a:xfrm>
            <a:off x="1188720" y="3666490"/>
            <a:ext cx="5440680" cy="1052195"/>
          </a:xfrm>
          <a:prstGeom prst="rect">
            <a:avLst/>
          </a:prstGeom>
        </p:spPr>
      </p:pic>
      <p:pic>
        <p:nvPicPr>
          <p:cNvPr id="11" name="图片 10" descr="图片35"/>
          <p:cNvPicPr>
            <a:picLocks noChangeAspect="1"/>
          </p:cNvPicPr>
          <p:nvPr/>
        </p:nvPicPr>
        <p:blipFill>
          <a:blip r:embed="rId2"/>
          <a:srcRect r="6348"/>
          <a:stretch>
            <a:fillRect/>
          </a:stretch>
        </p:blipFill>
        <p:spPr>
          <a:xfrm>
            <a:off x="1188720" y="1916430"/>
            <a:ext cx="7878445" cy="1566545"/>
          </a:xfrm>
          <a:prstGeom prst="rect">
            <a:avLst/>
          </a:prstGeom>
        </p:spPr>
      </p:pic>
      <p:pic>
        <p:nvPicPr>
          <p:cNvPr id="14" name="图片 13" descr="图片36"/>
          <p:cNvPicPr>
            <a:picLocks noChangeAspect="1"/>
          </p:cNvPicPr>
          <p:nvPr/>
        </p:nvPicPr>
        <p:blipFill>
          <a:blip r:embed="rId3"/>
          <a:srcRect r="17060"/>
          <a:stretch>
            <a:fillRect/>
          </a:stretch>
        </p:blipFill>
        <p:spPr>
          <a:xfrm>
            <a:off x="1346835" y="4902835"/>
            <a:ext cx="4846320" cy="13303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891020" y="3666490"/>
            <a:ext cx="36918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以向</a:t>
            </a:r>
            <a:r>
              <a:rPr lang="en-US" altLang="zh-CN" sz="2000"/>
              <a:t>Oxy</a:t>
            </a:r>
            <a:r>
              <a:rPr lang="zh-CN" altLang="en-US" sz="2000"/>
              <a:t>面投影为例</a:t>
            </a:r>
            <a:endParaRPr lang="zh-CN" altLang="en-US" sz="2000"/>
          </a:p>
          <a:p>
            <a:r>
              <a:rPr lang="zh-CN" altLang="en-US" sz="2000"/>
              <a:t>一投：向</a:t>
            </a:r>
            <a:r>
              <a:rPr lang="en-US" altLang="zh-CN" sz="2000"/>
              <a:t>Oxy</a:t>
            </a:r>
            <a:r>
              <a:rPr lang="zh-CN" altLang="en-US" sz="2000"/>
              <a:t>面投影</a:t>
            </a:r>
            <a:endParaRPr lang="zh-CN" altLang="en-US" sz="2000"/>
          </a:p>
          <a:p>
            <a:r>
              <a:rPr lang="zh-CN" altLang="en-US" sz="2000"/>
              <a:t>二代：将</a:t>
            </a:r>
            <a:r>
              <a:rPr lang="en-US" altLang="zh-CN" sz="2000"/>
              <a:t>z</a:t>
            </a:r>
            <a:r>
              <a:rPr lang="zh-CN" altLang="en-US" sz="2000"/>
              <a:t>代成</a:t>
            </a:r>
            <a:r>
              <a:rPr lang="en-US" altLang="zh-CN" sz="2000"/>
              <a:t>xy</a:t>
            </a:r>
            <a:r>
              <a:rPr lang="zh-CN" altLang="en-US" sz="2000"/>
              <a:t>的函数</a:t>
            </a:r>
            <a:endParaRPr lang="zh-CN" altLang="en-US" sz="2000"/>
          </a:p>
          <a:p>
            <a:r>
              <a:rPr lang="zh-CN" altLang="en-US" sz="2000"/>
              <a:t>三微变</a:t>
            </a:r>
            <a:r>
              <a:rPr lang="en-US" altLang="zh-CN" sz="2000"/>
              <a:t>dS</a:t>
            </a:r>
            <a:r>
              <a:rPr lang="zh-CN" altLang="en-US" sz="2000"/>
              <a:t>变为</a:t>
            </a:r>
            <a:r>
              <a:rPr lang="en-US" altLang="zh-CN" sz="2000"/>
              <a:t>dxdy</a:t>
            </a:r>
            <a:r>
              <a:rPr lang="zh-CN" altLang="en-US" sz="2000"/>
              <a:t>的形式</a:t>
            </a:r>
            <a:endParaRPr lang="zh-CN" altLang="en-US" sz="20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第一、二型曲面积分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537970" y="350075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22780" y="378904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862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4.</a:t>
            </a:r>
            <a:r>
              <a:rPr lang="zh-CN" altLang="en-US" sz="2400" b="1"/>
              <a:t>第二型曲面积分的计算</a:t>
            </a:r>
            <a:endParaRPr lang="zh-CN" altLang="en-US" sz="2400" b="1"/>
          </a:p>
          <a:p>
            <a:r>
              <a:rPr lang="zh-CN" altLang="en-US" sz="2400" b="1">
                <a:solidFill>
                  <a:srgbClr val="004052"/>
                </a:solidFill>
              </a:rPr>
              <a:t>（</a:t>
            </a:r>
            <a:r>
              <a:rPr lang="en-US" altLang="zh-CN" sz="2400" b="1">
                <a:solidFill>
                  <a:srgbClr val="004052"/>
                </a:solidFill>
              </a:rPr>
              <a:t>1</a:t>
            </a:r>
            <a:r>
              <a:rPr lang="zh-CN" altLang="en-US" sz="2400" b="1">
                <a:solidFill>
                  <a:srgbClr val="004052"/>
                </a:solidFill>
              </a:rPr>
              <a:t>）分面投影法（</a:t>
            </a:r>
            <a:r>
              <a:rPr lang="zh-CN" altLang="en-US" sz="2400" b="1">
                <a:solidFill>
                  <a:srgbClr val="EE3A3A"/>
                </a:solidFill>
                <a:sym typeface="+mn-ea"/>
              </a:rPr>
              <a:t>一投二代三定号</a:t>
            </a:r>
            <a:r>
              <a:rPr lang="zh-CN" altLang="en-US" sz="2400" b="1">
                <a:solidFill>
                  <a:srgbClr val="004052"/>
                </a:solidFill>
              </a:rPr>
              <a:t>）</a:t>
            </a:r>
            <a:endParaRPr lang="zh-CN" altLang="en-US" sz="2400" b="1">
              <a:solidFill>
                <a:srgbClr val="EE3A3A"/>
              </a:solidFill>
            </a:endParaRPr>
          </a:p>
          <a:p>
            <a:r>
              <a:rPr lang="en-US" altLang="zh-CN" sz="2400" b="1"/>
              <a:t> 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7195" y="211709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pic>
        <p:nvPicPr>
          <p:cNvPr id="3" name="图片 2" descr="图片37"/>
          <p:cNvPicPr>
            <a:picLocks noChangeAspect="1"/>
          </p:cNvPicPr>
          <p:nvPr/>
        </p:nvPicPr>
        <p:blipFill>
          <a:blip r:embed="rId1"/>
          <a:srcRect l="9006" r="12342" b="40289"/>
          <a:stretch>
            <a:fillRect/>
          </a:stretch>
        </p:blipFill>
        <p:spPr>
          <a:xfrm>
            <a:off x="1237615" y="2285365"/>
            <a:ext cx="5285105" cy="9194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63410" y="2060575"/>
            <a:ext cx="37071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怎么定号</a:t>
            </a:r>
            <a:r>
              <a:rPr lang="en-US" altLang="zh-CN" sz="2000"/>
              <a:t>?</a:t>
            </a:r>
            <a:r>
              <a:rPr lang="zh-CN" altLang="en-US" sz="2000"/>
              <a:t>以向</a:t>
            </a:r>
            <a:r>
              <a:rPr lang="en-US" altLang="zh-CN" sz="2000"/>
              <a:t>Oxy</a:t>
            </a:r>
            <a:r>
              <a:rPr lang="zh-CN" altLang="en-US" sz="2000"/>
              <a:t>面投影为例，当积分曲面为上侧时取</a:t>
            </a:r>
            <a:r>
              <a:rPr lang="en-US" altLang="zh-CN" sz="2000"/>
              <a:t>+</a:t>
            </a:r>
            <a:r>
              <a:rPr lang="zh-CN" altLang="en-US" sz="2000"/>
              <a:t>号，当积分曲面为下侧时取</a:t>
            </a:r>
            <a:r>
              <a:rPr lang="en-US" altLang="zh-CN" sz="2000"/>
              <a:t>-</a:t>
            </a:r>
            <a:r>
              <a:rPr lang="zh-CN" altLang="en-US" sz="2000"/>
              <a:t>号</a:t>
            </a:r>
            <a:r>
              <a:rPr lang="en-US" altLang="zh-CN" sz="2000"/>
              <a:t>.</a:t>
            </a:r>
            <a:endParaRPr lang="en-US" altLang="zh-CN" sz="2000"/>
          </a:p>
        </p:txBody>
      </p:sp>
      <p:pic>
        <p:nvPicPr>
          <p:cNvPr id="17" name="图片 16" descr="图片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615" y="4869180"/>
            <a:ext cx="4834255" cy="1948180"/>
          </a:xfrm>
          <a:prstGeom prst="rect">
            <a:avLst/>
          </a:prstGeom>
        </p:spPr>
      </p:pic>
      <p:pic>
        <p:nvPicPr>
          <p:cNvPr id="18" name="图片 17" descr="图片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615" y="4030345"/>
            <a:ext cx="4780280" cy="87249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274445" y="3356610"/>
            <a:ext cx="50520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EE3A3A"/>
                </a:solidFill>
              </a:rPr>
              <a:t>对称性！！</a:t>
            </a:r>
            <a:endParaRPr lang="zh-CN" altLang="en-US" sz="2800" b="1">
              <a:solidFill>
                <a:srgbClr val="EE3A3A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47510" y="3293110"/>
            <a:ext cx="44926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（2）合一投影法</a:t>
            </a:r>
            <a:endParaRPr lang="zh-CN" altLang="en-US" sz="2400" b="1"/>
          </a:p>
          <a:p>
            <a:endParaRPr lang="en-US" altLang="zh-CN"/>
          </a:p>
        </p:txBody>
      </p:sp>
      <p:pic>
        <p:nvPicPr>
          <p:cNvPr id="24" name="图片 23" descr="图片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020" y="3877945"/>
            <a:ext cx="5136515" cy="25590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第一、二型曲面积分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862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  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7195" y="211709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144905" y="1425575"/>
            <a:ext cx="7719695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EE3A3A"/>
                </a:solidFill>
              </a:rPr>
              <a:t>查缺补漏！！</a:t>
            </a:r>
            <a:endParaRPr lang="zh-CN" altLang="en-US" sz="2000" b="1">
              <a:solidFill>
                <a:srgbClr val="EE3A3A"/>
              </a:solidFill>
            </a:endParaRPr>
          </a:p>
          <a:p>
            <a:r>
              <a:rPr lang="zh-CN" altLang="en-US" sz="2400"/>
              <a:t>第一二型曲</a:t>
            </a:r>
            <a:r>
              <a:rPr lang="zh-CN" altLang="en-US" sz="2400" b="1">
                <a:solidFill>
                  <a:srgbClr val="EE3A3A"/>
                </a:solidFill>
              </a:rPr>
              <a:t>线</a:t>
            </a:r>
            <a:r>
              <a:rPr lang="zh-CN" altLang="en-US" sz="2400"/>
              <a:t>积分的转化公式</a:t>
            </a:r>
            <a:endParaRPr lang="zh-CN" altLang="en-US" sz="2400"/>
          </a:p>
          <a:p>
            <a:r>
              <a:rPr lang="zh-CN" altLang="en-US" sz="2400"/>
              <a:t>第一二型曲</a:t>
            </a:r>
            <a:r>
              <a:rPr lang="zh-CN" altLang="en-US" sz="2400" b="1">
                <a:solidFill>
                  <a:srgbClr val="EE3A3A"/>
                </a:solidFill>
              </a:rPr>
              <a:t>面</a:t>
            </a:r>
            <a:r>
              <a:rPr lang="zh-CN" altLang="en-US" sz="2400"/>
              <a:t>积分的转化公式</a:t>
            </a:r>
            <a:endParaRPr lang="zh-CN" altLang="en-US" sz="2400"/>
          </a:p>
          <a:p>
            <a:r>
              <a:rPr lang="zh-CN" altLang="en-US" sz="2400"/>
              <a:t>对称性：关于</a:t>
            </a:r>
            <a:r>
              <a:rPr lang="en-US" altLang="zh-CN" sz="2400"/>
              <a:t>x,y</a:t>
            </a:r>
            <a:r>
              <a:rPr lang="zh-CN" altLang="en-US" sz="2400"/>
              <a:t>轴，原点，轮换对称性</a:t>
            </a:r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8" name="左大括号 7"/>
          <p:cNvSpPr/>
          <p:nvPr/>
        </p:nvSpPr>
        <p:spPr>
          <a:xfrm>
            <a:off x="1003300" y="3498850"/>
            <a:ext cx="568960" cy="2034540"/>
          </a:xfrm>
          <a:prstGeom prst="leftBrace">
            <a:avLst/>
          </a:prstGeom>
          <a:noFill/>
          <a:ln w="9525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50800" y="4004945"/>
            <a:ext cx="13468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Green</a:t>
            </a:r>
            <a:r>
              <a:rPr lang="zh-CN" altLang="en-US" sz="2400" b="1"/>
              <a:t>公式</a:t>
            </a: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4" name="文本框 23"/>
          <p:cNvSpPr txBox="1"/>
          <p:nvPr/>
        </p:nvSpPr>
        <p:spPr>
          <a:xfrm>
            <a:off x="1411605" y="4243070"/>
            <a:ext cx="43948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 </a:t>
            </a:r>
            <a:r>
              <a:rPr lang="zh-CN" altLang="en-US" sz="2000" b="1"/>
              <a:t>闭区域（不闭合可以构造闭合区域）</a:t>
            </a:r>
            <a:endParaRPr lang="zh-CN" altLang="en-US" sz="2000" b="1"/>
          </a:p>
          <a:p>
            <a:r>
              <a:rPr lang="en-US" altLang="zh-CN" sz="2000" b="1"/>
              <a:t> </a:t>
            </a:r>
            <a:r>
              <a:rPr lang="zh-CN" altLang="en-US" sz="2000" b="1"/>
              <a:t>一阶导连续</a:t>
            </a:r>
            <a:endParaRPr lang="zh-CN" altLang="en-US" sz="2000" b="1"/>
          </a:p>
          <a:p>
            <a:r>
              <a:rPr lang="en-US" altLang="zh-CN" sz="2000" b="1"/>
              <a:t> </a:t>
            </a:r>
            <a:r>
              <a:rPr lang="zh-CN" altLang="en-US" sz="2000" b="1"/>
              <a:t>曲线正向（逆时针）</a:t>
            </a:r>
            <a:endParaRPr lang="zh-CN" altLang="en-US" sz="2000" b="1"/>
          </a:p>
          <a:p>
            <a:r>
              <a:rPr lang="en-US" altLang="zh-CN" sz="2000"/>
              <a:t> </a:t>
            </a:r>
            <a:r>
              <a:rPr lang="zh-CN" altLang="en-US" sz="2000"/>
              <a:t>若题目中是顺时针，</a:t>
            </a:r>
            <a:r>
              <a:rPr lang="en-US" altLang="zh-CN" sz="2000"/>
              <a:t> </a:t>
            </a:r>
            <a:r>
              <a:rPr lang="zh-CN" altLang="en-US" sz="2000"/>
              <a:t>则公式前加负号</a:t>
            </a:r>
            <a:endParaRPr lang="zh-CN" altLang="en-US" sz="2000"/>
          </a:p>
        </p:txBody>
      </p:sp>
      <p:pic>
        <p:nvPicPr>
          <p:cNvPr id="25" name="图片 24" descr="图片44"/>
          <p:cNvPicPr>
            <a:picLocks noChangeAspect="1"/>
          </p:cNvPicPr>
          <p:nvPr/>
        </p:nvPicPr>
        <p:blipFill>
          <a:blip r:embed="rId2"/>
          <a:srcRect l="9576" t="31545"/>
          <a:stretch>
            <a:fillRect/>
          </a:stretch>
        </p:blipFill>
        <p:spPr>
          <a:xfrm>
            <a:off x="2282825" y="3416300"/>
            <a:ext cx="4600575" cy="72771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490980" y="3500755"/>
            <a:ext cx="805815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EE3A3A"/>
                </a:solidFill>
              </a:rPr>
              <a:t>公式</a:t>
            </a:r>
            <a:r>
              <a:rPr lang="zh-CN" altLang="en-US"/>
              <a:t>：</a:t>
            </a:r>
            <a:endParaRPr lang="zh-CN" altLang="en-US"/>
          </a:p>
        </p:txBody>
      </p:sp>
      <p:pic>
        <p:nvPicPr>
          <p:cNvPr id="28" name="图片 27" descr="图片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4113530"/>
            <a:ext cx="5276850" cy="242379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7035165" y="3284855"/>
            <a:ext cx="4460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运用</a:t>
            </a:r>
            <a:r>
              <a:rPr lang="en-US" altLang="zh-CN" sz="2000"/>
              <a:t>Green</a:t>
            </a:r>
            <a:r>
              <a:rPr lang="zh-CN" altLang="en-US" sz="2000"/>
              <a:t>公式</a:t>
            </a:r>
            <a:endParaRPr lang="zh-CN" altLang="en-US" sz="2000"/>
          </a:p>
          <a:p>
            <a:r>
              <a:rPr lang="zh-CN" altLang="en-US" sz="2000"/>
              <a:t>二重积分和第一型曲线积分转化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第一、二型曲面积分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862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  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7195" y="211709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sp>
        <p:nvSpPr>
          <p:cNvPr id="8" name="左大括号 7"/>
          <p:cNvSpPr/>
          <p:nvPr/>
        </p:nvSpPr>
        <p:spPr>
          <a:xfrm>
            <a:off x="1065530" y="1556385"/>
            <a:ext cx="568960" cy="2034540"/>
          </a:xfrm>
          <a:prstGeom prst="leftBrace">
            <a:avLst/>
          </a:prstGeom>
          <a:noFill/>
          <a:ln w="9525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128905" y="1988820"/>
            <a:ext cx="13468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Gauss</a:t>
            </a:r>
            <a:r>
              <a:rPr lang="zh-CN" altLang="en-US" sz="2400" b="1"/>
              <a:t>公式</a:t>
            </a: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4" name="文本框 23"/>
          <p:cNvSpPr txBox="1"/>
          <p:nvPr/>
        </p:nvSpPr>
        <p:spPr>
          <a:xfrm>
            <a:off x="1418590" y="2420620"/>
            <a:ext cx="43948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 </a:t>
            </a:r>
            <a:r>
              <a:rPr lang="zh-CN" altLang="en-US" sz="2000" b="1"/>
              <a:t>闭区域</a:t>
            </a:r>
            <a:endParaRPr lang="zh-CN" altLang="en-US" sz="2000" b="1"/>
          </a:p>
          <a:p>
            <a:r>
              <a:rPr lang="en-US" altLang="zh-CN" sz="2000" b="1"/>
              <a:t> </a:t>
            </a:r>
            <a:r>
              <a:rPr lang="zh-CN" sz="2000" b="1"/>
              <a:t>闭曲面</a:t>
            </a:r>
            <a:r>
              <a:rPr lang="en-US" altLang="zh-CN" sz="2000" b="1"/>
              <a:t> </a:t>
            </a:r>
            <a:r>
              <a:rPr lang="zh-CN" altLang="en-US" sz="2000" b="1"/>
              <a:t>（不闭合可以构造闭合曲面）</a:t>
            </a:r>
            <a:endParaRPr lang="zh-CN" altLang="en-US" sz="2000" b="1"/>
          </a:p>
          <a:p>
            <a:r>
              <a:rPr lang="en-US" altLang="zh-CN" sz="2000" b="1"/>
              <a:t> </a:t>
            </a:r>
            <a:r>
              <a:rPr lang="zh-CN" altLang="en-US" sz="2000" b="1"/>
              <a:t>曲面为区域的外侧</a:t>
            </a:r>
            <a:endParaRPr lang="zh-CN" altLang="en-US" sz="2000" b="1"/>
          </a:p>
          <a:p>
            <a:r>
              <a:rPr lang="en-US" altLang="zh-CN" sz="2000"/>
              <a:t> </a:t>
            </a:r>
            <a:r>
              <a:rPr lang="zh-CN" altLang="en-US" sz="2000"/>
              <a:t>若题目中是内侧，</a:t>
            </a:r>
            <a:r>
              <a:rPr lang="en-US" altLang="zh-CN" sz="2000"/>
              <a:t> </a:t>
            </a:r>
            <a:r>
              <a:rPr lang="zh-CN" altLang="en-US" sz="2000"/>
              <a:t>则公式前加负号</a:t>
            </a:r>
            <a:endParaRPr lang="zh-CN" altLang="en-US" sz="2000"/>
          </a:p>
        </p:txBody>
      </p:sp>
      <p:sp>
        <p:nvSpPr>
          <p:cNvPr id="27" name="文本框 26"/>
          <p:cNvSpPr txBox="1"/>
          <p:nvPr/>
        </p:nvSpPr>
        <p:spPr>
          <a:xfrm>
            <a:off x="1511935" y="1790065"/>
            <a:ext cx="805815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4052"/>
                </a:solidFill>
              </a:rPr>
              <a:t>公式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035165" y="3321685"/>
            <a:ext cx="3327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/>
          </a:p>
        </p:txBody>
      </p:sp>
      <p:pic>
        <p:nvPicPr>
          <p:cNvPr id="4" name="图片 3" descr="图片47"/>
          <p:cNvPicPr>
            <a:picLocks noChangeAspect="1"/>
          </p:cNvPicPr>
          <p:nvPr/>
        </p:nvPicPr>
        <p:blipFill>
          <a:blip r:embed="rId2"/>
          <a:srcRect t="14647" r="712" b="68878"/>
          <a:stretch>
            <a:fillRect/>
          </a:stretch>
        </p:blipFill>
        <p:spPr>
          <a:xfrm>
            <a:off x="2354580" y="1556385"/>
            <a:ext cx="5992495" cy="7613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70290" y="1127125"/>
            <a:ext cx="3416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运用</a:t>
            </a:r>
            <a:r>
              <a:rPr lang="en-US" altLang="zh-CN"/>
              <a:t>Gauss</a:t>
            </a:r>
            <a:r>
              <a:rPr lang="zh-CN" altLang="en-US"/>
              <a:t>公式</a:t>
            </a:r>
            <a:endParaRPr lang="zh-CN" altLang="en-US"/>
          </a:p>
          <a:p>
            <a:r>
              <a:rPr lang="zh-CN" altLang="en-US"/>
              <a:t>三重积分和第二型曲面积分转化</a:t>
            </a:r>
            <a:endParaRPr lang="zh-CN" altLang="en-US"/>
          </a:p>
        </p:txBody>
      </p:sp>
      <p:pic>
        <p:nvPicPr>
          <p:cNvPr id="11" name="图片 10" descr="图片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295" y="1985645"/>
            <a:ext cx="3742055" cy="1605280"/>
          </a:xfrm>
          <a:prstGeom prst="rect">
            <a:avLst/>
          </a:prstGeom>
        </p:spPr>
      </p:pic>
      <p:pic>
        <p:nvPicPr>
          <p:cNvPr id="14" name="图片 13" descr="图片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590" y="3672205"/>
            <a:ext cx="3696335" cy="2012315"/>
          </a:xfrm>
          <a:prstGeom prst="rect">
            <a:avLst/>
          </a:prstGeom>
        </p:spPr>
      </p:pic>
      <p:pic>
        <p:nvPicPr>
          <p:cNvPr id="17" name="图片 16" descr="图片50"/>
          <p:cNvPicPr>
            <a:picLocks noChangeAspect="1"/>
          </p:cNvPicPr>
          <p:nvPr/>
        </p:nvPicPr>
        <p:blipFill>
          <a:blip r:embed="rId5"/>
          <a:srcRect r="15724"/>
          <a:stretch>
            <a:fillRect/>
          </a:stretch>
        </p:blipFill>
        <p:spPr>
          <a:xfrm>
            <a:off x="1517650" y="4184650"/>
            <a:ext cx="4425315" cy="5365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52425" y="4370070"/>
            <a:ext cx="1354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4052"/>
                </a:solidFill>
              </a:rPr>
              <a:t>散度</a:t>
            </a:r>
            <a:endParaRPr lang="zh-CN" altLang="en-US" sz="2400" b="1">
              <a:solidFill>
                <a:srgbClr val="004052"/>
              </a:solidFill>
            </a:endParaRPr>
          </a:p>
          <a:p>
            <a:endParaRPr lang="zh-CN" altLang="en-US" sz="2400" b="1">
              <a:solidFill>
                <a:srgbClr val="004052"/>
              </a:solidFill>
            </a:endParaRPr>
          </a:p>
          <a:p>
            <a:r>
              <a:rPr lang="zh-CN" altLang="en-US" sz="2400" b="1">
                <a:solidFill>
                  <a:srgbClr val="004052"/>
                </a:solidFill>
              </a:rPr>
              <a:t>旋度</a:t>
            </a:r>
            <a:endParaRPr lang="zh-CN" altLang="en-US" sz="2400" b="1">
              <a:solidFill>
                <a:srgbClr val="004052"/>
              </a:solidFill>
            </a:endParaRPr>
          </a:p>
        </p:txBody>
      </p:sp>
      <p:pic>
        <p:nvPicPr>
          <p:cNvPr id="19" name="图片 18" descr="图片51"/>
          <p:cNvPicPr>
            <a:picLocks noChangeAspect="1"/>
          </p:cNvPicPr>
          <p:nvPr/>
        </p:nvPicPr>
        <p:blipFill>
          <a:blip r:embed="rId6"/>
          <a:srcRect l="25060" t="55224" r="14681"/>
          <a:stretch>
            <a:fillRect/>
          </a:stretch>
        </p:blipFill>
        <p:spPr>
          <a:xfrm>
            <a:off x="1490980" y="5012690"/>
            <a:ext cx="2576195" cy="10655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第一、二型曲面积分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42645" y="1282700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39125" y="4940935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0" name="文本框 9"/>
          <p:cNvSpPr txBox="1"/>
          <p:nvPr/>
        </p:nvSpPr>
        <p:spPr>
          <a:xfrm>
            <a:off x="1634490" y="2564765"/>
            <a:ext cx="7393940" cy="310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915795" y="371665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862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  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7195" y="211709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sp>
        <p:nvSpPr>
          <p:cNvPr id="30" name="文本框 29"/>
          <p:cNvSpPr txBox="1"/>
          <p:nvPr/>
        </p:nvSpPr>
        <p:spPr>
          <a:xfrm>
            <a:off x="7035165" y="3321685"/>
            <a:ext cx="3327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/>
          </a:p>
        </p:txBody>
      </p:sp>
      <p:pic>
        <p:nvPicPr>
          <p:cNvPr id="25" name="图片 24" descr="图片5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062" t="9653" r="2921"/>
          <a:stretch>
            <a:fillRect/>
          </a:stretch>
        </p:blipFill>
        <p:spPr>
          <a:xfrm>
            <a:off x="3147060" y="1386205"/>
            <a:ext cx="4104005" cy="2473325"/>
          </a:xfrm>
          <a:prstGeom prst="rect">
            <a:avLst/>
          </a:prstGeom>
        </p:spPr>
      </p:pic>
      <p:sp>
        <p:nvSpPr>
          <p:cNvPr id="28" name="左大括号 27"/>
          <p:cNvSpPr/>
          <p:nvPr/>
        </p:nvSpPr>
        <p:spPr>
          <a:xfrm>
            <a:off x="1634490" y="1386205"/>
            <a:ext cx="577215" cy="3555365"/>
          </a:xfrm>
          <a:prstGeom prst="leftBrace">
            <a:avLst/>
          </a:prstGeom>
          <a:noFill/>
          <a:ln w="9525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237105" y="1412240"/>
            <a:ext cx="1245235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EE3A3A"/>
                </a:solidFill>
              </a:rPr>
              <a:t>公式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82600" y="2420620"/>
            <a:ext cx="12661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Stokes</a:t>
            </a:r>
            <a:r>
              <a:rPr lang="zh-CN" altLang="en-US" sz="2400" b="1"/>
              <a:t>公式：</a:t>
            </a:r>
            <a:endParaRPr lang="zh-CN" altLang="en-US" sz="2400" b="1"/>
          </a:p>
        </p:txBody>
      </p:sp>
      <p:sp>
        <p:nvSpPr>
          <p:cNvPr id="33" name="文本框 32"/>
          <p:cNvSpPr txBox="1"/>
          <p:nvPr/>
        </p:nvSpPr>
        <p:spPr>
          <a:xfrm>
            <a:off x="2282825" y="4064000"/>
            <a:ext cx="4799965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一阶导连续</a:t>
            </a:r>
            <a:endParaRPr lang="zh-CN" altLang="en-US" sz="2000" b="1"/>
          </a:p>
          <a:p>
            <a:r>
              <a:rPr lang="zh-CN" altLang="en-US" sz="2000" b="1"/>
              <a:t>曲线的正向与曲面的侧符合右手规则</a:t>
            </a:r>
            <a:endParaRPr lang="zh-CN" altLang="en-US" sz="2000" b="1"/>
          </a:p>
          <a:p>
            <a:r>
              <a:rPr lang="zh-CN" altLang="en-US"/>
              <a:t>（拇指指向曲面的侧，四指环绕为曲线的方向）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611110" y="1414780"/>
            <a:ext cx="28232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第二型曲线积分和第二型曲面积分转化</a:t>
            </a:r>
            <a:endParaRPr lang="zh-CN" altLang="en-US" sz="2000"/>
          </a:p>
        </p:txBody>
      </p:sp>
      <p:pic>
        <p:nvPicPr>
          <p:cNvPr id="35" name="图片 34" descr="图片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225" y="3832860"/>
            <a:ext cx="4494530" cy="288671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611110" y="3470910"/>
            <a:ext cx="3395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EE3A3A"/>
                </a:solidFill>
              </a:rPr>
              <a:t>四个等价</a:t>
            </a:r>
            <a:r>
              <a:rPr lang="zh-CN" altLang="en-US" sz="2000" b="1">
                <a:solidFill>
                  <a:srgbClr val="004052"/>
                </a:solidFill>
              </a:rPr>
              <a:t>很重要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27355" y="5372735"/>
            <a:ext cx="6607810" cy="986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F19D39"/>
                </a:solidFill>
                <a:sym typeface="+mn-ea"/>
              </a:rPr>
              <a:t>以上是曲线曲面积分内容的简单概括，大家还是可以按模块进行有效复习！！</a:t>
            </a:r>
            <a:endParaRPr lang="zh-CN" altLang="en-US" sz="2000" b="1">
              <a:solidFill>
                <a:srgbClr val="F19D39"/>
              </a:solidFill>
              <a:sym typeface="+mn-ea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无穷级数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648335" y="1124585"/>
            <a:ext cx="10460355" cy="553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2400" b="1"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 sz="2400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907780" y="5373370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895475" y="373824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481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  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0705" y="198882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sp>
        <p:nvSpPr>
          <p:cNvPr id="30" name="文本框 29"/>
          <p:cNvSpPr txBox="1"/>
          <p:nvPr/>
        </p:nvSpPr>
        <p:spPr>
          <a:xfrm>
            <a:off x="7035165" y="3321685"/>
            <a:ext cx="3327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/>
          </a:p>
        </p:txBody>
      </p:sp>
      <p:sp>
        <p:nvSpPr>
          <p:cNvPr id="31" name="文本框 30"/>
          <p:cNvSpPr txBox="1"/>
          <p:nvPr/>
        </p:nvSpPr>
        <p:spPr>
          <a:xfrm>
            <a:off x="2237105" y="1412240"/>
            <a:ext cx="1245235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3" name="图片 2" descr="图片56"/>
          <p:cNvPicPr>
            <a:picLocks noChangeAspect="1"/>
          </p:cNvPicPr>
          <p:nvPr/>
        </p:nvPicPr>
        <p:blipFill>
          <a:blip r:embed="rId1"/>
          <a:srcRect l="14706" t="22069" b="22356"/>
          <a:stretch>
            <a:fillRect/>
          </a:stretch>
        </p:blipFill>
        <p:spPr>
          <a:xfrm>
            <a:off x="3291205" y="1062990"/>
            <a:ext cx="3355975" cy="82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58545" y="1263015"/>
            <a:ext cx="10050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</a:t>
            </a:r>
            <a:r>
              <a:rPr lang="en-US" altLang="zh-CN" sz="2000"/>
              <a:t>|q|&lt;1</a:t>
            </a:r>
            <a:r>
              <a:rPr lang="zh-CN" altLang="en-US" sz="2000"/>
              <a:t>时，</a:t>
            </a:r>
            <a:r>
              <a:rPr lang="zh-CN" altLang="en-US" sz="2000" b="1">
                <a:solidFill>
                  <a:srgbClr val="FF0000"/>
                </a:solidFill>
              </a:rPr>
              <a:t>几何级数</a:t>
            </a:r>
            <a:r>
              <a:rPr lang="en-US" altLang="zh-CN"/>
              <a:t>                                                   </a:t>
            </a:r>
            <a:r>
              <a:rPr lang="zh-CN" altLang="en-US" sz="2000"/>
              <a:t>收敛于</a:t>
            </a:r>
            <a:endParaRPr lang="zh-CN" altLang="en-US" sz="2000"/>
          </a:p>
        </p:txBody>
      </p:sp>
      <p:pic>
        <p:nvPicPr>
          <p:cNvPr id="8" name="图片 7" descr="图片58"/>
          <p:cNvPicPr>
            <a:picLocks noChangeAspect="1"/>
          </p:cNvPicPr>
          <p:nvPr/>
        </p:nvPicPr>
        <p:blipFill>
          <a:blip r:embed="rId2"/>
          <a:srcRect l="88133" b="24543"/>
          <a:stretch>
            <a:fillRect/>
          </a:stretch>
        </p:blipFill>
        <p:spPr>
          <a:xfrm>
            <a:off x="7611110" y="1175385"/>
            <a:ext cx="744855" cy="659765"/>
          </a:xfrm>
          <a:prstGeom prst="rect">
            <a:avLst/>
          </a:prstGeom>
        </p:spPr>
      </p:pic>
      <p:pic>
        <p:nvPicPr>
          <p:cNvPr id="11" name="图片 10" descr="图片59"/>
          <p:cNvPicPr>
            <a:picLocks noChangeAspect="1"/>
          </p:cNvPicPr>
          <p:nvPr/>
        </p:nvPicPr>
        <p:blipFill>
          <a:blip r:embed="rId3"/>
          <a:srcRect l="11761" t="23485" r="23977" b="24009"/>
          <a:stretch>
            <a:fillRect/>
          </a:stretch>
        </p:blipFill>
        <p:spPr>
          <a:xfrm>
            <a:off x="2138680" y="1988820"/>
            <a:ext cx="4265930" cy="59309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094105" y="2079625"/>
            <a:ext cx="1941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调和级数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30975" y="2060575"/>
            <a:ext cx="1141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发散</a:t>
            </a:r>
            <a:endParaRPr lang="zh-CN" altLang="en-US" sz="2000"/>
          </a:p>
        </p:txBody>
      </p:sp>
      <p:pic>
        <p:nvPicPr>
          <p:cNvPr id="18" name="图片 17" descr="图片60"/>
          <p:cNvPicPr>
            <a:picLocks noChangeAspect="1"/>
          </p:cNvPicPr>
          <p:nvPr/>
        </p:nvPicPr>
        <p:blipFill>
          <a:blip r:embed="rId4"/>
          <a:srcRect l="44244" r="24843"/>
          <a:stretch>
            <a:fillRect/>
          </a:stretch>
        </p:blipFill>
        <p:spPr>
          <a:xfrm>
            <a:off x="1130935" y="2757170"/>
            <a:ext cx="1377950" cy="61341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577465" y="2908935"/>
            <a:ext cx="3737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p&gt;1</a:t>
            </a:r>
            <a:r>
              <a:rPr lang="zh-CN" altLang="en-US" sz="2000"/>
              <a:t>收敛</a:t>
            </a:r>
            <a:r>
              <a:rPr lang="en-US" altLang="zh-CN" sz="2000"/>
              <a:t>   p</a:t>
            </a:r>
            <a:r>
              <a:rPr lang="en-US" altLang="zh-CN" sz="2000">
                <a:latin typeface="宋体" panose="02010600030101010101" pitchFamily="2" charset="-122"/>
              </a:rPr>
              <a:t>≦1</a:t>
            </a:r>
            <a:r>
              <a:rPr lang="zh-CN" altLang="en-US" sz="2000">
                <a:latin typeface="宋体" panose="02010600030101010101" pitchFamily="2" charset="-122"/>
              </a:rPr>
              <a:t>发散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pic>
        <p:nvPicPr>
          <p:cNvPr id="20" name="图片 19" descr="图片61"/>
          <p:cNvPicPr>
            <a:picLocks noChangeAspect="1"/>
          </p:cNvPicPr>
          <p:nvPr/>
        </p:nvPicPr>
        <p:blipFill>
          <a:blip r:embed="rId5"/>
          <a:srcRect l="10199" t="22777" r="8077" b="20571"/>
          <a:stretch>
            <a:fillRect/>
          </a:stretch>
        </p:blipFill>
        <p:spPr>
          <a:xfrm>
            <a:off x="2165350" y="3573145"/>
            <a:ext cx="4222115" cy="64325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130935" y="3757930"/>
            <a:ext cx="1293495" cy="568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rgbClr val="FF0000"/>
                </a:solidFill>
              </a:rPr>
              <a:t>p-</a:t>
            </a:r>
            <a:r>
              <a:rPr lang="zh-CN" altLang="en-US" sz="2000" b="1">
                <a:solidFill>
                  <a:srgbClr val="FF0000"/>
                </a:solidFill>
              </a:rPr>
              <a:t>级数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87465" y="3742690"/>
            <a:ext cx="330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p&gt;1</a:t>
            </a:r>
            <a:r>
              <a:rPr lang="zh-CN" altLang="en-US" sz="2000">
                <a:sym typeface="+mn-ea"/>
              </a:rPr>
              <a:t>收敛</a:t>
            </a:r>
            <a:r>
              <a:rPr lang="en-US" altLang="zh-CN" sz="2000">
                <a:sym typeface="+mn-ea"/>
              </a:rPr>
              <a:t>    p</a:t>
            </a:r>
            <a:r>
              <a:rPr lang="en-US" altLang="zh-CN" sz="2000">
                <a:latin typeface="宋体" panose="02010600030101010101" pitchFamily="2" charset="-122"/>
                <a:sym typeface="+mn-ea"/>
              </a:rPr>
              <a:t>≦1</a:t>
            </a:r>
            <a:r>
              <a:rPr lang="zh-CN" altLang="en-US" sz="2000">
                <a:latin typeface="宋体" panose="02010600030101010101" pitchFamily="2" charset="-122"/>
                <a:sym typeface="+mn-ea"/>
              </a:rPr>
              <a:t>发散</a:t>
            </a:r>
            <a:endParaRPr lang="zh-CN" altLang="en-US" sz="2000">
              <a:latin typeface="宋体" panose="02010600030101010101" pitchFamily="2" charset="-122"/>
              <a:sym typeface="+mn-ea"/>
            </a:endParaRPr>
          </a:p>
        </p:txBody>
      </p:sp>
      <p:pic>
        <p:nvPicPr>
          <p:cNvPr id="38" name="图片 37" descr="图片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105" y="5013325"/>
            <a:ext cx="5904865" cy="15005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1"/>
              <p:nvPr/>
            </p:nvSpPr>
            <p:spPr>
              <a:xfrm>
                <a:off x="1094105" y="4498340"/>
                <a:ext cx="4060825" cy="435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 b="1">
                    <a:solidFill>
                      <a:srgbClr val="FF0000"/>
                    </a:solidFill>
                  </a:rPr>
                  <a:t>Leibniz</a:t>
                </a:r>
                <a:r>
                  <a:rPr lang="zh-CN" altLang="en-US" sz="2000" b="1">
                    <a:solidFill>
                      <a:srgbClr val="FF0000"/>
                    </a:solidFill>
                  </a:rPr>
                  <a:t>判别法</a:t>
                </a:r>
                <a:r>
                  <a:rPr lang="zh-CN" altLang="en-US" sz="2000" b="1"/>
                  <a:t>（有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（</m:t>
                        </m:r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）</m:t>
                        </m:r>
                      </m:e>
                      <m:sup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形式</a:t>
                </a:r>
                <a:r>
                  <a:rPr lang="zh-CN" altLang="en-US" sz="2000" b="1"/>
                  <a:t>）</a:t>
                </a:r>
                <a:endParaRPr lang="zh-CN" altLang="en-US" sz="2000" b="1"/>
              </a:p>
            </p:txBody>
          </p:sp>
        </mc:Choice>
        <mc:Fallback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05" y="4498340"/>
                <a:ext cx="4060825" cy="435610"/>
              </a:xfrm>
              <a:prstGeom prst="rect">
                <a:avLst/>
              </a:prstGeom>
              <a:blipFill rotWithShape="1">
                <a:blip r:embed="rId7"/>
                <a:stretch>
                  <a:fillRect r="-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 descr="图片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5210" y="4210685"/>
            <a:ext cx="4664075" cy="1779905"/>
          </a:xfrm>
          <a:prstGeom prst="rect">
            <a:avLst/>
          </a:prstGeom>
        </p:spPr>
      </p:pic>
      <p:pic>
        <p:nvPicPr>
          <p:cNvPr id="41" name="图片 40" descr="图片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6010" y="6165215"/>
            <a:ext cx="4613275" cy="62420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9123680" y="3842385"/>
            <a:ext cx="2744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绝对收敛、条件收敛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正项级数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907780" y="5373370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895475" y="373824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481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  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0705" y="198882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sp>
        <p:nvSpPr>
          <p:cNvPr id="30" name="文本框 29"/>
          <p:cNvSpPr txBox="1"/>
          <p:nvPr/>
        </p:nvSpPr>
        <p:spPr>
          <a:xfrm>
            <a:off x="7035165" y="3321685"/>
            <a:ext cx="3327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/>
          </a:p>
        </p:txBody>
      </p:sp>
      <p:sp>
        <p:nvSpPr>
          <p:cNvPr id="31" name="文本框 30"/>
          <p:cNvSpPr txBox="1"/>
          <p:nvPr/>
        </p:nvSpPr>
        <p:spPr>
          <a:xfrm>
            <a:off x="572135" y="1677670"/>
            <a:ext cx="1323340" cy="2017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EE3A3A"/>
                </a:solidFill>
              </a:rPr>
              <a:t>正项级数</a:t>
            </a:r>
            <a:endParaRPr lang="zh-CN" altLang="en-US" sz="2000" b="1">
              <a:solidFill>
                <a:srgbClr val="EE3A3A"/>
              </a:solidFill>
            </a:endParaRPr>
          </a:p>
          <a:p>
            <a:r>
              <a:rPr lang="zh-CN" altLang="en-US" sz="2000" b="1"/>
              <a:t>判断敛散性的方法</a:t>
            </a:r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4" name="左大括号 3"/>
          <p:cNvSpPr/>
          <p:nvPr/>
        </p:nvSpPr>
        <p:spPr>
          <a:xfrm>
            <a:off x="1851025" y="1278890"/>
            <a:ext cx="473075" cy="2089150"/>
          </a:xfrm>
          <a:prstGeom prst="leftBrace">
            <a:avLst/>
          </a:prstGeom>
          <a:noFill/>
          <a:ln w="9525" cap="flat" cmpd="sng" algn="ctr">
            <a:solidFill>
              <a:schemeClr val="tx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54580" y="1124585"/>
            <a:ext cx="3110230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比较判别法</a:t>
            </a:r>
            <a:endParaRPr lang="zh-CN" altLang="en-US" sz="2000"/>
          </a:p>
          <a:p>
            <a:endParaRPr lang="zh-CN" altLang="en-US"/>
          </a:p>
          <a:p>
            <a:r>
              <a:rPr lang="zh-CN" altLang="en-US" sz="2000"/>
              <a:t>比较判别法的极限形式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比值判别法</a:t>
            </a:r>
            <a:endParaRPr lang="zh-CN" altLang="en-US" sz="2000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2000"/>
              <a:t>根值判别法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25" name="图片 24" descr="图片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7375" y="1477010"/>
            <a:ext cx="5031105" cy="140716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794760" y="1124585"/>
            <a:ext cx="5538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（大的收敛小的必收敛，小的发散大的必发散）</a:t>
            </a:r>
            <a:endParaRPr lang="zh-CN" altLang="en-US" sz="2000"/>
          </a:p>
        </p:txBody>
      </p:sp>
      <p:pic>
        <p:nvPicPr>
          <p:cNvPr id="32" name="图片 31" descr="图片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4235450"/>
            <a:ext cx="5053330" cy="212534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482600" y="3768090"/>
            <a:ext cx="48964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EE3A3A"/>
                </a:solidFill>
              </a:rPr>
              <a:t>比较判别法的极限形式</a:t>
            </a:r>
            <a:r>
              <a:rPr lang="zh-CN" altLang="en-US" b="1">
                <a:solidFill>
                  <a:srgbClr val="EE3A3A"/>
                </a:solidFill>
              </a:rPr>
              <a:t>：</a:t>
            </a:r>
            <a:endParaRPr lang="zh-CN" altLang="en-US" b="1">
              <a:solidFill>
                <a:srgbClr val="EE3A3A"/>
              </a:solidFill>
            </a:endParaRPr>
          </a:p>
        </p:txBody>
      </p:sp>
      <p:pic>
        <p:nvPicPr>
          <p:cNvPr id="34" name="图片 33" descr="图片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3246755"/>
            <a:ext cx="3893185" cy="1659890"/>
          </a:xfrm>
          <a:prstGeom prst="rect">
            <a:avLst/>
          </a:prstGeom>
        </p:spPr>
      </p:pic>
      <p:pic>
        <p:nvPicPr>
          <p:cNvPr id="35" name="图片 34" descr="图片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445125"/>
            <a:ext cx="3831590" cy="106426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675120" y="2972435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EE3A3A"/>
                </a:solidFill>
              </a:rPr>
              <a:t>比值判别法：</a:t>
            </a:r>
            <a:endParaRPr lang="zh-CN" altLang="en-US" b="1">
              <a:solidFill>
                <a:srgbClr val="EE3A3A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724650" y="5224780"/>
            <a:ext cx="2183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EE3A3A"/>
                </a:solidFill>
              </a:rPr>
              <a:t>根值判别法：</a:t>
            </a:r>
            <a:endParaRPr lang="zh-CN" altLang="en-US" b="1">
              <a:solidFill>
                <a:srgbClr val="EE3A3A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251950" y="1149350"/>
            <a:ext cx="1852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EE3A3A"/>
                </a:solidFill>
              </a:rPr>
              <a:t>比较判别法：</a:t>
            </a:r>
            <a:endParaRPr lang="zh-CN" altLang="en-US" b="1">
              <a:solidFill>
                <a:srgbClr val="EE3A3A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138680" y="2708910"/>
            <a:ext cx="48634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u="sng">
                <a:solidFill>
                  <a:schemeClr val="accent5">
                    <a:lumMod val="75000"/>
                  </a:schemeClr>
                </a:solidFill>
              </a:rPr>
              <a:t>带阶乘用比值，其余用根植判别法！！</a:t>
            </a:r>
            <a:endParaRPr lang="zh-CN" altLang="en-US" sz="2000" b="1" u="sng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65"/>
          <p:cNvSpPr/>
          <p:nvPr/>
        </p:nvSpPr>
        <p:spPr>
          <a:xfrm>
            <a:off x="3959419" y="265814"/>
            <a:ext cx="4279512" cy="5227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4"/>
          <p:cNvSpPr txBox="1"/>
          <p:nvPr/>
        </p:nvSpPr>
        <p:spPr>
          <a:xfrm>
            <a:off x="4188679" y="260231"/>
            <a:ext cx="38209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 b="1">
                <a:latin typeface="+mj-ea"/>
                <a:ea typeface="+mj-ea"/>
              </a:defRPr>
            </a:lvl1pPr>
          </a:lstStyle>
          <a:p>
            <a:r>
              <a:rPr lang="zh-CN" altLang="en-US" sz="2800" dirty="0"/>
              <a:t>剩余内容主要题型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6017895" y="2362835"/>
            <a:ext cx="404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675120" y="2221865"/>
            <a:ext cx="3966210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907780" y="5373370"/>
            <a:ext cx="4273550" cy="177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954655" y="1340485"/>
            <a:ext cx="4866640" cy="197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15" name="文本框 14"/>
          <p:cNvSpPr txBox="1"/>
          <p:nvPr/>
        </p:nvSpPr>
        <p:spPr>
          <a:xfrm>
            <a:off x="6315075" y="3140710"/>
            <a:ext cx="4779645" cy="111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 b="1"/>
          </a:p>
        </p:txBody>
      </p:sp>
      <p:sp>
        <p:nvSpPr>
          <p:cNvPr id="21" name="文本框 20"/>
          <p:cNvSpPr txBox="1"/>
          <p:nvPr/>
        </p:nvSpPr>
        <p:spPr>
          <a:xfrm>
            <a:off x="855980" y="1339850"/>
            <a:ext cx="63449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</a:t>
            </a:r>
            <a:endParaRPr lang="en-US" altLang="zh-CN" sz="2000">
              <a:cs typeface="Arial" panose="020B0604020202020204" pitchFamily="34" charset="0"/>
            </a:endParaRPr>
          </a:p>
          <a:p>
            <a:br>
              <a:rPr lang="zh-CN" altLang="en-US" sz="2400" b="1"/>
            </a:br>
            <a:endParaRPr lang="zh-CN" altLang="en-US" sz="2400" b="1"/>
          </a:p>
          <a:p>
            <a:endParaRPr lang="zh-CN" altLang="en-US" sz="2400" b="1"/>
          </a:p>
        </p:txBody>
      </p:sp>
      <p:sp>
        <p:nvSpPr>
          <p:cNvPr id="26" name="文本框 25"/>
          <p:cNvSpPr txBox="1"/>
          <p:nvPr/>
        </p:nvSpPr>
        <p:spPr>
          <a:xfrm>
            <a:off x="1895475" y="3738245"/>
            <a:ext cx="6114415" cy="2505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30935" y="1348105"/>
            <a:ext cx="77336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 b="1"/>
              <a:t>                                   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1130935" y="1348105"/>
            <a:ext cx="6622415" cy="152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/>
              <a:t>  </a:t>
            </a:r>
            <a:endParaRPr lang="zh-CN" altLang="en-US" sz="2400" b="1">
              <a:solidFill>
                <a:srgbClr val="EE3A3A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0705" y="1988820"/>
            <a:ext cx="4138930" cy="791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/>
          </a:p>
        </p:txBody>
      </p:sp>
      <p:sp>
        <p:nvSpPr>
          <p:cNvPr id="30" name="文本框 29"/>
          <p:cNvSpPr txBox="1"/>
          <p:nvPr/>
        </p:nvSpPr>
        <p:spPr>
          <a:xfrm>
            <a:off x="7035165" y="3321685"/>
            <a:ext cx="3327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/>
          </a:p>
        </p:txBody>
      </p:sp>
      <p:sp>
        <p:nvSpPr>
          <p:cNvPr id="31" name="文本框 30"/>
          <p:cNvSpPr txBox="1"/>
          <p:nvPr/>
        </p:nvSpPr>
        <p:spPr>
          <a:xfrm>
            <a:off x="572135" y="1677670"/>
            <a:ext cx="1323340" cy="2017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000" b="1"/>
          </a:p>
        </p:txBody>
      </p:sp>
      <p:sp>
        <p:nvSpPr>
          <p:cNvPr id="33" name="文本框 32"/>
          <p:cNvSpPr txBox="1"/>
          <p:nvPr/>
        </p:nvSpPr>
        <p:spPr>
          <a:xfrm>
            <a:off x="482600" y="3768090"/>
            <a:ext cx="4896485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>
              <a:solidFill>
                <a:srgbClr val="EE3A3A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8740" y="1557020"/>
            <a:ext cx="8710930" cy="5877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即将要学的知识点！！</a:t>
            </a:r>
            <a:endParaRPr lang="zh-CN" altLang="en-US" sz="2800" b="1">
              <a:solidFill>
                <a:srgbClr val="FF0000"/>
              </a:solidFill>
            </a:endParaRPr>
          </a:p>
          <a:p>
            <a:r>
              <a:rPr lang="zh-CN" altLang="en-US" sz="2000" b="1"/>
              <a:t>函数项级数、幂级数：如何求收敛区间、收敛域</a:t>
            </a:r>
            <a:endParaRPr lang="zh-CN" altLang="en-US" sz="2000" b="1"/>
          </a:p>
          <a:p>
            <a:r>
              <a:rPr lang="zh-CN" altLang="en-US" sz="2000" b="1"/>
              <a:t>求幂级数的和函数</a:t>
            </a:r>
            <a:endParaRPr lang="zh-CN" altLang="en-US" sz="2000" b="1"/>
          </a:p>
          <a:p>
            <a:r>
              <a:rPr lang="zh-CN" altLang="en-US" sz="2000" b="1"/>
              <a:t>简单函数的幂级数展开</a:t>
            </a:r>
            <a:endParaRPr lang="zh-CN" altLang="en-US" sz="2000" b="1"/>
          </a:p>
          <a:p>
            <a:r>
              <a:rPr lang="zh-CN" altLang="en-US" sz="2000" b="1"/>
              <a:t>求傅里叶级数展开式、正弦级数、余弦级数</a:t>
            </a:r>
            <a:endParaRPr lang="zh-CN" altLang="en-US" sz="2000" b="1"/>
          </a:p>
          <a:p>
            <a:r>
              <a:rPr lang="zh-CN" altLang="en-US" sz="2000" b="1"/>
              <a:t>可分离变量方程</a:t>
            </a:r>
            <a:endParaRPr lang="zh-CN" altLang="en-US" sz="2000" b="1"/>
          </a:p>
          <a:p>
            <a:r>
              <a:rPr lang="zh-CN" altLang="en-US" sz="2000" b="1"/>
              <a:t>齐次方程、非齐次方程</a:t>
            </a:r>
            <a:endParaRPr lang="zh-CN" altLang="en-US" sz="2000" b="1"/>
          </a:p>
          <a:p>
            <a:r>
              <a:rPr lang="zh-CN" altLang="en-US" sz="2000" b="1"/>
              <a:t>一阶齐次线性微分方程、一阶非齐次线性微分方程、伯努利方程</a:t>
            </a:r>
            <a:endParaRPr lang="zh-CN" altLang="en-US" sz="2000" b="1"/>
          </a:p>
          <a:p>
            <a:r>
              <a:rPr lang="zh-CN" altLang="en-US" sz="2000" b="1"/>
              <a:t>全微分方程</a:t>
            </a:r>
            <a:endParaRPr lang="zh-CN" altLang="en-US" sz="2000" b="1"/>
          </a:p>
          <a:p>
            <a:r>
              <a:rPr lang="zh-CN" altLang="en-US" sz="2000" b="1"/>
              <a:t>可降阶的高阶微分方程</a:t>
            </a:r>
            <a:endParaRPr lang="zh-CN" altLang="en-US" sz="2000" b="1"/>
          </a:p>
          <a:p>
            <a:r>
              <a:rPr lang="en-US" altLang="zh-CN" sz="2000" b="1"/>
              <a:t>n</a:t>
            </a:r>
            <a:r>
              <a:rPr lang="zh-CN" altLang="en-US" sz="2000" b="1"/>
              <a:t>阶齐次（非齐次）线性微分方程</a:t>
            </a:r>
            <a:endParaRPr lang="zh-CN" altLang="en-US" sz="2000" b="1"/>
          </a:p>
          <a:p>
            <a:r>
              <a:rPr lang="en-US" altLang="zh-CN" sz="2000" b="1">
                <a:sym typeface="+mn-ea"/>
              </a:rPr>
              <a:t>n</a:t>
            </a:r>
            <a:r>
              <a:rPr lang="zh-CN" altLang="en-US" sz="2000" b="1">
                <a:sym typeface="+mn-ea"/>
              </a:rPr>
              <a:t>阶齐次（非齐次）非线性微分方程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欧拉方程</a:t>
            </a:r>
            <a:endParaRPr lang="zh-CN" altLang="en-US" sz="2000" b="1"/>
          </a:p>
          <a:p>
            <a:r>
              <a:rPr lang="en-US" altLang="zh-CN"/>
              <a:t>......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3" name="图片 2" descr="微信图片_202305201050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">
            <a:off x="8590280" y="813435"/>
            <a:ext cx="2674620" cy="2599690"/>
          </a:xfrm>
          <a:prstGeom prst="rect">
            <a:avLst/>
          </a:prstGeom>
        </p:spPr>
      </p:pic>
      <p:pic>
        <p:nvPicPr>
          <p:cNvPr id="8" name="图片 7" descr="微信图片_202305201049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0000">
            <a:off x="8538210" y="4005580"/>
            <a:ext cx="2396490" cy="23964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  <p:bldLst>
      <p:bldP spid="22" grpId="0" animBg="1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A_组合 36"/>
          <p:cNvGrpSpPr/>
          <p:nvPr>
            <p:custDataLst>
              <p:tags r:id="rId1"/>
            </p:custDataLst>
          </p:nvPr>
        </p:nvGrpSpPr>
        <p:grpSpPr>
          <a:xfrm>
            <a:off x="2337113" y="1009106"/>
            <a:ext cx="9433048" cy="6684477"/>
            <a:chOff x="1753130" y="836464"/>
            <a:chExt cx="10416772" cy="68580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3130" y="836464"/>
              <a:ext cx="10416772" cy="6858000"/>
            </a:xfrm>
            <a:prstGeom prst="rect">
              <a:avLst/>
            </a:prstGeom>
          </p:spPr>
        </p:pic>
        <p:sp>
          <p:nvSpPr>
            <p:cNvPr id="10" name="任意多边形: 形状 9"/>
            <p:cNvSpPr/>
            <p:nvPr/>
          </p:nvSpPr>
          <p:spPr bwMode="auto">
            <a:xfrm>
              <a:off x="6341735" y="2276872"/>
              <a:ext cx="3501856" cy="360040"/>
            </a:xfrm>
            <a:custGeom>
              <a:avLst/>
              <a:gdLst>
                <a:gd name="connsiteX0" fmla="*/ 0 w 3501856"/>
                <a:gd name="connsiteY0" fmla="*/ 0 h 432048"/>
                <a:gd name="connsiteX1" fmla="*/ 3501856 w 3501856"/>
                <a:gd name="connsiteY1" fmla="*/ 0 h 432048"/>
                <a:gd name="connsiteX2" fmla="*/ 3501856 w 3501856"/>
                <a:gd name="connsiteY2" fmla="*/ 81033 h 432048"/>
                <a:gd name="connsiteX3" fmla="*/ 3306940 w 3501856"/>
                <a:gd name="connsiteY3" fmla="*/ 432048 h 432048"/>
                <a:gd name="connsiteX4" fmla="*/ 266248 w 3501856"/>
                <a:gd name="connsiteY4" fmla="*/ 432048 h 43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1856" h="432048">
                  <a:moveTo>
                    <a:pt x="0" y="0"/>
                  </a:moveTo>
                  <a:lnTo>
                    <a:pt x="3501856" y="0"/>
                  </a:lnTo>
                  <a:lnTo>
                    <a:pt x="3501856" y="81033"/>
                  </a:lnTo>
                  <a:lnTo>
                    <a:pt x="3306940" y="432048"/>
                  </a:lnTo>
                  <a:lnTo>
                    <a:pt x="266248" y="432048"/>
                  </a:lnTo>
                  <a:close/>
                </a:path>
              </a:pathLst>
            </a:custGeom>
            <a:solidFill>
              <a:srgbClr val="00918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任意多边形: 形状 14"/>
            <p:cNvSpPr/>
            <p:nvPr/>
          </p:nvSpPr>
          <p:spPr bwMode="auto">
            <a:xfrm rot="1461578">
              <a:off x="6191245" y="5210083"/>
              <a:ext cx="378527" cy="1806388"/>
            </a:xfrm>
            <a:custGeom>
              <a:avLst/>
              <a:gdLst>
                <a:gd name="connsiteX0" fmla="*/ 0 w 378527"/>
                <a:gd name="connsiteY0" fmla="*/ 0 h 1806388"/>
                <a:gd name="connsiteX1" fmla="*/ 378527 w 378527"/>
                <a:gd name="connsiteY1" fmla="*/ 0 h 1806388"/>
                <a:gd name="connsiteX2" fmla="*/ 378527 w 378527"/>
                <a:gd name="connsiteY2" fmla="*/ 1635002 h 1806388"/>
                <a:gd name="connsiteX3" fmla="*/ 0 w 378527"/>
                <a:gd name="connsiteY3" fmla="*/ 1806388 h 1806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527" h="1806388">
                  <a:moveTo>
                    <a:pt x="0" y="0"/>
                  </a:moveTo>
                  <a:lnTo>
                    <a:pt x="378527" y="0"/>
                  </a:lnTo>
                  <a:lnTo>
                    <a:pt x="378527" y="1635002"/>
                  </a:lnTo>
                  <a:lnTo>
                    <a:pt x="0" y="1806388"/>
                  </a:lnTo>
                  <a:close/>
                </a:path>
              </a:pathLst>
            </a:custGeom>
            <a:solidFill>
              <a:srgbClr val="003F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任意多边形: 形状 17"/>
            <p:cNvSpPr/>
            <p:nvPr/>
          </p:nvSpPr>
          <p:spPr bwMode="auto">
            <a:xfrm rot="20250776">
              <a:off x="10361773" y="5905979"/>
              <a:ext cx="378527" cy="1064893"/>
            </a:xfrm>
            <a:custGeom>
              <a:avLst/>
              <a:gdLst>
                <a:gd name="connsiteX0" fmla="*/ 378527 w 378527"/>
                <a:gd name="connsiteY0" fmla="*/ 0 h 1064893"/>
                <a:gd name="connsiteX1" fmla="*/ 378527 w 378527"/>
                <a:gd name="connsiteY1" fmla="*/ 1064893 h 1064893"/>
                <a:gd name="connsiteX2" fmla="*/ 0 w 378527"/>
                <a:gd name="connsiteY2" fmla="*/ 908203 h 1064893"/>
                <a:gd name="connsiteX3" fmla="*/ 0 w 378527"/>
                <a:gd name="connsiteY3" fmla="*/ 0 h 106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527" h="1064893">
                  <a:moveTo>
                    <a:pt x="378527" y="0"/>
                  </a:moveTo>
                  <a:lnTo>
                    <a:pt x="378527" y="1064893"/>
                  </a:lnTo>
                  <a:lnTo>
                    <a:pt x="0" y="908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 rot="1895203">
              <a:off x="2021795" y="5379462"/>
              <a:ext cx="495283" cy="865396"/>
            </a:xfrm>
            <a:prstGeom prst="rect">
              <a:avLst/>
            </a:prstGeom>
            <a:solidFill>
              <a:srgbClr val="00405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 rot="20933253">
              <a:off x="6990981" y="4045620"/>
              <a:ext cx="143251" cy="144000"/>
            </a:xfrm>
            <a:prstGeom prst="ellipse">
              <a:avLst/>
            </a:prstGeom>
            <a:solidFill>
              <a:srgbClr val="00405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动作按钮: 空白 22">
              <a:hlinkClick r:id="" action="ppaction://noaction" highlightClick="1"/>
            </p:cNvPr>
            <p:cNvSpPr/>
            <p:nvPr/>
          </p:nvSpPr>
          <p:spPr bwMode="auto">
            <a:xfrm>
              <a:off x="8676905" y="4300282"/>
              <a:ext cx="136800" cy="136800"/>
            </a:xfrm>
            <a:prstGeom prst="actionButtonBlank">
              <a:avLst/>
            </a:prstGeom>
            <a:solidFill>
              <a:srgbClr val="00405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动作按钮: 空白 23">
              <a:hlinkClick r:id="" action="ppaction://noaction" highlightClick="1"/>
            </p:cNvPr>
            <p:cNvSpPr/>
            <p:nvPr/>
          </p:nvSpPr>
          <p:spPr bwMode="auto">
            <a:xfrm>
              <a:off x="8826130" y="4300282"/>
              <a:ext cx="136800" cy="136800"/>
            </a:xfrm>
            <a:prstGeom prst="actionButtonBlank">
              <a:avLst/>
            </a:prstGeom>
            <a:solidFill>
              <a:srgbClr val="00405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动作按钮: 空白 24">
              <a:hlinkClick r:id="" action="ppaction://noaction" highlightClick="1"/>
            </p:cNvPr>
            <p:cNvSpPr/>
            <p:nvPr/>
          </p:nvSpPr>
          <p:spPr bwMode="auto">
            <a:xfrm>
              <a:off x="8975355" y="4300282"/>
              <a:ext cx="136800" cy="136800"/>
            </a:xfrm>
            <a:prstGeom prst="actionButtonBlank">
              <a:avLst/>
            </a:prstGeom>
            <a:solidFill>
              <a:srgbClr val="00405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6697646" y="4054620"/>
              <a:ext cx="280800" cy="126000"/>
            </a:xfrm>
            <a:prstGeom prst="rect">
              <a:avLst/>
            </a:prstGeom>
            <a:solidFill>
              <a:srgbClr val="00918D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PA_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-452755" y="1052830"/>
            <a:ext cx="7795260" cy="3404870"/>
          </a:xfrm>
        </p:spPr>
        <p:txBody>
          <a:bodyPr/>
          <a:lstStyle/>
          <a:p>
            <a:br>
              <a:rPr lang="zh-CN" altLang="en-US" sz="8800" b="1" dirty="0">
                <a:solidFill>
                  <a:srgbClr val="EA52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zh-CN" altLang="en-US" sz="7200" b="1" dirty="0">
                <a:solidFill>
                  <a:srgbClr val="EA52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祝大家科科满绩</a:t>
            </a:r>
            <a:br>
              <a:rPr lang="zh-CN" altLang="en-US" sz="8800" b="1" dirty="0">
                <a:solidFill>
                  <a:srgbClr val="EA52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zh-CN" altLang="en-US" sz="8800" b="1" dirty="0">
                <a:solidFill>
                  <a:srgbClr val="EA52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zh-CN" altLang="en-US" sz="8800" b="1" dirty="0">
              <a:solidFill>
                <a:srgbClr val="EA523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0" name="PA_矩形 39"/>
          <p:cNvSpPr/>
          <p:nvPr>
            <p:custDataLst>
              <p:tags r:id="rId4"/>
            </p:custDataLst>
          </p:nvPr>
        </p:nvSpPr>
        <p:spPr bwMode="auto">
          <a:xfrm>
            <a:off x="2498686" y="3988852"/>
            <a:ext cx="2431131" cy="396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i="0" u="none" strike="noStrike" cap="none" normalizeH="0" baseline="0" dirty="0">
              <a:ln>
                <a:noFill/>
              </a:ln>
              <a:solidFill>
                <a:srgbClr val="003F5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PA_矩形 40"/>
          <p:cNvSpPr/>
          <p:nvPr>
            <p:custDataLst>
              <p:tags r:id="rId5"/>
            </p:custDataLst>
          </p:nvPr>
        </p:nvSpPr>
        <p:spPr bwMode="auto">
          <a:xfrm>
            <a:off x="1418590" y="4149090"/>
            <a:ext cx="4253865" cy="7067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n>
                  <a:noFill/>
                </a:ln>
                <a:solidFill>
                  <a:srgbClr val="003F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分享人：</a:t>
            </a:r>
            <a:r>
              <a:rPr lang="en-US" altLang="zh-CN" sz="2400" dirty="0">
                <a:ln>
                  <a:noFill/>
                </a:ln>
                <a:solidFill>
                  <a:srgbClr val="003F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2021</a:t>
            </a:r>
            <a:r>
              <a:rPr lang="zh-CN" altLang="en-US" sz="2400" dirty="0">
                <a:ln>
                  <a:noFill/>
                </a:ln>
                <a:solidFill>
                  <a:srgbClr val="003F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级电科由姗卉</a:t>
            </a:r>
            <a:endParaRPr kumimoji="0" lang="zh-CN" altLang="en-US" sz="2400" i="0" u="none" strike="noStrike" cap="none" normalizeH="0" baseline="0" dirty="0">
              <a:ln>
                <a:noFill/>
              </a:ln>
              <a:solidFill>
                <a:srgbClr val="003F5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8" descr="C:\Users\zl\Desktop\图片f1.pn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7" cstate="print">
            <a:duotone>
              <a:prstClr val="black"/>
              <a:srgbClr val="01569D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32740"/>
            <a:ext cx="301244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" grpId="0"/>
      <p:bldP spid="2" grpId="1"/>
      <p:bldP spid="2" grpId="2"/>
      <p:bldP spid="40" grpId="0"/>
      <p:bldP spid="41" grpId="0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1415.51968503937,&quot;width&quot;:3893.935433070866}"/>
  <p:tag name="KSO_WM_BEAUTIFY_FLAG" val="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KSO_WM_UNIT_PLACING_PICTURE_USER_VIEWPORT" val="{&quot;height&quot;:1415.51968503937,&quot;width&quot;:3893.935433070866}"/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PA" val="v3.0.1"/>
</p:tagLst>
</file>

<file path=ppt/tags/tag16.xml><?xml version="1.0" encoding="utf-8"?>
<p:tagLst xmlns:p="http://schemas.openxmlformats.org/presentationml/2006/main">
  <p:tag name="PA" val="v3.0.1"/>
</p:tagLst>
</file>

<file path=ppt/tags/tag17.xml><?xml version="1.0" encoding="utf-8"?>
<p:tagLst xmlns:p="http://schemas.openxmlformats.org/presentationml/2006/main">
  <p:tag name="PA" val="v3.0.1"/>
</p:tagLst>
</file>

<file path=ppt/tags/tag18.xml><?xml version="1.0" encoding="utf-8"?>
<p:tagLst xmlns:p="http://schemas.openxmlformats.org/presentationml/2006/main">
  <p:tag name="PA" val="v3.0.1"/>
</p:tagLst>
</file>

<file path=ppt/tags/tag19.xml><?xml version="1.0" encoding="utf-8"?>
<p:tagLst xmlns:p="http://schemas.openxmlformats.org/presentationml/2006/main">
  <p:tag name="KSO_WM_UNIT_PLACING_PICTURE_USER_VIEWPORT" val="{&quot;height&quot;:1415.51968503937,&quot;width&quot;:3893.935433070866}"/>
  <p:tag name="KSO_WM_BEAUTIFY_FLAG" val=""/>
</p:tagLst>
</file>

<file path=ppt/tags/tag20.xml><?xml version="1.0" encoding="utf-8"?>
<p:tagLst xmlns:p="http://schemas.openxmlformats.org/presentationml/2006/main">
  <p:tag name="KSO_WPP_MARK_KEY" val="2a9b4ce9-d80a-4a92-9304-7404a05cc570"/>
  <p:tag name="COMMONDATA" val="eyJoZGlkIjoiZjMzZjhmZGEyNGM1MzAxMGI2MGMxMWE0ODkwZGE1NDcifQ=="/>
</p:tagLst>
</file>

<file path=ppt/theme/theme1.xml><?xml version="1.0" encoding="utf-8"?>
<a:theme xmlns:a="http://schemas.openxmlformats.org/drawingml/2006/main" name="第一PPT，www.1ppt.com">
  <a:themeElements>
    <a:clrScheme name="自定义 5">
      <a:dk1>
        <a:srgbClr val="294A5A"/>
      </a:dk1>
      <a:lt1>
        <a:srgbClr val="7AAE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7AAE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4610</Words>
  <Application>WPS 演示</Application>
  <PresentationFormat>自定义</PresentationFormat>
  <Paragraphs>628</Paragraphs>
  <Slides>29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仿宋_GB2312</vt:lpstr>
      <vt:lpstr>仿宋</vt:lpstr>
      <vt:lpstr>Calibri</vt:lpstr>
      <vt:lpstr>Calibri</vt:lpstr>
      <vt:lpstr>Aharoni</vt:lpstr>
      <vt:lpstr>Yu Gothic UI Semibold</vt:lpstr>
      <vt:lpstr>Segoe UI Light</vt:lpstr>
      <vt:lpstr>Cambria Math</vt:lpstr>
      <vt:lpstr>Franklin Gothic Medium</vt:lpstr>
      <vt:lpstr>Arial Unicode MS</vt:lpstr>
      <vt:lpstr>第一PPT，www.1ppt.com</vt:lpstr>
      <vt:lpstr>第一PPT，www.1ppt.com </vt:lpstr>
      <vt:lpstr>Equation.KSEE3</vt:lpstr>
      <vt:lpstr>微积分BII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祝大家科科满绩  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工作总结</dc:title>
  <dc:creator>第一PPT</dc:creator>
  <cp:keywords>www.1ppt.com</cp:keywords>
  <dc:description>www.1ppt.com</dc:description>
  <cp:lastModifiedBy>微信用户</cp:lastModifiedBy>
  <cp:revision>1389</cp:revision>
  <dcterms:created xsi:type="dcterms:W3CDTF">2013-01-25T01:44:00Z</dcterms:created>
  <dcterms:modified xsi:type="dcterms:W3CDTF">2023-05-20T09:04:27Z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F1C035FD526044E3AB82F7C2217055A9_13</vt:lpwstr>
  </property>
</Properties>
</file>