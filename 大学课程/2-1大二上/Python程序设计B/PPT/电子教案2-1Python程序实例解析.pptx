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7" r:id="rId10"/>
    <p:sldId id="306" r:id="rId11"/>
    <p:sldId id="264" r:id="rId12"/>
    <p:sldId id="309" r:id="rId13"/>
    <p:sldId id="265" r:id="rId14"/>
    <p:sldId id="266" r:id="rId15"/>
    <p:sldId id="267" r:id="rId16"/>
    <p:sldId id="268" r:id="rId17"/>
    <p:sldId id="269" r:id="rId18"/>
    <p:sldId id="30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310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53"/>
    </p:embeddedFont>
    <p:embeddedFont>
      <p:font typeface="STKaiti" panose="02010600040101010101" pitchFamily="2" charset="-122"/>
      <p:regular r:id="rId54"/>
    </p:embeddedFont>
    <p:embeddedFont>
      <p:font typeface="Microsoft YaHei" panose="020B0503020204020204" pitchFamily="34" charset="-122"/>
      <p:regular r:id="rId55"/>
      <p:bold r:id="rId56"/>
    </p:embeddedFont>
    <p:embeddedFont>
      <p:font typeface="Microsoft YaHei" panose="020B0503020204020204" pitchFamily="34" charset="-122"/>
      <p:regular r:id="rId55"/>
      <p:bold r:id="rId56"/>
    </p:embeddedFont>
    <p:embeddedFont>
      <p:font typeface="Palatino Linotype" panose="02040502050505030304" pitchFamily="18" charset="0"/>
      <p:regular r:id="rId57"/>
      <p:bold r:id="rId58"/>
      <p:italic r:id="rId59"/>
      <p:boldItalic r:id="rId60"/>
    </p:embeddedFont>
    <p:embeddedFont>
      <p:font typeface="微软雅黑 Light" panose="020B0502040204020203" pitchFamily="34" charset="-122"/>
      <p:regular r:id="rId6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61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0554" y="2023991"/>
            <a:ext cx="7434681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程序实例解析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47392" y="2829774"/>
            <a:ext cx="564123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温度转换程序实例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31840" y="79519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温度体系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520" y="1195355"/>
            <a:ext cx="8892480" cy="129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温度刻画存在不同体系，</a:t>
            </a:r>
            <a:r>
              <a:rPr sz="2400" spc="81" dirty="0">
                <a:solidFill>
                  <a:srgbClr val="FF0000"/>
                </a:solidFill>
                <a:latin typeface="Microsoft YaHei"/>
                <a:cs typeface="Microsoft YaHei"/>
              </a:rPr>
              <a:t>摄氏度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以1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标准大气压下水的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结冰点为0度，沸点为100度，将温度进行等分刻画。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华</a:t>
            </a:r>
            <a:r>
              <a:rPr sz="2400" spc="88" dirty="0">
                <a:solidFill>
                  <a:srgbClr val="FF0000"/>
                </a:solidFill>
                <a:latin typeface="Microsoft YaHei"/>
                <a:cs typeface="Microsoft YaHei"/>
              </a:rPr>
              <a:t>氏度</a:t>
            </a:r>
            <a:r>
              <a:rPr sz="2400" spc="88" dirty="0">
                <a:solidFill>
                  <a:srgbClr val="000000"/>
                </a:solidFill>
                <a:latin typeface="Microsoft YaHei"/>
                <a:cs typeface="Microsoft YaHei"/>
              </a:rPr>
              <a:t>以</a:t>
            </a: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89" dirty="0">
                <a:solidFill>
                  <a:srgbClr val="000000"/>
                </a:solidFill>
                <a:latin typeface="Microsoft YaHei"/>
                <a:cs typeface="Microsoft YaHei"/>
              </a:rPr>
              <a:t>标准大气压下水的结冰点为</a:t>
            </a:r>
            <a:r>
              <a:rPr sz="2400" spc="50" dirty="0">
                <a:solidFill>
                  <a:srgbClr val="000000"/>
                </a:solidFill>
                <a:latin typeface="Microsoft YaHei"/>
                <a:cs typeface="Microsoft YaHei"/>
              </a:rPr>
              <a:t>32</a:t>
            </a:r>
            <a:r>
              <a:rPr sz="2400" spc="88" dirty="0">
                <a:solidFill>
                  <a:srgbClr val="000000"/>
                </a:solidFill>
                <a:latin typeface="Microsoft YaHei"/>
                <a:cs typeface="Microsoft YaHei"/>
              </a:rPr>
              <a:t>度，沸点为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212度，将温度进行等分刻画。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EC74AD-18B8-4A10-88DE-7F1D03B0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00" y="2968481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55385"/>
            <a:ext cx="7574864" cy="136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80" dirty="0">
                <a:solidFill>
                  <a:srgbClr val="000000"/>
                </a:solidFill>
                <a:latin typeface="Microsoft YaHei"/>
                <a:cs typeface="Microsoft YaHei"/>
              </a:rPr>
              <a:t>问题：如何利用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80" dirty="0">
                <a:solidFill>
                  <a:srgbClr val="000000"/>
                </a:solidFill>
                <a:latin typeface="Microsoft YaHei"/>
                <a:cs typeface="Microsoft YaHei"/>
              </a:rPr>
              <a:t>程序进行摄氏度和华氏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度之间的转换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3862519"/>
            <a:ext cx="7570435" cy="1360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31" dirty="0">
                <a:solidFill>
                  <a:srgbClr val="000000"/>
                </a:solidFill>
                <a:latin typeface="Microsoft YaHei"/>
                <a:cs typeface="Microsoft YaHei"/>
              </a:rPr>
              <a:t>步骤</a:t>
            </a:r>
            <a:r>
              <a:rPr sz="2800" spc="4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800" spc="34" dirty="0">
                <a:solidFill>
                  <a:srgbClr val="000000"/>
                </a:solidFill>
                <a:latin typeface="Microsoft YaHei"/>
                <a:cs typeface="Microsoft YaHei"/>
              </a:rPr>
              <a:t>：分析问题的计算部分：采用公式转换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方式解决计算问题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55385"/>
            <a:ext cx="321749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步骤2：确定功能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8573" y="3061716"/>
            <a:ext cx="5348020" cy="1202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输入：华氏或者摄氏温度值、温度标识</a:t>
            </a:r>
          </a:p>
          <a:p>
            <a:pPr marL="0" marR="0">
              <a:lnSpc>
                <a:spcPts val="3167"/>
              </a:lnSpc>
              <a:spcBef>
                <a:spcPts val="283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处理：温度转化算法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8573" y="4555490"/>
            <a:ext cx="5339180" cy="1067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输出：华氏或者摄氏温度值、温度标识</a:t>
            </a:r>
          </a:p>
          <a:p>
            <a:pPr marL="898017" marR="0">
              <a:lnSpc>
                <a:spcPts val="2244"/>
              </a:lnSpc>
              <a:spcBef>
                <a:spcPts val="2689"/>
              </a:spcBef>
              <a:spcAft>
                <a:spcPts val="0"/>
              </a:spcAft>
            </a:pPr>
            <a:r>
              <a:rPr sz="2000" spc="14" dirty="0">
                <a:solidFill>
                  <a:srgbClr val="000000"/>
                </a:solidFill>
                <a:latin typeface="STKaiti"/>
                <a:cs typeface="STKaiti"/>
              </a:rPr>
              <a:t>F</a:t>
            </a:r>
            <a:r>
              <a:rPr sz="2000" dirty="0">
                <a:solidFill>
                  <a:srgbClr val="000000"/>
                </a:solidFill>
                <a:latin typeface="STKaiti"/>
                <a:cs typeface="STKaiti"/>
              </a:rPr>
              <a:t>表示华氏度，82F表示华氏82度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96591" y="5909431"/>
            <a:ext cx="3752722" cy="3231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14" dirty="0">
                <a:solidFill>
                  <a:srgbClr val="000000"/>
                </a:solidFill>
                <a:latin typeface="STKaiti"/>
                <a:cs typeface="STKaiti"/>
              </a:rPr>
              <a:t>C</a:t>
            </a:r>
            <a:r>
              <a:rPr sz="2000" dirty="0">
                <a:solidFill>
                  <a:srgbClr val="000000"/>
                </a:solidFill>
                <a:latin typeface="STKaiti"/>
                <a:cs typeface="STKaiti"/>
              </a:rPr>
              <a:t>表示摄氏度，28C表示摄氏28度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55385"/>
            <a:ext cx="4996108" cy="436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步骤3：设计算法</a:t>
            </a:r>
            <a:endParaRPr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7217" y="2970276"/>
            <a:ext cx="5949389" cy="1172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根据华氏和摄氏温度定义，转换公式如下：</a:t>
            </a:r>
          </a:p>
          <a:p>
            <a:pPr marL="905636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( F –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32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) / 1.8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22854" y="4433893"/>
            <a:ext cx="24367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 = C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* 1.8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+ </a:t>
            </a:r>
            <a:r>
              <a:rPr sz="2400" spc="-10" dirty="0">
                <a:solidFill>
                  <a:srgbClr val="000000"/>
                </a:solidFill>
                <a:latin typeface="Microsoft YaHei"/>
                <a:cs typeface="Microsoft YaHei"/>
              </a:rPr>
              <a:t>32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55189" y="5165667"/>
            <a:ext cx="539559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其中，C表示摄氏温度，F表示华氏温度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1644" y="1923356"/>
            <a:ext cx="321838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步骤4：编写程序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7" y="2155385"/>
            <a:ext cx="5949389" cy="436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</a:t>
            </a:r>
            <a:r>
              <a:rPr kumimoji="0" sz="2800" b="0" i="0" u="none" strike="noStrike" kern="1200" cap="none" spc="125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步骤3：设计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表，然后编程查表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7217" y="2970276"/>
            <a:ext cx="5949389" cy="1612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ft=[0.0,   0.1,  0.2,  0.3,  0.4,  0.5]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=[-17.8,-17.7,-17.7,-17.6,-17.6,-17.5]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ct1=[0.0,0.1, 0.2, 0.3, 0.4, 0.5]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ft1=[32, 32.2,32.4,32.5,32.7,32.9] 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3647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632" y="152604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244" y="988065"/>
            <a:ext cx="321838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</a:t>
            </a:r>
            <a:r>
              <a:rPr kumimoji="0" sz="2800" b="0" i="0" u="none" strike="noStrike" kern="1200" cap="none" spc="125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步骤4：编写程序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FCF93-0DDC-48EF-80B0-72BE2E3165F3}"/>
              </a:ext>
            </a:extLst>
          </p:cNvPr>
          <p:cNvSpPr txBox="1"/>
          <p:nvPr/>
        </p:nvSpPr>
        <p:spPr>
          <a:xfrm>
            <a:off x="421386" y="1522126"/>
            <a:ext cx="8543101" cy="48115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ft=[0.0,   0.1,  0.2,  0.3,  0.4,  0.5]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=[-17.8,-17.7,-17.7,-17.6,-17.6,-17.5]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ct1=[0.0,0.1, 0.2, 0.3, 0.4, 0.5]</a:t>
            </a:r>
          </a:p>
          <a:p>
            <a:pPr marL="0" marR="0" lvl="0" indent="0" algn="l" defTabSz="914400" rtl="0" eaLnBrk="1" fontAlgn="auto" latinLnBrk="0" hangingPunct="1">
              <a:lnSpc>
                <a:spcPts val="31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ft1=[32, 32.2,32.4,32.5,32.7,32.9] </a:t>
            </a:r>
            <a:r>
              <a:rPr lang="en-US" altLang="zh-CN" sz="2000" dirty="0" err="1"/>
              <a:t>dictfc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dict</a:t>
            </a:r>
            <a:r>
              <a:rPr lang="en-US" altLang="zh-CN" sz="2000" dirty="0"/>
              <a:t>(zip(</a:t>
            </a:r>
            <a:r>
              <a:rPr lang="en-US" altLang="zh-CN" sz="2000" dirty="0" err="1"/>
              <a:t>ft,ct</a:t>
            </a:r>
            <a:r>
              <a:rPr lang="en-US" altLang="zh-CN" sz="2000" dirty="0"/>
              <a:t>))</a:t>
            </a:r>
          </a:p>
          <a:p>
            <a:r>
              <a:rPr lang="en-US" altLang="zh-CN" sz="2000" dirty="0" err="1"/>
              <a:t>dictcf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dict</a:t>
            </a:r>
            <a:r>
              <a:rPr lang="en-US" altLang="zh-CN" sz="2000" dirty="0"/>
              <a:t>(zip(ct1,ft1))</a:t>
            </a:r>
          </a:p>
          <a:p>
            <a:r>
              <a:rPr lang="en-US" altLang="zh-CN" sz="2000" dirty="0" err="1"/>
              <a:t>val</a:t>
            </a:r>
            <a:r>
              <a:rPr lang="en-US" altLang="zh-CN" sz="2000" dirty="0"/>
              <a:t>=input("</a:t>
            </a:r>
            <a:r>
              <a:rPr lang="zh-CN" altLang="en-US" sz="2000" dirty="0"/>
              <a:t>请输入带温度表示符号的温度（例如：</a:t>
            </a:r>
            <a:r>
              <a:rPr lang="en-US" altLang="zh-CN" sz="2000" dirty="0"/>
              <a:t>32C</a:t>
            </a:r>
            <a:r>
              <a:rPr lang="zh-CN" altLang="en-US" sz="2000" dirty="0"/>
              <a:t>）：</a:t>
            </a:r>
            <a:r>
              <a:rPr lang="en-US" altLang="zh-CN" sz="2000" dirty="0"/>
              <a:t>")</a:t>
            </a:r>
          </a:p>
          <a:p>
            <a:r>
              <a:rPr lang="en-US" altLang="zh-CN" sz="2000" dirty="0"/>
              <a:t>if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[-1] in ['</a:t>
            </a:r>
            <a:r>
              <a:rPr lang="en-US" altLang="zh-CN" sz="2000" dirty="0" err="1"/>
              <a:t>C','c</a:t>
            </a:r>
            <a:r>
              <a:rPr lang="en-US" altLang="zh-CN" sz="2000" dirty="0"/>
              <a:t>']:</a:t>
            </a:r>
          </a:p>
          <a:p>
            <a:r>
              <a:rPr lang="en-US" altLang="zh-CN" sz="2000" dirty="0"/>
              <a:t>    f=</a:t>
            </a:r>
            <a:r>
              <a:rPr lang="en-US" altLang="zh-CN" sz="2000" dirty="0" err="1"/>
              <a:t>dictcf</a:t>
            </a:r>
            <a:r>
              <a:rPr lang="en-US" altLang="zh-CN" sz="2000" dirty="0"/>
              <a:t>[float(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[0:-1])]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转换后的温度为：</a:t>
            </a:r>
            <a:r>
              <a:rPr lang="en-US" altLang="zh-CN" sz="2000" dirty="0"/>
              <a:t>%.1fF"%f)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[-1] in ['</a:t>
            </a:r>
            <a:r>
              <a:rPr lang="en-US" altLang="zh-CN" sz="2000" dirty="0" err="1"/>
              <a:t>F','f</a:t>
            </a:r>
            <a:r>
              <a:rPr lang="en-US" altLang="zh-CN" sz="2000" dirty="0"/>
              <a:t>']:</a:t>
            </a:r>
          </a:p>
          <a:p>
            <a:r>
              <a:rPr lang="en-US" altLang="zh-CN" sz="2000" dirty="0"/>
              <a:t>    c=</a:t>
            </a:r>
            <a:r>
              <a:rPr lang="en-US" altLang="zh-CN" sz="2000" dirty="0" err="1"/>
              <a:t>dictfc</a:t>
            </a:r>
            <a:r>
              <a:rPr lang="en-US" altLang="zh-CN" sz="2000" dirty="0"/>
              <a:t>[float(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[0:-1])]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转换后的温度为：</a:t>
            </a:r>
            <a:r>
              <a:rPr lang="en-US" altLang="zh-CN" sz="2000" dirty="0"/>
              <a:t>%.1fC"%c)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输入有误</a:t>
            </a:r>
            <a:r>
              <a:rPr lang="en-US" altLang="zh-CN" sz="2000" dirty="0"/>
              <a:t>")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5230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温度转换实例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55385"/>
            <a:ext cx="428368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步骤5：调试、运行程序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7217" y="2970276"/>
            <a:ext cx="5644285" cy="1172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在系统命令行上运行如下命令执行程序：</a:t>
            </a:r>
          </a:p>
          <a:p>
            <a:pPr marL="181355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C:\&gt;python </a:t>
            </a:r>
            <a:r>
              <a:rPr sz="2400" spc="-28" dirty="0">
                <a:solidFill>
                  <a:srgbClr val="000000"/>
                </a:solidFill>
                <a:latin typeface="Microsoft YaHei"/>
                <a:cs typeface="Microsoft YaHei"/>
              </a:rPr>
              <a:t>TempConver</a:t>
            </a:r>
            <a:r>
              <a:rPr sz="2400" spc="-65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7217" y="4433893"/>
            <a:ext cx="6930643" cy="1172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或者：使用IDLE打开上述文件，按F5运行（推荐）</a:t>
            </a:r>
          </a:p>
          <a:p>
            <a:pPr marL="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输入数值，观察输出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397" y="154624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温度转换实例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5536" y="1340768"/>
            <a:ext cx="8568952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使用IDLE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中的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Debugger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调试程序（五个按键和断点）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EE552C-14F9-4526-8F83-7035BAE4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0057"/>
            <a:ext cx="9144000" cy="43266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CBA6A3A-8EF7-4E2E-8718-2EDB827772A2}"/>
              </a:ext>
            </a:extLst>
          </p:cNvPr>
          <p:cNvSpPr/>
          <p:nvPr/>
        </p:nvSpPr>
        <p:spPr>
          <a:xfrm>
            <a:off x="0" y="2708920"/>
            <a:ext cx="1259632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44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61567" y="2934382"/>
            <a:ext cx="6326428" cy="72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SimHei"/>
                <a:cs typeface="SimHei"/>
              </a:rPr>
              <a:t>Python语法元素分析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程序的格式框架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2055183"/>
            <a:ext cx="7575856" cy="159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 err="1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15" dirty="0" err="1">
                <a:solidFill>
                  <a:srgbClr val="000000"/>
                </a:solidFill>
                <a:latin typeface="Microsoft YaHei"/>
                <a:cs typeface="Microsoft YaHei"/>
              </a:rPr>
              <a:t>语言采用严格的“缩进</a:t>
            </a:r>
            <a:r>
              <a:rPr sz="2400" spc="115" dirty="0">
                <a:solidFill>
                  <a:srgbClr val="000000"/>
                </a:solidFill>
                <a:latin typeface="Microsoft YaHei"/>
                <a:cs typeface="Microsoft YaHei"/>
              </a:rPr>
              <a:t>”</a:t>
            </a:r>
            <a:r>
              <a:rPr lang="zh-CN" altLang="en-US" sz="2400" b="1" spc="115" dirty="0">
                <a:solidFill>
                  <a:srgbClr val="FF0000"/>
                </a:solidFill>
                <a:latin typeface="Microsoft YaHei"/>
                <a:cs typeface="Microsoft YaHei"/>
              </a:rPr>
              <a:t>（</a:t>
            </a:r>
            <a:r>
              <a:rPr lang="en-US" altLang="zh-CN" sz="2400" b="1" spc="115" dirty="0">
                <a:solidFill>
                  <a:srgbClr val="FF0000"/>
                </a:solidFill>
                <a:latin typeface="Microsoft YaHei"/>
                <a:cs typeface="Microsoft YaHei"/>
              </a:rPr>
              <a:t>indentation</a:t>
            </a:r>
            <a:r>
              <a:rPr lang="zh-CN" altLang="en-US" sz="2400" b="1" spc="115" dirty="0">
                <a:solidFill>
                  <a:srgbClr val="FF0000"/>
                </a:solidFill>
                <a:latin typeface="Microsoft YaHei"/>
                <a:cs typeface="Microsoft YaHei"/>
              </a:rPr>
              <a:t>）</a:t>
            </a:r>
            <a:r>
              <a:rPr sz="2400" spc="115" dirty="0" err="1">
                <a:solidFill>
                  <a:srgbClr val="000000"/>
                </a:solidFill>
                <a:latin typeface="Microsoft YaHei"/>
                <a:cs typeface="Microsoft YaHei"/>
              </a:rPr>
              <a:t>来表明程序的格式框</a:t>
            </a:r>
            <a:r>
              <a:rPr sz="2400" spc="37" dirty="0" err="1">
                <a:solidFill>
                  <a:srgbClr val="000000"/>
                </a:solidFill>
                <a:latin typeface="Microsoft YaHei"/>
                <a:cs typeface="Microsoft YaHei"/>
              </a:rPr>
              <a:t>架。缩进指每一行代码开始前的空白区域，用来表示代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码之间的包含和层次关系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8440" y="4250124"/>
            <a:ext cx="274505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1个缩进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4个空格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8440" y="4981898"/>
            <a:ext cx="6593408" cy="1171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用以在Python中标明代码的层次关系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缩进是Python语言中表明程序框架的唯一手段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程序的格式框架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2055183"/>
            <a:ext cx="137251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单层缩进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2850" y="2055183"/>
            <a:ext cx="1371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多层缩进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注释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777336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注释：程序员在代码中加入的说明信息，不被计算机执行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注释的两种方法：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7217" y="3205481"/>
            <a:ext cx="271063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单行注释以#开头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1998" y="3640398"/>
            <a:ext cx="3170413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#Here</a:t>
            </a:r>
            <a:r>
              <a:rPr sz="2000" spc="-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are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 the comments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7217" y="4059624"/>
            <a:ext cx="447052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多行注释以</a:t>
            </a:r>
            <a:r>
              <a:rPr sz="2400" spc="8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Microsoft YaHei"/>
                <a:cs typeface="Microsoft YaHei"/>
              </a:rPr>
              <a:t>’’’开头和结尾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31998" y="4493838"/>
            <a:ext cx="915924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5" dirty="0">
                <a:solidFill>
                  <a:srgbClr val="000000"/>
                </a:solidFill>
                <a:latin typeface="Microsoft YaHei"/>
                <a:cs typeface="Microsoft YaHei"/>
              </a:rPr>
              <a:t>’’’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81351" y="4798316"/>
            <a:ext cx="3491774" cy="679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This is</a:t>
            </a:r>
            <a:r>
              <a:rPr sz="20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a</a:t>
            </a:r>
            <a:r>
              <a:rPr sz="2000" spc="-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multiline</a:t>
            </a:r>
            <a:r>
              <a:rPr sz="2000" spc="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comment</a:t>
            </a:r>
          </a:p>
          <a:p>
            <a:pPr marL="0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used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31998" y="5408517"/>
            <a:ext cx="915924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5" dirty="0">
                <a:solidFill>
                  <a:srgbClr val="000000"/>
                </a:solidFill>
                <a:latin typeface="Microsoft YaHei"/>
                <a:cs typeface="Microsoft YaHei"/>
              </a:rPr>
              <a:t>’’’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495195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常量：程序中值不发生改变的元素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2657163"/>
            <a:ext cx="708555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变量：程序中值发生改变或者可以发生改变的元素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0068" y="3754824"/>
            <a:ext cx="7578547" cy="2635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16" dirty="0">
                <a:solidFill>
                  <a:srgbClr val="000000"/>
                </a:solidFill>
                <a:latin typeface="Microsoft YaHei"/>
                <a:cs typeface="Microsoft YaHei"/>
              </a:rPr>
              <a:t>语言允许采用大写字母、小写字母、数字、下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划线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(_)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和汉字等字符及其组合给变量命名，</a:t>
            </a:r>
            <a:r>
              <a:rPr sz="2400" spc="23" dirty="0">
                <a:solidFill>
                  <a:srgbClr val="FF0000"/>
                </a:solidFill>
                <a:latin typeface="Microsoft YaHei"/>
                <a:cs typeface="Microsoft YaHei"/>
              </a:rPr>
              <a:t>但名字的首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字符不能是数字，中间不能出现空格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，长度没有限制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注意：标识符对大小写敏感，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是两个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不同的名字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1600" y="1922176"/>
            <a:ext cx="7578547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23" dirty="0" err="1">
                <a:solidFill>
                  <a:srgbClr val="FF0000"/>
                </a:solidFill>
                <a:latin typeface="Microsoft YaHei"/>
                <a:cs typeface="Microsoft YaHei"/>
              </a:rPr>
              <a:t>名字的首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字符不能是数字</a:t>
            </a:r>
            <a:endParaRPr lang="en-US" sz="2400" dirty="0">
              <a:solidFill>
                <a:srgbClr val="FF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Microsoft YaHei"/>
                <a:cs typeface="Microsoft YaHei"/>
              </a:rPr>
              <a:t>如果允许变量名开头是数字，则无法区分变量名和数字类型，例如：如果变量名 </a:t>
            </a:r>
            <a:r>
              <a:rPr lang="en-US" altLang="zh-CN" sz="2800" dirty="0">
                <a:latin typeface="Microsoft YaHei"/>
                <a:cs typeface="Microsoft YaHei"/>
              </a:rPr>
              <a:t>091</a:t>
            </a:r>
            <a:r>
              <a:rPr lang="zh-CN" altLang="en-US" sz="2800" dirty="0">
                <a:latin typeface="Microsoft YaHei"/>
                <a:cs typeface="Microsoft YaHei"/>
              </a:rPr>
              <a:t>合法，则程序无法区分这个变量和数字 </a:t>
            </a:r>
            <a:r>
              <a:rPr lang="en-US" altLang="zh-CN" sz="2800" dirty="0">
                <a:latin typeface="Microsoft YaHei"/>
                <a:cs typeface="Microsoft YaHei"/>
              </a:rPr>
              <a:t>091</a:t>
            </a:r>
            <a:r>
              <a:rPr lang="zh-CN" altLang="en-US" sz="2800" dirty="0">
                <a:latin typeface="Microsoft YaHei"/>
                <a:cs typeface="Microsoft YaHei"/>
              </a:rPr>
              <a:t>。另外，有些数字可能含有字母，如浮点数 </a:t>
            </a:r>
            <a:r>
              <a:rPr lang="en-US" altLang="zh-CN" sz="2800" dirty="0">
                <a:latin typeface="Microsoft YaHei"/>
                <a:cs typeface="Microsoft YaHei"/>
              </a:rPr>
              <a:t>1E10</a:t>
            </a:r>
            <a:r>
              <a:rPr lang="zh-CN" altLang="en-US" sz="2800" dirty="0">
                <a:latin typeface="Microsoft YaHei"/>
                <a:cs typeface="Microsoft YaHei"/>
              </a:rPr>
              <a:t>。程序设计语言不能存在歧义，因此，需要约定变量名开头不能是数字，以便区分变量与数字</a:t>
            </a:r>
            <a:endParaRPr sz="2800" dirty="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567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1989651"/>
            <a:ext cx="7810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保留字，也称为关键字，指被编程语言内部定义并保留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5768" y="2355411"/>
            <a:ext cx="2286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使用的标识符。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2868" y="2794323"/>
            <a:ext cx="72009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程序员编写程序不能定义与保留字相同的标识符。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868" y="3232913"/>
            <a:ext cx="7810804" cy="117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每种程序设计语言都有一套保留字，保留字一般用来构</a:t>
            </a:r>
          </a:p>
          <a:p>
            <a:pPr marL="342900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成程序整体框架、表达关键值和具有结构性的复杂语义</a:t>
            </a:r>
          </a:p>
          <a:p>
            <a:pPr marL="34290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等。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2868" y="4404048"/>
            <a:ext cx="72009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掌握一门编程语言首先要熟记其所对应的保留字。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21457" y="0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2318" y="2811978"/>
            <a:ext cx="450369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 3.x保留字列表</a:t>
            </a:r>
            <a:r>
              <a:rPr sz="2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(33个)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6359" y="3384080"/>
            <a:ext cx="53380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4079" y="3384080"/>
            <a:ext cx="444624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elif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92055" y="3384080"/>
            <a:ext cx="787524" cy="689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import</a:t>
            </a:r>
          </a:p>
          <a:p>
            <a:pPr marL="0" marR="0">
              <a:lnSpc>
                <a:spcPts val="2013"/>
              </a:lnSpc>
              <a:spcBef>
                <a:spcPts val="11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69903" y="3384080"/>
            <a:ext cx="750369" cy="108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raise</a:t>
            </a:r>
          </a:p>
          <a:p>
            <a:pPr marL="0" marR="0">
              <a:lnSpc>
                <a:spcPts val="2013"/>
              </a:lnSpc>
              <a:spcBef>
                <a:spcPts val="11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return</a:t>
            </a:r>
          </a:p>
          <a:p>
            <a:pPr marL="0" marR="0">
              <a:lnSpc>
                <a:spcPts val="2010"/>
              </a:lnSpc>
              <a:spcBef>
                <a:spcPts val="11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try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36359" y="3779409"/>
            <a:ext cx="394158" cy="29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4079" y="3779409"/>
            <a:ext cx="825921" cy="148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else</a:t>
            </a:r>
          </a:p>
          <a:p>
            <a:pPr marL="0" marR="0">
              <a:lnSpc>
                <a:spcPts val="2010"/>
              </a:lnSpc>
              <a:spcBef>
                <a:spcPts val="11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finally</a:t>
            </a:r>
          </a:p>
          <a:p>
            <a:pPr marL="0" marR="0">
              <a:lnSpc>
                <a:spcPts val="2010"/>
              </a:lnSpc>
              <a:spcBef>
                <a:spcPts val="11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36359" y="4175671"/>
            <a:ext cx="1016682" cy="184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assert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break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class</a:t>
            </a:r>
          </a:p>
          <a:p>
            <a:pPr marL="0" marR="0">
              <a:lnSpc>
                <a:spcPts val="2010"/>
              </a:lnSpc>
              <a:spcBef>
                <a:spcPts val="115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continue</a:t>
            </a:r>
          </a:p>
          <a:p>
            <a:pPr marL="0" marR="0">
              <a:lnSpc>
                <a:spcPts val="2010"/>
              </a:lnSpc>
              <a:spcBef>
                <a:spcPts val="82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def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92055" y="4175671"/>
            <a:ext cx="317487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92055" y="4571276"/>
            <a:ext cx="1003957" cy="1084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lambda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nonlocal</a:t>
            </a:r>
          </a:p>
          <a:p>
            <a:pPr marL="0" marR="0">
              <a:lnSpc>
                <a:spcPts val="2010"/>
              </a:lnSpc>
              <a:spcBef>
                <a:spcPts val="110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69903" y="4571276"/>
            <a:ext cx="673335" cy="689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spc="-11" dirty="0">
                <a:solidFill>
                  <a:srgbClr val="000000"/>
                </a:solidFill>
                <a:latin typeface="Arial"/>
                <a:cs typeface="Arial"/>
              </a:rPr>
              <a:t>while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spc="-12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14079" y="5362613"/>
            <a:ext cx="762520" cy="1055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</a:p>
          <a:p>
            <a:pPr marL="0" marR="0">
              <a:lnSpc>
                <a:spcPts val="2010"/>
              </a:lnSpc>
              <a:spcBef>
                <a:spcPts val="87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global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69903" y="5362613"/>
            <a:ext cx="711398" cy="1450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yield</a:t>
            </a:r>
          </a:p>
          <a:p>
            <a:pPr marL="0" marR="0">
              <a:lnSpc>
                <a:spcPts val="2010"/>
              </a:lnSpc>
              <a:spcBef>
                <a:spcPts val="871"/>
              </a:spcBef>
              <a:spcAft>
                <a:spcPts val="0"/>
              </a:spcAft>
            </a:pPr>
            <a:r>
              <a:rPr sz="1800" spc="-18" dirty="0">
                <a:solidFill>
                  <a:srgbClr val="000000"/>
                </a:solidFill>
                <a:latin typeface="Arial"/>
                <a:cs typeface="Arial"/>
              </a:rPr>
              <a:t>True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False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None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92055" y="5728627"/>
            <a:ext cx="35566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36359" y="6124257"/>
            <a:ext cx="457460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92055" y="6124257"/>
            <a:ext cx="63527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pass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555E7C-A447-4E4D-8CC8-77FE2C3E7194}"/>
              </a:ext>
            </a:extLst>
          </p:cNvPr>
          <p:cNvSpPr txBox="1"/>
          <p:nvPr/>
        </p:nvSpPr>
        <p:spPr>
          <a:xfrm>
            <a:off x="0" y="53101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import keyword</a:t>
            </a: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keyword.kwlist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['False', 'None', 'True', 'and', 'as', 'assert', '</a:t>
            </a:r>
            <a:r>
              <a:rPr lang="en-US" altLang="zh-CN" sz="2400" dirty="0">
                <a:solidFill>
                  <a:srgbClr val="FF0000"/>
                </a:solidFill>
              </a:rPr>
              <a:t>async</a:t>
            </a:r>
            <a:r>
              <a:rPr lang="en-US" altLang="zh-CN" sz="2400" dirty="0"/>
              <a:t>', '</a:t>
            </a:r>
            <a:r>
              <a:rPr lang="en-US" altLang="zh-CN" sz="2400" dirty="0">
                <a:solidFill>
                  <a:srgbClr val="FF0000"/>
                </a:solidFill>
              </a:rPr>
              <a:t>await</a:t>
            </a:r>
            <a:r>
              <a:rPr lang="en-US" altLang="zh-CN" sz="2400" dirty="0"/>
              <a:t>', 'break', 'class', 'continue', 'def', 'del', '</a:t>
            </a:r>
            <a:r>
              <a:rPr lang="en-US" altLang="zh-CN" sz="2400" dirty="0" err="1"/>
              <a:t>elif</a:t>
            </a:r>
            <a:r>
              <a:rPr lang="en-US" altLang="zh-CN" sz="2400" dirty="0"/>
              <a:t>', 'else', 'except', 'finally', 'for', 'from', 'global', 'if', 'import', 'in', 'is', 'lambda', 'nonlocal', 'not', 'or', 'pass', 'raise', 'return', 'try', 'while', 'with', 'yield']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67579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010859"/>
            <a:ext cx="8011389" cy="2213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</a:t>
            </a:r>
            <a:r>
              <a:rPr sz="2800" spc="80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Python语言中，字符串是用两个双引号“</a:t>
            </a:r>
            <a:r>
              <a:rPr sz="2800" spc="5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”或</a:t>
            </a:r>
          </a:p>
          <a:p>
            <a:pPr marL="457174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者单引号‘</a:t>
            </a:r>
            <a:r>
              <a:rPr sz="2800" spc="1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’括起来的一个或多个字符。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</a:t>
            </a:r>
            <a:r>
              <a:rPr sz="2800" spc="80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Python字符串的两种序号体系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赋值语句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1905957"/>
            <a:ext cx="8014171" cy="2214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70" dirty="0">
                <a:solidFill>
                  <a:srgbClr val="000000"/>
                </a:solidFill>
                <a:latin typeface="Microsoft YaHei"/>
                <a:cs typeface="Microsoft YaHei"/>
              </a:rPr>
              <a:t>语言中，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800" spc="6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spc="70" dirty="0">
                <a:solidFill>
                  <a:srgbClr val="000000"/>
                </a:solidFill>
                <a:latin typeface="Microsoft YaHei"/>
                <a:cs typeface="Microsoft YaHei"/>
              </a:rPr>
              <a:t>表示“赋值”，即将等号右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spc="154" dirty="0">
                <a:solidFill>
                  <a:srgbClr val="000000"/>
                </a:solidFill>
                <a:latin typeface="Microsoft YaHei"/>
                <a:cs typeface="Microsoft YaHei"/>
              </a:rPr>
              <a:t>侧的值计算后将结果值赋给左侧变量，包含等号</a:t>
            </a:r>
          </a:p>
          <a:p>
            <a:pPr marL="0" marR="0">
              <a:lnSpc>
                <a:spcPts val="3690"/>
              </a:lnSpc>
              <a:spcBef>
                <a:spcPts val="302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（=）的语句称为“赋值语句”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4466912"/>
            <a:ext cx="6101841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chemeClr val="accent2"/>
                </a:solidFill>
                <a:latin typeface="Microsoft YaHei"/>
                <a:cs typeface="Microsoft YaHei"/>
              </a:rPr>
              <a:t>同步赋值语句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：同时给多个变量赋值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642" y="5282152"/>
            <a:ext cx="741602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&lt;变量1&gt;,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…, &lt;变量N&gt;</a:t>
            </a:r>
            <a:r>
              <a:rPr sz="24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&lt;表达式1&gt;, …, &lt;表达式N&gt;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赋值语句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110047"/>
            <a:ext cx="290662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例：将变量x和y交换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2658687"/>
            <a:ext cx="45211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采用单个赋值，需要3行语句：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9816" y="3207708"/>
            <a:ext cx="7859014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即通过一个临时变量</a:t>
            </a: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t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缓存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x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的原始值，然后将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值赋给x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再将x的原始值通过t赋值给y。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642" y="4304988"/>
            <a:ext cx="556168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采用同步赋值语句，仅需要一行代码：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78163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input()函数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13527"/>
            <a:ext cx="8174406" cy="879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获得用户输入之前，input()函数可以包含一些提示性文字</a:t>
            </a:r>
          </a:p>
          <a:p>
            <a:pPr marL="1448130" marR="0">
              <a:lnSpc>
                <a:spcPts val="3167"/>
              </a:lnSpc>
              <a:spcBef>
                <a:spcPts val="23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&lt;变量&gt; = input(&lt;提示性文字&gt;)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87957" y="3151131"/>
            <a:ext cx="1600018" cy="69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&gt;&gt;&gt;input("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python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'python'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87957" y="3912870"/>
            <a:ext cx="1676564" cy="692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 input("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  <a:p>
            <a:pPr marL="0" marR="0">
              <a:lnSpc>
                <a:spcPts val="1128"/>
              </a:lnSpc>
              <a:spcBef>
                <a:spcPts val="85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1024.256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'1024.256'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分支语句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13527"/>
            <a:ext cx="8427718" cy="806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分支语句是控制程序运行的一类重要语句，它的作用是根据</a:t>
            </a:r>
          </a:p>
          <a:p>
            <a:pPr marL="34290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判断条件选择程序执行路径，使用方式如下：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9750" y="2872428"/>
            <a:ext cx="2058172" cy="2196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 &lt;条件1&gt;:</a:t>
            </a:r>
          </a:p>
          <a:p>
            <a:pPr marL="361188" marR="0">
              <a:lnSpc>
                <a:spcPts val="3167"/>
              </a:lnSpc>
              <a:spcBef>
                <a:spcPts val="23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67"/>
              </a:lnSpc>
              <a:spcBef>
                <a:spcPts val="29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elif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&lt;条件2&gt;:</a:t>
            </a:r>
          </a:p>
          <a:p>
            <a:pPr marL="361188" marR="0">
              <a:lnSpc>
                <a:spcPts val="3167"/>
              </a:lnSpc>
              <a:spcBef>
                <a:spcPts val="23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  <a:p>
            <a:pPr marL="0" marR="0">
              <a:lnSpc>
                <a:spcPts val="3167"/>
              </a:lnSpc>
              <a:spcBef>
                <a:spcPts val="28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9750" y="5066920"/>
            <a:ext cx="794490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40938" y="5506484"/>
            <a:ext cx="176708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&lt;语句块N&gt;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5405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18" dirty="0">
                <a:solidFill>
                  <a:srgbClr val="262626"/>
                </a:solidFill>
                <a:latin typeface="Microsoft YaHei"/>
                <a:cs typeface="Microsoft YaHei"/>
              </a:rPr>
              <a:t>eval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（）函数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13527"/>
            <a:ext cx="7941005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eval(&lt;字符串&gt;)函数是Python语言中一个十分重要的函</a:t>
            </a:r>
          </a:p>
          <a:p>
            <a:pPr marL="34290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数，它能够以Python表达式的方式解析并执行字符串，</a:t>
            </a: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将返回结果输出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5336" y="3421884"/>
            <a:ext cx="84888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x = 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45336" y="3690094"/>
            <a:ext cx="1423259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&gt;&gt;&gt;eval("x +</a:t>
            </a:r>
            <a:r>
              <a:rPr sz="105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1")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5336" y="3944602"/>
            <a:ext cx="23288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45336" y="4199491"/>
            <a:ext cx="1741775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&gt;&gt;&gt;eval("1.1 +</a:t>
            </a:r>
            <a:r>
              <a:rPr sz="105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2.2")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45336" y="4452475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3.3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输出函数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285433"/>
            <a:ext cx="8009511" cy="136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print()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函数用来输出字符信息，或以字符形式输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出变量。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3992694"/>
            <a:ext cx="6896964" cy="1360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print()函数可以输出各种类型变量的值。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print()函数通过%来选择要输出的变量。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125413"/>
            <a:ext cx="8012913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50" dirty="0">
                <a:solidFill>
                  <a:srgbClr val="000000"/>
                </a:solidFill>
                <a:latin typeface="Microsoft YaHei"/>
                <a:cs typeface="Microsoft YaHei"/>
              </a:rPr>
              <a:t>用户输入两个数字，计算它们的平均数，并输出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2765493"/>
            <a:ext cx="1217675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平均数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F9C960-6318-4215-AE0A-DDA1CA9D6BBE}"/>
              </a:ext>
            </a:extLst>
          </p:cNvPr>
          <p:cNvSpPr txBox="1"/>
          <p:nvPr/>
        </p:nvSpPr>
        <p:spPr>
          <a:xfrm>
            <a:off x="4427984" y="486916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小数点后六位有效数字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110047"/>
            <a:ext cx="8011059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循环语句：控制程序运行，根据判断条件或计数条件确定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一段程序的运行次数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9816" y="3207708"/>
            <a:ext cx="373418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遍历循环，基本过程如下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87017" y="3641922"/>
            <a:ext cx="3164764" cy="678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0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i in</a:t>
            </a: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range</a:t>
            </a:r>
            <a:r>
              <a:rPr sz="2000" spc="-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(&lt;计数值&gt;):</a:t>
            </a:r>
          </a:p>
          <a:p>
            <a:pPr marL="299084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&lt;表达式1&gt;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9816" y="4365625"/>
            <a:ext cx="5009495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例如，使某一段程序连续运行10次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7017" y="4800416"/>
            <a:ext cx="2321992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000" spc="-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i in</a:t>
            </a: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range</a:t>
            </a:r>
            <a:r>
              <a:rPr sz="2000" spc="-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(10):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6101" y="5105216"/>
            <a:ext cx="1293668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&lt;源代码&gt;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29816" y="5524467"/>
            <a:ext cx="320535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其中，变量i用于计数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3142" y="2829774"/>
            <a:ext cx="742863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tur</a:t>
            </a:r>
            <a:r>
              <a:rPr sz="5400" spc="-143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tle库和蟒蛇绘制程序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88554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Python小蛇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283909"/>
            <a:ext cx="7575702" cy="2214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Python英文是蟒蛇的意思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30" dirty="0">
                <a:solidFill>
                  <a:srgbClr val="000000"/>
                </a:solidFill>
                <a:latin typeface="Microsoft YaHei"/>
                <a:cs typeface="Microsoft YaHei"/>
              </a:rPr>
              <a:t>通过下面的例子，来实践用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127" dirty="0">
                <a:solidFill>
                  <a:srgbClr val="000000"/>
                </a:solidFill>
                <a:latin typeface="Microsoft YaHei"/>
                <a:cs typeface="Microsoft YaHei"/>
              </a:rPr>
              <a:t>语言输出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图形效果。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91672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Python蟒蛇绘制实例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90113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Python语法元素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283909"/>
            <a:ext cx="260904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" dirty="0">
                <a:solidFill>
                  <a:srgbClr val="FF0000"/>
                </a:solidFill>
                <a:latin typeface="Microsoft YaHei"/>
                <a:cs typeface="Microsoft YaHei"/>
              </a:rPr>
              <a:t>import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3137026"/>
            <a:ext cx="7932420" cy="136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spc="142" dirty="0">
                <a:solidFill>
                  <a:srgbClr val="000000"/>
                </a:solidFill>
                <a:latin typeface="Microsoft YaHei"/>
                <a:cs typeface="Microsoft YaHei"/>
              </a:rPr>
              <a:t>是一个关键字，用来引入一些外部库，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这里的含义是引入一个名字叫</a:t>
            </a:r>
            <a:r>
              <a:rPr sz="2800" spc="14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的函数库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07052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44" dirty="0">
                <a:solidFill>
                  <a:srgbClr val="262626"/>
                </a:solidFill>
                <a:latin typeface="Microsoft YaHei"/>
                <a:cs typeface="Microsoft YaHei"/>
              </a:rPr>
              <a:t>Turtle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757338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-27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spc="74" dirty="0">
                <a:solidFill>
                  <a:srgbClr val="000000"/>
                </a:solidFill>
                <a:latin typeface="Microsoft YaHei"/>
                <a:cs typeface="Microsoft YaHei"/>
              </a:rPr>
              <a:t>库是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语言中一个很流行的绘制图像的函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2657163"/>
            <a:ext cx="762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数库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0068" y="3205481"/>
            <a:ext cx="7578546" cy="1365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库，同学们头脑里需要有这样一个概念：</a:t>
            </a:r>
          </a:p>
          <a:p>
            <a:pPr marL="457149" marR="0">
              <a:lnSpc>
                <a:spcPts val="2644"/>
              </a:lnSpc>
              <a:spcBef>
                <a:spcPts val="1033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-192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spc="38" dirty="0">
                <a:solidFill>
                  <a:srgbClr val="000000"/>
                </a:solidFill>
                <a:latin typeface="Microsoft YaHei"/>
                <a:cs typeface="Microsoft YaHei"/>
              </a:rPr>
              <a:t>想象一个小乌龟，在一个横轴为</a:t>
            </a:r>
            <a:r>
              <a:rPr sz="2000" spc="41" dirty="0">
                <a:solidFill>
                  <a:srgbClr val="000000"/>
                </a:solidFill>
                <a:latin typeface="Microsoft YaHei"/>
                <a:cs typeface="Microsoft YaHei"/>
              </a:rPr>
              <a:t>x</a:t>
            </a:r>
            <a:r>
              <a:rPr sz="2000" spc="34" dirty="0">
                <a:solidFill>
                  <a:srgbClr val="000000"/>
                </a:solidFill>
                <a:latin typeface="Microsoft YaHei"/>
                <a:cs typeface="Microsoft YaHei"/>
              </a:rPr>
              <a:t>、纵轴为</a:t>
            </a:r>
            <a:r>
              <a:rPr sz="2000" spc="33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  <a:r>
              <a:rPr sz="2000" spc="40" dirty="0">
                <a:solidFill>
                  <a:srgbClr val="000000"/>
                </a:solidFill>
                <a:latin typeface="Microsoft YaHei"/>
                <a:cs typeface="Microsoft YaHei"/>
              </a:rPr>
              <a:t>的坐标系原点，</a:t>
            </a:r>
          </a:p>
          <a:p>
            <a:pPr marL="685749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(0,0)位置开始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7217" y="4653858"/>
            <a:ext cx="7119873" cy="83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-192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spc="41" dirty="0">
                <a:solidFill>
                  <a:srgbClr val="000000"/>
                </a:solidFill>
                <a:latin typeface="Microsoft YaHei"/>
                <a:cs typeface="Microsoft YaHei"/>
              </a:rPr>
              <a:t>它根据一组函数指令的控制，在这个平面坐标系中移动，从</a:t>
            </a:r>
          </a:p>
          <a:p>
            <a:pPr marL="22860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而在它爬行的路径上绘制了图形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7255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def定义函数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110047"/>
            <a:ext cx="8319237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03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def</a:t>
            </a:r>
            <a:r>
              <a:rPr sz="2400" spc="50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用于定义函数，这段程序中，共出现两次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关键词，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包含两个函数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drawSnake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main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3207708"/>
            <a:ext cx="8012913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函数是一组代码的集合，用于表达一个功能，或者说，函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数表示一组代码的归属，函数名称是这段代码的名字。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03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所定义的函数在程序中未经调用不能直接执行，需要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通过函数名调用才能够执行。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程序运行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167" y="2131383"/>
            <a:ext cx="8114964" cy="3367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03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两个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70" dirty="0">
                <a:solidFill>
                  <a:srgbClr val="000000"/>
                </a:solidFill>
                <a:latin typeface="Microsoft YaHei"/>
                <a:cs typeface="Microsoft YaHei"/>
              </a:rPr>
              <a:t>语句定义的函数所包含语句与</a:t>
            </a:r>
            <a:r>
              <a:rPr sz="2400" spc="17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行存在缩进关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系，def后连续的缩进语句都是这个函数的一部分。</a:t>
            </a:r>
          </a:p>
          <a:p>
            <a:pPr marL="0" marR="0">
              <a:lnSpc>
                <a:spcPts val="3167"/>
              </a:lnSpc>
              <a:spcBef>
                <a:spcPts val="2595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03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由于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定义的函数在程序中未经调用不会被执行，整个</a:t>
            </a:r>
          </a:p>
          <a:p>
            <a:pPr marL="0" marR="0">
              <a:lnSpc>
                <a:spcPts val="3167"/>
              </a:lnSpc>
              <a:spcBef>
                <a:spcPts val="259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程序第一条执行的语句是main()，它表示执行名字为main()</a:t>
            </a:r>
          </a:p>
          <a:p>
            <a:pPr marL="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的函数。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程序运行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110047"/>
            <a:ext cx="8012913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从而，该程序跳转到main()函数定义的一组语句中执行，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即开始执行</a:t>
            </a:r>
            <a:r>
              <a:rPr sz="2400" spc="1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turtle.setup()语句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3207708"/>
            <a:ext cx="8015961" cy="1537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同样的，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main()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函数的最后一条语句调用了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drawSnake()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17" dirty="0">
                <a:solidFill>
                  <a:srgbClr val="000000"/>
                </a:solidFill>
                <a:latin typeface="Microsoft YaHei"/>
                <a:cs typeface="Microsoft YaHei"/>
              </a:rPr>
              <a:t>函数，当执行到这条语句时，程序跳转到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drawSnake()函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数中运行。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7617" y="2788949"/>
            <a:ext cx="6588531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Python蟒蛇程序分析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90113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Python小蛇实例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889" y="-20460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8105" y="48554"/>
            <a:ext cx="8964488" cy="1483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程序运行main()函数中语句，遇到setup函数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-27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spc="114" dirty="0">
                <a:solidFill>
                  <a:srgbClr val="000000"/>
                </a:solidFill>
                <a:latin typeface="Microsoft YaHei"/>
                <a:cs typeface="Microsoft YaHei"/>
              </a:rPr>
              <a:t>中的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turtle.setup()</a:t>
            </a:r>
            <a:r>
              <a:rPr sz="2400" spc="107" dirty="0">
                <a:solidFill>
                  <a:srgbClr val="000000"/>
                </a:solidFill>
                <a:latin typeface="Microsoft YaHei"/>
                <a:cs typeface="Microsoft YaHei"/>
              </a:rPr>
              <a:t>函数用于启动一个图形窗口，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它有四个参数</a:t>
            </a:r>
            <a:r>
              <a:rPr lang="en-US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turtle.setup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(width, height, </a:t>
            </a:r>
            <a:r>
              <a:rPr lang="en-US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startx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starty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05" y="1600448"/>
            <a:ext cx="7265865" cy="380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分别是：启动窗口的宽度和高度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9616" y="2017332"/>
            <a:ext cx="8918006" cy="120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表示窗口启动时，窗口左上角在屏幕中的坐标位置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66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显示屏幕坐标系，</a:t>
            </a:r>
            <a:r>
              <a:rPr lang="zh-CN" altLang="en-US" sz="2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左上角为原点，向右和向下分别是</a:t>
            </a:r>
            <a:r>
              <a:rPr lang="en-US" altLang="zh-CN" sz="2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轴和</a:t>
            </a:r>
            <a:r>
              <a:rPr lang="en-US" altLang="zh-CN" sz="2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轴。</a:t>
            </a:r>
          </a:p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77CABE-0522-4B06-ADAF-D6263A738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" y="3633606"/>
            <a:ext cx="4091700" cy="30669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F7027F-287E-4CF0-9761-ABA528305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233" y="4023077"/>
            <a:ext cx="5028878" cy="194242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889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616" y="80380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512" y="692696"/>
            <a:ext cx="8964488" cy="382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1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</a:t>
            </a:r>
            <a:r>
              <a:rPr kumimoji="0" sz="2400" b="0" i="0" u="none" strike="noStrike" kern="1200" cap="none" spc="107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图形窗口</a:t>
            </a:r>
            <a:r>
              <a:rPr kumimoji="0" lang="zh-CN" altLang="en-US" sz="2400" b="1" i="0" u="none" strike="noStrike" kern="1200" cap="none" spc="10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内的绝对坐标系</a:t>
            </a:r>
            <a:r>
              <a:rPr lang="zh-CN" altLang="en-US" sz="2400" b="1" spc="107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Microsoft YaHei"/>
              </a:rPr>
              <a:t>：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AFD67F-BC6A-446F-B278-A0F8E592F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67" y="1246755"/>
            <a:ext cx="4969513" cy="31599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96EE7E-489D-441F-8307-D0530B970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9" y="4077072"/>
            <a:ext cx="9144000" cy="27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77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757638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-27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spc="138" dirty="0">
                <a:solidFill>
                  <a:srgbClr val="000000"/>
                </a:solidFill>
                <a:latin typeface="Microsoft YaHei"/>
                <a:cs typeface="Microsoft YaHei"/>
              </a:rPr>
              <a:t>中的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turtle.pensize()</a:t>
            </a: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函数表示小乌龟运动轨迹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的宽度。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3205481"/>
            <a:ext cx="7578852" cy="98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它包含一个输入参数，这里我们把它设为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30</a:t>
            </a:r>
            <a:r>
              <a:rPr sz="2400" spc="49" dirty="0">
                <a:solidFill>
                  <a:srgbClr val="000000"/>
                </a:solidFill>
                <a:latin typeface="Microsoft YaHei"/>
                <a:cs typeface="Microsoft YaHei"/>
              </a:rPr>
              <a:t>像素，用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pythonsize变量表示。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512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7584" y="188939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980728"/>
            <a:ext cx="7576388" cy="377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pc="-27" dirty="0" err="1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pc="31" dirty="0" err="1">
                <a:solidFill>
                  <a:srgbClr val="000000"/>
                </a:solidFill>
                <a:latin typeface="Microsoft YaHei"/>
                <a:cs typeface="Microsoft YaHei"/>
              </a:rPr>
              <a:t>中的</a:t>
            </a:r>
            <a:r>
              <a:rPr dirty="0" err="1">
                <a:solidFill>
                  <a:srgbClr val="000000"/>
                </a:solidFill>
                <a:latin typeface="Microsoft YaHei"/>
                <a:cs typeface="Microsoft YaHei"/>
              </a:rPr>
              <a:t>turtle.pencolor</a:t>
            </a:r>
            <a:r>
              <a:rPr dirty="0">
                <a:solidFill>
                  <a:srgbClr val="000000"/>
                </a:solidFill>
                <a:latin typeface="Microsoft YaHei"/>
                <a:cs typeface="Microsoft YaHei"/>
              </a:rPr>
              <a:t>(</a:t>
            </a:r>
            <a:r>
              <a:rPr lang="en-US" dirty="0">
                <a:solidFill>
                  <a:srgbClr val="000000"/>
                </a:solidFill>
                <a:latin typeface="Microsoft YaHei"/>
                <a:cs typeface="Microsoft YaHei"/>
              </a:rPr>
              <a:t>"blue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cs typeface="Microsoft YaHei"/>
              </a:rPr>
              <a:t>"</a:t>
            </a:r>
            <a:r>
              <a:rPr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  <a:r>
              <a:rPr spc="23" dirty="0" err="1">
                <a:solidFill>
                  <a:srgbClr val="000000"/>
                </a:solidFill>
                <a:latin typeface="Microsoft YaHei"/>
                <a:cs typeface="Microsoft YaHei"/>
              </a:rPr>
              <a:t>函数表示小乌龟运动轨迹</a:t>
            </a:r>
            <a:r>
              <a:rPr dirty="0" err="1">
                <a:solidFill>
                  <a:srgbClr val="000000"/>
                </a:solidFill>
                <a:latin typeface="Microsoft YaHei"/>
                <a:cs typeface="Microsoft YaHei"/>
              </a:rPr>
              <a:t>的颜色</a:t>
            </a:r>
            <a:r>
              <a:rPr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3902" y="1546029"/>
            <a:ext cx="7882128" cy="1183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pc="57" dirty="0">
                <a:solidFill>
                  <a:srgbClr val="000000"/>
                </a:solidFill>
                <a:latin typeface="Microsoft YaHei"/>
                <a:cs typeface="Microsoft YaHei"/>
              </a:rPr>
              <a:t>它包含一个输入参数，这里我们把它设为蓝色，</a:t>
            </a:r>
            <a:r>
              <a:rPr spc="12" dirty="0">
                <a:solidFill>
                  <a:srgbClr val="000000"/>
                </a:solidFill>
                <a:latin typeface="Microsoft YaHei"/>
                <a:cs typeface="Microsoft YaHei"/>
              </a:rPr>
              <a:t>blue</a:t>
            </a:r>
            <a:r>
              <a:rPr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pc="74" dirty="0">
                <a:solidFill>
                  <a:srgbClr val="000000"/>
                </a:solidFill>
                <a:latin typeface="Microsoft YaHei"/>
                <a:cs typeface="Microsoft YaHei"/>
              </a:rPr>
              <a:t>其他颜色单词也可以使用。</a:t>
            </a:r>
            <a:r>
              <a:rPr spc="-25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pc="74" dirty="0">
                <a:solidFill>
                  <a:srgbClr val="000000"/>
                </a:solidFill>
                <a:latin typeface="Microsoft YaHei"/>
                <a:cs typeface="Microsoft YaHei"/>
              </a:rPr>
              <a:t>采用</a:t>
            </a:r>
            <a:r>
              <a:rPr spc="12" dirty="0">
                <a:solidFill>
                  <a:srgbClr val="000000"/>
                </a:solidFill>
                <a:latin typeface="Microsoft YaHei"/>
                <a:cs typeface="Microsoft YaHei"/>
              </a:rPr>
              <a:t>RGB</a:t>
            </a:r>
            <a:r>
              <a:rPr spc="75" dirty="0">
                <a:solidFill>
                  <a:srgbClr val="000000"/>
                </a:solidFill>
                <a:latin typeface="Microsoft YaHei"/>
                <a:cs typeface="Microsoft YaHei"/>
              </a:rPr>
              <a:t>方式来定义</a:t>
            </a:r>
            <a:r>
              <a:rPr spc="37" dirty="0">
                <a:solidFill>
                  <a:srgbClr val="000000"/>
                </a:solidFill>
                <a:latin typeface="Microsoft YaHei"/>
                <a:cs typeface="Microsoft YaHei"/>
              </a:rPr>
              <a:t>颜色，如果希望获得和图片中颜色一致的小蛇，请输入</a:t>
            </a:r>
            <a:r>
              <a:rPr dirty="0">
                <a:solidFill>
                  <a:srgbClr val="000000"/>
                </a:solidFill>
                <a:latin typeface="Microsoft YaHei"/>
                <a:cs typeface="Microsoft YaHei"/>
              </a:rPr>
              <a:t>turtle.pencolor(“#3B9909”)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F3D206-D346-4187-96A4-BBB79787E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04" y="2996952"/>
            <a:ext cx="8389323" cy="3732941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4E79D90D-F683-4D1F-97FC-C25978E49624}"/>
              </a:ext>
            </a:extLst>
          </p:cNvPr>
          <p:cNvSpPr/>
          <p:nvPr/>
        </p:nvSpPr>
        <p:spPr>
          <a:xfrm>
            <a:off x="1338535" y="3588141"/>
            <a:ext cx="497161" cy="272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605DFB0-9570-4A88-A6DC-CE45D6E5D317}"/>
              </a:ext>
            </a:extLst>
          </p:cNvPr>
          <p:cNvSpPr/>
          <p:nvPr/>
        </p:nvSpPr>
        <p:spPr>
          <a:xfrm>
            <a:off x="1338535" y="4452237"/>
            <a:ext cx="497161" cy="272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948" y="167216"/>
            <a:ext cx="7109153" cy="602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262626"/>
                </a:solidFill>
                <a:latin typeface="Microsoft YaHei"/>
                <a:cs typeface="Microsoft YaHei"/>
              </a:rPr>
              <a:t>乌龟的相对运动</a:t>
            </a:r>
            <a:endParaRPr sz="3200" b="1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806" y="1051100"/>
            <a:ext cx="7576388" cy="2086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-27" dirty="0">
                <a:solidFill>
                  <a:srgbClr val="000000"/>
                </a:solidFill>
                <a:latin typeface="Microsoft YaHei"/>
                <a:cs typeface="Microsoft YaHei"/>
              </a:rPr>
              <a:t>Turtle</a:t>
            </a:r>
            <a:r>
              <a:rPr sz="2400" spc="138" dirty="0">
                <a:solidFill>
                  <a:srgbClr val="000000"/>
                </a:solidFill>
                <a:latin typeface="Microsoft YaHei"/>
                <a:cs typeface="Microsoft YaHei"/>
              </a:rPr>
              <a:t>中的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turtle.seth(angle)</a:t>
            </a: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函数表示小乌龟启动时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运动的方向。它包含一个输入参数，是角度值。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其中，0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表示向东，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90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度向北，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180</a:t>
            </a: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度向西，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270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度向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南；负值表示相反方向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（上北下南左西右东）</a:t>
            </a:r>
            <a:endParaRPr sz="2400" b="1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80" y="3319100"/>
            <a:ext cx="7576769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程序中，我们让小乌龟向-40度启动爬行，即：向东南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方向40度。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27525" y="5031296"/>
            <a:ext cx="40667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19551" y="5615648"/>
            <a:ext cx="53380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180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16753" y="5626621"/>
            <a:ext cx="279536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64152" y="6264873"/>
            <a:ext cx="53380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270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757737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main()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函数给出了小乌龟爬行的窗体大小，爬行轨迹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颜色和宽度以及初始爬行的方位。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3205481"/>
            <a:ext cx="7880299" cy="208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最后，调用drawSnake函数启动绘制蟒蛇功能。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drawSnake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函数有四个参数，根据调用时给出的参数，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分别将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40</a:t>
            </a: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传递给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rad</a:t>
            </a:r>
            <a:r>
              <a:rPr sz="2400" spc="35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80</a:t>
            </a: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给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angle</a:t>
            </a: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spc="345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给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len</a:t>
            </a:r>
            <a:r>
              <a:rPr sz="2400" spc="348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15给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neckrad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0234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5536" y="-8191"/>
            <a:ext cx="5220639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turtle.circle()函数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功能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1560" y="659399"/>
            <a:ext cx="6468186" cy="879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turtle.circle()函数让小乌龟沿着一个圆形爬行</a:t>
            </a:r>
          </a:p>
          <a:p>
            <a:pPr marL="0" marR="0"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参数rad描述圆形轨迹半径的位置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2394" y="1644351"/>
            <a:ext cx="7118705" cy="879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sz="2400" spc="153" dirty="0" err="1">
                <a:solidFill>
                  <a:srgbClr val="000000"/>
                </a:solidFill>
                <a:latin typeface="Microsoft YaHei"/>
                <a:cs typeface="Microsoft YaHei"/>
              </a:rPr>
              <a:t>这个半径在小乌龟运行的左侧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rad</a:t>
            </a:r>
            <a:r>
              <a:rPr sz="2400" spc="151" dirty="0" err="1">
                <a:solidFill>
                  <a:srgbClr val="000000"/>
                </a:solidFill>
                <a:latin typeface="Microsoft YaHei"/>
                <a:cs typeface="Microsoft YaHei"/>
              </a:rPr>
              <a:t>位置处，如果</a:t>
            </a:r>
            <a:endParaRPr sz="2400" spc="15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rad为负值，则半径在小乌龟运行的右侧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1560" y="2476503"/>
            <a:ext cx="6366867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参数angle表示小乌龟沿着圆形爬行的弧度值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74EB29-F720-4049-8E3F-53BD34A67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83" y="2817622"/>
            <a:ext cx="58860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当无该参数或参数为 None 时，绘制整个圆形。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 extent 值为正数时，顺小海龟当前方向绘制。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 extent 值为负数时，逆小海龟当前方向绘制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7BE3F0B-34C4-4425-9768-E5A33EC0A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407" y="3830453"/>
            <a:ext cx="603885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46587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Microsoft YaHei"/>
                <a:cs typeface="Microsoft YaHei"/>
              </a:rPr>
              <a:t>turtle.fd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()函数功能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245683"/>
            <a:ext cx="7574026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turtle.fd()</a:t>
            </a:r>
            <a:r>
              <a:rPr sz="2400" spc="165" dirty="0">
                <a:solidFill>
                  <a:srgbClr val="000000"/>
                </a:solidFill>
                <a:latin typeface="Microsoft YaHei"/>
                <a:cs typeface="Microsoft YaHei"/>
              </a:rPr>
              <a:t>函数也可以用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turtle.for</a:t>
            </a:r>
            <a:r>
              <a:rPr sz="2400" spc="-6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ward()</a:t>
            </a:r>
            <a:r>
              <a:rPr sz="2400" spc="162" dirty="0">
                <a:solidFill>
                  <a:srgbClr val="000000"/>
                </a:solidFill>
                <a:latin typeface="Microsoft YaHei"/>
                <a:cs typeface="Microsoft YaHei"/>
              </a:rPr>
              <a:t>表示乌龟向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前直线爬行移动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3709104"/>
            <a:ext cx="7572424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64" dirty="0">
                <a:solidFill>
                  <a:srgbClr val="000000"/>
                </a:solidFill>
                <a:latin typeface="Microsoft YaHei"/>
                <a:cs typeface="Microsoft YaHei"/>
              </a:rPr>
              <a:t>表示小乌龟向前直线爬行移动，它有一个参数表示爬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行的距离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1669" y="2829774"/>
            <a:ext cx="3582923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函数的封装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40893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Python的函数封装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785053"/>
            <a:ext cx="4768620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蟒蛇程序功能可以分成两类：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809435"/>
            <a:ext cx="7876638" cy="1445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绘制图形前对画笔的设置，包括颜色、尺寸、初</a:t>
            </a:r>
          </a:p>
          <a:p>
            <a:pPr marL="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始位置等</a:t>
            </a:r>
          </a:p>
          <a:p>
            <a:pPr marL="0" marR="0">
              <a:lnSpc>
                <a:spcPts val="3690"/>
              </a:lnSpc>
              <a:spcBef>
                <a:spcPts val="34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以及绘制Python蟒蛇的功能。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9917" y="4772601"/>
            <a:ext cx="796655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由于蟒蛇绘制的功能相对独立，可以用函数来封装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函数封装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2121</TotalTime>
  <Words>1522</Words>
  <Application>Microsoft Office PowerPoint</Application>
  <PresentationFormat>全屏显示(4:3)</PresentationFormat>
  <Paragraphs>290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Palatino Linotype</vt:lpstr>
      <vt:lpstr>Times New Roman</vt:lpstr>
      <vt:lpstr>Microsoft YaHei</vt:lpstr>
      <vt:lpstr>Calibri</vt:lpstr>
      <vt:lpstr>SimHei</vt:lpstr>
      <vt:lpstr>Wingdings</vt:lpstr>
      <vt:lpstr>Courier New</vt:lpstr>
      <vt:lpstr>微软雅黑 Light</vt:lpstr>
      <vt:lpstr>STKaiti</vt:lpstr>
      <vt:lpstr>Microsoft YaHei</vt:lpstr>
      <vt:lpstr>Arial</vt:lpstr>
      <vt:lpstr>SimSun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26</cp:revision>
  <dcterms:modified xsi:type="dcterms:W3CDTF">2024-11-10T13:28:26Z</dcterms:modified>
</cp:coreProperties>
</file>