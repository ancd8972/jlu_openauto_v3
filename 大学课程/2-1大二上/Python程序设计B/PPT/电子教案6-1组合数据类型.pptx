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327" r:id="rId15"/>
    <p:sldId id="269" r:id="rId16"/>
    <p:sldId id="270" r:id="rId17"/>
    <p:sldId id="271" r:id="rId18"/>
    <p:sldId id="272" r:id="rId19"/>
    <p:sldId id="273" r:id="rId20"/>
    <p:sldId id="274" r:id="rId21"/>
    <p:sldId id="332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29" r:id="rId54"/>
    <p:sldId id="330" r:id="rId55"/>
    <p:sldId id="306" r:id="rId56"/>
    <p:sldId id="307" r:id="rId57"/>
    <p:sldId id="308" r:id="rId58"/>
    <p:sldId id="309" r:id="rId59"/>
    <p:sldId id="328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31" r:id="rId78"/>
  </p:sldIdLst>
  <p:sldSz cx="9144000" cy="6858000" type="screen4x3"/>
  <p:notesSz cx="9144000" cy="6858000"/>
  <p:embeddedFontLst>
    <p:embeddedFont>
      <p:font typeface="SimHei" panose="02010609060101010101" pitchFamily="49" charset="-122"/>
      <p:regular r:id="rId79"/>
    </p:embeddedFont>
    <p:embeddedFont>
      <p:font typeface="Cambria Math" panose="02040503050406030204" pitchFamily="18" charset="0"/>
      <p:regular r:id="rId80"/>
    </p:embeddedFont>
    <p:embeddedFont>
      <p:font typeface="EDPDKQ+Symbol" panose="02010600030101010101" charset="2"/>
      <p:regular r:id="rId81"/>
    </p:embeddedFont>
    <p:embeddedFont>
      <p:font typeface="Palatino Linotype" panose="02040502050505030304" pitchFamily="18" charset="0"/>
      <p:regular r:id="rId82"/>
      <p:bold r:id="rId83"/>
      <p:italic r:id="rId84"/>
      <p:boldItalic r:id="rId85"/>
    </p:embeddedFont>
    <p:embeddedFont>
      <p:font typeface="微软雅黑" panose="020B0503020204020204" pitchFamily="34" charset="-122"/>
      <p:regular r:id="rId86"/>
      <p:bold r:id="rId87"/>
    </p:embeddedFont>
    <p:embeddedFont>
      <p:font typeface="微软雅黑" panose="020B0503020204020204" pitchFamily="34" charset="-122"/>
      <p:regular r:id="rId86"/>
      <p:bold r:id="rId87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A4A3A4"/>
          </p15:clr>
        </p15:guide>
        <p15:guide id="2" pos="244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2242" y="677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font" Target="fonts/font6.fntdata"/><Relationship Id="rId89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font" Target="fonts/font1.fntdata"/><Relationship Id="rId87" Type="http://schemas.openxmlformats.org/officeDocument/2006/relationships/font" Target="fonts/font9.fntdata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font" Target="fonts/font4.fntdata"/><Relationship Id="rId90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font" Target="fonts/font2.fntdata"/><Relationship Id="rId85" Type="http://schemas.openxmlformats.org/officeDocument/2006/relationships/font" Target="fonts/font7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font" Target="fonts/font5.fntdata"/><Relationship Id="rId88" Type="http://schemas.openxmlformats.org/officeDocument/2006/relationships/presProps" Target="presProps.xml"/><Relationship Id="rId9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font" Target="fonts/font3.fntdata"/><Relationship Id="rId86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Title</a:t>
            </a:r>
          </a:p>
        </p:txBody>
      </p:sp>
      <p:sp>
        <p:nvSpPr>
          <p:cNvPr id="3" name="Tex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5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18718" y="1859885"/>
            <a:ext cx="7863531" cy="11693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8907"/>
              </a:lnSpc>
              <a:spcBef>
                <a:spcPts val="0"/>
              </a:spcBef>
              <a:spcAft>
                <a:spcPts val="0"/>
              </a:spcAft>
            </a:pPr>
            <a:r>
              <a:rPr sz="6600" dirty="0">
                <a:solidFill>
                  <a:srgbClr val="000000"/>
                </a:solidFill>
                <a:latin typeface="Palatino Linotype"/>
                <a:cs typeface="Palatino Linotype"/>
              </a:rPr>
              <a:t>Python</a:t>
            </a:r>
            <a:r>
              <a:rPr sz="6600" dirty="0">
                <a:solidFill>
                  <a:srgbClr val="000000"/>
                </a:solidFill>
                <a:latin typeface="SimHei"/>
                <a:cs typeface="SimHei"/>
              </a:rPr>
              <a:t>语言程序设计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825242" y="3816201"/>
            <a:ext cx="3645661" cy="5751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228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000000"/>
                </a:solidFill>
                <a:latin typeface="Microsoft YaHei"/>
                <a:cs typeface="Microsoft YaHei"/>
              </a:rPr>
              <a:t>北京理工大学</a:t>
            </a:r>
            <a:r>
              <a:rPr sz="3200" spc="927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3200" dirty="0">
                <a:solidFill>
                  <a:srgbClr val="000000"/>
                </a:solidFill>
                <a:latin typeface="Microsoft YaHei"/>
                <a:cs typeface="Microsoft YaHei"/>
              </a:rPr>
              <a:t>嵩天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346580" y="2334433"/>
            <a:ext cx="6855333" cy="1072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8094"/>
              </a:lnSpc>
              <a:spcBef>
                <a:spcPts val="0"/>
              </a:spcBef>
              <a:spcAft>
                <a:spcPts val="0"/>
              </a:spcAft>
            </a:pPr>
            <a:r>
              <a:rPr sz="6000" dirty="0">
                <a:solidFill>
                  <a:srgbClr val="000000"/>
                </a:solidFill>
                <a:latin typeface="SimHei"/>
                <a:cs typeface="SimHei"/>
              </a:rPr>
              <a:t>第</a:t>
            </a:r>
            <a:r>
              <a:rPr sz="6000" dirty="0">
                <a:solidFill>
                  <a:srgbClr val="000000"/>
                </a:solidFill>
                <a:latin typeface="Palatino Linotype"/>
                <a:cs typeface="Palatino Linotype"/>
              </a:rPr>
              <a:t>6</a:t>
            </a:r>
            <a:r>
              <a:rPr sz="6000" dirty="0">
                <a:solidFill>
                  <a:srgbClr val="000000"/>
                </a:solidFill>
                <a:latin typeface="SimHei"/>
                <a:cs typeface="SimHei"/>
              </a:rPr>
              <a:t>章</a:t>
            </a:r>
            <a:r>
              <a:rPr sz="6000" spc="2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6000" dirty="0">
                <a:solidFill>
                  <a:srgbClr val="000000"/>
                </a:solidFill>
                <a:latin typeface="Microsoft YaHei"/>
                <a:cs typeface="Microsoft YaHei"/>
              </a:rPr>
              <a:t>组合数据类型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668526" y="2761575"/>
            <a:ext cx="5641237" cy="9436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130"/>
              </a:lnSpc>
              <a:spcBef>
                <a:spcPts val="0"/>
              </a:spcBef>
              <a:spcAft>
                <a:spcPts val="0"/>
              </a:spcAft>
            </a:pPr>
            <a:r>
              <a:rPr sz="5400" dirty="0">
                <a:solidFill>
                  <a:srgbClr val="000000"/>
                </a:solidFill>
                <a:latin typeface="Microsoft YaHei"/>
                <a:cs typeface="Microsoft YaHei"/>
              </a:rPr>
              <a:t>组合数据类型概述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2183587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序列类型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59917" y="2195772"/>
            <a:ext cx="8108848" cy="20865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9748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spc="21" dirty="0">
                <a:solidFill>
                  <a:srgbClr val="000000"/>
                </a:solidFill>
                <a:latin typeface="Microsoft YaHei"/>
                <a:cs typeface="Microsoft YaHei"/>
              </a:rPr>
              <a:t>计算机不仅对单个变量表示的数据进行处理，更多情况，</a:t>
            </a:r>
          </a:p>
          <a:p>
            <a:pPr marL="0" marR="0">
              <a:lnSpc>
                <a:spcPts val="3167"/>
              </a:lnSpc>
              <a:spcBef>
                <a:spcPts val="1104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计算机需要对一组数据进行</a:t>
            </a:r>
            <a:r>
              <a:rPr sz="2400" dirty="0">
                <a:solidFill>
                  <a:srgbClr val="FF0000"/>
                </a:solidFill>
                <a:latin typeface="Microsoft YaHei"/>
                <a:cs typeface="Microsoft YaHei"/>
              </a:rPr>
              <a:t>批量处理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。一些例子包括：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spc="331" dirty="0">
                <a:solidFill>
                  <a:srgbClr val="000000"/>
                </a:solidFill>
                <a:latin typeface="Wingdings"/>
                <a:cs typeface="Wingdings"/>
              </a:rPr>
              <a:t>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给定一组单词{python,</a:t>
            </a:r>
            <a:r>
              <a:rPr sz="2400" spc="187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data,</a:t>
            </a:r>
            <a:r>
              <a:rPr sz="2400" spc="204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function,</a:t>
            </a:r>
            <a:r>
              <a:rPr sz="2400" spc="199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list,</a:t>
            </a:r>
            <a:r>
              <a:rPr sz="2400" spc="217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loop}，计算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并输出每个单词的长度；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59917" y="4390967"/>
            <a:ext cx="8042808" cy="9890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spc="331" dirty="0">
                <a:solidFill>
                  <a:srgbClr val="000000"/>
                </a:solidFill>
                <a:latin typeface="Wingdings"/>
                <a:cs typeface="Wingdings"/>
              </a:rPr>
              <a:t>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给定一个学院学生信息，统计一下男女生比例；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spc="331" dirty="0">
                <a:solidFill>
                  <a:srgbClr val="000000"/>
                </a:solidFill>
                <a:latin typeface="Wingdings"/>
                <a:cs typeface="Wingdings"/>
              </a:rPr>
              <a:t>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一次实验产生了很多组数据，对这些大量数据进行分析；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2183587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序列类型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86765" y="2627699"/>
            <a:ext cx="8468580" cy="15379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9664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组合数据类型能够将多个</a:t>
            </a:r>
            <a:r>
              <a:rPr sz="2400" dirty="0">
                <a:solidFill>
                  <a:srgbClr val="FF0000"/>
                </a:solidFill>
                <a:latin typeface="Microsoft YaHei"/>
                <a:cs typeface="Microsoft YaHei"/>
              </a:rPr>
              <a:t>同类型或不同类型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的数据组织起来</a:t>
            </a:r>
          </a:p>
          <a:p>
            <a:pPr marL="0" marR="0">
              <a:lnSpc>
                <a:spcPts val="3170"/>
              </a:lnSpc>
              <a:spcBef>
                <a:spcPts val="1149"/>
              </a:spcBef>
              <a:spcAft>
                <a:spcPts val="0"/>
              </a:spcAft>
            </a:pPr>
            <a:r>
              <a:rPr sz="2400" spc="25" dirty="0">
                <a:solidFill>
                  <a:srgbClr val="000000"/>
                </a:solidFill>
                <a:latin typeface="Microsoft YaHei"/>
                <a:cs typeface="Microsoft YaHei"/>
              </a:rPr>
              <a:t>，通过单一的表示使数据操作更有序更容易。根据数据之间的</a:t>
            </a:r>
          </a:p>
          <a:p>
            <a:pPr marL="0" marR="0">
              <a:lnSpc>
                <a:spcPts val="3167"/>
              </a:lnSpc>
              <a:spcBef>
                <a:spcPts val="1103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关系，组合数据类型可以分为三类：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46429" y="4273873"/>
            <a:ext cx="4725314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序列类型、集合类型和映射类型。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2183587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序列类型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31240" y="2268924"/>
            <a:ext cx="8102803" cy="9890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•</a:t>
            </a:r>
            <a:r>
              <a:rPr sz="2400" spc="935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spc="100" dirty="0">
                <a:solidFill>
                  <a:srgbClr val="000000"/>
                </a:solidFill>
                <a:latin typeface="Microsoft YaHei"/>
                <a:cs typeface="Microsoft YaHei"/>
              </a:rPr>
              <a:t>序列类型是一个元素向量，元素之间存在先后关系，通</a:t>
            </a:r>
          </a:p>
          <a:p>
            <a:pPr marL="34290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过序号访问，元素之间不排他。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31240" y="3366458"/>
            <a:ext cx="8101584" cy="9890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•</a:t>
            </a:r>
            <a:r>
              <a:rPr sz="2400" spc="935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spc="100" dirty="0">
                <a:solidFill>
                  <a:srgbClr val="000000"/>
                </a:solidFill>
                <a:latin typeface="Microsoft YaHei"/>
                <a:cs typeface="Microsoft YaHei"/>
              </a:rPr>
              <a:t>集合类型是一个元素集合，元素之间无序，相同元素在</a:t>
            </a:r>
          </a:p>
          <a:p>
            <a:pPr marL="34290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集合中唯一存在。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31240" y="4463738"/>
            <a:ext cx="8101939" cy="9894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•</a:t>
            </a:r>
            <a:r>
              <a:rPr sz="2400" spc="935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spc="51" dirty="0">
                <a:solidFill>
                  <a:srgbClr val="000000"/>
                </a:solidFill>
                <a:latin typeface="Microsoft YaHei"/>
                <a:cs typeface="Microsoft YaHei"/>
              </a:rPr>
              <a:t>映射类型是“键</a:t>
            </a:r>
            <a:r>
              <a:rPr sz="2400" spc="54" dirty="0">
                <a:solidFill>
                  <a:srgbClr val="000000"/>
                </a:solidFill>
                <a:latin typeface="Microsoft YaHei"/>
                <a:cs typeface="Microsoft YaHei"/>
              </a:rPr>
              <a:t>-</a:t>
            </a:r>
            <a:r>
              <a:rPr sz="2400" spc="51" dirty="0">
                <a:solidFill>
                  <a:srgbClr val="000000"/>
                </a:solidFill>
                <a:latin typeface="Microsoft YaHei"/>
                <a:cs typeface="Microsoft YaHei"/>
              </a:rPr>
              <a:t>值”数据项的组合，每个元素是一个键</a:t>
            </a:r>
          </a:p>
          <a:p>
            <a:pPr marL="342900" marR="0">
              <a:lnSpc>
                <a:spcPts val="3167"/>
              </a:lnSpc>
              <a:spcBef>
                <a:spcPts val="1105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值对，表示为</a:t>
            </a:r>
            <a:r>
              <a:rPr sz="2400" spc="-36" dirty="0">
                <a:solidFill>
                  <a:srgbClr val="000000"/>
                </a:solidFill>
                <a:latin typeface="Microsoft YaHei"/>
                <a:cs typeface="Microsoft YaHei"/>
              </a:rPr>
              <a:t>(key,</a:t>
            </a:r>
            <a:r>
              <a:rPr sz="2400" spc="46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value)。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2183587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序列类型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-36512" y="1"/>
            <a:ext cx="9180512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2183587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序列类型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53465" y="2506668"/>
            <a:ext cx="8077200" cy="9892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序列类型是一维元素向量，元素之间存在先后关系，通过序</a:t>
            </a:r>
          </a:p>
          <a:p>
            <a:pPr marL="0" marR="0">
              <a:lnSpc>
                <a:spcPts val="3167"/>
              </a:lnSpc>
              <a:spcBef>
                <a:spcPts val="1104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号访问。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53465" y="3604202"/>
            <a:ext cx="8077200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当需要访问序列中某特定值时，只需要通过下标标出即可。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931834" y="4629603"/>
            <a:ext cx="499328" cy="2550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08"/>
              </a:lnSpc>
              <a:spcBef>
                <a:spcPts val="0"/>
              </a:spcBef>
              <a:spcAft>
                <a:spcPts val="0"/>
              </a:spcAft>
            </a:pPr>
            <a:r>
              <a:rPr sz="1700" spc="81" dirty="0">
                <a:solidFill>
                  <a:srgbClr val="000000"/>
                </a:solidFill>
                <a:latin typeface="SimSun"/>
                <a:cs typeface="SimSun"/>
              </a:rPr>
              <a:t>n-1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043608" y="4756813"/>
            <a:ext cx="3391812" cy="6408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38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3600" dirty="0">
                <a:solidFill>
                  <a:srgbClr val="000000"/>
                </a:solidFill>
                <a:latin typeface="EDPDKQ+Symbol"/>
                <a:cs typeface="EDPDKQ+Symbol"/>
              </a:rPr>
              <a:t>例如：求和    </a:t>
            </a:r>
            <a:r>
              <a:rPr sz="4400" dirty="0">
                <a:solidFill>
                  <a:srgbClr val="000000"/>
                </a:solidFill>
                <a:latin typeface="EDPDKQ+Symbol"/>
                <a:cs typeface="EDPDKQ+Symbol"/>
              </a:rPr>
              <a:t>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387500" y="4905542"/>
            <a:ext cx="423381" cy="4879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25"/>
              </a:lnSpc>
              <a:spcBef>
                <a:spcPts val="0"/>
              </a:spcBef>
              <a:spcAft>
                <a:spcPts val="0"/>
              </a:spcAft>
            </a:pPr>
            <a:r>
              <a:rPr sz="2950" spc="-126" dirty="0">
                <a:solidFill>
                  <a:srgbClr val="000000"/>
                </a:solidFill>
                <a:latin typeface="SimSun"/>
                <a:cs typeface="SimSun"/>
              </a:rPr>
              <a:t>S</a:t>
            </a:r>
            <a:r>
              <a:rPr sz="2550" baseline="-26686" dirty="0">
                <a:solidFill>
                  <a:srgbClr val="000000"/>
                </a:solidFill>
                <a:latin typeface="SimSun"/>
                <a:cs typeface="SimSun"/>
              </a:rPr>
              <a:t>i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900766" y="5391231"/>
            <a:ext cx="534542" cy="3038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2"/>
              </a:lnSpc>
              <a:spcBef>
                <a:spcPts val="0"/>
              </a:spcBef>
              <a:spcAft>
                <a:spcPts val="0"/>
              </a:spcAft>
            </a:pPr>
            <a:r>
              <a:rPr sz="1700" dirty="0">
                <a:solidFill>
                  <a:srgbClr val="000000"/>
                </a:solidFill>
                <a:latin typeface="SimSun"/>
                <a:cs typeface="SimSun"/>
              </a:rPr>
              <a:t>i</a:t>
            </a:r>
            <a:r>
              <a:rPr sz="1700" spc="-1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 spc="142" dirty="0">
                <a:solidFill>
                  <a:srgbClr val="000000"/>
                </a:solidFill>
                <a:latin typeface="EDPDKQ+Symbol"/>
                <a:cs typeface="EDPDKQ+Symbol"/>
              </a:rPr>
              <a:t></a:t>
            </a:r>
            <a:r>
              <a:rPr sz="1700" dirty="0">
                <a:solidFill>
                  <a:srgbClr val="000000"/>
                </a:solidFill>
                <a:latin typeface="SimSun"/>
                <a:cs typeface="SimSun"/>
              </a:rPr>
              <a:t>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2183587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序列类型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53465" y="2556325"/>
            <a:ext cx="7747151" cy="20865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9748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由于元素之间存在顺序关系，所以序列中可以存在相同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spc="95" dirty="0">
                <a:solidFill>
                  <a:srgbClr val="000000"/>
                </a:solidFill>
                <a:latin typeface="Microsoft YaHei"/>
                <a:cs typeface="Microsoft YaHei"/>
              </a:rPr>
              <a:t>数值但位置不同的元素。序列类型支持成员关系操作符</a:t>
            </a:r>
          </a:p>
          <a:p>
            <a:pPr marL="0" marR="0">
              <a:lnSpc>
                <a:spcPts val="3170"/>
              </a:lnSpc>
              <a:spcBef>
                <a:spcPts val="1149"/>
              </a:spcBef>
              <a:spcAft>
                <a:spcPts val="0"/>
              </a:spcAft>
            </a:pPr>
            <a:r>
              <a:rPr sz="2400" spc="23" dirty="0">
                <a:solidFill>
                  <a:srgbClr val="000000"/>
                </a:solidFill>
                <a:latin typeface="Microsoft YaHei"/>
                <a:cs typeface="Microsoft YaHei"/>
              </a:rPr>
              <a:t>（</a:t>
            </a:r>
            <a:r>
              <a:rPr sz="2400" spc="10" dirty="0">
                <a:solidFill>
                  <a:srgbClr val="000000"/>
                </a:solidFill>
                <a:latin typeface="Microsoft YaHei"/>
                <a:cs typeface="Microsoft YaHei"/>
              </a:rPr>
              <a:t>in</a:t>
            </a:r>
            <a:r>
              <a:rPr sz="2400" spc="27" dirty="0">
                <a:solidFill>
                  <a:srgbClr val="000000"/>
                </a:solidFill>
                <a:latin typeface="Microsoft YaHei"/>
                <a:cs typeface="Microsoft YaHei"/>
              </a:rPr>
              <a:t>）、长度计算函数（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len()</a:t>
            </a:r>
            <a:r>
              <a:rPr sz="2400" spc="23" dirty="0">
                <a:solidFill>
                  <a:srgbClr val="000000"/>
                </a:solidFill>
                <a:latin typeface="Microsoft YaHei"/>
                <a:cs typeface="Microsoft YaHei"/>
              </a:rPr>
              <a:t>）、分片（</a:t>
            </a:r>
            <a:r>
              <a:rPr sz="2400" spc="14" dirty="0">
                <a:solidFill>
                  <a:srgbClr val="000000"/>
                </a:solidFill>
                <a:latin typeface="Microsoft YaHei"/>
                <a:cs typeface="Microsoft YaHei"/>
              </a:rPr>
              <a:t>[]</a:t>
            </a:r>
            <a:r>
              <a:rPr sz="2400" spc="25" dirty="0">
                <a:solidFill>
                  <a:srgbClr val="000000"/>
                </a:solidFill>
                <a:latin typeface="Microsoft YaHei"/>
                <a:cs typeface="Microsoft YaHei"/>
              </a:rPr>
              <a:t>），元素本身</a:t>
            </a:r>
          </a:p>
          <a:p>
            <a:pPr marL="0" marR="0">
              <a:lnSpc>
                <a:spcPts val="3167"/>
              </a:lnSpc>
              <a:spcBef>
                <a:spcPts val="1103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也可以是序列类型。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2183587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序列类型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65529" y="1673294"/>
            <a:ext cx="7584973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Python语言中有很多数据类型都是序列类型，其中比较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31240" y="2222315"/>
            <a:ext cx="8093659" cy="15377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重要的是：str（字符串）、tuple（元组）和list（列表）。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•元组是包含0个或多个数据项的</a:t>
            </a:r>
            <a:r>
              <a:rPr sz="2400" dirty="0">
                <a:solidFill>
                  <a:srgbClr val="FF0000"/>
                </a:solidFill>
                <a:latin typeface="Microsoft YaHei"/>
                <a:cs typeface="Microsoft YaHei"/>
              </a:rPr>
              <a:t>不可变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序列类型。元组生成</a:t>
            </a:r>
          </a:p>
          <a:p>
            <a:pPr marL="0" marR="0">
              <a:lnSpc>
                <a:spcPts val="3170"/>
              </a:lnSpc>
              <a:spcBef>
                <a:spcPts val="1149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后是固定的，其中任何数据项不能替换或删除。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31240" y="3868489"/>
            <a:ext cx="7906511" cy="791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•</a:t>
            </a:r>
            <a:r>
              <a:rPr sz="2400" dirty="0" err="1">
                <a:solidFill>
                  <a:srgbClr val="000000"/>
                </a:solidFill>
                <a:latin typeface="Microsoft YaHei"/>
                <a:cs typeface="Microsoft YaHei"/>
              </a:rPr>
              <a:t>列表则是一个可以修改数据项的序列类型，使用也最灵活</a:t>
            </a:r>
            <a:endParaRPr lang="en-US" sz="2400" dirty="0">
              <a:solidFill>
                <a:srgbClr val="000000"/>
              </a:solidFill>
              <a:latin typeface="Microsoft YaHei"/>
              <a:cs typeface="Microsoft YaHei"/>
            </a:endParaRPr>
          </a:p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b="1" dirty="0">
                <a:solidFill>
                  <a:srgbClr val="FF0000"/>
                </a:solidFill>
                <a:latin typeface="Microsoft YaHei"/>
                <a:cs typeface="Microsoft YaHei"/>
              </a:rPr>
              <a:t>序列类型的索引体系：</a:t>
            </a:r>
            <a:endParaRPr sz="2400" b="1" dirty="0">
              <a:solidFill>
                <a:srgbClr val="FF0000"/>
              </a:solidFill>
              <a:latin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2183587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序列类型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597275" y="1391100"/>
            <a:ext cx="5081885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序列类型有12个通用的操作符和函数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577086" y="1999289"/>
            <a:ext cx="760476" cy="6218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操作符</a:t>
            </a:r>
          </a:p>
          <a:p>
            <a:pPr marL="83819" marR="0">
              <a:lnSpc>
                <a:spcPts val="1767"/>
              </a:lnSpc>
              <a:spcBef>
                <a:spcPts val="1233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x in 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930398" y="1999289"/>
            <a:ext cx="4183476" cy="13534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62936" marR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描述</a:t>
            </a:r>
          </a:p>
          <a:p>
            <a:pPr marL="0" marR="0">
              <a:lnSpc>
                <a:spcPts val="1767"/>
              </a:lnSpc>
              <a:spcBef>
                <a:spcPts val="1233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如果</a:t>
            </a: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是</a:t>
            </a: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s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的元素，返回</a:t>
            </a:r>
            <a:r>
              <a:rPr sz="1600" spc="-17" dirty="0">
                <a:solidFill>
                  <a:srgbClr val="000000"/>
                </a:solidFill>
                <a:latin typeface="Times New Roman"/>
                <a:cs typeface="Times New Roman"/>
              </a:rPr>
              <a:t>True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，否则返回</a:t>
            </a: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False</a:t>
            </a:r>
          </a:p>
          <a:p>
            <a:pPr marL="0" marR="0">
              <a:lnSpc>
                <a:spcPts val="1767"/>
              </a:lnSpc>
              <a:spcBef>
                <a:spcPts val="1112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如果</a:t>
            </a: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不是</a:t>
            </a: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s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的元素，返回</a:t>
            </a:r>
            <a:r>
              <a:rPr sz="1600" spc="-17" dirty="0">
                <a:solidFill>
                  <a:srgbClr val="000000"/>
                </a:solidFill>
                <a:latin typeface="Times New Roman"/>
                <a:cs typeface="Times New Roman"/>
              </a:rPr>
              <a:t>True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，否则返回</a:t>
            </a: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False</a:t>
            </a:r>
          </a:p>
          <a:p>
            <a:pPr marL="0" marR="0">
              <a:lnSpc>
                <a:spcPts val="1770"/>
              </a:lnSpc>
              <a:spcBef>
                <a:spcPts val="111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连接</a:t>
            </a: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s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和</a:t>
            </a: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t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503933" y="2724376"/>
            <a:ext cx="904419" cy="6283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7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x not in s</a:t>
            </a:r>
          </a:p>
          <a:p>
            <a:pPr marL="201167" marR="0">
              <a:lnSpc>
                <a:spcPts val="1770"/>
              </a:lnSpc>
              <a:spcBef>
                <a:spcPts val="106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s + t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343913" y="3456277"/>
            <a:ext cx="1225027" cy="6283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7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s * n 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或</a:t>
            </a: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 n * s</a:t>
            </a:r>
          </a:p>
          <a:p>
            <a:pPr marL="400812" marR="0">
              <a:lnSpc>
                <a:spcPts val="1767"/>
              </a:lnSpc>
              <a:spcBef>
                <a:spcPts val="1062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s[i]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930398" y="3456277"/>
            <a:ext cx="1550161" cy="262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7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将序列</a:t>
            </a: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s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复制</a:t>
            </a: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n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次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930398" y="3822037"/>
            <a:ext cx="2641345" cy="262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7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索引，返回序列的第</a:t>
            </a: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i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个元素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662429" y="4187797"/>
            <a:ext cx="588189" cy="262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7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s[i: j]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930398" y="4187797"/>
            <a:ext cx="5887995" cy="9943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7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分片，返回包含序列</a:t>
            </a: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s</a:t>
            </a:r>
            <a:r>
              <a:rPr sz="1600" spc="10" dirty="0">
                <a:solidFill>
                  <a:srgbClr val="000000"/>
                </a:solidFill>
                <a:latin typeface="SimSun"/>
                <a:cs typeface="SimSun"/>
              </a:rPr>
              <a:t>第</a:t>
            </a: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i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到</a:t>
            </a:r>
            <a:r>
              <a:rPr sz="1600" spc="10" dirty="0">
                <a:solidFill>
                  <a:srgbClr val="000000"/>
                </a:solidFill>
                <a:latin typeface="Times New Roman"/>
                <a:cs typeface="Times New Roman"/>
              </a:rPr>
              <a:t>j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个元素的子序列（不包含第</a:t>
            </a:r>
            <a:r>
              <a:rPr sz="1600" spc="10" dirty="0">
                <a:solidFill>
                  <a:srgbClr val="000000"/>
                </a:solidFill>
                <a:latin typeface="Times New Roman"/>
                <a:cs typeface="Times New Roman"/>
              </a:rPr>
              <a:t>j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个元素）</a:t>
            </a:r>
          </a:p>
          <a:p>
            <a:pPr marL="0" marR="0">
              <a:lnSpc>
                <a:spcPts val="1770"/>
              </a:lnSpc>
              <a:spcBef>
                <a:spcPts val="1060"/>
              </a:spcBef>
              <a:spcAft>
                <a:spcPts val="0"/>
              </a:spcAft>
            </a:pPr>
            <a:r>
              <a:rPr sz="1600" dirty="0" err="1">
                <a:solidFill>
                  <a:srgbClr val="000000"/>
                </a:solidFill>
                <a:latin typeface="SimSun"/>
                <a:cs typeface="SimSun"/>
              </a:rPr>
              <a:t>步骤分片，返回包含序列</a:t>
            </a:r>
            <a:r>
              <a:rPr sz="1600" dirty="0" err="1">
                <a:solidFill>
                  <a:srgbClr val="000000"/>
                </a:solidFill>
                <a:latin typeface="Times New Roman"/>
                <a:cs typeface="Times New Roman"/>
              </a:rPr>
              <a:t>s</a:t>
            </a:r>
            <a:r>
              <a:rPr sz="1600" dirty="0" err="1">
                <a:solidFill>
                  <a:srgbClr val="000000"/>
                </a:solidFill>
                <a:latin typeface="SimSun"/>
                <a:cs typeface="SimSun"/>
              </a:rPr>
              <a:t>第</a:t>
            </a:r>
            <a:r>
              <a:rPr sz="1600" dirty="0" err="1">
                <a:solidFill>
                  <a:srgbClr val="000000"/>
                </a:solidFill>
                <a:latin typeface="Times New Roman"/>
                <a:cs typeface="Times New Roman"/>
              </a:rPr>
              <a:t>i</a:t>
            </a:r>
            <a:r>
              <a:rPr sz="1600" dirty="0" err="1">
                <a:solidFill>
                  <a:srgbClr val="000000"/>
                </a:solidFill>
                <a:latin typeface="SimSun"/>
                <a:cs typeface="SimSun"/>
              </a:rPr>
              <a:t>到</a:t>
            </a:r>
            <a:r>
              <a:rPr sz="1600" spc="10" dirty="0" err="1">
                <a:solidFill>
                  <a:srgbClr val="000000"/>
                </a:solidFill>
                <a:latin typeface="Times New Roman"/>
                <a:cs typeface="Times New Roman"/>
              </a:rPr>
              <a:t>j</a:t>
            </a:r>
            <a:r>
              <a:rPr sz="1600" dirty="0" err="1">
                <a:solidFill>
                  <a:srgbClr val="000000"/>
                </a:solidFill>
                <a:latin typeface="SimSun"/>
                <a:cs typeface="SimSun"/>
              </a:rPr>
              <a:t>个元素以</a:t>
            </a:r>
            <a:r>
              <a:rPr lang="en-US" altLang="zh-CN" sz="1600" spc="10" dirty="0" err="1">
                <a:solidFill>
                  <a:srgbClr val="000000"/>
                </a:solidFill>
                <a:latin typeface="Times New Roman"/>
                <a:cs typeface="Times New Roman"/>
              </a:rPr>
              <a:t>k</a:t>
            </a:r>
            <a:r>
              <a:rPr sz="1600" dirty="0" err="1">
                <a:solidFill>
                  <a:srgbClr val="000000"/>
                </a:solidFill>
                <a:latin typeface="SimSun"/>
                <a:cs typeface="SimSun"/>
              </a:rPr>
              <a:t>为步数的子序列</a:t>
            </a:r>
            <a:endParaRPr sz="1600" dirty="0">
              <a:solidFill>
                <a:srgbClr val="000000"/>
              </a:solidFill>
              <a:latin typeface="SimSun"/>
              <a:cs typeface="SimSun"/>
            </a:endParaRPr>
          </a:p>
          <a:p>
            <a:pPr marL="0" marR="0">
              <a:lnSpc>
                <a:spcPts val="1767"/>
              </a:lnSpc>
              <a:spcBef>
                <a:spcPts val="1114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序列</a:t>
            </a: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s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的元素个数（长度）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557274" y="4553286"/>
            <a:ext cx="799758" cy="6288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7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s[i: j:</a:t>
            </a:r>
            <a:r>
              <a:rPr sz="1600" spc="1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k]</a:t>
            </a:r>
          </a:p>
          <a:p>
            <a:pPr marL="92963" marR="0">
              <a:lnSpc>
                <a:spcPts val="1767"/>
              </a:lnSpc>
              <a:spcBef>
                <a:spcPts val="1114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len(s)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618233" y="5285331"/>
            <a:ext cx="681596" cy="262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7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min(s)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930398" y="5285331"/>
            <a:ext cx="1853438" cy="262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7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序列</a:t>
            </a: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s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中的最小元素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601469" y="5651117"/>
            <a:ext cx="715246" cy="262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7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max(s)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2930398" y="5651117"/>
            <a:ext cx="1853438" cy="262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7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序列</a:t>
            </a: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s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中的最大元素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1177747" y="6016876"/>
            <a:ext cx="1558273" cy="6286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7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s.index(x[, i[, j]])</a:t>
            </a:r>
          </a:p>
          <a:p>
            <a:pPr marL="294182" marR="0">
              <a:lnSpc>
                <a:spcPts val="1767"/>
              </a:lnSpc>
              <a:spcBef>
                <a:spcPts val="1064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s.count(x)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2930398" y="6016876"/>
            <a:ext cx="4503928" cy="6286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7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序列</a:t>
            </a: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s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中从</a:t>
            </a: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i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开始到</a:t>
            </a: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j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位置中第一次出现元素</a:t>
            </a: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的位置</a:t>
            </a:r>
          </a:p>
          <a:p>
            <a:pPr marL="0" marR="0">
              <a:lnSpc>
                <a:spcPts val="1767"/>
              </a:lnSpc>
              <a:spcBef>
                <a:spcPts val="1064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序列</a:t>
            </a: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s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中出现</a:t>
            </a: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的总次数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2183587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序列类型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31240" y="1635194"/>
            <a:ext cx="8128711" cy="20867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9748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spc="85" dirty="0">
                <a:solidFill>
                  <a:srgbClr val="000000"/>
                </a:solidFill>
                <a:latin typeface="Microsoft YaHei"/>
                <a:cs typeface="Microsoft YaHei"/>
              </a:rPr>
              <a:t>元组（</a:t>
            </a:r>
            <a:r>
              <a:rPr sz="2400" spc="18" dirty="0">
                <a:solidFill>
                  <a:srgbClr val="000000"/>
                </a:solidFill>
                <a:latin typeface="Microsoft YaHei"/>
                <a:cs typeface="Microsoft YaHei"/>
              </a:rPr>
              <a:t>tuple</a:t>
            </a:r>
            <a:r>
              <a:rPr sz="2400" spc="87" dirty="0">
                <a:solidFill>
                  <a:srgbClr val="000000"/>
                </a:solidFill>
                <a:latin typeface="Microsoft YaHei"/>
                <a:cs typeface="Microsoft YaHei"/>
              </a:rPr>
              <a:t>）是序列类型中比较特殊的类型，因为它一</a:t>
            </a:r>
          </a:p>
          <a:p>
            <a:pPr marL="0" marR="0">
              <a:lnSpc>
                <a:spcPts val="3167"/>
              </a:lnSpc>
              <a:spcBef>
                <a:spcPts val="1105"/>
              </a:spcBef>
              <a:spcAft>
                <a:spcPts val="0"/>
              </a:spcAft>
            </a:pPr>
            <a:r>
              <a:rPr sz="2400" spc="15" dirty="0">
                <a:solidFill>
                  <a:srgbClr val="000000"/>
                </a:solidFill>
                <a:latin typeface="Microsoft YaHei"/>
                <a:cs typeface="Microsoft YaHei"/>
              </a:rPr>
              <a:t>旦创建就不能被修改。</a:t>
            </a:r>
            <a:r>
              <a:rPr sz="2400" spc="15" dirty="0">
                <a:solidFill>
                  <a:srgbClr val="FF0000"/>
                </a:solidFill>
                <a:latin typeface="Microsoft YaHei"/>
                <a:cs typeface="Microsoft YaHei"/>
              </a:rPr>
              <a:t>元组类型在表达固定数据项、函数多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spc="116" dirty="0">
                <a:solidFill>
                  <a:srgbClr val="FF0000"/>
                </a:solidFill>
                <a:latin typeface="Microsoft YaHei"/>
                <a:cs typeface="Microsoft YaHei"/>
              </a:rPr>
              <a:t>返回值、多变量同步赋值、循环遍历</a:t>
            </a:r>
            <a:r>
              <a:rPr sz="2400" spc="116" dirty="0">
                <a:solidFill>
                  <a:srgbClr val="000000"/>
                </a:solidFill>
                <a:latin typeface="Microsoft YaHei"/>
                <a:cs typeface="Microsoft YaHei"/>
              </a:rPr>
              <a:t>等情况下十分有用。</a:t>
            </a:r>
          </a:p>
          <a:p>
            <a:pPr marL="0" marR="0">
              <a:lnSpc>
                <a:spcPts val="3170"/>
              </a:lnSpc>
              <a:spcBef>
                <a:spcPts val="1149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Python中元组采用逗号和圆括号（可选）来表示。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59357" y="3912761"/>
            <a:ext cx="4634060" cy="5188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&gt;&gt;&gt;creature =</a:t>
            </a:r>
            <a:r>
              <a:rPr sz="12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"cat", "dog",</a:t>
            </a:r>
            <a:r>
              <a:rPr sz="1400" b="1" spc="-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"tiger",</a:t>
            </a:r>
            <a:r>
              <a:rPr sz="1400" b="1" spc="-14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"human"</a:t>
            </a:r>
          </a:p>
          <a:p>
            <a:pPr marL="0" marR="0">
              <a:lnSpc>
                <a:spcPts val="1359"/>
              </a:lnSpc>
              <a:spcBef>
                <a:spcPts val="835"/>
              </a:spcBef>
              <a:spcAft>
                <a:spcPts val="0"/>
              </a:spcAft>
            </a:pP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&gt;&gt;&gt;creature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459357" y="4504326"/>
            <a:ext cx="3513469" cy="240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('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cat', 'dog',</a:t>
            </a:r>
            <a:r>
              <a:rPr sz="1400" spc="-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'tiger', 'human'</a:t>
            </a: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59357" y="4815456"/>
            <a:ext cx="4387636" cy="210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&gt;&gt;&gt;color</a:t>
            </a:r>
            <a:r>
              <a:rPr sz="1200" b="1" spc="14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=</a:t>
            </a:r>
            <a:r>
              <a:rPr sz="12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("red",</a:t>
            </a:r>
            <a:r>
              <a:rPr sz="1200" b="1" spc="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0x001100, "blue", creature)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459357" y="5089776"/>
            <a:ext cx="886678" cy="210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&gt;&gt;&gt;color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459357" y="5364095"/>
            <a:ext cx="5213162" cy="210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('red', 4352, 'blue', ('cat', 'dog', 'tiger', 'human'))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459357" y="5638415"/>
            <a:ext cx="1163741" cy="4853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&gt;&gt;&gt;color[2]</a:t>
            </a:r>
          </a:p>
          <a:p>
            <a:pPr marL="0" marR="0">
              <a:lnSpc>
                <a:spcPts val="1359"/>
              </a:lnSpc>
              <a:spcBef>
                <a:spcPts val="753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'blue'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459357" y="6187360"/>
            <a:ext cx="1531863" cy="485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&gt;&gt;&gt;color[-1][2]</a:t>
            </a:r>
          </a:p>
          <a:p>
            <a:pPr marL="0" marR="0">
              <a:lnSpc>
                <a:spcPts val="1359"/>
              </a:lnSpc>
              <a:spcBef>
                <a:spcPts val="75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'tiger'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 lang="zh-CN" altLang="en-US"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3458495" cy="6251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4000" dirty="0">
                <a:solidFill>
                  <a:srgbClr val="262626"/>
                </a:solidFill>
                <a:latin typeface="Microsoft YaHei"/>
                <a:cs typeface="Microsoft YaHei"/>
              </a:rPr>
              <a:t>元组（</a:t>
            </a:r>
            <a:r>
              <a:rPr lang="en-US" sz="4000" dirty="0">
                <a:solidFill>
                  <a:srgbClr val="262626"/>
                </a:solidFill>
                <a:latin typeface="Microsoft YaHei"/>
                <a:cs typeface="Microsoft YaHei"/>
              </a:rPr>
              <a:t>tuple）</a:t>
            </a:r>
            <a:endParaRPr sz="4000" dirty="0">
              <a:solidFill>
                <a:srgbClr val="262626"/>
              </a:solidFill>
              <a:latin typeface="Microsoft YaHei"/>
              <a:cs typeface="Microsoft YaHe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84757" y="2783554"/>
            <a:ext cx="2723667" cy="2148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&gt;&gt;&gt;def</a:t>
            </a:r>
            <a:r>
              <a:rPr sz="1200" b="1" spc="36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func(x):</a:t>
            </a:r>
            <a:r>
              <a:rPr sz="1200" b="1" spc="767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#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函数多返回值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184757" y="3062220"/>
            <a:ext cx="1440474" cy="210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return</a:t>
            </a:r>
            <a:r>
              <a:rPr sz="1200" b="1" spc="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spc="11" dirty="0">
                <a:solidFill>
                  <a:srgbClr val="000000"/>
                </a:solidFill>
                <a:latin typeface="Courier New"/>
                <a:cs typeface="Courier New"/>
              </a:rPr>
              <a:t>x,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 x**3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184757" y="3345235"/>
            <a:ext cx="4130700" cy="2448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&gt;&gt;&gt;a,</a:t>
            </a:r>
            <a:r>
              <a:rPr sz="1200" b="1" spc="23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b</a:t>
            </a:r>
            <a:r>
              <a:rPr sz="1200" b="1" spc="14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=</a:t>
            </a:r>
            <a:r>
              <a:rPr sz="12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'dog',</a:t>
            </a:r>
            <a:r>
              <a:rPr sz="1400" b="1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'tiger'</a:t>
            </a:r>
            <a:r>
              <a:rPr sz="1400" b="1" spc="818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#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多变量同步赋值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184757" y="3691632"/>
            <a:ext cx="1624878" cy="210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&gt;&gt;&gt;a,</a:t>
            </a:r>
            <a:r>
              <a:rPr sz="1200" b="1" spc="23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b</a:t>
            </a:r>
            <a:r>
              <a:rPr sz="1200" b="1" spc="14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=</a:t>
            </a:r>
            <a:r>
              <a:rPr sz="12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(b,</a:t>
            </a:r>
            <a:r>
              <a:rPr sz="1200" b="1" spc="23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a)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210432" y="3665275"/>
            <a:ext cx="2577405" cy="2448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#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多变量同步赋值，括号可省略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184757" y="3988580"/>
            <a:ext cx="1643593" cy="240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&gt;&gt;&gt;import math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184757" y="4305093"/>
            <a:ext cx="4579061" cy="2452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3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&gt;&gt;&gt;for</a:t>
            </a:r>
            <a:r>
              <a:rPr sz="1200" b="1" spc="36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x,</a:t>
            </a:r>
            <a:r>
              <a:rPr sz="1200" b="1" spc="14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y</a:t>
            </a:r>
            <a:r>
              <a:rPr sz="12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in</a:t>
            </a:r>
            <a:r>
              <a:rPr sz="12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((1,0),</a:t>
            </a:r>
            <a:r>
              <a:rPr sz="1200" b="1" spc="47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(2,5),</a:t>
            </a:r>
            <a:r>
              <a:rPr sz="1200" b="1" spc="38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(3,8)):</a:t>
            </a:r>
            <a:r>
              <a:rPr sz="1200" b="1" spc="876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#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循环遍历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921129" y="4652133"/>
            <a:ext cx="2172095" cy="210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print(math.hypot(x,y))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5053329" y="4625776"/>
            <a:ext cx="2399097" cy="2448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#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求多个坐标值到原点的距离</a:t>
            </a: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1300" y="3551149"/>
            <a:ext cx="2114550" cy="885825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5799439" y="205914"/>
            <a:ext cx="2877017" cy="31393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/>
              <a:t>def func(x):</a:t>
            </a:r>
          </a:p>
          <a:p>
            <a:r>
              <a:rPr lang="en-US" altLang="zh-CN"/>
              <a:t> return x,x**3</a:t>
            </a:r>
          </a:p>
          <a:p>
            <a:endParaRPr lang="en-US" altLang="zh-CN"/>
          </a:p>
          <a:p>
            <a:r>
              <a:rPr lang="en-US" altLang="zh-CN"/>
              <a:t>result=func(4)</a:t>
            </a:r>
          </a:p>
          <a:p>
            <a:r>
              <a:rPr lang="en-US" altLang="zh-CN"/>
              <a:t>print(result,type(result))</a:t>
            </a:r>
          </a:p>
          <a:p>
            <a:r>
              <a:rPr lang="en-US" altLang="zh-CN"/>
              <a:t>a,b='dog','tiger'</a:t>
            </a:r>
          </a:p>
          <a:p>
            <a:r>
              <a:rPr lang="en-US" altLang="zh-CN"/>
              <a:t>a,b=(b,a)</a:t>
            </a:r>
          </a:p>
          <a:p>
            <a:r>
              <a:rPr lang="en-US" altLang="zh-CN"/>
              <a:t>print(a,b)</a:t>
            </a:r>
          </a:p>
          <a:p>
            <a:r>
              <a:rPr lang="en-US" altLang="zh-CN"/>
              <a:t>import math</a:t>
            </a:r>
          </a:p>
          <a:p>
            <a:r>
              <a:rPr lang="en-US" altLang="zh-CN"/>
              <a:t>for x,y in((1,0),(2,5),(3,8)):</a:t>
            </a:r>
          </a:p>
          <a:p>
            <a:r>
              <a:rPr lang="en-US" altLang="zh-CN"/>
              <a:t>    print(math.hypot(x,y))</a:t>
            </a:r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46ECA3B-8B96-4329-9BAA-6BD894F3BBAD}"/>
              </a:ext>
            </a:extLst>
          </p:cNvPr>
          <p:cNvSpPr txBox="1"/>
          <p:nvPr/>
        </p:nvSpPr>
        <p:spPr>
          <a:xfrm>
            <a:off x="178654" y="4875790"/>
            <a:ext cx="8640960" cy="20313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c1 = ['1','2']</a:t>
            </a:r>
          </a:p>
          <a:p>
            <a:r>
              <a:rPr lang="en-US" altLang="zh-CN" dirty="0"/>
              <a:t>c=(1,2,c1)</a:t>
            </a:r>
          </a:p>
          <a:p>
            <a:r>
              <a:rPr lang="en-US" altLang="zh-CN" dirty="0"/>
              <a:t>c[1]='reset’</a:t>
            </a:r>
          </a:p>
          <a:p>
            <a:r>
              <a:rPr lang="en-US" altLang="zh-CN" dirty="0"/>
              <a:t>Traceback (most recent call last):</a:t>
            </a:r>
          </a:p>
          <a:p>
            <a:r>
              <a:rPr lang="en-US" altLang="zh-CN" dirty="0"/>
              <a:t>  File "D:/python/</a:t>
            </a:r>
            <a:r>
              <a:rPr lang="zh-CN" altLang="en-US" dirty="0"/>
              <a:t>第六章 组合数据类型</a:t>
            </a:r>
            <a:r>
              <a:rPr lang="en-US" altLang="zh-CN" dirty="0"/>
              <a:t>/</a:t>
            </a:r>
            <a:r>
              <a:rPr lang="en-US" altLang="zh-CN" dirty="0" err="1"/>
              <a:t>changenable</a:t>
            </a:r>
            <a:r>
              <a:rPr lang="en-US" altLang="zh-CN" dirty="0"/>
              <a:t> data type.py", line 7, in &lt;module&gt;</a:t>
            </a:r>
          </a:p>
          <a:p>
            <a:r>
              <a:rPr lang="en-US" altLang="zh-CN" dirty="0"/>
              <a:t>    c[1]='reset'</a:t>
            </a:r>
          </a:p>
          <a:p>
            <a:r>
              <a:rPr lang="en-US" altLang="zh-CN" dirty="0" err="1"/>
              <a:t>TypeError</a:t>
            </a:r>
            <a:r>
              <a:rPr lang="en-US" altLang="zh-CN" dirty="0"/>
              <a:t>: 'tuple' object does not support item assignment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-36512" y="-27384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332656"/>
            <a:ext cx="7776815" cy="30632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zh-CN" altLang="en-US" sz="2000" b="0" i="0" dirty="0">
                <a:solidFill>
                  <a:srgbClr val="000000"/>
                </a:solidFill>
                <a:effectLst/>
                <a:latin typeface="PingFang SC"/>
              </a:rPr>
              <a:t>基于内存地址，数据类型分为：</a:t>
            </a:r>
          </a:p>
          <a:p>
            <a:pPr algn="l"/>
            <a:r>
              <a:rPr lang="zh-CN" altLang="en-US" sz="2000" b="0" i="0" dirty="0">
                <a:solidFill>
                  <a:srgbClr val="000000"/>
                </a:solidFill>
                <a:effectLst/>
                <a:latin typeface="PingFang SC"/>
              </a:rPr>
              <a:t>　　不可变数据类型： 当该数据类型的对应变量的值发生了改变，那么它对应的内存地址也会发生改变，对于这种数据类型，就称不可变数据类型。</a:t>
            </a:r>
            <a:r>
              <a:rPr lang="zh-CN" altLang="en-US" sz="2000" spc="61" dirty="0">
                <a:solidFill>
                  <a:srgbClr val="FF0000"/>
                </a:solidFill>
                <a:latin typeface="Microsoft YaHei"/>
                <a:cs typeface="Microsoft YaHei"/>
              </a:rPr>
              <a:t>整数、浮点数、</a:t>
            </a:r>
            <a:r>
              <a:rPr lang="zh-CN" altLang="en-US" sz="2000" spc="61" dirty="0">
                <a:solidFill>
                  <a:srgbClr val="FF0000"/>
                </a:solidFill>
                <a:latin typeface="Microsoft YaHei"/>
              </a:rPr>
              <a:t>复数</a:t>
            </a:r>
            <a:r>
              <a:rPr lang="zh-CN" altLang="en-US" sz="2000" spc="61" dirty="0">
                <a:solidFill>
                  <a:srgbClr val="FF0000"/>
                </a:solidFill>
                <a:latin typeface="Microsoft YaHei"/>
                <a:cs typeface="Microsoft YaHei"/>
              </a:rPr>
              <a:t>、字符串、元组</a:t>
            </a:r>
            <a:endParaRPr lang="zh-CN" altLang="en-US" sz="2000" b="0" i="0" dirty="0">
              <a:solidFill>
                <a:srgbClr val="FF0000"/>
              </a:solidFill>
              <a:effectLst/>
              <a:latin typeface="PingFang SC"/>
            </a:endParaRPr>
          </a:p>
          <a:p>
            <a:pPr algn="l"/>
            <a:r>
              <a:rPr lang="zh-CN" altLang="en-US" sz="2000" b="0" i="0" dirty="0">
                <a:solidFill>
                  <a:srgbClr val="000000"/>
                </a:solidFill>
                <a:effectLst/>
                <a:latin typeface="PingFang SC"/>
              </a:rPr>
              <a:t>　　可变数据类型    ：当该数据类型的对应变量的值发生了改变，那么它对应的内存地址不发生改变，对于这种数据类型，就称可变数据类型。</a:t>
            </a:r>
            <a:r>
              <a:rPr lang="zh-CN" altLang="en-US" sz="2000" b="0" i="0" dirty="0">
                <a:solidFill>
                  <a:srgbClr val="FF0000"/>
                </a:solidFill>
                <a:effectLst/>
                <a:latin typeface="PingFang SC"/>
              </a:rPr>
              <a:t>列表、字典和集合</a:t>
            </a:r>
            <a:endParaRPr lang="zh-CN" altLang="en-US" sz="2000" b="0" i="0" dirty="0">
              <a:solidFill>
                <a:srgbClr val="000000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000000"/>
                </a:solidFill>
                <a:effectLst/>
                <a:latin typeface="PingFang SC"/>
              </a:rPr>
              <a:t>　   </a:t>
            </a:r>
          </a:p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endParaRPr sz="4000" dirty="0">
              <a:solidFill>
                <a:srgbClr val="262626"/>
              </a:solidFill>
              <a:latin typeface="Microsoft YaHei"/>
              <a:cs typeface="Microsoft YaHe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84757" y="2783554"/>
            <a:ext cx="2723667" cy="2148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&gt;&gt;&gt;def</a:t>
            </a:r>
            <a:r>
              <a:rPr sz="1200" b="1" spc="36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func(x):</a:t>
            </a:r>
            <a:r>
              <a:rPr sz="1200" b="1" spc="767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#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函数多返回值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184757" y="3062220"/>
            <a:ext cx="1440474" cy="210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return</a:t>
            </a:r>
            <a:r>
              <a:rPr sz="1200" b="1" spc="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spc="11" dirty="0">
                <a:solidFill>
                  <a:srgbClr val="000000"/>
                </a:solidFill>
                <a:latin typeface="Courier New"/>
                <a:cs typeface="Courier New"/>
              </a:rPr>
              <a:t>x,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 x**3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184757" y="3345235"/>
            <a:ext cx="4130700" cy="2448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&gt;&gt;&gt;a,</a:t>
            </a:r>
            <a:r>
              <a:rPr sz="1200" b="1" spc="23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b</a:t>
            </a:r>
            <a:r>
              <a:rPr sz="1200" b="1" spc="14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=</a:t>
            </a:r>
            <a:r>
              <a:rPr sz="12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'dog',</a:t>
            </a:r>
            <a:r>
              <a:rPr sz="1400" b="1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'tiger'</a:t>
            </a:r>
            <a:r>
              <a:rPr sz="1400" b="1" spc="818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#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多变量同步赋值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184757" y="3691632"/>
            <a:ext cx="1624878" cy="210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&gt;&gt;&gt;a,</a:t>
            </a:r>
            <a:r>
              <a:rPr sz="1200" b="1" spc="23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b</a:t>
            </a:r>
            <a:r>
              <a:rPr sz="1200" b="1" spc="14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=</a:t>
            </a:r>
            <a:r>
              <a:rPr sz="12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(b,</a:t>
            </a:r>
            <a:r>
              <a:rPr sz="1200" b="1" spc="23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a)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210432" y="3665275"/>
            <a:ext cx="2577405" cy="2448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#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多变量同步赋值，括号可省略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184757" y="3988580"/>
            <a:ext cx="1643593" cy="240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&gt;&gt;&gt;import math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184757" y="4305093"/>
            <a:ext cx="4579061" cy="2452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3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&gt;&gt;&gt;for</a:t>
            </a:r>
            <a:r>
              <a:rPr sz="1200" b="1" spc="36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x,</a:t>
            </a:r>
            <a:r>
              <a:rPr sz="1200" b="1" spc="14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y</a:t>
            </a:r>
            <a:r>
              <a:rPr sz="12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in</a:t>
            </a:r>
            <a:r>
              <a:rPr sz="12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((1,0),</a:t>
            </a:r>
            <a:r>
              <a:rPr sz="1200" b="1" spc="47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(2,5),</a:t>
            </a:r>
            <a:r>
              <a:rPr sz="1200" b="1" spc="38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(3,8)):</a:t>
            </a:r>
            <a:r>
              <a:rPr sz="1200" b="1" spc="876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#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循环遍历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921129" y="4652133"/>
            <a:ext cx="2172095" cy="210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print(math.hypot(x,y))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5053329" y="4625776"/>
            <a:ext cx="2399097" cy="2448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#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求多个坐标值到原点的距离</a:t>
            </a:r>
          </a:p>
        </p:txBody>
      </p:sp>
      <p:sp>
        <p:nvSpPr>
          <p:cNvPr id="15" name="Rectangle 1">
            <a:extLst>
              <a:ext uri="{FF2B5EF4-FFF2-40B4-BE49-F238E27FC236}">
                <a16:creationId xmlns:a16="http://schemas.microsoft.com/office/drawing/2014/main" id="{F14CD654-BD81-49AD-AFCD-5E82173736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18" y="2651585"/>
            <a:ext cx="9036496" cy="400109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c1 = ['1','2']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print(id(c1))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 = (1,2,c1)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kumimoji="0" lang="en-US" altLang="zh-CN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c,id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(c),type(c))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c1[1] ='</a:t>
            </a:r>
            <a:r>
              <a:rPr kumimoji="0" lang="en-US" altLang="zh-CN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djx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print(id(c1))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kumimoji="0" lang="en-US" altLang="zh-CN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c,id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(c),type(c))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result: 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=========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2577059521600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(1, 2, ['1', '2']) 2577058572032 &lt;class 'tuple'&gt;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2577059521600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(1, 2, ['1', '</a:t>
            </a:r>
            <a:r>
              <a:rPr kumimoji="0" lang="en-US" altLang="zh-CN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djx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']) 2577058572032 &lt;class 'tuple'&gt;</a:t>
            </a: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01656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1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2183587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集合类型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59917" y="2340171"/>
            <a:ext cx="7960766" cy="28560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9748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spc="15" dirty="0">
                <a:solidFill>
                  <a:srgbClr val="000000"/>
                </a:solidFill>
                <a:latin typeface="Microsoft YaHei"/>
                <a:cs typeface="Microsoft YaHei"/>
              </a:rPr>
              <a:t>集合类型与数学中集合的概念一致，即包含</a:t>
            </a:r>
            <a:r>
              <a:rPr sz="2400" spc="20" dirty="0">
                <a:solidFill>
                  <a:srgbClr val="000000"/>
                </a:solidFill>
                <a:latin typeface="Microsoft YaHei"/>
                <a:cs typeface="Microsoft YaHei"/>
              </a:rPr>
              <a:t>0</a:t>
            </a:r>
            <a:r>
              <a:rPr sz="2400" spc="11" dirty="0">
                <a:solidFill>
                  <a:srgbClr val="000000"/>
                </a:solidFill>
                <a:latin typeface="Microsoft YaHei"/>
                <a:cs typeface="Microsoft YaHei"/>
              </a:rPr>
              <a:t>个或多个数</a:t>
            </a:r>
          </a:p>
          <a:p>
            <a:pPr marL="0" marR="0">
              <a:lnSpc>
                <a:spcPts val="3167"/>
              </a:lnSpc>
              <a:spcBef>
                <a:spcPts val="1105"/>
              </a:spcBef>
              <a:spcAft>
                <a:spcPts val="0"/>
              </a:spcAft>
            </a:pPr>
            <a:r>
              <a:rPr sz="2400" spc="61" dirty="0">
                <a:solidFill>
                  <a:srgbClr val="000000"/>
                </a:solidFill>
                <a:latin typeface="Microsoft YaHei"/>
                <a:cs typeface="Microsoft YaHei"/>
              </a:rPr>
              <a:t>据项的无序组合。集合中元素不可重复，元素类型只能是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spc="61" dirty="0" err="1">
                <a:solidFill>
                  <a:srgbClr val="FF0000"/>
                </a:solidFill>
                <a:latin typeface="Microsoft YaHei"/>
                <a:cs typeface="Microsoft YaHei"/>
              </a:rPr>
              <a:t>固定数据类型</a:t>
            </a:r>
            <a:r>
              <a:rPr sz="2400" spc="61" dirty="0" err="1">
                <a:solidFill>
                  <a:srgbClr val="000000"/>
                </a:solidFill>
                <a:latin typeface="Microsoft YaHei"/>
                <a:cs typeface="Microsoft YaHei"/>
              </a:rPr>
              <a:t>，例如：整数、浮点数</a:t>
            </a:r>
            <a:r>
              <a:rPr sz="2400" spc="61" dirty="0">
                <a:solidFill>
                  <a:srgbClr val="000000"/>
                </a:solidFill>
                <a:latin typeface="Microsoft YaHei"/>
                <a:cs typeface="Microsoft YaHei"/>
              </a:rPr>
              <a:t>、</a:t>
            </a:r>
            <a:r>
              <a:rPr lang="zh-CN" altLang="en-US" sz="2400" spc="6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复数</a:t>
            </a:r>
            <a:r>
              <a:rPr lang="zh-CN" altLang="en-US" sz="2400" spc="61" dirty="0">
                <a:solidFill>
                  <a:srgbClr val="000000"/>
                </a:solidFill>
                <a:latin typeface="Microsoft YaHei"/>
                <a:cs typeface="Microsoft YaHei"/>
              </a:rPr>
              <a:t>、</a:t>
            </a:r>
            <a:r>
              <a:rPr sz="2400" spc="61" dirty="0" err="1">
                <a:solidFill>
                  <a:srgbClr val="000000"/>
                </a:solidFill>
                <a:latin typeface="Microsoft YaHei"/>
                <a:cs typeface="Microsoft YaHei"/>
              </a:rPr>
              <a:t>字符串、元组等，列表、字典和集合类型本身都是可变数据类型，不能作为</a:t>
            </a:r>
            <a:r>
              <a:rPr sz="2400" dirty="0" err="1">
                <a:solidFill>
                  <a:srgbClr val="000000"/>
                </a:solidFill>
                <a:latin typeface="Microsoft YaHei"/>
                <a:cs typeface="Microsoft YaHei"/>
              </a:rPr>
              <a:t>集合的元素出现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。</a:t>
            </a:r>
            <a:endParaRPr lang="en-US" sz="2400" dirty="0">
              <a:solidFill>
                <a:srgbClr val="000000"/>
              </a:solidFill>
              <a:latin typeface="Microsoft YaHei"/>
              <a:cs typeface="Microsoft YaHei"/>
            </a:endParaRP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endParaRPr lang="zh-CN" altLang="en-US" sz="2400" dirty="0">
              <a:solidFill>
                <a:srgbClr val="000000"/>
              </a:solidFill>
              <a:latin typeface="Microsoft YaHei"/>
              <a:cs typeface="Microsoft YaHei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917" y="5379465"/>
            <a:ext cx="2377135" cy="1478535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67B285B0-6B82-4875-B6BF-85F6AB6D2131}"/>
              </a:ext>
            </a:extLst>
          </p:cNvPr>
          <p:cNvSpPr txBox="1"/>
          <p:nvPr/>
        </p:nvSpPr>
        <p:spPr>
          <a:xfrm>
            <a:off x="3131840" y="4653135"/>
            <a:ext cx="5832648" cy="20313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c=(1,2,c1)</a:t>
            </a:r>
          </a:p>
          <a:p>
            <a:r>
              <a:rPr lang="en-US" altLang="zh-CN" dirty="0"/>
              <a:t>a={c}</a:t>
            </a:r>
          </a:p>
          <a:p>
            <a:r>
              <a:rPr lang="en-US" altLang="zh-CN" dirty="0"/>
              <a:t>Traceback (most recent call last):</a:t>
            </a:r>
          </a:p>
          <a:p>
            <a:r>
              <a:rPr lang="en-US" altLang="zh-CN" dirty="0"/>
              <a:t>  File "D:/python/</a:t>
            </a:r>
            <a:r>
              <a:rPr lang="zh-CN" altLang="en-US" dirty="0"/>
              <a:t>第六章 组合数据类型</a:t>
            </a:r>
            <a:r>
              <a:rPr lang="en-US" altLang="zh-CN" dirty="0"/>
              <a:t>/changeable data type.py", line 4, in &lt;module&gt;</a:t>
            </a:r>
          </a:p>
          <a:p>
            <a:r>
              <a:rPr lang="en-US" altLang="zh-CN" dirty="0"/>
              <a:t>    a={c}</a:t>
            </a:r>
          </a:p>
          <a:p>
            <a:r>
              <a:rPr lang="en-US" altLang="zh-CN" dirty="0" err="1"/>
              <a:t>TypeError</a:t>
            </a:r>
            <a:r>
              <a:rPr lang="en-US" altLang="zh-CN" dirty="0"/>
              <a:t>: </a:t>
            </a:r>
            <a:r>
              <a:rPr lang="en-US" altLang="zh-CN" dirty="0" err="1"/>
              <a:t>unhashable</a:t>
            </a:r>
            <a:r>
              <a:rPr lang="en-US" altLang="zh-CN" dirty="0"/>
              <a:t> type: 'list'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2183587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集合类型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02868" y="1658620"/>
            <a:ext cx="8129372" cy="15383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9747" marR="0">
              <a:lnSpc>
                <a:spcPts val="3170"/>
              </a:lnSpc>
              <a:spcBef>
                <a:spcPts val="0"/>
              </a:spcBef>
              <a:spcAft>
                <a:spcPts val="0"/>
              </a:spcAft>
            </a:pPr>
            <a:r>
              <a:rPr sz="2400" spc="28" dirty="0">
                <a:solidFill>
                  <a:srgbClr val="000000"/>
                </a:solidFill>
                <a:latin typeface="Microsoft YaHei"/>
                <a:cs typeface="Microsoft YaHei"/>
              </a:rPr>
              <a:t>由于集合是无序组合，它没有索引和位置的概念，不能分</a:t>
            </a:r>
          </a:p>
          <a:p>
            <a:pPr marL="0" marR="0">
              <a:lnSpc>
                <a:spcPts val="3167"/>
              </a:lnSpc>
              <a:spcBef>
                <a:spcPts val="1104"/>
              </a:spcBef>
              <a:spcAft>
                <a:spcPts val="0"/>
              </a:spcAft>
            </a:pPr>
            <a:r>
              <a:rPr sz="2400" spc="47" dirty="0">
                <a:solidFill>
                  <a:srgbClr val="000000"/>
                </a:solidFill>
                <a:latin typeface="Microsoft YaHei"/>
                <a:cs typeface="Microsoft YaHei"/>
              </a:rPr>
              <a:t>片，集合中元素可以动态增加或删除。集合用大括号（</a:t>
            </a:r>
            <a:r>
              <a:rPr sz="2400" spc="20" dirty="0">
                <a:solidFill>
                  <a:srgbClr val="000000"/>
                </a:solidFill>
                <a:latin typeface="Microsoft YaHei"/>
                <a:cs typeface="Microsoft YaHei"/>
              </a:rPr>
              <a:t>{}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）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表示，可以用赋值语句生成一个集合。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904110" y="3952131"/>
            <a:ext cx="3983352" cy="5606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3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&gt;&gt;&gt;S =</a:t>
            </a:r>
            <a:r>
              <a:rPr sz="1400" b="1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{425, "BIT", (10, "CS"), 424}</a:t>
            </a:r>
          </a:p>
          <a:p>
            <a:pPr marL="0" marR="0">
              <a:lnSpc>
                <a:spcPts val="1590"/>
              </a:lnSpc>
              <a:spcBef>
                <a:spcPts val="93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&gt;&gt;&gt;S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904110" y="4605947"/>
            <a:ext cx="5260281" cy="9126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7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{424, 425, (10, 'CS'), 'BIT'}</a:t>
            </a:r>
          </a:p>
          <a:p>
            <a:pPr marL="0" marR="0">
              <a:lnSpc>
                <a:spcPts val="1590"/>
              </a:lnSpc>
              <a:spcBef>
                <a:spcPts val="967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&gt;&gt;&gt;T =</a:t>
            </a:r>
            <a:r>
              <a:rPr sz="1400" b="1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{425, "BIT", (10, "CS"), 424, 425, "BIT"}</a:t>
            </a:r>
          </a:p>
          <a:p>
            <a:pPr marL="0" marR="0">
              <a:lnSpc>
                <a:spcPts val="1590"/>
              </a:lnSpc>
              <a:spcBef>
                <a:spcPts val="929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&gt;&gt;&gt;T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904110" y="5612091"/>
            <a:ext cx="3693529" cy="267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7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{424, 425, (10, 'CS'), 'BIT'}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2183587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集合类型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59917" y="1983047"/>
            <a:ext cx="8222640" cy="15379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6699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spc="60" dirty="0">
                <a:solidFill>
                  <a:srgbClr val="000000"/>
                </a:solidFill>
                <a:latin typeface="Microsoft YaHei"/>
                <a:cs typeface="Microsoft YaHei"/>
              </a:rPr>
              <a:t>由于集合元素是无序的，集合的打印效果与定义顺序可以</a:t>
            </a:r>
          </a:p>
          <a:p>
            <a:pPr marL="0" marR="0">
              <a:lnSpc>
                <a:spcPts val="3170"/>
              </a:lnSpc>
              <a:spcBef>
                <a:spcPts val="1149"/>
              </a:spcBef>
              <a:spcAft>
                <a:spcPts val="0"/>
              </a:spcAft>
            </a:pPr>
            <a:r>
              <a:rPr sz="2400" spc="44" dirty="0">
                <a:solidFill>
                  <a:srgbClr val="000000"/>
                </a:solidFill>
                <a:latin typeface="Microsoft YaHei"/>
                <a:cs typeface="Microsoft YaHei"/>
              </a:rPr>
              <a:t>不一致。由于集合元素独一无二，</a:t>
            </a:r>
            <a:r>
              <a:rPr sz="2400" spc="44" dirty="0">
                <a:solidFill>
                  <a:srgbClr val="FF0000"/>
                </a:solidFill>
                <a:latin typeface="Microsoft YaHei"/>
                <a:cs typeface="Microsoft YaHei"/>
              </a:rPr>
              <a:t>使用集合类型能够过滤掉</a:t>
            </a:r>
          </a:p>
          <a:p>
            <a:pPr marL="0" marR="0">
              <a:lnSpc>
                <a:spcPts val="3167"/>
              </a:lnSpc>
              <a:spcBef>
                <a:spcPts val="1103"/>
              </a:spcBef>
              <a:spcAft>
                <a:spcPts val="0"/>
              </a:spcAft>
            </a:pPr>
            <a:r>
              <a:rPr sz="2400" dirty="0">
                <a:solidFill>
                  <a:srgbClr val="FF0000"/>
                </a:solidFill>
                <a:latin typeface="Microsoft YaHei"/>
                <a:cs typeface="Microsoft YaHei"/>
              </a:rPr>
              <a:t>重复元素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。set(x)函数可以用于生成集合。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687957" y="4229605"/>
            <a:ext cx="1900061" cy="210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&gt;&gt;&gt;W =</a:t>
            </a:r>
            <a:r>
              <a:rPr sz="12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set(‘apple’)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687957" y="4503925"/>
            <a:ext cx="1993635" cy="210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{'e',</a:t>
            </a:r>
            <a:r>
              <a:rPr sz="1200" b="1" spc="12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'p', 'a',</a:t>
            </a:r>
            <a:r>
              <a:rPr sz="1200" b="1" spc="2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'l'}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687957" y="4787156"/>
            <a:ext cx="4632340" cy="240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&gt;&gt;&gt;V =</a:t>
            </a:r>
            <a:r>
              <a:rPr sz="12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set((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"cat", "dog", "tiger", "human"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))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687957" y="5110244"/>
            <a:ext cx="3558518" cy="240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{'cat', 'human', 'dog', 'tiger'}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6D557BDB-0B66-4C23-9B6D-C588BAB2EA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1263" y="5488260"/>
            <a:ext cx="1952625" cy="1181100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95FDC28C-791B-4E28-84A1-4783B0C8771E}"/>
              </a:ext>
            </a:extLst>
          </p:cNvPr>
          <p:cNvSpPr txBox="1"/>
          <p:nvPr/>
        </p:nvSpPr>
        <p:spPr>
          <a:xfrm>
            <a:off x="251519" y="5589240"/>
            <a:ext cx="13597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</a:rPr>
              <a:t>空集合</a:t>
            </a:r>
            <a:r>
              <a:rPr lang="zh-CN" altLang="en-US" dirty="0"/>
              <a:t>：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2183587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集合类型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56792" y="1784927"/>
            <a:ext cx="3253085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集合类型有10个操作符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947926" y="2567781"/>
            <a:ext cx="609600" cy="190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操作符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665342" y="2567781"/>
            <a:ext cx="457504" cy="190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描述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236268" y="2827962"/>
            <a:ext cx="2036787" cy="7650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3309" marR="0">
              <a:lnSpc>
                <a:spcPts val="1464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S –</a:t>
            </a:r>
            <a:r>
              <a:rPr sz="1200" spc="-2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T</a:t>
            </a:r>
            <a:r>
              <a:rPr sz="1200" spc="-1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或</a:t>
            </a:r>
            <a:r>
              <a:rPr sz="1200" spc="-2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00000"/>
                </a:solidFill>
                <a:latin typeface="Calibri"/>
                <a:cs typeface="Calibri"/>
              </a:rPr>
              <a:t>S.difference(T)</a:t>
            </a:r>
          </a:p>
          <a:p>
            <a:pPr marL="0" marR="0">
              <a:lnSpc>
                <a:spcPts val="1328"/>
              </a:lnSpc>
              <a:spcBef>
                <a:spcPts val="77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S-=T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或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S.difference_update(T)</a:t>
            </a:r>
          </a:p>
          <a:p>
            <a:pPr marL="164541" marR="0">
              <a:lnSpc>
                <a:spcPts val="1328"/>
              </a:lnSpc>
              <a:spcBef>
                <a:spcPts val="831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S &amp; T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或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S.intersection(T)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595115" y="2837264"/>
            <a:ext cx="4445762" cy="15678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28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返回一个新集合，包括在集合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S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中但不在集合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T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中的元素</a:t>
            </a:r>
          </a:p>
          <a:p>
            <a:pPr marL="0" marR="0">
              <a:lnSpc>
                <a:spcPts val="1328"/>
              </a:lnSpc>
              <a:spcBef>
                <a:spcPts val="883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更新集合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S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，包括在集合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S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中但不在集合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T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中的元素</a:t>
            </a:r>
          </a:p>
          <a:p>
            <a:pPr marL="0" marR="0">
              <a:lnSpc>
                <a:spcPts val="1328"/>
              </a:lnSpc>
              <a:spcBef>
                <a:spcPts val="881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返回一个新集合，包括同时在集合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S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和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T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中的元素</a:t>
            </a:r>
          </a:p>
          <a:p>
            <a:pPr marL="0" marR="0">
              <a:lnSpc>
                <a:spcPts val="1328"/>
              </a:lnSpc>
              <a:spcBef>
                <a:spcPts val="833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更新集合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S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，包括同时在集合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S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和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T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中的元素。</a:t>
            </a:r>
          </a:p>
          <a:p>
            <a:pPr marL="0" marR="0">
              <a:lnSpc>
                <a:spcPts val="1328"/>
              </a:lnSpc>
              <a:spcBef>
                <a:spcPts val="881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返回一个新集合，包括集合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S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和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T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中元素，但不包括同时在其中的</a:t>
            </a:r>
          </a:p>
          <a:p>
            <a:pPr marL="0" marR="0">
              <a:lnSpc>
                <a:spcPts val="1200"/>
              </a:lnSpc>
              <a:spcBef>
                <a:spcPts val="822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元素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153972" y="3660732"/>
            <a:ext cx="2197968" cy="481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28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S&amp;=T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或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S.intersection_update(T)</a:t>
            </a:r>
          </a:p>
          <a:p>
            <a:pPr marL="9144" marR="0">
              <a:lnSpc>
                <a:spcPts val="1328"/>
              </a:lnSpc>
              <a:spcBef>
                <a:spcPts val="881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S^T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或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s.symmetric_difference(T)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74775" y="4484073"/>
            <a:ext cx="7099045" cy="2068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28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S=^T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或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s.symmetric_difference_update(T)</a:t>
            </a:r>
            <a:r>
              <a:rPr sz="1200" spc="6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更新集合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S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，包括集合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S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和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T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中元素，但不包括同时在其中的元素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525777" y="4758647"/>
            <a:ext cx="1454646" cy="7558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8683" marR="0">
              <a:lnSpc>
                <a:spcPts val="1328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S|T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或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S.union(T)</a:t>
            </a:r>
          </a:p>
          <a:p>
            <a:pPr marL="67055" marR="0">
              <a:lnSpc>
                <a:spcPts val="1328"/>
              </a:lnSpc>
              <a:spcBef>
                <a:spcPts val="881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S=|T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或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S.update(T)</a:t>
            </a:r>
          </a:p>
          <a:p>
            <a:pPr marL="0" marR="0">
              <a:lnSpc>
                <a:spcPts val="1328"/>
              </a:lnSpc>
              <a:spcBef>
                <a:spcPts val="884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S&lt;=T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或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S.issubset(T)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595115" y="4758647"/>
            <a:ext cx="3074162" cy="481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28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返回一个新集合，包括集合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S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和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T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中所有元素</a:t>
            </a:r>
          </a:p>
          <a:p>
            <a:pPr marL="0" marR="0">
              <a:lnSpc>
                <a:spcPts val="1328"/>
              </a:lnSpc>
              <a:spcBef>
                <a:spcPts val="881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更新集合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S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，包括集合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S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和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T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中所有元素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3595115" y="5307668"/>
            <a:ext cx="4470275" cy="4811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28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如果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S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与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T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相同或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S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是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T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的子集，返回</a:t>
            </a:r>
            <a:r>
              <a:rPr sz="1200" spc="-10" dirty="0">
                <a:solidFill>
                  <a:srgbClr val="000000"/>
                </a:solidFill>
                <a:latin typeface="Times New Roman"/>
                <a:cs typeface="Times New Roman"/>
              </a:rPr>
              <a:t>True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，否则返回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False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，可以用</a:t>
            </a:r>
          </a:p>
          <a:p>
            <a:pPr marL="0" marR="0">
              <a:lnSpc>
                <a:spcPts val="1328"/>
              </a:lnSpc>
              <a:spcBef>
                <a:spcPts val="88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S&lt;T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判断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S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是否是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T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的真子集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466341" y="5856562"/>
            <a:ext cx="1573038" cy="2068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28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S&gt;=T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或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S.issuperset(T)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3595115" y="5856562"/>
            <a:ext cx="4470275" cy="4811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28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如果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S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与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T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相同或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S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是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T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的超集，返回</a:t>
            </a:r>
            <a:r>
              <a:rPr sz="1200" spc="-10" dirty="0">
                <a:solidFill>
                  <a:srgbClr val="000000"/>
                </a:solidFill>
                <a:latin typeface="Times New Roman"/>
                <a:cs typeface="Times New Roman"/>
              </a:rPr>
              <a:t>True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，否则返回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False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，可以用</a:t>
            </a:r>
          </a:p>
          <a:p>
            <a:pPr marL="0" marR="0">
              <a:lnSpc>
                <a:spcPts val="1328"/>
              </a:lnSpc>
              <a:spcBef>
                <a:spcPts val="881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S&gt;T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判断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S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是否是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T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的真超集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2183587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集合类型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21843" y="1882971"/>
            <a:ext cx="8669705" cy="9890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2628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上述操作符表达了集合类型的4种基本操作，交集（&amp;）、并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集（|）、差集（-）、补集（^），操作逻辑与数学定义相同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2183587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集合类型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85367" y="1889126"/>
            <a:ext cx="4476604" cy="4407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7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集合类型有10个操作函数或方法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626361" y="2724967"/>
            <a:ext cx="1043939" cy="216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3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函数或方法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113532" y="2724967"/>
            <a:ext cx="3173884" cy="5505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46908" marR="0">
              <a:lnSpc>
                <a:spcPts val="1403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描述</a:t>
            </a:r>
          </a:p>
          <a:p>
            <a:pPr marL="0" marR="0">
              <a:lnSpc>
                <a:spcPts val="1554"/>
              </a:lnSpc>
              <a:spcBef>
                <a:spcPts val="1026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如果数据项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不在集合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S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中，将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增加到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766570" y="3039983"/>
            <a:ext cx="763357" cy="5564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54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S.add(x)</a:t>
            </a:r>
          </a:p>
          <a:p>
            <a:pPr marL="0" marR="0">
              <a:lnSpc>
                <a:spcPts val="1554"/>
              </a:lnSpc>
              <a:spcBef>
                <a:spcPts val="922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S.clear()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113532" y="3360912"/>
            <a:ext cx="1678030" cy="2355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54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移除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S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中所有数据项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768094" y="3681587"/>
            <a:ext cx="761502" cy="2355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54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S.copy()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3113532" y="3681587"/>
            <a:ext cx="1856338" cy="2355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54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返回集合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S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的一个拷贝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806194" y="4002262"/>
            <a:ext cx="683759" cy="2355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54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S.pop()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113532" y="4002262"/>
            <a:ext cx="4946777" cy="15183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54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随机返回集合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S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中的一个元素，如果</a:t>
            </a:r>
            <a:r>
              <a:rPr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S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为空，产生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KeyError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异常</a:t>
            </a:r>
          </a:p>
          <a:p>
            <a:pPr marL="0" marR="0">
              <a:lnSpc>
                <a:spcPts val="1554"/>
              </a:lnSpc>
              <a:spcBef>
                <a:spcPts val="922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如果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在集合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S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中，移除该元素；如果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不在，不报错</a:t>
            </a:r>
          </a:p>
          <a:p>
            <a:pPr marL="0" marR="0">
              <a:lnSpc>
                <a:spcPts val="1554"/>
              </a:lnSpc>
              <a:spcBef>
                <a:spcPts val="92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如果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在集合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S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中，移除该元素；不在产生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KeyError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异常</a:t>
            </a:r>
          </a:p>
          <a:p>
            <a:pPr marL="0" marR="0">
              <a:lnSpc>
                <a:spcPts val="1554"/>
              </a:lnSpc>
              <a:spcBef>
                <a:spcPts val="92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如果集合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S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与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T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没有相同元素，返回</a:t>
            </a:r>
            <a:r>
              <a:rPr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True</a:t>
            </a:r>
          </a:p>
          <a:p>
            <a:pPr marL="0" marR="0">
              <a:lnSpc>
                <a:spcPts val="1554"/>
              </a:lnSpc>
              <a:spcBef>
                <a:spcPts val="969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返回集合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S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元素个数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559305" y="4323191"/>
            <a:ext cx="1177757" cy="11974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7723" marR="0">
              <a:lnSpc>
                <a:spcPts val="1554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S.discard(x)</a:t>
            </a:r>
          </a:p>
          <a:p>
            <a:pPr marL="70104" marR="0">
              <a:lnSpc>
                <a:spcPts val="1554"/>
              </a:lnSpc>
              <a:spcBef>
                <a:spcPts val="92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S.remove(x)</a:t>
            </a:r>
          </a:p>
          <a:p>
            <a:pPr marL="0" marR="0">
              <a:lnSpc>
                <a:spcPts val="1554"/>
              </a:lnSpc>
              <a:spcBef>
                <a:spcPts val="92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S.isdisjoint(T)</a:t>
            </a:r>
          </a:p>
          <a:p>
            <a:pPr marL="294132" marR="0">
              <a:lnSpc>
                <a:spcPts val="1554"/>
              </a:lnSpc>
              <a:spcBef>
                <a:spcPts val="919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len(S)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864105" y="5606094"/>
            <a:ext cx="566279" cy="2355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54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x in</a:t>
            </a:r>
            <a:r>
              <a:rPr sz="1400" spc="-1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S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3113532" y="5606094"/>
            <a:ext cx="3728310" cy="5562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54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如果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是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S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的元素，返回</a:t>
            </a:r>
            <a:r>
              <a:rPr sz="1400" spc="-12" dirty="0">
                <a:solidFill>
                  <a:srgbClr val="000000"/>
                </a:solidFill>
                <a:latin typeface="Times New Roman"/>
                <a:cs typeface="Times New Roman"/>
              </a:rPr>
              <a:t>True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，否则返回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False</a:t>
            </a:r>
          </a:p>
          <a:p>
            <a:pPr marL="0" marR="0">
              <a:lnSpc>
                <a:spcPts val="1554"/>
              </a:lnSpc>
              <a:spcBef>
                <a:spcPts val="919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如果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不是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S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的元素，返回</a:t>
            </a:r>
            <a:r>
              <a:rPr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True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，否则返回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False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728470" y="5926744"/>
            <a:ext cx="836951" cy="2355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54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x not</a:t>
            </a:r>
            <a:r>
              <a:rPr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in</a:t>
            </a:r>
            <a:r>
              <a:rPr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2183587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527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0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Microsoft YaHei"/>
                <a:ea typeface="+mn-ea"/>
                <a:cs typeface="Microsoft YaHei"/>
              </a:rPr>
              <a:t>集合类型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626361" y="2724967"/>
            <a:ext cx="1043939" cy="216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40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Sun"/>
                <a:ea typeface="+mn-ea"/>
                <a:cs typeface="SimSun"/>
              </a:rPr>
              <a:t>函数或方法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113532" y="2724967"/>
            <a:ext cx="3173884" cy="7181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46908" marR="0" lvl="0" indent="0" algn="l" defTabSz="914400" rtl="0" eaLnBrk="1" fontAlgn="auto" latinLnBrk="0" hangingPunct="1">
              <a:lnSpc>
                <a:spcPts val="140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Sun"/>
                <a:ea typeface="+mn-ea"/>
                <a:cs typeface="SimSun"/>
              </a:rPr>
              <a:t>描述</a:t>
            </a:r>
          </a:p>
          <a:p>
            <a:pPr marL="0" marR="0" lvl="0" indent="0" algn="l" defTabSz="914400" rtl="0" eaLnBrk="1" fontAlgn="auto" latinLnBrk="0" hangingPunct="1">
              <a:lnSpc>
                <a:spcPts val="1554"/>
              </a:lnSpc>
              <a:spcBef>
                <a:spcPts val="102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Sun"/>
                <a:ea typeface="+mn-ea"/>
                <a:cs typeface="SimSun"/>
              </a:rPr>
              <a:t>如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Sun"/>
                <a:ea typeface="+mn-ea"/>
                <a:cs typeface="SimSun"/>
              </a:rPr>
              <a:t>几乎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Sun"/>
                <a:ea typeface="+mn-ea"/>
                <a:cs typeface="SimSun"/>
              </a:rPr>
              <a:t>果数据项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x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Sun"/>
                <a:ea typeface="+mn-ea"/>
                <a:cs typeface="SimSun"/>
              </a:rPr>
              <a:t>不在集合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Sun"/>
                <a:ea typeface="+mn-ea"/>
                <a:cs typeface="SimSun"/>
              </a:rPr>
              <a:t>中，将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x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Sun"/>
                <a:ea typeface="+mn-ea"/>
                <a:cs typeface="SimSun"/>
              </a:rPr>
              <a:t>增加到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66570" y="3039983"/>
            <a:ext cx="763357" cy="5564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55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S.add(x)</a:t>
            </a:r>
          </a:p>
          <a:p>
            <a:pPr marL="0" marR="0" lvl="0" indent="0" algn="l" defTabSz="914400" rtl="0" eaLnBrk="1" fontAlgn="auto" latinLnBrk="0" hangingPunct="1">
              <a:lnSpc>
                <a:spcPts val="1554"/>
              </a:lnSpc>
              <a:spcBef>
                <a:spcPts val="9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S.clear()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113532" y="3360912"/>
            <a:ext cx="1678030" cy="2355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55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Sun"/>
                <a:ea typeface="+mn-ea"/>
                <a:cs typeface="SimSun"/>
              </a:rPr>
              <a:t>移除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Sun"/>
                <a:ea typeface="+mn-ea"/>
                <a:cs typeface="SimSun"/>
              </a:rPr>
              <a:t>中所有数据项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768094" y="3681587"/>
            <a:ext cx="761502" cy="2355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55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S.copy()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3113532" y="3681587"/>
            <a:ext cx="1856338" cy="2355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55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Sun"/>
                <a:ea typeface="+mn-ea"/>
                <a:cs typeface="SimSun"/>
              </a:rPr>
              <a:t>返回集合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Sun"/>
                <a:ea typeface="+mn-ea"/>
                <a:cs typeface="SimSun"/>
              </a:rPr>
              <a:t>的一个拷贝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806194" y="4002262"/>
            <a:ext cx="683759" cy="2355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55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S.pop()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113532" y="4002262"/>
            <a:ext cx="4946777" cy="15183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55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Sun"/>
                <a:ea typeface="+mn-ea"/>
                <a:cs typeface="SimSun"/>
              </a:rPr>
              <a:t>随机返回集合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Sun"/>
                <a:ea typeface="+mn-ea"/>
                <a:cs typeface="SimSun"/>
              </a:rPr>
              <a:t>中的一个元素，如果</a:t>
            </a:r>
            <a:r>
              <a:rPr kumimoji="0" sz="14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Sun"/>
                <a:ea typeface="+mn-ea"/>
                <a:cs typeface="SimSun"/>
              </a:rPr>
              <a:t>为空，产生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KeyError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Sun"/>
                <a:ea typeface="+mn-ea"/>
                <a:cs typeface="SimSun"/>
              </a:rPr>
              <a:t>异常</a:t>
            </a:r>
          </a:p>
          <a:p>
            <a:pPr marL="0" marR="0" lvl="0" indent="0" algn="l" defTabSz="914400" rtl="0" eaLnBrk="1" fontAlgn="auto" latinLnBrk="0" hangingPunct="1">
              <a:lnSpc>
                <a:spcPts val="1554"/>
              </a:lnSpc>
              <a:spcBef>
                <a:spcPts val="9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Sun"/>
                <a:ea typeface="+mn-ea"/>
                <a:cs typeface="SimSun"/>
              </a:rPr>
              <a:t>如果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x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Sun"/>
                <a:ea typeface="+mn-ea"/>
                <a:cs typeface="SimSun"/>
              </a:rPr>
              <a:t>在集合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Sun"/>
                <a:ea typeface="+mn-ea"/>
                <a:cs typeface="SimSun"/>
              </a:rPr>
              <a:t>中，移除该元素；如果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x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Sun"/>
                <a:ea typeface="+mn-ea"/>
                <a:cs typeface="SimSun"/>
              </a:rPr>
              <a:t>不在，不报错</a:t>
            </a:r>
          </a:p>
          <a:p>
            <a:pPr marL="0" marR="0" lvl="0" indent="0" algn="l" defTabSz="914400" rtl="0" eaLnBrk="1" fontAlgn="auto" latinLnBrk="0" hangingPunct="1">
              <a:lnSpc>
                <a:spcPts val="1554"/>
              </a:lnSpc>
              <a:spcBef>
                <a:spcPts val="92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Sun"/>
                <a:ea typeface="+mn-ea"/>
                <a:cs typeface="SimSun"/>
              </a:rPr>
              <a:t>如果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x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Sun"/>
                <a:ea typeface="+mn-ea"/>
                <a:cs typeface="SimSun"/>
              </a:rPr>
              <a:t>在集合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Sun"/>
                <a:ea typeface="+mn-ea"/>
                <a:cs typeface="SimSun"/>
              </a:rPr>
              <a:t>中，移除该元素；不在产生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KeyError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Sun"/>
                <a:ea typeface="+mn-ea"/>
                <a:cs typeface="SimSun"/>
              </a:rPr>
              <a:t>异常</a:t>
            </a:r>
          </a:p>
          <a:p>
            <a:pPr marL="0" marR="0" lvl="0" indent="0" algn="l" defTabSz="914400" rtl="0" eaLnBrk="1" fontAlgn="auto" latinLnBrk="0" hangingPunct="1">
              <a:lnSpc>
                <a:spcPts val="1554"/>
              </a:lnSpc>
              <a:spcBef>
                <a:spcPts val="92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Sun"/>
                <a:ea typeface="+mn-ea"/>
                <a:cs typeface="SimSun"/>
              </a:rPr>
              <a:t>如果集合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Sun"/>
                <a:ea typeface="+mn-ea"/>
                <a:cs typeface="SimSun"/>
              </a:rPr>
              <a:t>与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Sun"/>
                <a:ea typeface="+mn-ea"/>
                <a:cs typeface="SimSun"/>
              </a:rPr>
              <a:t>没有相同元素，返回</a:t>
            </a:r>
            <a:r>
              <a:rPr kumimoji="0" sz="1400" b="0" i="0" u="none" strike="noStrike" kern="1200" cap="none" spc="-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True</a:t>
            </a:r>
          </a:p>
          <a:p>
            <a:pPr marL="0" marR="0" lvl="0" indent="0" algn="l" defTabSz="914400" rtl="0" eaLnBrk="1" fontAlgn="auto" latinLnBrk="0" hangingPunct="1">
              <a:lnSpc>
                <a:spcPts val="1554"/>
              </a:lnSpc>
              <a:spcBef>
                <a:spcPts val="96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Sun"/>
                <a:ea typeface="+mn-ea"/>
                <a:cs typeface="SimSun"/>
              </a:rPr>
              <a:t>返回集合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Sun"/>
                <a:ea typeface="+mn-ea"/>
                <a:cs typeface="SimSun"/>
              </a:rPr>
              <a:t>元素个数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559305" y="4323191"/>
            <a:ext cx="1177757" cy="11974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7723" marR="0" lvl="0" indent="0" algn="l" defTabSz="914400" rtl="0" eaLnBrk="1" fontAlgn="auto" latinLnBrk="0" hangingPunct="1">
              <a:lnSpc>
                <a:spcPts val="155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S.discard(x)</a:t>
            </a:r>
          </a:p>
          <a:p>
            <a:pPr marL="70104" marR="0" lvl="0" indent="0" algn="l" defTabSz="914400" rtl="0" eaLnBrk="1" fontAlgn="auto" latinLnBrk="0" hangingPunct="1">
              <a:lnSpc>
                <a:spcPts val="1554"/>
              </a:lnSpc>
              <a:spcBef>
                <a:spcPts val="92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S.remove(x)</a:t>
            </a:r>
          </a:p>
          <a:p>
            <a:pPr marL="0" marR="0" lvl="0" indent="0" algn="l" defTabSz="914400" rtl="0" eaLnBrk="1" fontAlgn="auto" latinLnBrk="0" hangingPunct="1">
              <a:lnSpc>
                <a:spcPts val="1554"/>
              </a:lnSpc>
              <a:spcBef>
                <a:spcPts val="92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S.isdisjoint(T)</a:t>
            </a:r>
          </a:p>
          <a:p>
            <a:pPr marL="294132" marR="0" lvl="0" indent="0" algn="l" defTabSz="914400" rtl="0" eaLnBrk="1" fontAlgn="auto" latinLnBrk="0" hangingPunct="1">
              <a:lnSpc>
                <a:spcPts val="1554"/>
              </a:lnSpc>
              <a:spcBef>
                <a:spcPts val="91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len(S)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864105" y="5606094"/>
            <a:ext cx="566279" cy="2355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55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x in</a:t>
            </a:r>
            <a:r>
              <a:rPr kumimoji="0" sz="1400" b="0" i="0" u="none" strike="noStrike" kern="1200" cap="none" spc="-1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3113532" y="5606094"/>
            <a:ext cx="3728310" cy="5562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55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Sun"/>
                <a:ea typeface="+mn-ea"/>
                <a:cs typeface="SimSun"/>
              </a:rPr>
              <a:t>如果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x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Sun"/>
                <a:ea typeface="+mn-ea"/>
                <a:cs typeface="SimSun"/>
              </a:rPr>
              <a:t>是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Sun"/>
                <a:ea typeface="+mn-ea"/>
                <a:cs typeface="SimSun"/>
              </a:rPr>
              <a:t>的元素，返回</a:t>
            </a:r>
            <a:r>
              <a:rPr kumimoji="0" sz="1400" b="0" i="0" u="none" strike="noStrike" kern="1200" cap="none" spc="-1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True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Sun"/>
                <a:ea typeface="+mn-ea"/>
                <a:cs typeface="SimSun"/>
              </a:rPr>
              <a:t>，否则返回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False</a:t>
            </a:r>
          </a:p>
          <a:p>
            <a:pPr marL="0" marR="0" lvl="0" indent="0" algn="l" defTabSz="914400" rtl="0" eaLnBrk="1" fontAlgn="auto" latinLnBrk="0" hangingPunct="1">
              <a:lnSpc>
                <a:spcPts val="1554"/>
              </a:lnSpc>
              <a:spcBef>
                <a:spcPts val="91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Sun"/>
                <a:ea typeface="+mn-ea"/>
                <a:cs typeface="SimSun"/>
              </a:rPr>
              <a:t>如果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x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Sun"/>
                <a:ea typeface="+mn-ea"/>
                <a:cs typeface="SimSun"/>
              </a:rPr>
              <a:t>不是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Sun"/>
                <a:ea typeface="+mn-ea"/>
                <a:cs typeface="SimSun"/>
              </a:rPr>
              <a:t>的元素，返回</a:t>
            </a:r>
            <a:r>
              <a:rPr kumimoji="0" sz="1400" b="0" i="0" u="none" strike="noStrike" kern="1200" cap="none" spc="-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True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Sun"/>
                <a:ea typeface="+mn-ea"/>
                <a:cs typeface="SimSun"/>
              </a:rPr>
              <a:t>，否则返回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False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728470" y="5926744"/>
            <a:ext cx="836951" cy="2355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55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x not</a:t>
            </a:r>
            <a:r>
              <a:rPr kumimoji="0" sz="1400" b="0" i="0" u="none" strike="noStrike" kern="1200" cap="none" spc="-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in</a:t>
            </a:r>
            <a:r>
              <a:rPr kumimoji="0" sz="1400" b="0" i="0" u="none" strike="noStrike" kern="1200" cap="none" spc="-2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</a:t>
            </a:r>
          </a:p>
        </p:txBody>
      </p:sp>
      <p:sp>
        <p:nvSpPr>
          <p:cNvPr id="17" name="object 9">
            <a:extLst>
              <a:ext uri="{FF2B5EF4-FFF2-40B4-BE49-F238E27FC236}">
                <a16:creationId xmlns:a16="http://schemas.microsoft.com/office/drawing/2014/main" id="{B3F2E9EE-DDDF-4518-A67D-91A31425A8C6}"/>
              </a:ext>
            </a:extLst>
          </p:cNvPr>
          <p:cNvSpPr txBox="1"/>
          <p:nvPr/>
        </p:nvSpPr>
        <p:spPr>
          <a:xfrm>
            <a:off x="864859" y="1543280"/>
            <a:ext cx="999246" cy="2139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55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S.copy()</a:t>
            </a:r>
          </a:p>
        </p:txBody>
      </p:sp>
      <p:sp>
        <p:nvSpPr>
          <p:cNvPr id="18" name="object 10">
            <a:extLst>
              <a:ext uri="{FF2B5EF4-FFF2-40B4-BE49-F238E27FC236}">
                <a16:creationId xmlns:a16="http://schemas.microsoft.com/office/drawing/2014/main" id="{FBD1A83C-6692-45C0-8803-64BA1045DD48}"/>
              </a:ext>
            </a:extLst>
          </p:cNvPr>
          <p:cNvSpPr txBox="1"/>
          <p:nvPr/>
        </p:nvSpPr>
        <p:spPr>
          <a:xfrm>
            <a:off x="2430384" y="1562675"/>
            <a:ext cx="2861696" cy="2108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55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Sun"/>
                <a:ea typeface="+mn-ea"/>
                <a:cs typeface="SimSun"/>
              </a:rPr>
              <a:t>返回集合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Sun"/>
                <a:ea typeface="+mn-ea"/>
                <a:cs typeface="SimSun"/>
              </a:rPr>
              <a:t>的一个拷贝</a:t>
            </a: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F838B218-833E-4CF7-AFA4-0FB7AEA680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322" y="2204279"/>
            <a:ext cx="7654134" cy="4089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0831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2183587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集合类型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31240" y="1620520"/>
            <a:ext cx="8109204" cy="932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9748" marR="0">
              <a:lnSpc>
                <a:spcPts val="3170"/>
              </a:lnSpc>
              <a:spcBef>
                <a:spcPts val="0"/>
              </a:spcBef>
              <a:spcAft>
                <a:spcPts val="0"/>
              </a:spcAft>
            </a:pPr>
            <a:r>
              <a:rPr sz="2400" spc="21" dirty="0">
                <a:solidFill>
                  <a:srgbClr val="000000"/>
                </a:solidFill>
                <a:latin typeface="Microsoft YaHei"/>
                <a:cs typeface="Microsoft YaHei"/>
              </a:rPr>
              <a:t>集合类型主要用于三个场景：</a:t>
            </a:r>
            <a:r>
              <a:rPr sz="2400" spc="21" dirty="0">
                <a:solidFill>
                  <a:srgbClr val="FF0000"/>
                </a:solidFill>
                <a:latin typeface="Microsoft YaHei"/>
                <a:cs typeface="Microsoft YaHei"/>
              </a:rPr>
              <a:t>成员关系测试、元素去重和</a:t>
            </a:r>
          </a:p>
          <a:p>
            <a:pPr marL="0" marR="0">
              <a:lnSpc>
                <a:spcPts val="3167"/>
              </a:lnSpc>
              <a:spcBef>
                <a:spcPts val="1104"/>
              </a:spcBef>
              <a:spcAft>
                <a:spcPts val="0"/>
              </a:spcAft>
            </a:pPr>
            <a:r>
              <a:rPr sz="2400" dirty="0">
                <a:solidFill>
                  <a:srgbClr val="FF0000"/>
                </a:solidFill>
                <a:latin typeface="Microsoft YaHei"/>
                <a:cs typeface="Microsoft YaHei"/>
              </a:rPr>
              <a:t>删除数据项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，例子如下。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35405" y="3014273"/>
            <a:ext cx="7002170" cy="17960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7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&gt;&gt;&gt;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"BIT"</a:t>
            </a:r>
            <a:r>
              <a:rPr sz="16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in {"PYTHON",</a:t>
            </a:r>
            <a:r>
              <a:rPr sz="1600" b="1" spc="36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"BIT",</a:t>
            </a:r>
            <a:r>
              <a:rPr sz="16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123,</a:t>
            </a:r>
            <a:r>
              <a:rPr sz="16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"GOOD"}</a:t>
            </a:r>
            <a:r>
              <a:rPr sz="1600" b="1" spc="23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spc="37" dirty="0">
                <a:solidFill>
                  <a:srgbClr val="000000"/>
                </a:solidFill>
                <a:latin typeface="Courier New"/>
                <a:cs typeface="Courier New"/>
              </a:rPr>
              <a:t>#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成员关系测试</a:t>
            </a:r>
          </a:p>
          <a:p>
            <a:pPr marL="0" marR="0">
              <a:lnSpc>
                <a:spcPts val="1807"/>
              </a:lnSpc>
              <a:spcBef>
                <a:spcPts val="184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True</a:t>
            </a:r>
          </a:p>
          <a:p>
            <a:pPr marL="0" marR="0">
              <a:lnSpc>
                <a:spcPts val="1807"/>
              </a:lnSpc>
              <a:spcBef>
                <a:spcPts val="153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&gt;&gt;&gt;tup</a:t>
            </a:r>
            <a:r>
              <a:rPr sz="1400" b="1" spc="-12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=</a:t>
            </a:r>
            <a:r>
              <a:rPr sz="1400" b="1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"PYTHON",</a:t>
            </a:r>
            <a:r>
              <a:rPr sz="1600" b="1" spc="2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"BIT",</a:t>
            </a:r>
            <a:r>
              <a:rPr sz="1600" b="1" spc="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123,</a:t>
            </a:r>
            <a:r>
              <a:rPr sz="1600" b="1" spc="2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"GOOD",</a:t>
            </a:r>
            <a:r>
              <a:rPr sz="1600" b="1" spc="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123)</a:t>
            </a:r>
            <a:r>
              <a:rPr sz="1600" b="1" spc="10" dirty="0">
                <a:solidFill>
                  <a:srgbClr val="000000"/>
                </a:solidFill>
                <a:latin typeface="Courier New"/>
                <a:cs typeface="Courier New"/>
              </a:rPr>
              <a:t> #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元素去重</a:t>
            </a:r>
          </a:p>
          <a:p>
            <a:pPr marL="0" marR="0">
              <a:lnSpc>
                <a:spcPts val="1807"/>
              </a:lnSpc>
              <a:spcBef>
                <a:spcPts val="184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&gt;&gt;&gt;set(tup)</a:t>
            </a:r>
          </a:p>
          <a:p>
            <a:pPr marL="0" marR="0">
              <a:lnSpc>
                <a:spcPts val="1807"/>
              </a:lnSpc>
              <a:spcBef>
                <a:spcPts val="196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{123, 'GOOD', 'BIT', 'PYTHON'}</a:t>
            </a:r>
          </a:p>
          <a:p>
            <a:pPr marL="0" marR="0">
              <a:lnSpc>
                <a:spcPts val="1807"/>
              </a:lnSpc>
              <a:spcBef>
                <a:spcPts val="103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&gt;&gt;&gt;newtup</a:t>
            </a:r>
            <a:r>
              <a:rPr sz="1600" b="1" spc="23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= tuple(set(tup)–{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'PYTHON'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})</a:t>
            </a:r>
            <a:r>
              <a:rPr sz="1600" b="1" spc="6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#</a:t>
            </a:r>
            <a:r>
              <a:rPr sz="1600" b="1" spc="15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去重同时删除数据项</a:t>
            </a:r>
          </a:p>
          <a:p>
            <a:pPr marL="0" marR="0">
              <a:lnSpc>
                <a:spcPts val="1807"/>
              </a:lnSpc>
              <a:spcBef>
                <a:spcPts val="187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('GOOD', 123, 'BIT')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67816" y="5149284"/>
            <a:ext cx="8072323" cy="15377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9747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spc="10" dirty="0">
                <a:solidFill>
                  <a:srgbClr val="000000"/>
                </a:solidFill>
                <a:latin typeface="Microsoft YaHei"/>
                <a:cs typeface="Microsoft YaHei"/>
              </a:rPr>
              <a:t>集合类型与其他类型最大的不同在于它不包含重复元素，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spc="97" dirty="0">
                <a:solidFill>
                  <a:srgbClr val="000000"/>
                </a:solidFill>
                <a:latin typeface="Microsoft YaHei"/>
                <a:cs typeface="Microsoft YaHei"/>
              </a:rPr>
              <a:t>因此，当需要对一维数据进行去重或进行数据重复处理时</a:t>
            </a:r>
          </a:p>
          <a:p>
            <a:pPr marL="0" marR="0">
              <a:lnSpc>
                <a:spcPts val="3170"/>
              </a:lnSpc>
              <a:spcBef>
                <a:spcPts val="1149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，一般通过集合来完成。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2183587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映射类型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31240" y="1935422"/>
            <a:ext cx="8169859" cy="20866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9748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spc="97" dirty="0">
                <a:solidFill>
                  <a:srgbClr val="000000"/>
                </a:solidFill>
                <a:latin typeface="Microsoft YaHei"/>
                <a:cs typeface="Microsoft YaHei"/>
              </a:rPr>
              <a:t>映射类型是“键</a:t>
            </a:r>
            <a:r>
              <a:rPr sz="2400" spc="101" dirty="0">
                <a:solidFill>
                  <a:srgbClr val="000000"/>
                </a:solidFill>
                <a:latin typeface="Microsoft YaHei"/>
                <a:cs typeface="Microsoft YaHei"/>
              </a:rPr>
              <a:t>-</a:t>
            </a:r>
            <a:r>
              <a:rPr sz="2400" spc="95" dirty="0">
                <a:solidFill>
                  <a:srgbClr val="000000"/>
                </a:solidFill>
                <a:latin typeface="Microsoft YaHei"/>
                <a:cs typeface="Microsoft YaHei"/>
              </a:rPr>
              <a:t>值”数据项的组合，每个元素是一个键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spc="94" dirty="0">
                <a:solidFill>
                  <a:srgbClr val="000000"/>
                </a:solidFill>
                <a:latin typeface="Microsoft YaHei"/>
                <a:cs typeface="Microsoft YaHei"/>
              </a:rPr>
              <a:t>值对，即元素是</a:t>
            </a:r>
            <a:r>
              <a:rPr sz="2400" spc="-36" dirty="0">
                <a:solidFill>
                  <a:srgbClr val="000000"/>
                </a:solidFill>
                <a:latin typeface="Microsoft YaHei"/>
                <a:cs typeface="Microsoft YaHei"/>
              </a:rPr>
              <a:t>(key,</a:t>
            </a:r>
            <a:r>
              <a:rPr sz="2400" spc="609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value)</a:t>
            </a:r>
            <a:r>
              <a:rPr sz="2400" spc="93" dirty="0">
                <a:solidFill>
                  <a:srgbClr val="000000"/>
                </a:solidFill>
                <a:latin typeface="Microsoft YaHei"/>
                <a:cs typeface="Microsoft YaHei"/>
              </a:rPr>
              <a:t>，元素之间是无序的。键值对</a:t>
            </a:r>
          </a:p>
          <a:p>
            <a:pPr marL="0" marR="0">
              <a:lnSpc>
                <a:spcPts val="3167"/>
              </a:lnSpc>
              <a:spcBef>
                <a:spcPts val="1105"/>
              </a:spcBef>
              <a:spcAft>
                <a:spcPts val="0"/>
              </a:spcAft>
            </a:pPr>
            <a:r>
              <a:rPr sz="2400" spc="-36" dirty="0">
                <a:solidFill>
                  <a:srgbClr val="000000"/>
                </a:solidFill>
                <a:latin typeface="Microsoft YaHei"/>
                <a:cs typeface="Microsoft YaHei"/>
              </a:rPr>
              <a:t>(key,</a:t>
            </a:r>
            <a:r>
              <a:rPr sz="2400" spc="575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value)</a:t>
            </a:r>
            <a:r>
              <a:rPr sz="2400" spc="55" dirty="0">
                <a:solidFill>
                  <a:srgbClr val="000000"/>
                </a:solidFill>
                <a:latin typeface="Microsoft YaHei"/>
                <a:cs typeface="Microsoft YaHei"/>
              </a:rPr>
              <a:t>是一种二元关系。在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Python</a:t>
            </a:r>
            <a:r>
              <a:rPr sz="2400" spc="51" dirty="0">
                <a:solidFill>
                  <a:srgbClr val="000000"/>
                </a:solidFill>
                <a:latin typeface="Microsoft YaHei"/>
                <a:cs typeface="Microsoft YaHei"/>
              </a:rPr>
              <a:t>中，映射类型主要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以字典（dict）体现。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011426" y="2788949"/>
            <a:ext cx="4954828" cy="943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127"/>
              </a:lnSpc>
              <a:spcBef>
                <a:spcPts val="0"/>
              </a:spcBef>
              <a:spcAft>
                <a:spcPts val="0"/>
              </a:spcAft>
            </a:pPr>
            <a:r>
              <a:rPr sz="5400" dirty="0">
                <a:solidFill>
                  <a:srgbClr val="000000"/>
                </a:solidFill>
                <a:latin typeface="Microsoft YaHei"/>
                <a:cs typeface="Microsoft YaHei"/>
              </a:rPr>
              <a:t>列表类型和操作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3706977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列表类型的概念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4743" y="2556325"/>
            <a:ext cx="7841310" cy="20865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9748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spc="36" dirty="0">
                <a:solidFill>
                  <a:srgbClr val="000000"/>
                </a:solidFill>
                <a:latin typeface="Microsoft YaHei"/>
                <a:cs typeface="Microsoft YaHei"/>
              </a:rPr>
              <a:t>列表（</a:t>
            </a:r>
            <a:r>
              <a:rPr sz="2400" spc="14" dirty="0">
                <a:solidFill>
                  <a:srgbClr val="000000"/>
                </a:solidFill>
                <a:latin typeface="Microsoft YaHei"/>
                <a:cs typeface="Microsoft YaHei"/>
              </a:rPr>
              <a:t>list</a:t>
            </a:r>
            <a:r>
              <a:rPr sz="2400" spc="38" dirty="0">
                <a:solidFill>
                  <a:srgbClr val="000000"/>
                </a:solidFill>
                <a:latin typeface="Microsoft YaHei"/>
                <a:cs typeface="Microsoft YaHei"/>
              </a:rPr>
              <a:t>）是包含</a:t>
            </a:r>
            <a:r>
              <a:rPr sz="2400" spc="44" dirty="0">
                <a:solidFill>
                  <a:srgbClr val="000000"/>
                </a:solidFill>
                <a:latin typeface="Microsoft YaHei"/>
                <a:cs typeface="Microsoft YaHei"/>
              </a:rPr>
              <a:t>0</a:t>
            </a:r>
            <a:r>
              <a:rPr sz="2400" spc="37" dirty="0">
                <a:solidFill>
                  <a:srgbClr val="000000"/>
                </a:solidFill>
                <a:latin typeface="Microsoft YaHei"/>
                <a:cs typeface="Microsoft YaHei"/>
              </a:rPr>
              <a:t>个或多个对象引用的有序序列，属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spc="20" dirty="0">
                <a:solidFill>
                  <a:srgbClr val="000000"/>
                </a:solidFill>
                <a:latin typeface="Microsoft YaHei"/>
                <a:cs typeface="Microsoft YaHei"/>
              </a:rPr>
              <a:t>于序列类型。</a:t>
            </a:r>
            <a:r>
              <a:rPr sz="2400" spc="20" dirty="0">
                <a:solidFill>
                  <a:srgbClr val="FF0000"/>
                </a:solidFill>
                <a:latin typeface="Microsoft YaHei"/>
                <a:cs typeface="Microsoft YaHei"/>
              </a:rPr>
              <a:t>与元组不同，列表的长度和内容都是可变的</a:t>
            </a:r>
          </a:p>
          <a:p>
            <a:pPr marL="0" marR="0">
              <a:lnSpc>
                <a:spcPts val="3170"/>
              </a:lnSpc>
              <a:spcBef>
                <a:spcPts val="1149"/>
              </a:spcBef>
              <a:spcAft>
                <a:spcPts val="0"/>
              </a:spcAft>
            </a:pPr>
            <a:r>
              <a:rPr sz="2400" spc="23" dirty="0">
                <a:solidFill>
                  <a:srgbClr val="000000"/>
                </a:solidFill>
                <a:latin typeface="Microsoft YaHei"/>
                <a:cs typeface="Microsoft YaHei"/>
              </a:rPr>
              <a:t>，可自由对列表中数据项进行增加、删除或替换。列表没</a:t>
            </a:r>
          </a:p>
          <a:p>
            <a:pPr marL="0" marR="0">
              <a:lnSpc>
                <a:spcPts val="3167"/>
              </a:lnSpc>
              <a:spcBef>
                <a:spcPts val="1103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有长度限制，元素类型可以不同，使用非常灵活。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3706977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列表类型的概念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31240" y="2340171"/>
            <a:ext cx="8229041" cy="26355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9748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spc="60" dirty="0">
                <a:solidFill>
                  <a:srgbClr val="000000"/>
                </a:solidFill>
                <a:latin typeface="Microsoft YaHei"/>
                <a:cs typeface="Microsoft YaHei"/>
              </a:rPr>
              <a:t>由于列表属于序列类型，所以列表也支持成员关系操作符</a:t>
            </a:r>
          </a:p>
          <a:p>
            <a:pPr marL="0" marR="0">
              <a:lnSpc>
                <a:spcPts val="3167"/>
              </a:lnSpc>
              <a:spcBef>
                <a:spcPts val="1105"/>
              </a:spcBef>
              <a:spcAft>
                <a:spcPts val="0"/>
              </a:spcAft>
            </a:pPr>
            <a:r>
              <a:rPr sz="2400" spc="83" dirty="0">
                <a:solidFill>
                  <a:srgbClr val="000000"/>
                </a:solidFill>
                <a:latin typeface="Microsoft YaHei"/>
                <a:cs typeface="Microsoft YaHei"/>
              </a:rPr>
              <a:t>（</a:t>
            </a:r>
            <a:r>
              <a:rPr sz="2400" spc="40" dirty="0">
                <a:solidFill>
                  <a:srgbClr val="000000"/>
                </a:solidFill>
                <a:latin typeface="Microsoft YaHei"/>
                <a:cs typeface="Microsoft YaHei"/>
              </a:rPr>
              <a:t>in</a:t>
            </a:r>
            <a:r>
              <a:rPr sz="2400" spc="83" dirty="0">
                <a:solidFill>
                  <a:srgbClr val="000000"/>
                </a:solidFill>
                <a:latin typeface="Microsoft YaHei"/>
                <a:cs typeface="Microsoft YaHei"/>
              </a:rPr>
              <a:t>）、长度计算函数（</a:t>
            </a:r>
            <a:r>
              <a:rPr sz="2400" spc="15" dirty="0">
                <a:solidFill>
                  <a:srgbClr val="000000"/>
                </a:solidFill>
                <a:latin typeface="Microsoft YaHei"/>
                <a:cs typeface="Microsoft YaHei"/>
              </a:rPr>
              <a:t>len()</a:t>
            </a:r>
            <a:r>
              <a:rPr sz="2400" spc="85" dirty="0">
                <a:solidFill>
                  <a:srgbClr val="000000"/>
                </a:solidFill>
                <a:latin typeface="Microsoft YaHei"/>
                <a:cs typeface="Microsoft YaHei"/>
              </a:rPr>
              <a:t>）、分片（</a:t>
            </a:r>
            <a:r>
              <a:rPr sz="2400" spc="43" dirty="0">
                <a:solidFill>
                  <a:srgbClr val="000000"/>
                </a:solidFill>
                <a:latin typeface="Microsoft YaHei"/>
                <a:cs typeface="Microsoft YaHei"/>
              </a:rPr>
              <a:t>[]</a:t>
            </a:r>
            <a:r>
              <a:rPr sz="2400" spc="79" dirty="0">
                <a:solidFill>
                  <a:srgbClr val="000000"/>
                </a:solidFill>
                <a:latin typeface="Microsoft YaHei"/>
                <a:cs typeface="Microsoft YaHei"/>
              </a:rPr>
              <a:t>）。列表可以同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spc="47" dirty="0">
                <a:solidFill>
                  <a:srgbClr val="000000"/>
                </a:solidFill>
                <a:latin typeface="Microsoft YaHei"/>
                <a:cs typeface="Microsoft YaHei"/>
              </a:rPr>
              <a:t>时使用正向递增序号和反向递减序号，可以采用标准的比较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spc="51" dirty="0">
                <a:solidFill>
                  <a:srgbClr val="000000"/>
                </a:solidFill>
                <a:latin typeface="Microsoft YaHei"/>
                <a:cs typeface="Microsoft YaHei"/>
              </a:rPr>
              <a:t>操作符（</a:t>
            </a:r>
            <a:r>
              <a:rPr sz="2400" spc="56" dirty="0">
                <a:solidFill>
                  <a:srgbClr val="000000"/>
                </a:solidFill>
                <a:latin typeface="Microsoft YaHei"/>
                <a:cs typeface="Microsoft YaHei"/>
              </a:rPr>
              <a:t>&lt;</a:t>
            </a:r>
            <a:r>
              <a:rPr sz="2400" spc="47" dirty="0">
                <a:solidFill>
                  <a:srgbClr val="000000"/>
                </a:solidFill>
                <a:latin typeface="Microsoft YaHei"/>
                <a:cs typeface="Microsoft YaHei"/>
              </a:rPr>
              <a:t>、</a:t>
            </a:r>
            <a:r>
              <a:rPr sz="2400" spc="20" dirty="0">
                <a:solidFill>
                  <a:srgbClr val="000000"/>
                </a:solidFill>
                <a:latin typeface="Microsoft YaHei"/>
                <a:cs typeface="Microsoft YaHei"/>
              </a:rPr>
              <a:t>&lt;=</a:t>
            </a:r>
            <a:r>
              <a:rPr sz="2400" spc="50" dirty="0">
                <a:solidFill>
                  <a:srgbClr val="000000"/>
                </a:solidFill>
                <a:latin typeface="Microsoft YaHei"/>
                <a:cs typeface="Microsoft YaHei"/>
              </a:rPr>
              <a:t>、</a:t>
            </a:r>
            <a:r>
              <a:rPr sz="2400" spc="25" dirty="0">
                <a:solidFill>
                  <a:srgbClr val="000000"/>
                </a:solidFill>
                <a:latin typeface="Microsoft YaHei"/>
                <a:cs typeface="Microsoft YaHei"/>
              </a:rPr>
              <a:t>==</a:t>
            </a:r>
            <a:r>
              <a:rPr sz="2400" spc="47" dirty="0">
                <a:solidFill>
                  <a:srgbClr val="000000"/>
                </a:solidFill>
                <a:latin typeface="Microsoft YaHei"/>
                <a:cs typeface="Microsoft YaHei"/>
              </a:rPr>
              <a:t>、</a:t>
            </a:r>
            <a:r>
              <a:rPr sz="2400" spc="25" dirty="0">
                <a:solidFill>
                  <a:srgbClr val="000000"/>
                </a:solidFill>
                <a:latin typeface="Microsoft YaHei"/>
                <a:cs typeface="Microsoft YaHei"/>
              </a:rPr>
              <a:t>!=</a:t>
            </a:r>
            <a:r>
              <a:rPr sz="2400" spc="47" dirty="0">
                <a:solidFill>
                  <a:srgbClr val="000000"/>
                </a:solidFill>
                <a:latin typeface="Microsoft YaHei"/>
                <a:cs typeface="Microsoft YaHei"/>
              </a:rPr>
              <a:t>、</a:t>
            </a:r>
            <a:r>
              <a:rPr sz="2400" spc="27" dirty="0">
                <a:solidFill>
                  <a:srgbClr val="000000"/>
                </a:solidFill>
                <a:latin typeface="Microsoft YaHei"/>
                <a:cs typeface="Microsoft YaHei"/>
              </a:rPr>
              <a:t>&gt;=</a:t>
            </a:r>
            <a:r>
              <a:rPr sz="2400" spc="47" dirty="0">
                <a:solidFill>
                  <a:srgbClr val="000000"/>
                </a:solidFill>
                <a:latin typeface="Microsoft YaHei"/>
                <a:cs typeface="Microsoft YaHei"/>
              </a:rPr>
              <a:t>、</a:t>
            </a:r>
            <a:r>
              <a:rPr sz="2400" spc="43" dirty="0">
                <a:solidFill>
                  <a:srgbClr val="000000"/>
                </a:solidFill>
                <a:latin typeface="Microsoft YaHei"/>
                <a:cs typeface="Microsoft YaHei"/>
              </a:rPr>
              <a:t>&gt;</a:t>
            </a:r>
            <a:r>
              <a:rPr sz="2400" spc="52" dirty="0">
                <a:solidFill>
                  <a:srgbClr val="000000"/>
                </a:solidFill>
                <a:latin typeface="Microsoft YaHei"/>
                <a:cs typeface="Microsoft YaHei"/>
              </a:rPr>
              <a:t>）进行比较，列表的比</a:t>
            </a:r>
          </a:p>
          <a:p>
            <a:pPr marL="0" marR="0">
              <a:lnSpc>
                <a:spcPts val="3167"/>
              </a:lnSpc>
              <a:spcBef>
                <a:spcPts val="1154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较实际上是单个数据项的逐个比较。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9814" y="9681"/>
            <a:ext cx="3706977" cy="13115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 err="1">
                <a:solidFill>
                  <a:srgbClr val="262626"/>
                </a:solidFill>
                <a:latin typeface="Microsoft YaHei"/>
                <a:cs typeface="Microsoft YaHei"/>
              </a:rPr>
              <a:t>列表类型的</a:t>
            </a:r>
            <a:endParaRPr lang="en-US" sz="4000" dirty="0">
              <a:solidFill>
                <a:srgbClr val="262626"/>
              </a:solidFill>
              <a:latin typeface="Microsoft YaHei"/>
              <a:cs typeface="Microsoft YaHei"/>
            </a:endParaRPr>
          </a:p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 err="1">
                <a:solidFill>
                  <a:srgbClr val="262626"/>
                </a:solidFill>
                <a:latin typeface="Microsoft YaHei"/>
                <a:cs typeface="Microsoft YaHei"/>
              </a:rPr>
              <a:t>概念</a:t>
            </a:r>
            <a:endParaRPr sz="4000" dirty="0">
              <a:solidFill>
                <a:srgbClr val="262626"/>
              </a:solidFill>
              <a:latin typeface="Microsoft YaHei"/>
              <a:cs typeface="Microsoft YaHe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1240" y="2007930"/>
            <a:ext cx="8177477" cy="9890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9748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spc="75" dirty="0">
                <a:solidFill>
                  <a:srgbClr val="000000"/>
                </a:solidFill>
                <a:latin typeface="Microsoft YaHei"/>
                <a:cs typeface="Microsoft YaHei"/>
              </a:rPr>
              <a:t>列表用中括号（</a:t>
            </a:r>
            <a:r>
              <a:rPr sz="2400" spc="43" dirty="0">
                <a:solidFill>
                  <a:srgbClr val="000000"/>
                </a:solidFill>
                <a:latin typeface="Microsoft YaHei"/>
                <a:cs typeface="Microsoft YaHei"/>
              </a:rPr>
              <a:t>[]</a:t>
            </a:r>
            <a:r>
              <a:rPr sz="2400" spc="77" dirty="0">
                <a:solidFill>
                  <a:srgbClr val="000000"/>
                </a:solidFill>
                <a:latin typeface="Microsoft YaHei"/>
                <a:cs typeface="Microsoft YaHei"/>
              </a:rPr>
              <a:t>）表示，也可以通过</a:t>
            </a:r>
            <a:r>
              <a:rPr sz="2400" spc="15" dirty="0">
                <a:solidFill>
                  <a:srgbClr val="000000"/>
                </a:solidFill>
                <a:latin typeface="Microsoft YaHei"/>
                <a:cs typeface="Microsoft YaHei"/>
              </a:rPr>
              <a:t>list()</a:t>
            </a:r>
            <a:r>
              <a:rPr sz="2400" spc="72" dirty="0">
                <a:solidFill>
                  <a:srgbClr val="000000"/>
                </a:solidFill>
                <a:latin typeface="Microsoft YaHei"/>
                <a:cs typeface="Microsoft YaHei"/>
              </a:rPr>
              <a:t>函数将元组或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字符串转化成列表。直接使用list()函数会返回一个空列表。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29081" y="3015633"/>
            <a:ext cx="4089874" cy="5601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&gt;&gt;&gt;ls =</a:t>
            </a:r>
            <a:r>
              <a:rPr sz="1400" b="1" spc="-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[425, "BIT",</a:t>
            </a:r>
            <a:r>
              <a:rPr sz="1400" b="1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[10, "CS"], 425]</a:t>
            </a:r>
          </a:p>
          <a:p>
            <a:pPr marL="0" marR="0">
              <a:lnSpc>
                <a:spcPts val="1590"/>
              </a:lnSpc>
              <a:spcBef>
                <a:spcPts val="929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&gt;&gt;&gt;ls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29081" y="3668940"/>
            <a:ext cx="3694551" cy="5930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7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[425, 'BIT', [10, 'CS'],</a:t>
            </a:r>
            <a:r>
              <a:rPr sz="1600" spc="18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425]</a:t>
            </a:r>
          </a:p>
          <a:p>
            <a:pPr marL="0" marR="0">
              <a:lnSpc>
                <a:spcPts val="1590"/>
              </a:lnSpc>
              <a:spcBef>
                <a:spcPts val="97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&gt;&gt;&gt;ls[2][-1][0]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29081" y="4341894"/>
            <a:ext cx="473406" cy="240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'C'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29081" y="4661934"/>
            <a:ext cx="4196554" cy="240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&gt;&gt;&gt;list((425,</a:t>
            </a:r>
            <a:r>
              <a:rPr sz="1400" b="1" spc="-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"BIT",</a:t>
            </a:r>
            <a:r>
              <a:rPr sz="1400" b="1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[10, "CS"], 425))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29081" y="4995201"/>
            <a:ext cx="3694551" cy="267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7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[425, 'BIT', [10, 'CS'],</a:t>
            </a:r>
            <a:r>
              <a:rPr sz="1600" spc="18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425]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29081" y="5344207"/>
            <a:ext cx="3117564" cy="2452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3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&gt;&gt;&gt;list("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中国是一个伟大的国家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")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729081" y="5677361"/>
            <a:ext cx="7073766" cy="2731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7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['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中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',</a:t>
            </a:r>
            <a:r>
              <a:rPr sz="1600" spc="14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国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',</a:t>
            </a:r>
            <a:r>
              <a:rPr sz="1600" spc="23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是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',</a:t>
            </a:r>
            <a:r>
              <a:rPr sz="1600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一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',</a:t>
            </a:r>
            <a:r>
              <a:rPr sz="1600" spc="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个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',</a:t>
            </a:r>
            <a:r>
              <a:rPr sz="1600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伟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',</a:t>
            </a:r>
            <a:r>
              <a:rPr sz="1600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大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',</a:t>
            </a:r>
            <a:r>
              <a:rPr sz="1600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的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',</a:t>
            </a:r>
            <a:r>
              <a:rPr sz="1600" spc="23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国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',</a:t>
            </a:r>
            <a:r>
              <a:rPr sz="1600" spc="14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家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']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729081" y="6033813"/>
            <a:ext cx="1115419" cy="240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&gt;&gt;&gt;list()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729081" y="6367081"/>
            <a:ext cx="395955" cy="267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7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[]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E0E5396F-7FCF-4DEA-BFE4-3FE49EF337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1643" y="-4291"/>
            <a:ext cx="5867400" cy="192405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3706977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列表类型的概念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86740" y="1597094"/>
            <a:ext cx="8009890" cy="15380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9748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spc="93" dirty="0">
                <a:solidFill>
                  <a:srgbClr val="000000"/>
                </a:solidFill>
                <a:latin typeface="Microsoft YaHei"/>
                <a:cs typeface="Microsoft YaHei"/>
              </a:rPr>
              <a:t>与整数和字符串不同，列表要处理一组数据，因此，列</a:t>
            </a:r>
          </a:p>
          <a:p>
            <a:pPr marL="0" marR="0">
              <a:lnSpc>
                <a:spcPts val="3167"/>
              </a:lnSpc>
              <a:spcBef>
                <a:spcPts val="1105"/>
              </a:spcBef>
              <a:spcAft>
                <a:spcPts val="0"/>
              </a:spcAft>
            </a:pPr>
            <a:r>
              <a:rPr sz="2400" spc="75" dirty="0">
                <a:solidFill>
                  <a:srgbClr val="000000"/>
                </a:solidFill>
                <a:latin typeface="Microsoft YaHei"/>
                <a:cs typeface="Microsoft YaHei"/>
              </a:rPr>
              <a:t>表必须通过</a:t>
            </a:r>
            <a:r>
              <a:rPr sz="2400" spc="75" dirty="0">
                <a:solidFill>
                  <a:srgbClr val="FF0000"/>
                </a:solidFill>
                <a:latin typeface="Microsoft YaHei"/>
                <a:cs typeface="Microsoft YaHei"/>
              </a:rPr>
              <a:t>显式的数据赋值</a:t>
            </a:r>
            <a:r>
              <a:rPr sz="2400" spc="75" dirty="0">
                <a:solidFill>
                  <a:srgbClr val="000000"/>
                </a:solidFill>
                <a:latin typeface="Microsoft YaHei"/>
                <a:cs typeface="Microsoft YaHei"/>
              </a:rPr>
              <a:t>才能生成，简单将一个列表赋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值给另一个列表不会生成新的列表对象。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63880" y="3601394"/>
            <a:ext cx="5779611" cy="2731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7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&gt;&gt;&gt;ls</a:t>
            </a:r>
            <a:r>
              <a:rPr sz="1600" b="1" spc="14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=</a:t>
            </a:r>
            <a:r>
              <a:rPr sz="16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[425,</a:t>
            </a:r>
            <a:r>
              <a:rPr sz="16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"BIT",</a:t>
            </a:r>
            <a:r>
              <a:rPr sz="1600" b="1" spc="15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1024]</a:t>
            </a:r>
            <a:r>
              <a:rPr sz="1600" b="1" spc="984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#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用数据赋值产生列表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ls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63880" y="3972597"/>
            <a:ext cx="1617115" cy="9979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7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&gt;&gt;&gt;lt</a:t>
            </a:r>
            <a:r>
              <a:rPr sz="1600" b="1" spc="14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=</a:t>
            </a:r>
            <a:r>
              <a:rPr sz="16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ls</a:t>
            </a:r>
          </a:p>
          <a:p>
            <a:pPr marL="0" marR="0">
              <a:lnSpc>
                <a:spcPts val="1810"/>
              </a:lnSpc>
              <a:spcBef>
                <a:spcPts val="1058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&gt;&gt;&gt;ls[0] = 0</a:t>
            </a:r>
          </a:p>
          <a:p>
            <a:pPr marL="0" marR="0">
              <a:lnSpc>
                <a:spcPts val="1807"/>
              </a:lnSpc>
              <a:spcBef>
                <a:spcPts val="1073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&gt;&gt;&gt;lt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642870" y="3967154"/>
            <a:ext cx="4684359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7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FF0000"/>
                </a:solidFill>
                <a:latin typeface="Courier New"/>
                <a:cs typeface="Courier New"/>
              </a:rPr>
              <a:t>#lt</a:t>
            </a:r>
            <a:r>
              <a:rPr sz="1600" dirty="0">
                <a:solidFill>
                  <a:srgbClr val="FF0000"/>
                </a:solidFill>
                <a:latin typeface="SimSun"/>
                <a:cs typeface="SimSun"/>
              </a:rPr>
              <a:t>是</a:t>
            </a:r>
            <a:r>
              <a:rPr sz="1600" b="1" dirty="0">
                <a:solidFill>
                  <a:srgbClr val="FF0000"/>
                </a:solidFill>
                <a:latin typeface="Courier New"/>
                <a:cs typeface="Courier New"/>
              </a:rPr>
              <a:t>ls</a:t>
            </a:r>
            <a:r>
              <a:rPr sz="1600" dirty="0">
                <a:solidFill>
                  <a:srgbClr val="FF0000"/>
                </a:solidFill>
                <a:latin typeface="SimSun"/>
                <a:cs typeface="SimSun"/>
              </a:rPr>
              <a:t>所对应数据的引用，</a:t>
            </a:r>
            <a:r>
              <a:rPr sz="1600" b="1" dirty="0">
                <a:solidFill>
                  <a:srgbClr val="FF0000"/>
                </a:solidFill>
                <a:latin typeface="Courier New"/>
                <a:cs typeface="Courier New"/>
              </a:rPr>
              <a:t>lt</a:t>
            </a:r>
            <a:r>
              <a:rPr sz="1600" spc="11" dirty="0">
                <a:solidFill>
                  <a:srgbClr val="FF0000"/>
                </a:solidFill>
                <a:latin typeface="SimSun"/>
                <a:cs typeface="SimSun"/>
              </a:rPr>
              <a:t>并不包含真实数据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63880" y="5082090"/>
            <a:ext cx="2338092" cy="297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39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Courier New"/>
                <a:cs typeface="Courier New"/>
              </a:rPr>
              <a:t>[0,</a:t>
            </a:r>
            <a:r>
              <a:rPr sz="1800" spc="-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00000"/>
                </a:solidFill>
                <a:latin typeface="Courier New"/>
                <a:cs typeface="Courier New"/>
              </a:rPr>
              <a:t>'BIT',</a:t>
            </a:r>
            <a:r>
              <a:rPr sz="1800" spc="-18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00000"/>
                </a:solidFill>
                <a:latin typeface="Courier New"/>
                <a:cs typeface="Courier New"/>
              </a:rPr>
              <a:t>1024]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3706977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列表类型的概念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63B58FF-B23D-479A-A1B5-9FFC9B4729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52" y="1628799"/>
            <a:ext cx="3168352" cy="155335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3706977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列表类型的操作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779777" y="2064480"/>
            <a:ext cx="914400" cy="190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函数或方法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713221" y="2064480"/>
            <a:ext cx="457504" cy="190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描述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851405" y="2342853"/>
            <a:ext cx="768527" cy="489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532" marR="0">
              <a:lnSpc>
                <a:spcPts val="1328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ls[i]</a:t>
            </a:r>
            <a:r>
              <a:rPr sz="1200" spc="-1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= x</a:t>
            </a:r>
          </a:p>
          <a:p>
            <a:pPr marL="0" marR="0">
              <a:lnSpc>
                <a:spcPts val="1328"/>
              </a:lnSpc>
              <a:spcBef>
                <a:spcPts val="95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ls[i:</a:t>
            </a:r>
            <a:r>
              <a:rPr sz="12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j] = lt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489325" y="2342853"/>
            <a:ext cx="1744979" cy="2068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28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替换列表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ls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第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i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数据项为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489325" y="2625936"/>
            <a:ext cx="3821048" cy="13402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28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用列表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lt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替换列表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ls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中第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i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到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j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项数据（不含第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j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项，下同）</a:t>
            </a:r>
          </a:p>
          <a:p>
            <a:pPr marL="0" marR="0">
              <a:lnSpc>
                <a:spcPts val="1328"/>
              </a:lnSpc>
              <a:spcBef>
                <a:spcPts val="953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用列表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lt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替换列表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ls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中第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i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到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j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以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k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为步的数据</a:t>
            </a:r>
          </a:p>
          <a:p>
            <a:pPr marL="0" marR="0">
              <a:lnSpc>
                <a:spcPts val="1328"/>
              </a:lnSpc>
              <a:spcBef>
                <a:spcPts val="901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删除列表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ls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第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i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到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j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项数据，等价于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ls[i:</a:t>
            </a:r>
            <a:r>
              <a:rPr sz="12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j]=[]</a:t>
            </a:r>
          </a:p>
          <a:p>
            <a:pPr marL="0" marR="0">
              <a:lnSpc>
                <a:spcPts val="1328"/>
              </a:lnSpc>
              <a:spcBef>
                <a:spcPts val="901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删除列表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ls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第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i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到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j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以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k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为步的数据</a:t>
            </a:r>
          </a:p>
          <a:p>
            <a:pPr marL="0" marR="0">
              <a:lnSpc>
                <a:spcPts val="1328"/>
              </a:lnSpc>
              <a:spcBef>
                <a:spcPts val="953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将列表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lt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元素增加到列表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ls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中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773682" y="2909400"/>
            <a:ext cx="925347" cy="4900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28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ls[i:</a:t>
            </a:r>
            <a:r>
              <a:rPr sz="12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j: k] = lt</a:t>
            </a:r>
          </a:p>
          <a:p>
            <a:pPr marL="88391" marR="0">
              <a:lnSpc>
                <a:spcPts val="1328"/>
              </a:lnSpc>
              <a:spcBef>
                <a:spcPts val="951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del</a:t>
            </a:r>
            <a:r>
              <a:rPr sz="1200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ls[i:</a:t>
            </a:r>
            <a:r>
              <a:rPr sz="12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j]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500886" y="3475820"/>
            <a:ext cx="1472337" cy="7734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3463" marR="0">
              <a:lnSpc>
                <a:spcPts val="1328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del</a:t>
            </a:r>
            <a:r>
              <a:rPr sz="1200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ls[i:</a:t>
            </a:r>
            <a:r>
              <a:rPr sz="12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j: k]</a:t>
            </a:r>
          </a:p>
          <a:p>
            <a:pPr marL="0" marR="0">
              <a:lnSpc>
                <a:spcPts val="1328"/>
              </a:lnSpc>
              <a:spcBef>
                <a:spcPts val="953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ls += lt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或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ls.extend(lt)</a:t>
            </a:r>
          </a:p>
          <a:p>
            <a:pPr marL="451103" marR="0">
              <a:lnSpc>
                <a:spcPts val="1328"/>
              </a:lnSpc>
              <a:spcBef>
                <a:spcPts val="90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ls *= n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3489325" y="4042367"/>
            <a:ext cx="2007489" cy="2068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28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更新列表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ls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，其元素重复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n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次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781301" y="4325577"/>
            <a:ext cx="910133" cy="490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28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ls.append(x)</a:t>
            </a:r>
          </a:p>
          <a:p>
            <a:pPr marL="111252" marR="0">
              <a:lnSpc>
                <a:spcPts val="1328"/>
              </a:lnSpc>
              <a:spcBef>
                <a:spcPts val="953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ls.clear()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3489325" y="4325577"/>
            <a:ext cx="2007489" cy="2068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28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在列表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ls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最后增加一个元素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3489325" y="4609041"/>
            <a:ext cx="1321308" cy="2068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28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删除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ls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中所有元素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894077" y="4892124"/>
            <a:ext cx="689892" cy="2068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28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ls.copy()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3489325" y="4892124"/>
            <a:ext cx="2540889" cy="4901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28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生成一个新列表，复制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ls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中所有元素</a:t>
            </a:r>
          </a:p>
          <a:p>
            <a:pPr marL="0" marR="0">
              <a:lnSpc>
                <a:spcPts val="1331"/>
              </a:lnSpc>
              <a:spcBef>
                <a:spcPts val="948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在列表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ls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第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i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位置增加元素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772157" y="5175062"/>
            <a:ext cx="929821" cy="4906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31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ls.insert(i,</a:t>
            </a:r>
            <a:r>
              <a:rPr sz="1200" spc="10" dirty="0">
                <a:solidFill>
                  <a:srgbClr val="000000"/>
                </a:solidFill>
                <a:latin typeface="Times New Roman"/>
                <a:cs typeface="Times New Roman"/>
              </a:rPr>
              <a:t> x)</a:t>
            </a:r>
          </a:p>
          <a:p>
            <a:pPr marL="132588" marR="0">
              <a:lnSpc>
                <a:spcPts val="1328"/>
              </a:lnSpc>
              <a:spcBef>
                <a:spcPts val="952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ls.pop(i)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3489325" y="5458798"/>
            <a:ext cx="2735579" cy="7734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28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将列表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ls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中第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i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项元素取出并删除该元素</a:t>
            </a:r>
          </a:p>
          <a:p>
            <a:pPr marL="0" marR="0">
              <a:lnSpc>
                <a:spcPts val="1328"/>
              </a:lnSpc>
              <a:spcBef>
                <a:spcPts val="95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将列表中出现的第一个元素</a:t>
            </a:r>
            <a:r>
              <a:rPr sz="1200" spc="11" dirty="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删除</a:t>
            </a:r>
          </a:p>
          <a:p>
            <a:pPr marL="0" marR="0">
              <a:lnSpc>
                <a:spcPts val="1328"/>
              </a:lnSpc>
              <a:spcBef>
                <a:spcPts val="903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列表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ls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中元素反转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1773682" y="5741957"/>
            <a:ext cx="926898" cy="4903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28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ls.remove(x)</a:t>
            </a:r>
          </a:p>
          <a:p>
            <a:pPr marL="9144" marR="0">
              <a:lnSpc>
                <a:spcPts val="1328"/>
              </a:lnSpc>
              <a:spcBef>
                <a:spcPts val="953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ls.reverse(x)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3706977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列表类型的操作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4133" y="1896909"/>
            <a:ext cx="3206490" cy="6334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7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&gt;&gt;&gt;vlist = list(range(5))</a:t>
            </a:r>
          </a:p>
          <a:p>
            <a:pPr marL="0" marR="0">
              <a:lnSpc>
                <a:spcPts val="1807"/>
              </a:lnSpc>
              <a:spcBef>
                <a:spcPts val="1072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&gt;&gt;&gt;vlist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64133" y="2641913"/>
            <a:ext cx="2200957" cy="297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39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Courier New"/>
                <a:cs typeface="Courier New"/>
              </a:rPr>
              <a:t>[0,</a:t>
            </a:r>
            <a:r>
              <a:rPr sz="1800" spc="-11" dirty="0">
                <a:solidFill>
                  <a:srgbClr val="000000"/>
                </a:solidFill>
                <a:latin typeface="Courier New"/>
                <a:cs typeface="Courier New"/>
              </a:rPr>
              <a:t> 1,</a:t>
            </a:r>
            <a:r>
              <a:rPr sz="1800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800" spc="-11" dirty="0">
                <a:solidFill>
                  <a:srgbClr val="000000"/>
                </a:solidFill>
                <a:latin typeface="Courier New"/>
                <a:cs typeface="Courier New"/>
              </a:rPr>
              <a:t>2,</a:t>
            </a:r>
            <a:r>
              <a:rPr sz="18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000000"/>
                </a:solidFill>
                <a:latin typeface="Courier New"/>
                <a:cs typeface="Courier New"/>
              </a:rPr>
              <a:t>3,</a:t>
            </a:r>
            <a:r>
              <a:rPr sz="1800" spc="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800" spc="-11" dirty="0">
                <a:solidFill>
                  <a:srgbClr val="000000"/>
                </a:solidFill>
                <a:latin typeface="Courier New"/>
                <a:cs typeface="Courier New"/>
              </a:rPr>
              <a:t>4]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64133" y="3038132"/>
            <a:ext cx="2015884" cy="2680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&gt;&gt;&gt;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len(vlist[2:])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257677" y="3053897"/>
            <a:ext cx="3397639" cy="2448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#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计算从第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3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个位置开始到结尾的子串长度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64133" y="3405923"/>
            <a:ext cx="274034" cy="267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7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3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64133" y="3770159"/>
            <a:ext cx="1585307" cy="267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7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&gt;&gt;&gt;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2 in vlist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3364357" y="3785671"/>
            <a:ext cx="2327879" cy="2448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#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判断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2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是否在列表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vlist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中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764133" y="4124216"/>
            <a:ext cx="580408" cy="240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True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764133" y="4455959"/>
            <a:ext cx="4821072" cy="267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7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&gt;&gt;&gt;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vlist[3]="python"</a:t>
            </a:r>
            <a:r>
              <a:rPr sz="1400" b="1" spc="1634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#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修改序号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3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的元素值和类型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764133" y="4822100"/>
            <a:ext cx="1052316" cy="267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7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&gt;&gt;&gt;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vlist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764133" y="5176157"/>
            <a:ext cx="3711931" cy="5994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[0, 1,</a:t>
            </a:r>
            <a:r>
              <a:rPr sz="1400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2, 'python', </a:t>
            </a:r>
            <a:r>
              <a:rPr sz="1400" spc="-11" dirty="0">
                <a:solidFill>
                  <a:srgbClr val="000000"/>
                </a:solidFill>
                <a:latin typeface="Courier New"/>
                <a:cs typeface="Courier New"/>
              </a:rPr>
              <a:t>4]</a:t>
            </a:r>
          </a:p>
          <a:p>
            <a:pPr marL="0" marR="0">
              <a:lnSpc>
                <a:spcPts val="1807"/>
              </a:lnSpc>
              <a:spcBef>
                <a:spcPts val="1021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&gt;&gt;&gt;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vlist[1:3]=["bit",</a:t>
            </a:r>
            <a:r>
              <a:rPr sz="1400" b="1" spc="-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"computer"]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764133" y="5873610"/>
            <a:ext cx="1052316" cy="267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7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&gt;&gt;&gt;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vlist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764133" y="6227971"/>
            <a:ext cx="4599955" cy="207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[0, 'bit',</a:t>
            </a:r>
            <a:r>
              <a:rPr sz="1400" spc="-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'computer’, </a:t>
            </a:r>
            <a:r>
              <a:rPr lang="en-US" sz="1400" dirty="0">
                <a:solidFill>
                  <a:srgbClr val="000000"/>
                </a:solidFill>
                <a:latin typeface="Courier New"/>
                <a:cs typeface="Courier New"/>
              </a:rPr>
              <a:t>‘python’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,</a:t>
            </a:r>
            <a:r>
              <a:rPr sz="1400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4]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D91BB6DA-42F7-44F3-A489-9E4074BC68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9512" y="3984104"/>
            <a:ext cx="1704975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3706977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列表类型的操作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42467" y="1935422"/>
            <a:ext cx="8017178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spc="46" dirty="0">
                <a:solidFill>
                  <a:srgbClr val="000000"/>
                </a:solidFill>
                <a:latin typeface="Microsoft YaHei"/>
                <a:cs typeface="Microsoft YaHei"/>
              </a:rPr>
              <a:t>当使用一个列表改变另一个列表值时，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Python</a:t>
            </a:r>
            <a:r>
              <a:rPr sz="2400" spc="44" dirty="0">
                <a:solidFill>
                  <a:srgbClr val="000000"/>
                </a:solidFill>
                <a:latin typeface="Microsoft YaHei"/>
                <a:cs typeface="Microsoft YaHei"/>
              </a:rPr>
              <a:t>不要求两个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37667" y="2484062"/>
            <a:ext cx="7773593" cy="3810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 err="1">
                <a:solidFill>
                  <a:srgbClr val="000000"/>
                </a:solidFill>
                <a:latin typeface="Microsoft YaHei"/>
                <a:cs typeface="Microsoft YaHei"/>
              </a:rPr>
              <a:t>列表长度一样，</a:t>
            </a:r>
            <a:r>
              <a:rPr sz="2400" dirty="0" err="1">
                <a:solidFill>
                  <a:srgbClr val="FF0000"/>
                </a:solidFill>
                <a:latin typeface="Microsoft YaHei"/>
                <a:cs typeface="Microsoft YaHei"/>
              </a:rPr>
              <a:t>但遵循“多增少减”的原则</a:t>
            </a:r>
            <a:r>
              <a:rPr sz="2400" dirty="0" err="1">
                <a:solidFill>
                  <a:srgbClr val="000000"/>
                </a:solidFill>
                <a:latin typeface="Microsoft YaHei"/>
                <a:cs typeface="Microsoft YaHei"/>
              </a:rPr>
              <a:t>，例子如下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。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184757" y="3603789"/>
            <a:ext cx="5094444" cy="267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7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&gt;&gt;&gt;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vlist[1:3]=["new_bit", "new_computer", 123]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184757" y="3971073"/>
            <a:ext cx="1128713" cy="267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7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&gt;&gt;&gt;vlist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184757" y="4323606"/>
            <a:ext cx="5260560" cy="6012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[0, 'new_bit',</a:t>
            </a:r>
            <a:r>
              <a:rPr sz="1400" spc="-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'new_computer', 123,</a:t>
            </a:r>
            <a:r>
              <a:rPr sz="1400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'python', 4]</a:t>
            </a:r>
          </a:p>
          <a:p>
            <a:pPr marL="0" marR="0">
              <a:lnSpc>
                <a:spcPts val="1807"/>
              </a:lnSpc>
              <a:spcBef>
                <a:spcPts val="1035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&gt;&gt;&gt;vlist[1:3]=["fewer"]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184757" y="5022887"/>
            <a:ext cx="1128713" cy="267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7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&gt;&gt;&gt;vlist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184757" y="5375420"/>
            <a:ext cx="3344638" cy="240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[0, 'fewer', 123, 'python',</a:t>
            </a:r>
            <a:r>
              <a:rPr sz="1400" spc="-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4]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5733" y="4604570"/>
            <a:ext cx="3345527" cy="2297938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3706977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列表类型的操作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88315" y="2484697"/>
            <a:ext cx="8246388" cy="9892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28192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spc="61" dirty="0">
                <a:solidFill>
                  <a:srgbClr val="000000"/>
                </a:solidFill>
                <a:latin typeface="Microsoft YaHei"/>
                <a:cs typeface="Microsoft YaHei"/>
              </a:rPr>
              <a:t>与元组一样，列表可以通过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for…</a:t>
            </a:r>
            <a:r>
              <a:rPr sz="2400" spc="27" dirty="0">
                <a:solidFill>
                  <a:srgbClr val="000000"/>
                </a:solidFill>
                <a:latin typeface="Microsoft YaHei"/>
                <a:cs typeface="Microsoft YaHei"/>
              </a:rPr>
              <a:t>in</a:t>
            </a:r>
            <a:r>
              <a:rPr sz="2400" spc="58" dirty="0">
                <a:solidFill>
                  <a:srgbClr val="000000"/>
                </a:solidFill>
                <a:latin typeface="Microsoft YaHei"/>
                <a:cs typeface="Microsoft YaHei"/>
              </a:rPr>
              <a:t>语句对其元素进行遍</a:t>
            </a:r>
          </a:p>
          <a:p>
            <a:pPr marL="0" marR="0">
              <a:lnSpc>
                <a:spcPts val="3167"/>
              </a:lnSpc>
              <a:spcBef>
                <a:spcPts val="1104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历，基本语法结构如下：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026920" y="3582231"/>
            <a:ext cx="5301581" cy="9891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for</a:t>
            </a:r>
            <a:r>
              <a:rPr sz="2400" spc="4715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&lt;任意变量名&gt;</a:t>
            </a:r>
            <a:r>
              <a:rPr sz="2400" spc="713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in</a:t>
            </a:r>
            <a:r>
              <a:rPr sz="2400" spc="705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&lt;列表名&gt;:</a:t>
            </a:r>
          </a:p>
          <a:p>
            <a:pPr marL="1176781" marR="0">
              <a:lnSpc>
                <a:spcPts val="3170"/>
              </a:lnSpc>
              <a:spcBef>
                <a:spcPts val="1149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语句块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3706977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列表类型的操作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545336" y="2210620"/>
            <a:ext cx="2522189" cy="297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39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000000"/>
                </a:solidFill>
                <a:latin typeface="Courier New"/>
                <a:cs typeface="Courier New"/>
              </a:rPr>
              <a:t>&gt;&gt;&gt;for e</a:t>
            </a:r>
            <a:r>
              <a:rPr sz="1800" b="1" spc="-11" dirty="0">
                <a:solidFill>
                  <a:srgbClr val="000000"/>
                </a:solidFill>
                <a:latin typeface="Courier New"/>
                <a:cs typeface="Courier New"/>
              </a:rPr>
              <a:t> in</a:t>
            </a:r>
            <a:r>
              <a:rPr sz="1800" b="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vlist: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644139" y="2625149"/>
            <a:ext cx="2289324" cy="297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39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print(e, end=</a:t>
            </a:r>
            <a:r>
              <a:rPr sz="1800" b="1" dirty="0">
                <a:solidFill>
                  <a:srgbClr val="000000"/>
                </a:solidFill>
                <a:latin typeface="Courier New"/>
                <a:cs typeface="Courier New"/>
              </a:rPr>
              <a:t>" ")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545336" y="3023145"/>
            <a:ext cx="2595340" cy="267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7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0 fewer</a:t>
            </a:r>
            <a:r>
              <a:rPr sz="1600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123</a:t>
            </a:r>
            <a:r>
              <a:rPr sz="1600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python</a:t>
            </a:r>
            <a:r>
              <a:rPr sz="1600" spc="14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4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53465" y="4069403"/>
            <a:ext cx="7961934" cy="20866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6727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spc="93" dirty="0">
                <a:solidFill>
                  <a:srgbClr val="000000"/>
                </a:solidFill>
                <a:latin typeface="Microsoft YaHei"/>
                <a:cs typeface="Microsoft YaHei"/>
              </a:rPr>
              <a:t>列表是一个十分灵活的数据结构，它具有处理任意长</a:t>
            </a:r>
          </a:p>
          <a:p>
            <a:pPr marL="0" marR="0">
              <a:lnSpc>
                <a:spcPts val="3167"/>
              </a:lnSpc>
              <a:spcBef>
                <a:spcPts val="1104"/>
              </a:spcBef>
              <a:spcAft>
                <a:spcPts val="0"/>
              </a:spcAft>
            </a:pPr>
            <a:r>
              <a:rPr sz="2400" spc="61" dirty="0">
                <a:solidFill>
                  <a:srgbClr val="000000"/>
                </a:solidFill>
                <a:latin typeface="Microsoft YaHei"/>
                <a:cs typeface="Microsoft YaHei"/>
              </a:rPr>
              <a:t>度、混合类型的能力，并提供了丰富的基础操作符和方法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spc="62" dirty="0">
                <a:solidFill>
                  <a:srgbClr val="000000"/>
                </a:solidFill>
                <a:latin typeface="Microsoft YaHei"/>
                <a:cs typeface="Microsoft YaHei"/>
              </a:rPr>
              <a:t>。当程序需要使用组合数据类型管理批量数据时，请尽量</a:t>
            </a:r>
          </a:p>
          <a:p>
            <a:pPr marL="0" marR="0">
              <a:lnSpc>
                <a:spcPts val="3170"/>
              </a:lnSpc>
              <a:spcBef>
                <a:spcPts val="1149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使用列表类型。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011426" y="2788949"/>
            <a:ext cx="4954828" cy="943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127"/>
              </a:lnSpc>
              <a:spcBef>
                <a:spcPts val="0"/>
              </a:spcBef>
              <a:spcAft>
                <a:spcPts val="0"/>
              </a:spcAft>
            </a:pPr>
            <a:r>
              <a:rPr sz="5400" dirty="0">
                <a:solidFill>
                  <a:srgbClr val="000000"/>
                </a:solidFill>
                <a:latin typeface="Microsoft YaHei"/>
                <a:cs typeface="Microsoft YaHei"/>
              </a:rPr>
              <a:t>基本统计值计算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-169427" y="14493"/>
            <a:ext cx="9313427" cy="6857999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4214774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基本统计值的计算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86765" y="1905577"/>
            <a:ext cx="8232341" cy="9890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2628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以最简单的统计问题为例，求解一组不定长数据的基本统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计值，即平均值、标准差、中位数。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29309" y="3003111"/>
            <a:ext cx="7774838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一组数据表示为S=s</a:t>
            </a:r>
            <a:r>
              <a:rPr sz="2400" spc="235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, s</a:t>
            </a:r>
            <a:r>
              <a:rPr sz="2400" spc="232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, …, s</a:t>
            </a:r>
            <a:r>
              <a:rPr sz="2400" spc="1907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，其算术平均值、标准差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706114" y="3201068"/>
            <a:ext cx="696459" cy="3056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06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Microsoft YaHei"/>
                <a:cs typeface="Microsoft YaHei"/>
              </a:rPr>
              <a:t>0</a:t>
            </a:r>
            <a:r>
              <a:rPr sz="1600" spc="1936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1600" dirty="0">
                <a:solidFill>
                  <a:srgbClr val="000000"/>
                </a:solidFill>
                <a:latin typeface="Microsoft YaHei"/>
                <a:cs typeface="Microsoft YaHei"/>
              </a:rPr>
              <a:t>1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966715" y="3201068"/>
            <a:ext cx="484623" cy="3056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06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Microsoft YaHei"/>
                <a:cs typeface="Microsoft YaHei"/>
              </a:rPr>
              <a:t>n-1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86765" y="3551751"/>
            <a:ext cx="1981200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分别表示为：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092018" y="4690698"/>
            <a:ext cx="445585" cy="7820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509" marR="0">
              <a:lnSpc>
                <a:spcPts val="1499"/>
              </a:lnSpc>
              <a:spcBef>
                <a:spcPts val="0"/>
              </a:spcBef>
              <a:spcAft>
                <a:spcPts val="0"/>
              </a:spcAft>
            </a:pPr>
            <a:r>
              <a:rPr sz="1500" spc="-10" dirty="0">
                <a:solidFill>
                  <a:srgbClr val="000000"/>
                </a:solidFill>
                <a:latin typeface="SimSun"/>
                <a:cs typeface="SimSun"/>
              </a:rPr>
              <a:t>n-1</a:t>
            </a:r>
          </a:p>
          <a:p>
            <a:pPr marL="0" marR="0">
              <a:lnSpc>
                <a:spcPts val="3723"/>
              </a:lnSpc>
              <a:spcBef>
                <a:spcPts val="0"/>
              </a:spcBef>
              <a:spcAft>
                <a:spcPts val="0"/>
              </a:spcAft>
            </a:pPr>
            <a:r>
              <a:rPr sz="3850" dirty="0">
                <a:solidFill>
                  <a:srgbClr val="000000"/>
                </a:solidFill>
                <a:latin typeface="EDPDKQ+Symbol"/>
                <a:cs typeface="EDPDKQ+Symbol"/>
              </a:rPr>
              <a:t>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425778" y="4911325"/>
            <a:ext cx="2739948" cy="4376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45"/>
              </a:lnSpc>
              <a:spcBef>
                <a:spcPts val="0"/>
              </a:spcBef>
              <a:spcAft>
                <a:spcPts val="0"/>
              </a:spcAft>
            </a:pPr>
            <a:r>
              <a:rPr sz="2550" dirty="0">
                <a:solidFill>
                  <a:srgbClr val="000000"/>
                </a:solidFill>
                <a:latin typeface="SimSun"/>
                <a:cs typeface="SimSun"/>
              </a:rPr>
              <a:t>m</a:t>
            </a:r>
            <a:r>
              <a:rPr sz="2550" spc="4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550" dirty="0">
                <a:solidFill>
                  <a:srgbClr val="000000"/>
                </a:solidFill>
                <a:latin typeface="EDPDKQ+Symbol"/>
                <a:cs typeface="EDPDKQ+Symbol"/>
              </a:rPr>
              <a:t></a:t>
            </a:r>
            <a:r>
              <a:rPr sz="2550" spc="-24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550" dirty="0">
                <a:solidFill>
                  <a:srgbClr val="000000"/>
                </a:solidFill>
                <a:latin typeface="SimSun"/>
                <a:cs typeface="SimSun"/>
              </a:rPr>
              <a:t>(</a:t>
            </a:r>
            <a:r>
              <a:rPr sz="2550" spc="187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550" dirty="0">
                <a:solidFill>
                  <a:srgbClr val="000000"/>
                </a:solidFill>
                <a:latin typeface="SimSun"/>
                <a:cs typeface="SimSun"/>
              </a:rPr>
              <a:t>s</a:t>
            </a:r>
            <a:r>
              <a:rPr sz="2550" spc="10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550" spc="76" dirty="0">
                <a:solidFill>
                  <a:srgbClr val="000000"/>
                </a:solidFill>
                <a:latin typeface="SimSun"/>
                <a:cs typeface="SimSun"/>
              </a:rPr>
              <a:t>)/n</a:t>
            </a:r>
            <a:r>
              <a:rPr sz="2550" spc="32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SimSun"/>
                <a:cs typeface="SimSun"/>
              </a:rPr>
              <a:t>和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2567583" y="5170452"/>
            <a:ext cx="232492" cy="2285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99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000000"/>
                </a:solidFill>
                <a:latin typeface="SimSun"/>
                <a:cs typeface="SimSun"/>
              </a:rPr>
              <a:t>i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2083142" y="5409714"/>
            <a:ext cx="446455" cy="271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36"/>
              </a:lnSpc>
              <a:spcBef>
                <a:spcPts val="0"/>
              </a:spcBef>
              <a:spcAft>
                <a:spcPts val="0"/>
              </a:spcAft>
            </a:pPr>
            <a:r>
              <a:rPr sz="1500" spc="123" dirty="0">
                <a:solidFill>
                  <a:srgbClr val="000000"/>
                </a:solidFill>
                <a:latin typeface="SimSun"/>
                <a:cs typeface="SimSun"/>
              </a:rPr>
              <a:t>i</a:t>
            </a:r>
            <a:r>
              <a:rPr sz="1500" spc="-10" dirty="0">
                <a:solidFill>
                  <a:srgbClr val="000000"/>
                </a:solidFill>
                <a:latin typeface="EDPDKQ+Symbol"/>
                <a:cs typeface="EDPDKQ+Symbol"/>
              </a:rPr>
              <a:t></a:t>
            </a:r>
            <a:r>
              <a:rPr sz="1500" dirty="0">
                <a:solidFill>
                  <a:srgbClr val="000000"/>
                </a:solidFill>
                <a:latin typeface="SimSun"/>
                <a:cs typeface="SimSun"/>
              </a:rPr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/>
              <p:cNvSpPr txBox="1"/>
              <p:nvPr/>
            </p:nvSpPr>
            <p:spPr>
              <a:xfrm>
                <a:off x="4402573" y="4221088"/>
                <a:ext cx="3913843" cy="11699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nary>
                            <m:naryPr>
                              <m:chr m:val="∑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/(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−1)</m:t>
                              </m:r>
                            </m:e>
                          </m:nary>
                        </m:e>
                      </m:ra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4" name="文本框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2573" y="4221088"/>
                <a:ext cx="3913843" cy="116993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4214774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基本统计值的计算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8667" y="2268924"/>
            <a:ext cx="7961045" cy="20865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4963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spc="15" dirty="0">
                <a:solidFill>
                  <a:srgbClr val="000000"/>
                </a:solidFill>
                <a:latin typeface="Microsoft YaHei"/>
                <a:cs typeface="Microsoft YaHei"/>
              </a:rPr>
              <a:t>由于平均数、标准差和中位数是三个不同的计算目标，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使用函数方式编写计算程序。</a:t>
            </a:r>
          </a:p>
          <a:p>
            <a:pPr marL="451154" marR="0">
              <a:lnSpc>
                <a:spcPts val="3167"/>
              </a:lnSpc>
              <a:spcBef>
                <a:spcPts val="1104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getNum()函数从用户输入获得数据</a:t>
            </a:r>
          </a:p>
          <a:p>
            <a:pPr marL="451154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mean()函数计算平均值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369822" y="4463738"/>
            <a:ext cx="3017773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dev()函数计算标准差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369822" y="5012759"/>
            <a:ext cx="3580507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median()函数计算中位数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4214774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基本统计值的计算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438021" y="1785756"/>
            <a:ext cx="1089051" cy="2786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94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实例代码</a:t>
            </a:r>
            <a:r>
              <a:rPr sz="1400" dirty="0">
                <a:solidFill>
                  <a:srgbClr val="000000"/>
                </a:solidFill>
                <a:latin typeface="Palatino Linotype"/>
                <a:cs typeface="Palatino Linotype"/>
              </a:rPr>
              <a:t>9.1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133089" y="1785756"/>
            <a:ext cx="1671254" cy="2786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94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Palatino Linotype"/>
                <a:cs typeface="Palatino Linotype"/>
              </a:rPr>
              <a:t>e9.1CalStatistics.py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604772" y="2398391"/>
            <a:ext cx="243854" cy="210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7F7F7F"/>
                </a:solidFill>
                <a:latin typeface="Courier New"/>
                <a:cs typeface="Courier New"/>
              </a:rPr>
              <a:t>1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933320" y="2525519"/>
            <a:ext cx="2085227" cy="4637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#e9.1CalStatistics.py</a:t>
            </a:r>
          </a:p>
          <a:p>
            <a:pPr marL="0" marR="0">
              <a:lnSpc>
                <a:spcPts val="1359"/>
              </a:lnSpc>
              <a:spcBef>
                <a:spcPts val="632"/>
              </a:spcBef>
              <a:spcAft>
                <a:spcPts val="0"/>
              </a:spcAft>
            </a:pP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from math import</a:t>
            </a:r>
            <a:r>
              <a:rPr sz="1200" b="1" spc="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sqrt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604772" y="2651376"/>
            <a:ext cx="243854" cy="4652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7F7F7F"/>
                </a:solidFill>
                <a:latin typeface="Courier New"/>
                <a:cs typeface="Courier New"/>
              </a:rPr>
              <a:t>2</a:t>
            </a:r>
          </a:p>
          <a:p>
            <a:pPr marL="0" marR="0">
              <a:lnSpc>
                <a:spcPts val="1359"/>
              </a:lnSpc>
              <a:spcBef>
                <a:spcPts val="644"/>
              </a:spcBef>
              <a:spcAft>
                <a:spcPts val="0"/>
              </a:spcAft>
            </a:pPr>
            <a:r>
              <a:rPr sz="1200" dirty="0">
                <a:solidFill>
                  <a:srgbClr val="7F7F7F"/>
                </a:solidFill>
                <a:latin typeface="Courier New"/>
                <a:cs typeface="Courier New"/>
              </a:rPr>
              <a:t>3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933320" y="3033010"/>
            <a:ext cx="1347611" cy="4652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def</a:t>
            </a:r>
            <a:r>
              <a:rPr sz="1200" b="1" spc="27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getNum():</a:t>
            </a:r>
          </a:p>
          <a:p>
            <a:pPr marL="367664" marR="0">
              <a:lnSpc>
                <a:spcPts val="1359"/>
              </a:lnSpc>
              <a:spcBef>
                <a:spcPts val="644"/>
              </a:spcBef>
              <a:spcAft>
                <a:spcPts val="0"/>
              </a:spcAft>
            </a:pP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nums =</a:t>
            </a:r>
            <a:r>
              <a:rPr sz="12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[]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3774694" y="3028918"/>
            <a:ext cx="1163726" cy="2148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#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获取用户输入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604772" y="3160645"/>
            <a:ext cx="243854" cy="210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7F7F7F"/>
                </a:solidFill>
                <a:latin typeface="Courier New"/>
                <a:cs typeface="Courier New"/>
              </a:rPr>
              <a:t>4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604772" y="3413630"/>
            <a:ext cx="243854" cy="210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7F7F7F"/>
                </a:solidFill>
                <a:latin typeface="Courier New"/>
                <a:cs typeface="Courier New"/>
              </a:rPr>
              <a:t>5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300985" y="3537672"/>
            <a:ext cx="4251142" cy="4683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24" marR="0">
              <a:lnSpc>
                <a:spcPts val="1362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iNumStr</a:t>
            </a:r>
            <a:r>
              <a:rPr sz="1200" b="1" spc="36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=</a:t>
            </a:r>
            <a:r>
              <a:rPr sz="12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input("</a:t>
            </a:r>
            <a:r>
              <a:rPr sz="1200" spc="11" dirty="0">
                <a:solidFill>
                  <a:srgbClr val="000000"/>
                </a:solidFill>
                <a:latin typeface="SimSun"/>
                <a:cs typeface="SimSun"/>
              </a:rPr>
              <a:t>请输入数字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直接输入回车退出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):</a:t>
            </a:r>
            <a:r>
              <a:rPr sz="1200" b="1" spc="-25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")</a:t>
            </a:r>
          </a:p>
          <a:p>
            <a:pPr marL="0" marR="0">
              <a:lnSpc>
                <a:spcPts val="1359"/>
              </a:lnSpc>
              <a:spcBef>
                <a:spcPts val="633"/>
              </a:spcBef>
              <a:spcAft>
                <a:spcPts val="0"/>
              </a:spcAft>
            </a:pP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while iNumStr </a:t>
            </a:r>
            <a:r>
              <a:rPr sz="1200" b="1" spc="11" dirty="0">
                <a:solidFill>
                  <a:srgbClr val="000000"/>
                </a:solidFill>
                <a:latin typeface="Courier New"/>
                <a:cs typeface="Courier New"/>
              </a:rPr>
              <a:t>!=</a:t>
            </a:r>
            <a:r>
              <a:rPr sz="1200" b="1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"":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604772" y="3668138"/>
            <a:ext cx="243854" cy="210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7F7F7F"/>
                </a:solidFill>
                <a:latin typeface="Courier New"/>
                <a:cs typeface="Courier New"/>
              </a:rPr>
              <a:t>6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604772" y="3922645"/>
            <a:ext cx="243854" cy="210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7F7F7F"/>
                </a:solidFill>
                <a:latin typeface="Courier New"/>
                <a:cs typeface="Courier New"/>
              </a:rPr>
              <a:t>7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2300985" y="4049772"/>
            <a:ext cx="4619766" cy="7182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8808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nums.append(eval(iNumStr))</a:t>
            </a:r>
          </a:p>
          <a:p>
            <a:pPr marL="368808" marR="0">
              <a:lnSpc>
                <a:spcPts val="1359"/>
              </a:lnSpc>
              <a:spcBef>
                <a:spcPts val="562"/>
              </a:spcBef>
              <a:spcAft>
                <a:spcPts val="0"/>
              </a:spcAft>
            </a:pP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iNumStr</a:t>
            </a:r>
            <a:r>
              <a:rPr sz="1200" b="1" spc="47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=</a:t>
            </a:r>
            <a:r>
              <a:rPr sz="12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input("</a:t>
            </a:r>
            <a:r>
              <a:rPr sz="1200" spc="11" dirty="0">
                <a:solidFill>
                  <a:srgbClr val="000000"/>
                </a:solidFill>
                <a:latin typeface="SimSun"/>
                <a:cs typeface="SimSun"/>
              </a:rPr>
              <a:t>请输入数字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直接输入回车退出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):</a:t>
            </a:r>
            <a:r>
              <a:rPr sz="1200" b="1" spc="-23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")</a:t>
            </a:r>
          </a:p>
          <a:p>
            <a:pPr marL="0" marR="0">
              <a:lnSpc>
                <a:spcPts val="1359"/>
              </a:lnSpc>
              <a:spcBef>
                <a:spcPts val="632"/>
              </a:spcBef>
              <a:spcAft>
                <a:spcPts val="0"/>
              </a:spcAft>
            </a:pP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return</a:t>
            </a:r>
            <a:r>
              <a:rPr sz="1200" b="1" spc="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nums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604772" y="4175630"/>
            <a:ext cx="243854" cy="210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7F7F7F"/>
                </a:solidFill>
                <a:latin typeface="Courier New"/>
                <a:cs typeface="Courier New"/>
              </a:rPr>
              <a:t>8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1604772" y="4430138"/>
            <a:ext cx="243854" cy="210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7F7F7F"/>
                </a:solidFill>
                <a:latin typeface="Courier New"/>
                <a:cs typeface="Courier New"/>
              </a:rPr>
              <a:t>9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1559052" y="4685027"/>
            <a:ext cx="335675" cy="14802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7F7F7F"/>
                </a:solidFill>
                <a:latin typeface="Courier New"/>
                <a:cs typeface="Courier New"/>
              </a:rPr>
              <a:t>10</a:t>
            </a:r>
          </a:p>
          <a:p>
            <a:pPr marL="0" marR="0">
              <a:lnSpc>
                <a:spcPts val="1359"/>
              </a:lnSpc>
              <a:spcBef>
                <a:spcPts val="632"/>
              </a:spcBef>
              <a:spcAft>
                <a:spcPts val="0"/>
              </a:spcAft>
            </a:pPr>
            <a:r>
              <a:rPr sz="1200" b="1" dirty="0">
                <a:solidFill>
                  <a:srgbClr val="7F7F7F"/>
                </a:solidFill>
                <a:latin typeface="Courier New"/>
                <a:cs typeface="Courier New"/>
              </a:rPr>
              <a:t>11</a:t>
            </a:r>
          </a:p>
          <a:p>
            <a:pPr marL="0" marR="0">
              <a:lnSpc>
                <a:spcPts val="1359"/>
              </a:lnSpc>
              <a:spcBef>
                <a:spcPts val="644"/>
              </a:spcBef>
              <a:spcAft>
                <a:spcPts val="0"/>
              </a:spcAft>
            </a:pPr>
            <a:r>
              <a:rPr sz="1200" b="1" dirty="0">
                <a:solidFill>
                  <a:srgbClr val="7F7F7F"/>
                </a:solidFill>
                <a:latin typeface="Courier New"/>
                <a:cs typeface="Courier New"/>
              </a:rPr>
              <a:t>12</a:t>
            </a:r>
          </a:p>
          <a:p>
            <a:pPr marL="0" marR="0">
              <a:lnSpc>
                <a:spcPts val="1359"/>
              </a:lnSpc>
              <a:spcBef>
                <a:spcPts val="644"/>
              </a:spcBef>
              <a:spcAft>
                <a:spcPts val="0"/>
              </a:spcAft>
            </a:pPr>
            <a:r>
              <a:rPr sz="1200" b="1" dirty="0">
                <a:solidFill>
                  <a:srgbClr val="7F7F7F"/>
                </a:solidFill>
                <a:latin typeface="Courier New"/>
                <a:cs typeface="Courier New"/>
              </a:rPr>
              <a:t>13</a:t>
            </a:r>
          </a:p>
          <a:p>
            <a:pPr marL="0" marR="0">
              <a:lnSpc>
                <a:spcPts val="1359"/>
              </a:lnSpc>
              <a:spcBef>
                <a:spcPts val="632"/>
              </a:spcBef>
              <a:spcAft>
                <a:spcPts val="0"/>
              </a:spcAft>
            </a:pPr>
            <a:r>
              <a:rPr sz="1200" b="1" dirty="0">
                <a:solidFill>
                  <a:srgbClr val="7F7F7F"/>
                </a:solidFill>
                <a:latin typeface="Courier New"/>
                <a:cs typeface="Courier New"/>
              </a:rPr>
              <a:t>14</a:t>
            </a:r>
          </a:p>
          <a:p>
            <a:pPr marL="0" marR="0">
              <a:lnSpc>
                <a:spcPts val="1362"/>
              </a:lnSpc>
              <a:spcBef>
                <a:spcPts val="642"/>
              </a:spcBef>
              <a:spcAft>
                <a:spcPts val="0"/>
              </a:spcAft>
            </a:pPr>
            <a:r>
              <a:rPr sz="1200" b="1" dirty="0">
                <a:solidFill>
                  <a:srgbClr val="7F7F7F"/>
                </a:solidFill>
                <a:latin typeface="Courier New"/>
                <a:cs typeface="Courier New"/>
              </a:rPr>
              <a:t>15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1933320" y="4807680"/>
            <a:ext cx="2853309" cy="4681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def</a:t>
            </a:r>
            <a:r>
              <a:rPr sz="1200" b="1" spc="27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mean(numbers):</a:t>
            </a:r>
            <a:r>
              <a:rPr sz="1200" b="1" spc="778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#</a:t>
            </a:r>
            <a:r>
              <a:rPr sz="1200" spc="11" dirty="0">
                <a:solidFill>
                  <a:srgbClr val="000000"/>
                </a:solidFill>
                <a:latin typeface="SimSun"/>
                <a:cs typeface="SimSun"/>
              </a:rPr>
              <a:t>计算平均值</a:t>
            </a:r>
          </a:p>
          <a:p>
            <a:pPr marL="367664" marR="0">
              <a:lnSpc>
                <a:spcPts val="1359"/>
              </a:lnSpc>
              <a:spcBef>
                <a:spcPts val="635"/>
              </a:spcBef>
              <a:spcAft>
                <a:spcPts val="0"/>
              </a:spcAft>
            </a:pP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s</a:t>
            </a:r>
            <a:r>
              <a:rPr sz="12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=</a:t>
            </a:r>
            <a:r>
              <a:rPr sz="12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0.0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2300985" y="5319645"/>
            <a:ext cx="1901966" cy="210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for num </a:t>
            </a:r>
            <a:r>
              <a:rPr sz="1200" b="1" spc="11" dirty="0">
                <a:solidFill>
                  <a:srgbClr val="000000"/>
                </a:solidFill>
                <a:latin typeface="Courier New"/>
                <a:cs typeface="Courier New"/>
              </a:rPr>
              <a:t>in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 numbers: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2669794" y="5574103"/>
            <a:ext cx="1164350" cy="210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s</a:t>
            </a:r>
            <a:r>
              <a:rPr sz="12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= s</a:t>
            </a:r>
            <a:r>
              <a:rPr sz="12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+</a:t>
            </a:r>
            <a:r>
              <a:rPr sz="1200" b="1" spc="23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num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2300985" y="5827087"/>
            <a:ext cx="2270165" cy="210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return</a:t>
            </a:r>
            <a:r>
              <a:rPr sz="1200" b="1" spc="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s</a:t>
            </a:r>
            <a:r>
              <a:rPr sz="12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/</a:t>
            </a:r>
            <a:r>
              <a:rPr sz="12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len(numbers)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object 1"/>
              <p:cNvSpPr/>
              <p:nvPr/>
            </p:nvSpPr>
            <p:spPr>
              <a:xfrm>
                <a:off x="1271650" y="3634490"/>
                <a:ext cx="899592" cy="31399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╳</m:t>
                      </m:r>
                    </m:oMath>
                  </m:oMathPara>
                </a14:m>
                <a:endParaRPr lang="zh-CN" alt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" name="object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1650" y="3634490"/>
                <a:ext cx="899592" cy="313997"/>
              </a:xfrm>
              <a:prstGeom prst="rect">
                <a:avLst/>
              </a:prstGeom>
              <a:blipFill>
                <a:blip r:embed="rId2"/>
                <a:stretch>
                  <a:fillRect t="-13462" b="-307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object 3"/>
          <p:cNvSpPr txBox="1"/>
          <p:nvPr/>
        </p:nvSpPr>
        <p:spPr>
          <a:xfrm>
            <a:off x="753465" y="664498"/>
            <a:ext cx="4214774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基本统计值的计算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50619" y="1785756"/>
            <a:ext cx="1089305" cy="2786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94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实例代码</a:t>
            </a:r>
            <a:r>
              <a:rPr sz="1400" dirty="0">
                <a:solidFill>
                  <a:srgbClr val="000000"/>
                </a:solidFill>
                <a:latin typeface="Palatino Linotype"/>
                <a:cs typeface="Palatino Linotype"/>
              </a:rPr>
              <a:t>9.1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845942" y="1785756"/>
            <a:ext cx="1671254" cy="2786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94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Palatino Linotype"/>
                <a:cs typeface="Palatino Linotype"/>
              </a:rPr>
              <a:t>e9.1CalStatistics.py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271650" y="2183733"/>
            <a:ext cx="3442716" cy="2148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7F7F7F"/>
                </a:solidFill>
                <a:latin typeface="Courier New"/>
                <a:cs typeface="Courier New"/>
              </a:rPr>
              <a:t>15</a:t>
            </a:r>
            <a:r>
              <a:rPr sz="1200" b="1" spc="786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def</a:t>
            </a:r>
            <a:r>
              <a:rPr sz="1200" b="1" spc="25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dev(numbers,</a:t>
            </a:r>
            <a:r>
              <a:rPr sz="1200" b="1" spc="6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mean):</a:t>
            </a:r>
            <a:r>
              <a:rPr sz="1200" b="1" spc="34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#</a:t>
            </a:r>
            <a:r>
              <a:rPr sz="1200" spc="11" dirty="0">
                <a:solidFill>
                  <a:srgbClr val="000000"/>
                </a:solidFill>
                <a:latin typeface="SimSun"/>
                <a:cs typeface="SimSun"/>
              </a:rPr>
              <a:t>计算方差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271650" y="2440556"/>
            <a:ext cx="335675" cy="9732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2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7F7F7F"/>
                </a:solidFill>
                <a:latin typeface="Courier New"/>
                <a:cs typeface="Courier New"/>
              </a:rPr>
              <a:t>16</a:t>
            </a:r>
          </a:p>
          <a:p>
            <a:pPr marL="0" marR="0">
              <a:lnSpc>
                <a:spcPts val="1359"/>
              </a:lnSpc>
              <a:spcBef>
                <a:spcPts val="645"/>
              </a:spcBef>
              <a:spcAft>
                <a:spcPts val="0"/>
              </a:spcAft>
            </a:pPr>
            <a:r>
              <a:rPr sz="1200" b="1" dirty="0">
                <a:solidFill>
                  <a:srgbClr val="7F7F7F"/>
                </a:solidFill>
                <a:latin typeface="Courier New"/>
                <a:cs typeface="Courier New"/>
              </a:rPr>
              <a:t>17</a:t>
            </a:r>
          </a:p>
          <a:p>
            <a:pPr marL="0" marR="0">
              <a:lnSpc>
                <a:spcPts val="1359"/>
              </a:lnSpc>
              <a:spcBef>
                <a:spcPts val="644"/>
              </a:spcBef>
              <a:spcAft>
                <a:spcPts val="0"/>
              </a:spcAft>
            </a:pPr>
            <a:r>
              <a:rPr sz="1200" b="1" dirty="0">
                <a:solidFill>
                  <a:srgbClr val="7F7F7F"/>
                </a:solidFill>
                <a:latin typeface="Courier New"/>
                <a:cs typeface="Courier New"/>
              </a:rPr>
              <a:t>18</a:t>
            </a:r>
          </a:p>
          <a:p>
            <a:pPr marL="0" marR="0">
              <a:lnSpc>
                <a:spcPts val="1359"/>
              </a:lnSpc>
              <a:spcBef>
                <a:spcPts val="632"/>
              </a:spcBef>
              <a:spcAft>
                <a:spcPts val="0"/>
              </a:spcAft>
            </a:pPr>
            <a:r>
              <a:rPr sz="1200" b="1" dirty="0">
                <a:solidFill>
                  <a:srgbClr val="7F7F7F"/>
                </a:solidFill>
                <a:latin typeface="Courier New"/>
                <a:cs typeface="Courier New"/>
              </a:rPr>
              <a:t>19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013457" y="2440556"/>
            <a:ext cx="1073093" cy="2110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2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sdev =</a:t>
            </a:r>
            <a:r>
              <a:rPr sz="12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0.0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13457" y="2695571"/>
            <a:ext cx="1902348" cy="210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for num </a:t>
            </a:r>
            <a:r>
              <a:rPr sz="1200" b="1" spc="11" dirty="0">
                <a:solidFill>
                  <a:srgbClr val="000000"/>
                </a:solidFill>
                <a:latin typeface="Courier New"/>
                <a:cs typeface="Courier New"/>
              </a:rPr>
              <a:t>in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 numbers: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013457" y="2950080"/>
            <a:ext cx="3467496" cy="4637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8808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sdev =</a:t>
            </a:r>
            <a:r>
              <a:rPr sz="12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sdev +</a:t>
            </a:r>
            <a:r>
              <a:rPr sz="1200" b="1" spc="15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(num -</a:t>
            </a:r>
            <a:r>
              <a:rPr sz="12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mean)**2</a:t>
            </a:r>
          </a:p>
          <a:p>
            <a:pPr marL="0" marR="0">
              <a:lnSpc>
                <a:spcPts val="1359"/>
              </a:lnSpc>
              <a:spcBef>
                <a:spcPts val="632"/>
              </a:spcBef>
              <a:spcAft>
                <a:spcPts val="0"/>
              </a:spcAft>
            </a:pP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return</a:t>
            </a:r>
            <a:r>
              <a:rPr sz="1200" b="1" spc="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sqrt(sdev /</a:t>
            </a:r>
            <a:r>
              <a:rPr sz="12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(len(numbers)-1))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271650" y="3453479"/>
            <a:ext cx="3594658" cy="2148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7F7F7F"/>
                </a:solidFill>
                <a:latin typeface="Courier New"/>
                <a:cs typeface="Courier New"/>
              </a:rPr>
              <a:t>20</a:t>
            </a:r>
            <a:r>
              <a:rPr sz="1200" b="1" spc="786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def</a:t>
            </a:r>
            <a:r>
              <a:rPr sz="1200" b="1" spc="25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median(numbers):</a:t>
            </a:r>
            <a:r>
              <a:rPr sz="1200" b="1" spc="2245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#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计算中位数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271650" y="3712080"/>
            <a:ext cx="335675" cy="17349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7F7F7F"/>
                </a:solidFill>
                <a:latin typeface="Courier New"/>
                <a:cs typeface="Courier New"/>
              </a:rPr>
              <a:t>21</a:t>
            </a:r>
          </a:p>
          <a:p>
            <a:pPr marL="0" marR="0">
              <a:lnSpc>
                <a:spcPts val="1362"/>
              </a:lnSpc>
              <a:spcBef>
                <a:spcPts val="630"/>
              </a:spcBef>
              <a:spcAft>
                <a:spcPts val="0"/>
              </a:spcAft>
            </a:pPr>
            <a:r>
              <a:rPr sz="1200" b="1" dirty="0">
                <a:solidFill>
                  <a:srgbClr val="7F7F7F"/>
                </a:solidFill>
                <a:latin typeface="Courier New"/>
                <a:cs typeface="Courier New"/>
              </a:rPr>
              <a:t>22</a:t>
            </a:r>
          </a:p>
          <a:p>
            <a:pPr marL="0" marR="0">
              <a:lnSpc>
                <a:spcPts val="1359"/>
              </a:lnSpc>
              <a:spcBef>
                <a:spcPts val="645"/>
              </a:spcBef>
              <a:spcAft>
                <a:spcPts val="0"/>
              </a:spcAft>
            </a:pPr>
            <a:r>
              <a:rPr sz="1200" b="1" dirty="0">
                <a:solidFill>
                  <a:srgbClr val="7F7F7F"/>
                </a:solidFill>
                <a:latin typeface="Courier New"/>
                <a:cs typeface="Courier New"/>
              </a:rPr>
              <a:t>23</a:t>
            </a:r>
          </a:p>
          <a:p>
            <a:pPr marL="0" marR="0">
              <a:lnSpc>
                <a:spcPts val="1359"/>
              </a:lnSpc>
              <a:spcBef>
                <a:spcPts val="644"/>
              </a:spcBef>
              <a:spcAft>
                <a:spcPts val="0"/>
              </a:spcAft>
            </a:pPr>
            <a:r>
              <a:rPr sz="1200" b="1" dirty="0">
                <a:solidFill>
                  <a:srgbClr val="7F7F7F"/>
                </a:solidFill>
                <a:latin typeface="Courier New"/>
                <a:cs typeface="Courier New"/>
              </a:rPr>
              <a:t>24</a:t>
            </a:r>
          </a:p>
          <a:p>
            <a:pPr marL="0" marR="0">
              <a:lnSpc>
                <a:spcPts val="1359"/>
              </a:lnSpc>
              <a:spcBef>
                <a:spcPts val="632"/>
              </a:spcBef>
              <a:spcAft>
                <a:spcPts val="0"/>
              </a:spcAft>
            </a:pPr>
            <a:r>
              <a:rPr sz="1200" b="1" dirty="0">
                <a:solidFill>
                  <a:srgbClr val="7F7F7F"/>
                </a:solidFill>
                <a:latin typeface="Courier New"/>
                <a:cs typeface="Courier New"/>
              </a:rPr>
              <a:t>25</a:t>
            </a:r>
          </a:p>
          <a:p>
            <a:pPr marL="0" marR="0">
              <a:lnSpc>
                <a:spcPts val="1359"/>
              </a:lnSpc>
              <a:spcBef>
                <a:spcPts val="644"/>
              </a:spcBef>
              <a:spcAft>
                <a:spcPts val="0"/>
              </a:spcAft>
            </a:pPr>
            <a:r>
              <a:rPr sz="1200" b="1" dirty="0">
                <a:solidFill>
                  <a:srgbClr val="7F7F7F"/>
                </a:solidFill>
                <a:latin typeface="Courier New"/>
                <a:cs typeface="Courier New"/>
              </a:rPr>
              <a:t>26</a:t>
            </a:r>
          </a:p>
          <a:p>
            <a:pPr marL="0" marR="0">
              <a:lnSpc>
                <a:spcPts val="1359"/>
              </a:lnSpc>
              <a:spcBef>
                <a:spcPts val="644"/>
              </a:spcBef>
              <a:spcAft>
                <a:spcPts val="0"/>
              </a:spcAft>
            </a:pPr>
            <a:r>
              <a:rPr sz="1200" b="1" dirty="0">
                <a:solidFill>
                  <a:srgbClr val="7F7F7F"/>
                </a:solidFill>
                <a:latin typeface="Courier New"/>
                <a:cs typeface="Courier New"/>
              </a:rPr>
              <a:t>27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013457" y="3712080"/>
            <a:ext cx="1532244" cy="210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sorted(numbers)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013457" y="3964810"/>
            <a:ext cx="1901427" cy="4657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2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size =</a:t>
            </a:r>
            <a:r>
              <a:rPr sz="12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len(numbers)</a:t>
            </a:r>
          </a:p>
          <a:p>
            <a:pPr marL="0" marR="0">
              <a:lnSpc>
                <a:spcPts val="1359"/>
              </a:lnSpc>
              <a:spcBef>
                <a:spcPts val="645"/>
              </a:spcBef>
              <a:spcAft>
                <a:spcPts val="0"/>
              </a:spcAft>
            </a:pP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if</a:t>
            </a:r>
            <a:r>
              <a:rPr sz="12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size %</a:t>
            </a:r>
            <a:r>
              <a:rPr sz="12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2</a:t>
            </a:r>
            <a:r>
              <a:rPr sz="1200" b="1" spc="23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==</a:t>
            </a:r>
            <a:r>
              <a:rPr sz="12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0: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013457" y="4474333"/>
            <a:ext cx="4850017" cy="4637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8808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med =</a:t>
            </a:r>
            <a:r>
              <a:rPr sz="12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(numbers[size//2-1] +</a:t>
            </a:r>
            <a:r>
              <a:rPr sz="12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numbers[size//2])/2</a:t>
            </a:r>
          </a:p>
          <a:p>
            <a:pPr marL="0" marR="0">
              <a:lnSpc>
                <a:spcPts val="1359"/>
              </a:lnSpc>
              <a:spcBef>
                <a:spcPts val="632"/>
              </a:spcBef>
              <a:spcAft>
                <a:spcPts val="0"/>
              </a:spcAft>
            </a:pP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else: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2013457" y="4981826"/>
            <a:ext cx="2547000" cy="4652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8808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med =</a:t>
            </a:r>
            <a:r>
              <a:rPr sz="12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numbers[size//2]</a:t>
            </a:r>
          </a:p>
          <a:p>
            <a:pPr marL="0" marR="0">
              <a:lnSpc>
                <a:spcPts val="1359"/>
              </a:lnSpc>
              <a:spcBef>
                <a:spcPts val="644"/>
              </a:spcBef>
              <a:spcAft>
                <a:spcPts val="0"/>
              </a:spcAft>
            </a:pP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return</a:t>
            </a:r>
            <a:r>
              <a:rPr sz="1200" b="1" spc="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med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271650" y="5487104"/>
            <a:ext cx="2613278" cy="4678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7F7F7F"/>
                </a:solidFill>
                <a:latin typeface="Courier New"/>
                <a:cs typeface="Courier New"/>
              </a:rPr>
              <a:t>28</a:t>
            </a:r>
            <a:r>
              <a:rPr sz="1200" b="1" spc="786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n</a:t>
            </a:r>
            <a:r>
              <a:rPr sz="1200" b="1" spc="14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=</a:t>
            </a:r>
            <a:r>
              <a:rPr sz="1200" b="1" spc="732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getNum()</a:t>
            </a:r>
            <a:r>
              <a:rPr sz="1200" b="1" spc="767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#</a:t>
            </a:r>
            <a:r>
              <a:rPr sz="1200" spc="11" dirty="0">
                <a:solidFill>
                  <a:srgbClr val="000000"/>
                </a:solidFill>
                <a:latin typeface="SimSun"/>
                <a:cs typeface="SimSun"/>
              </a:rPr>
              <a:t>主体函数</a:t>
            </a:r>
          </a:p>
          <a:p>
            <a:pPr marL="0" marR="0">
              <a:lnSpc>
                <a:spcPts val="1359"/>
              </a:lnSpc>
              <a:spcBef>
                <a:spcPts val="632"/>
              </a:spcBef>
              <a:spcAft>
                <a:spcPts val="0"/>
              </a:spcAft>
            </a:pPr>
            <a:r>
              <a:rPr sz="1200" b="1" dirty="0">
                <a:solidFill>
                  <a:srgbClr val="7F7F7F"/>
                </a:solidFill>
                <a:latin typeface="Courier New"/>
                <a:cs typeface="Courier New"/>
              </a:rPr>
              <a:t>29</a:t>
            </a:r>
            <a:r>
              <a:rPr sz="1200" b="1" spc="786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m =</a:t>
            </a:r>
            <a:r>
              <a:rPr sz="1200" b="1" spc="732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mean(n)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1271650" y="5994596"/>
            <a:ext cx="4869448" cy="4678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7F7F7F"/>
                </a:solidFill>
                <a:latin typeface="Courier New"/>
                <a:cs typeface="Courier New"/>
              </a:rPr>
              <a:t>30</a:t>
            </a:r>
            <a:r>
              <a:rPr sz="1200" b="1" spc="786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print("</a:t>
            </a:r>
            <a:r>
              <a:rPr sz="1200" spc="11" dirty="0">
                <a:solidFill>
                  <a:srgbClr val="000000"/>
                </a:solidFill>
                <a:latin typeface="SimSun"/>
                <a:cs typeface="SimSun"/>
              </a:rPr>
              <a:t>平均值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:{},</a:t>
            </a:r>
            <a:r>
              <a:rPr sz="1200" spc="11" dirty="0">
                <a:solidFill>
                  <a:srgbClr val="000000"/>
                </a:solidFill>
                <a:latin typeface="SimSun"/>
                <a:cs typeface="SimSun"/>
              </a:rPr>
              <a:t>方差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:{:.2},</a:t>
            </a:r>
            <a:r>
              <a:rPr sz="1200" spc="11" dirty="0">
                <a:solidFill>
                  <a:srgbClr val="000000"/>
                </a:solidFill>
                <a:latin typeface="SimSun"/>
                <a:cs typeface="SimSun"/>
              </a:rPr>
              <a:t>中位数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:{}.".format(m,\</a:t>
            </a:r>
          </a:p>
          <a:p>
            <a:pPr marL="465963" marR="0">
              <a:lnSpc>
                <a:spcPts val="1359"/>
              </a:lnSpc>
              <a:spcBef>
                <a:spcPts val="632"/>
              </a:spcBef>
              <a:spcAft>
                <a:spcPts val="0"/>
              </a:spcAft>
            </a:pP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dev(n,m),median(n)))</a:t>
            </a:r>
          </a:p>
        </p:txBody>
      </p:sp>
      <p:sp>
        <p:nvSpPr>
          <p:cNvPr id="20" name="object 13"/>
          <p:cNvSpPr txBox="1"/>
          <p:nvPr/>
        </p:nvSpPr>
        <p:spPr>
          <a:xfrm>
            <a:off x="4407908" y="3717032"/>
            <a:ext cx="2252324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1" dirty="0">
                <a:solidFill>
                  <a:srgbClr val="FF0000"/>
                </a:solidFill>
                <a:latin typeface="Courier New"/>
                <a:cs typeface="Courier New"/>
              </a:rPr>
              <a:t>n</a:t>
            </a:r>
            <a:r>
              <a:rPr lang="en-US" sz="1200" b="1" dirty="0">
                <a:solidFill>
                  <a:srgbClr val="FF0000"/>
                </a:solidFill>
                <a:latin typeface="Courier New"/>
                <a:cs typeface="Courier New"/>
              </a:rPr>
              <a:t>umbers=</a:t>
            </a:r>
            <a:r>
              <a:rPr sz="1200" b="1" dirty="0">
                <a:solidFill>
                  <a:srgbClr val="FF0000"/>
                </a:solidFill>
                <a:latin typeface="Courier New"/>
                <a:cs typeface="Courier New"/>
              </a:rPr>
              <a:t>sorted(numbers)</a:t>
            </a:r>
          </a:p>
        </p:txBody>
      </p:sp>
      <p:sp>
        <p:nvSpPr>
          <p:cNvPr id="21" name="object 13"/>
          <p:cNvSpPr txBox="1"/>
          <p:nvPr/>
        </p:nvSpPr>
        <p:spPr>
          <a:xfrm>
            <a:off x="4407908" y="5625728"/>
            <a:ext cx="2828388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FF0000"/>
                </a:solidFill>
                <a:latin typeface="Courier New"/>
                <a:cs typeface="Courier New"/>
              </a:rPr>
              <a:t>Line continuation character:\</a:t>
            </a:r>
            <a:endParaRPr sz="1200" b="1" dirty="0">
              <a:solidFill>
                <a:srgbClr val="FF0000"/>
              </a:solidFill>
              <a:latin typeface="Courier New"/>
              <a:cs typeface="Courier New"/>
            </a:endParaRPr>
          </a:p>
        </p:txBody>
      </p: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94108945-18E2-40CC-9D26-DE2E1F42A3C0}"/>
              </a:ext>
            </a:extLst>
          </p:cNvPr>
          <p:cNvCxnSpPr>
            <a:stCxn id="13" idx="3"/>
          </p:cNvCxnSpPr>
          <p:nvPr/>
        </p:nvCxnSpPr>
        <p:spPr>
          <a:xfrm>
            <a:off x="3545701" y="3817450"/>
            <a:ext cx="738267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4214774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基本统计值的计算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672082" y="1923960"/>
            <a:ext cx="517874" cy="267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7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&gt;&gt;&gt;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672082" y="2174287"/>
            <a:ext cx="3604526" cy="17978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请输入数字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直接输入回车退出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):</a:t>
            </a:r>
            <a:r>
              <a:rPr sz="1600" spc="6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99</a:t>
            </a:r>
          </a:p>
          <a:p>
            <a:pPr marL="0" marR="0">
              <a:lnSpc>
                <a:spcPts val="1807"/>
              </a:lnSpc>
              <a:spcBef>
                <a:spcPts val="193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请输入数字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直接输入回车退出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):</a:t>
            </a:r>
            <a:r>
              <a:rPr sz="1600" spc="6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98</a:t>
            </a:r>
          </a:p>
          <a:p>
            <a:pPr marL="0" marR="0">
              <a:lnSpc>
                <a:spcPts val="1807"/>
              </a:lnSpc>
              <a:spcBef>
                <a:spcPts val="103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请输入数字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直接输入回车退出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):</a:t>
            </a:r>
            <a:r>
              <a:rPr sz="1600" spc="6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97</a:t>
            </a:r>
          </a:p>
          <a:p>
            <a:pPr marL="0" marR="0">
              <a:lnSpc>
                <a:spcPts val="1807"/>
              </a:lnSpc>
              <a:spcBef>
                <a:spcPts val="153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请输入数字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直接输入回车退出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):</a:t>
            </a:r>
            <a:r>
              <a:rPr sz="1600" spc="6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96</a:t>
            </a:r>
          </a:p>
          <a:p>
            <a:pPr marL="0" marR="0">
              <a:lnSpc>
                <a:spcPts val="1807"/>
              </a:lnSpc>
              <a:spcBef>
                <a:spcPts val="141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请输入数字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直接输入回车退出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):</a:t>
            </a:r>
            <a:r>
              <a:rPr sz="1600" spc="6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95</a:t>
            </a:r>
          </a:p>
          <a:p>
            <a:pPr marL="0" marR="0">
              <a:lnSpc>
                <a:spcPts val="1807"/>
              </a:lnSpc>
              <a:spcBef>
                <a:spcPts val="153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请输入数字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直接输入回车退出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):</a:t>
            </a:r>
          </a:p>
          <a:p>
            <a:pPr marL="0" marR="0">
              <a:lnSpc>
                <a:spcPts val="1810"/>
              </a:lnSpc>
              <a:spcBef>
                <a:spcPts val="151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平均值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:97.0,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方差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:1.6,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中位数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:97.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18667" y="4501203"/>
            <a:ext cx="7817175" cy="15380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9747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spc="132" dirty="0">
                <a:solidFill>
                  <a:srgbClr val="000000"/>
                </a:solidFill>
                <a:latin typeface="Microsoft YaHei"/>
                <a:cs typeface="Microsoft YaHei"/>
              </a:rPr>
              <a:t>程序先后调用</a:t>
            </a:r>
            <a:r>
              <a:rPr sz="2400" spc="17" dirty="0">
                <a:solidFill>
                  <a:srgbClr val="000000"/>
                </a:solidFill>
                <a:latin typeface="Microsoft YaHei"/>
                <a:cs typeface="Microsoft YaHei"/>
              </a:rPr>
              <a:t>getNum()</a:t>
            </a:r>
            <a:r>
              <a:rPr sz="2400" spc="132" dirty="0">
                <a:solidFill>
                  <a:srgbClr val="000000"/>
                </a:solidFill>
                <a:latin typeface="Microsoft YaHei"/>
                <a:cs typeface="Microsoft YaHei"/>
              </a:rPr>
              <a:t>、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mean()</a:t>
            </a:r>
            <a:r>
              <a:rPr sz="2400" spc="132" dirty="0">
                <a:solidFill>
                  <a:srgbClr val="000000"/>
                </a:solidFill>
                <a:latin typeface="Microsoft YaHei"/>
                <a:cs typeface="Microsoft YaHei"/>
              </a:rPr>
              <a:t>、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dev()</a:t>
            </a:r>
            <a:r>
              <a:rPr sz="2400" spc="134" dirty="0">
                <a:solidFill>
                  <a:srgbClr val="000000"/>
                </a:solidFill>
                <a:latin typeface="Microsoft YaHei"/>
                <a:cs typeface="Microsoft YaHei"/>
              </a:rPr>
              <a:t>和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median()</a:t>
            </a:r>
          </a:p>
          <a:p>
            <a:pPr marL="0" marR="0">
              <a:lnSpc>
                <a:spcPts val="3167"/>
              </a:lnSpc>
              <a:spcBef>
                <a:spcPts val="1105"/>
              </a:spcBef>
              <a:spcAft>
                <a:spcPts val="0"/>
              </a:spcAft>
            </a:pPr>
            <a:r>
              <a:rPr sz="2400" spc="11" dirty="0">
                <a:solidFill>
                  <a:srgbClr val="000000"/>
                </a:solidFill>
                <a:latin typeface="Microsoft YaHei"/>
                <a:cs typeface="Microsoft YaHei"/>
              </a:rPr>
              <a:t>函数。利用函数的模块化设计能够复用代码并增加代码的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可读性。每个函数内部都采用了简单的语句。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F3CD636-A5C0-4F33-AC1C-39AF905EDB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465" y="-10144"/>
            <a:ext cx="7190494" cy="2175108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D2735951-C0D1-4AC2-86BF-FA0683D95E89}"/>
              </a:ext>
            </a:extLst>
          </p:cNvPr>
          <p:cNvSpPr txBox="1"/>
          <p:nvPr/>
        </p:nvSpPr>
        <p:spPr>
          <a:xfrm>
            <a:off x="133793" y="332656"/>
            <a:ext cx="457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程序运行结果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4214774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基本统计值的计算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00988" y="2036895"/>
            <a:ext cx="7468818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列表在实现基本数据统计时发挥了重要作用，表现在：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31240" y="2585916"/>
            <a:ext cx="8105902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spc="331" dirty="0">
                <a:solidFill>
                  <a:srgbClr val="000000"/>
                </a:solidFill>
                <a:latin typeface="Wingdings"/>
                <a:cs typeface="Wingdings"/>
              </a:rPr>
              <a:t></a:t>
            </a:r>
            <a:r>
              <a:rPr sz="2400" spc="20" dirty="0">
                <a:solidFill>
                  <a:srgbClr val="000000"/>
                </a:solidFill>
                <a:latin typeface="Microsoft YaHei"/>
                <a:cs typeface="Microsoft YaHei"/>
              </a:rPr>
              <a:t>列表是一个动态长度的数据结构，可以根据需求增加或减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31240" y="3134556"/>
            <a:ext cx="1371600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少元素；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31240" y="3683196"/>
            <a:ext cx="8100366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spc="331" dirty="0">
                <a:solidFill>
                  <a:srgbClr val="000000"/>
                </a:solidFill>
                <a:latin typeface="Wingdings"/>
                <a:cs typeface="Wingdings"/>
              </a:rPr>
              <a:t></a:t>
            </a:r>
            <a:r>
              <a:rPr sz="2400" spc="18" dirty="0">
                <a:solidFill>
                  <a:srgbClr val="000000"/>
                </a:solidFill>
                <a:latin typeface="Microsoft YaHei"/>
                <a:cs typeface="Microsoft YaHei"/>
              </a:rPr>
              <a:t>列表的一系列方法或操作符为计算提供了简单的元素运算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31240" y="4232090"/>
            <a:ext cx="1066800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手段；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31240" y="4780730"/>
            <a:ext cx="8100366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spc="331" dirty="0">
                <a:solidFill>
                  <a:srgbClr val="000000"/>
                </a:solidFill>
                <a:latin typeface="Wingdings"/>
                <a:cs typeface="Wingdings"/>
              </a:rPr>
              <a:t></a:t>
            </a:r>
            <a:r>
              <a:rPr sz="2400" spc="18" dirty="0">
                <a:solidFill>
                  <a:srgbClr val="000000"/>
                </a:solidFill>
                <a:latin typeface="Microsoft YaHei"/>
                <a:cs typeface="Microsoft YaHei"/>
              </a:rPr>
              <a:t>列表提供了对每个元素的简单访问方式及所有元素的遍历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31240" y="5329073"/>
            <a:ext cx="1067714" cy="4407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7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方式。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011426" y="2788949"/>
            <a:ext cx="4954828" cy="943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127"/>
              </a:lnSpc>
              <a:spcBef>
                <a:spcPts val="0"/>
              </a:spcBef>
              <a:spcAft>
                <a:spcPts val="0"/>
              </a:spcAft>
            </a:pPr>
            <a:r>
              <a:rPr sz="5400" dirty="0">
                <a:solidFill>
                  <a:srgbClr val="000000"/>
                </a:solidFill>
                <a:latin typeface="Microsoft YaHei"/>
                <a:cs typeface="Microsoft YaHei"/>
              </a:rPr>
              <a:t>字典类型的计算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4722571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字典类型的基本概念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59917" y="2340171"/>
            <a:ext cx="8251849" cy="15380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9748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spc="175" dirty="0">
                <a:solidFill>
                  <a:srgbClr val="000000"/>
                </a:solidFill>
                <a:latin typeface="Microsoft YaHei"/>
                <a:cs typeface="Microsoft YaHei"/>
              </a:rPr>
              <a:t>通过任意</a:t>
            </a:r>
            <a:r>
              <a:rPr sz="2400" spc="175" dirty="0">
                <a:solidFill>
                  <a:srgbClr val="FF0000"/>
                </a:solidFill>
                <a:latin typeface="Microsoft YaHei"/>
                <a:cs typeface="Microsoft YaHei"/>
              </a:rPr>
              <a:t>键</a:t>
            </a:r>
            <a:r>
              <a:rPr sz="2400" spc="175" dirty="0">
                <a:solidFill>
                  <a:srgbClr val="000000"/>
                </a:solidFill>
                <a:latin typeface="Microsoft YaHei"/>
                <a:cs typeface="Microsoft YaHei"/>
              </a:rPr>
              <a:t>信息查找一组数据中</a:t>
            </a:r>
            <a:r>
              <a:rPr sz="2400" spc="175" dirty="0">
                <a:solidFill>
                  <a:srgbClr val="FF0000"/>
                </a:solidFill>
                <a:latin typeface="Microsoft YaHei"/>
                <a:cs typeface="Microsoft YaHei"/>
              </a:rPr>
              <a:t>值</a:t>
            </a:r>
            <a:r>
              <a:rPr sz="2400" spc="175" dirty="0">
                <a:solidFill>
                  <a:srgbClr val="000000"/>
                </a:solidFill>
                <a:latin typeface="Microsoft YaHei"/>
                <a:cs typeface="Microsoft YaHei"/>
              </a:rPr>
              <a:t>信息的过程叫</a:t>
            </a:r>
            <a:r>
              <a:rPr sz="2400" spc="175" dirty="0">
                <a:solidFill>
                  <a:srgbClr val="FF0000"/>
                </a:solidFill>
                <a:latin typeface="Microsoft YaHei"/>
                <a:cs typeface="Microsoft YaHei"/>
              </a:rPr>
              <a:t>映射</a:t>
            </a:r>
            <a:r>
              <a:rPr sz="2400" spc="175" dirty="0">
                <a:solidFill>
                  <a:srgbClr val="000000"/>
                </a:solidFill>
                <a:latin typeface="Microsoft YaHei"/>
                <a:cs typeface="Microsoft YaHei"/>
              </a:rPr>
              <a:t>，</a:t>
            </a:r>
          </a:p>
          <a:p>
            <a:pPr marL="0" marR="0">
              <a:lnSpc>
                <a:spcPts val="3167"/>
              </a:lnSpc>
              <a:spcBef>
                <a:spcPts val="1105"/>
              </a:spcBef>
              <a:spcAft>
                <a:spcPts val="0"/>
              </a:spcAft>
            </a:pPr>
            <a:r>
              <a:rPr sz="2400" spc="17" dirty="0">
                <a:solidFill>
                  <a:srgbClr val="000000"/>
                </a:solidFill>
                <a:latin typeface="Microsoft YaHei"/>
                <a:cs typeface="Microsoft YaHei"/>
              </a:rPr>
              <a:t>Python</a:t>
            </a:r>
            <a:r>
              <a:rPr sz="2400" spc="95" dirty="0">
                <a:solidFill>
                  <a:srgbClr val="000000"/>
                </a:solidFill>
                <a:latin typeface="Microsoft YaHei"/>
                <a:cs typeface="Microsoft YaHei"/>
              </a:rPr>
              <a:t>语言中通过</a:t>
            </a:r>
            <a:r>
              <a:rPr sz="2400" spc="95" dirty="0">
                <a:solidFill>
                  <a:srgbClr val="FF0000"/>
                </a:solidFill>
                <a:latin typeface="Microsoft YaHei"/>
                <a:cs typeface="Microsoft YaHei"/>
              </a:rPr>
              <a:t>字典</a:t>
            </a:r>
            <a:r>
              <a:rPr sz="2400" spc="95" dirty="0">
                <a:solidFill>
                  <a:srgbClr val="000000"/>
                </a:solidFill>
                <a:latin typeface="Microsoft YaHei"/>
                <a:cs typeface="Microsoft YaHei"/>
              </a:rPr>
              <a:t>实现映射。</a:t>
            </a:r>
            <a:r>
              <a:rPr sz="2400" spc="18" dirty="0">
                <a:solidFill>
                  <a:srgbClr val="000000"/>
                </a:solidFill>
                <a:latin typeface="Microsoft YaHei"/>
                <a:cs typeface="Microsoft YaHei"/>
              </a:rPr>
              <a:t>Python</a:t>
            </a:r>
            <a:r>
              <a:rPr sz="2400" spc="95" dirty="0">
                <a:solidFill>
                  <a:srgbClr val="000000"/>
                </a:solidFill>
                <a:latin typeface="Microsoft YaHei"/>
                <a:cs typeface="Microsoft YaHei"/>
              </a:rPr>
              <a:t>语言中的字典可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以通过大括号({})建立，建立模式如下：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29665" y="3986472"/>
            <a:ext cx="7773568" cy="9892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{&lt;键1&gt;:&lt;值1&gt;,</a:t>
            </a:r>
            <a:r>
              <a:rPr sz="2400" spc="11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&lt;键2&gt;:&lt;值2&gt;,</a:t>
            </a:r>
            <a:r>
              <a:rPr sz="2400" spc="11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… , &lt;键n&gt;:&lt;值n&gt;}</a:t>
            </a:r>
          </a:p>
          <a:p>
            <a:pPr marL="0" marR="0">
              <a:lnSpc>
                <a:spcPts val="3167"/>
              </a:lnSpc>
              <a:spcBef>
                <a:spcPts val="1104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其中，键和值通过冒号连接，不同键值对通过逗号隔开。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4722571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字典类型的基本概念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30605" y="2299415"/>
            <a:ext cx="7623021" cy="8198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7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&gt;&gt;&gt;</a:t>
            </a:r>
            <a:r>
              <a:rPr sz="1800" b="1" dirty="0">
                <a:solidFill>
                  <a:srgbClr val="000000"/>
                </a:solidFill>
                <a:latin typeface="Courier New"/>
                <a:cs typeface="Courier New"/>
              </a:rPr>
              <a:t>Dcountry=</a:t>
            </a:r>
            <a:r>
              <a:rPr sz="2000" b="1" dirty="0">
                <a:solidFill>
                  <a:srgbClr val="000000"/>
                </a:solidFill>
                <a:latin typeface="Courier New"/>
                <a:cs typeface="Courier New"/>
              </a:rPr>
              <a:t>{</a:t>
            </a:r>
            <a:r>
              <a:rPr sz="1800" spc="-11" dirty="0">
                <a:solidFill>
                  <a:srgbClr val="000000"/>
                </a:solidFill>
                <a:latin typeface="Courier New"/>
                <a:cs typeface="Courier New"/>
              </a:rPr>
              <a:t>"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中国</a:t>
            </a:r>
            <a:r>
              <a:rPr sz="1800" dirty="0">
                <a:solidFill>
                  <a:srgbClr val="000000"/>
                </a:solidFill>
                <a:latin typeface="Courier New"/>
                <a:cs typeface="Courier New"/>
              </a:rPr>
              <a:t>":"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北京</a:t>
            </a:r>
            <a:r>
              <a:rPr sz="1800" dirty="0">
                <a:solidFill>
                  <a:srgbClr val="000000"/>
                </a:solidFill>
                <a:latin typeface="Courier New"/>
                <a:cs typeface="Courier New"/>
              </a:rPr>
              <a:t>",</a:t>
            </a:r>
            <a:r>
              <a:rPr sz="1800" spc="-49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00000"/>
                </a:solidFill>
                <a:latin typeface="Courier New"/>
                <a:cs typeface="Courier New"/>
              </a:rPr>
              <a:t>"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美国</a:t>
            </a:r>
            <a:r>
              <a:rPr sz="1800" dirty="0">
                <a:solidFill>
                  <a:srgbClr val="000000"/>
                </a:solidFill>
                <a:latin typeface="Courier New"/>
                <a:cs typeface="Courier New"/>
              </a:rPr>
              <a:t>":"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华盛顿</a:t>
            </a:r>
            <a:r>
              <a:rPr sz="1800" dirty="0">
                <a:solidFill>
                  <a:srgbClr val="000000"/>
                </a:solidFill>
                <a:latin typeface="Courier New"/>
                <a:cs typeface="Courier New"/>
              </a:rPr>
              <a:t>",</a:t>
            </a:r>
            <a:r>
              <a:rPr sz="1800" spc="-36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00000"/>
                </a:solidFill>
                <a:latin typeface="Courier New"/>
                <a:cs typeface="Courier New"/>
              </a:rPr>
              <a:t>"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法国</a:t>
            </a:r>
            <a:r>
              <a:rPr sz="1800" dirty="0">
                <a:solidFill>
                  <a:srgbClr val="000000"/>
                </a:solidFill>
                <a:latin typeface="Courier New"/>
                <a:cs typeface="Courier New"/>
              </a:rPr>
              <a:t>":"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巴黎</a:t>
            </a:r>
            <a:r>
              <a:rPr sz="1800" dirty="0">
                <a:solidFill>
                  <a:srgbClr val="000000"/>
                </a:solidFill>
                <a:latin typeface="Courier New"/>
                <a:cs typeface="Courier New"/>
              </a:rPr>
              <a:t>"</a:t>
            </a:r>
            <a:r>
              <a:rPr sz="2000" b="1" dirty="0">
                <a:solidFill>
                  <a:srgbClr val="000000"/>
                </a:solidFill>
                <a:latin typeface="Courier New"/>
                <a:cs typeface="Courier New"/>
              </a:rPr>
              <a:t>}</a:t>
            </a:r>
          </a:p>
          <a:p>
            <a:pPr marL="0" marR="0">
              <a:lnSpc>
                <a:spcPts val="2004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&gt;&gt;&gt;print(</a:t>
            </a:r>
            <a:r>
              <a:rPr sz="1800" b="1" dirty="0">
                <a:solidFill>
                  <a:srgbClr val="000000"/>
                </a:solidFill>
                <a:latin typeface="Courier New"/>
                <a:cs typeface="Courier New"/>
              </a:rPr>
              <a:t>Dcountry)</a:t>
            </a:r>
          </a:p>
          <a:p>
            <a:pPr marL="0" marR="0">
              <a:lnSpc>
                <a:spcPts val="1807"/>
              </a:lnSpc>
              <a:spcBef>
                <a:spcPts val="91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{'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中国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':</a:t>
            </a:r>
            <a:r>
              <a:rPr sz="1600" spc="25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北京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',</a:t>
            </a:r>
            <a:r>
              <a:rPr sz="1600" spc="12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法国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':</a:t>
            </a:r>
            <a:r>
              <a:rPr sz="1600" spc="25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巴黎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',</a:t>
            </a:r>
            <a:r>
              <a:rPr sz="1600" spc="12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美国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':</a:t>
            </a:r>
            <a:r>
              <a:rPr sz="1600" spc="25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华盛顿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'}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34568" y="4069403"/>
            <a:ext cx="7872958" cy="13721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9748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spc="46" dirty="0">
                <a:solidFill>
                  <a:srgbClr val="000000"/>
                </a:solidFill>
                <a:latin typeface="Microsoft YaHei"/>
                <a:cs typeface="Microsoft YaHei"/>
              </a:rPr>
              <a:t>字典打印出来的顺序与创建之初的顺序不同，这不是错</a:t>
            </a:r>
          </a:p>
          <a:p>
            <a:pPr marL="0" marR="0">
              <a:lnSpc>
                <a:spcPts val="3167"/>
              </a:lnSpc>
              <a:spcBef>
                <a:spcPts val="1104"/>
              </a:spcBef>
              <a:spcAft>
                <a:spcPts val="0"/>
              </a:spcAft>
            </a:pPr>
            <a:r>
              <a:rPr sz="2400" dirty="0" err="1">
                <a:solidFill>
                  <a:srgbClr val="000000"/>
                </a:solidFill>
                <a:latin typeface="Microsoft YaHei"/>
                <a:cs typeface="Microsoft YaHei"/>
              </a:rPr>
              <a:t>误。字典是集合类型的延续，各个元素并</a:t>
            </a:r>
            <a:r>
              <a:rPr sz="2400" dirty="0" err="1">
                <a:solidFill>
                  <a:srgbClr val="FF0000"/>
                </a:solidFill>
                <a:latin typeface="Microsoft YaHei"/>
                <a:cs typeface="Microsoft YaHei"/>
              </a:rPr>
              <a:t>没有顺序之分</a:t>
            </a:r>
            <a:r>
              <a:rPr lang="zh-CN" altLang="en-US" sz="2400" dirty="0">
                <a:solidFill>
                  <a:srgbClr val="FF0000"/>
                </a:solidFill>
                <a:latin typeface="Microsoft YaHei"/>
                <a:cs typeface="Microsoft YaHei"/>
              </a:rPr>
              <a:t>且不能重复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。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277" y="4951599"/>
            <a:ext cx="4679003" cy="1915565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7E53A957-1364-461A-9D9A-79B56977C24D}"/>
              </a:ext>
            </a:extLst>
          </p:cNvPr>
          <p:cNvSpPr txBox="1"/>
          <p:nvPr/>
        </p:nvSpPr>
        <p:spPr>
          <a:xfrm flipH="1">
            <a:off x="5412892" y="5277668"/>
            <a:ext cx="16104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保留最新赋值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4722571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字典类型的基本概念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50215" y="1868747"/>
            <a:ext cx="8406689" cy="932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4288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字典最主要的用法是查找与特定键相对应的值，这通过索</a:t>
            </a:r>
          </a:p>
          <a:p>
            <a:pPr marL="0" marR="0">
              <a:lnSpc>
                <a:spcPts val="3170"/>
              </a:lnSpc>
              <a:spcBef>
                <a:spcPts val="1149"/>
              </a:spcBef>
              <a:spcAft>
                <a:spcPts val="0"/>
              </a:spcAft>
            </a:pPr>
            <a:r>
              <a:rPr sz="2400" dirty="0" err="1">
                <a:solidFill>
                  <a:srgbClr val="000000"/>
                </a:solidFill>
                <a:latin typeface="Microsoft YaHei"/>
                <a:cs typeface="Microsoft YaHei"/>
              </a:rPr>
              <a:t>引符号来实现</a:t>
            </a:r>
            <a:r>
              <a:rPr lang="zh-CN" altLang="en-US" sz="2400" dirty="0">
                <a:solidFill>
                  <a:srgbClr val="000000"/>
                </a:solidFill>
                <a:latin typeface="Microsoft YaHei"/>
                <a:cs typeface="Microsoft YaHei"/>
              </a:rPr>
              <a:t>（</a:t>
            </a:r>
            <a:r>
              <a:rPr lang="zh-CN" altLang="en-US" sz="2400" dirty="0">
                <a:solidFill>
                  <a:srgbClr val="FF0000"/>
                </a:solidFill>
                <a:latin typeface="Microsoft YaHei"/>
                <a:cs typeface="Microsoft YaHei"/>
              </a:rPr>
              <a:t>字符索引 </a:t>
            </a:r>
            <a:r>
              <a:rPr lang="en-US" altLang="zh-CN" sz="2400" dirty="0">
                <a:solidFill>
                  <a:srgbClr val="FF0000"/>
                </a:solidFill>
                <a:latin typeface="Microsoft YaHei"/>
                <a:cs typeface="Microsoft YaHei"/>
              </a:rPr>
              <a:t>vs </a:t>
            </a:r>
            <a:r>
              <a:rPr lang="zh-CN" altLang="en-US" sz="2400" dirty="0">
                <a:solidFill>
                  <a:srgbClr val="FF0000"/>
                </a:solidFill>
                <a:latin typeface="Microsoft YaHei"/>
                <a:cs typeface="Microsoft YaHei"/>
              </a:rPr>
              <a:t>位置索引</a:t>
            </a:r>
            <a:r>
              <a:rPr lang="zh-CN" altLang="en-US" sz="2400" dirty="0">
                <a:solidFill>
                  <a:srgbClr val="000000"/>
                </a:solidFill>
                <a:latin typeface="Microsoft YaHei"/>
                <a:cs typeface="Microsoft YaHei"/>
              </a:rPr>
              <a:t>）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。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040635" y="2966521"/>
            <a:ext cx="2343880" cy="5203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7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&gt;&gt;&gt;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Dcountry["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中国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"]</a:t>
            </a:r>
          </a:p>
          <a:p>
            <a:pPr marL="0" marR="0">
              <a:lnSpc>
                <a:spcPts val="1590"/>
              </a:lnSpc>
              <a:spcBef>
                <a:spcPts val="318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'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北京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'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50468" y="3853503"/>
            <a:ext cx="8382965" cy="9890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一般来说，字典中键值对的访问模式如下，采用中括号格式：</a:t>
            </a:r>
          </a:p>
          <a:p>
            <a:pPr marL="181355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&lt;值&gt; = &lt;字典变量&gt;[&lt;键&gt;]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50468" y="4950461"/>
            <a:ext cx="8390227" cy="410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7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字典中对某个键值的</a:t>
            </a:r>
            <a:r>
              <a:rPr sz="2400" dirty="0">
                <a:solidFill>
                  <a:srgbClr val="FF0000"/>
                </a:solidFill>
                <a:latin typeface="Microsoft YaHei"/>
                <a:cs typeface="Microsoft YaHei"/>
              </a:rPr>
              <a:t>修改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可以通过中括号的访问和赋值实现：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904110" y="5749904"/>
            <a:ext cx="5197797" cy="7736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7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&gt;&gt;&gt;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Dcountry["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中国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"]='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大北京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'</a:t>
            </a:r>
          </a:p>
          <a:p>
            <a:pPr marL="0" marR="0">
              <a:lnSpc>
                <a:spcPts val="1810"/>
              </a:lnSpc>
              <a:spcBef>
                <a:spcPts val="182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&gt;&gt;&gt;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print(Dcountry)</a:t>
            </a:r>
          </a:p>
          <a:p>
            <a:pPr marL="0" marR="0">
              <a:lnSpc>
                <a:spcPts val="1590"/>
              </a:lnSpc>
              <a:spcBef>
                <a:spcPts val="319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{'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中国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':</a:t>
            </a:r>
            <a:r>
              <a:rPr sz="1400" spc="-28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'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大北京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',</a:t>
            </a:r>
            <a:r>
              <a:rPr sz="1400" spc="-28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'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法国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':</a:t>
            </a:r>
            <a:r>
              <a:rPr sz="1400" spc="-15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'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巴黎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',</a:t>
            </a:r>
            <a:r>
              <a:rPr sz="1400" spc="-28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'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美国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':</a:t>
            </a:r>
            <a:r>
              <a:rPr sz="1400" spc="-15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'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华盛顿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'}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3706977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字典类型的操作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47344" y="1821122"/>
            <a:ext cx="4114800" cy="410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通过中括号可以</a:t>
            </a:r>
            <a:r>
              <a:rPr sz="2400" dirty="0">
                <a:solidFill>
                  <a:srgbClr val="FF0000"/>
                </a:solidFill>
                <a:latin typeface="Microsoft YaHei"/>
                <a:cs typeface="Microsoft YaHei"/>
              </a:rPr>
              <a:t>增加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新的元素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73556" y="2690045"/>
            <a:ext cx="6807425" cy="7983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39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&gt;&gt;&gt;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Dcountry=</a:t>
            </a:r>
            <a:r>
              <a:rPr sz="1800" b="1" dirty="0">
                <a:solidFill>
                  <a:srgbClr val="000000"/>
                </a:solidFill>
                <a:latin typeface="Courier New"/>
                <a:cs typeface="Courier New"/>
              </a:rPr>
              <a:t>{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"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中国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":"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北京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",</a:t>
            </a:r>
            <a:r>
              <a:rPr sz="1600" spc="5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"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美国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":"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华盛顿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",</a:t>
            </a:r>
            <a:r>
              <a:rPr sz="1600" spc="37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"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法国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":"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巴黎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"</a:t>
            </a:r>
            <a:r>
              <a:rPr sz="1800" b="1" dirty="0">
                <a:solidFill>
                  <a:srgbClr val="000000"/>
                </a:solidFill>
                <a:latin typeface="Courier New"/>
                <a:cs typeface="Courier New"/>
              </a:rPr>
              <a:t>}</a:t>
            </a:r>
          </a:p>
          <a:p>
            <a:pPr marL="0" marR="0">
              <a:lnSpc>
                <a:spcPts val="1807"/>
              </a:lnSpc>
              <a:spcBef>
                <a:spcPts val="153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&gt;&gt;&gt;Dcountry[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"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英国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"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]=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"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伦敦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"</a:t>
            </a:r>
          </a:p>
          <a:p>
            <a:pPr marL="0" marR="0">
              <a:lnSpc>
                <a:spcPts val="1810"/>
              </a:lnSpc>
              <a:spcBef>
                <a:spcPts val="132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&gt;&gt;&gt;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print(Dcountry)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73556" y="3490904"/>
            <a:ext cx="6581919" cy="2448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{'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中国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':</a:t>
            </a:r>
            <a:r>
              <a:rPr sz="1400" spc="-28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'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北京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',</a:t>
            </a:r>
            <a:r>
              <a:rPr sz="1400" spc="-15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'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法国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':</a:t>
            </a:r>
            <a:r>
              <a:rPr sz="1400" spc="-28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'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巴黎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',</a:t>
            </a:r>
            <a:r>
              <a:rPr sz="1400" spc="-15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'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美国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':</a:t>
            </a:r>
            <a:r>
              <a:rPr sz="1400" spc="-28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'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华盛顿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',</a:t>
            </a:r>
            <a:r>
              <a:rPr sz="1400" spc="-28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'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英国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':</a:t>
            </a:r>
            <a:r>
              <a:rPr sz="1400" spc="-15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'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伦敦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'}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63193" y="4040378"/>
            <a:ext cx="7673034" cy="787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9747" marR="0">
              <a:lnSpc>
                <a:spcPts val="3170"/>
              </a:lnSpc>
              <a:spcBef>
                <a:spcPts val="0"/>
              </a:spcBef>
              <a:spcAft>
                <a:spcPts val="0"/>
              </a:spcAft>
            </a:pPr>
            <a:r>
              <a:rPr sz="2400" spc="11" dirty="0">
                <a:solidFill>
                  <a:srgbClr val="000000"/>
                </a:solidFill>
                <a:latin typeface="Microsoft YaHei"/>
                <a:cs typeface="Microsoft YaHei"/>
              </a:rPr>
              <a:t>直接使用大括号（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{}</a:t>
            </a:r>
            <a:r>
              <a:rPr sz="2400" spc="11" dirty="0">
                <a:solidFill>
                  <a:srgbClr val="000000"/>
                </a:solidFill>
                <a:latin typeface="Microsoft YaHei"/>
                <a:cs typeface="Microsoft YaHei"/>
              </a:rPr>
              <a:t>）</a:t>
            </a:r>
            <a:r>
              <a:rPr sz="2400" spc="11" dirty="0" err="1">
                <a:solidFill>
                  <a:srgbClr val="000000"/>
                </a:solidFill>
                <a:latin typeface="Microsoft YaHei"/>
                <a:cs typeface="Microsoft YaHei"/>
              </a:rPr>
              <a:t>可以创建一个空的字典</a:t>
            </a:r>
            <a:r>
              <a:rPr lang="zh-CN" altLang="en-US" sz="2400" spc="11" dirty="0">
                <a:solidFill>
                  <a:srgbClr val="000000"/>
                </a:solidFill>
                <a:latin typeface="Microsoft YaHei"/>
                <a:cs typeface="Microsoft YaHei"/>
              </a:rPr>
              <a:t>（</a:t>
            </a:r>
            <a:r>
              <a:rPr lang="zh-CN" altLang="en-US" sz="2400" spc="11" dirty="0">
                <a:solidFill>
                  <a:srgbClr val="FF0000"/>
                </a:solidFill>
                <a:latin typeface="Microsoft YaHei"/>
                <a:cs typeface="Microsoft YaHei"/>
              </a:rPr>
              <a:t>并不是集合</a:t>
            </a:r>
            <a:r>
              <a:rPr lang="zh-CN" altLang="en-US" sz="2400" spc="11" dirty="0">
                <a:solidFill>
                  <a:srgbClr val="000000"/>
                </a:solidFill>
                <a:latin typeface="Microsoft YaHei"/>
                <a:cs typeface="Microsoft YaHei"/>
              </a:rPr>
              <a:t>）</a:t>
            </a:r>
            <a:r>
              <a:rPr sz="2400" spc="11" dirty="0">
                <a:solidFill>
                  <a:srgbClr val="000000"/>
                </a:solidFill>
                <a:latin typeface="Microsoft YaHei"/>
                <a:cs typeface="Microsoft YaHei"/>
              </a:rPr>
              <a:t>，</a:t>
            </a:r>
            <a:r>
              <a:rPr sz="2400" spc="11" dirty="0" err="1">
                <a:solidFill>
                  <a:srgbClr val="000000"/>
                </a:solidFill>
                <a:latin typeface="Microsoft YaHei"/>
                <a:cs typeface="Microsoft YaHei"/>
              </a:rPr>
              <a:t>并通过</a:t>
            </a:r>
            <a:r>
              <a:rPr sz="2400" dirty="0" err="1">
                <a:solidFill>
                  <a:srgbClr val="000000"/>
                </a:solidFill>
                <a:latin typeface="Microsoft YaHei"/>
                <a:cs typeface="Microsoft YaHei"/>
              </a:rPr>
              <a:t>中括号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（[]）向其增加元素。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73556" y="5303706"/>
            <a:ext cx="1112796" cy="297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39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&gt;&gt;&gt;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Dp=</a:t>
            </a:r>
            <a:r>
              <a:rPr sz="1800" b="1" dirty="0">
                <a:solidFill>
                  <a:srgbClr val="000000"/>
                </a:solidFill>
                <a:latin typeface="Courier New"/>
                <a:cs typeface="Courier New"/>
              </a:rPr>
              <a:t>{}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73556" y="5600083"/>
            <a:ext cx="2078439" cy="7491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&gt;&gt;&gt;Dp['2^10']=1024</a:t>
            </a:r>
          </a:p>
          <a:p>
            <a:pPr marL="0" marR="0">
              <a:lnSpc>
                <a:spcPts val="1807"/>
              </a:lnSpc>
              <a:spcBef>
                <a:spcPts val="253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&gt;&gt;&gt;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print(Dp)</a:t>
            </a:r>
          </a:p>
          <a:p>
            <a:pPr marL="0" marR="0">
              <a:lnSpc>
                <a:spcPts val="1590"/>
              </a:lnSpc>
              <a:spcBef>
                <a:spcPts val="305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{'2^10': 1024}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3226" y="5314333"/>
            <a:ext cx="2441717" cy="957536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482CD1B5-397C-4D6B-B465-3703EFC44D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0451" y="5301207"/>
            <a:ext cx="2863450" cy="970661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3706977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字典类型的操作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270760" y="2508940"/>
            <a:ext cx="1043939" cy="459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3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函数和方法</a:t>
            </a:r>
          </a:p>
          <a:p>
            <a:pPr marL="54863" marR="0">
              <a:lnSpc>
                <a:spcPts val="1554"/>
              </a:lnSpc>
              <a:spcBef>
                <a:spcPts val="31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&lt;d&gt;.keys()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718047" y="2508940"/>
            <a:ext cx="1578864" cy="4476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4923" marR="0">
              <a:lnSpc>
                <a:spcPts val="1403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描述</a:t>
            </a:r>
          </a:p>
          <a:p>
            <a:pPr marL="0" marR="0">
              <a:lnSpc>
                <a:spcPts val="1403"/>
              </a:lnSpc>
              <a:spcBef>
                <a:spcPts val="416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返回所有的键信息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260092" y="2964146"/>
            <a:ext cx="1063148" cy="2358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57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&lt;d&gt;.values()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718047" y="2971339"/>
            <a:ext cx="1581302" cy="21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6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返回所有的值信息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296667" y="3196066"/>
            <a:ext cx="992310" cy="2355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54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&lt;d&gt;.items()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5718047" y="3203249"/>
            <a:ext cx="1578864" cy="216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3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返回所有的键值对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757172" y="3427333"/>
            <a:ext cx="2072780" cy="4669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383" marR="0">
              <a:lnSpc>
                <a:spcPts val="1554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&lt;d&gt;.get(&lt;key&gt;,&lt;default&gt;)</a:t>
            </a:r>
          </a:p>
          <a:p>
            <a:pPr marL="0" marR="0">
              <a:lnSpc>
                <a:spcPts val="1554"/>
              </a:lnSpc>
              <a:spcBef>
                <a:spcPts val="217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&lt;d&gt;.pop(&lt;key&gt;,&lt;default&gt;)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4917947" y="3434516"/>
            <a:ext cx="31836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3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键存在则返回相应值，否则返回</a:t>
            </a:r>
            <a:r>
              <a:rPr sz="1400" dirty="0">
                <a:solidFill>
                  <a:srgbClr val="FF0000"/>
                </a:solidFill>
                <a:latin typeface="SimSun"/>
                <a:cs typeface="SimSun"/>
              </a:rPr>
              <a:t>默认值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562855" y="3679626"/>
            <a:ext cx="3896867" cy="4160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3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键存在则返回相应值，同时删除键值对，否则返</a:t>
            </a:r>
          </a:p>
          <a:p>
            <a:pPr marL="1511808" marR="0">
              <a:lnSpc>
                <a:spcPts val="1403"/>
              </a:lnSpc>
              <a:spcBef>
                <a:spcPts val="168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回默认值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197607" y="4121769"/>
            <a:ext cx="1190382" cy="2355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54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&lt;d&gt;.popitem()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4501641" y="4127865"/>
            <a:ext cx="4012082" cy="2355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54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随机从字典中取出一个键值对，以元组</a:t>
            </a:r>
            <a:r>
              <a:rPr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(key,</a:t>
            </a:r>
            <a:r>
              <a:rPr sz="1400" spc="1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value)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045708" y="4342312"/>
            <a:ext cx="865632" cy="216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3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形式返回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2151888" y="4584430"/>
            <a:ext cx="1280734" cy="6984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3067" marR="0">
              <a:lnSpc>
                <a:spcPts val="1554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&lt;d&gt;.clear()</a:t>
            </a:r>
          </a:p>
          <a:p>
            <a:pPr marL="0" marR="0">
              <a:lnSpc>
                <a:spcPts val="1554"/>
              </a:lnSpc>
              <a:spcBef>
                <a:spcPts val="219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del</a:t>
            </a:r>
            <a:r>
              <a:rPr sz="1400" spc="-1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&lt;d&gt;[&lt;key&gt;]</a:t>
            </a:r>
          </a:p>
          <a:p>
            <a:pPr marL="76200" marR="0">
              <a:lnSpc>
                <a:spcPts val="1554"/>
              </a:lnSpc>
              <a:spcBef>
                <a:spcPts val="216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&lt;key&gt; in &lt;d&gt;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5451347" y="4591613"/>
            <a:ext cx="2113788" cy="4480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6700" marR="0">
              <a:lnSpc>
                <a:spcPts val="1403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删除所有的键值对</a:t>
            </a:r>
          </a:p>
          <a:p>
            <a:pPr marL="0" marR="0">
              <a:lnSpc>
                <a:spcPts val="1403"/>
              </a:lnSpc>
              <a:spcBef>
                <a:spcPts val="42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删除字典中某一个键值对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4832603" y="5048869"/>
            <a:ext cx="3361682" cy="2355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54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如果键在字典中返回</a:t>
            </a:r>
            <a:r>
              <a:rPr sz="1400" spc="-12" dirty="0">
                <a:solidFill>
                  <a:srgbClr val="000000"/>
                </a:solidFill>
                <a:latin typeface="Times New Roman"/>
                <a:cs typeface="Times New Roman"/>
              </a:rPr>
              <a:t>True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，否则返回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False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3706977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字典类型的操作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52855" y="2253695"/>
            <a:ext cx="7857628" cy="3623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7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&gt;&gt;&gt;</a:t>
            </a:r>
            <a:r>
              <a:rPr sz="1800" b="1" dirty="0">
                <a:solidFill>
                  <a:srgbClr val="000000"/>
                </a:solidFill>
                <a:latin typeface="Courier New"/>
                <a:cs typeface="Courier New"/>
              </a:rPr>
              <a:t>Dcountry=</a:t>
            </a:r>
            <a:r>
              <a:rPr sz="2000" b="1" dirty="0">
                <a:solidFill>
                  <a:srgbClr val="000000"/>
                </a:solidFill>
                <a:latin typeface="Courier New"/>
                <a:cs typeface="Courier New"/>
              </a:rPr>
              <a:t>{</a:t>
            </a:r>
            <a:r>
              <a:rPr sz="1800" spc="-11" dirty="0">
                <a:solidFill>
                  <a:srgbClr val="000000"/>
                </a:solidFill>
                <a:latin typeface="Courier New"/>
                <a:cs typeface="Courier New"/>
              </a:rPr>
              <a:t>"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中国</a:t>
            </a:r>
            <a:r>
              <a:rPr sz="1800" dirty="0">
                <a:solidFill>
                  <a:srgbClr val="000000"/>
                </a:solidFill>
                <a:latin typeface="Courier New"/>
                <a:cs typeface="Courier New"/>
              </a:rPr>
              <a:t>":"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北京</a:t>
            </a:r>
            <a:r>
              <a:rPr sz="1800" dirty="0">
                <a:solidFill>
                  <a:srgbClr val="000000"/>
                </a:solidFill>
                <a:latin typeface="Courier New"/>
                <a:cs typeface="Courier New"/>
              </a:rPr>
              <a:t>",</a:t>
            </a:r>
            <a:r>
              <a:rPr sz="1800" spc="-5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00000"/>
                </a:solidFill>
                <a:latin typeface="Courier New"/>
                <a:cs typeface="Courier New"/>
              </a:rPr>
              <a:t>"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美国</a:t>
            </a:r>
            <a:r>
              <a:rPr sz="1800" dirty="0">
                <a:solidFill>
                  <a:srgbClr val="000000"/>
                </a:solidFill>
                <a:latin typeface="Courier New"/>
                <a:cs typeface="Courier New"/>
              </a:rPr>
              <a:t>":"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华盛顿</a:t>
            </a:r>
            <a:r>
              <a:rPr sz="1800" dirty="0">
                <a:solidFill>
                  <a:srgbClr val="000000"/>
                </a:solidFill>
                <a:latin typeface="Courier New"/>
                <a:cs typeface="Courier New"/>
              </a:rPr>
              <a:t>",</a:t>
            </a:r>
            <a:r>
              <a:rPr sz="1800" spc="-37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00000"/>
                </a:solidFill>
                <a:latin typeface="Courier New"/>
                <a:cs typeface="Courier New"/>
              </a:rPr>
              <a:t>"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法国</a:t>
            </a:r>
            <a:r>
              <a:rPr sz="1800" dirty="0">
                <a:solidFill>
                  <a:srgbClr val="000000"/>
                </a:solidFill>
                <a:latin typeface="Courier New"/>
                <a:cs typeface="Courier New"/>
              </a:rPr>
              <a:t>":"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巴黎</a:t>
            </a:r>
            <a:r>
              <a:rPr sz="1800" dirty="0">
                <a:solidFill>
                  <a:srgbClr val="000000"/>
                </a:solidFill>
                <a:latin typeface="Courier New"/>
                <a:cs typeface="Courier New"/>
              </a:rPr>
              <a:t>"</a:t>
            </a:r>
            <a:r>
              <a:rPr sz="2000" b="1" dirty="0">
                <a:solidFill>
                  <a:srgbClr val="000000"/>
                </a:solidFill>
                <a:latin typeface="Courier New"/>
                <a:cs typeface="Courier New"/>
              </a:rPr>
              <a:t>}</a:t>
            </a:r>
          </a:p>
          <a:p>
            <a:pPr marL="0" marR="0">
              <a:lnSpc>
                <a:spcPts val="1807"/>
              </a:lnSpc>
              <a:spcBef>
                <a:spcPts val="74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&gt;&gt;&gt;Dcountry.keys()</a:t>
            </a:r>
          </a:p>
          <a:p>
            <a:pPr marL="0" marR="0">
              <a:lnSpc>
                <a:spcPts val="2004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Courier New"/>
                <a:cs typeface="Courier New"/>
              </a:rPr>
              <a:t>dict_keys(['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中国</a:t>
            </a:r>
            <a:r>
              <a:rPr sz="1800" dirty="0">
                <a:solidFill>
                  <a:srgbClr val="000000"/>
                </a:solidFill>
                <a:latin typeface="Courier New"/>
                <a:cs typeface="Courier New"/>
              </a:rPr>
              <a:t>',</a:t>
            </a:r>
            <a:r>
              <a:rPr sz="1800" spc="-49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00000"/>
                </a:solidFill>
                <a:latin typeface="Courier New"/>
                <a:cs typeface="Courier New"/>
              </a:rPr>
              <a:t>'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美国</a:t>
            </a:r>
            <a:r>
              <a:rPr sz="1800" dirty="0">
                <a:solidFill>
                  <a:srgbClr val="000000"/>
                </a:solidFill>
                <a:latin typeface="Courier New"/>
                <a:cs typeface="Courier New"/>
              </a:rPr>
              <a:t>',</a:t>
            </a:r>
            <a:r>
              <a:rPr sz="1800" spc="-23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00000"/>
                </a:solidFill>
                <a:latin typeface="Courier New"/>
                <a:cs typeface="Courier New"/>
              </a:rPr>
              <a:t>'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法国</a:t>
            </a:r>
            <a:r>
              <a:rPr sz="1800" dirty="0">
                <a:solidFill>
                  <a:srgbClr val="000000"/>
                </a:solidFill>
                <a:latin typeface="Courier New"/>
                <a:cs typeface="Courier New"/>
              </a:rPr>
              <a:t>'])</a:t>
            </a:r>
          </a:p>
          <a:p>
            <a:pPr marL="0" marR="0">
              <a:lnSpc>
                <a:spcPts val="1807"/>
              </a:lnSpc>
              <a:spcBef>
                <a:spcPts val="122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&gt;&gt;&gt;list(Dcountry.values())</a:t>
            </a:r>
          </a:p>
          <a:p>
            <a:pPr marL="0" marR="0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Courier New"/>
                <a:cs typeface="Courier New"/>
              </a:rPr>
              <a:t>['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北京</a:t>
            </a:r>
            <a:r>
              <a:rPr sz="1800" dirty="0">
                <a:solidFill>
                  <a:srgbClr val="000000"/>
                </a:solidFill>
                <a:latin typeface="Courier New"/>
                <a:cs typeface="Courier New"/>
              </a:rPr>
              <a:t>',</a:t>
            </a:r>
            <a:r>
              <a:rPr sz="1800" spc="-23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00000"/>
                </a:solidFill>
                <a:latin typeface="Courier New"/>
                <a:cs typeface="Courier New"/>
              </a:rPr>
              <a:t>'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华盛顿</a:t>
            </a:r>
            <a:r>
              <a:rPr sz="1800" dirty="0">
                <a:solidFill>
                  <a:srgbClr val="000000"/>
                </a:solidFill>
                <a:latin typeface="Courier New"/>
                <a:cs typeface="Courier New"/>
              </a:rPr>
              <a:t>',</a:t>
            </a:r>
            <a:r>
              <a:rPr sz="1800" spc="-23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00000"/>
                </a:solidFill>
                <a:latin typeface="Courier New"/>
                <a:cs typeface="Courier New"/>
              </a:rPr>
              <a:t>'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巴黎</a:t>
            </a:r>
            <a:r>
              <a:rPr sz="1800" dirty="0">
                <a:solidFill>
                  <a:srgbClr val="000000"/>
                </a:solidFill>
                <a:latin typeface="Courier New"/>
                <a:cs typeface="Courier New"/>
              </a:rPr>
              <a:t>']</a:t>
            </a:r>
          </a:p>
          <a:p>
            <a:pPr marL="0" marR="0">
              <a:lnSpc>
                <a:spcPts val="1807"/>
              </a:lnSpc>
              <a:spcBef>
                <a:spcPts val="122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&gt;&gt;&gt;Dcountry.items()</a:t>
            </a:r>
          </a:p>
          <a:p>
            <a:pPr marL="0" marR="0">
              <a:lnSpc>
                <a:spcPts val="2003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Courier New"/>
                <a:cs typeface="Courier New"/>
              </a:rPr>
              <a:t>dict_items([('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中国</a:t>
            </a:r>
            <a:r>
              <a:rPr sz="1800" dirty="0">
                <a:solidFill>
                  <a:srgbClr val="000000"/>
                </a:solidFill>
                <a:latin typeface="Courier New"/>
                <a:cs typeface="Courier New"/>
              </a:rPr>
              <a:t>',</a:t>
            </a:r>
            <a:r>
              <a:rPr sz="1800" spc="-5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00000"/>
                </a:solidFill>
                <a:latin typeface="Courier New"/>
                <a:cs typeface="Courier New"/>
              </a:rPr>
              <a:t>'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北京</a:t>
            </a:r>
            <a:r>
              <a:rPr sz="1800" dirty="0">
                <a:solidFill>
                  <a:srgbClr val="000000"/>
                </a:solidFill>
                <a:latin typeface="Courier New"/>
                <a:cs typeface="Courier New"/>
              </a:rPr>
              <a:t>'),</a:t>
            </a:r>
            <a:r>
              <a:rPr sz="1800" spc="-28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00000"/>
                </a:solidFill>
                <a:latin typeface="Courier New"/>
                <a:cs typeface="Courier New"/>
              </a:rPr>
              <a:t>('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美国</a:t>
            </a:r>
            <a:r>
              <a:rPr sz="1800" dirty="0">
                <a:solidFill>
                  <a:srgbClr val="000000"/>
                </a:solidFill>
                <a:latin typeface="Courier New"/>
                <a:cs typeface="Courier New"/>
              </a:rPr>
              <a:t>',</a:t>
            </a:r>
            <a:r>
              <a:rPr sz="1800" spc="-28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00000"/>
                </a:solidFill>
                <a:latin typeface="Courier New"/>
                <a:cs typeface="Courier New"/>
              </a:rPr>
              <a:t>'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华盛顿</a:t>
            </a:r>
            <a:r>
              <a:rPr sz="1800" dirty="0">
                <a:solidFill>
                  <a:srgbClr val="000000"/>
                </a:solidFill>
                <a:latin typeface="Courier New"/>
                <a:cs typeface="Courier New"/>
              </a:rPr>
              <a:t>'),</a:t>
            </a:r>
            <a:r>
              <a:rPr sz="1800" spc="-28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00000"/>
                </a:solidFill>
                <a:latin typeface="Courier New"/>
                <a:cs typeface="Courier New"/>
              </a:rPr>
              <a:t>('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法国</a:t>
            </a:r>
            <a:r>
              <a:rPr sz="1800" dirty="0">
                <a:solidFill>
                  <a:srgbClr val="000000"/>
                </a:solidFill>
                <a:latin typeface="Courier New"/>
                <a:cs typeface="Courier New"/>
              </a:rPr>
              <a:t>',</a:t>
            </a:r>
            <a:r>
              <a:rPr sz="1800" spc="-28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00000"/>
                </a:solidFill>
                <a:latin typeface="Courier New"/>
                <a:cs typeface="Courier New"/>
              </a:rPr>
              <a:t>'</a:t>
            </a:r>
          </a:p>
          <a:p>
            <a:pPr marL="0" marR="0">
              <a:lnSpc>
                <a:spcPts val="2007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巴黎</a:t>
            </a:r>
            <a:r>
              <a:rPr sz="1800" dirty="0">
                <a:solidFill>
                  <a:srgbClr val="000000"/>
                </a:solidFill>
                <a:latin typeface="Courier New"/>
                <a:cs typeface="Courier New"/>
              </a:rPr>
              <a:t>')])</a:t>
            </a:r>
          </a:p>
          <a:p>
            <a:pPr marL="0" marR="0">
              <a:lnSpc>
                <a:spcPts val="1991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&gt;&gt;&gt;</a:t>
            </a:r>
            <a:r>
              <a:rPr sz="1800" b="1" dirty="0">
                <a:solidFill>
                  <a:srgbClr val="000000"/>
                </a:solidFill>
                <a:latin typeface="Courier New"/>
                <a:cs typeface="Courier New"/>
              </a:rPr>
              <a:t>'</a:t>
            </a:r>
            <a:r>
              <a:rPr sz="1800" spc="11" dirty="0">
                <a:solidFill>
                  <a:srgbClr val="000000"/>
                </a:solidFill>
                <a:latin typeface="SimSun"/>
                <a:cs typeface="SimSun"/>
              </a:rPr>
              <a:t>中国</a:t>
            </a:r>
            <a:r>
              <a:rPr sz="1800" b="1" dirty="0">
                <a:solidFill>
                  <a:srgbClr val="000000"/>
                </a:solidFill>
                <a:latin typeface="Courier New"/>
                <a:cs typeface="Courier New"/>
              </a:rPr>
              <a:t>'</a:t>
            </a:r>
            <a:r>
              <a:rPr sz="1800" b="1" spc="-12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0000"/>
                </a:solidFill>
                <a:latin typeface="Courier New"/>
                <a:cs typeface="Courier New"/>
              </a:rPr>
              <a:t>in</a:t>
            </a:r>
            <a:r>
              <a:rPr sz="1800" b="1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0000"/>
                </a:solidFill>
                <a:latin typeface="Courier New"/>
                <a:cs typeface="Courier New"/>
              </a:rPr>
              <a:t>Dc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ountry</a:t>
            </a:r>
            <a:r>
              <a:rPr sz="1600" b="1" spc="1935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FF0000"/>
                </a:solidFill>
                <a:latin typeface="Courier New"/>
                <a:cs typeface="Courier New"/>
              </a:rPr>
              <a:t>#</a:t>
            </a:r>
            <a:r>
              <a:rPr sz="1600" dirty="0">
                <a:solidFill>
                  <a:srgbClr val="FF0000"/>
                </a:solidFill>
                <a:latin typeface="SimSun"/>
                <a:cs typeface="SimSun"/>
              </a:rPr>
              <a:t>只对键进行判断</a:t>
            </a:r>
          </a:p>
          <a:p>
            <a:pPr marL="0" marR="0">
              <a:lnSpc>
                <a:spcPts val="1807"/>
              </a:lnSpc>
              <a:spcBef>
                <a:spcPts val="172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True</a:t>
            </a:r>
          </a:p>
          <a:p>
            <a:pPr marL="0" marR="0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&gt;&gt;&gt;Dcountry.ge</a:t>
            </a:r>
            <a:r>
              <a:rPr sz="1800" b="1" dirty="0">
                <a:solidFill>
                  <a:srgbClr val="000000"/>
                </a:solidFill>
                <a:latin typeface="Courier New"/>
                <a:cs typeface="Courier New"/>
              </a:rPr>
              <a:t>t('</a:t>
            </a:r>
            <a:r>
              <a:rPr sz="1800" spc="12" dirty="0">
                <a:solidFill>
                  <a:srgbClr val="000000"/>
                </a:solidFill>
                <a:latin typeface="SimSun"/>
                <a:cs typeface="SimSun"/>
              </a:rPr>
              <a:t>美国</a:t>
            </a:r>
            <a:r>
              <a:rPr sz="1800" b="1" dirty="0">
                <a:solidFill>
                  <a:srgbClr val="000000"/>
                </a:solidFill>
                <a:latin typeface="Courier New"/>
                <a:cs typeface="Courier New"/>
              </a:rPr>
              <a:t>',</a:t>
            </a:r>
            <a:r>
              <a:rPr sz="1800" b="1" spc="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0000"/>
                </a:solidFill>
                <a:latin typeface="Courier New"/>
                <a:cs typeface="Courier New"/>
              </a:rPr>
              <a:t>'</a:t>
            </a:r>
            <a:r>
              <a:rPr sz="1800" spc="11" dirty="0">
                <a:solidFill>
                  <a:srgbClr val="000000"/>
                </a:solidFill>
                <a:latin typeface="SimSun"/>
                <a:cs typeface="SimSun"/>
              </a:rPr>
              <a:t>悉尼</a:t>
            </a:r>
            <a:r>
              <a:rPr sz="1800" b="1" dirty="0">
                <a:solidFill>
                  <a:srgbClr val="000000"/>
                </a:solidFill>
                <a:latin typeface="Courier New"/>
                <a:cs typeface="Courier New"/>
              </a:rPr>
              <a:t>')</a:t>
            </a:r>
            <a:r>
              <a:rPr sz="1800" b="1" spc="-23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0000"/>
                </a:solidFill>
                <a:latin typeface="Courier New"/>
                <a:cs typeface="Courier New"/>
              </a:rPr>
              <a:t>#'</a:t>
            </a:r>
            <a:r>
              <a:rPr sz="1800" spc="11" dirty="0">
                <a:solidFill>
                  <a:srgbClr val="000000"/>
                </a:solidFill>
                <a:latin typeface="SimSun"/>
                <a:cs typeface="SimSun"/>
              </a:rPr>
              <a:t>美国</a:t>
            </a:r>
            <a:r>
              <a:rPr sz="1800" b="1" dirty="0">
                <a:solidFill>
                  <a:srgbClr val="000000"/>
                </a:solidFill>
                <a:latin typeface="Courier New"/>
                <a:cs typeface="Courier New"/>
              </a:rPr>
              <a:t>'</a:t>
            </a:r>
            <a:r>
              <a:rPr sz="1800" spc="11" dirty="0">
                <a:solidFill>
                  <a:srgbClr val="000000"/>
                </a:solidFill>
                <a:latin typeface="SimSun"/>
                <a:cs typeface="SimSun"/>
              </a:rPr>
              <a:t>在字典中存在</a:t>
            </a:r>
          </a:p>
          <a:p>
            <a:pPr marL="0" marR="0">
              <a:lnSpc>
                <a:spcPts val="1992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Courier New"/>
                <a:cs typeface="Courier New"/>
              </a:rPr>
              <a:t>'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华盛顿</a:t>
            </a:r>
            <a:r>
              <a:rPr sz="1800" dirty="0">
                <a:solidFill>
                  <a:srgbClr val="000000"/>
                </a:solidFill>
                <a:latin typeface="Courier New"/>
                <a:cs typeface="Courier New"/>
              </a:rPr>
              <a:t>'</a:t>
            </a:r>
          </a:p>
          <a:p>
            <a:pPr marL="0" marR="0">
              <a:lnSpc>
                <a:spcPts val="2004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&gt;&gt;&gt;Dcountry.ge</a:t>
            </a:r>
            <a:r>
              <a:rPr sz="1800" b="1" dirty="0">
                <a:solidFill>
                  <a:srgbClr val="000000"/>
                </a:solidFill>
                <a:latin typeface="Courier New"/>
                <a:cs typeface="Courier New"/>
              </a:rPr>
              <a:t>t('</a:t>
            </a:r>
            <a:r>
              <a:rPr sz="1800" spc="12" dirty="0">
                <a:solidFill>
                  <a:srgbClr val="000000"/>
                </a:solidFill>
                <a:latin typeface="SimSun"/>
                <a:cs typeface="SimSun"/>
              </a:rPr>
              <a:t>澳大利亚</a:t>
            </a:r>
            <a:r>
              <a:rPr sz="1800" b="1" dirty="0">
                <a:solidFill>
                  <a:srgbClr val="000000"/>
                </a:solidFill>
                <a:latin typeface="Courier New"/>
                <a:cs typeface="Courier New"/>
              </a:rPr>
              <a:t>', '</a:t>
            </a:r>
            <a:r>
              <a:rPr sz="1800" spc="11" dirty="0">
                <a:solidFill>
                  <a:srgbClr val="000000"/>
                </a:solidFill>
                <a:latin typeface="SimSun"/>
                <a:cs typeface="SimSun"/>
              </a:rPr>
              <a:t>悉尼</a:t>
            </a:r>
            <a:r>
              <a:rPr sz="1800" b="1" dirty="0">
                <a:solidFill>
                  <a:srgbClr val="000000"/>
                </a:solidFill>
                <a:latin typeface="Courier New"/>
                <a:cs typeface="Courier New"/>
              </a:rPr>
              <a:t>')</a:t>
            </a:r>
            <a:r>
              <a:rPr sz="1800" b="1" spc="-28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0000"/>
                </a:solidFill>
                <a:latin typeface="Courier New"/>
                <a:cs typeface="Courier New"/>
              </a:rPr>
              <a:t>#'</a:t>
            </a:r>
            <a:r>
              <a:rPr sz="1800" spc="11" dirty="0">
                <a:solidFill>
                  <a:srgbClr val="000000"/>
                </a:solidFill>
                <a:latin typeface="SimSun"/>
                <a:cs typeface="SimSun"/>
              </a:rPr>
              <a:t>澳大利亚</a:t>
            </a:r>
            <a:r>
              <a:rPr sz="1800" b="1" dirty="0">
                <a:solidFill>
                  <a:srgbClr val="000000"/>
                </a:solidFill>
                <a:latin typeface="Courier New"/>
                <a:cs typeface="Courier New"/>
              </a:rPr>
              <a:t>'</a:t>
            </a:r>
            <a:r>
              <a:rPr sz="1800" spc="11" dirty="0">
                <a:solidFill>
                  <a:srgbClr val="000000"/>
                </a:solidFill>
                <a:latin typeface="SimSun"/>
                <a:cs typeface="SimSun"/>
              </a:rPr>
              <a:t>在字典中不存在</a:t>
            </a:r>
          </a:p>
          <a:p>
            <a:pPr marL="0" marR="0">
              <a:lnSpc>
                <a:spcPts val="2006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Courier New"/>
                <a:cs typeface="Courier New"/>
              </a:rPr>
              <a:t>'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悉尼</a:t>
            </a:r>
            <a:r>
              <a:rPr sz="1800" dirty="0">
                <a:solidFill>
                  <a:srgbClr val="000000"/>
                </a:solidFill>
                <a:latin typeface="Courier New"/>
                <a:cs typeface="Courier New"/>
              </a:rPr>
              <a:t>'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3706977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字典类型的操作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8667" y="1935422"/>
            <a:ext cx="7817536" cy="20866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670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spc="34" dirty="0">
                <a:solidFill>
                  <a:srgbClr val="000000"/>
                </a:solidFill>
                <a:latin typeface="Microsoft YaHei"/>
                <a:cs typeface="Microsoft YaHei"/>
              </a:rPr>
              <a:t>与其他组合类型一样，字典可以通过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for…</a:t>
            </a:r>
            <a:r>
              <a:rPr sz="2400" spc="15" dirty="0">
                <a:solidFill>
                  <a:srgbClr val="000000"/>
                </a:solidFill>
                <a:latin typeface="Microsoft YaHei"/>
                <a:cs typeface="Microsoft YaHei"/>
              </a:rPr>
              <a:t>in</a:t>
            </a:r>
            <a:r>
              <a:rPr sz="2400" spc="36" dirty="0">
                <a:solidFill>
                  <a:srgbClr val="000000"/>
                </a:solidFill>
                <a:latin typeface="Microsoft YaHei"/>
                <a:cs typeface="Microsoft YaHei"/>
              </a:rPr>
              <a:t>语句对其元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素进行遍历，基本语法结构如下：</a:t>
            </a:r>
          </a:p>
          <a:p>
            <a:pPr marL="266700" marR="0">
              <a:lnSpc>
                <a:spcPts val="3167"/>
              </a:lnSpc>
              <a:spcBef>
                <a:spcPts val="1105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for</a:t>
            </a:r>
            <a:r>
              <a:rPr sz="2400" spc="1115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&lt;变量名&gt;</a:t>
            </a:r>
            <a:r>
              <a:rPr sz="2400" spc="713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in</a:t>
            </a:r>
            <a:r>
              <a:rPr sz="2400" spc="707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&lt;字典名&gt;:</a:t>
            </a:r>
          </a:p>
          <a:p>
            <a:pPr marL="990904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语句块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367282" y="4788913"/>
            <a:ext cx="2269632" cy="210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&gt;&gt;&gt;for key in</a:t>
            </a:r>
            <a:r>
              <a:rPr sz="1200" b="1" spc="2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Dcountry: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967738" y="5042278"/>
            <a:ext cx="1070929" cy="210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print(key)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367282" y="5270428"/>
            <a:ext cx="509016" cy="7253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3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中国</a:t>
            </a:r>
          </a:p>
          <a:p>
            <a:pPr marL="0" marR="0">
              <a:lnSpc>
                <a:spcPts val="1403"/>
              </a:lnSpc>
              <a:spcBef>
                <a:spcPts val="599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美国</a:t>
            </a:r>
          </a:p>
          <a:p>
            <a:pPr marL="0" marR="0">
              <a:lnSpc>
                <a:spcPts val="1403"/>
              </a:lnSpc>
              <a:spcBef>
                <a:spcPts val="599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法国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9CC2DAAA-8CBE-49B6-83E7-9CC09E4075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7435" y="4785952"/>
            <a:ext cx="3114675" cy="1171575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55EE4C4F-0AAC-4AF6-A96E-919F52A017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7426" y="3412420"/>
            <a:ext cx="5134692" cy="609685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9228F5E2-ECED-4F71-A7CC-C2BD7285D2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7426" y="4055634"/>
            <a:ext cx="2457793" cy="590632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3706977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字典类型的操作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86765" y="2268924"/>
            <a:ext cx="8344814" cy="15379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670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字典是实现键值对映射的数据结构，请理解如下基本原则：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spc="307" dirty="0">
                <a:solidFill>
                  <a:srgbClr val="000000"/>
                </a:solidFill>
                <a:latin typeface="Wingdings"/>
                <a:cs typeface="Wingdings"/>
              </a:rPr>
              <a:t>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字典是一个键值对的集合，该集合以键为索引，一个键信息</a:t>
            </a:r>
          </a:p>
          <a:p>
            <a:pPr marL="0" marR="0">
              <a:lnSpc>
                <a:spcPts val="3167"/>
              </a:lnSpc>
              <a:spcBef>
                <a:spcPts val="1104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只对应一个值信息；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86764" y="3915098"/>
            <a:ext cx="8189691" cy="791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spc="307" dirty="0">
                <a:solidFill>
                  <a:srgbClr val="000000"/>
                </a:solidFill>
                <a:latin typeface="Wingdings"/>
                <a:cs typeface="Wingdings"/>
              </a:rPr>
              <a:t></a:t>
            </a:r>
            <a:r>
              <a:rPr sz="2400" dirty="0" err="1">
                <a:solidFill>
                  <a:srgbClr val="000000"/>
                </a:solidFill>
                <a:latin typeface="Microsoft YaHei"/>
                <a:cs typeface="Microsoft YaHei"/>
              </a:rPr>
              <a:t>字典中元素以键信息为索引访问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；</a:t>
            </a:r>
            <a:r>
              <a:rPr lang="zh-CN" altLang="en-US" sz="2400" dirty="0">
                <a:solidFill>
                  <a:srgbClr val="FF0000"/>
                </a:solidFill>
                <a:latin typeface="Microsoft YaHei"/>
                <a:cs typeface="Microsoft YaHei"/>
              </a:rPr>
              <a:t>（数字索引</a:t>
            </a:r>
            <a:r>
              <a:rPr lang="en-US" altLang="zh-CN" sz="2400" dirty="0">
                <a:solidFill>
                  <a:srgbClr val="FF0000"/>
                </a:solidFill>
                <a:latin typeface="Microsoft YaHei"/>
                <a:cs typeface="Microsoft YaHei"/>
              </a:rPr>
              <a:t>-</a:t>
            </a:r>
            <a:r>
              <a:rPr lang="zh-CN" altLang="en-US" sz="2400" dirty="0">
                <a:solidFill>
                  <a:srgbClr val="FF0000"/>
                </a:solidFill>
                <a:latin typeface="Microsoft YaHei"/>
                <a:cs typeface="Microsoft YaHei"/>
              </a:rPr>
              <a:t>位置索引）</a:t>
            </a:r>
            <a:endParaRPr lang="en-US" altLang="zh-CN" sz="2400" dirty="0">
              <a:solidFill>
                <a:srgbClr val="FF0000"/>
              </a:solidFill>
              <a:latin typeface="Microsoft YaHei"/>
              <a:cs typeface="Microsoft YaHei"/>
            </a:endParaRPr>
          </a:p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FF0000"/>
                </a:solidFill>
                <a:latin typeface="Microsoft YaHei"/>
                <a:cs typeface="Microsoft YaHei"/>
              </a:rPr>
              <a:t>     </a:t>
            </a:r>
            <a:r>
              <a:rPr lang="zh-CN" altLang="en-US" sz="2400" dirty="0">
                <a:solidFill>
                  <a:srgbClr val="FF0000"/>
                </a:solidFill>
                <a:latin typeface="Microsoft YaHei"/>
                <a:cs typeface="Microsoft YaHei"/>
              </a:rPr>
              <a:t>（字符索引</a:t>
            </a:r>
            <a:r>
              <a:rPr lang="en-US" altLang="zh-CN" sz="2400" dirty="0">
                <a:solidFill>
                  <a:srgbClr val="FF0000"/>
                </a:solidFill>
                <a:latin typeface="Microsoft YaHei"/>
                <a:cs typeface="Microsoft YaHei"/>
              </a:rPr>
              <a:t>-</a:t>
            </a:r>
            <a:r>
              <a:rPr lang="zh-CN" altLang="en-US" sz="2400" dirty="0">
                <a:solidFill>
                  <a:srgbClr val="FF0000"/>
                </a:solidFill>
                <a:latin typeface="Microsoft YaHei"/>
                <a:cs typeface="Microsoft YaHei"/>
              </a:rPr>
              <a:t>单词索引）</a:t>
            </a:r>
            <a:endParaRPr sz="2400" dirty="0">
              <a:solidFill>
                <a:srgbClr val="FF0000"/>
              </a:solidFill>
              <a:latin typeface="Microsoft YaHei"/>
              <a:cs typeface="Microsoft YaHe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8964" y="5086361"/>
            <a:ext cx="8343900" cy="9894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spc="307" dirty="0">
                <a:solidFill>
                  <a:srgbClr val="000000"/>
                </a:solidFill>
                <a:latin typeface="Wingdings"/>
                <a:cs typeface="Wingdings"/>
              </a:rPr>
              <a:t>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字典长度是可变的，可以通过对键信息赋值实现增加或修改</a:t>
            </a:r>
          </a:p>
          <a:p>
            <a:pPr marL="0" marR="0">
              <a:lnSpc>
                <a:spcPts val="3167"/>
              </a:lnSpc>
              <a:spcBef>
                <a:spcPts val="1105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键值对。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1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258314" y="2788949"/>
            <a:ext cx="4467448" cy="943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127"/>
              </a:lnSpc>
              <a:spcBef>
                <a:spcPts val="0"/>
              </a:spcBef>
              <a:spcAft>
                <a:spcPts val="0"/>
              </a:spcAft>
            </a:pPr>
            <a:r>
              <a:rPr sz="5400" spc="-15" dirty="0">
                <a:solidFill>
                  <a:srgbClr val="000000"/>
                </a:solidFill>
                <a:latin typeface="Microsoft YaHei"/>
                <a:cs typeface="Microsoft YaHei"/>
              </a:rPr>
              <a:t>jieba</a:t>
            </a:r>
            <a:r>
              <a:rPr sz="5400" dirty="0">
                <a:solidFill>
                  <a:srgbClr val="000000"/>
                </a:solidFill>
                <a:latin typeface="Microsoft YaHei"/>
                <a:cs typeface="Microsoft YaHei"/>
              </a:rPr>
              <a:t>库的使用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3347453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spc="-11" dirty="0">
                <a:solidFill>
                  <a:srgbClr val="262626"/>
                </a:solidFill>
                <a:latin typeface="Microsoft YaHei"/>
                <a:cs typeface="Microsoft YaHei"/>
              </a:rPr>
              <a:t>jieba</a:t>
            </a: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库的概述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66292" y="1854650"/>
            <a:ext cx="7063233" cy="3810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jieba是Python中一个重要的第三方</a:t>
            </a:r>
            <a:r>
              <a:rPr sz="2400" dirty="0">
                <a:solidFill>
                  <a:srgbClr val="FF0000"/>
                </a:solidFill>
                <a:latin typeface="Microsoft YaHei"/>
                <a:cs typeface="Microsoft YaHei"/>
              </a:rPr>
              <a:t>中文分词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函数库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351533" y="2822612"/>
            <a:ext cx="1983906" cy="267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7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&gt;&gt;&gt;import</a:t>
            </a:r>
            <a:r>
              <a:rPr sz="1600" b="1" spc="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jieba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351533" y="3186848"/>
            <a:ext cx="5116672" cy="636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7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&gt;&gt;&gt;jieba.lcut(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"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中国是一个伟大的国家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")</a:t>
            </a:r>
          </a:p>
          <a:p>
            <a:pPr marL="0" marR="0">
              <a:lnSpc>
                <a:spcPts val="1807"/>
              </a:lnSpc>
              <a:spcBef>
                <a:spcPts val="1053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['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中国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',</a:t>
            </a:r>
            <a:r>
              <a:rPr sz="1600" spc="25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是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',</a:t>
            </a:r>
            <a:r>
              <a:rPr sz="1600" spc="12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一个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',</a:t>
            </a:r>
            <a:r>
              <a:rPr sz="1600" spc="12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伟大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',</a:t>
            </a:r>
            <a:r>
              <a:rPr sz="1600" spc="25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的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',</a:t>
            </a:r>
            <a:r>
              <a:rPr sz="1600" spc="12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国家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']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05916" y="4299781"/>
            <a:ext cx="8331844" cy="791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 err="1">
                <a:solidFill>
                  <a:srgbClr val="000000"/>
                </a:solidFill>
                <a:latin typeface="Microsoft YaHei"/>
                <a:cs typeface="Microsoft YaHei"/>
              </a:rPr>
              <a:t>jieba库是第三方库，不是安装包自带，需要通过pip指令安装</a:t>
            </a:r>
            <a:r>
              <a:rPr lang="zh-CN" altLang="en-US" sz="2400" dirty="0">
                <a:solidFill>
                  <a:srgbClr val="000000"/>
                </a:solidFill>
                <a:latin typeface="Microsoft YaHei"/>
                <a:cs typeface="Microsoft YaHei"/>
              </a:rPr>
              <a:t>（</a:t>
            </a:r>
            <a:r>
              <a:rPr lang="zh-CN" altLang="en-US" sz="2400" dirty="0">
                <a:solidFill>
                  <a:srgbClr val="FF0000"/>
                </a:solidFill>
                <a:latin typeface="Microsoft YaHei"/>
                <a:cs typeface="Microsoft YaHei"/>
              </a:rPr>
              <a:t>必须联网</a:t>
            </a:r>
            <a:r>
              <a:rPr lang="zh-CN" altLang="en-US" sz="2400" dirty="0">
                <a:solidFill>
                  <a:srgbClr val="000000"/>
                </a:solidFill>
                <a:latin typeface="Microsoft YaHei"/>
                <a:cs typeface="Microsoft YaHei"/>
              </a:rPr>
              <a:t>）</a:t>
            </a:r>
            <a:endParaRPr sz="2400" dirty="0">
              <a:solidFill>
                <a:srgbClr val="000000"/>
              </a:solidFill>
              <a:latin typeface="Microsoft YaHei"/>
              <a:cs typeface="Microsoft YaHe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51533" y="5366059"/>
            <a:ext cx="5190050" cy="2448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:\&gt;pip</a:t>
            </a:r>
            <a:r>
              <a:rPr sz="1400" b="1" spc="-14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install</a:t>
            </a:r>
            <a:r>
              <a:rPr sz="1400" b="1" spc="-25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jieba</a:t>
            </a:r>
            <a:r>
              <a:rPr sz="1400" b="1" spc="1655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# </a:t>
            </a:r>
            <a:r>
              <a:rPr sz="1400" spc="18" dirty="0">
                <a:solidFill>
                  <a:srgbClr val="000000"/>
                </a:solidFill>
                <a:latin typeface="SimSun"/>
                <a:cs typeface="SimSun"/>
              </a:rPr>
              <a:t>或者</a:t>
            </a:r>
            <a:r>
              <a:rPr sz="1400" spc="45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pip3</a:t>
            </a:r>
            <a:r>
              <a:rPr sz="1400" b="1" spc="-15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install</a:t>
            </a:r>
            <a:r>
              <a:rPr sz="1400" b="1" spc="-28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jieba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5E5C7B-EA1D-4A4C-B35C-33ADC885B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F642B30-CB57-443F-90F9-8E0DF6DB53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D1181D2-76FC-4868-88C8-01B4174D02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713" y="0"/>
            <a:ext cx="9144000" cy="6858000"/>
          </a:xfrm>
          <a:prstGeom prst="rect">
            <a:avLst/>
          </a:prstGeom>
        </p:spPr>
      </p:pic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159B7020-A1A6-48AB-98DA-5BB6581BCFEB}"/>
              </a:ext>
            </a:extLst>
          </p:cNvPr>
          <p:cNvCxnSpPr/>
          <p:nvPr/>
        </p:nvCxnSpPr>
        <p:spPr>
          <a:xfrm>
            <a:off x="107504" y="5733256"/>
            <a:ext cx="270162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A1948646-DE54-4ED1-AE25-CB98ACF4A251}"/>
              </a:ext>
            </a:extLst>
          </p:cNvPr>
          <p:cNvCxnSpPr/>
          <p:nvPr/>
        </p:nvCxnSpPr>
        <p:spPr>
          <a:xfrm>
            <a:off x="107504" y="5589240"/>
            <a:ext cx="270162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ABED4CB5-85CE-4239-A650-ACA777E1FD3C}"/>
              </a:ext>
            </a:extLst>
          </p:cNvPr>
          <p:cNvCxnSpPr>
            <a:cxnSpLocks/>
          </p:cNvCxnSpPr>
          <p:nvPr/>
        </p:nvCxnSpPr>
        <p:spPr>
          <a:xfrm>
            <a:off x="107504" y="5013176"/>
            <a:ext cx="576064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201FAB71-20BE-48D3-AE6B-966BB3AE9A0E}"/>
              </a:ext>
            </a:extLst>
          </p:cNvPr>
          <p:cNvCxnSpPr>
            <a:cxnSpLocks/>
          </p:cNvCxnSpPr>
          <p:nvPr/>
        </p:nvCxnSpPr>
        <p:spPr>
          <a:xfrm>
            <a:off x="107504" y="4797152"/>
            <a:ext cx="576064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A2EDC86D-68DF-4B26-BB61-EBAE7A20F57C}"/>
              </a:ext>
            </a:extLst>
          </p:cNvPr>
          <p:cNvCxnSpPr>
            <a:cxnSpLocks/>
          </p:cNvCxnSpPr>
          <p:nvPr/>
        </p:nvCxnSpPr>
        <p:spPr>
          <a:xfrm>
            <a:off x="107504" y="4653136"/>
            <a:ext cx="432048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574CFDD5-626D-420A-900E-CE0EA73D3F46}"/>
              </a:ext>
            </a:extLst>
          </p:cNvPr>
          <p:cNvSpPr txBox="1"/>
          <p:nvPr/>
        </p:nvSpPr>
        <p:spPr>
          <a:xfrm>
            <a:off x="4427984" y="427735"/>
            <a:ext cx="936104" cy="369332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详见</a:t>
            </a:r>
            <a:r>
              <a:rPr lang="en-US" altLang="zh-CN" dirty="0">
                <a:solidFill>
                  <a:srgbClr val="FF0000"/>
                </a:solidFill>
              </a:rPr>
              <a:t>8.6</a:t>
            </a:r>
            <a:endParaRPr lang="zh-CN" altLang="en-US" dirty="0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F5A8497E-DE92-40AD-8F1F-A2C61256BDF8}"/>
              </a:ext>
            </a:extLst>
          </p:cNvPr>
          <p:cNvCxnSpPr/>
          <p:nvPr/>
        </p:nvCxnSpPr>
        <p:spPr>
          <a:xfrm>
            <a:off x="0" y="332656"/>
            <a:ext cx="75557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475CDC17-53E3-447E-A1B4-5A01636EF66C}"/>
              </a:ext>
            </a:extLst>
          </p:cNvPr>
          <p:cNvCxnSpPr>
            <a:cxnSpLocks/>
          </p:cNvCxnSpPr>
          <p:nvPr/>
        </p:nvCxnSpPr>
        <p:spPr>
          <a:xfrm>
            <a:off x="220612" y="1628800"/>
            <a:ext cx="111102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5B2E22D0-CE39-43B2-885B-0FD50C304942}"/>
              </a:ext>
            </a:extLst>
          </p:cNvPr>
          <p:cNvCxnSpPr>
            <a:cxnSpLocks/>
          </p:cNvCxnSpPr>
          <p:nvPr/>
        </p:nvCxnSpPr>
        <p:spPr>
          <a:xfrm>
            <a:off x="220612" y="2924944"/>
            <a:ext cx="111102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27D0CBFE-E6ED-4710-9BFE-BE0DA808A92A}"/>
              </a:ext>
            </a:extLst>
          </p:cNvPr>
          <p:cNvSpPr txBox="1"/>
          <p:nvPr/>
        </p:nvSpPr>
        <p:spPr>
          <a:xfrm flipH="1">
            <a:off x="1551370" y="2606755"/>
            <a:ext cx="30206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更新已安装库的版本</a:t>
            </a:r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078A454F-9237-470C-ADBD-12F4875F3A73}"/>
              </a:ext>
            </a:extLst>
          </p:cNvPr>
          <p:cNvCxnSpPr/>
          <p:nvPr/>
        </p:nvCxnSpPr>
        <p:spPr>
          <a:xfrm>
            <a:off x="27340" y="3573016"/>
            <a:ext cx="75557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097658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28172654-BB85-41AF-8C6B-71A8F00EA5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665" y="427735"/>
            <a:ext cx="8576039" cy="4657449"/>
          </a:xfrm>
          <a:prstGeom prst="rect">
            <a:avLst/>
          </a:prstGeom>
        </p:spPr>
      </p:pic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01601D8E-8E66-4FA4-8156-EE0EDCF61640}"/>
              </a:ext>
            </a:extLst>
          </p:cNvPr>
          <p:cNvCxnSpPr>
            <a:cxnSpLocks/>
          </p:cNvCxnSpPr>
          <p:nvPr/>
        </p:nvCxnSpPr>
        <p:spPr>
          <a:xfrm>
            <a:off x="2195736" y="908720"/>
            <a:ext cx="244827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D8B91C6A-16CB-4DBF-99F2-4E5ACF34CC9A}"/>
              </a:ext>
            </a:extLst>
          </p:cNvPr>
          <p:cNvCxnSpPr>
            <a:cxnSpLocks/>
          </p:cNvCxnSpPr>
          <p:nvPr/>
        </p:nvCxnSpPr>
        <p:spPr>
          <a:xfrm>
            <a:off x="2195736" y="2708920"/>
            <a:ext cx="604867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041511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3347453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spc="-11" dirty="0">
                <a:solidFill>
                  <a:srgbClr val="262626"/>
                </a:solidFill>
                <a:latin typeface="Microsoft YaHei"/>
                <a:cs typeface="Microsoft YaHei"/>
              </a:rPr>
              <a:t>jieba</a:t>
            </a: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库的解析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851660" y="2834481"/>
            <a:ext cx="457200" cy="190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函数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456809" y="2834481"/>
            <a:ext cx="457200" cy="190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描述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604772" y="3084814"/>
            <a:ext cx="951577" cy="2355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54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jieba.cut(s)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409188" y="3090473"/>
            <a:ext cx="3183635" cy="5155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3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精确模式，返回一个可迭代的数据类型</a:t>
            </a:r>
          </a:p>
          <a:p>
            <a:pPr marL="0" marR="0">
              <a:lnSpc>
                <a:spcPts val="1557"/>
              </a:lnSpc>
              <a:spcBef>
                <a:spcPts val="798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全模式，输出文本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s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中所有可能单词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103375" y="3370165"/>
            <a:ext cx="1953533" cy="8075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57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jieba.cut(s,</a:t>
            </a:r>
            <a:r>
              <a:rPr sz="1400" spc="-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cut_all=True)</a:t>
            </a:r>
          </a:p>
          <a:p>
            <a:pPr marL="80772" marR="0">
              <a:lnSpc>
                <a:spcPts val="1554"/>
              </a:lnSpc>
              <a:spcBef>
                <a:spcPts val="645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jieba.cut_for_search(s)</a:t>
            </a:r>
          </a:p>
          <a:p>
            <a:pPr marL="477012" marR="0">
              <a:lnSpc>
                <a:spcPts val="1554"/>
              </a:lnSpc>
              <a:spcBef>
                <a:spcPts val="696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jieba.lcut(s)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409188" y="3661973"/>
            <a:ext cx="4075175" cy="13735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3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搜索引擎模式，适合搜索引擎建立索引的分词结果</a:t>
            </a:r>
          </a:p>
          <a:p>
            <a:pPr marL="0" marR="0">
              <a:lnSpc>
                <a:spcPts val="1403"/>
              </a:lnSpc>
              <a:spcBef>
                <a:spcPts val="896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精确模式，返回一个列表类型，建议使用</a:t>
            </a:r>
          </a:p>
          <a:p>
            <a:pPr marL="0" marR="0">
              <a:lnSpc>
                <a:spcPts val="1403"/>
              </a:lnSpc>
              <a:spcBef>
                <a:spcPts val="847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全模式，返回一个列表类型，建议使用</a:t>
            </a:r>
          </a:p>
          <a:p>
            <a:pPr marL="0" marR="0">
              <a:lnSpc>
                <a:spcPts val="1403"/>
              </a:lnSpc>
              <a:spcBef>
                <a:spcPts val="897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搜索引擎模式，返回一个列表类型，建议使用</a:t>
            </a:r>
          </a:p>
          <a:p>
            <a:pPr marL="0" marR="0">
              <a:lnSpc>
                <a:spcPts val="1554"/>
              </a:lnSpc>
              <a:spcBef>
                <a:spcPts val="753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向分词词典中增加新词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w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078991" y="4228068"/>
            <a:ext cx="2002168" cy="807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54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jieba.lcut(s,</a:t>
            </a:r>
            <a:r>
              <a:rPr sz="1400" spc="-4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cut_all=True)</a:t>
            </a:r>
          </a:p>
          <a:p>
            <a:pPr marL="80772" marR="0">
              <a:lnSpc>
                <a:spcPts val="1554"/>
              </a:lnSpc>
              <a:spcBef>
                <a:spcPts val="646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jieba.lcut_for_search(s)</a:t>
            </a:r>
          </a:p>
          <a:p>
            <a:pPr marL="249936" marR="0">
              <a:lnSpc>
                <a:spcPts val="1554"/>
              </a:lnSpc>
              <a:spcBef>
                <a:spcPts val="697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jieba.add_word(w)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82E93DF-878F-42E2-B00C-E4C7D9CCF819}"/>
              </a:ext>
            </a:extLst>
          </p:cNvPr>
          <p:cNvSpPr/>
          <p:nvPr/>
        </p:nvSpPr>
        <p:spPr>
          <a:xfrm>
            <a:off x="753465" y="3933056"/>
            <a:ext cx="6842871" cy="80393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3347453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spc="-11" dirty="0">
                <a:solidFill>
                  <a:srgbClr val="262626"/>
                </a:solidFill>
                <a:latin typeface="Microsoft YaHei"/>
                <a:cs typeface="Microsoft YaHei"/>
              </a:rPr>
              <a:t>jieba</a:t>
            </a: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库的解析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4053" y="2597060"/>
            <a:ext cx="1982323" cy="267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7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&gt;&gt;&gt;import jieba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24053" y="2961296"/>
            <a:ext cx="4856700" cy="267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7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&gt;&gt;&gt;jieba.lcut(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"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中华人民共和国是一个伟大的国家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")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24053" y="3324399"/>
            <a:ext cx="8900185" cy="1370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['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中华人民共和国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',</a:t>
            </a:r>
            <a:r>
              <a:rPr sz="1600" spc="36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是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',</a:t>
            </a:r>
            <a:r>
              <a:rPr sz="1600" spc="23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一个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',</a:t>
            </a:r>
            <a:r>
              <a:rPr sz="1600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伟大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',</a:t>
            </a:r>
            <a:r>
              <a:rPr sz="1600" spc="23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的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',</a:t>
            </a:r>
            <a:r>
              <a:rPr sz="1600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国家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']</a:t>
            </a:r>
          </a:p>
          <a:p>
            <a:pPr marL="0" marR="0">
              <a:lnSpc>
                <a:spcPts val="1807"/>
              </a:lnSpc>
              <a:spcBef>
                <a:spcPts val="1099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&gt;&gt;&gt;jieba.lcut(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"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中华人民共和国是一个伟大的国家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",</a:t>
            </a:r>
            <a:r>
              <a:rPr sz="1400" b="1" spc="-5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cut_all=True)</a:t>
            </a:r>
          </a:p>
          <a:p>
            <a:pPr marL="0" marR="0">
              <a:lnSpc>
                <a:spcPts val="1807"/>
              </a:lnSpc>
              <a:spcBef>
                <a:spcPts val="1003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['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中华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',</a:t>
            </a:r>
            <a:r>
              <a:rPr sz="1600" spc="25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中华人民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',</a:t>
            </a:r>
            <a:r>
              <a:rPr sz="1600" spc="25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中华人民共和国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',</a:t>
            </a:r>
            <a:r>
              <a:rPr sz="1600" spc="37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华人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',</a:t>
            </a:r>
            <a:r>
              <a:rPr sz="1600" spc="25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人民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',</a:t>
            </a:r>
            <a:r>
              <a:rPr sz="1600" spc="12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人民共和国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',</a:t>
            </a:r>
            <a:r>
              <a:rPr sz="1600" spc="37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共和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',</a:t>
            </a:r>
            <a:r>
              <a:rPr sz="1600" spc="12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共</a:t>
            </a:r>
          </a:p>
          <a:p>
            <a:pPr marL="0" marR="0">
              <a:lnSpc>
                <a:spcPts val="1807"/>
              </a:lnSpc>
              <a:spcBef>
                <a:spcPts val="1079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和国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',</a:t>
            </a:r>
            <a:r>
              <a:rPr sz="1600" spc="12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国是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',</a:t>
            </a:r>
            <a:r>
              <a:rPr sz="1600" spc="25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一个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',</a:t>
            </a:r>
            <a:r>
              <a:rPr sz="1600" spc="12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伟大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',</a:t>
            </a:r>
            <a:r>
              <a:rPr sz="1600" spc="25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的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',</a:t>
            </a:r>
            <a:r>
              <a:rPr sz="1600" spc="12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国家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']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24053" y="4790096"/>
            <a:ext cx="8779789" cy="10028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&gt;&gt;&gt;jieba.lcut_for_search(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"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中华人民共和国是一个伟大的国家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")</a:t>
            </a:r>
          </a:p>
          <a:p>
            <a:pPr marL="0" marR="0">
              <a:lnSpc>
                <a:spcPts val="1807"/>
              </a:lnSpc>
              <a:spcBef>
                <a:spcPts val="1054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['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中华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',</a:t>
            </a:r>
            <a:r>
              <a:rPr sz="1600" spc="25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华人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',</a:t>
            </a:r>
            <a:r>
              <a:rPr sz="1600" spc="12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人民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',</a:t>
            </a:r>
            <a:r>
              <a:rPr sz="1600" spc="25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共和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',</a:t>
            </a:r>
            <a:r>
              <a:rPr sz="1600" spc="12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共和国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',</a:t>
            </a:r>
            <a:r>
              <a:rPr sz="1600" spc="25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中华人民共和国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',</a:t>
            </a:r>
            <a:r>
              <a:rPr sz="1600" spc="37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是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',</a:t>
            </a:r>
            <a:r>
              <a:rPr sz="1600" spc="12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一个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',</a:t>
            </a:r>
            <a:r>
              <a:rPr sz="1600" spc="25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伟</a:t>
            </a:r>
          </a:p>
          <a:p>
            <a:pPr marL="0" marR="0">
              <a:lnSpc>
                <a:spcPts val="1807"/>
              </a:lnSpc>
              <a:spcBef>
                <a:spcPts val="1029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大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',</a:t>
            </a:r>
            <a:r>
              <a:rPr sz="1600" spc="12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的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',</a:t>
            </a:r>
            <a:r>
              <a:rPr sz="1600" spc="12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国家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']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354326" y="2788949"/>
            <a:ext cx="4268723" cy="943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127"/>
              </a:lnSpc>
              <a:spcBef>
                <a:spcPts val="0"/>
              </a:spcBef>
              <a:spcAft>
                <a:spcPts val="0"/>
              </a:spcAft>
            </a:pPr>
            <a:r>
              <a:rPr sz="5400" dirty="0">
                <a:solidFill>
                  <a:srgbClr val="000000"/>
                </a:solidFill>
                <a:latin typeface="Microsoft YaHei"/>
                <a:cs typeface="Microsoft YaHei"/>
              </a:rPr>
              <a:t>文本词频统计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5976442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《Hamlet》英文词频统计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31443" y="1968382"/>
            <a:ext cx="1179045" cy="2786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94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实例代码</a:t>
            </a:r>
            <a:r>
              <a:rPr sz="1400" dirty="0">
                <a:solidFill>
                  <a:srgbClr val="000000"/>
                </a:solidFill>
                <a:latin typeface="Palatino Linotype"/>
                <a:cs typeface="Palatino Linotype"/>
              </a:rPr>
              <a:t>10.1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595372" y="1968382"/>
            <a:ext cx="1659486" cy="2786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94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Palatino Linotype"/>
                <a:cs typeface="Palatino Linotype"/>
              </a:rPr>
              <a:t>e10.1CalHamlet.py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172260" y="2359021"/>
            <a:ext cx="2162266" cy="210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7F7F7F"/>
                </a:solidFill>
                <a:latin typeface="Courier New"/>
                <a:cs typeface="Courier New"/>
              </a:rPr>
              <a:t>1</a:t>
            </a:r>
            <a:r>
              <a:rPr sz="1200" spc="1339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#e10.1CalHamlet.py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172260" y="2612006"/>
            <a:ext cx="1793458" cy="210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7F7F7F"/>
                </a:solidFill>
                <a:latin typeface="Courier New"/>
                <a:cs typeface="Courier New"/>
              </a:rPr>
              <a:t>2</a:t>
            </a:r>
            <a:r>
              <a:rPr sz="1200" spc="1339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def</a:t>
            </a:r>
            <a:r>
              <a:rPr sz="12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getText():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172260" y="2866514"/>
            <a:ext cx="5415964" cy="4372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7F7F7F"/>
                </a:solidFill>
                <a:latin typeface="Courier New"/>
                <a:cs typeface="Courier New"/>
              </a:rPr>
              <a:t>3</a:t>
            </a:r>
            <a:r>
              <a:rPr sz="1200" spc="1339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lang="en-US" sz="1200" spc="1339" dirty="0">
                <a:solidFill>
                  <a:srgbClr val="7F7F7F"/>
                </a:solidFill>
                <a:latin typeface="Courier New"/>
                <a:cs typeface="Courier New"/>
              </a:rPr>
              <a:t>	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txt</a:t>
            </a:r>
            <a:r>
              <a:rPr sz="12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=</a:t>
            </a:r>
            <a:r>
              <a:rPr sz="12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open("hamlet.txt", "r").read()</a:t>
            </a:r>
          </a:p>
          <a:p>
            <a:pPr marL="0" marR="0">
              <a:lnSpc>
                <a:spcPts val="1359"/>
              </a:lnSpc>
              <a:spcBef>
                <a:spcPts val="644"/>
              </a:spcBef>
              <a:spcAft>
                <a:spcPts val="0"/>
              </a:spcAft>
            </a:pPr>
            <a:r>
              <a:rPr sz="1200" dirty="0">
                <a:solidFill>
                  <a:srgbClr val="7F7F7F"/>
                </a:solidFill>
                <a:latin typeface="Courier New"/>
                <a:cs typeface="Courier New"/>
              </a:rPr>
              <a:t>4</a:t>
            </a:r>
            <a:r>
              <a:rPr sz="1200" spc="1339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lang="en-US" sz="1200" spc="1339" dirty="0">
                <a:solidFill>
                  <a:srgbClr val="7F7F7F"/>
                </a:solidFill>
                <a:latin typeface="Courier New"/>
                <a:cs typeface="Courier New"/>
              </a:rPr>
              <a:t>	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txt</a:t>
            </a:r>
            <a:r>
              <a:rPr sz="12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=</a:t>
            </a:r>
            <a:r>
              <a:rPr sz="12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txt.lower()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172259" y="3369913"/>
            <a:ext cx="5557647" cy="1808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7F7F7F"/>
                </a:solidFill>
                <a:latin typeface="Courier New"/>
                <a:cs typeface="Courier New"/>
              </a:rPr>
              <a:t>5</a:t>
            </a:r>
            <a:r>
              <a:rPr sz="1200" b="1" spc="1339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lang="en-US" sz="1200" b="1" spc="1339" dirty="0">
                <a:solidFill>
                  <a:srgbClr val="7F7F7F"/>
                </a:solidFill>
                <a:latin typeface="Courier New"/>
                <a:cs typeface="Courier New"/>
              </a:rPr>
              <a:t>	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for</a:t>
            </a:r>
            <a:r>
              <a:rPr sz="12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ch</a:t>
            </a:r>
            <a:r>
              <a:rPr sz="1200" b="1" spc="14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spc="11" dirty="0">
                <a:solidFill>
                  <a:srgbClr val="000000"/>
                </a:solidFill>
                <a:latin typeface="Courier New"/>
                <a:cs typeface="Courier New"/>
              </a:rPr>
              <a:t>in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 '!"#$%&amp;()*+,-./:;&lt;=&gt;?@[\\]^_‘{|}~':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172260" y="3628894"/>
            <a:ext cx="243854" cy="210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7F7F7F"/>
                </a:solidFill>
                <a:latin typeface="Courier New"/>
                <a:cs typeface="Courier New"/>
              </a:rPr>
              <a:t>6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894076" y="3624802"/>
            <a:ext cx="5270211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000000"/>
                </a:solidFill>
                <a:latin typeface="Courier New"/>
                <a:cs typeface="Courier New"/>
              </a:rPr>
              <a:t>    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txt</a:t>
            </a:r>
            <a:r>
              <a:rPr sz="1200" b="1" spc="14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=</a:t>
            </a:r>
            <a:r>
              <a:rPr sz="12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txt.replace(ch,</a:t>
            </a:r>
            <a:r>
              <a:rPr sz="1200" b="1" spc="7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"</a:t>
            </a:r>
            <a:r>
              <a:rPr sz="1200" b="1" spc="14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")</a:t>
            </a:r>
            <a:r>
              <a:rPr sz="1200" b="1" spc="1464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#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将文本中特殊字符替换为空格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172260" y="3813667"/>
            <a:ext cx="2607652" cy="1808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7F7F7F"/>
                </a:solidFill>
                <a:latin typeface="Courier New"/>
                <a:cs typeface="Courier New"/>
              </a:rPr>
              <a:t>7</a:t>
            </a:r>
            <a:r>
              <a:rPr sz="1200" b="1" spc="1339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lang="en-US" sz="1200" b="1" spc="1339" dirty="0">
                <a:solidFill>
                  <a:srgbClr val="7F7F7F"/>
                </a:solidFill>
                <a:latin typeface="Courier New"/>
                <a:cs typeface="Courier New"/>
              </a:rPr>
              <a:t>	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return</a:t>
            </a:r>
            <a:r>
              <a:rPr sz="1200" b="1" spc="12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txt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126540" y="4136387"/>
            <a:ext cx="2944078" cy="7197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719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7F7F7F"/>
                </a:solidFill>
                <a:latin typeface="Courier New"/>
                <a:cs typeface="Courier New"/>
              </a:rPr>
              <a:t>8</a:t>
            </a:r>
            <a:r>
              <a:rPr sz="1200" b="1" spc="1339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hamletTxt</a:t>
            </a:r>
            <a:r>
              <a:rPr sz="1200" b="1" spc="12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= getText()</a:t>
            </a:r>
          </a:p>
          <a:p>
            <a:pPr marL="45719" marR="0">
              <a:lnSpc>
                <a:spcPts val="1359"/>
              </a:lnSpc>
              <a:spcBef>
                <a:spcPts val="644"/>
              </a:spcBef>
              <a:spcAft>
                <a:spcPts val="0"/>
              </a:spcAft>
            </a:pPr>
            <a:r>
              <a:rPr sz="1200" b="1" dirty="0">
                <a:solidFill>
                  <a:srgbClr val="7F7F7F"/>
                </a:solidFill>
                <a:latin typeface="Courier New"/>
                <a:cs typeface="Courier New"/>
              </a:rPr>
              <a:t>9</a:t>
            </a:r>
            <a:r>
              <a:rPr sz="1200" b="1" spc="1339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words</a:t>
            </a:r>
            <a:r>
              <a:rPr sz="1200" b="1" spc="732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=</a:t>
            </a:r>
            <a:r>
              <a:rPr sz="12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hamletTxt.split()</a:t>
            </a:r>
          </a:p>
          <a:p>
            <a:pPr marL="0" marR="0">
              <a:lnSpc>
                <a:spcPts val="1359"/>
              </a:lnSpc>
              <a:spcBef>
                <a:spcPts val="644"/>
              </a:spcBef>
              <a:spcAft>
                <a:spcPts val="0"/>
              </a:spcAft>
            </a:pPr>
            <a:r>
              <a:rPr sz="1200" b="1" dirty="0">
                <a:solidFill>
                  <a:srgbClr val="7F7F7F"/>
                </a:solidFill>
                <a:latin typeface="Courier New"/>
                <a:cs typeface="Courier New"/>
              </a:rPr>
              <a:t>10</a:t>
            </a:r>
            <a:r>
              <a:rPr sz="1200" b="1" spc="978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counts</a:t>
            </a:r>
            <a:r>
              <a:rPr sz="1200" b="1" spc="12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=</a:t>
            </a:r>
            <a:r>
              <a:rPr sz="1200" b="1" spc="11" dirty="0">
                <a:solidFill>
                  <a:srgbClr val="000000"/>
                </a:solidFill>
                <a:latin typeface="Courier New"/>
                <a:cs typeface="Courier New"/>
              </a:rPr>
              <a:t> {}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126540" y="4898387"/>
            <a:ext cx="2207986" cy="210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7F7F7F"/>
                </a:solidFill>
                <a:latin typeface="Courier New"/>
                <a:cs typeface="Courier New"/>
              </a:rPr>
              <a:t>11</a:t>
            </a:r>
            <a:r>
              <a:rPr sz="1200" b="1" spc="978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for</a:t>
            </a:r>
            <a:r>
              <a:rPr sz="12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word</a:t>
            </a:r>
            <a:r>
              <a:rPr sz="1200" b="1" spc="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spc="11" dirty="0">
                <a:solidFill>
                  <a:srgbClr val="000000"/>
                </a:solidFill>
                <a:latin typeface="Courier New"/>
                <a:cs typeface="Courier New"/>
              </a:rPr>
              <a:t>in</a:t>
            </a:r>
            <a:r>
              <a:rPr sz="1200" b="1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words: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126540" y="5153149"/>
            <a:ext cx="335309" cy="210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7F7F7F"/>
                </a:solidFill>
                <a:latin typeface="Courier New"/>
                <a:cs typeface="Courier New"/>
              </a:rPr>
              <a:t>12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892554" y="5153149"/>
            <a:ext cx="3560586" cy="210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counts[word]</a:t>
            </a:r>
            <a:r>
              <a:rPr sz="1200" b="1" spc="15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=</a:t>
            </a:r>
            <a:r>
              <a:rPr sz="12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counts.get(word,0) +</a:t>
            </a:r>
            <a:r>
              <a:rPr sz="12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1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126540" y="5407657"/>
            <a:ext cx="4510089" cy="7182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7F7F7F"/>
                </a:solidFill>
                <a:latin typeface="Courier New"/>
                <a:cs typeface="Courier New"/>
              </a:rPr>
              <a:t>13</a:t>
            </a:r>
            <a:r>
              <a:rPr sz="1200" b="1" spc="978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items</a:t>
            </a:r>
            <a:r>
              <a:rPr sz="1200" b="1" spc="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=</a:t>
            </a:r>
            <a:r>
              <a:rPr sz="1200" b="1" spc="14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list(counts.items())</a:t>
            </a:r>
          </a:p>
          <a:p>
            <a:pPr marL="0" marR="0">
              <a:lnSpc>
                <a:spcPts val="1359"/>
              </a:lnSpc>
              <a:spcBef>
                <a:spcPts val="632"/>
              </a:spcBef>
              <a:spcAft>
                <a:spcPts val="0"/>
              </a:spcAft>
            </a:pPr>
            <a:r>
              <a:rPr sz="1200" b="1" dirty="0">
                <a:solidFill>
                  <a:srgbClr val="7F7F7F"/>
                </a:solidFill>
                <a:latin typeface="Courier New"/>
                <a:cs typeface="Courier New"/>
              </a:rPr>
              <a:t>14</a:t>
            </a:r>
            <a:r>
              <a:rPr sz="1200" b="1" spc="978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FF0000"/>
                </a:solidFill>
                <a:latin typeface="Courier New"/>
                <a:cs typeface="Courier New"/>
              </a:rPr>
              <a:t>items.sort(key=lambda</a:t>
            </a:r>
            <a:r>
              <a:rPr sz="1200" b="1" spc="11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FF0000"/>
                </a:solidFill>
                <a:latin typeface="Courier New"/>
                <a:cs typeface="Courier New"/>
              </a:rPr>
              <a:t>x:x[1], reverse=True)</a:t>
            </a:r>
          </a:p>
          <a:p>
            <a:pPr marL="0" marR="0">
              <a:lnSpc>
                <a:spcPts val="1359"/>
              </a:lnSpc>
              <a:spcBef>
                <a:spcPts val="644"/>
              </a:spcBef>
              <a:spcAft>
                <a:spcPts val="0"/>
              </a:spcAft>
            </a:pPr>
            <a:r>
              <a:rPr sz="1200" b="1" dirty="0">
                <a:solidFill>
                  <a:srgbClr val="7F7F7F"/>
                </a:solidFill>
                <a:latin typeface="Courier New"/>
                <a:cs typeface="Courier New"/>
              </a:rPr>
              <a:t>15</a:t>
            </a:r>
            <a:r>
              <a:rPr sz="1200" b="1" spc="978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for</a:t>
            </a:r>
            <a:r>
              <a:rPr sz="12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i</a:t>
            </a:r>
            <a:r>
              <a:rPr sz="12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in</a:t>
            </a:r>
            <a:r>
              <a:rPr sz="1200" b="1" spc="14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range(10):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1126540" y="6169682"/>
            <a:ext cx="335309" cy="4637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7F7F7F"/>
                </a:solidFill>
                <a:latin typeface="Courier New"/>
                <a:cs typeface="Courier New"/>
              </a:rPr>
              <a:t>16</a:t>
            </a:r>
          </a:p>
          <a:p>
            <a:pPr marL="0" marR="0">
              <a:lnSpc>
                <a:spcPts val="1359"/>
              </a:lnSpc>
              <a:spcBef>
                <a:spcPts val="632"/>
              </a:spcBef>
              <a:spcAft>
                <a:spcPts val="0"/>
              </a:spcAft>
            </a:pPr>
            <a:r>
              <a:rPr sz="1200" b="1" dirty="0">
                <a:solidFill>
                  <a:srgbClr val="7F7F7F"/>
                </a:solidFill>
                <a:latin typeface="Courier New"/>
                <a:cs typeface="Courier New"/>
              </a:rPr>
              <a:t>17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1892554" y="6169682"/>
            <a:ext cx="2178064" cy="210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word,</a:t>
            </a:r>
            <a:r>
              <a:rPr sz="1200" b="1" spc="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count</a:t>
            </a:r>
            <a:r>
              <a:rPr sz="1200" b="1" spc="2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= items[i]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1892554" y="6422666"/>
            <a:ext cx="4111969" cy="210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print</a:t>
            </a:r>
            <a:r>
              <a:rPr sz="1200" b="1" spc="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("{0:&lt;10}{1:&gt;5}".format(word,</a:t>
            </a:r>
            <a:r>
              <a:rPr sz="1200" b="1" spc="12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count))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-610" y="-27384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5976442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《Hamlet》英文词频统计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351533" y="2882726"/>
            <a:ext cx="610588" cy="3264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7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000000"/>
                </a:solidFill>
                <a:latin typeface="Courier New"/>
                <a:cs typeface="Courier New"/>
              </a:rPr>
              <a:t>&gt;&gt;&gt;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67544" y="1484784"/>
            <a:ext cx="8001300" cy="5017399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7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solidFill>
                  <a:srgbClr val="FF0000"/>
                </a:solidFill>
                <a:latin typeface="Courier New"/>
                <a:cs typeface="Courier New"/>
              </a:rPr>
              <a:t>Python split()</a:t>
            </a:r>
            <a:r>
              <a:rPr lang="zh-CN" altLang="en-US" sz="2000" b="1" dirty="0">
                <a:solidFill>
                  <a:srgbClr val="FF0000"/>
                </a:solidFill>
                <a:latin typeface="Courier New"/>
                <a:cs typeface="Courier New"/>
              </a:rPr>
              <a:t>方法</a:t>
            </a:r>
          </a:p>
          <a:p>
            <a:pPr marL="0" marR="0">
              <a:lnSpc>
                <a:spcPts val="227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 err="1">
                <a:solidFill>
                  <a:srgbClr val="000000"/>
                </a:solidFill>
                <a:latin typeface="Courier New"/>
                <a:cs typeface="Courier New"/>
              </a:rPr>
              <a:t>str.split</a:t>
            </a:r>
            <a:r>
              <a:rPr lang="en-US" sz="2000" dirty="0">
                <a:solidFill>
                  <a:srgbClr val="000000"/>
                </a:solidFill>
                <a:latin typeface="Courier New"/>
                <a:cs typeface="Courier New"/>
              </a:rPr>
              <a:t>(str="", num=</a:t>
            </a:r>
            <a:r>
              <a:rPr lang="en-US" sz="2000" dirty="0" err="1">
                <a:solidFill>
                  <a:srgbClr val="000000"/>
                </a:solidFill>
                <a:latin typeface="Courier New"/>
                <a:cs typeface="Courier New"/>
              </a:rPr>
              <a:t>string.count</a:t>
            </a:r>
            <a:r>
              <a:rPr lang="en-US" sz="2000" dirty="0">
                <a:solidFill>
                  <a:srgbClr val="000000"/>
                </a:solidFill>
                <a:latin typeface="Courier New"/>
                <a:cs typeface="Courier New"/>
              </a:rPr>
              <a:t>(str)).</a:t>
            </a:r>
          </a:p>
          <a:p>
            <a:pPr marL="0" marR="0">
              <a:lnSpc>
                <a:spcPts val="227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solidFill>
                  <a:srgbClr val="FF0000"/>
                </a:solidFill>
                <a:latin typeface="Courier New"/>
                <a:cs typeface="Courier New"/>
              </a:rPr>
              <a:t>参数</a:t>
            </a:r>
          </a:p>
          <a:p>
            <a:pPr marL="0" marR="0">
              <a:lnSpc>
                <a:spcPts val="227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srgbClr val="000000"/>
                </a:solidFill>
                <a:latin typeface="Courier New"/>
                <a:cs typeface="Courier New"/>
              </a:rPr>
              <a:t>str -- </a:t>
            </a:r>
            <a:r>
              <a:rPr lang="zh-CN" altLang="en-US" sz="2000" dirty="0">
                <a:solidFill>
                  <a:srgbClr val="000000"/>
                </a:solidFill>
                <a:latin typeface="Courier New"/>
                <a:cs typeface="Courier New"/>
              </a:rPr>
              <a:t>分隔符，默认为所有的</a:t>
            </a:r>
            <a:r>
              <a:rPr lang="zh-CN" altLang="en-US" sz="2000" dirty="0">
                <a:solidFill>
                  <a:srgbClr val="FF0000"/>
                </a:solidFill>
                <a:latin typeface="Courier New"/>
                <a:cs typeface="Courier New"/>
              </a:rPr>
              <a:t>空字符</a:t>
            </a:r>
            <a:r>
              <a:rPr lang="zh-CN" altLang="en-US" sz="2000" dirty="0">
                <a:solidFill>
                  <a:srgbClr val="000000"/>
                </a:solidFill>
                <a:latin typeface="Courier New"/>
                <a:cs typeface="Courier New"/>
              </a:rPr>
              <a:t>，包括空格、换行</a:t>
            </a:r>
            <a:r>
              <a:rPr lang="en-US" altLang="zh-CN" sz="2000" dirty="0">
                <a:solidFill>
                  <a:srgbClr val="000000"/>
                </a:solidFill>
                <a:latin typeface="Courier New"/>
                <a:cs typeface="Courier New"/>
              </a:rPr>
              <a:t>(\</a:t>
            </a:r>
            <a:r>
              <a:rPr lang="en-US" sz="2000" dirty="0">
                <a:solidFill>
                  <a:srgbClr val="000000"/>
                </a:solidFill>
                <a:latin typeface="Courier New"/>
                <a:cs typeface="Courier New"/>
              </a:rPr>
              <a:t>n)、</a:t>
            </a:r>
            <a:r>
              <a:rPr lang="zh-CN" altLang="en-US" sz="2000" dirty="0">
                <a:solidFill>
                  <a:srgbClr val="000000"/>
                </a:solidFill>
                <a:latin typeface="Courier New"/>
                <a:cs typeface="Courier New"/>
              </a:rPr>
              <a:t>制表符</a:t>
            </a:r>
            <a:r>
              <a:rPr lang="en-US" altLang="zh-CN" sz="2000" dirty="0">
                <a:solidFill>
                  <a:srgbClr val="000000"/>
                </a:solidFill>
                <a:latin typeface="Courier New"/>
                <a:cs typeface="Courier New"/>
              </a:rPr>
              <a:t>(\</a:t>
            </a:r>
            <a:r>
              <a:rPr lang="en-US" sz="2000" dirty="0">
                <a:solidFill>
                  <a:srgbClr val="000000"/>
                </a:solidFill>
                <a:latin typeface="Courier New"/>
                <a:cs typeface="Courier New"/>
              </a:rPr>
              <a:t>t)</a:t>
            </a:r>
            <a:r>
              <a:rPr lang="zh-CN" altLang="en-US" sz="2000" dirty="0">
                <a:solidFill>
                  <a:srgbClr val="000000"/>
                </a:solidFill>
                <a:latin typeface="Courier New"/>
                <a:cs typeface="Courier New"/>
              </a:rPr>
              <a:t>等。</a:t>
            </a:r>
          </a:p>
          <a:p>
            <a:pPr marL="0" marR="0">
              <a:lnSpc>
                <a:spcPts val="227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srgbClr val="000000"/>
                </a:solidFill>
                <a:latin typeface="Courier New"/>
                <a:cs typeface="Courier New"/>
              </a:rPr>
              <a:t>num -- </a:t>
            </a:r>
            <a:r>
              <a:rPr lang="zh-CN" altLang="en-US" sz="2000" dirty="0">
                <a:solidFill>
                  <a:srgbClr val="000000"/>
                </a:solidFill>
                <a:latin typeface="Courier New"/>
                <a:cs typeface="Courier New"/>
              </a:rPr>
              <a:t>分割次数。默认为 </a:t>
            </a:r>
            <a:r>
              <a:rPr lang="en-US" altLang="zh-CN" sz="2000" dirty="0">
                <a:solidFill>
                  <a:srgbClr val="000000"/>
                </a:solidFill>
                <a:latin typeface="Courier New"/>
                <a:cs typeface="Courier New"/>
              </a:rPr>
              <a:t>-1, </a:t>
            </a:r>
            <a:r>
              <a:rPr lang="zh-CN" altLang="en-US" sz="2000" dirty="0">
                <a:solidFill>
                  <a:srgbClr val="000000"/>
                </a:solidFill>
                <a:latin typeface="Courier New"/>
                <a:cs typeface="Courier New"/>
              </a:rPr>
              <a:t>即分隔所有。</a:t>
            </a:r>
            <a:endParaRPr lang="en-US" altLang="zh-CN" sz="20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pPr marL="0" marR="0">
              <a:lnSpc>
                <a:spcPts val="227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solidFill>
                  <a:srgbClr val="FF0000"/>
                </a:solidFill>
                <a:latin typeface="Courier New"/>
                <a:cs typeface="Courier New"/>
              </a:rPr>
              <a:t>返回值</a:t>
            </a:r>
          </a:p>
          <a:p>
            <a:pPr marL="0" marR="0">
              <a:lnSpc>
                <a:spcPts val="227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solidFill>
                  <a:srgbClr val="000000"/>
                </a:solidFill>
                <a:latin typeface="Courier New"/>
                <a:cs typeface="Courier New"/>
              </a:rPr>
              <a:t>返回分割后的字符串列表。通过指定分隔符对字符串进行切片，如果参数 </a:t>
            </a:r>
            <a:r>
              <a:rPr lang="en-US" altLang="zh-CN" sz="2000" dirty="0">
                <a:solidFill>
                  <a:srgbClr val="000000"/>
                </a:solidFill>
                <a:latin typeface="Courier New"/>
                <a:cs typeface="Courier New"/>
              </a:rPr>
              <a:t>num </a:t>
            </a:r>
            <a:r>
              <a:rPr lang="zh-CN" altLang="en-US" sz="2000" dirty="0">
                <a:solidFill>
                  <a:srgbClr val="000000"/>
                </a:solidFill>
                <a:latin typeface="Courier New"/>
                <a:cs typeface="Courier New"/>
              </a:rPr>
              <a:t>有指定值，则分隔 </a:t>
            </a:r>
            <a:r>
              <a:rPr lang="en-US" altLang="zh-CN" sz="2000" dirty="0">
                <a:solidFill>
                  <a:srgbClr val="000000"/>
                </a:solidFill>
                <a:latin typeface="Courier New"/>
                <a:cs typeface="Courier New"/>
              </a:rPr>
              <a:t>num+1 </a:t>
            </a:r>
            <a:r>
              <a:rPr lang="zh-CN" altLang="en-US" sz="2000" dirty="0">
                <a:solidFill>
                  <a:srgbClr val="000000"/>
                </a:solidFill>
                <a:latin typeface="Courier New"/>
                <a:cs typeface="Courier New"/>
              </a:rPr>
              <a:t>个子字符串</a:t>
            </a:r>
            <a:endParaRPr lang="en-US" altLang="zh-CN" sz="20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pPr marL="0" marR="0">
              <a:lnSpc>
                <a:spcPts val="227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solidFill>
                  <a:srgbClr val="000000"/>
                </a:solidFill>
                <a:latin typeface="Courier New"/>
                <a:cs typeface="Courier New"/>
              </a:rPr>
              <a:t>实例：</a:t>
            </a:r>
          </a:p>
          <a:p>
            <a:pPr marL="0" marR="0">
              <a:lnSpc>
                <a:spcPts val="227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srgbClr val="000000"/>
                </a:solidFill>
                <a:latin typeface="Courier New"/>
                <a:cs typeface="Courier New"/>
              </a:rPr>
              <a:t>str = "Line1-abcdef \nLine2-abc \nLine4-abcd";</a:t>
            </a:r>
          </a:p>
          <a:p>
            <a:pPr marL="0" marR="0">
              <a:lnSpc>
                <a:spcPts val="227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srgbClr val="000000"/>
                </a:solidFill>
                <a:latin typeface="Courier New"/>
                <a:cs typeface="Courier New"/>
              </a:rPr>
              <a:t>print </a:t>
            </a:r>
            <a:r>
              <a:rPr lang="en-US" sz="2000" dirty="0" err="1">
                <a:solidFill>
                  <a:srgbClr val="000000"/>
                </a:solidFill>
                <a:latin typeface="Courier New"/>
                <a:cs typeface="Courier New"/>
              </a:rPr>
              <a:t>str.split</a:t>
            </a:r>
            <a:r>
              <a:rPr lang="en-US" sz="2000" dirty="0">
                <a:solidFill>
                  <a:srgbClr val="000000"/>
                </a:solidFill>
                <a:latin typeface="Courier New"/>
                <a:cs typeface="Courier New"/>
              </a:rPr>
              <a:t>( );       # </a:t>
            </a:r>
            <a:r>
              <a:rPr lang="zh-CN" altLang="en-US" sz="2000" dirty="0">
                <a:solidFill>
                  <a:srgbClr val="000000"/>
                </a:solidFill>
                <a:latin typeface="Courier New"/>
                <a:cs typeface="Courier New"/>
              </a:rPr>
              <a:t>以空格为分隔符，包含 </a:t>
            </a:r>
            <a:r>
              <a:rPr lang="en-US" altLang="zh-CN" sz="2000" dirty="0">
                <a:solidFill>
                  <a:srgbClr val="000000"/>
                </a:solidFill>
                <a:latin typeface="Courier New"/>
                <a:cs typeface="Courier New"/>
              </a:rPr>
              <a:t>\</a:t>
            </a:r>
            <a:r>
              <a:rPr lang="en-US" sz="2000" dirty="0">
                <a:solidFill>
                  <a:srgbClr val="000000"/>
                </a:solidFill>
                <a:latin typeface="Courier New"/>
                <a:cs typeface="Courier New"/>
              </a:rPr>
              <a:t>n</a:t>
            </a:r>
          </a:p>
          <a:p>
            <a:pPr marL="0" marR="0">
              <a:lnSpc>
                <a:spcPts val="227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srgbClr val="000000"/>
                </a:solidFill>
                <a:latin typeface="Courier New"/>
                <a:cs typeface="Courier New"/>
              </a:rPr>
              <a:t>print </a:t>
            </a:r>
            <a:r>
              <a:rPr lang="en-US" sz="2000" dirty="0" err="1">
                <a:solidFill>
                  <a:srgbClr val="000000"/>
                </a:solidFill>
                <a:latin typeface="Courier New"/>
                <a:cs typeface="Courier New"/>
              </a:rPr>
              <a:t>str.split</a:t>
            </a:r>
            <a:r>
              <a:rPr lang="en-US" sz="2000" dirty="0">
                <a:solidFill>
                  <a:srgbClr val="000000"/>
                </a:solidFill>
                <a:latin typeface="Courier New"/>
                <a:cs typeface="Courier New"/>
              </a:rPr>
              <a:t>(' ', 1 ); # </a:t>
            </a:r>
            <a:r>
              <a:rPr lang="zh-CN" altLang="en-US" sz="2000" dirty="0">
                <a:solidFill>
                  <a:srgbClr val="000000"/>
                </a:solidFill>
                <a:latin typeface="Courier New"/>
                <a:cs typeface="Courier New"/>
              </a:rPr>
              <a:t>以空格为分隔符，分隔成两个</a:t>
            </a:r>
            <a:endParaRPr lang="en-US" altLang="zh-CN" sz="20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pPr marL="0" marR="0">
              <a:lnSpc>
                <a:spcPts val="227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solidFill>
                  <a:srgbClr val="000000"/>
                </a:solidFill>
                <a:latin typeface="Courier New"/>
                <a:cs typeface="Courier New"/>
              </a:rPr>
              <a:t>结果</a:t>
            </a:r>
            <a:endParaRPr lang="en-US" sz="20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pPr marL="0" marR="0">
              <a:lnSpc>
                <a:spcPts val="227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srgbClr val="000000"/>
                </a:solidFill>
                <a:latin typeface="Courier New"/>
                <a:cs typeface="Courier New"/>
              </a:rPr>
              <a:t>['Line1-abcdef', 'Line2-abc', 'Line4-abcd’] </a:t>
            </a:r>
          </a:p>
          <a:p>
            <a:pPr marL="0" marR="0">
              <a:lnSpc>
                <a:spcPts val="227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srgbClr val="000000"/>
                </a:solidFill>
                <a:latin typeface="Courier New"/>
                <a:cs typeface="Courier New"/>
              </a:rPr>
              <a:t>['Line1-abcdef', '\nLine2-abc \nLine4-abcd'] </a:t>
            </a:r>
          </a:p>
          <a:p>
            <a:pPr marL="0" marR="0">
              <a:lnSpc>
                <a:spcPts val="2270"/>
              </a:lnSpc>
              <a:spcBef>
                <a:spcPts val="0"/>
              </a:spcBef>
              <a:spcAft>
                <a:spcPts val="0"/>
              </a:spcAft>
            </a:pPr>
            <a:endParaRPr sz="2000" dirty="0">
              <a:solidFill>
                <a:srgbClr val="000000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92333618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5976442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《Hamlet》英文词频统计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480436" y="1936787"/>
            <a:ext cx="517874" cy="267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7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&gt;&gt;&gt;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480436" y="2191295"/>
            <a:ext cx="517670" cy="1537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7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the</a:t>
            </a:r>
          </a:p>
          <a:p>
            <a:pPr marL="0" marR="0">
              <a:lnSpc>
                <a:spcPts val="1807"/>
              </a:lnSpc>
              <a:spcBef>
                <a:spcPts val="196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and</a:t>
            </a:r>
          </a:p>
          <a:p>
            <a:pPr marL="0" marR="0">
              <a:lnSpc>
                <a:spcPts val="1810"/>
              </a:lnSpc>
              <a:spcBef>
                <a:spcPts val="182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to</a:t>
            </a:r>
          </a:p>
          <a:p>
            <a:pPr marL="0" marR="0">
              <a:lnSpc>
                <a:spcPts val="1807"/>
              </a:lnSpc>
              <a:spcBef>
                <a:spcPts val="198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of</a:t>
            </a:r>
          </a:p>
          <a:p>
            <a:pPr marL="0" marR="0">
              <a:lnSpc>
                <a:spcPts val="1807"/>
              </a:lnSpc>
              <a:spcBef>
                <a:spcPts val="196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you</a:t>
            </a:r>
          </a:p>
          <a:p>
            <a:pPr marL="0" marR="0">
              <a:lnSpc>
                <a:spcPts val="1807"/>
              </a:lnSpc>
              <a:spcBef>
                <a:spcPts val="184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a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821852" y="2191295"/>
            <a:ext cx="642928" cy="20466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7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1138</a:t>
            </a:r>
          </a:p>
          <a:p>
            <a:pPr marL="123236" marR="0">
              <a:lnSpc>
                <a:spcPts val="1807"/>
              </a:lnSpc>
              <a:spcBef>
                <a:spcPts val="196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965</a:t>
            </a:r>
          </a:p>
          <a:p>
            <a:pPr marL="124221" marR="0">
              <a:lnSpc>
                <a:spcPts val="1810"/>
              </a:lnSpc>
              <a:spcBef>
                <a:spcPts val="182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754</a:t>
            </a:r>
          </a:p>
          <a:p>
            <a:pPr marL="123236" marR="0">
              <a:lnSpc>
                <a:spcPts val="1807"/>
              </a:lnSpc>
              <a:spcBef>
                <a:spcPts val="198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669</a:t>
            </a:r>
          </a:p>
          <a:p>
            <a:pPr marL="123236" marR="0">
              <a:lnSpc>
                <a:spcPts val="1807"/>
              </a:lnSpc>
              <a:spcBef>
                <a:spcPts val="196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550</a:t>
            </a:r>
          </a:p>
          <a:p>
            <a:pPr marL="123236" marR="0">
              <a:lnSpc>
                <a:spcPts val="1807"/>
              </a:lnSpc>
              <a:spcBef>
                <a:spcPts val="184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542</a:t>
            </a:r>
          </a:p>
          <a:p>
            <a:pPr marL="125053" marR="0">
              <a:lnSpc>
                <a:spcPts val="1807"/>
              </a:lnSpc>
              <a:spcBef>
                <a:spcPts val="196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542</a:t>
            </a:r>
          </a:p>
          <a:p>
            <a:pPr marL="123236" marR="0">
              <a:lnSpc>
                <a:spcPts val="1807"/>
              </a:lnSpc>
              <a:spcBef>
                <a:spcPts val="196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514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480436" y="3715676"/>
            <a:ext cx="395669" cy="522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7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i</a:t>
            </a:r>
          </a:p>
          <a:p>
            <a:pPr marL="0" marR="0">
              <a:lnSpc>
                <a:spcPts val="1807"/>
              </a:lnSpc>
              <a:spcBef>
                <a:spcPts val="196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my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480436" y="4222915"/>
            <a:ext cx="2307588" cy="2346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hamlet</a:t>
            </a:r>
            <a:r>
              <a:rPr sz="1600" spc="3847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462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480436" y="4477930"/>
            <a:ext cx="395669" cy="267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7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in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3945089" y="4477930"/>
            <a:ext cx="517670" cy="267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7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436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559917" y="5205165"/>
            <a:ext cx="8192109" cy="12887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9748" marR="0">
              <a:lnSpc>
                <a:spcPts val="2644"/>
              </a:lnSpc>
              <a:spcBef>
                <a:spcPts val="0"/>
              </a:spcBef>
              <a:spcAft>
                <a:spcPts val="0"/>
              </a:spcAft>
            </a:pPr>
            <a:r>
              <a:rPr sz="2000" spc="40" dirty="0">
                <a:solidFill>
                  <a:srgbClr val="000000"/>
                </a:solidFill>
                <a:latin typeface="Microsoft YaHei"/>
                <a:cs typeface="Microsoft YaHei"/>
              </a:rPr>
              <a:t>观察输出结果可以看到，高频单词大多数是冠词、代词、连接词等语</a:t>
            </a:r>
          </a:p>
          <a:p>
            <a:pPr marL="0" marR="0">
              <a:lnSpc>
                <a:spcPts val="2644"/>
              </a:lnSpc>
              <a:spcBef>
                <a:spcPts val="955"/>
              </a:spcBef>
              <a:spcAft>
                <a:spcPts val="0"/>
              </a:spcAft>
            </a:pPr>
            <a:r>
              <a:rPr sz="2000" spc="43" dirty="0">
                <a:solidFill>
                  <a:srgbClr val="000000"/>
                </a:solidFill>
                <a:latin typeface="Microsoft YaHei"/>
                <a:cs typeface="Microsoft YaHei"/>
              </a:rPr>
              <a:t>法型词汇，并不能代表文章的含义。进一步，可以采用集合类型构建一</a:t>
            </a:r>
          </a:p>
          <a:p>
            <a:pPr marL="0" marR="0">
              <a:lnSpc>
                <a:spcPts val="2644"/>
              </a:lnSpc>
              <a:spcBef>
                <a:spcPts val="957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个排除词汇库excludes，在输出结果中排除这个词汇库中内容。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332864" y="804722"/>
            <a:ext cx="881246" cy="2087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实例代码</a:t>
            </a:r>
            <a:r>
              <a:rPr sz="1000" dirty="0">
                <a:solidFill>
                  <a:srgbClr val="000000"/>
                </a:solidFill>
                <a:latin typeface="Palatino Linotype"/>
                <a:cs typeface="Palatino Linotype"/>
              </a:rPr>
              <a:t>10.2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231769" y="804722"/>
            <a:ext cx="1224438" cy="2087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Palatino Linotype"/>
                <a:cs typeface="Palatino Linotype"/>
              </a:rPr>
              <a:t>e10.2CalHamlet.py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505077" y="1269595"/>
            <a:ext cx="228307" cy="22135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7F7F7F"/>
                </a:solidFill>
                <a:latin typeface="Courier New"/>
                <a:cs typeface="Courier New"/>
              </a:rPr>
              <a:t>1</a:t>
            </a:r>
          </a:p>
          <a:p>
            <a:pPr marL="0" marR="0">
              <a:lnSpc>
                <a:spcPts val="1128"/>
              </a:lnSpc>
              <a:spcBef>
                <a:spcPts val="866"/>
              </a:spcBef>
              <a:spcAft>
                <a:spcPts val="0"/>
              </a:spcAft>
            </a:pPr>
            <a:r>
              <a:rPr sz="1000" dirty="0">
                <a:solidFill>
                  <a:srgbClr val="7F7F7F"/>
                </a:solidFill>
                <a:latin typeface="Courier New"/>
                <a:cs typeface="Courier New"/>
              </a:rPr>
              <a:t>2</a:t>
            </a:r>
          </a:p>
          <a:p>
            <a:pPr marL="0" marR="0">
              <a:lnSpc>
                <a:spcPts val="1128"/>
              </a:lnSpc>
              <a:spcBef>
                <a:spcPts val="875"/>
              </a:spcBef>
              <a:spcAft>
                <a:spcPts val="0"/>
              </a:spcAft>
            </a:pPr>
            <a:r>
              <a:rPr sz="1000" dirty="0">
                <a:solidFill>
                  <a:srgbClr val="7F7F7F"/>
                </a:solidFill>
                <a:latin typeface="Courier New"/>
                <a:cs typeface="Courier New"/>
              </a:rPr>
              <a:t>3</a:t>
            </a:r>
          </a:p>
          <a:p>
            <a:pPr marL="0" marR="0">
              <a:lnSpc>
                <a:spcPts val="1128"/>
              </a:lnSpc>
              <a:spcBef>
                <a:spcPts val="875"/>
              </a:spcBef>
              <a:spcAft>
                <a:spcPts val="0"/>
              </a:spcAft>
            </a:pPr>
            <a:r>
              <a:rPr sz="1000" dirty="0">
                <a:solidFill>
                  <a:srgbClr val="7F7F7F"/>
                </a:solidFill>
                <a:latin typeface="Courier New"/>
                <a:cs typeface="Courier New"/>
              </a:rPr>
              <a:t>4</a:t>
            </a:r>
          </a:p>
          <a:p>
            <a:pPr marL="0" marR="0">
              <a:lnSpc>
                <a:spcPts val="1128"/>
              </a:lnSpc>
              <a:spcBef>
                <a:spcPts val="863"/>
              </a:spcBef>
              <a:spcAft>
                <a:spcPts val="0"/>
              </a:spcAft>
            </a:pPr>
            <a:r>
              <a:rPr sz="1000" b="1" dirty="0">
                <a:solidFill>
                  <a:srgbClr val="7F7F7F"/>
                </a:solidFill>
                <a:latin typeface="Courier New"/>
                <a:cs typeface="Courier New"/>
              </a:rPr>
              <a:t>5</a:t>
            </a:r>
          </a:p>
          <a:p>
            <a:pPr marL="0" marR="0">
              <a:lnSpc>
                <a:spcPts val="1128"/>
              </a:lnSpc>
              <a:spcBef>
                <a:spcPts val="875"/>
              </a:spcBef>
              <a:spcAft>
                <a:spcPts val="0"/>
              </a:spcAft>
            </a:pPr>
            <a:r>
              <a:rPr sz="1000" b="1" dirty="0">
                <a:solidFill>
                  <a:srgbClr val="7F7F7F"/>
                </a:solidFill>
                <a:latin typeface="Courier New"/>
                <a:cs typeface="Courier New"/>
              </a:rPr>
              <a:t>6</a:t>
            </a:r>
          </a:p>
          <a:p>
            <a:pPr marL="0" marR="0">
              <a:lnSpc>
                <a:spcPts val="1128"/>
              </a:lnSpc>
              <a:spcBef>
                <a:spcPts val="875"/>
              </a:spcBef>
              <a:spcAft>
                <a:spcPts val="0"/>
              </a:spcAft>
            </a:pPr>
            <a:r>
              <a:rPr sz="1000" b="1" dirty="0">
                <a:solidFill>
                  <a:srgbClr val="7F7F7F"/>
                </a:solidFill>
                <a:latin typeface="Courier New"/>
                <a:cs typeface="Courier New"/>
              </a:rPr>
              <a:t>7</a:t>
            </a:r>
          </a:p>
          <a:p>
            <a:pPr marL="0" marR="0">
              <a:lnSpc>
                <a:spcPts val="1128"/>
              </a:lnSpc>
              <a:spcBef>
                <a:spcPts val="865"/>
              </a:spcBef>
              <a:spcAft>
                <a:spcPts val="0"/>
              </a:spcAft>
            </a:pPr>
            <a:r>
              <a:rPr sz="1000" b="1" dirty="0">
                <a:solidFill>
                  <a:srgbClr val="7F7F7F"/>
                </a:solidFill>
                <a:latin typeface="Courier New"/>
                <a:cs typeface="Courier New"/>
              </a:rPr>
              <a:t>8</a:t>
            </a:r>
          </a:p>
          <a:p>
            <a:pPr marL="0" marR="0">
              <a:lnSpc>
                <a:spcPts val="1128"/>
              </a:lnSpc>
              <a:spcBef>
                <a:spcPts val="875"/>
              </a:spcBef>
              <a:spcAft>
                <a:spcPts val="0"/>
              </a:spcAft>
            </a:pPr>
            <a:r>
              <a:rPr sz="1000" b="1" dirty="0">
                <a:solidFill>
                  <a:srgbClr val="7F7F7F"/>
                </a:solidFill>
                <a:latin typeface="Courier New"/>
                <a:cs typeface="Courier New"/>
              </a:rPr>
              <a:t>9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853819" y="1269595"/>
            <a:ext cx="1523707" cy="1813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#e10.2CalHamlet.py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853819" y="1522959"/>
            <a:ext cx="4191342" cy="4358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excludes = {"the","and","of","you","a","i","my","in"}</a:t>
            </a:r>
          </a:p>
          <a:p>
            <a:pPr marL="0" marR="0">
              <a:lnSpc>
                <a:spcPts val="1128"/>
              </a:lnSpc>
              <a:spcBef>
                <a:spcPts val="875"/>
              </a:spcBef>
              <a:spcAft>
                <a:spcPts val="0"/>
              </a:spcAft>
            </a:pP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def getText():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853819" y="2031975"/>
            <a:ext cx="4014325" cy="397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0000"/>
                </a:solidFill>
                <a:latin typeface="Courier New"/>
                <a:cs typeface="Courier New"/>
              </a:rPr>
              <a:t>  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txt = open("hamlet.txt", "r").read()</a:t>
            </a:r>
          </a:p>
          <a:p>
            <a:pPr marL="0" marR="0">
              <a:lnSpc>
                <a:spcPts val="1128"/>
              </a:lnSpc>
              <a:spcBef>
                <a:spcPts val="863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0000"/>
                </a:solidFill>
                <a:latin typeface="Courier New"/>
                <a:cs typeface="Courier New"/>
              </a:rPr>
              <a:t>  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txt = </a:t>
            </a:r>
            <a:r>
              <a:rPr sz="1000" b="1" dirty="0">
                <a:solidFill>
                  <a:srgbClr val="00B050"/>
                </a:solidFill>
                <a:latin typeface="Courier New"/>
                <a:cs typeface="Courier New"/>
              </a:rPr>
              <a:t>txt.lower()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853819" y="2539467"/>
            <a:ext cx="4397588" cy="6540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0000"/>
                </a:solidFill>
                <a:latin typeface="Courier New"/>
                <a:cs typeface="Courier New"/>
              </a:rPr>
              <a:t>  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for ch in '!"#$%&amp;()*+,-./:;&lt;=&gt;?@[\\]^_‘{|}~':</a:t>
            </a:r>
          </a:p>
          <a:p>
            <a:pPr marL="304800" marR="0">
              <a:lnSpc>
                <a:spcPts val="1128"/>
              </a:lnSpc>
              <a:spcBef>
                <a:spcPts val="898"/>
              </a:spcBef>
              <a:spcAft>
                <a:spcPts val="0"/>
              </a:spcAft>
            </a:pP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txt </a:t>
            </a:r>
            <a:r>
              <a:rPr sz="1000" b="1" dirty="0">
                <a:solidFill>
                  <a:srgbClr val="00B050"/>
                </a:solidFill>
                <a:latin typeface="Courier New"/>
                <a:cs typeface="Courier New"/>
              </a:rPr>
              <a:t>= txt.replace(ch, " ")</a:t>
            </a:r>
            <a:r>
              <a:rPr sz="1000" b="1" spc="1200" dirty="0">
                <a:solidFill>
                  <a:srgbClr val="00B050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#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将文本中特殊字符替换为空格</a:t>
            </a:r>
          </a:p>
          <a:p>
            <a:pPr marL="0" marR="0">
              <a:lnSpc>
                <a:spcPts val="1128"/>
              </a:lnSpc>
              <a:spcBef>
                <a:spcPts val="865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0000"/>
                </a:solidFill>
                <a:latin typeface="Courier New"/>
                <a:cs typeface="Courier New"/>
              </a:rPr>
              <a:t>  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return txt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853819" y="3301721"/>
            <a:ext cx="1752307" cy="1813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hamletTxt = getText()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466977" y="3556229"/>
            <a:ext cx="2520403" cy="397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7F7F7F"/>
                </a:solidFill>
                <a:latin typeface="Courier New"/>
                <a:cs typeface="Courier New"/>
              </a:rPr>
              <a:t>10</a:t>
            </a:r>
            <a:r>
              <a:rPr sz="1000" b="1" spc="1246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words</a:t>
            </a:r>
            <a:r>
              <a:rPr sz="1000" b="1" spc="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= </a:t>
            </a:r>
            <a:r>
              <a:rPr sz="1000" b="1" dirty="0">
                <a:solidFill>
                  <a:srgbClr val="00B050"/>
                </a:solidFill>
                <a:latin typeface="Courier New"/>
                <a:cs typeface="Courier New"/>
              </a:rPr>
              <a:t>hamletTxt.split()</a:t>
            </a:r>
          </a:p>
          <a:p>
            <a:pPr marL="0" marR="0">
              <a:lnSpc>
                <a:spcPts val="1128"/>
              </a:lnSpc>
              <a:spcBef>
                <a:spcPts val="863"/>
              </a:spcBef>
              <a:spcAft>
                <a:spcPts val="0"/>
              </a:spcAft>
            </a:pPr>
            <a:r>
              <a:rPr sz="1000" b="1" dirty="0">
                <a:solidFill>
                  <a:srgbClr val="7F7F7F"/>
                </a:solidFill>
                <a:latin typeface="Courier New"/>
                <a:cs typeface="Courier New"/>
              </a:rPr>
              <a:t>11</a:t>
            </a:r>
            <a:r>
              <a:rPr sz="1000" b="1" spc="1246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counts = {}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466977" y="4063722"/>
            <a:ext cx="1910549" cy="1813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7F7F7F"/>
                </a:solidFill>
                <a:latin typeface="Courier New"/>
                <a:cs typeface="Courier New"/>
              </a:rPr>
              <a:t>12</a:t>
            </a:r>
            <a:r>
              <a:rPr sz="1000" b="1" spc="1246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for word in words: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466977" y="4318229"/>
            <a:ext cx="3815803" cy="397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7F7F7F"/>
                </a:solidFill>
                <a:latin typeface="Courier New"/>
                <a:cs typeface="Courier New"/>
              </a:rPr>
              <a:t>13</a:t>
            </a:r>
            <a:r>
              <a:rPr sz="1000" b="1" spc="1246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lang="en-US" sz="1000" b="1" spc="1246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counts[word] = counts.get(word,0) + 1</a:t>
            </a:r>
          </a:p>
          <a:p>
            <a:pPr marL="0" marR="0">
              <a:lnSpc>
                <a:spcPts val="1128"/>
              </a:lnSpc>
              <a:spcBef>
                <a:spcPts val="866"/>
              </a:spcBef>
              <a:spcAft>
                <a:spcPts val="0"/>
              </a:spcAft>
            </a:pPr>
            <a:r>
              <a:rPr sz="1000" b="1" dirty="0">
                <a:solidFill>
                  <a:srgbClr val="7F7F7F"/>
                </a:solidFill>
                <a:latin typeface="Courier New"/>
                <a:cs typeface="Courier New"/>
              </a:rPr>
              <a:t>14</a:t>
            </a:r>
            <a:r>
              <a:rPr sz="1000" b="1" spc="1246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FF0000"/>
                </a:solidFill>
                <a:latin typeface="Courier New"/>
                <a:cs typeface="Courier New"/>
              </a:rPr>
              <a:t>for word in excludes: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466977" y="4911634"/>
            <a:ext cx="3409823" cy="1410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7F7F7F"/>
                </a:solidFill>
                <a:latin typeface="Courier New"/>
                <a:cs typeface="Courier New"/>
              </a:rPr>
              <a:t>15</a:t>
            </a:r>
            <a:r>
              <a:rPr sz="1000" b="1" spc="1246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lang="en-US" sz="1000" b="1" spc="1246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FF0000"/>
                </a:solidFill>
                <a:latin typeface="Courier New"/>
                <a:cs typeface="Courier New"/>
              </a:rPr>
              <a:t>del(counts[word])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466977" y="5080610"/>
            <a:ext cx="3815803" cy="688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7F7F7F"/>
                </a:solidFill>
                <a:latin typeface="Courier New"/>
                <a:cs typeface="Courier New"/>
              </a:rPr>
              <a:t>16</a:t>
            </a:r>
            <a:r>
              <a:rPr sz="1000" b="1" spc="1246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items = list(counts.items())</a:t>
            </a:r>
          </a:p>
          <a:p>
            <a:pPr marL="0" marR="0">
              <a:lnSpc>
                <a:spcPts val="1128"/>
              </a:lnSpc>
              <a:spcBef>
                <a:spcPts val="863"/>
              </a:spcBef>
              <a:spcAft>
                <a:spcPts val="0"/>
              </a:spcAft>
            </a:pPr>
            <a:r>
              <a:rPr sz="1000" b="1" dirty="0">
                <a:solidFill>
                  <a:srgbClr val="7F7F7F"/>
                </a:solidFill>
                <a:latin typeface="Courier New"/>
                <a:cs typeface="Courier New"/>
              </a:rPr>
              <a:t>17</a:t>
            </a:r>
            <a:r>
              <a:rPr sz="1000" b="1" spc="1246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items.sort(key=lambda x:x[1], reverse=True)</a:t>
            </a:r>
          </a:p>
          <a:p>
            <a:pPr marL="0" marR="0">
              <a:lnSpc>
                <a:spcPts val="1128"/>
              </a:lnSpc>
              <a:spcBef>
                <a:spcPts val="875"/>
              </a:spcBef>
              <a:spcAft>
                <a:spcPts val="0"/>
              </a:spcAft>
            </a:pPr>
            <a:r>
              <a:rPr sz="1000" b="1" dirty="0">
                <a:solidFill>
                  <a:srgbClr val="7F7F7F"/>
                </a:solidFill>
                <a:latin typeface="Courier New"/>
                <a:cs typeface="Courier New"/>
              </a:rPr>
              <a:t>18</a:t>
            </a:r>
            <a:r>
              <a:rPr sz="1000" b="1" spc="1246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for i in range(10):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466977" y="5842306"/>
            <a:ext cx="304690" cy="4349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31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7F7F7F"/>
                </a:solidFill>
                <a:latin typeface="Courier New"/>
                <a:cs typeface="Courier New"/>
              </a:rPr>
              <a:t>19</a:t>
            </a:r>
          </a:p>
          <a:p>
            <a:pPr marL="0" marR="0">
              <a:lnSpc>
                <a:spcPts val="1128"/>
              </a:lnSpc>
              <a:spcBef>
                <a:spcPts val="865"/>
              </a:spcBef>
              <a:spcAft>
                <a:spcPts val="0"/>
              </a:spcAft>
            </a:pPr>
            <a:r>
              <a:rPr sz="1000" b="1" dirty="0">
                <a:solidFill>
                  <a:srgbClr val="7F7F7F"/>
                </a:solidFill>
                <a:latin typeface="Courier New"/>
                <a:cs typeface="Courier New"/>
              </a:rPr>
              <a:t>20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2158619" y="5842306"/>
            <a:ext cx="1828944" cy="1817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31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word, count = items[i]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2158619" y="6095848"/>
            <a:ext cx="3428961" cy="1813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print ("{0:&lt;10}{1:&gt;5}".format(word, count))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4773960" y="4420879"/>
            <a:ext cx="40669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1"/>
                </a:solidFill>
              </a:rPr>
              <a:t>for word in words:</a:t>
            </a:r>
          </a:p>
          <a:p>
            <a:r>
              <a:rPr lang="en-US" altLang="zh-CN" dirty="0">
                <a:solidFill>
                  <a:schemeClr val="accent1"/>
                </a:solidFill>
              </a:rPr>
              <a:t>    if word not in excludes:</a:t>
            </a:r>
          </a:p>
          <a:p>
            <a:r>
              <a:rPr lang="en-US" altLang="zh-CN" dirty="0">
                <a:solidFill>
                  <a:schemeClr val="accent1"/>
                </a:solidFill>
              </a:rPr>
              <a:t>        counts[word]=</a:t>
            </a:r>
            <a:r>
              <a:rPr lang="en-US" altLang="zh-CN" dirty="0" err="1">
                <a:solidFill>
                  <a:schemeClr val="accent1"/>
                </a:solidFill>
              </a:rPr>
              <a:t>counts.get</a:t>
            </a:r>
            <a:r>
              <a:rPr lang="en-US" altLang="zh-CN" dirty="0">
                <a:solidFill>
                  <a:schemeClr val="accent1"/>
                </a:solidFill>
              </a:rPr>
              <a:t>(word,0)+1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3779912" y="2204864"/>
            <a:ext cx="15028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0B050"/>
                </a:solidFill>
              </a:rPr>
              <a:t>见表</a:t>
            </a:r>
            <a:r>
              <a:rPr lang="en-US" altLang="zh-CN" dirty="0">
                <a:solidFill>
                  <a:srgbClr val="00B050"/>
                </a:solidFill>
              </a:rPr>
              <a:t>3.12</a:t>
            </a:r>
            <a:endParaRPr lang="zh-CN" altLang="en-US" dirty="0">
              <a:solidFill>
                <a:srgbClr val="00B050"/>
              </a:solidFill>
            </a:endParaRP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2404E90D-A53E-4745-94B2-CED9AABD4C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1585" y="3093669"/>
            <a:ext cx="3819525" cy="10287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5976442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《Hamlet》英文词频统计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1390" y="1914975"/>
            <a:ext cx="3810000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运行程序后，输出结果如下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351533" y="2882726"/>
            <a:ext cx="610588" cy="3264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7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000000"/>
                </a:solidFill>
                <a:latin typeface="Courier New"/>
                <a:cs typeface="Courier New"/>
              </a:rPr>
              <a:t>&gt;&gt;&gt;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351533" y="3137615"/>
            <a:ext cx="457859" cy="3264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7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Courier New"/>
                <a:cs typeface="Courier New"/>
              </a:rPr>
              <a:t>to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180333" y="3137615"/>
            <a:ext cx="610588" cy="3264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7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Courier New"/>
                <a:cs typeface="Courier New"/>
              </a:rPr>
              <a:t>754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351533" y="3392123"/>
            <a:ext cx="2438729" cy="3264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7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Courier New"/>
                <a:cs typeface="Courier New"/>
              </a:rPr>
              <a:t>hamlet</a:t>
            </a:r>
            <a:r>
              <a:rPr sz="2000" spc="60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00000"/>
                </a:solidFill>
                <a:latin typeface="Courier New"/>
                <a:cs typeface="Courier New"/>
              </a:rPr>
              <a:t>462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351533" y="3645107"/>
            <a:ext cx="763318" cy="21051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7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Courier New"/>
                <a:cs typeface="Courier New"/>
              </a:rPr>
              <a:t>it</a:t>
            </a:r>
          </a:p>
          <a:p>
            <a:pPr marL="0" marR="0">
              <a:lnSpc>
                <a:spcPts val="2003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Courier New"/>
                <a:cs typeface="Courier New"/>
              </a:rPr>
              <a:t>that</a:t>
            </a:r>
          </a:p>
          <a:p>
            <a:pPr marL="0" marR="0">
              <a:lnSpc>
                <a:spcPts val="2004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Courier New"/>
                <a:cs typeface="Courier New"/>
              </a:rPr>
              <a:t>is</a:t>
            </a:r>
          </a:p>
          <a:p>
            <a:pPr marL="0" marR="0">
              <a:lnSpc>
                <a:spcPts val="1992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Courier New"/>
                <a:cs typeface="Courier New"/>
              </a:rPr>
              <a:t>not</a:t>
            </a:r>
          </a:p>
          <a:p>
            <a:pPr marL="0" marR="0">
              <a:lnSpc>
                <a:spcPts val="2005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Courier New"/>
                <a:cs typeface="Courier New"/>
              </a:rPr>
              <a:t>lord</a:t>
            </a:r>
          </a:p>
          <a:p>
            <a:pPr marL="0" marR="0">
              <a:lnSpc>
                <a:spcPts val="2003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Courier New"/>
                <a:cs typeface="Courier New"/>
              </a:rPr>
              <a:t>his</a:t>
            </a:r>
          </a:p>
          <a:p>
            <a:pPr marL="0" marR="0">
              <a:lnSpc>
                <a:spcPts val="1992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Courier New"/>
                <a:cs typeface="Courier New"/>
              </a:rPr>
              <a:t>this</a:t>
            </a:r>
          </a:p>
          <a:p>
            <a:pPr marL="0" marR="0">
              <a:lnSpc>
                <a:spcPts val="2004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Courier New"/>
                <a:cs typeface="Courier New"/>
              </a:rPr>
              <a:t>but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3180333" y="3645107"/>
            <a:ext cx="611137" cy="21051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7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Courier New"/>
                <a:cs typeface="Courier New"/>
              </a:rPr>
              <a:t>416</a:t>
            </a:r>
          </a:p>
          <a:p>
            <a:pPr marL="0" marR="0">
              <a:lnSpc>
                <a:spcPts val="2003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Courier New"/>
                <a:cs typeface="Courier New"/>
              </a:rPr>
              <a:t>391</a:t>
            </a:r>
          </a:p>
          <a:p>
            <a:pPr marL="0" marR="0">
              <a:lnSpc>
                <a:spcPts val="2004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Courier New"/>
                <a:cs typeface="Courier New"/>
              </a:rPr>
              <a:t>340</a:t>
            </a:r>
          </a:p>
          <a:p>
            <a:pPr marL="0" marR="0">
              <a:lnSpc>
                <a:spcPts val="1992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Courier New"/>
                <a:cs typeface="Courier New"/>
              </a:rPr>
              <a:t>314</a:t>
            </a:r>
          </a:p>
          <a:p>
            <a:pPr marL="0" marR="0">
              <a:lnSpc>
                <a:spcPts val="2005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Courier New"/>
                <a:cs typeface="Courier New"/>
              </a:rPr>
              <a:t>309</a:t>
            </a:r>
          </a:p>
          <a:p>
            <a:pPr marL="0" marR="0">
              <a:lnSpc>
                <a:spcPts val="2003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Courier New"/>
                <a:cs typeface="Courier New"/>
              </a:rPr>
              <a:t>296</a:t>
            </a:r>
          </a:p>
          <a:p>
            <a:pPr marL="0" marR="0">
              <a:lnSpc>
                <a:spcPts val="1992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Courier New"/>
                <a:cs typeface="Courier New"/>
              </a:rPr>
              <a:t>295</a:t>
            </a:r>
          </a:p>
          <a:p>
            <a:pPr marL="0" marR="0">
              <a:lnSpc>
                <a:spcPts val="2004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Courier New"/>
                <a:cs typeface="Courier New"/>
              </a:rPr>
              <a:t>269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6245962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《三国演义》人物出场统计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48994" y="1884181"/>
            <a:ext cx="1179121" cy="2786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94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实例代码</a:t>
            </a:r>
            <a:r>
              <a:rPr sz="1400" dirty="0">
                <a:solidFill>
                  <a:srgbClr val="000000"/>
                </a:solidFill>
                <a:latin typeface="Palatino Linotype"/>
                <a:cs typeface="Palatino Linotype"/>
              </a:rPr>
              <a:t>10.3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700526" y="1884181"/>
            <a:ext cx="2346075" cy="2786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94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Palatino Linotype"/>
                <a:cs typeface="Palatino Linotype"/>
              </a:rPr>
              <a:t>e10.3CalThreeKingdoms.py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488313" y="2501401"/>
            <a:ext cx="2815146" cy="520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94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7F7F7F"/>
                </a:solidFill>
                <a:latin typeface="Courier New"/>
                <a:cs typeface="Courier New"/>
              </a:rPr>
              <a:t>1</a:t>
            </a:r>
            <a:r>
              <a:rPr sz="1100" spc="1485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#e10.</a:t>
            </a:r>
            <a:r>
              <a:rPr sz="1400" dirty="0">
                <a:solidFill>
                  <a:srgbClr val="000000"/>
                </a:solidFill>
                <a:latin typeface="Palatino Linotype"/>
                <a:cs typeface="Palatino Linotype"/>
              </a:rPr>
              <a:t>3CalThreeKingdoms</a:t>
            </a: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.py</a:t>
            </a:r>
          </a:p>
          <a:p>
            <a:pPr marL="0" marR="0">
              <a:lnSpc>
                <a:spcPts val="1250"/>
              </a:lnSpc>
              <a:spcBef>
                <a:spcPts val="602"/>
              </a:spcBef>
              <a:spcAft>
                <a:spcPts val="0"/>
              </a:spcAft>
            </a:pPr>
            <a:r>
              <a:rPr sz="1100" dirty="0">
                <a:solidFill>
                  <a:srgbClr val="7F7F7F"/>
                </a:solidFill>
                <a:latin typeface="Courier New"/>
                <a:cs typeface="Courier New"/>
              </a:rPr>
              <a:t>2</a:t>
            </a:r>
            <a:r>
              <a:rPr sz="1100" spc="1485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import</a:t>
            </a:r>
            <a:r>
              <a:rPr sz="11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jieba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88313" y="3075590"/>
            <a:ext cx="5100003" cy="7081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7F7F7F"/>
                </a:solidFill>
                <a:latin typeface="Courier New"/>
                <a:cs typeface="Courier New"/>
              </a:rPr>
              <a:t>3</a:t>
            </a:r>
            <a:r>
              <a:rPr sz="1100" spc="1485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txt</a:t>
            </a:r>
            <a:r>
              <a:rPr sz="11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= open("</a:t>
            </a:r>
            <a:r>
              <a:rPr sz="1100" spc="12" dirty="0">
                <a:solidFill>
                  <a:srgbClr val="000000"/>
                </a:solidFill>
                <a:latin typeface="SimSun"/>
                <a:cs typeface="SimSun"/>
              </a:rPr>
              <a:t>三国演义</a:t>
            </a: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.txt",</a:t>
            </a:r>
            <a:r>
              <a:rPr sz="1100" b="1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"r",</a:t>
            </a:r>
            <a:r>
              <a:rPr sz="11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encoding='utf-8').read()</a:t>
            </a:r>
          </a:p>
          <a:p>
            <a:pPr marL="0" marR="0">
              <a:lnSpc>
                <a:spcPts val="1250"/>
              </a:lnSpc>
              <a:spcBef>
                <a:spcPts val="703"/>
              </a:spcBef>
              <a:spcAft>
                <a:spcPts val="0"/>
              </a:spcAft>
            </a:pPr>
            <a:r>
              <a:rPr sz="1100" dirty="0">
                <a:solidFill>
                  <a:srgbClr val="7F7F7F"/>
                </a:solidFill>
                <a:latin typeface="Courier New"/>
                <a:cs typeface="Courier New"/>
              </a:rPr>
              <a:t>4</a:t>
            </a:r>
            <a:r>
              <a:rPr sz="1100" spc="1485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words</a:t>
            </a:r>
            <a:r>
              <a:rPr sz="1100" b="1" spc="67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= jieba.lcut(txt)</a:t>
            </a:r>
          </a:p>
          <a:p>
            <a:pPr marL="0" marR="0">
              <a:lnSpc>
                <a:spcPts val="1250"/>
              </a:lnSpc>
              <a:spcBef>
                <a:spcPts val="691"/>
              </a:spcBef>
              <a:spcAft>
                <a:spcPts val="0"/>
              </a:spcAft>
            </a:pPr>
            <a:r>
              <a:rPr sz="1100" b="1" dirty="0">
                <a:solidFill>
                  <a:srgbClr val="7F7F7F"/>
                </a:solidFill>
                <a:latin typeface="Courier New"/>
                <a:cs typeface="Courier New"/>
              </a:rPr>
              <a:t>5</a:t>
            </a:r>
            <a:r>
              <a:rPr sz="1100" b="1" spc="1485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counts</a:t>
            </a:r>
            <a:r>
              <a:rPr sz="11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= {}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488313" y="3841102"/>
            <a:ext cx="2022595" cy="1972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53"/>
              </a:lnSpc>
              <a:spcBef>
                <a:spcPts val="0"/>
              </a:spcBef>
              <a:spcAft>
                <a:spcPts val="0"/>
              </a:spcAft>
            </a:pPr>
            <a:r>
              <a:rPr sz="1100" b="1" dirty="0">
                <a:solidFill>
                  <a:srgbClr val="7F7F7F"/>
                </a:solidFill>
                <a:latin typeface="Courier New"/>
                <a:cs typeface="Courier New"/>
              </a:rPr>
              <a:t>6</a:t>
            </a:r>
            <a:r>
              <a:rPr sz="1100" b="1" spc="1485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for word in</a:t>
            </a:r>
            <a:r>
              <a:rPr sz="11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words: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488313" y="4096244"/>
            <a:ext cx="236538" cy="44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dirty="0">
                <a:solidFill>
                  <a:srgbClr val="7F7F7F"/>
                </a:solidFill>
                <a:latin typeface="Courier New"/>
                <a:cs typeface="Courier New"/>
              </a:rPr>
              <a:t>7</a:t>
            </a:r>
          </a:p>
          <a:p>
            <a:pPr marL="0" marR="0">
              <a:lnSpc>
                <a:spcPts val="1250"/>
              </a:lnSpc>
              <a:spcBef>
                <a:spcPts val="691"/>
              </a:spcBef>
              <a:spcAft>
                <a:spcPts val="0"/>
              </a:spcAft>
            </a:pPr>
            <a:r>
              <a:rPr sz="1100" b="1" dirty="0">
                <a:solidFill>
                  <a:srgbClr val="7F7F7F"/>
                </a:solidFill>
                <a:latin typeface="Courier New"/>
                <a:cs typeface="Courier New"/>
              </a:rPr>
              <a:t>8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181479" y="4092479"/>
            <a:ext cx="3460977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if len(word)</a:t>
            </a:r>
            <a:r>
              <a:rPr sz="1100" b="1" spc="36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== 1:</a:t>
            </a:r>
            <a:r>
              <a:rPr sz="1100" b="1" spc="67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FF0000"/>
                </a:solidFill>
                <a:latin typeface="Courier New"/>
                <a:cs typeface="Courier New"/>
              </a:rPr>
              <a:t>#</a:t>
            </a:r>
            <a:r>
              <a:rPr sz="1100" dirty="0">
                <a:solidFill>
                  <a:srgbClr val="FF0000"/>
                </a:solidFill>
                <a:latin typeface="SimSun"/>
                <a:cs typeface="SimSun"/>
              </a:rPr>
              <a:t>排除单个字符的分词结果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516758" y="4349229"/>
            <a:ext cx="825507" cy="1969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continue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488313" y="4603737"/>
            <a:ext cx="236538" cy="1969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dirty="0">
                <a:solidFill>
                  <a:srgbClr val="7F7F7F"/>
                </a:solidFill>
                <a:latin typeface="Courier New"/>
                <a:cs typeface="Courier New"/>
              </a:rPr>
              <a:t>9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179954" y="4603737"/>
            <a:ext cx="573342" cy="1969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else: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447164" y="4858244"/>
            <a:ext cx="320676" cy="1969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dirty="0">
                <a:solidFill>
                  <a:srgbClr val="7F7F7F"/>
                </a:solidFill>
                <a:latin typeface="Courier New"/>
                <a:cs typeface="Courier New"/>
              </a:rPr>
              <a:t>10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516758" y="4858244"/>
            <a:ext cx="3266885" cy="1969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counts[word] = counts.get(word,0) +</a:t>
            </a:r>
            <a:r>
              <a:rPr sz="11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1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447164" y="5111229"/>
            <a:ext cx="4167389" cy="7062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dirty="0">
                <a:solidFill>
                  <a:srgbClr val="7F7F7F"/>
                </a:solidFill>
                <a:latin typeface="Courier New"/>
                <a:cs typeface="Courier New"/>
              </a:rPr>
              <a:t>11</a:t>
            </a:r>
            <a:r>
              <a:rPr sz="1100" b="1" spc="1150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items =</a:t>
            </a:r>
            <a:r>
              <a:rPr sz="11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list(counts.items())</a:t>
            </a:r>
          </a:p>
          <a:p>
            <a:pPr marL="0" marR="0">
              <a:lnSpc>
                <a:spcPts val="1253"/>
              </a:lnSpc>
              <a:spcBef>
                <a:spcPts val="701"/>
              </a:spcBef>
              <a:spcAft>
                <a:spcPts val="0"/>
              </a:spcAft>
            </a:pPr>
            <a:r>
              <a:rPr sz="1100" b="1" dirty="0">
                <a:solidFill>
                  <a:srgbClr val="7F7F7F"/>
                </a:solidFill>
                <a:latin typeface="Courier New"/>
                <a:cs typeface="Courier New"/>
              </a:rPr>
              <a:t>12</a:t>
            </a:r>
            <a:r>
              <a:rPr sz="1100" b="1" spc="1150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items.sort(key=lambda x:x[1],</a:t>
            </a:r>
            <a:r>
              <a:rPr sz="1100" b="1" spc="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reverse=True)</a:t>
            </a:r>
          </a:p>
          <a:p>
            <a:pPr marL="0" marR="0">
              <a:lnSpc>
                <a:spcPts val="1250"/>
              </a:lnSpc>
              <a:spcBef>
                <a:spcPts val="704"/>
              </a:spcBef>
              <a:spcAft>
                <a:spcPts val="0"/>
              </a:spcAft>
            </a:pPr>
            <a:r>
              <a:rPr sz="1100" b="1" dirty="0">
                <a:solidFill>
                  <a:srgbClr val="7F7F7F"/>
                </a:solidFill>
                <a:latin typeface="Courier New"/>
                <a:cs typeface="Courier New"/>
              </a:rPr>
              <a:t>13</a:t>
            </a:r>
            <a:r>
              <a:rPr sz="1100" b="1" spc="1150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for i </a:t>
            </a:r>
            <a:r>
              <a:rPr sz="1100" b="1" spc="11" dirty="0">
                <a:solidFill>
                  <a:srgbClr val="000000"/>
                </a:solidFill>
                <a:latin typeface="Courier New"/>
                <a:cs typeface="Courier New"/>
              </a:rPr>
              <a:t>in</a:t>
            </a:r>
            <a:r>
              <a:rPr sz="1100" b="1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range(15):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447164" y="5873508"/>
            <a:ext cx="320676" cy="1969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dirty="0">
                <a:solidFill>
                  <a:srgbClr val="7F7F7F"/>
                </a:solidFill>
                <a:latin typeface="Courier New"/>
                <a:cs typeface="Courier New"/>
              </a:rPr>
              <a:t>14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2179954" y="5873508"/>
            <a:ext cx="2004426" cy="1969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word, count =</a:t>
            </a:r>
            <a:r>
              <a:rPr sz="11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items[i]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1447164" y="6128016"/>
            <a:ext cx="4166934" cy="1969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dirty="0">
                <a:solidFill>
                  <a:srgbClr val="7F7F7F"/>
                </a:solidFill>
                <a:latin typeface="Courier New"/>
                <a:cs typeface="Courier New"/>
              </a:rPr>
              <a:t>15</a:t>
            </a:r>
            <a:r>
              <a:rPr sz="1100" b="1" spc="1150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print ("{0:&lt;10}{1:&gt;5}".format(word,</a:t>
            </a:r>
            <a:r>
              <a:rPr sz="1100" b="1" spc="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count))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6245962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《三国演义》人物出场统计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732533" y="2081314"/>
            <a:ext cx="517874" cy="267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7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&gt;&gt;&gt;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732533" y="2331902"/>
            <a:ext cx="760476" cy="37971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曹操</a:t>
            </a:r>
          </a:p>
          <a:p>
            <a:pPr marL="0" marR="0">
              <a:lnSpc>
                <a:spcPts val="1596"/>
              </a:lnSpc>
              <a:spcBef>
                <a:spcPts val="396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孔明</a:t>
            </a:r>
          </a:p>
          <a:p>
            <a:pPr marL="0" marR="0">
              <a:lnSpc>
                <a:spcPts val="1598"/>
              </a:lnSpc>
              <a:spcBef>
                <a:spcPts val="405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将军</a:t>
            </a:r>
          </a:p>
          <a:p>
            <a:pPr marL="0" marR="0">
              <a:lnSpc>
                <a:spcPts val="1596"/>
              </a:lnSpc>
              <a:spcBef>
                <a:spcPts val="409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却说</a:t>
            </a:r>
          </a:p>
          <a:p>
            <a:pPr marL="0" marR="0">
              <a:lnSpc>
                <a:spcPts val="1596"/>
              </a:lnSpc>
              <a:spcBef>
                <a:spcPts val="395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玄德</a:t>
            </a:r>
          </a:p>
          <a:p>
            <a:pPr marL="0" marR="0">
              <a:lnSpc>
                <a:spcPts val="1596"/>
              </a:lnSpc>
              <a:spcBef>
                <a:spcPts val="408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关公</a:t>
            </a:r>
          </a:p>
          <a:p>
            <a:pPr marL="0" marR="0">
              <a:lnSpc>
                <a:spcPts val="1596"/>
              </a:lnSpc>
              <a:spcBef>
                <a:spcPts val="408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丞相</a:t>
            </a:r>
          </a:p>
          <a:p>
            <a:pPr marL="0" marR="0">
              <a:lnSpc>
                <a:spcPts val="1596"/>
              </a:lnSpc>
              <a:spcBef>
                <a:spcPts val="396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二人</a:t>
            </a:r>
          </a:p>
          <a:p>
            <a:pPr marL="0" marR="0">
              <a:lnSpc>
                <a:spcPts val="1598"/>
              </a:lnSpc>
              <a:spcBef>
                <a:spcPts val="405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不可</a:t>
            </a:r>
          </a:p>
          <a:p>
            <a:pPr marL="0" marR="0">
              <a:lnSpc>
                <a:spcPts val="1596"/>
              </a:lnSpc>
              <a:spcBef>
                <a:spcPts val="41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荆州</a:t>
            </a:r>
          </a:p>
          <a:p>
            <a:pPr marL="0" marR="0">
              <a:lnSpc>
                <a:spcPts val="1596"/>
              </a:lnSpc>
              <a:spcBef>
                <a:spcPts val="395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玄德曰</a:t>
            </a:r>
          </a:p>
          <a:p>
            <a:pPr marL="0" marR="0">
              <a:lnSpc>
                <a:spcPts val="1596"/>
              </a:lnSpc>
              <a:spcBef>
                <a:spcPts val="408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孔明曰</a:t>
            </a:r>
          </a:p>
          <a:p>
            <a:pPr marL="0" marR="0">
              <a:lnSpc>
                <a:spcPts val="1596"/>
              </a:lnSpc>
              <a:spcBef>
                <a:spcPts val="408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不能</a:t>
            </a:r>
          </a:p>
          <a:p>
            <a:pPr marL="0" marR="0">
              <a:lnSpc>
                <a:spcPts val="1596"/>
              </a:lnSpc>
              <a:spcBef>
                <a:spcPts val="395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如此</a:t>
            </a:r>
          </a:p>
          <a:p>
            <a:pPr marL="0" marR="0">
              <a:lnSpc>
                <a:spcPts val="1596"/>
              </a:lnSpc>
              <a:spcBef>
                <a:spcPts val="41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张飞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361944" y="2337345"/>
            <a:ext cx="598646" cy="38240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7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953</a:t>
            </a:r>
          </a:p>
          <a:p>
            <a:pPr marL="0" marR="0">
              <a:lnSpc>
                <a:spcPts val="1807"/>
              </a:lnSpc>
              <a:spcBef>
                <a:spcPts val="184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836</a:t>
            </a:r>
          </a:p>
          <a:p>
            <a:pPr marL="0" marR="0">
              <a:lnSpc>
                <a:spcPts val="1810"/>
              </a:lnSpc>
              <a:spcBef>
                <a:spcPts val="194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772</a:t>
            </a:r>
          </a:p>
          <a:p>
            <a:pPr marL="0" marR="0">
              <a:lnSpc>
                <a:spcPts val="1807"/>
              </a:lnSpc>
              <a:spcBef>
                <a:spcPts val="197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656</a:t>
            </a:r>
          </a:p>
          <a:p>
            <a:pPr marL="0" marR="0">
              <a:lnSpc>
                <a:spcPts val="1807"/>
              </a:lnSpc>
              <a:spcBef>
                <a:spcPts val="184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585</a:t>
            </a:r>
          </a:p>
          <a:p>
            <a:pPr marL="0" marR="0">
              <a:lnSpc>
                <a:spcPts val="1807"/>
              </a:lnSpc>
              <a:spcBef>
                <a:spcPts val="196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510</a:t>
            </a:r>
          </a:p>
          <a:p>
            <a:pPr marL="0" marR="0">
              <a:lnSpc>
                <a:spcPts val="1807"/>
              </a:lnSpc>
              <a:spcBef>
                <a:spcPts val="196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491</a:t>
            </a:r>
          </a:p>
          <a:p>
            <a:pPr marL="0" marR="0">
              <a:lnSpc>
                <a:spcPts val="1807"/>
              </a:lnSpc>
              <a:spcBef>
                <a:spcPts val="184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469</a:t>
            </a:r>
          </a:p>
          <a:p>
            <a:pPr marL="0" marR="0">
              <a:lnSpc>
                <a:spcPts val="1810"/>
              </a:lnSpc>
              <a:spcBef>
                <a:spcPts val="194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440</a:t>
            </a:r>
          </a:p>
          <a:p>
            <a:pPr marL="0" marR="0">
              <a:lnSpc>
                <a:spcPts val="1807"/>
              </a:lnSpc>
              <a:spcBef>
                <a:spcPts val="198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425</a:t>
            </a:r>
          </a:p>
          <a:p>
            <a:pPr marL="80771" marR="0">
              <a:lnSpc>
                <a:spcPts val="1807"/>
              </a:lnSpc>
              <a:spcBef>
                <a:spcPts val="184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390</a:t>
            </a:r>
          </a:p>
          <a:p>
            <a:pPr marL="80771" marR="0">
              <a:lnSpc>
                <a:spcPts val="1807"/>
              </a:lnSpc>
              <a:spcBef>
                <a:spcPts val="196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390</a:t>
            </a:r>
          </a:p>
          <a:p>
            <a:pPr marL="0" marR="0">
              <a:lnSpc>
                <a:spcPts val="1807"/>
              </a:lnSpc>
              <a:spcBef>
                <a:spcPts val="196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384</a:t>
            </a:r>
          </a:p>
          <a:p>
            <a:pPr marL="0" marR="0">
              <a:lnSpc>
                <a:spcPts val="1807"/>
              </a:lnSpc>
              <a:spcBef>
                <a:spcPts val="183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378</a:t>
            </a:r>
          </a:p>
          <a:p>
            <a:pPr marL="0" marR="0">
              <a:lnSpc>
                <a:spcPts val="1807"/>
              </a:lnSpc>
              <a:spcBef>
                <a:spcPts val="198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358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6245962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《三国演义》人物出场统计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86765" y="3059499"/>
            <a:ext cx="8323839" cy="15380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9748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spc="91" dirty="0">
                <a:solidFill>
                  <a:srgbClr val="000000"/>
                </a:solidFill>
                <a:latin typeface="Microsoft YaHei"/>
                <a:cs typeface="Microsoft YaHei"/>
              </a:rPr>
              <a:t>观察输出结果，同一个人物会有不同的名字，这种情况需</a:t>
            </a:r>
          </a:p>
          <a:p>
            <a:pPr marL="0" marR="0">
              <a:lnSpc>
                <a:spcPts val="3170"/>
              </a:lnSpc>
              <a:spcBef>
                <a:spcPts val="1149"/>
              </a:spcBef>
              <a:spcAft>
                <a:spcPts val="0"/>
              </a:spcAft>
            </a:pPr>
            <a:r>
              <a:rPr sz="2400" spc="77" dirty="0">
                <a:solidFill>
                  <a:srgbClr val="000000"/>
                </a:solidFill>
                <a:latin typeface="Microsoft YaHei"/>
                <a:cs typeface="Microsoft YaHei"/>
              </a:rPr>
              <a:t>要整合处理。同时，与英文词频统计类似，需要排除一些人</a:t>
            </a:r>
          </a:p>
          <a:p>
            <a:pPr marL="0" marR="0">
              <a:lnSpc>
                <a:spcPts val="3167"/>
              </a:lnSpc>
              <a:spcBef>
                <a:spcPts val="1104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名无关词汇，如“却说”、“将军”等。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6245962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《三国演义》人物出场统计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55191" y="1808148"/>
            <a:ext cx="2575406" cy="2087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实例代码</a:t>
            </a:r>
            <a:r>
              <a:rPr sz="1000" dirty="0">
                <a:solidFill>
                  <a:srgbClr val="000000"/>
                </a:solidFill>
                <a:latin typeface="Palatino Linotype"/>
                <a:cs typeface="Palatino Linotype"/>
              </a:rPr>
              <a:t>10.4</a:t>
            </a:r>
            <a:r>
              <a:rPr sz="1000" spc="79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Palatino Linotype"/>
                <a:cs typeface="Palatino Linotype"/>
              </a:rPr>
              <a:t>e10.4CalThreeKingdoms.py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339596" y="2198727"/>
            <a:ext cx="2395181" cy="1822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7F7F7F"/>
                </a:solidFill>
                <a:latin typeface="Courier New"/>
                <a:cs typeface="Courier New"/>
              </a:rPr>
              <a:t>1</a:t>
            </a:r>
            <a:r>
              <a:rPr sz="1000" spc="1459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#e10.4CalThreeKingdoms.py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339596" y="2451710"/>
            <a:ext cx="1404581" cy="1825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7F7F7F"/>
                </a:solidFill>
                <a:latin typeface="Courier New"/>
                <a:cs typeface="Courier New"/>
              </a:rPr>
              <a:t>2</a:t>
            </a:r>
            <a:r>
              <a:rPr sz="1000" spc="1459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import jieba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339596" y="2703964"/>
            <a:ext cx="4788369" cy="6922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7F7F7F"/>
                </a:solidFill>
                <a:latin typeface="Courier New"/>
                <a:cs typeface="Courier New"/>
              </a:rPr>
              <a:t>3</a:t>
            </a:r>
            <a:r>
              <a:rPr sz="1000" spc="1459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excludes = {"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将军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","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却说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","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荆州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","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二人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","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不可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","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不能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","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如此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"}</a:t>
            </a:r>
          </a:p>
          <a:p>
            <a:pPr marL="0" marR="0">
              <a:lnSpc>
                <a:spcPts val="1128"/>
              </a:lnSpc>
              <a:spcBef>
                <a:spcPts val="898"/>
              </a:spcBef>
              <a:spcAft>
                <a:spcPts val="0"/>
              </a:spcAft>
            </a:pPr>
            <a:r>
              <a:rPr sz="1000" dirty="0">
                <a:solidFill>
                  <a:srgbClr val="7F7F7F"/>
                </a:solidFill>
                <a:latin typeface="Courier New"/>
                <a:cs typeface="Courier New"/>
              </a:rPr>
              <a:t>4</a:t>
            </a:r>
            <a:r>
              <a:rPr sz="1000" spc="1459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txt = open("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三国演义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.txt",</a:t>
            </a:r>
            <a:r>
              <a:rPr sz="1000" b="1" spc="-36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"r", encoding='utf-8').read()</a:t>
            </a:r>
          </a:p>
          <a:p>
            <a:pPr marL="0" marR="0">
              <a:lnSpc>
                <a:spcPts val="1128"/>
              </a:lnSpc>
              <a:spcBef>
                <a:spcPts val="856"/>
              </a:spcBef>
              <a:spcAft>
                <a:spcPts val="0"/>
              </a:spcAft>
            </a:pPr>
            <a:r>
              <a:rPr sz="1000" b="1" dirty="0">
                <a:solidFill>
                  <a:srgbClr val="7F7F7F"/>
                </a:solidFill>
                <a:latin typeface="Courier New"/>
                <a:cs typeface="Courier New"/>
              </a:rPr>
              <a:t>5</a:t>
            </a:r>
            <a:r>
              <a:rPr sz="1000" b="1" spc="1459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words</a:t>
            </a:r>
            <a:r>
              <a:rPr sz="1000" b="1" spc="603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= jieba.lcut(txt)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339596" y="3468472"/>
            <a:ext cx="1328381" cy="1822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7F7F7F"/>
                </a:solidFill>
                <a:latin typeface="Courier New"/>
                <a:cs typeface="Courier New"/>
              </a:rPr>
              <a:t>6</a:t>
            </a:r>
            <a:r>
              <a:rPr sz="1000" b="1" spc="1459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counts = {}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339596" y="3722980"/>
            <a:ext cx="1861781" cy="1822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7F7F7F"/>
                </a:solidFill>
                <a:latin typeface="Courier New"/>
                <a:cs typeface="Courier New"/>
              </a:rPr>
              <a:t>7</a:t>
            </a:r>
            <a:r>
              <a:rPr sz="1000" b="1" spc="1459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for word in words: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339596" y="3975964"/>
            <a:ext cx="228307" cy="1813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7F7F7F"/>
                </a:solidFill>
                <a:latin typeface="Courier New"/>
                <a:cs typeface="Courier New"/>
              </a:rPr>
              <a:t>8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982470" y="3977235"/>
            <a:ext cx="1523707" cy="1813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if len(word) == 1: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339596" y="4230472"/>
            <a:ext cx="228307" cy="1813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7F7F7F"/>
                </a:solidFill>
                <a:latin typeface="Courier New"/>
                <a:cs typeface="Courier New"/>
              </a:rPr>
              <a:t>9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287270" y="4231742"/>
            <a:ext cx="761707" cy="1813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continue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301496" y="4484980"/>
            <a:ext cx="304507" cy="19589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7F7F7F"/>
                </a:solidFill>
                <a:latin typeface="Courier New"/>
                <a:cs typeface="Courier New"/>
              </a:rPr>
              <a:t>10</a:t>
            </a:r>
          </a:p>
          <a:p>
            <a:pPr marL="0" marR="0">
              <a:lnSpc>
                <a:spcPts val="1128"/>
              </a:lnSpc>
              <a:spcBef>
                <a:spcPts val="865"/>
              </a:spcBef>
              <a:spcAft>
                <a:spcPts val="0"/>
              </a:spcAft>
            </a:pPr>
            <a:r>
              <a:rPr sz="1000" b="1" dirty="0">
                <a:solidFill>
                  <a:srgbClr val="7F7F7F"/>
                </a:solidFill>
                <a:latin typeface="Courier New"/>
                <a:cs typeface="Courier New"/>
              </a:rPr>
              <a:t>11</a:t>
            </a:r>
          </a:p>
          <a:p>
            <a:pPr marL="0" marR="0">
              <a:lnSpc>
                <a:spcPts val="1128"/>
              </a:lnSpc>
              <a:spcBef>
                <a:spcPts val="875"/>
              </a:spcBef>
              <a:spcAft>
                <a:spcPts val="0"/>
              </a:spcAft>
            </a:pPr>
            <a:r>
              <a:rPr sz="1000" b="1" dirty="0">
                <a:solidFill>
                  <a:srgbClr val="7F7F7F"/>
                </a:solidFill>
                <a:latin typeface="Courier New"/>
                <a:cs typeface="Courier New"/>
              </a:rPr>
              <a:t>12</a:t>
            </a:r>
          </a:p>
          <a:p>
            <a:pPr marL="0" marR="0">
              <a:lnSpc>
                <a:spcPts val="1128"/>
              </a:lnSpc>
              <a:spcBef>
                <a:spcPts val="875"/>
              </a:spcBef>
              <a:spcAft>
                <a:spcPts val="0"/>
              </a:spcAft>
            </a:pPr>
            <a:r>
              <a:rPr sz="1000" b="1" dirty="0">
                <a:solidFill>
                  <a:srgbClr val="7F7F7F"/>
                </a:solidFill>
                <a:latin typeface="Courier New"/>
                <a:cs typeface="Courier New"/>
              </a:rPr>
              <a:t>13</a:t>
            </a:r>
          </a:p>
          <a:p>
            <a:pPr marL="0" marR="0">
              <a:lnSpc>
                <a:spcPts val="1128"/>
              </a:lnSpc>
              <a:spcBef>
                <a:spcPts val="864"/>
              </a:spcBef>
              <a:spcAft>
                <a:spcPts val="0"/>
              </a:spcAft>
            </a:pPr>
            <a:r>
              <a:rPr sz="1000" b="1" dirty="0">
                <a:solidFill>
                  <a:srgbClr val="7F7F7F"/>
                </a:solidFill>
                <a:latin typeface="Courier New"/>
                <a:cs typeface="Courier New"/>
              </a:rPr>
              <a:t>14</a:t>
            </a:r>
          </a:p>
          <a:p>
            <a:pPr marL="0" marR="0">
              <a:lnSpc>
                <a:spcPts val="1128"/>
              </a:lnSpc>
              <a:spcBef>
                <a:spcPts val="875"/>
              </a:spcBef>
              <a:spcAft>
                <a:spcPts val="0"/>
              </a:spcAft>
            </a:pPr>
            <a:r>
              <a:rPr sz="1000" b="1" dirty="0">
                <a:solidFill>
                  <a:srgbClr val="7F7F7F"/>
                </a:solidFill>
                <a:latin typeface="Courier New"/>
                <a:cs typeface="Courier New"/>
              </a:rPr>
              <a:t>15</a:t>
            </a:r>
          </a:p>
          <a:p>
            <a:pPr marL="0" marR="0">
              <a:lnSpc>
                <a:spcPts val="1128"/>
              </a:lnSpc>
              <a:spcBef>
                <a:spcPts val="875"/>
              </a:spcBef>
              <a:spcAft>
                <a:spcPts val="0"/>
              </a:spcAft>
            </a:pPr>
            <a:r>
              <a:rPr sz="1000" b="1" dirty="0">
                <a:solidFill>
                  <a:srgbClr val="7F7F7F"/>
                </a:solidFill>
                <a:latin typeface="Courier New"/>
                <a:cs typeface="Courier New"/>
              </a:rPr>
              <a:t>16</a:t>
            </a:r>
          </a:p>
          <a:p>
            <a:pPr marL="0" marR="0">
              <a:lnSpc>
                <a:spcPts val="1128"/>
              </a:lnSpc>
              <a:spcBef>
                <a:spcPts val="866"/>
              </a:spcBef>
              <a:spcAft>
                <a:spcPts val="0"/>
              </a:spcAft>
            </a:pPr>
            <a:r>
              <a:rPr sz="1000" b="1" dirty="0">
                <a:solidFill>
                  <a:srgbClr val="7F7F7F"/>
                </a:solidFill>
                <a:latin typeface="Courier New"/>
                <a:cs typeface="Courier New"/>
              </a:rPr>
              <a:t>17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982470" y="4482853"/>
            <a:ext cx="3203409" cy="4392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elif word == "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诸葛亮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"</a:t>
            </a:r>
            <a:r>
              <a:rPr sz="1000" b="1" spc="-23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or word == "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孔明曰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":</a:t>
            </a:r>
          </a:p>
          <a:p>
            <a:pPr marL="304800" marR="0">
              <a:lnSpc>
                <a:spcPts val="1128"/>
              </a:lnSpc>
              <a:spcBef>
                <a:spcPts val="898"/>
              </a:spcBef>
              <a:spcAft>
                <a:spcPts val="0"/>
              </a:spcAft>
            </a:pP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rword = "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孔明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"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982470" y="4990345"/>
            <a:ext cx="2948901" cy="4393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elif word == "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关公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"</a:t>
            </a:r>
            <a:r>
              <a:rPr sz="1000" b="1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or word == "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云长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":</a:t>
            </a:r>
          </a:p>
          <a:p>
            <a:pPr marL="304800" marR="0">
              <a:lnSpc>
                <a:spcPts val="1131"/>
              </a:lnSpc>
              <a:spcBef>
                <a:spcPts val="896"/>
              </a:spcBef>
              <a:spcAft>
                <a:spcPts val="0"/>
              </a:spcAft>
            </a:pP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rword = "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关羽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"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982470" y="5499615"/>
            <a:ext cx="3076917" cy="4377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elif word == "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玄德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"</a:t>
            </a:r>
            <a:r>
              <a:rPr sz="1000" b="1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or word == "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玄德曰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":</a:t>
            </a:r>
          </a:p>
          <a:p>
            <a:pPr marL="304800" marR="0">
              <a:lnSpc>
                <a:spcPts val="1128"/>
              </a:lnSpc>
              <a:spcBef>
                <a:spcPts val="886"/>
              </a:spcBef>
              <a:spcAft>
                <a:spcPts val="0"/>
              </a:spcAft>
            </a:pP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rword = "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刘备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"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1982470" y="6007107"/>
            <a:ext cx="2948901" cy="4392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elif word == "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孟德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"</a:t>
            </a:r>
            <a:r>
              <a:rPr sz="1000" b="1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or word == "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丞相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":</a:t>
            </a:r>
          </a:p>
          <a:p>
            <a:pPr marL="304800" marR="0">
              <a:lnSpc>
                <a:spcPts val="1128"/>
              </a:lnSpc>
              <a:spcBef>
                <a:spcPts val="898"/>
              </a:spcBef>
              <a:spcAft>
                <a:spcPts val="0"/>
              </a:spcAft>
            </a:pP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rword = "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曹操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”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6245962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《三国演义》人物出场统计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55191" y="2100503"/>
            <a:ext cx="2575406" cy="2087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实例代码</a:t>
            </a:r>
            <a:r>
              <a:rPr sz="1000" dirty="0">
                <a:solidFill>
                  <a:srgbClr val="000000"/>
                </a:solidFill>
                <a:latin typeface="Palatino Linotype"/>
                <a:cs typeface="Palatino Linotype"/>
              </a:rPr>
              <a:t>10.4</a:t>
            </a:r>
            <a:r>
              <a:rPr sz="1000" spc="79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Palatino Linotype"/>
                <a:cs typeface="Palatino Linotype"/>
              </a:rPr>
              <a:t>e10.4CalThreeKingdoms.py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301496" y="2935327"/>
            <a:ext cx="909281" cy="1813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7F7F7F"/>
                </a:solidFill>
                <a:latin typeface="Courier New"/>
                <a:cs typeface="Courier New"/>
              </a:rPr>
              <a:t>18</a:t>
            </a:r>
            <a:r>
              <a:rPr sz="1000" b="1" spc="1159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else: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301496" y="3188310"/>
            <a:ext cx="304507" cy="4358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7F7F7F"/>
                </a:solidFill>
                <a:latin typeface="Courier New"/>
                <a:cs typeface="Courier New"/>
              </a:rPr>
              <a:t>19</a:t>
            </a:r>
          </a:p>
          <a:p>
            <a:pPr marL="0" marR="0">
              <a:lnSpc>
                <a:spcPts val="1128"/>
              </a:lnSpc>
              <a:spcBef>
                <a:spcPts val="875"/>
              </a:spcBef>
              <a:spcAft>
                <a:spcPts val="0"/>
              </a:spcAft>
            </a:pPr>
            <a:r>
              <a:rPr sz="1000" b="1" dirty="0">
                <a:solidFill>
                  <a:srgbClr val="7F7F7F"/>
                </a:solidFill>
                <a:latin typeface="Courier New"/>
                <a:cs typeface="Courier New"/>
              </a:rPr>
              <a:t>20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287270" y="3188310"/>
            <a:ext cx="1066507" cy="1813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rword = word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982470" y="3442818"/>
            <a:ext cx="3124161" cy="1813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counts[rword] = counts.get(rword,0) + 1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301496" y="3697708"/>
            <a:ext cx="2128481" cy="434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7F7F7F"/>
                </a:solidFill>
                <a:latin typeface="Courier New"/>
                <a:cs typeface="Courier New"/>
              </a:rPr>
              <a:t>21</a:t>
            </a:r>
            <a:r>
              <a:rPr sz="1000" b="1" spc="1159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for word in excludes:</a:t>
            </a:r>
          </a:p>
          <a:p>
            <a:pPr marL="0" marR="0">
              <a:lnSpc>
                <a:spcPts val="1128"/>
              </a:lnSpc>
              <a:spcBef>
                <a:spcPts val="863"/>
              </a:spcBef>
              <a:spcAft>
                <a:spcPts val="0"/>
              </a:spcAft>
            </a:pPr>
            <a:r>
              <a:rPr sz="1000" b="1" dirty="0">
                <a:solidFill>
                  <a:srgbClr val="7F7F7F"/>
                </a:solidFill>
                <a:latin typeface="Courier New"/>
                <a:cs typeface="Courier New"/>
              </a:rPr>
              <a:t>22</a:t>
            </a:r>
            <a:r>
              <a:rPr sz="1000" b="1" spc="3561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del(counts[word])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301496" y="4205199"/>
            <a:ext cx="3805135" cy="6888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7F7F7F"/>
                </a:solidFill>
                <a:latin typeface="Courier New"/>
                <a:cs typeface="Courier New"/>
              </a:rPr>
              <a:t>23</a:t>
            </a:r>
            <a:r>
              <a:rPr sz="1000" b="1" spc="1159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items = list(counts.items())</a:t>
            </a:r>
          </a:p>
          <a:p>
            <a:pPr marL="0" marR="0">
              <a:lnSpc>
                <a:spcPts val="1128"/>
              </a:lnSpc>
              <a:spcBef>
                <a:spcPts val="875"/>
              </a:spcBef>
              <a:spcAft>
                <a:spcPts val="0"/>
              </a:spcAft>
            </a:pPr>
            <a:r>
              <a:rPr sz="1000" b="1" dirty="0">
                <a:solidFill>
                  <a:srgbClr val="7F7F7F"/>
                </a:solidFill>
                <a:latin typeface="Courier New"/>
                <a:cs typeface="Courier New"/>
              </a:rPr>
              <a:t>24</a:t>
            </a:r>
            <a:r>
              <a:rPr sz="1000" b="1" spc="1159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items.sort(key=lambda x:x[1], reverse=True)</a:t>
            </a:r>
          </a:p>
          <a:p>
            <a:pPr marL="0" marR="0">
              <a:lnSpc>
                <a:spcPts val="1128"/>
              </a:lnSpc>
              <a:spcBef>
                <a:spcPts val="863"/>
              </a:spcBef>
              <a:spcAft>
                <a:spcPts val="0"/>
              </a:spcAft>
            </a:pPr>
            <a:r>
              <a:rPr sz="1000" b="1" dirty="0">
                <a:solidFill>
                  <a:srgbClr val="7F7F7F"/>
                </a:solidFill>
                <a:latin typeface="Courier New"/>
                <a:cs typeface="Courier New"/>
              </a:rPr>
              <a:t>25</a:t>
            </a:r>
            <a:r>
              <a:rPr sz="1000" b="1" spc="1159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for i in range(5):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301496" y="4967199"/>
            <a:ext cx="304507" cy="4361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7F7F7F"/>
                </a:solidFill>
                <a:latin typeface="Courier New"/>
                <a:cs typeface="Courier New"/>
              </a:rPr>
              <a:t>26</a:t>
            </a:r>
          </a:p>
          <a:p>
            <a:pPr marL="0" marR="0">
              <a:lnSpc>
                <a:spcPts val="1128"/>
              </a:lnSpc>
              <a:spcBef>
                <a:spcPts val="877"/>
              </a:spcBef>
              <a:spcAft>
                <a:spcPts val="0"/>
              </a:spcAft>
            </a:pPr>
            <a:r>
              <a:rPr sz="1000" b="1" dirty="0">
                <a:solidFill>
                  <a:srgbClr val="7F7F7F"/>
                </a:solidFill>
                <a:latin typeface="Courier New"/>
                <a:cs typeface="Courier New"/>
              </a:rPr>
              <a:t>27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982470" y="4967199"/>
            <a:ext cx="1828507" cy="1813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word, count = items[i]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982470" y="5221961"/>
            <a:ext cx="3428961" cy="1813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print ("{0:&lt;10}{1:&gt;5}".format(word, count))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6245962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《三国演义》人物出场统计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01040" y="1792547"/>
            <a:ext cx="7037196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输出排序前5的单词，运行程序后，输出结果如下：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616710" y="2462314"/>
            <a:ext cx="517874" cy="267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7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&gt;&gt;&gt;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616710" y="2712640"/>
            <a:ext cx="558393" cy="12562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8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曹操</a:t>
            </a:r>
          </a:p>
          <a:p>
            <a:pPr marL="0" marR="0">
              <a:lnSpc>
                <a:spcPts val="1596"/>
              </a:lnSpc>
              <a:spcBef>
                <a:spcPts val="397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孔明</a:t>
            </a:r>
          </a:p>
          <a:p>
            <a:pPr marL="0" marR="0">
              <a:lnSpc>
                <a:spcPts val="1596"/>
              </a:lnSpc>
              <a:spcBef>
                <a:spcPts val="408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刘备</a:t>
            </a:r>
          </a:p>
          <a:p>
            <a:pPr marL="0" marR="0">
              <a:lnSpc>
                <a:spcPts val="1596"/>
              </a:lnSpc>
              <a:spcBef>
                <a:spcPts val="407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关羽</a:t>
            </a:r>
          </a:p>
          <a:p>
            <a:pPr marL="0" marR="0">
              <a:lnSpc>
                <a:spcPts val="1596"/>
              </a:lnSpc>
              <a:spcBef>
                <a:spcPts val="396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张飞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124200" y="2718092"/>
            <a:ext cx="639977" cy="10302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1451</a:t>
            </a:r>
          </a:p>
          <a:p>
            <a:pPr marL="0" marR="0">
              <a:lnSpc>
                <a:spcPts val="1807"/>
              </a:lnSpc>
              <a:spcBef>
                <a:spcPts val="185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1383</a:t>
            </a:r>
          </a:p>
          <a:p>
            <a:pPr marL="0" marR="0">
              <a:lnSpc>
                <a:spcPts val="1807"/>
              </a:lnSpc>
              <a:spcBef>
                <a:spcPts val="196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1252</a:t>
            </a:r>
          </a:p>
          <a:p>
            <a:pPr marL="121920" marR="0">
              <a:lnSpc>
                <a:spcPts val="1807"/>
              </a:lnSpc>
              <a:spcBef>
                <a:spcPts val="196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784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246120" y="3733584"/>
            <a:ext cx="517874" cy="267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7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358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70967" y="4295699"/>
            <a:ext cx="8703233" cy="7512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9747" marR="0">
              <a:lnSpc>
                <a:spcPts val="23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Microsoft YaHei"/>
                <a:cs typeface="Microsoft YaHei"/>
              </a:rPr>
              <a:t>请继续完善程序，排除更多无关词汇干扰，总结出场最多的20个人物都有哪些。这</a:t>
            </a:r>
          </a:p>
          <a:p>
            <a:pPr marL="0" marR="0">
              <a:lnSpc>
                <a:spcPts val="2375"/>
              </a:lnSpc>
              <a:spcBef>
                <a:spcPts val="814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Microsoft YaHei"/>
                <a:cs typeface="Microsoft YaHei"/>
              </a:rPr>
              <a:t>里，给出参考答案。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540715" y="5118337"/>
            <a:ext cx="8291259" cy="15748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78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Microsoft YaHei"/>
                <a:cs typeface="Microsoft YaHei"/>
              </a:rPr>
              <a:t>曹操（1451）、孔明（1383）、刘备（1252）、关羽（784）、张飞（358）、</a:t>
            </a:r>
          </a:p>
          <a:p>
            <a:pPr marL="0" marR="0">
              <a:lnSpc>
                <a:spcPts val="2375"/>
              </a:lnSpc>
              <a:spcBef>
                <a:spcPts val="815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Microsoft YaHei"/>
                <a:cs typeface="Microsoft YaHei"/>
              </a:rPr>
              <a:t>吕布（300）、赵云（278）、孙权（264）、司马懿（221）、周瑜（217）、</a:t>
            </a:r>
          </a:p>
          <a:p>
            <a:pPr marL="0" marR="0">
              <a:lnSpc>
                <a:spcPts val="2375"/>
              </a:lnSpc>
              <a:spcBef>
                <a:spcPts val="864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Microsoft YaHei"/>
                <a:cs typeface="Microsoft YaHei"/>
              </a:rPr>
              <a:t>袁绍（191）、马超（185）、魏延（180）、黄忠（168）、姜维（151）、</a:t>
            </a:r>
          </a:p>
          <a:p>
            <a:pPr marL="0" marR="0">
              <a:lnSpc>
                <a:spcPts val="2375"/>
              </a:lnSpc>
              <a:spcBef>
                <a:spcPts val="814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Microsoft YaHei"/>
                <a:cs typeface="Microsoft YaHei"/>
              </a:rPr>
              <a:t>马岱（127）、庞德（122）、孟获（122）、刘表（120）、夏侯惇（116）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566416" y="2788949"/>
            <a:ext cx="3843781" cy="943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127"/>
              </a:lnSpc>
              <a:spcBef>
                <a:spcPts val="0"/>
              </a:spcBef>
              <a:spcAft>
                <a:spcPts val="0"/>
              </a:spcAft>
            </a:pPr>
            <a:r>
              <a:rPr sz="5400" dirty="0">
                <a:solidFill>
                  <a:srgbClr val="000000"/>
                </a:solidFill>
                <a:latin typeface="Microsoft YaHei"/>
                <a:cs typeface="Microsoft YaHei"/>
              </a:rPr>
              <a:t>Python之禅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2885516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Python之禅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86765" y="2340171"/>
            <a:ext cx="8392972" cy="26355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0480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什么样的程序是好的？如何编写漂亮的代码？这都是学习编</a:t>
            </a:r>
          </a:p>
          <a:p>
            <a:pPr marL="0" marR="0">
              <a:lnSpc>
                <a:spcPts val="3167"/>
              </a:lnSpc>
              <a:spcBef>
                <a:spcPts val="1105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程一段时间最经常提出的问题，却最难回答。程序设计语言如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同自然语言，好的代码就像文学作品，不仅达意，更要优美。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那什么是“好”？什么是“优美”？领悟编程代码优美的过程</a:t>
            </a:r>
          </a:p>
          <a:p>
            <a:pPr marL="0" marR="0">
              <a:lnSpc>
                <a:spcPts val="3167"/>
              </a:lnSpc>
              <a:spcBef>
                <a:spcPts val="1154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类似参禅，除了不断练习，也需要理解一些原则。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2885516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Python之禅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59917" y="2340171"/>
            <a:ext cx="8104275" cy="20866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84631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Python</a:t>
            </a:r>
            <a:r>
              <a:rPr sz="2400" spc="12" dirty="0">
                <a:solidFill>
                  <a:srgbClr val="000000"/>
                </a:solidFill>
                <a:latin typeface="Microsoft YaHei"/>
                <a:cs typeface="Microsoft YaHei"/>
              </a:rPr>
              <a:t>编译器以函数库的形式内置了一个有趣的文件，</a:t>
            </a:r>
          </a:p>
          <a:p>
            <a:pPr marL="0" marR="0">
              <a:lnSpc>
                <a:spcPts val="3167"/>
              </a:lnSpc>
              <a:spcBef>
                <a:spcPts val="1105"/>
              </a:spcBef>
              <a:spcAft>
                <a:spcPts val="0"/>
              </a:spcAft>
            </a:pPr>
            <a:r>
              <a:rPr sz="2400" spc="44" dirty="0">
                <a:solidFill>
                  <a:srgbClr val="000000"/>
                </a:solidFill>
                <a:latin typeface="Microsoft YaHei"/>
                <a:cs typeface="Microsoft YaHei"/>
              </a:rPr>
              <a:t>被称为“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Python</a:t>
            </a:r>
            <a:r>
              <a:rPr sz="2400" spc="43" dirty="0">
                <a:solidFill>
                  <a:srgbClr val="000000"/>
                </a:solidFill>
                <a:latin typeface="Microsoft YaHei"/>
                <a:cs typeface="Microsoft YaHei"/>
              </a:rPr>
              <a:t>之禅”（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The</a:t>
            </a:r>
            <a:r>
              <a:rPr sz="2400" spc="521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Zen</a:t>
            </a:r>
            <a:r>
              <a:rPr sz="2400" spc="519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spc="-34" dirty="0">
                <a:solidFill>
                  <a:srgbClr val="000000"/>
                </a:solidFill>
                <a:latin typeface="Microsoft YaHei"/>
                <a:cs typeface="Microsoft YaHei"/>
              </a:rPr>
              <a:t>of</a:t>
            </a:r>
            <a:r>
              <a:rPr sz="2400" spc="557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spc="10" dirty="0">
                <a:solidFill>
                  <a:srgbClr val="000000"/>
                </a:solidFill>
                <a:latin typeface="Microsoft YaHei"/>
                <a:cs typeface="Microsoft YaHei"/>
              </a:rPr>
              <a:t>Python</a:t>
            </a:r>
            <a:r>
              <a:rPr sz="2400" spc="37" dirty="0">
                <a:solidFill>
                  <a:srgbClr val="000000"/>
                </a:solidFill>
                <a:latin typeface="Microsoft YaHei"/>
                <a:cs typeface="Microsoft YaHei"/>
              </a:rPr>
              <a:t>）。当调用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如下一行语句后，会出现一段有趣的运行结果。</a:t>
            </a:r>
          </a:p>
          <a:p>
            <a:pPr marL="304799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b="1" dirty="0">
                <a:solidFill>
                  <a:srgbClr val="000000"/>
                </a:solidFill>
                <a:latin typeface="Microsoft YaHei"/>
                <a:cs typeface="Microsoft YaHei"/>
              </a:rPr>
              <a:t>&gt;&gt;&gt;import</a:t>
            </a:r>
            <a:r>
              <a:rPr sz="2400" b="1" spc="13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0000"/>
                </a:solidFill>
                <a:latin typeface="Microsoft YaHei"/>
                <a:cs typeface="Microsoft YaHei"/>
              </a:rPr>
              <a:t>this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77037" y="712127"/>
            <a:ext cx="4060108" cy="2680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The Zen</a:t>
            </a:r>
            <a:r>
              <a:rPr sz="1600" spc="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of Python, by Tim Peters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77037" y="1003211"/>
            <a:ext cx="6863552" cy="25173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7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Beautiful is better than ugly.</a:t>
            </a:r>
          </a:p>
          <a:p>
            <a:pPr marL="0" marR="0">
              <a:lnSpc>
                <a:spcPts val="1807"/>
              </a:lnSpc>
              <a:spcBef>
                <a:spcPts val="184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Explicit is</a:t>
            </a:r>
            <a:r>
              <a:rPr sz="1600" spc="12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better</a:t>
            </a:r>
            <a:r>
              <a:rPr sz="1600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than</a:t>
            </a:r>
            <a:r>
              <a:rPr sz="1600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implicit.</a:t>
            </a:r>
          </a:p>
          <a:p>
            <a:pPr marL="0" marR="0">
              <a:lnSpc>
                <a:spcPts val="1807"/>
              </a:lnSpc>
              <a:spcBef>
                <a:spcPts val="196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Simple</a:t>
            </a:r>
            <a:r>
              <a:rPr sz="1600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is better than complex.</a:t>
            </a:r>
          </a:p>
          <a:p>
            <a:pPr marL="0" marR="0">
              <a:lnSpc>
                <a:spcPts val="1807"/>
              </a:lnSpc>
              <a:spcBef>
                <a:spcPts val="196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Complex is better than complicated.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Courier New"/>
                <a:cs typeface="Courier New"/>
              </a:rPr>
              <a:t>https://www.bilibili.com/video/BV1GE411t7t4/</a:t>
            </a:r>
            <a:endParaRPr sz="1600" dirty="0">
              <a:solidFill>
                <a:srgbClr val="FF0000"/>
              </a:solidFill>
              <a:latin typeface="Courier New"/>
              <a:cs typeface="Courier New"/>
            </a:endParaRPr>
          </a:p>
          <a:p>
            <a:pPr marL="0" marR="0">
              <a:lnSpc>
                <a:spcPts val="1810"/>
              </a:lnSpc>
              <a:spcBef>
                <a:spcPts val="182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Flat is</a:t>
            </a:r>
            <a:r>
              <a:rPr sz="1600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better than</a:t>
            </a:r>
            <a:r>
              <a:rPr sz="1600" spc="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nested.</a:t>
            </a:r>
          </a:p>
          <a:p>
            <a:pPr marL="0" marR="0">
              <a:lnSpc>
                <a:spcPts val="1807"/>
              </a:lnSpc>
              <a:spcBef>
                <a:spcPts val="197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Sparse</a:t>
            </a:r>
            <a:r>
              <a:rPr sz="1600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is better than dense.</a:t>
            </a:r>
          </a:p>
          <a:p>
            <a:pPr marL="0" marR="0">
              <a:lnSpc>
                <a:spcPts val="1807"/>
              </a:lnSpc>
              <a:spcBef>
                <a:spcPts val="196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Readability</a:t>
            </a:r>
            <a:r>
              <a:rPr sz="1600" spc="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counts.</a:t>
            </a:r>
          </a:p>
          <a:p>
            <a:pPr marL="0" marR="0">
              <a:lnSpc>
                <a:spcPts val="1807"/>
              </a:lnSpc>
              <a:spcBef>
                <a:spcPts val="184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Special cases aren't special enough</a:t>
            </a:r>
            <a:r>
              <a:rPr sz="1600" spc="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to break the rules.</a:t>
            </a:r>
          </a:p>
          <a:p>
            <a:pPr marL="0" marR="0">
              <a:lnSpc>
                <a:spcPts val="1807"/>
              </a:lnSpc>
              <a:spcBef>
                <a:spcPts val="196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Although practicality beats purity.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77037" y="3508031"/>
            <a:ext cx="4301119" cy="5210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7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Errors</a:t>
            </a:r>
            <a:r>
              <a:rPr sz="1600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should never pass silently.</a:t>
            </a:r>
          </a:p>
          <a:p>
            <a:pPr marL="0" marR="0">
              <a:lnSpc>
                <a:spcPts val="1807"/>
              </a:lnSpc>
              <a:spcBef>
                <a:spcPts val="187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Unless</a:t>
            </a:r>
            <a:r>
              <a:rPr sz="1600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explicitly silenced.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77037" y="4015904"/>
            <a:ext cx="8579711" cy="20464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7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In the</a:t>
            </a:r>
            <a:r>
              <a:rPr sz="1600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face</a:t>
            </a:r>
            <a:r>
              <a:rPr sz="1600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of ambiguity, refuse the temptation</a:t>
            </a:r>
            <a:r>
              <a:rPr sz="1600" spc="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to guess.</a:t>
            </a:r>
          </a:p>
          <a:p>
            <a:pPr marL="0" marR="0">
              <a:lnSpc>
                <a:spcPts val="1807"/>
              </a:lnSpc>
              <a:spcBef>
                <a:spcPts val="196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There should be one-- and preferably</a:t>
            </a:r>
            <a:r>
              <a:rPr sz="1600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only one</a:t>
            </a:r>
            <a:r>
              <a:rPr sz="1600" spc="-23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--obvious way</a:t>
            </a:r>
            <a:r>
              <a:rPr sz="1600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to do it.</a:t>
            </a:r>
          </a:p>
          <a:p>
            <a:pPr marL="0" marR="0">
              <a:lnSpc>
                <a:spcPts val="1807"/>
              </a:lnSpc>
              <a:spcBef>
                <a:spcPts val="184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Although that way may not be obvious at first unless you're</a:t>
            </a:r>
            <a:r>
              <a:rPr sz="1600" spc="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Dutch.</a:t>
            </a:r>
          </a:p>
          <a:p>
            <a:pPr marL="0" marR="0">
              <a:lnSpc>
                <a:spcPts val="1807"/>
              </a:lnSpc>
              <a:spcBef>
                <a:spcPts val="196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Now is</a:t>
            </a:r>
            <a:r>
              <a:rPr sz="1600" spc="12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better than</a:t>
            </a:r>
            <a:r>
              <a:rPr sz="1600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never.</a:t>
            </a:r>
          </a:p>
          <a:p>
            <a:pPr marL="0" marR="0">
              <a:lnSpc>
                <a:spcPts val="1807"/>
              </a:lnSpc>
              <a:spcBef>
                <a:spcPts val="196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Although never is often better</a:t>
            </a:r>
            <a:r>
              <a:rPr sz="1600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than</a:t>
            </a:r>
            <a:r>
              <a:rPr sz="1600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*right* now.</a:t>
            </a:r>
          </a:p>
          <a:p>
            <a:pPr marL="0" marR="0">
              <a:lnSpc>
                <a:spcPts val="1807"/>
              </a:lnSpc>
              <a:spcBef>
                <a:spcPts val="186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If the</a:t>
            </a:r>
            <a:r>
              <a:rPr sz="1600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implementation is hard </a:t>
            </a:r>
            <a:r>
              <a:rPr sz="1600" spc="10" dirty="0">
                <a:solidFill>
                  <a:srgbClr val="000000"/>
                </a:solidFill>
                <a:latin typeface="Courier New"/>
                <a:cs typeface="Courier New"/>
              </a:rPr>
              <a:t>to</a:t>
            </a:r>
            <a:r>
              <a:rPr sz="1600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explain, it's a bad idea.</a:t>
            </a:r>
          </a:p>
          <a:p>
            <a:pPr marL="0" marR="0">
              <a:lnSpc>
                <a:spcPts val="1807"/>
              </a:lnSpc>
              <a:spcBef>
                <a:spcPts val="196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If the</a:t>
            </a:r>
            <a:r>
              <a:rPr sz="1600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implementation is easy </a:t>
            </a:r>
            <a:r>
              <a:rPr sz="1600" spc="10" dirty="0">
                <a:solidFill>
                  <a:srgbClr val="000000"/>
                </a:solidFill>
                <a:latin typeface="Courier New"/>
                <a:cs typeface="Courier New"/>
              </a:rPr>
              <a:t>to</a:t>
            </a:r>
            <a:r>
              <a:rPr sz="1600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explain, </a:t>
            </a:r>
            <a:r>
              <a:rPr sz="1600" spc="10" dirty="0">
                <a:solidFill>
                  <a:srgbClr val="000000"/>
                </a:solidFill>
                <a:latin typeface="Courier New"/>
                <a:cs typeface="Courier New"/>
              </a:rPr>
              <a:t>it</a:t>
            </a:r>
            <a:r>
              <a:rPr sz="1600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may be a good idea.</a:t>
            </a:r>
          </a:p>
          <a:p>
            <a:pPr marL="0" marR="0">
              <a:lnSpc>
                <a:spcPts val="1807"/>
              </a:lnSpc>
              <a:spcBef>
                <a:spcPts val="196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Namespaces are one</a:t>
            </a:r>
            <a:r>
              <a:rPr sz="1600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honking great idea</a:t>
            </a:r>
            <a:r>
              <a:rPr sz="1600" spc="37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-- let's </a:t>
            </a:r>
            <a:r>
              <a:rPr sz="1600" spc="10" dirty="0">
                <a:solidFill>
                  <a:srgbClr val="000000"/>
                </a:solidFill>
                <a:latin typeface="Courier New"/>
                <a:cs typeface="Courier New"/>
              </a:rPr>
              <a:t>do</a:t>
            </a:r>
            <a:r>
              <a:rPr sz="1600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more</a:t>
            </a:r>
            <a:r>
              <a:rPr sz="1600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of those!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32562" y="781613"/>
            <a:ext cx="1289304" cy="2731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7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Python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之禅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740154" y="781613"/>
            <a:ext cx="1979890" cy="2731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7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作者：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Tim</a:t>
            </a:r>
            <a:r>
              <a:rPr sz="1600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Peters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551298" y="781613"/>
            <a:ext cx="963167" cy="2407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译者心得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32562" y="1259206"/>
            <a:ext cx="1463751" cy="18111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8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EDPDKQ+Symbol"/>
                <a:cs typeface="EDPDKQ+Symbol"/>
              </a:rPr>
              <a:t>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优美胜于丑陋</a:t>
            </a:r>
          </a:p>
          <a:p>
            <a:pPr marL="0" marR="0">
              <a:lnSpc>
                <a:spcPts val="1955"/>
              </a:lnSpc>
              <a:spcBef>
                <a:spcPts val="1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EDPDKQ+Symbol"/>
                <a:cs typeface="EDPDKQ+Symbol"/>
              </a:rPr>
              <a:t>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明了胜于隐晦</a:t>
            </a:r>
          </a:p>
          <a:p>
            <a:pPr marL="0" marR="0">
              <a:lnSpc>
                <a:spcPts val="1955"/>
              </a:lnSpc>
              <a:spcBef>
                <a:spcPts val="48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EDPDKQ+Symbol"/>
                <a:cs typeface="EDPDKQ+Symbol"/>
              </a:rPr>
              <a:t>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简洁胜于复杂</a:t>
            </a:r>
          </a:p>
          <a:p>
            <a:pPr marL="0" marR="0">
              <a:lnSpc>
                <a:spcPts val="1955"/>
              </a:lnSpc>
              <a:spcBef>
                <a:spcPts val="36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EDPDKQ+Symbol"/>
                <a:cs typeface="EDPDKQ+Symbol"/>
              </a:rPr>
              <a:t>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复杂胜于凌乱</a:t>
            </a:r>
          </a:p>
          <a:p>
            <a:pPr marL="0" marR="0">
              <a:lnSpc>
                <a:spcPts val="1955"/>
              </a:lnSpc>
              <a:spcBef>
                <a:spcPts val="48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EDPDKQ+Symbol"/>
                <a:cs typeface="EDPDKQ+Symbol"/>
              </a:rPr>
              <a:t>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扁平胜于嵌套</a:t>
            </a:r>
          </a:p>
          <a:p>
            <a:pPr marL="0" marR="0">
              <a:lnSpc>
                <a:spcPts val="1955"/>
              </a:lnSpc>
              <a:spcBef>
                <a:spcPts val="48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EDPDKQ+Symbol"/>
                <a:cs typeface="EDPDKQ+Symbol"/>
              </a:rPr>
              <a:t>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间隔胜于紧凑</a:t>
            </a:r>
          </a:p>
          <a:p>
            <a:pPr marL="0" marR="0">
              <a:lnSpc>
                <a:spcPts val="1958"/>
              </a:lnSpc>
              <a:spcBef>
                <a:spcPts val="34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EDPDKQ+Symbol"/>
                <a:cs typeface="EDPDKQ+Symbol"/>
              </a:rPr>
              <a:t>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可读性很重要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551298" y="1288843"/>
            <a:ext cx="3197351" cy="495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8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以编写优美代码为目标，不多解释</a:t>
            </a:r>
          </a:p>
          <a:p>
            <a:pPr marL="0" marR="0">
              <a:lnSpc>
                <a:spcPts val="1596"/>
              </a:lnSpc>
              <a:spcBef>
                <a:spcPts val="41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优美代码应该清晰明了，规范统一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551298" y="1798502"/>
            <a:ext cx="4209077" cy="12558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优美代码应该逻辑简洁，避免复杂逻辑</a:t>
            </a:r>
          </a:p>
          <a:p>
            <a:pPr marL="0" marR="0">
              <a:lnSpc>
                <a:spcPts val="1596"/>
              </a:lnSpc>
              <a:spcBef>
                <a:spcPts val="396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如果必须采用复杂逻辑，接口关系也要清晰</a:t>
            </a:r>
          </a:p>
          <a:p>
            <a:pPr marL="0" marR="0">
              <a:lnSpc>
                <a:spcPts val="1596"/>
              </a:lnSpc>
              <a:spcBef>
                <a:spcPts val="408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优美代码应该是扁平的，避免太多层次嵌套</a:t>
            </a:r>
          </a:p>
          <a:p>
            <a:pPr marL="0" marR="0">
              <a:lnSpc>
                <a:spcPts val="1596"/>
              </a:lnSpc>
              <a:spcBef>
                <a:spcPts val="407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优美代码间隔要适当，每行代码解决适度问题</a:t>
            </a:r>
          </a:p>
          <a:p>
            <a:pPr marL="0" marR="0">
              <a:lnSpc>
                <a:spcPts val="1598"/>
              </a:lnSpc>
              <a:spcBef>
                <a:spcPts val="393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优美代码必须是可读且易读的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32562" y="3038656"/>
            <a:ext cx="6498056" cy="5248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EDPDKQ+Symbol"/>
                <a:cs typeface="EDPDKQ+Symbol"/>
              </a:rPr>
              <a:t>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即便假借特例的实用性之名，也不要违背上述</a:t>
            </a:r>
            <a:r>
              <a:rPr sz="1600" spc="9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上述规则是至高无上的</a:t>
            </a:r>
          </a:p>
          <a:p>
            <a:pPr marL="0" marR="0">
              <a:lnSpc>
                <a:spcPts val="1596"/>
              </a:lnSpc>
              <a:spcBef>
                <a:spcPts val="231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规则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32562" y="3546148"/>
            <a:ext cx="3895238" cy="2864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EDPDKQ+Symbol"/>
                <a:cs typeface="EDPDKQ+Symbol"/>
              </a:rPr>
              <a:t>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除非你确定需要，任何错误都应该有应对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4551298" y="3575740"/>
            <a:ext cx="4004967" cy="240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捕获异常，不让程序留有因错误退出的可能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32562" y="3800656"/>
            <a:ext cx="8730506" cy="5572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EDPDKQ+Symbol"/>
                <a:cs typeface="EDPDKQ+Symbol"/>
              </a:rPr>
              <a:t>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当存在多种可能，不要尝试去猜测</a:t>
            </a:r>
          </a:p>
          <a:p>
            <a:pPr marL="0" marR="0">
              <a:lnSpc>
                <a:spcPts val="1955"/>
              </a:lnSpc>
              <a:spcBef>
                <a:spcPts val="48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EDPDKQ+Symbol"/>
                <a:cs typeface="EDPDKQ+Symbol"/>
              </a:rPr>
              <a:t>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只要你不是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Guido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，对于问题尽量找一种，最</a:t>
            </a:r>
            <a:r>
              <a:rPr sz="1600" spc="91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不要试图给出多种方案，找到一种实现它，几乎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32562" y="4337479"/>
            <a:ext cx="2385364" cy="2410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8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好是唯一明显的解决方案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4551298" y="4337479"/>
            <a:ext cx="2588460" cy="2735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所有人都没有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Guido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那么牛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32562" y="4563037"/>
            <a:ext cx="6700748" cy="10323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EDPDKQ+Symbol"/>
                <a:cs typeface="EDPDKQ+Symbol"/>
              </a:rPr>
              <a:t>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做也许好过不做，但不假思索就动手还不如不</a:t>
            </a:r>
            <a:r>
              <a:rPr sz="1600" spc="9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编程之前要有思考</a:t>
            </a:r>
          </a:p>
          <a:p>
            <a:pPr marL="0" marR="0">
              <a:lnSpc>
                <a:spcPts val="1596"/>
              </a:lnSpc>
              <a:spcBef>
                <a:spcPts val="231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做</a:t>
            </a:r>
          </a:p>
          <a:p>
            <a:pPr marL="0" marR="0">
              <a:lnSpc>
                <a:spcPts val="1955"/>
              </a:lnSpc>
              <a:spcBef>
                <a:spcPts val="162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EDPDKQ+Symbol"/>
                <a:cs typeface="EDPDKQ+Symbol"/>
              </a:rPr>
              <a:t>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如果你无法向人描述你的实现方案，那肯定不</a:t>
            </a:r>
            <a:r>
              <a:rPr sz="1600" spc="9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能说清楚的往往才是对的</a:t>
            </a:r>
          </a:p>
          <a:p>
            <a:pPr marL="0" marR="0">
              <a:lnSpc>
                <a:spcPts val="1596"/>
              </a:lnSpc>
              <a:spcBef>
                <a:spcPts val="231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是一个好方案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232562" y="5579494"/>
            <a:ext cx="3895238" cy="2864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EDPDKQ+Symbol"/>
                <a:cs typeface="EDPDKQ+Symbol"/>
              </a:rPr>
              <a:t>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如果实现方案容易解释，可能是个好方案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232562" y="5832783"/>
            <a:ext cx="3286011" cy="2864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EDPDKQ+Symbol"/>
                <a:cs typeface="EDPDKQ+Symbol"/>
              </a:rPr>
              <a:t>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命名空间是绝妙的理念，要多运用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4551298" y="5862375"/>
            <a:ext cx="1773935" cy="240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适合复杂程序编程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2885516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Python之禅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53465" y="1618176"/>
            <a:ext cx="7703210" cy="8061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除了Python之禅所表达的Python设计理念，该程序还有</a:t>
            </a:r>
          </a:p>
          <a:p>
            <a:pPr marL="0" marR="0">
              <a:lnSpc>
                <a:spcPts val="2879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另一段魅力：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72414" y="2546232"/>
            <a:ext cx="1179096" cy="2786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94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实例代码</a:t>
            </a:r>
            <a:r>
              <a:rPr sz="1400" dirty="0">
                <a:solidFill>
                  <a:srgbClr val="000000"/>
                </a:solidFill>
                <a:latin typeface="Palatino Linotype"/>
                <a:cs typeface="Palatino Linotype"/>
              </a:rPr>
              <a:t>11.1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719451" y="2546232"/>
            <a:ext cx="692722" cy="2786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94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Palatino Linotype"/>
                <a:cs typeface="Palatino Linotype"/>
              </a:rPr>
              <a:t>this.py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06500" y="3058305"/>
            <a:ext cx="4709550" cy="493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7F7F7F"/>
                </a:solidFill>
                <a:latin typeface="Courier New"/>
                <a:cs typeface="Courier New"/>
              </a:rPr>
              <a:t>1</a:t>
            </a:r>
            <a:r>
              <a:rPr sz="1400" spc="1517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s = """Gur</a:t>
            </a:r>
            <a:r>
              <a:rPr sz="1400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Mra bs Clguba,</a:t>
            </a:r>
            <a:r>
              <a:rPr sz="1400" spc="-15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ol</a:t>
            </a:r>
            <a:r>
              <a:rPr sz="1400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Gvz Crgref</a:t>
            </a:r>
          </a:p>
          <a:p>
            <a:pPr marL="0" marR="0">
              <a:lnSpc>
                <a:spcPts val="1590"/>
              </a:lnSpc>
              <a:spcBef>
                <a:spcPts val="401"/>
              </a:spcBef>
              <a:spcAft>
                <a:spcPts val="0"/>
              </a:spcAft>
            </a:pPr>
            <a:r>
              <a:rPr sz="1400" dirty="0">
                <a:solidFill>
                  <a:srgbClr val="7F7F7F"/>
                </a:solidFill>
                <a:latin typeface="Courier New"/>
                <a:cs typeface="Courier New"/>
              </a:rPr>
              <a:t>2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06500" y="3565797"/>
            <a:ext cx="4283981" cy="12569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7F7F7F"/>
                </a:solidFill>
                <a:latin typeface="Courier New"/>
                <a:cs typeface="Courier New"/>
              </a:rPr>
              <a:t>3</a:t>
            </a:r>
            <a:r>
              <a:rPr sz="1400" spc="1517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Ornhgvshy </a:t>
            </a:r>
            <a:r>
              <a:rPr sz="1400" spc="-11" dirty="0">
                <a:solidFill>
                  <a:srgbClr val="000000"/>
                </a:solidFill>
                <a:latin typeface="Courier New"/>
                <a:cs typeface="Courier New"/>
              </a:rPr>
              <a:t>vf</a:t>
            </a:r>
            <a:r>
              <a:rPr sz="1400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orggre guna htyl.</a:t>
            </a:r>
          </a:p>
          <a:p>
            <a:pPr marL="0" marR="0">
              <a:lnSpc>
                <a:spcPts val="1590"/>
              </a:lnSpc>
              <a:spcBef>
                <a:spcPts val="413"/>
              </a:spcBef>
              <a:spcAft>
                <a:spcPts val="0"/>
              </a:spcAft>
            </a:pPr>
            <a:r>
              <a:rPr sz="1400" dirty="0">
                <a:solidFill>
                  <a:srgbClr val="7F7F7F"/>
                </a:solidFill>
                <a:latin typeface="Courier New"/>
                <a:cs typeface="Courier New"/>
              </a:rPr>
              <a:t>4</a:t>
            </a:r>
            <a:r>
              <a:rPr sz="1400" spc="1517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Rkcyvpvg vf</a:t>
            </a:r>
            <a:r>
              <a:rPr sz="1400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orggre guna vzcyvpvg.</a:t>
            </a:r>
          </a:p>
          <a:p>
            <a:pPr marL="0" marR="0">
              <a:lnSpc>
                <a:spcPts val="1590"/>
              </a:lnSpc>
              <a:spcBef>
                <a:spcPts val="401"/>
              </a:spcBef>
              <a:spcAft>
                <a:spcPts val="0"/>
              </a:spcAft>
            </a:pPr>
            <a:r>
              <a:rPr sz="1400" b="1" dirty="0">
                <a:solidFill>
                  <a:srgbClr val="7F7F7F"/>
                </a:solidFill>
                <a:latin typeface="Courier New"/>
                <a:cs typeface="Courier New"/>
              </a:rPr>
              <a:t>5</a:t>
            </a:r>
            <a:r>
              <a:rPr sz="1400" b="1" spc="1517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Fvzcyr</a:t>
            </a:r>
            <a:r>
              <a:rPr sz="1400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vf orggre guna</a:t>
            </a:r>
            <a:r>
              <a:rPr sz="1400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pbzcyrk.</a:t>
            </a:r>
          </a:p>
          <a:p>
            <a:pPr marL="0" marR="0">
              <a:lnSpc>
                <a:spcPts val="1590"/>
              </a:lnSpc>
              <a:spcBef>
                <a:spcPts val="416"/>
              </a:spcBef>
              <a:spcAft>
                <a:spcPts val="0"/>
              </a:spcAft>
            </a:pPr>
            <a:r>
              <a:rPr sz="1400" b="1" dirty="0">
                <a:solidFill>
                  <a:srgbClr val="7F7F7F"/>
                </a:solidFill>
                <a:latin typeface="Courier New"/>
                <a:cs typeface="Courier New"/>
              </a:rPr>
              <a:t>6</a:t>
            </a:r>
            <a:r>
              <a:rPr sz="1400" b="1" spc="1517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Pbzcyrk</a:t>
            </a:r>
            <a:r>
              <a:rPr sz="1400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vf</a:t>
            </a:r>
            <a:r>
              <a:rPr sz="1400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orggre guna pbzcyvpngrq.</a:t>
            </a:r>
          </a:p>
          <a:p>
            <a:pPr marL="0" marR="0">
              <a:lnSpc>
                <a:spcPts val="1590"/>
              </a:lnSpc>
              <a:spcBef>
                <a:spcPts val="413"/>
              </a:spcBef>
              <a:spcAft>
                <a:spcPts val="0"/>
              </a:spcAft>
            </a:pPr>
            <a:r>
              <a:rPr sz="1400" b="1" dirty="0">
                <a:solidFill>
                  <a:srgbClr val="7F7F7F"/>
                </a:solidFill>
                <a:latin typeface="Courier New"/>
                <a:cs typeface="Courier New"/>
              </a:rPr>
              <a:t>7</a:t>
            </a:r>
            <a:r>
              <a:rPr sz="1400" b="1" spc="1517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Syng vf</a:t>
            </a:r>
            <a:r>
              <a:rPr sz="1400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orggre guna arfgrq.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06500" y="4835670"/>
            <a:ext cx="3538491" cy="4945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7F7F7F"/>
                </a:solidFill>
                <a:latin typeface="Courier New"/>
                <a:cs typeface="Courier New"/>
              </a:rPr>
              <a:t>8</a:t>
            </a:r>
            <a:r>
              <a:rPr sz="1400" b="1" spc="1517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Fcnefr</a:t>
            </a:r>
            <a:r>
              <a:rPr sz="1400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vf orggre guna</a:t>
            </a:r>
            <a:r>
              <a:rPr sz="1400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qrafr.</a:t>
            </a:r>
          </a:p>
          <a:p>
            <a:pPr marL="0" marR="0">
              <a:lnSpc>
                <a:spcPts val="1590"/>
              </a:lnSpc>
              <a:spcBef>
                <a:spcPts val="413"/>
              </a:spcBef>
              <a:spcAft>
                <a:spcPts val="0"/>
              </a:spcAft>
            </a:pPr>
            <a:r>
              <a:rPr sz="1400" b="1" dirty="0">
                <a:solidFill>
                  <a:srgbClr val="7F7F7F"/>
                </a:solidFill>
                <a:latin typeface="Courier New"/>
                <a:cs typeface="Courier New"/>
              </a:rPr>
              <a:t>9</a:t>
            </a:r>
            <a:r>
              <a:rPr sz="1400" b="1" spc="1517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Ernqnovyvgl</a:t>
            </a:r>
            <a:r>
              <a:rPr sz="1400" spc="-17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pbhagf.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53160" y="5344686"/>
            <a:ext cx="6463555" cy="1002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7F7F7F"/>
                </a:solidFill>
                <a:latin typeface="Courier New"/>
                <a:cs typeface="Courier New"/>
              </a:rPr>
              <a:t>10</a:t>
            </a:r>
            <a:r>
              <a:rPr sz="1400" b="1" spc="1097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Fcrpvny</a:t>
            </a:r>
            <a:r>
              <a:rPr sz="1400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pnfrf</a:t>
            </a:r>
            <a:r>
              <a:rPr sz="1400" spc="-12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nera'g fcrpvny</a:t>
            </a:r>
            <a:r>
              <a:rPr sz="1400" spc="-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rabhtu</a:t>
            </a:r>
            <a:r>
              <a:rPr sz="1400" spc="-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gb</a:t>
            </a:r>
            <a:r>
              <a:rPr sz="1400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oernx gur</a:t>
            </a:r>
            <a:r>
              <a:rPr sz="1400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ehyrf.</a:t>
            </a:r>
          </a:p>
          <a:p>
            <a:pPr marL="0" marR="0">
              <a:lnSpc>
                <a:spcPts val="1593"/>
              </a:lnSpc>
              <a:spcBef>
                <a:spcPts val="399"/>
              </a:spcBef>
              <a:spcAft>
                <a:spcPts val="0"/>
              </a:spcAft>
            </a:pPr>
            <a:r>
              <a:rPr sz="1400" b="1" dirty="0">
                <a:solidFill>
                  <a:srgbClr val="7F7F7F"/>
                </a:solidFill>
                <a:latin typeface="Courier New"/>
                <a:cs typeface="Courier New"/>
              </a:rPr>
              <a:t>11</a:t>
            </a:r>
            <a:r>
              <a:rPr sz="1400" b="1" spc="1097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Nygubhtu cenpgvpnyvgl</a:t>
            </a:r>
            <a:r>
              <a:rPr sz="1400" spc="-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orngf</a:t>
            </a:r>
            <a:r>
              <a:rPr sz="1400" spc="-15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chevgl.</a:t>
            </a:r>
          </a:p>
          <a:p>
            <a:pPr marL="0" marR="0">
              <a:lnSpc>
                <a:spcPts val="1590"/>
              </a:lnSpc>
              <a:spcBef>
                <a:spcPts val="415"/>
              </a:spcBef>
              <a:spcAft>
                <a:spcPts val="0"/>
              </a:spcAft>
            </a:pPr>
            <a:r>
              <a:rPr sz="1400" b="1" dirty="0">
                <a:solidFill>
                  <a:srgbClr val="7F7F7F"/>
                </a:solidFill>
                <a:latin typeface="Courier New"/>
                <a:cs typeface="Courier New"/>
              </a:rPr>
              <a:t>12</a:t>
            </a:r>
            <a:r>
              <a:rPr sz="1400" b="1" spc="1097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Reebef</a:t>
            </a:r>
            <a:r>
              <a:rPr sz="1400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fubhyq</a:t>
            </a:r>
            <a:r>
              <a:rPr sz="1400" spc="-12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arire cnff fvyragyl.</a:t>
            </a:r>
          </a:p>
          <a:p>
            <a:pPr marL="0" marR="0">
              <a:lnSpc>
                <a:spcPts val="1590"/>
              </a:lnSpc>
              <a:spcBef>
                <a:spcPts val="413"/>
              </a:spcBef>
              <a:spcAft>
                <a:spcPts val="0"/>
              </a:spcAft>
            </a:pPr>
            <a:r>
              <a:rPr sz="1400" b="1" dirty="0">
                <a:solidFill>
                  <a:srgbClr val="7F7F7F"/>
                </a:solidFill>
                <a:latin typeface="Courier New"/>
                <a:cs typeface="Courier New"/>
              </a:rPr>
              <a:t>13</a:t>
            </a:r>
            <a:r>
              <a:rPr sz="1400" b="1" spc="1097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Hayrff</a:t>
            </a:r>
            <a:r>
              <a:rPr sz="1400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rkcyvpvgyl fvyraprq.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2885516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Python之禅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27939" y="1974732"/>
            <a:ext cx="1179045" cy="2786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94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实例代码</a:t>
            </a:r>
            <a:r>
              <a:rPr sz="1400" dirty="0">
                <a:solidFill>
                  <a:srgbClr val="000000"/>
                </a:solidFill>
                <a:latin typeface="Palatino Linotype"/>
                <a:cs typeface="Palatino Linotype"/>
              </a:rPr>
              <a:t>11.1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615183" y="1974732"/>
            <a:ext cx="692722" cy="2786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94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Palatino Linotype"/>
                <a:cs typeface="Palatino Linotype"/>
              </a:rPr>
              <a:t>this.py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14476" y="2323737"/>
            <a:ext cx="366770" cy="40510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7F7F7F"/>
                </a:solidFill>
                <a:latin typeface="Courier New"/>
                <a:cs typeface="Courier New"/>
              </a:rPr>
              <a:t>14</a:t>
            </a:r>
          </a:p>
          <a:p>
            <a:pPr marL="0" marR="0">
              <a:lnSpc>
                <a:spcPts val="1590"/>
              </a:lnSpc>
              <a:spcBef>
                <a:spcPts val="401"/>
              </a:spcBef>
              <a:spcAft>
                <a:spcPts val="0"/>
              </a:spcAft>
            </a:pPr>
            <a:r>
              <a:rPr sz="1400" b="1" dirty="0">
                <a:solidFill>
                  <a:srgbClr val="7F7F7F"/>
                </a:solidFill>
                <a:latin typeface="Courier New"/>
                <a:cs typeface="Courier New"/>
              </a:rPr>
              <a:t>15</a:t>
            </a:r>
          </a:p>
          <a:p>
            <a:pPr marL="0" marR="0">
              <a:lnSpc>
                <a:spcPts val="1593"/>
              </a:lnSpc>
              <a:spcBef>
                <a:spcPts val="411"/>
              </a:spcBef>
              <a:spcAft>
                <a:spcPts val="0"/>
              </a:spcAft>
            </a:pPr>
            <a:r>
              <a:rPr sz="1400" b="1" dirty="0">
                <a:solidFill>
                  <a:srgbClr val="7F7F7F"/>
                </a:solidFill>
                <a:latin typeface="Courier New"/>
                <a:cs typeface="Courier New"/>
              </a:rPr>
              <a:t>16</a:t>
            </a:r>
          </a:p>
          <a:p>
            <a:pPr marL="0" marR="0">
              <a:lnSpc>
                <a:spcPts val="1590"/>
              </a:lnSpc>
              <a:spcBef>
                <a:spcPts val="415"/>
              </a:spcBef>
              <a:spcAft>
                <a:spcPts val="0"/>
              </a:spcAft>
            </a:pPr>
            <a:r>
              <a:rPr sz="1400" b="1" dirty="0">
                <a:solidFill>
                  <a:srgbClr val="7F7F7F"/>
                </a:solidFill>
                <a:latin typeface="Courier New"/>
                <a:cs typeface="Courier New"/>
              </a:rPr>
              <a:t>17</a:t>
            </a:r>
          </a:p>
          <a:p>
            <a:pPr marL="0" marR="0">
              <a:lnSpc>
                <a:spcPts val="1590"/>
              </a:lnSpc>
              <a:spcBef>
                <a:spcPts val="401"/>
              </a:spcBef>
              <a:spcAft>
                <a:spcPts val="0"/>
              </a:spcAft>
            </a:pPr>
            <a:r>
              <a:rPr sz="1400" b="1" dirty="0">
                <a:solidFill>
                  <a:srgbClr val="7F7F7F"/>
                </a:solidFill>
                <a:latin typeface="Courier New"/>
                <a:cs typeface="Courier New"/>
              </a:rPr>
              <a:t>18</a:t>
            </a:r>
          </a:p>
          <a:p>
            <a:pPr marL="0" marR="0">
              <a:lnSpc>
                <a:spcPts val="1590"/>
              </a:lnSpc>
              <a:spcBef>
                <a:spcPts val="413"/>
              </a:spcBef>
              <a:spcAft>
                <a:spcPts val="0"/>
              </a:spcAft>
            </a:pPr>
            <a:r>
              <a:rPr sz="1400" b="1" dirty="0">
                <a:solidFill>
                  <a:srgbClr val="7F7F7F"/>
                </a:solidFill>
                <a:latin typeface="Courier New"/>
                <a:cs typeface="Courier New"/>
              </a:rPr>
              <a:t>19</a:t>
            </a:r>
          </a:p>
          <a:p>
            <a:pPr marL="0" marR="0">
              <a:lnSpc>
                <a:spcPts val="1590"/>
              </a:lnSpc>
              <a:spcBef>
                <a:spcPts val="413"/>
              </a:spcBef>
              <a:spcAft>
                <a:spcPts val="0"/>
              </a:spcAft>
            </a:pPr>
            <a:r>
              <a:rPr sz="1400" b="1" dirty="0">
                <a:solidFill>
                  <a:srgbClr val="7F7F7F"/>
                </a:solidFill>
                <a:latin typeface="Courier New"/>
                <a:cs typeface="Courier New"/>
              </a:rPr>
              <a:t>20</a:t>
            </a:r>
          </a:p>
          <a:p>
            <a:pPr marL="0" marR="0">
              <a:lnSpc>
                <a:spcPts val="1590"/>
              </a:lnSpc>
              <a:spcBef>
                <a:spcPts val="401"/>
              </a:spcBef>
              <a:spcAft>
                <a:spcPts val="0"/>
              </a:spcAft>
            </a:pPr>
            <a:r>
              <a:rPr sz="1400" b="1" dirty="0">
                <a:solidFill>
                  <a:srgbClr val="7F7F7F"/>
                </a:solidFill>
                <a:latin typeface="Courier New"/>
                <a:cs typeface="Courier New"/>
              </a:rPr>
              <a:t>21</a:t>
            </a:r>
          </a:p>
          <a:p>
            <a:pPr marL="0" marR="0">
              <a:lnSpc>
                <a:spcPts val="1590"/>
              </a:lnSpc>
              <a:spcBef>
                <a:spcPts val="415"/>
              </a:spcBef>
              <a:spcAft>
                <a:spcPts val="0"/>
              </a:spcAft>
            </a:pPr>
            <a:r>
              <a:rPr sz="1400" b="1" dirty="0">
                <a:solidFill>
                  <a:srgbClr val="7F7F7F"/>
                </a:solidFill>
                <a:latin typeface="Courier New"/>
                <a:cs typeface="Courier New"/>
              </a:rPr>
              <a:t>22</a:t>
            </a:r>
          </a:p>
          <a:p>
            <a:pPr marL="0" marR="0">
              <a:lnSpc>
                <a:spcPts val="1590"/>
              </a:lnSpc>
              <a:spcBef>
                <a:spcPts val="413"/>
              </a:spcBef>
              <a:spcAft>
                <a:spcPts val="0"/>
              </a:spcAft>
            </a:pPr>
            <a:r>
              <a:rPr sz="1400" b="1" dirty="0">
                <a:solidFill>
                  <a:srgbClr val="7F7F7F"/>
                </a:solidFill>
                <a:latin typeface="Courier New"/>
                <a:cs typeface="Courier New"/>
              </a:rPr>
              <a:t>23</a:t>
            </a:r>
          </a:p>
          <a:p>
            <a:pPr marL="0" marR="0">
              <a:lnSpc>
                <a:spcPts val="1590"/>
              </a:lnSpc>
              <a:spcBef>
                <a:spcPts val="401"/>
              </a:spcBef>
              <a:spcAft>
                <a:spcPts val="0"/>
              </a:spcAft>
            </a:pPr>
            <a:r>
              <a:rPr sz="1400" b="1" dirty="0">
                <a:solidFill>
                  <a:srgbClr val="7F7F7F"/>
                </a:solidFill>
                <a:latin typeface="Courier New"/>
                <a:cs typeface="Courier New"/>
              </a:rPr>
              <a:t>24</a:t>
            </a:r>
          </a:p>
          <a:p>
            <a:pPr marL="0" marR="0">
              <a:lnSpc>
                <a:spcPts val="1590"/>
              </a:lnSpc>
              <a:spcBef>
                <a:spcPts val="413"/>
              </a:spcBef>
              <a:spcAft>
                <a:spcPts val="0"/>
              </a:spcAft>
            </a:pPr>
            <a:r>
              <a:rPr sz="1400" b="1" dirty="0">
                <a:solidFill>
                  <a:srgbClr val="7F7F7F"/>
                </a:solidFill>
                <a:latin typeface="Courier New"/>
                <a:cs typeface="Courier New"/>
              </a:rPr>
              <a:t>25</a:t>
            </a:r>
          </a:p>
          <a:p>
            <a:pPr marL="0" marR="0">
              <a:lnSpc>
                <a:spcPts val="1590"/>
              </a:lnSpc>
              <a:spcBef>
                <a:spcPts val="413"/>
              </a:spcBef>
              <a:spcAft>
                <a:spcPts val="0"/>
              </a:spcAft>
            </a:pPr>
            <a:r>
              <a:rPr sz="1400" b="1" dirty="0">
                <a:solidFill>
                  <a:srgbClr val="7F7F7F"/>
                </a:solidFill>
                <a:latin typeface="Courier New"/>
                <a:cs typeface="Courier New"/>
              </a:rPr>
              <a:t>26</a:t>
            </a:r>
          </a:p>
          <a:p>
            <a:pPr marL="0" marR="0">
              <a:lnSpc>
                <a:spcPts val="1590"/>
              </a:lnSpc>
              <a:spcBef>
                <a:spcPts val="401"/>
              </a:spcBef>
              <a:spcAft>
                <a:spcPts val="0"/>
              </a:spcAft>
            </a:pPr>
            <a:r>
              <a:rPr sz="1400" b="1" dirty="0">
                <a:solidFill>
                  <a:srgbClr val="7F7F7F"/>
                </a:solidFill>
                <a:latin typeface="Courier New"/>
                <a:cs typeface="Courier New"/>
              </a:rPr>
              <a:t>27</a:t>
            </a:r>
          </a:p>
          <a:p>
            <a:pPr marL="0" marR="0">
              <a:lnSpc>
                <a:spcPts val="1590"/>
              </a:lnSpc>
              <a:spcBef>
                <a:spcPts val="415"/>
              </a:spcBef>
              <a:spcAft>
                <a:spcPts val="0"/>
              </a:spcAft>
            </a:pPr>
            <a:r>
              <a:rPr sz="1400" b="1" dirty="0">
                <a:solidFill>
                  <a:srgbClr val="7F7F7F"/>
                </a:solidFill>
                <a:latin typeface="Courier New"/>
                <a:cs typeface="Courier New"/>
              </a:rPr>
              <a:t>28</a:t>
            </a:r>
          </a:p>
          <a:p>
            <a:pPr marL="0" marR="0">
              <a:lnSpc>
                <a:spcPts val="1590"/>
              </a:lnSpc>
              <a:spcBef>
                <a:spcPts val="413"/>
              </a:spcBef>
              <a:spcAft>
                <a:spcPts val="0"/>
              </a:spcAft>
            </a:pPr>
            <a:r>
              <a:rPr sz="1400" b="1" dirty="0">
                <a:solidFill>
                  <a:srgbClr val="7F7F7F"/>
                </a:solidFill>
                <a:latin typeface="Courier New"/>
                <a:cs typeface="Courier New"/>
              </a:rPr>
              <a:t>29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079906" y="2450864"/>
            <a:ext cx="7175034" cy="1002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Va gur snpr</a:t>
            </a:r>
            <a:r>
              <a:rPr sz="1400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bs</a:t>
            </a:r>
            <a:r>
              <a:rPr sz="1400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nzovthvgl,</a:t>
            </a:r>
            <a:r>
              <a:rPr sz="1400" spc="-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ershfr gur grzcgngvba </a:t>
            </a:r>
            <a:r>
              <a:rPr sz="1400" spc="-11" dirty="0">
                <a:solidFill>
                  <a:srgbClr val="000000"/>
                </a:solidFill>
                <a:latin typeface="Courier New"/>
                <a:cs typeface="Courier New"/>
              </a:rPr>
              <a:t>gb</a:t>
            </a:r>
            <a:r>
              <a:rPr sz="1400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thrff.</a:t>
            </a:r>
          </a:p>
          <a:p>
            <a:pPr marL="0" marR="0">
              <a:lnSpc>
                <a:spcPts val="1359"/>
              </a:lnSpc>
              <a:spcBef>
                <a:spcPts val="521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Gurer</a:t>
            </a:r>
            <a:r>
              <a:rPr sz="1200" spc="12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fubhyq</a:t>
            </a:r>
            <a:r>
              <a:rPr sz="1200" spc="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or</a:t>
            </a:r>
            <a:r>
              <a:rPr sz="1200" spc="23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bar-- naq</a:t>
            </a:r>
            <a:r>
              <a:rPr sz="1200" spc="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cersrenoyl bayl bar</a:t>
            </a:r>
            <a:r>
              <a:rPr sz="1200" spc="14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--boivbhf jnl </a:t>
            </a:r>
            <a:r>
              <a:rPr sz="1200" spc="11" dirty="0">
                <a:solidFill>
                  <a:srgbClr val="000000"/>
                </a:solidFill>
                <a:latin typeface="Courier New"/>
                <a:cs typeface="Courier New"/>
              </a:rPr>
              <a:t>gb</a:t>
            </a: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spc="11" dirty="0">
                <a:solidFill>
                  <a:srgbClr val="000000"/>
                </a:solidFill>
                <a:latin typeface="Courier New"/>
                <a:cs typeface="Courier New"/>
              </a:rPr>
              <a:t>qb</a:t>
            </a: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 vg.</a:t>
            </a:r>
          </a:p>
          <a:p>
            <a:pPr marL="0" marR="0">
              <a:lnSpc>
                <a:spcPts val="1590"/>
              </a:lnSpc>
              <a:spcBef>
                <a:spcPts val="474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Nygubhtu gung</a:t>
            </a:r>
            <a:r>
              <a:rPr sz="1400" spc="-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jnl znl</a:t>
            </a:r>
            <a:r>
              <a:rPr sz="1400" spc="-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abg</a:t>
            </a:r>
            <a:r>
              <a:rPr sz="1400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or</a:t>
            </a:r>
            <a:r>
              <a:rPr sz="1400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boivbhf ng</a:t>
            </a:r>
            <a:r>
              <a:rPr sz="1400" spc="-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svefg hayrff</a:t>
            </a:r>
            <a:r>
              <a:rPr sz="1400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lbh'er Qhgpu.</a:t>
            </a:r>
          </a:p>
          <a:p>
            <a:pPr marL="0" marR="0">
              <a:lnSpc>
                <a:spcPts val="1590"/>
              </a:lnSpc>
              <a:spcBef>
                <a:spcPts val="413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Abj vf orggre</a:t>
            </a:r>
            <a:r>
              <a:rPr sz="1400" spc="-12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guna arire.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079906" y="3466229"/>
            <a:ext cx="5260509" cy="240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Nygubhtu arire</a:t>
            </a:r>
            <a:r>
              <a:rPr sz="1400" spc="-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vf bsgra orggre guna</a:t>
            </a:r>
            <a:r>
              <a:rPr sz="1400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*evtug* abj.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079906" y="3720737"/>
            <a:ext cx="7281715" cy="7475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Vs gur vzcyrzragngvba</a:t>
            </a:r>
            <a:r>
              <a:rPr sz="1400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vf</a:t>
            </a:r>
            <a:r>
              <a:rPr sz="1400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uneq gb rkcynva, vg'f n</a:t>
            </a:r>
            <a:r>
              <a:rPr sz="1400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onq</a:t>
            </a:r>
            <a:r>
              <a:rPr sz="1400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vqrn.</a:t>
            </a:r>
          </a:p>
          <a:p>
            <a:pPr marL="0" marR="0">
              <a:lnSpc>
                <a:spcPts val="1590"/>
              </a:lnSpc>
              <a:spcBef>
                <a:spcPts val="413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Vs gur vzcyrzragngvba</a:t>
            </a:r>
            <a:r>
              <a:rPr sz="1400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vf</a:t>
            </a:r>
            <a:r>
              <a:rPr sz="1400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rnfl gb rkcynva, vg znl</a:t>
            </a:r>
            <a:r>
              <a:rPr sz="1400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or n</a:t>
            </a:r>
            <a:r>
              <a:rPr sz="1400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tbbq vqrn.</a:t>
            </a:r>
          </a:p>
          <a:p>
            <a:pPr marL="0" marR="0">
              <a:lnSpc>
                <a:spcPts val="1590"/>
              </a:lnSpc>
              <a:spcBef>
                <a:spcPts val="401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Anzrfcnprf</a:t>
            </a:r>
            <a:r>
              <a:rPr sz="1400" spc="-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ner</a:t>
            </a:r>
            <a:r>
              <a:rPr sz="1400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bar ubaxvat terng vqrn </a:t>
            </a:r>
            <a:r>
              <a:rPr sz="1400" spc="-11" dirty="0">
                <a:solidFill>
                  <a:srgbClr val="000000"/>
                </a:solidFill>
                <a:latin typeface="Courier New"/>
                <a:cs typeface="Courier New"/>
              </a:rPr>
              <a:t>--</a:t>
            </a:r>
            <a:r>
              <a:rPr sz="1400" spc="14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yrg'f qb</a:t>
            </a:r>
            <a:r>
              <a:rPr sz="1400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zber </a:t>
            </a:r>
            <a:r>
              <a:rPr sz="1400" spc="-11" dirty="0">
                <a:solidFill>
                  <a:srgbClr val="000000"/>
                </a:solidFill>
                <a:latin typeface="Courier New"/>
                <a:cs typeface="Courier New"/>
              </a:rPr>
              <a:t>bs</a:t>
            </a:r>
            <a:r>
              <a:rPr sz="1400" spc="15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gubfr!"""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079906" y="4737245"/>
            <a:ext cx="792776" cy="240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d = {}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079906" y="4990483"/>
            <a:ext cx="4621954" cy="7491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for c </a:t>
            </a:r>
            <a:r>
              <a:rPr sz="1400" b="1" spc="-11" dirty="0">
                <a:solidFill>
                  <a:srgbClr val="000000"/>
                </a:solidFill>
                <a:latin typeface="Courier New"/>
                <a:cs typeface="Courier New"/>
              </a:rPr>
              <a:t>in</a:t>
            </a:r>
            <a:r>
              <a:rPr sz="14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(65, 97):</a:t>
            </a:r>
            <a:r>
              <a:rPr lang="en-US" sz="1400" b="1" dirty="0">
                <a:solidFill>
                  <a:srgbClr val="000000"/>
                </a:solidFill>
                <a:latin typeface="Courier New"/>
                <a:cs typeface="Courier New"/>
              </a:rPr>
              <a:t>#’</a:t>
            </a:r>
            <a:r>
              <a:rPr lang="en-US" altLang="zh-CN" sz="1400" b="1" dirty="0" err="1">
                <a:solidFill>
                  <a:srgbClr val="000000"/>
                </a:solidFill>
                <a:latin typeface="Courier New"/>
                <a:cs typeface="Courier New"/>
              </a:rPr>
              <a:t>A’,’a</a:t>
            </a:r>
            <a:r>
              <a:rPr lang="en-US" altLang="zh-CN" sz="1400" b="1" dirty="0">
                <a:solidFill>
                  <a:srgbClr val="000000"/>
                </a:solidFill>
                <a:latin typeface="Courier New"/>
                <a:cs typeface="Courier New"/>
              </a:rPr>
              <a:t>’</a:t>
            </a:r>
            <a:endParaRPr sz="1400" b="1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pPr marL="426694" marR="0">
              <a:lnSpc>
                <a:spcPts val="1590"/>
              </a:lnSpc>
              <a:spcBef>
                <a:spcPts val="413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for i </a:t>
            </a:r>
            <a:r>
              <a:rPr sz="1400" b="1" spc="-11" dirty="0">
                <a:solidFill>
                  <a:srgbClr val="000000"/>
                </a:solidFill>
                <a:latin typeface="Courier New"/>
                <a:cs typeface="Courier New"/>
              </a:rPr>
              <a:t>in</a:t>
            </a:r>
            <a:r>
              <a:rPr sz="14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range(26):</a:t>
            </a:r>
          </a:p>
          <a:p>
            <a:pPr marL="852271" marR="0">
              <a:lnSpc>
                <a:spcPts val="1590"/>
              </a:lnSpc>
              <a:spcBef>
                <a:spcPts val="413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d[chr(i+c)] =</a:t>
            </a:r>
            <a:r>
              <a:rPr sz="1400" b="1" spc="-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chr((i+13) %</a:t>
            </a:r>
            <a:r>
              <a:rPr sz="1400" b="1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26 +</a:t>
            </a:r>
            <a:r>
              <a:rPr sz="1400" b="1" spc="-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c)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079906" y="6006991"/>
            <a:ext cx="4408460" cy="240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print("".join([d.get(c, </a:t>
            </a:r>
            <a:r>
              <a:rPr sz="1400" b="1" spc="-11" dirty="0">
                <a:solidFill>
                  <a:srgbClr val="000000"/>
                </a:solidFill>
                <a:latin typeface="Courier New"/>
                <a:cs typeface="Courier New"/>
              </a:rPr>
              <a:t>c)</a:t>
            </a:r>
            <a:r>
              <a:rPr sz="14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for c in</a:t>
            </a:r>
            <a:r>
              <a:rPr sz="1400" b="1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s]))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2885516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Python之禅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59917" y="2225745"/>
            <a:ext cx="7184079" cy="20295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44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solidFill>
                  <a:srgbClr val="FF0000"/>
                </a:solidFill>
                <a:latin typeface="Microsoft YaHei"/>
                <a:cs typeface="Microsoft YaHei"/>
              </a:rPr>
              <a:t>字典</a:t>
            </a:r>
            <a:r>
              <a:rPr lang="en-US" altLang="zh-CN" sz="2000" dirty="0">
                <a:solidFill>
                  <a:srgbClr val="FF0000"/>
                </a:solidFill>
                <a:latin typeface="Microsoft YaHei"/>
                <a:cs typeface="Microsoft YaHei"/>
              </a:rPr>
              <a:t>d</a:t>
            </a:r>
          </a:p>
          <a:p>
            <a:pPr marL="0" marR="0">
              <a:lnSpc>
                <a:spcPts val="2644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 err="1">
                <a:solidFill>
                  <a:srgbClr val="000000"/>
                </a:solidFill>
                <a:latin typeface="Microsoft YaHei"/>
                <a:cs typeface="Microsoft YaHei"/>
              </a:rPr>
              <a:t>密文：A</a:t>
            </a: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 B</a:t>
            </a:r>
            <a:r>
              <a:rPr sz="2000" spc="-10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C D E F</a:t>
            </a:r>
            <a:r>
              <a:rPr sz="2000" spc="-10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G H I J K L M</a:t>
            </a:r>
            <a:r>
              <a:rPr sz="2000" spc="-14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N</a:t>
            </a:r>
            <a:r>
              <a:rPr sz="2000" spc="-10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O P Q</a:t>
            </a:r>
            <a:r>
              <a:rPr sz="2000" spc="-14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R</a:t>
            </a:r>
            <a:r>
              <a:rPr sz="2000" spc="-10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S T U V</a:t>
            </a:r>
            <a:r>
              <a:rPr sz="2000" spc="-11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W X</a:t>
            </a:r>
            <a:r>
              <a:rPr sz="2000" spc="-10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Y Z</a:t>
            </a:r>
          </a:p>
          <a:p>
            <a:pPr marL="0" marR="0">
              <a:lnSpc>
                <a:spcPts val="2648"/>
              </a:lnSpc>
              <a:spcBef>
                <a:spcPts val="952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原文：N</a:t>
            </a:r>
            <a:r>
              <a:rPr sz="2000" spc="-21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O P Q</a:t>
            </a:r>
            <a:r>
              <a:rPr sz="2000" spc="-14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R</a:t>
            </a:r>
            <a:r>
              <a:rPr sz="2000" spc="-12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S T U V</a:t>
            </a:r>
            <a:r>
              <a:rPr sz="2000" spc="-11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W X</a:t>
            </a:r>
            <a:r>
              <a:rPr sz="2000" spc="-10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Y Z A B</a:t>
            </a:r>
            <a:r>
              <a:rPr sz="2000" spc="-10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C D E</a:t>
            </a:r>
            <a:r>
              <a:rPr sz="2000" spc="-10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F G H I J</a:t>
            </a:r>
            <a:r>
              <a:rPr sz="2000" spc="-15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K</a:t>
            </a:r>
            <a:r>
              <a:rPr sz="2000" spc="10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L</a:t>
            </a:r>
            <a:r>
              <a:rPr sz="2000" spc="-10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M</a:t>
            </a:r>
          </a:p>
          <a:p>
            <a:pPr marL="0" marR="0">
              <a:lnSpc>
                <a:spcPts val="2644"/>
              </a:lnSpc>
              <a:spcBef>
                <a:spcPts val="957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密文：a</a:t>
            </a:r>
            <a:r>
              <a:rPr sz="2000" spc="-17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b c d</a:t>
            </a:r>
            <a:r>
              <a:rPr sz="2000" spc="-10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e f</a:t>
            </a:r>
            <a:r>
              <a:rPr sz="2000" spc="-12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g h i j k l m n o p q</a:t>
            </a:r>
            <a:r>
              <a:rPr sz="2000" spc="-10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r s t u v w</a:t>
            </a:r>
            <a:r>
              <a:rPr sz="2000" spc="-10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x y z</a:t>
            </a:r>
          </a:p>
          <a:p>
            <a:pPr marL="0" marR="0">
              <a:lnSpc>
                <a:spcPts val="2644"/>
              </a:lnSpc>
              <a:spcBef>
                <a:spcPts val="955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原文：n</a:t>
            </a:r>
            <a:r>
              <a:rPr sz="2000" spc="-11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o p q r</a:t>
            </a:r>
            <a:r>
              <a:rPr sz="2000" spc="-10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s t u v</a:t>
            </a:r>
            <a:r>
              <a:rPr sz="2000" spc="-10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w</a:t>
            </a:r>
            <a:r>
              <a:rPr sz="2000" spc="-10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x y z a</a:t>
            </a:r>
            <a:r>
              <a:rPr sz="2000" spc="-17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b c d</a:t>
            </a:r>
            <a:r>
              <a:rPr sz="2000" spc="-10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e f</a:t>
            </a:r>
            <a:r>
              <a:rPr sz="2000" spc="-12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g h i j k</a:t>
            </a:r>
            <a:r>
              <a:rPr sz="2000" spc="-12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l m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59917" y="4619186"/>
            <a:ext cx="8319160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spc="75" dirty="0">
                <a:solidFill>
                  <a:srgbClr val="000000"/>
                </a:solidFill>
                <a:latin typeface="Microsoft YaHei"/>
                <a:cs typeface="Microsoft YaHei"/>
              </a:rPr>
              <a:t>这个算法可以看作是凯撒密码的一种扩展，相比凯撒密码，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59917" y="5167826"/>
            <a:ext cx="7825384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采用循环移动13个位置，加密和解密可以用同一个程序。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681ADC-F8DD-4FBE-B8D6-66EA4EB2E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6186309"/>
          </a:xfrm>
        </p:spPr>
        <p:txBody>
          <a:bodyPr/>
          <a:lstStyle/>
          <a:p>
            <a:r>
              <a:rPr lang="zh-CN" altLang="en-US" sz="3200" dirty="0"/>
              <a:t>实验四：</a:t>
            </a:r>
            <a:br>
              <a:rPr lang="en-US" altLang="zh-CN" sz="3200" dirty="0"/>
            </a:br>
            <a:br>
              <a:rPr lang="en-US" altLang="zh-CN" dirty="0"/>
            </a:br>
            <a:r>
              <a:rPr lang="en-US" altLang="zh-CN" sz="3200" dirty="0"/>
              <a:t>1</a:t>
            </a:r>
            <a:r>
              <a:rPr lang="zh-CN" altLang="en-US" sz="3200" dirty="0"/>
              <a:t>、</a:t>
            </a:r>
            <a:r>
              <a:rPr lang="en-US" altLang="zh-CN" sz="3200" dirty="0"/>
              <a:t>p180</a:t>
            </a:r>
            <a:r>
              <a:rPr lang="zh-CN" altLang="en-US" sz="3200" dirty="0"/>
              <a:t>：</a:t>
            </a:r>
            <a:r>
              <a:rPr lang="en-US" altLang="zh-CN" sz="3200" dirty="0"/>
              <a:t>6.1-6.4</a:t>
            </a:r>
            <a:br>
              <a:rPr lang="en-US" altLang="zh-CN" sz="3200" dirty="0"/>
            </a:br>
            <a:r>
              <a:rPr lang="en-US" altLang="zh-CN" sz="3200" dirty="0"/>
              <a:t>2</a:t>
            </a:r>
            <a:r>
              <a:rPr lang="zh-CN" altLang="en-US" sz="3200" dirty="0"/>
              <a:t>、字符串，元组，列表</a:t>
            </a:r>
            <a:br>
              <a:rPr lang="en-US" altLang="zh-CN" sz="3200" dirty="0"/>
            </a:br>
            <a:r>
              <a:rPr lang="en-US" altLang="zh-CN" sz="3200" dirty="0"/>
              <a:t>       </a:t>
            </a:r>
            <a:r>
              <a:rPr lang="zh-CN" altLang="en-US" sz="3200" dirty="0"/>
              <a:t>集合</a:t>
            </a:r>
            <a:br>
              <a:rPr lang="en-US" altLang="zh-CN" sz="3200" dirty="0"/>
            </a:br>
            <a:r>
              <a:rPr lang="en-US" altLang="zh-CN" sz="3200" dirty="0"/>
              <a:t>       </a:t>
            </a:r>
            <a:r>
              <a:rPr lang="zh-CN" altLang="en-US" sz="3200" dirty="0"/>
              <a:t>字典</a:t>
            </a:r>
            <a:br>
              <a:rPr lang="en-US" altLang="zh-CN" sz="3200" dirty="0"/>
            </a:br>
            <a:r>
              <a:rPr lang="en-US" altLang="zh-CN" sz="3200" dirty="0"/>
              <a:t>       </a:t>
            </a:r>
            <a:r>
              <a:rPr lang="zh-CN" altLang="en-US" sz="3200" dirty="0"/>
              <a:t>总结以上数据类型的操作和方法，如：</a:t>
            </a:r>
            <a:br>
              <a:rPr lang="en-US" altLang="zh-CN" sz="3200" dirty="0"/>
            </a:br>
            <a:r>
              <a:rPr lang="en-US" altLang="zh-CN" sz="3200" dirty="0"/>
              <a:t>        </a:t>
            </a:r>
            <a:r>
              <a:rPr lang="zh-CN" altLang="en-US" sz="3200" dirty="0"/>
              <a:t>新建（空）</a:t>
            </a:r>
            <a:br>
              <a:rPr lang="en-US" altLang="zh-CN" sz="3200" dirty="0"/>
            </a:br>
            <a:r>
              <a:rPr lang="en-US" altLang="zh-CN" sz="3200" dirty="0"/>
              <a:t>        </a:t>
            </a:r>
            <a:r>
              <a:rPr lang="zh-CN" altLang="en-US" sz="3200" dirty="0"/>
              <a:t>增加（位置）</a:t>
            </a:r>
            <a:br>
              <a:rPr lang="en-US" altLang="zh-CN" sz="3200" dirty="0"/>
            </a:br>
            <a:r>
              <a:rPr lang="en-US" altLang="zh-CN" sz="3200" dirty="0"/>
              <a:t>        </a:t>
            </a:r>
            <a:r>
              <a:rPr lang="zh-CN" altLang="en-US" sz="3200" dirty="0"/>
              <a:t>删除（指定或任意）</a:t>
            </a:r>
            <a:br>
              <a:rPr lang="en-US" altLang="zh-CN" sz="3200" dirty="0"/>
            </a:br>
            <a:r>
              <a:rPr lang="en-US" altLang="zh-CN" sz="3200" dirty="0"/>
              <a:t>        </a:t>
            </a:r>
            <a:r>
              <a:rPr lang="zh-CN" altLang="en-US" sz="3200" dirty="0"/>
              <a:t>修改</a:t>
            </a:r>
            <a:br>
              <a:rPr lang="en-US" altLang="zh-CN" sz="3200" dirty="0"/>
            </a:br>
            <a:r>
              <a:rPr lang="en-US" altLang="zh-CN" sz="3200" dirty="0"/>
              <a:t>        </a:t>
            </a:r>
            <a:r>
              <a:rPr lang="zh-CN" altLang="en-US" sz="3200" dirty="0"/>
              <a:t>清除</a:t>
            </a:r>
          </a:p>
        </p:txBody>
      </p:sp>
    </p:spTree>
    <p:extLst>
      <p:ext uri="{BB962C8B-B14F-4D97-AF65-F5344CB8AC3E}">
        <p14:creationId xmlns:p14="http://schemas.microsoft.com/office/powerpoint/2010/main" val="1823021071"/>
      </p:ext>
    </p:extLst>
  </p:cSld>
  <p:clrMapOvr>
    <a:masterClrMapping/>
  </p:clrMapOvr>
</p:sld>
</file>

<file path=ppt/theme/theme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2809</TotalTime>
  <Words>5667</Words>
  <Application>Microsoft Office PowerPoint</Application>
  <PresentationFormat>全屏显示(4:3)</PresentationFormat>
  <Paragraphs>981</Paragraphs>
  <Slides>77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77</vt:i4>
      </vt:variant>
    </vt:vector>
  </HeadingPairs>
  <TitlesOfParts>
    <vt:vector size="91" baseType="lpstr">
      <vt:lpstr>Arial</vt:lpstr>
      <vt:lpstr>Wingdings</vt:lpstr>
      <vt:lpstr>微软雅黑</vt:lpstr>
      <vt:lpstr>Courier New</vt:lpstr>
      <vt:lpstr>微软雅黑</vt:lpstr>
      <vt:lpstr>Times New Roman</vt:lpstr>
      <vt:lpstr>SimSun</vt:lpstr>
      <vt:lpstr>Cambria Math</vt:lpstr>
      <vt:lpstr>EDPDKQ+Symbol</vt:lpstr>
      <vt:lpstr>SimHei</vt:lpstr>
      <vt:lpstr>Palatino Linotype</vt:lpstr>
      <vt:lpstr>PingFang SC</vt:lpstr>
      <vt:lpstr>Calibri</vt:lpstr>
      <vt:lpstr>Theme Office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实验四：  1、p180：6.1-6.4 2、字符串，元组，列表        集合        字典        总结以上数据类型的操作和方法，如：         新建（空）         增加（位置）         删除（指定或任意）         修改         清除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PowerPoint</dc:title>
  <dc:creator>hongwei</dc:creator>
  <cp:lastModifiedBy>Administrator</cp:lastModifiedBy>
  <cp:revision>73</cp:revision>
  <dcterms:modified xsi:type="dcterms:W3CDTF">2024-11-25T12:15:26Z</dcterms:modified>
</cp:coreProperties>
</file>