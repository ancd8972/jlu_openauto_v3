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339" r:id="rId56"/>
    <p:sldId id="340" r:id="rId57"/>
    <p:sldId id="341" r:id="rId58"/>
    <p:sldId id="342" r:id="rId59"/>
    <p:sldId id="343" r:id="rId60"/>
    <p:sldId id="344" r:id="rId61"/>
    <p:sldId id="345" r:id="rId62"/>
    <p:sldId id="351" r:id="rId63"/>
  </p:sldIdLst>
  <p:sldSz cx="9144000" cy="6858000" type="screen4x3"/>
  <p:notesSz cx="9144000" cy="6858000"/>
  <p:embeddedFontLst>
    <p:embeddedFont>
      <p:font typeface="SimHei" panose="02010609060101010101" pitchFamily="49" charset="-122"/>
      <p:regular r:id="rId64"/>
    </p:embeddedFont>
    <p:embeddedFont>
      <p:font typeface="Microsoft YaHei" panose="020B0503020204020204" pitchFamily="34" charset="-122"/>
      <p:regular r:id="rId65"/>
      <p:bold r:id="rId66"/>
    </p:embeddedFont>
    <p:embeddedFont>
      <p:font typeface="Palatino Linotype" panose="02040502050505030304" pitchFamily="18" charset="0"/>
      <p:regular r:id="rId67"/>
      <p:bold r:id="rId68"/>
      <p:italic r:id="rId69"/>
      <p:boldItalic r:id="rId7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210" y="77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font" Target="fonts/font5.fntdata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3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18718" y="1859885"/>
            <a:ext cx="7863531" cy="11693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8907"/>
              </a:lnSpc>
              <a:spcBef>
                <a:spcPts val="0"/>
              </a:spcBef>
              <a:spcAft>
                <a:spcPts val="0"/>
              </a:spcAft>
            </a:pPr>
            <a:r>
              <a:rPr sz="6600" dirty="0">
                <a:solidFill>
                  <a:srgbClr val="262626"/>
                </a:solidFill>
                <a:latin typeface="Palatino Linotype"/>
                <a:cs typeface="Palatino Linotype"/>
              </a:rPr>
              <a:t>Python</a:t>
            </a:r>
            <a:r>
              <a:rPr sz="6600" dirty="0">
                <a:solidFill>
                  <a:srgbClr val="262626"/>
                </a:solidFill>
                <a:latin typeface="SimHei"/>
                <a:cs typeface="SimHei"/>
              </a:rPr>
              <a:t>语言程序设计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25242" y="3724126"/>
            <a:ext cx="3645661" cy="5751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228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北京理工大学</a:t>
            </a:r>
            <a:r>
              <a:rPr sz="3200" spc="107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000000"/>
                </a:solidFill>
                <a:latin typeface="Microsoft YaHei"/>
                <a:cs typeface="Microsoft YaHei"/>
              </a:rPr>
              <a:t>嵩天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7057" y="2367113"/>
            <a:ext cx="8221420" cy="847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262626"/>
                </a:solidFill>
                <a:latin typeface="Microsoft YaHei"/>
                <a:cs typeface="Microsoft YaHei"/>
              </a:rPr>
              <a:t>第</a:t>
            </a:r>
            <a:r>
              <a:rPr lang="zh-CN" altLang="en-US" sz="5400" dirty="0">
                <a:solidFill>
                  <a:srgbClr val="262626"/>
                </a:solidFill>
                <a:latin typeface="Microsoft YaHei"/>
                <a:cs typeface="Microsoft YaHei"/>
              </a:rPr>
              <a:t>八</a:t>
            </a:r>
            <a:r>
              <a:rPr sz="5400" dirty="0">
                <a:solidFill>
                  <a:srgbClr val="262626"/>
                </a:solidFill>
                <a:latin typeface="Microsoft YaHei"/>
                <a:cs typeface="Microsoft YaHei"/>
              </a:rPr>
              <a:t>章</a:t>
            </a:r>
            <a:r>
              <a:rPr sz="5400" spc="260" dirty="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sz="5400" dirty="0">
                <a:solidFill>
                  <a:srgbClr val="262626"/>
                </a:solidFill>
                <a:latin typeface="Microsoft YaHei"/>
                <a:cs typeface="Microsoft YaHei"/>
              </a:rPr>
              <a:t>科学计算和可视化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5911" y="1468756"/>
            <a:ext cx="7432209" cy="1904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45286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计算不再关乎计算机，它与生活处处相关。</a:t>
            </a:r>
          </a:p>
          <a:p>
            <a:pPr marL="0" marR="0">
              <a:lnSpc>
                <a:spcPts val="3167"/>
              </a:lnSpc>
              <a:spcBef>
                <a:spcPts val="254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Computing is not about computers</a:t>
            </a:r>
            <a:r>
              <a:rPr sz="2400" spc="2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any </a:t>
            </a:r>
            <a:r>
              <a:rPr sz="2400" spc="-10" dirty="0">
                <a:solidFill>
                  <a:srgbClr val="000000"/>
                </a:solidFill>
                <a:latin typeface="Microsoft YaHei"/>
                <a:cs typeface="Microsoft YaHei"/>
              </a:rPr>
              <a:t>more.</a:t>
            </a:r>
            <a:r>
              <a:rPr sz="2400" spc="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It is</a:t>
            </a:r>
          </a:p>
          <a:p>
            <a:pPr marL="2737662" marR="0">
              <a:lnSpc>
                <a:spcPts val="3167"/>
              </a:lnSpc>
              <a:spcBef>
                <a:spcPts val="259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about living.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94789" y="4395793"/>
            <a:ext cx="695329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——尼古拉斯·尼葛洛庞帝(Nicholas</a:t>
            </a:r>
            <a:r>
              <a:rPr sz="2400" spc="-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Negroponte)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23385" y="5127567"/>
            <a:ext cx="47244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麻省理工学院媒体实验室的创办人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200145" y="2815550"/>
            <a:ext cx="2896819" cy="9436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问题概述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207791" y="6064668"/>
            <a:ext cx="7528839" cy="2880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pip3 install </a:t>
            </a:r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dirty="0" err="1"/>
              <a:t>scipy</a:t>
            </a:r>
            <a:r>
              <a:rPr lang="en-US" dirty="0"/>
              <a:t> matplotlib -</a:t>
            </a:r>
            <a:r>
              <a:rPr lang="en-US" dirty="0" err="1"/>
              <a:t>i</a:t>
            </a:r>
            <a:r>
              <a:rPr lang="en-US" dirty="0"/>
              <a:t> https://pypi.tuna.tsinghua.edu.cn/simple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116768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要点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883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330" dirty="0">
                <a:solidFill>
                  <a:srgbClr val="000000"/>
                </a:solidFill>
                <a:latin typeface="Microsoft YaHei"/>
                <a:cs typeface="Microsoft YaHei"/>
              </a:rPr>
              <a:t>科学计算需要采用矩阵运算库</a:t>
            </a:r>
            <a:r>
              <a:rPr sz="2400" spc="-56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numpy</a:t>
            </a:r>
            <a:r>
              <a:rPr sz="2400" spc="338" dirty="0">
                <a:solidFill>
                  <a:srgbClr val="000000"/>
                </a:solidFill>
                <a:latin typeface="Microsoft YaHei"/>
                <a:cs typeface="Microsoft YaHei"/>
              </a:rPr>
              <a:t>和绘制库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5296" y="2604204"/>
            <a:ext cx="166105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matplotlib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3518E4-F794-409E-813E-9A7544FD0D95}"/>
              </a:ext>
            </a:extLst>
          </p:cNvPr>
          <p:cNvSpPr txBox="1"/>
          <p:nvPr/>
        </p:nvSpPr>
        <p:spPr>
          <a:xfrm>
            <a:off x="179511" y="4354344"/>
            <a:ext cx="7528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pip install numpy-2.1.2-cp310-cp310-win_amd64.whl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89BB84-44F4-48CA-82E5-3185364B8619}"/>
              </a:ext>
            </a:extLst>
          </p:cNvPr>
          <p:cNvSpPr txBox="1"/>
          <p:nvPr/>
        </p:nvSpPr>
        <p:spPr>
          <a:xfrm>
            <a:off x="179510" y="5121240"/>
            <a:ext cx="8640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pip install C:\Users\86138\AppData\Local\Programs\Python\Python310\Lib\site-packages\matplotlib-3.9.2-cp310-cp310-win_amd64.whl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2183282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科学计算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8821" cy="2635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79" dirty="0">
                <a:solidFill>
                  <a:srgbClr val="000000"/>
                </a:solidFill>
                <a:latin typeface="Microsoft YaHei"/>
                <a:cs typeface="Microsoft YaHei"/>
              </a:rPr>
              <a:t>科学计算是解决科学和工程中的数学问题利用计算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机进行的数值计算，它不仅是科学家在运算自然规律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时所使用的计算工具，更是普通人提升专业化程度的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必要手段。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3615" y="4798696"/>
            <a:ext cx="7527645" cy="1172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4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语言为开展人人都能使用的科学计算提供了</a:t>
            </a:r>
          </a:p>
          <a:p>
            <a:pPr marL="341680" marR="0">
              <a:lnSpc>
                <a:spcPts val="3167"/>
              </a:lnSpc>
              <a:spcBef>
                <a:spcPts val="254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有力支持。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2183282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科学计算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3988" cy="1171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79" dirty="0">
                <a:solidFill>
                  <a:srgbClr val="000000"/>
                </a:solidFill>
                <a:latin typeface="Microsoft YaHei"/>
                <a:cs typeface="Microsoft YaHei"/>
              </a:rPr>
              <a:t>开展基本的科学计算需要两个步骤：组织数据和展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示数据；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3615" y="3335401"/>
            <a:ext cx="7528376" cy="1172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80" dirty="0">
                <a:solidFill>
                  <a:srgbClr val="000000"/>
                </a:solidFill>
                <a:latin typeface="Microsoft YaHei"/>
                <a:cs typeface="Microsoft YaHei"/>
              </a:rPr>
              <a:t>组织数据是运算的基础，也是将客观世界数字化的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必要手段；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3615" y="4798696"/>
            <a:ext cx="7530400" cy="1172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展示数据是体现运算结果的重要方式，也是展示结</a:t>
            </a:r>
          </a:p>
          <a:p>
            <a:pPr marL="341680" marR="0">
              <a:lnSpc>
                <a:spcPts val="3167"/>
              </a:lnSpc>
              <a:spcBef>
                <a:spcPts val="254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论的有力武器。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116768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矩阵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7595" cy="1903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数学的矩阵（</a:t>
            </a:r>
            <a:r>
              <a:rPr sz="2400" spc="12" dirty="0">
                <a:solidFill>
                  <a:srgbClr val="000000"/>
                </a:solidFill>
                <a:latin typeface="Microsoft YaHei"/>
                <a:cs typeface="Microsoft YaHei"/>
              </a:rPr>
              <a:t>Matrix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）是一个按照长方阵列排列的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复数或实数集合，最早来自于方程组的系数及常数所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构成的方阵。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3615" y="4067498"/>
            <a:ext cx="7531582" cy="19037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矩阵是高等代数学中的常见工具，主要应用于统计</a:t>
            </a:r>
          </a:p>
          <a:p>
            <a:pPr marL="341680" marR="0">
              <a:lnSpc>
                <a:spcPts val="3170"/>
              </a:lnSpc>
              <a:spcBef>
                <a:spcPts val="2539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数学、物理学、电路学、力学、光学、量子物理、计</a:t>
            </a:r>
          </a:p>
          <a:p>
            <a:pPr marL="341680" marR="0">
              <a:lnSpc>
                <a:spcPts val="3167"/>
              </a:lnSpc>
              <a:spcBef>
                <a:spcPts val="259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算机图像和动画等领域。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2183282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科学计算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31582" cy="2635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科学计算领域最著名的计算平台Matlab</a:t>
            </a:r>
            <a:r>
              <a:rPr sz="2400" spc="10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采用矩阵作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为最基础的变量类型。矩阵有维度概念，一维矩阵是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线性的，类似于列表，二维矩阵是表格状的，这是常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用的数据表示形式。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3615" y="4798696"/>
            <a:ext cx="7531278" cy="190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科学计算与传统计算一个显著区别在于，科学计算</a:t>
            </a:r>
          </a:p>
          <a:p>
            <a:pPr marL="341680" marR="0">
              <a:lnSpc>
                <a:spcPts val="3167"/>
              </a:lnSpc>
              <a:spcBef>
                <a:spcPts val="2544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以矩阵而不是单一数值为基础，增加了计算密度，能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够表达更为复杂的数据运算逻辑。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7590" y="2815550"/>
            <a:ext cx="7768132" cy="8476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713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dirty="0">
                <a:solidFill>
                  <a:srgbClr val="000000"/>
                </a:solidFill>
                <a:latin typeface="Microsoft YaHei"/>
                <a:cs typeface="Microsoft YaHei"/>
              </a:rPr>
              <a:t>      </a:t>
            </a: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 numpy</a:t>
            </a:r>
            <a:r>
              <a:rPr sz="5400" spc="1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5400" dirty="0">
                <a:solidFill>
                  <a:srgbClr val="000000"/>
                </a:solidFill>
                <a:latin typeface="Microsoft YaHei"/>
                <a:cs typeface="Microsoft YaHei"/>
              </a:rPr>
              <a:t>库的使用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116768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要点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703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numpy</a:t>
            </a:r>
            <a:r>
              <a:rPr sz="2400" spc="16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是用于处理含有同种元素的多维数组运算的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5296" y="2604204"/>
            <a:ext cx="16764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第三方库。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3519830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numpy 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31277" cy="4098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Python</a:t>
            </a:r>
            <a:r>
              <a:rPr sz="2400" spc="39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标准库中提供了一个array</a:t>
            </a:r>
            <a:r>
              <a:rPr sz="2400" spc="39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类型，用于保存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数组类型数据，然而这个类型不支持多维数据，处理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函数也不够丰富，不适合用于做数值运算。</a:t>
            </a:r>
          </a:p>
          <a:p>
            <a:pPr marL="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因此，Python</a:t>
            </a:r>
            <a:r>
              <a:rPr sz="2400" spc="46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语言的第三方库numpy</a:t>
            </a:r>
            <a:r>
              <a:rPr sz="2400" spc="47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得到了迅速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spc="30" dirty="0">
                <a:solidFill>
                  <a:srgbClr val="000000"/>
                </a:solidFill>
                <a:latin typeface="Microsoft YaHei"/>
                <a:cs typeface="Microsoft YaHei"/>
              </a:rPr>
              <a:t>发展，至今，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numpy</a:t>
            </a:r>
            <a:r>
              <a:rPr sz="2400" spc="53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25" dirty="0">
                <a:solidFill>
                  <a:srgbClr val="000000"/>
                </a:solidFill>
                <a:latin typeface="Microsoft YaHei"/>
                <a:cs typeface="Microsoft YaHei"/>
              </a:rPr>
              <a:t>已经成为了科学计算事实上的</a:t>
            </a:r>
          </a:p>
          <a:p>
            <a:pPr marL="341680" marR="0">
              <a:lnSpc>
                <a:spcPts val="3167"/>
              </a:lnSpc>
              <a:spcBef>
                <a:spcPts val="259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标准库。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3519830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numpy 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7035" cy="1171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numpy</a:t>
            </a:r>
            <a:r>
              <a:rPr sz="2400" spc="16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库处理的最基础数据类型是由同种元素构成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的多维数组（ndarray），简称“数组”。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3615" y="3335401"/>
            <a:ext cx="7530893" cy="33674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数组中所有元素的类型必须相同，数组中元素可以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spc="177" dirty="0">
                <a:solidFill>
                  <a:srgbClr val="000000"/>
                </a:solidFill>
                <a:latin typeface="Microsoft YaHei"/>
                <a:cs typeface="Microsoft YaHei"/>
              </a:rPr>
              <a:t>用整数索引，序号从</a:t>
            </a:r>
            <a:r>
              <a:rPr sz="2400" spc="176" dirty="0">
                <a:solidFill>
                  <a:srgbClr val="000000"/>
                </a:solidFill>
                <a:latin typeface="Microsoft YaHei"/>
                <a:cs typeface="Microsoft YaHei"/>
              </a:rPr>
              <a:t>0</a:t>
            </a:r>
            <a:r>
              <a:rPr sz="2400" spc="180" dirty="0">
                <a:solidFill>
                  <a:srgbClr val="000000"/>
                </a:solidFill>
                <a:latin typeface="Microsoft YaHei"/>
                <a:cs typeface="Microsoft YaHei"/>
              </a:rPr>
              <a:t>开始。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ndarray</a:t>
            </a:r>
            <a:r>
              <a:rPr sz="2400" spc="65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179" dirty="0">
                <a:solidFill>
                  <a:srgbClr val="000000"/>
                </a:solidFill>
                <a:latin typeface="Microsoft YaHei"/>
                <a:cs typeface="Microsoft YaHei"/>
              </a:rPr>
              <a:t>类型的维度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(dimensions)</a:t>
            </a:r>
            <a:r>
              <a:rPr sz="2400" spc="80" dirty="0">
                <a:solidFill>
                  <a:srgbClr val="000000"/>
                </a:solidFill>
                <a:latin typeface="Microsoft YaHei"/>
                <a:cs typeface="Microsoft YaHei"/>
              </a:rPr>
              <a:t>叫做轴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(axes)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，轴的个数叫做秩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(rank)</a:t>
            </a:r>
          </a:p>
          <a:p>
            <a:pPr marL="341680" marR="0">
              <a:lnSpc>
                <a:spcPts val="3167"/>
              </a:lnSpc>
              <a:spcBef>
                <a:spcPts val="2594"/>
              </a:spcBef>
              <a:spcAft>
                <a:spcPts val="0"/>
              </a:spcAft>
            </a:pPr>
            <a:r>
              <a:rPr sz="2400" spc="99" dirty="0">
                <a:solidFill>
                  <a:srgbClr val="000000"/>
                </a:solidFill>
                <a:latin typeface="Microsoft YaHei"/>
                <a:cs typeface="Microsoft YaHei"/>
              </a:rPr>
              <a:t>。一维数组的秩为</a:t>
            </a:r>
            <a:r>
              <a:rPr sz="2400" spc="104" dirty="0">
                <a:solidFill>
                  <a:srgbClr val="000000"/>
                </a:solidFill>
                <a:latin typeface="Microsoft YaHei"/>
                <a:cs typeface="Microsoft YaHei"/>
              </a:rPr>
              <a:t>1</a:t>
            </a:r>
            <a:r>
              <a:rPr sz="2400" spc="99" dirty="0">
                <a:solidFill>
                  <a:srgbClr val="000000"/>
                </a:solidFill>
                <a:latin typeface="Microsoft YaHei"/>
                <a:cs typeface="Microsoft YaHei"/>
              </a:rPr>
              <a:t>，二维数组的秩为</a:t>
            </a:r>
            <a:r>
              <a:rPr sz="2400" spc="107" dirty="0">
                <a:solidFill>
                  <a:srgbClr val="000000"/>
                </a:solidFill>
                <a:latin typeface="Microsoft YaHei"/>
                <a:cs typeface="Microsoft YaHei"/>
              </a:rPr>
              <a:t>2</a:t>
            </a:r>
            <a:r>
              <a:rPr sz="2400" spc="97" dirty="0">
                <a:solidFill>
                  <a:srgbClr val="000000"/>
                </a:solidFill>
                <a:latin typeface="Microsoft YaHei"/>
                <a:cs typeface="Microsoft YaHei"/>
              </a:rPr>
              <a:t>，二维数组</a:t>
            </a:r>
          </a:p>
          <a:p>
            <a:pPr marL="341680" marR="0">
              <a:lnSpc>
                <a:spcPts val="3170"/>
              </a:lnSpc>
              <a:spcBef>
                <a:spcPts val="253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相当于由两个一维数组构成。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3519830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numpy 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7290" cy="1171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由于numpy</a:t>
            </a:r>
            <a:r>
              <a:rPr sz="2400" spc="16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库中函数较多且命名容易与常用命名混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淆，建议采用如下方式引用numpy</a:t>
            </a:r>
            <a:r>
              <a:rPr sz="2400" spc="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库：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70432" y="3335401"/>
            <a:ext cx="7245481" cy="2287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88947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&gt;&gt;&gt;import</a:t>
            </a:r>
            <a:r>
              <a:rPr sz="2400" b="1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numpy</a:t>
            </a:r>
            <a:r>
              <a:rPr sz="2400" b="1" spc="-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as np</a:t>
            </a:r>
          </a:p>
          <a:p>
            <a:pPr marL="0" marR="0">
              <a:lnSpc>
                <a:spcPts val="2644"/>
              </a:lnSpc>
              <a:spcBef>
                <a:spcPts val="2292"/>
              </a:spcBef>
              <a:spcAft>
                <a:spcPts val="0"/>
              </a:spcAft>
            </a:pPr>
            <a:r>
              <a:rPr sz="20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000" spc="1594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其中，as</a:t>
            </a:r>
            <a:r>
              <a:rPr sz="2000" spc="23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保留字与</a:t>
            </a:r>
            <a:r>
              <a:rPr sz="2000" spc="10" dirty="0">
                <a:solidFill>
                  <a:srgbClr val="000000"/>
                </a:solidFill>
                <a:latin typeface="Microsoft YaHei"/>
                <a:cs typeface="Microsoft YaHei"/>
              </a:rPr>
              <a:t>import</a:t>
            </a:r>
            <a:r>
              <a:rPr sz="2000" spc="24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一起使用能够改变后续代码中库</a:t>
            </a:r>
          </a:p>
          <a:p>
            <a:pPr marL="455675" marR="0">
              <a:lnSpc>
                <a:spcPts val="2644"/>
              </a:lnSpc>
              <a:spcBef>
                <a:spcPts val="2155"/>
              </a:spcBef>
              <a:spcAft>
                <a:spcPts val="0"/>
              </a:spcAft>
            </a:pPr>
            <a:r>
              <a:rPr sz="2000" spc="10" dirty="0">
                <a:solidFill>
                  <a:srgbClr val="000000"/>
                </a:solidFill>
                <a:latin typeface="Microsoft YaHei"/>
                <a:cs typeface="Microsoft YaHei"/>
              </a:rPr>
              <a:t>的命名空间，有助于提高代码可读性。简单说，在程序的后</a:t>
            </a:r>
          </a:p>
          <a:p>
            <a:pPr marL="455675" marR="0">
              <a:lnSpc>
                <a:spcPts val="2644"/>
              </a:lnSpc>
              <a:spcBef>
                <a:spcPts val="2158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续部分中，np</a:t>
            </a:r>
            <a:r>
              <a:rPr sz="2000" spc="-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代替numpy。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7074409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numpy 库常用的创建数组函数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20501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ndarray</a:t>
            </a:r>
            <a:r>
              <a:rPr sz="4000" spc="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类的常用属性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7619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72" dirty="0">
                <a:solidFill>
                  <a:srgbClr val="000000"/>
                </a:solidFill>
                <a:latin typeface="Microsoft YaHei"/>
                <a:cs typeface="Microsoft YaHei"/>
              </a:rPr>
              <a:t>创建一个简单的数组后，可以查看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ndarray</a:t>
            </a:r>
            <a:r>
              <a:rPr sz="2400" spc="56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类型有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5296" y="2604204"/>
            <a:ext cx="19812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一些基本属性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20501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ndarray</a:t>
            </a:r>
            <a:r>
              <a:rPr sz="4000" spc="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类的常用属性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220002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ndarray</a:t>
            </a:r>
            <a:r>
              <a:rPr sz="4000" spc="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类的形态操作方法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6EEE65C-8F1C-425B-BBC0-CCF60525674C}"/>
              </a:ext>
            </a:extLst>
          </p:cNvPr>
          <p:cNvSpPr txBox="1"/>
          <p:nvPr/>
        </p:nvSpPr>
        <p:spPr>
          <a:xfrm>
            <a:off x="611560" y="4941168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import </a:t>
            </a:r>
            <a:r>
              <a:rPr lang="en-US" altLang="zh-CN" dirty="0" err="1"/>
              <a:t>numpy</a:t>
            </a:r>
            <a:r>
              <a:rPr lang="en-US" altLang="zh-CN" dirty="0"/>
              <a:t> as np</a:t>
            </a:r>
          </a:p>
          <a:p>
            <a:r>
              <a:rPr lang="en-US" altLang="zh-CN" dirty="0"/>
              <a:t>a=</a:t>
            </a:r>
            <a:r>
              <a:rPr lang="en-US" altLang="zh-CN" dirty="0" err="1"/>
              <a:t>np.ones</a:t>
            </a:r>
            <a:r>
              <a:rPr lang="en-US" altLang="zh-CN" dirty="0"/>
              <a:t>((3,5))</a:t>
            </a:r>
          </a:p>
          <a:p>
            <a:r>
              <a:rPr lang="en-US" altLang="zh-CN" dirty="0"/>
              <a:t>print(a)</a:t>
            </a:r>
          </a:p>
          <a:p>
            <a:r>
              <a:rPr lang="en-US" altLang="zh-CN" dirty="0"/>
              <a:t>b=</a:t>
            </a:r>
            <a:r>
              <a:rPr lang="en-US" altLang="zh-CN" dirty="0" err="1"/>
              <a:t>np.array</a:t>
            </a:r>
            <a:r>
              <a:rPr lang="en-US" altLang="zh-CN" dirty="0"/>
              <a:t>([[1,2],[3,4],[4,5]])</a:t>
            </a:r>
          </a:p>
          <a:p>
            <a:r>
              <a:rPr lang="en-US" altLang="zh-CN" dirty="0"/>
              <a:t>print(b)</a:t>
            </a:r>
          </a:p>
          <a:p>
            <a:r>
              <a:rPr lang="en-US" altLang="zh-CN" dirty="0"/>
              <a:t>print(</a:t>
            </a:r>
            <a:r>
              <a:rPr lang="en-US" altLang="zh-CN" dirty="0" err="1"/>
              <a:t>b.flatten</a:t>
            </a:r>
            <a:r>
              <a:rPr lang="en-US" altLang="zh-CN" dirty="0"/>
              <a:t>())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6EDD25-2120-4DB0-B5AE-4AA1511664DF}"/>
              </a:ext>
            </a:extLst>
          </p:cNvPr>
          <p:cNvSpPr txBox="1"/>
          <p:nvPr/>
        </p:nvSpPr>
        <p:spPr>
          <a:xfrm>
            <a:off x="4572000" y="4836915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[[1. 1. 1. 1. 1.]</a:t>
            </a:r>
          </a:p>
          <a:p>
            <a:r>
              <a:rPr lang="en-US" altLang="zh-CN" dirty="0"/>
              <a:t> [1. 1. 1. 1. 1.]</a:t>
            </a:r>
          </a:p>
          <a:p>
            <a:r>
              <a:rPr lang="en-US" altLang="zh-CN" dirty="0"/>
              <a:t> [1. 1. 1. 1. 1.]]</a:t>
            </a:r>
          </a:p>
          <a:p>
            <a:r>
              <a:rPr lang="en-US" altLang="zh-CN" dirty="0"/>
              <a:t>[[1 2]</a:t>
            </a:r>
          </a:p>
          <a:p>
            <a:r>
              <a:rPr lang="en-US" altLang="zh-CN" dirty="0"/>
              <a:t> [3 4]</a:t>
            </a:r>
          </a:p>
          <a:p>
            <a:r>
              <a:rPr lang="en-US" altLang="zh-CN" dirty="0"/>
              <a:t> [4 5]]</a:t>
            </a:r>
          </a:p>
          <a:p>
            <a:r>
              <a:rPr lang="en-US" altLang="zh-CN" dirty="0"/>
              <a:t>[1 2 3 4 4 5]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AA6A58-8A8D-4201-A289-832CA5B63D40}"/>
              </a:ext>
            </a:extLst>
          </p:cNvPr>
          <p:cNvSpPr/>
          <p:nvPr/>
        </p:nvSpPr>
        <p:spPr>
          <a:xfrm>
            <a:off x="1619672" y="3789040"/>
            <a:ext cx="7056784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220002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ndarray</a:t>
            </a:r>
            <a:r>
              <a:rPr sz="4000" spc="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类的形态操作方法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30663" cy="3366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数组在numpy</a:t>
            </a:r>
            <a:r>
              <a:rPr sz="2400" spc="3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中被当作对象，可以采用&lt;a&gt;.&lt;b&gt;()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方式调用一些方法。这里给出了改变数组基础形态的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spc="249" dirty="0">
                <a:solidFill>
                  <a:srgbClr val="000000"/>
                </a:solidFill>
                <a:latin typeface="Microsoft YaHei"/>
                <a:cs typeface="Microsoft YaHei"/>
              </a:rPr>
              <a:t>操作方法，例如改变和调换数组维度等。其中，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np.flatten()</a:t>
            </a:r>
            <a:r>
              <a:rPr sz="2400" spc="114" dirty="0">
                <a:solidFill>
                  <a:srgbClr val="000000"/>
                </a:solidFill>
                <a:latin typeface="Microsoft YaHei"/>
                <a:cs typeface="Microsoft YaHei"/>
              </a:rPr>
              <a:t>函数用于数组降维，相当于平铺数组中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数据，该功能在矩阵运算及图像处理中用处很大。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727494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ndarray</a:t>
            </a:r>
            <a:r>
              <a:rPr sz="4000" spc="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类的索引和切片方法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727494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ndarray</a:t>
            </a:r>
            <a:r>
              <a:rPr sz="4000" spc="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类的索引和切片方法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31024" cy="2635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数组切片得到的是原始数组的视图，所有修改都会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直接反映到源数组。如果需要得到的ndarray</a:t>
            </a:r>
            <a:r>
              <a:rPr sz="2400" spc="29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切片的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一</a:t>
            </a:r>
            <a:r>
              <a:rPr sz="2400" spc="5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份</a:t>
            </a:r>
            <a:r>
              <a:rPr sz="2400" spc="5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副</a:t>
            </a:r>
            <a:r>
              <a:rPr sz="2400" spc="5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本</a:t>
            </a:r>
            <a:r>
              <a:rPr sz="2400" spc="53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z="2400" spc="5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需</a:t>
            </a:r>
            <a:r>
              <a:rPr sz="2400" spc="5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要</a:t>
            </a:r>
            <a:r>
              <a:rPr sz="2400" spc="5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进</a:t>
            </a:r>
            <a:r>
              <a:rPr sz="2400" spc="5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行</a:t>
            </a:r>
            <a:r>
              <a:rPr sz="2400" spc="5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复</a:t>
            </a:r>
            <a:r>
              <a:rPr sz="2400" spc="5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制</a:t>
            </a:r>
            <a:r>
              <a:rPr sz="2400" spc="52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操</a:t>
            </a:r>
            <a:r>
              <a:rPr sz="2400" spc="53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作</a:t>
            </a:r>
            <a:r>
              <a:rPr sz="2400" spc="54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</a:t>
            </a:r>
            <a:r>
              <a:rPr sz="2400" spc="52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比</a:t>
            </a:r>
            <a:r>
              <a:rPr sz="2400" spc="5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如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arange[5:8].copy()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727494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ndarray</a:t>
            </a:r>
            <a:r>
              <a:rPr sz="4000" spc="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类的索引和切片方法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A16C9C-56BA-497D-88B8-A4DAE5F4D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761949"/>
            <a:ext cx="7632848" cy="48191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058815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numpy 库的算术运算函数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058815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numpy 库的算术运算函数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30417" cy="2635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这些函数中，输出参数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y</a:t>
            </a:r>
            <a:r>
              <a:rPr sz="2400" spc="57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可选，如果没有指定，将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创建并返回一个新的数组保存计算结果；如果指定参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数，则将结果保存到参数中。例如，两个数组相加可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以简单地写为a+b，而np.add(a,b,a)则表示a+=b。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058815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numpy 库的比较运算函数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058815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numpy 库的比较运算函数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7975" cy="1171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80" dirty="0">
                <a:solidFill>
                  <a:srgbClr val="000000"/>
                </a:solidFill>
                <a:latin typeface="Microsoft YaHei"/>
                <a:cs typeface="Microsoft YaHei"/>
              </a:rPr>
              <a:t>其将返回一个布尔数组，它包含两个数组中对应元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素值的比较结果，例子如下。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3615" y="3335401"/>
            <a:ext cx="7528534" cy="11724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where()函数是三元表达式x</a:t>
            </a:r>
            <a:r>
              <a:rPr sz="2400" spc="26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if</a:t>
            </a:r>
            <a:r>
              <a:rPr sz="2400" spc="25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condition</a:t>
            </a:r>
            <a:r>
              <a:rPr sz="2400" spc="26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else</a:t>
            </a:r>
            <a:r>
              <a:rPr sz="2400" spc="27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y</a:t>
            </a:r>
            <a:r>
              <a:rPr sz="2400" spc="28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矢量版本。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058815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numpy 库的其他运算函数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2504237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numpy 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31634" cy="1903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numpy</a:t>
            </a:r>
            <a:r>
              <a:rPr sz="2400" spc="16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库还包括三角运算函数、傅里叶变换、随机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和概率分布、基本数值统计、位运算、矩阵运算等非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常丰富的功能，读者在使用时可以到官方网站查询。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3706672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拓展：运算规则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31278" cy="4098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实数的算术运算是最为常见的运算规则，类似的，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矩阵也有算术运算。一个完备的运算体系包括运算基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spc="30" dirty="0">
                <a:solidFill>
                  <a:srgbClr val="000000"/>
                </a:solidFill>
                <a:latin typeface="Microsoft YaHei"/>
                <a:cs typeface="Microsoft YaHei"/>
              </a:rPr>
              <a:t>本单位和运算规则。在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numpy</a:t>
            </a:r>
            <a:r>
              <a:rPr sz="2400" spc="5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27" dirty="0">
                <a:solidFill>
                  <a:srgbClr val="000000"/>
                </a:solidFill>
                <a:latin typeface="Microsoft YaHei"/>
                <a:cs typeface="Microsoft YaHei"/>
              </a:rPr>
              <a:t>中，运算基本单位是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数组，运算规则与实数一样，包括：算术运算、比较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spc="93" dirty="0">
                <a:solidFill>
                  <a:srgbClr val="000000"/>
                </a:solidFill>
                <a:latin typeface="Microsoft YaHei"/>
                <a:cs typeface="Microsoft YaHei"/>
              </a:rPr>
              <a:t>运算、统计运算、三角运算、随机运算等。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numpy</a:t>
            </a:r>
          </a:p>
          <a:p>
            <a:pPr marL="341680" marR="0">
              <a:lnSpc>
                <a:spcPts val="3167"/>
              </a:lnSpc>
              <a:spcBef>
                <a:spcPts val="259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库的广泛使用与完备的运算体系密切相关。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319887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思考与练习：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6452286" cy="1903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[E10.3]创建一个ndarray</a:t>
            </a:r>
            <a:r>
              <a:rPr sz="2400" spc="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变量有哪些方法？</a:t>
            </a:r>
          </a:p>
          <a:p>
            <a:pPr marL="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[E10.4]如何对ndarray 每个变量求平方根？</a:t>
            </a:r>
          </a:p>
          <a:p>
            <a:pPr marL="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[E10.5]思考ndarray 的降维是什么含义？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96111" y="2841001"/>
            <a:ext cx="7718425" cy="842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335"/>
              </a:lnSpc>
              <a:spcBef>
                <a:spcPts val="0"/>
              </a:spcBef>
              <a:spcAft>
                <a:spcPts val="0"/>
              </a:spcAft>
            </a:pPr>
            <a:r>
              <a:rPr sz="4800" dirty="0">
                <a:solidFill>
                  <a:srgbClr val="000000"/>
                </a:solidFill>
                <a:latin typeface="Microsoft YaHei"/>
                <a:cs typeface="Microsoft YaHei"/>
              </a:rPr>
              <a:t>模块11</a:t>
            </a:r>
            <a:r>
              <a:rPr sz="4800" spc="1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4800" dirty="0">
                <a:solidFill>
                  <a:srgbClr val="000000"/>
                </a:solidFill>
                <a:latin typeface="Microsoft YaHei"/>
                <a:cs typeface="Microsoft YaHei"/>
              </a:rPr>
              <a:t>matplotlib库的使用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116768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要点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9753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matplotlib</a:t>
            </a:r>
            <a:r>
              <a:rPr sz="2400" spc="68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187" dirty="0">
                <a:solidFill>
                  <a:srgbClr val="000000"/>
                </a:solidFill>
                <a:latin typeface="Microsoft YaHei"/>
                <a:cs typeface="Microsoft YaHei"/>
              </a:rPr>
              <a:t>是提供数据绘图功能的第三方库，其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5296" y="2604204"/>
            <a:ext cx="7180171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pyplot</a:t>
            </a:r>
            <a:r>
              <a:rPr sz="2400" spc="55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60" dirty="0">
                <a:solidFill>
                  <a:srgbClr val="000000"/>
                </a:solidFill>
                <a:latin typeface="Microsoft YaHei"/>
                <a:cs typeface="Microsoft YaHei"/>
              </a:rPr>
              <a:t>子库主要用于实现各种数据展示图形的绘制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25296" y="3335401"/>
            <a:ext cx="457504" cy="4407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020740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matplotlib.pyplot</a:t>
            </a:r>
            <a:r>
              <a:rPr sz="4000" spc="-56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823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matplotlib.pyplot</a:t>
            </a:r>
            <a:r>
              <a:rPr sz="2400" spc="61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132" dirty="0">
                <a:solidFill>
                  <a:srgbClr val="000000"/>
                </a:solidFill>
                <a:latin typeface="Microsoft YaHei"/>
                <a:cs typeface="Microsoft YaHei"/>
              </a:rPr>
              <a:t>是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matplotlib</a:t>
            </a:r>
            <a:r>
              <a:rPr sz="2400" spc="62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124" dirty="0">
                <a:solidFill>
                  <a:srgbClr val="000000"/>
                </a:solidFill>
                <a:latin typeface="Microsoft YaHei"/>
                <a:cs typeface="Microsoft YaHei"/>
              </a:rPr>
              <a:t>的子库，引用方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5296" y="2604204"/>
            <a:ext cx="13716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式如下：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67739" y="3335401"/>
            <a:ext cx="7415767" cy="28970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1727" marR="0">
              <a:lnSpc>
                <a:spcPts val="317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&gt;&gt;&gt;import</a:t>
            </a:r>
            <a:r>
              <a:rPr sz="2400" b="1" spc="1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matplotlib.pyplot</a:t>
            </a:r>
            <a:r>
              <a:rPr sz="2400" b="1" spc="5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as plt</a:t>
            </a:r>
          </a:p>
          <a:p>
            <a:pPr marL="0" marR="0">
              <a:lnSpc>
                <a:spcPts val="2644"/>
              </a:lnSpc>
              <a:spcBef>
                <a:spcPts val="2292"/>
              </a:spcBef>
              <a:spcAft>
                <a:spcPts val="0"/>
              </a:spcAft>
            </a:pPr>
            <a:r>
              <a:rPr sz="20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000" spc="34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上述语句与</a:t>
            </a:r>
            <a:r>
              <a:rPr sz="2000" spc="12" dirty="0">
                <a:solidFill>
                  <a:srgbClr val="000000"/>
                </a:solidFill>
                <a:latin typeface="Microsoft YaHei"/>
                <a:cs typeface="Microsoft YaHei"/>
              </a:rPr>
              <a:t>import</a:t>
            </a:r>
            <a:r>
              <a:rPr sz="2000" spc="-2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matplotlib.pyplot</a:t>
            </a:r>
            <a:r>
              <a:rPr sz="2000" spc="3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一致，as</a:t>
            </a:r>
            <a:r>
              <a:rPr sz="2000" spc="-1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保留字与</a:t>
            </a:r>
          </a:p>
          <a:p>
            <a:pPr marL="257556" marR="0">
              <a:lnSpc>
                <a:spcPts val="2644"/>
              </a:lnSpc>
              <a:spcBef>
                <a:spcPts val="2155"/>
              </a:spcBef>
              <a:spcAft>
                <a:spcPts val="0"/>
              </a:spcAft>
            </a:pPr>
            <a:r>
              <a:rPr sz="2000" spc="12" dirty="0">
                <a:solidFill>
                  <a:srgbClr val="000000"/>
                </a:solidFill>
                <a:latin typeface="Microsoft YaHei"/>
                <a:cs typeface="Microsoft YaHei"/>
              </a:rPr>
              <a:t>import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 一起使用能够改变后续代码中库的命名空间，有助于提</a:t>
            </a:r>
          </a:p>
          <a:p>
            <a:pPr marL="257556" marR="0">
              <a:lnSpc>
                <a:spcPts val="2644"/>
              </a:lnSpc>
              <a:spcBef>
                <a:spcPts val="2158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高代码可读性。简单说，在后续程序中，plt</a:t>
            </a:r>
            <a:r>
              <a:rPr sz="2000" spc="-2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将代替</a:t>
            </a:r>
          </a:p>
          <a:p>
            <a:pPr marL="257556" marR="0">
              <a:lnSpc>
                <a:spcPts val="2644"/>
              </a:lnSpc>
              <a:spcBef>
                <a:spcPts val="2154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matplotlib.pyplot。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020740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matplotlib.pyplot</a:t>
            </a:r>
            <a:r>
              <a:rPr sz="4000" spc="-56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7975" cy="1171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80" dirty="0">
                <a:solidFill>
                  <a:srgbClr val="000000"/>
                </a:solidFill>
                <a:latin typeface="Microsoft YaHei"/>
                <a:cs typeface="Microsoft YaHei"/>
              </a:rPr>
              <a:t>为了正确显示中文字体，请用以下代码更改默认设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置,其中'SimHei'表示黑体字。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9BAE9C8-78CB-496A-A6BE-43543CC19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5013176"/>
            <a:ext cx="1914525" cy="16954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B314BAA-2C14-4676-9854-71A87ACDE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5225532"/>
            <a:ext cx="1609725" cy="13049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020740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matplotlib.pyplot</a:t>
            </a:r>
            <a:r>
              <a:rPr sz="4000" spc="-56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库概述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31278" cy="48301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matplotlib</a:t>
            </a:r>
            <a:r>
              <a:rPr sz="2400" spc="54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库由一系列有组织有隶属关系的对象构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成，这对于基础绘图操作来说显得过于复杂。因此，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matplotlib</a:t>
            </a:r>
            <a:r>
              <a:rPr sz="2400" spc="59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85" dirty="0">
                <a:solidFill>
                  <a:srgbClr val="000000"/>
                </a:solidFill>
                <a:latin typeface="Microsoft YaHei"/>
                <a:cs typeface="Microsoft YaHei"/>
              </a:rPr>
              <a:t>提供了一套快捷命令式的绘图接口函数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，即pyplot</a:t>
            </a:r>
            <a:r>
              <a:rPr sz="2400" spc="38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子模块。pyplot</a:t>
            </a:r>
            <a:r>
              <a:rPr sz="2400" spc="37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将绘图所需要的对象构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建过程封装在函数中，对用户提供了更加友好的接口</a:t>
            </a:r>
          </a:p>
          <a:p>
            <a:pPr marL="341680" marR="0">
              <a:lnSpc>
                <a:spcPts val="3167"/>
              </a:lnSpc>
              <a:spcBef>
                <a:spcPts val="2594"/>
              </a:spcBef>
              <a:spcAft>
                <a:spcPts val="0"/>
              </a:spcAft>
            </a:pPr>
            <a:r>
              <a:rPr sz="2400" spc="6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pyplot</a:t>
            </a:r>
            <a:r>
              <a:rPr sz="2400" spc="56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62" dirty="0">
                <a:solidFill>
                  <a:srgbClr val="000000"/>
                </a:solidFill>
                <a:latin typeface="Microsoft YaHei"/>
                <a:cs typeface="Microsoft YaHei"/>
              </a:rPr>
              <a:t>模块提供一批预定义的绘图函数，大多数</a:t>
            </a:r>
          </a:p>
          <a:p>
            <a:pPr marL="341680" marR="0">
              <a:lnSpc>
                <a:spcPts val="3170"/>
              </a:lnSpc>
              <a:spcBef>
                <a:spcPts val="253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函数可以从函数名辨别它的功能。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2691079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拓展：字体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31607" cy="40985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81" dirty="0">
                <a:solidFill>
                  <a:srgbClr val="000000"/>
                </a:solidFill>
                <a:latin typeface="Microsoft YaHei"/>
                <a:cs typeface="Microsoft YaHei"/>
              </a:rPr>
              <a:t>字体是计算机显示字符的方式，均由人工设计，并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采用字体库方式部署在计算机中。西文和中文字体都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spc="46" dirty="0">
                <a:solidFill>
                  <a:srgbClr val="000000"/>
                </a:solidFill>
                <a:latin typeface="Microsoft YaHei"/>
                <a:cs typeface="Microsoft YaHei"/>
              </a:rPr>
              <a:t>有很多种类，下表给出最常用的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10</a:t>
            </a:r>
            <a:r>
              <a:rPr sz="2400" spc="526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47" dirty="0">
                <a:solidFill>
                  <a:srgbClr val="000000"/>
                </a:solidFill>
                <a:latin typeface="Microsoft YaHei"/>
                <a:cs typeface="Microsoft YaHei"/>
              </a:rPr>
              <a:t>种中文字体及其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英文表示，这些字体的英文表示在程序设计中十分常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spc="87" dirty="0">
                <a:solidFill>
                  <a:srgbClr val="000000"/>
                </a:solidFill>
                <a:latin typeface="Microsoft YaHei"/>
                <a:cs typeface="Microsoft YaHei"/>
              </a:rPr>
              <a:t>用，但需要注意，部分字体无法在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matplotlib</a:t>
            </a:r>
            <a:r>
              <a:rPr sz="2400" spc="57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spc="108" dirty="0">
                <a:solidFill>
                  <a:srgbClr val="000000"/>
                </a:solidFill>
                <a:latin typeface="Microsoft YaHei"/>
                <a:cs typeface="Microsoft YaHei"/>
              </a:rPr>
              <a:t>库中</a:t>
            </a:r>
          </a:p>
          <a:p>
            <a:pPr marL="341680" marR="0">
              <a:lnSpc>
                <a:spcPts val="3167"/>
              </a:lnSpc>
              <a:spcBef>
                <a:spcPts val="2594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使用。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2691079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拓展：字体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020740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matplotlib.pyplot</a:t>
            </a:r>
            <a:r>
              <a:rPr sz="4000" spc="-56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库解析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31277" cy="1903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plt</a:t>
            </a:r>
            <a:r>
              <a:rPr sz="2400" spc="30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子库提供了一批操作和绘图函数，每个函数代表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对图像进行的一个操作，比如创建绘图区域、添加标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注或者修改坐标轴等。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3615" y="4067498"/>
            <a:ext cx="7528229" cy="11719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37" dirty="0">
                <a:solidFill>
                  <a:srgbClr val="000000"/>
                </a:solidFill>
                <a:latin typeface="Microsoft YaHei"/>
                <a:cs typeface="Microsoft YaHei"/>
              </a:rPr>
              <a:t>这些函数采用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plt.&lt;b&gt;()</a:t>
            </a:r>
            <a:r>
              <a:rPr sz="2400" spc="37" dirty="0">
                <a:solidFill>
                  <a:srgbClr val="000000"/>
                </a:solidFill>
                <a:latin typeface="Microsoft YaHei"/>
                <a:cs typeface="Microsoft YaHei"/>
              </a:rPr>
              <a:t>形式调用，其中</a:t>
            </a:r>
            <a:r>
              <a:rPr sz="2400" spc="14" dirty="0">
                <a:solidFill>
                  <a:srgbClr val="000000"/>
                </a:solidFill>
                <a:latin typeface="Microsoft YaHei"/>
                <a:cs typeface="Microsoft YaHei"/>
              </a:rPr>
              <a:t>&lt;b&gt;</a:t>
            </a:r>
            <a:r>
              <a:rPr sz="2400" spc="36" dirty="0">
                <a:solidFill>
                  <a:srgbClr val="000000"/>
                </a:solidFill>
                <a:latin typeface="Microsoft YaHei"/>
                <a:cs typeface="Microsoft YaHei"/>
              </a:rPr>
              <a:t>是具体</a:t>
            </a:r>
          </a:p>
          <a:p>
            <a:pPr marL="341680" marR="0">
              <a:lnSpc>
                <a:spcPts val="3170"/>
              </a:lnSpc>
              <a:spcBef>
                <a:spcPts val="253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函数名称。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01121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库的绘图区域函数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01121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库的绘图区域函数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9172" cy="33667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spc="30" dirty="0">
                <a:solidFill>
                  <a:srgbClr val="000000"/>
                </a:solidFill>
                <a:latin typeface="Microsoft YaHei"/>
                <a:cs typeface="Microsoft YaHei"/>
              </a:rPr>
              <a:t>使用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figure()</a:t>
            </a:r>
            <a:r>
              <a:rPr sz="2400" spc="28" dirty="0">
                <a:solidFill>
                  <a:srgbClr val="000000"/>
                </a:solidFill>
                <a:latin typeface="Microsoft YaHei"/>
                <a:cs typeface="Microsoft YaHei"/>
              </a:rPr>
              <a:t>函数创建一个全局绘图区域，并且使它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成为当前的绘图对象，figsize参数可以指定绘图区域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spc="76" dirty="0">
                <a:solidFill>
                  <a:srgbClr val="000000"/>
                </a:solidFill>
                <a:latin typeface="Microsoft YaHei"/>
                <a:cs typeface="Microsoft YaHei"/>
              </a:rPr>
              <a:t>的宽度和高度，单位为英寸。鉴于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figure()</a:t>
            </a:r>
            <a:r>
              <a:rPr sz="2400" spc="77" dirty="0">
                <a:solidFill>
                  <a:srgbClr val="000000"/>
                </a:solidFill>
                <a:latin typeface="Microsoft YaHei"/>
                <a:cs typeface="Microsoft YaHei"/>
              </a:rPr>
              <a:t>函数参数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较多，这里采用指定参数名称的方式输入参数。</a:t>
            </a:r>
          </a:p>
          <a:p>
            <a:pPr marL="1502968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Microsoft YaHei"/>
                <a:cs typeface="Microsoft YaHei"/>
              </a:rPr>
              <a:t>&gt;&gt;&gt; plt.figure(figsize=(8,4))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01121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库的绘图区域函数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15448"/>
            <a:ext cx="7530800" cy="2535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78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1800" spc="1796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subplot()</a:t>
            </a:r>
            <a:r>
              <a:rPr sz="1800" spc="70" dirty="0">
                <a:solidFill>
                  <a:srgbClr val="000000"/>
                </a:solidFill>
                <a:latin typeface="Microsoft YaHei"/>
                <a:cs typeface="Microsoft YaHei"/>
              </a:rPr>
              <a:t>都用于在全局绘图区域内创建子绘图区域，其参数表示将</a:t>
            </a:r>
          </a:p>
          <a:p>
            <a:pPr marL="341680" marR="0">
              <a:lnSpc>
                <a:spcPts val="2375"/>
              </a:lnSpc>
              <a:spcBef>
                <a:spcPts val="1946"/>
              </a:spcBef>
              <a:spcAft>
                <a:spcPts val="0"/>
              </a:spcAft>
            </a:pPr>
            <a:r>
              <a:rPr sz="1800" spc="28" dirty="0">
                <a:solidFill>
                  <a:srgbClr val="000000"/>
                </a:solidFill>
                <a:latin typeface="Microsoft YaHei"/>
                <a:cs typeface="Microsoft YaHei"/>
              </a:rPr>
              <a:t>全局绘图区域分成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nrows</a:t>
            </a:r>
            <a:r>
              <a:rPr sz="1800" spc="40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spc="30" dirty="0">
                <a:solidFill>
                  <a:srgbClr val="000000"/>
                </a:solidFill>
                <a:latin typeface="Microsoft YaHei"/>
                <a:cs typeface="Microsoft YaHei"/>
              </a:rPr>
              <a:t>行和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ncols</a:t>
            </a:r>
            <a:r>
              <a:rPr sz="1800" spc="399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spc="27" dirty="0">
                <a:solidFill>
                  <a:srgbClr val="000000"/>
                </a:solidFill>
                <a:latin typeface="Microsoft YaHei"/>
                <a:cs typeface="Microsoft YaHei"/>
              </a:rPr>
              <a:t>列，并根据先行后列的计数方式</a:t>
            </a:r>
          </a:p>
          <a:p>
            <a:pPr marL="341680" marR="0">
              <a:lnSpc>
                <a:spcPts val="2375"/>
              </a:lnSpc>
              <a:spcBef>
                <a:spcPts val="1944"/>
              </a:spcBef>
              <a:spcAft>
                <a:spcPts val="0"/>
              </a:spcAft>
            </a:pPr>
            <a:r>
              <a:rPr sz="1800" spc="11" dirty="0">
                <a:solidFill>
                  <a:srgbClr val="000000"/>
                </a:solidFill>
                <a:latin typeface="Microsoft YaHei"/>
                <a:cs typeface="Microsoft YaHei"/>
              </a:rPr>
              <a:t>在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plot_number</a:t>
            </a:r>
            <a:r>
              <a:rPr sz="1800" spc="370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spc="11" dirty="0">
                <a:solidFill>
                  <a:srgbClr val="000000"/>
                </a:solidFill>
                <a:latin typeface="Microsoft YaHei"/>
                <a:cs typeface="Microsoft YaHei"/>
              </a:rPr>
              <a:t>位置生成一个坐标系，实例代码如下，三个参数关系</a:t>
            </a:r>
          </a:p>
          <a:p>
            <a:pPr marL="341680" marR="0">
              <a:lnSpc>
                <a:spcPts val="2375"/>
              </a:lnSpc>
              <a:spcBef>
                <a:spcPts val="1946"/>
              </a:spcBef>
              <a:spcAft>
                <a:spcPts val="0"/>
              </a:spcAft>
            </a:pPr>
            <a:r>
              <a:rPr sz="1800" spc="11" dirty="0">
                <a:solidFill>
                  <a:srgbClr val="000000"/>
                </a:solidFill>
                <a:latin typeface="Microsoft YaHei"/>
                <a:cs typeface="Microsoft YaHei"/>
              </a:rPr>
              <a:t>如图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10.3</a:t>
            </a:r>
            <a:r>
              <a:rPr sz="1800" spc="37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所示。其中，全局绘图区域被风割成3x2</a:t>
            </a:r>
            <a:r>
              <a:rPr sz="1800" spc="37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的网格，其中，在</a:t>
            </a:r>
          </a:p>
          <a:p>
            <a:pPr marL="341680" marR="0">
              <a:lnSpc>
                <a:spcPts val="2375"/>
              </a:lnSpc>
              <a:spcBef>
                <a:spcPts val="1994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Microsoft YaHei"/>
                <a:cs typeface="Microsoft YaHei"/>
              </a:rPr>
              <a:t>第4 个位置绘制了一个坐标系。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01121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库的绘图区域函数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01121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库的绘图区域函数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9285" cy="26351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axes()</a:t>
            </a:r>
            <a:r>
              <a:rPr sz="2400" spc="75" dirty="0">
                <a:solidFill>
                  <a:srgbClr val="000000"/>
                </a:solidFill>
                <a:latin typeface="Microsoft YaHei"/>
                <a:cs typeface="Microsoft YaHei"/>
              </a:rPr>
              <a:t>默认创建一个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subplot(111)</a:t>
            </a:r>
            <a:r>
              <a:rPr sz="2400" spc="77" dirty="0">
                <a:solidFill>
                  <a:srgbClr val="000000"/>
                </a:solidFill>
                <a:latin typeface="Microsoft YaHei"/>
                <a:cs typeface="Microsoft YaHei"/>
              </a:rPr>
              <a:t>坐标系，参数</a:t>
            </a:r>
            <a:r>
              <a:rPr sz="2400" spc="-15" dirty="0">
                <a:solidFill>
                  <a:srgbClr val="000000"/>
                </a:solidFill>
                <a:latin typeface="Microsoft YaHei"/>
                <a:cs typeface="Microsoft YaHei"/>
              </a:rPr>
              <a:t>rec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=</a:t>
            </a:r>
            <a:r>
              <a:rPr sz="2400" spc="605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[left,bottom,width,height]</a:t>
            </a:r>
            <a:r>
              <a:rPr sz="2400" spc="122" dirty="0">
                <a:solidFill>
                  <a:srgbClr val="000000"/>
                </a:solidFill>
                <a:latin typeface="Microsoft YaHei"/>
                <a:cs typeface="Microsoft YaHei"/>
              </a:rPr>
              <a:t>中四个变量的范围都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为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[0,1]，</a:t>
            </a:r>
            <a:r>
              <a:rPr sz="2400" spc="-19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表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示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坐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标</a:t>
            </a:r>
            <a:r>
              <a:rPr sz="2400" spc="-19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系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与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全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局</a:t>
            </a:r>
            <a:r>
              <a:rPr sz="2400" spc="-19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绘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图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区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域</a:t>
            </a:r>
            <a:r>
              <a:rPr sz="2400" spc="-19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的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关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系</a:t>
            </a:r>
            <a:r>
              <a:rPr sz="2400" spc="-20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；</a:t>
            </a:r>
          </a:p>
          <a:p>
            <a:pPr marL="341680" marR="0">
              <a:lnSpc>
                <a:spcPts val="3167"/>
              </a:lnSpc>
              <a:spcBef>
                <a:spcPts val="2543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axisbg 指背景色，默认为white。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51870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库的读取和显示函数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31278" cy="19035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plt</a:t>
            </a:r>
            <a:r>
              <a:rPr sz="2400" spc="30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子库提供了一组读取和显示相关函数，用于在绘</a:t>
            </a:r>
          </a:p>
          <a:p>
            <a:pPr marL="341680" marR="0">
              <a:lnSpc>
                <a:spcPts val="3167"/>
              </a:lnSpc>
              <a:spcBef>
                <a:spcPts val="2542"/>
              </a:spcBef>
              <a:spcAft>
                <a:spcPts val="0"/>
              </a:spcAft>
            </a:pPr>
            <a:r>
              <a:rPr sz="2400" spc="10" dirty="0">
                <a:solidFill>
                  <a:srgbClr val="000000"/>
                </a:solidFill>
                <a:latin typeface="Microsoft YaHei"/>
                <a:cs typeface="Microsoft YaHei"/>
              </a:rPr>
              <a:t>图区域中增加显示内容及读入数据，如下表所示，这</a:t>
            </a:r>
          </a:p>
          <a:p>
            <a:pPr marL="341680" marR="0">
              <a:lnSpc>
                <a:spcPts val="3170"/>
              </a:lnSpc>
              <a:spcBef>
                <a:spcPts val="2589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些函数需要与其他函数搭配使用。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51870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库的读取和显示函数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01121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库的基础图表函数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01121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库的基础图表函数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01121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库的基础图表函数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01121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库的基础图表函数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33755"/>
            <a:ext cx="7529753" cy="34230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000" spc="159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plot()</a:t>
            </a:r>
            <a:r>
              <a:rPr sz="2000" spc="11" dirty="0">
                <a:solidFill>
                  <a:srgbClr val="000000"/>
                </a:solidFill>
                <a:latin typeface="Microsoft YaHei"/>
                <a:cs typeface="Microsoft YaHei"/>
              </a:rPr>
              <a:t>函数是用于绘制直线的最基础函数，调用方式很灵活，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x</a:t>
            </a:r>
          </a:p>
          <a:p>
            <a:pPr marL="341680" marR="0">
              <a:lnSpc>
                <a:spcPts val="2644"/>
              </a:lnSpc>
              <a:spcBef>
                <a:spcPts val="2207"/>
              </a:spcBef>
              <a:spcAft>
                <a:spcPts val="0"/>
              </a:spcAft>
            </a:pPr>
            <a:r>
              <a:rPr sz="2000" spc="28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y</a:t>
            </a:r>
            <a:r>
              <a:rPr sz="2000" spc="438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spc="28" dirty="0">
                <a:solidFill>
                  <a:srgbClr val="000000"/>
                </a:solidFill>
                <a:latin typeface="Microsoft YaHei"/>
                <a:cs typeface="Microsoft YaHei"/>
              </a:rPr>
              <a:t>可以是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numpy</a:t>
            </a:r>
            <a:r>
              <a:rPr sz="2000" spc="25" dirty="0">
                <a:solidFill>
                  <a:srgbClr val="000000"/>
                </a:solidFill>
                <a:latin typeface="Microsoft YaHei"/>
                <a:cs typeface="Microsoft YaHei"/>
              </a:rPr>
              <a:t>计算出的数组，并用关键字参数指定各种属</a:t>
            </a:r>
          </a:p>
          <a:p>
            <a:pPr marL="341680" marR="0">
              <a:lnSpc>
                <a:spcPts val="2644"/>
              </a:lnSpc>
              <a:spcBef>
                <a:spcPts val="2155"/>
              </a:spcBef>
              <a:spcAft>
                <a:spcPts val="0"/>
              </a:spcAft>
            </a:pPr>
            <a:r>
              <a:rPr sz="2000" spc="196" dirty="0">
                <a:solidFill>
                  <a:srgbClr val="000000"/>
                </a:solidFill>
                <a:latin typeface="Microsoft YaHei"/>
                <a:cs typeface="Microsoft YaHei"/>
              </a:rPr>
              <a:t>性。其中，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label</a:t>
            </a:r>
            <a:r>
              <a:rPr sz="2000" spc="59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spc="194" dirty="0">
                <a:solidFill>
                  <a:srgbClr val="000000"/>
                </a:solidFill>
                <a:latin typeface="Microsoft YaHei"/>
                <a:cs typeface="Microsoft YaHei"/>
              </a:rPr>
              <a:t>表示设置标签并在图例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(legend)</a:t>
            </a:r>
            <a:r>
              <a:rPr sz="2000" spc="191" dirty="0">
                <a:solidFill>
                  <a:srgbClr val="000000"/>
                </a:solidFill>
                <a:latin typeface="Microsoft YaHei"/>
                <a:cs typeface="Microsoft YaHei"/>
              </a:rPr>
              <a:t>中显示，</a:t>
            </a:r>
          </a:p>
          <a:p>
            <a:pPr marL="341680" marR="0">
              <a:lnSpc>
                <a:spcPts val="2644"/>
              </a:lnSpc>
              <a:spcBef>
                <a:spcPts val="2157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color</a:t>
            </a:r>
            <a:r>
              <a:rPr sz="2000" spc="264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表示曲线的颜色，linewidth</a:t>
            </a:r>
            <a:r>
              <a:rPr sz="2000" spc="26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表示曲线的宽度。在字符串</a:t>
            </a:r>
          </a:p>
          <a:p>
            <a:pPr marL="341680" marR="0">
              <a:lnSpc>
                <a:spcPts val="2644"/>
              </a:lnSpc>
              <a:spcBef>
                <a:spcPts val="2155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前后添加"$"符号，matplotlib</a:t>
            </a:r>
            <a:r>
              <a:rPr sz="2000" spc="417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会使用其内置的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latex</a:t>
            </a:r>
            <a:r>
              <a:rPr sz="2000" spc="417" dirty="0">
                <a:solidFill>
                  <a:srgbClr val="FF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FF0000"/>
                </a:solidFill>
                <a:latin typeface="Microsoft YaHei"/>
                <a:cs typeface="Microsoft YaHei"/>
              </a:rPr>
              <a:t>引擎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绘制</a:t>
            </a:r>
          </a:p>
          <a:p>
            <a:pPr marL="341680" marR="0">
              <a:lnSpc>
                <a:spcPts val="2648"/>
              </a:lnSpc>
              <a:spcBef>
                <a:spcPts val="2152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的数学公式。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7477303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微实例</a:t>
            </a:r>
            <a:r>
              <a:rPr sz="4000" b="1" dirty="0">
                <a:solidFill>
                  <a:srgbClr val="262626"/>
                </a:solidFill>
                <a:latin typeface="Microsoft YaHei"/>
                <a:cs typeface="Microsoft YaHei"/>
              </a:rPr>
              <a:t>10.1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绘制基本的三角函数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7477303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微实例</a:t>
            </a:r>
            <a:r>
              <a:rPr sz="4000" b="1" dirty="0">
                <a:solidFill>
                  <a:srgbClr val="262626"/>
                </a:solidFill>
                <a:latin typeface="Microsoft YaHei"/>
                <a:cs typeface="Microsoft YaHei"/>
              </a:rPr>
              <a:t>10.1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绘制基本的三角函数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3488740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库的坐标轴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33755"/>
            <a:ext cx="7530058" cy="40328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4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000" spc="1597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plt</a:t>
            </a:r>
            <a:r>
              <a:rPr sz="2000" spc="432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spc="37" dirty="0">
                <a:solidFill>
                  <a:srgbClr val="000000"/>
                </a:solidFill>
                <a:latin typeface="Microsoft YaHei"/>
                <a:cs typeface="Microsoft YaHei"/>
              </a:rPr>
              <a:t>库有两个坐标体系；图像坐标和数据坐标。图像坐标将图</a:t>
            </a:r>
          </a:p>
          <a:p>
            <a:pPr marL="341680" marR="0">
              <a:lnSpc>
                <a:spcPts val="2644"/>
              </a:lnSpc>
              <a:spcBef>
                <a:spcPts val="2207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像所在区域左下角视为原点，将x</a:t>
            </a:r>
            <a:r>
              <a:rPr sz="2000" spc="42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方向和y</a:t>
            </a:r>
            <a:r>
              <a:rPr sz="2000" spc="413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方向长度设定为1。</a:t>
            </a:r>
          </a:p>
          <a:p>
            <a:pPr marL="341680" marR="0">
              <a:lnSpc>
                <a:spcPts val="2644"/>
              </a:lnSpc>
              <a:spcBef>
                <a:spcPts val="2155"/>
              </a:spcBef>
              <a:spcAft>
                <a:spcPts val="0"/>
              </a:spcAft>
            </a:pPr>
            <a:r>
              <a:rPr sz="2000" spc="62" dirty="0">
                <a:solidFill>
                  <a:srgbClr val="000000"/>
                </a:solidFill>
                <a:latin typeface="Microsoft YaHei"/>
                <a:cs typeface="Microsoft YaHei"/>
              </a:rPr>
              <a:t>整体绘图区域有一个图像坐标，每个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axes()</a:t>
            </a:r>
            <a:r>
              <a:rPr sz="2000" spc="63" dirty="0">
                <a:solidFill>
                  <a:srgbClr val="000000"/>
                </a:solidFill>
                <a:latin typeface="Microsoft YaHei"/>
                <a:cs typeface="Microsoft YaHei"/>
              </a:rPr>
              <a:t>和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subplot()</a:t>
            </a:r>
            <a:r>
              <a:rPr sz="2000" spc="56" dirty="0">
                <a:solidFill>
                  <a:srgbClr val="000000"/>
                </a:solidFill>
                <a:latin typeface="Microsoft YaHei"/>
                <a:cs typeface="Microsoft YaHei"/>
              </a:rPr>
              <a:t>函数产</a:t>
            </a:r>
          </a:p>
          <a:p>
            <a:pPr marL="341680" marR="0">
              <a:lnSpc>
                <a:spcPts val="2644"/>
              </a:lnSpc>
              <a:spcBef>
                <a:spcPts val="2157"/>
              </a:spcBef>
              <a:spcAft>
                <a:spcPts val="0"/>
              </a:spcAft>
            </a:pPr>
            <a:r>
              <a:rPr sz="2000" spc="56" dirty="0">
                <a:solidFill>
                  <a:srgbClr val="000000"/>
                </a:solidFill>
                <a:latin typeface="Microsoft YaHei"/>
                <a:cs typeface="Microsoft YaHei"/>
              </a:rPr>
              <a:t>生的子图也有属于自己的图像坐标。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axes()</a:t>
            </a:r>
            <a:r>
              <a:rPr sz="2000" spc="55" dirty="0">
                <a:solidFill>
                  <a:srgbClr val="000000"/>
                </a:solidFill>
                <a:latin typeface="Microsoft YaHei"/>
                <a:cs typeface="Microsoft YaHei"/>
              </a:rPr>
              <a:t>函数参数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rect</a:t>
            </a:r>
            <a:r>
              <a:rPr sz="2000" spc="476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000" spc="51" dirty="0">
                <a:solidFill>
                  <a:srgbClr val="000000"/>
                </a:solidFill>
                <a:latin typeface="Microsoft YaHei"/>
                <a:cs typeface="Microsoft YaHei"/>
              </a:rPr>
              <a:t>指当</a:t>
            </a:r>
          </a:p>
          <a:p>
            <a:pPr marL="341680" marR="0">
              <a:lnSpc>
                <a:spcPts val="2644"/>
              </a:lnSpc>
              <a:spcBef>
                <a:spcPts val="2155"/>
              </a:spcBef>
              <a:spcAft>
                <a:spcPts val="0"/>
              </a:spcAft>
            </a:pPr>
            <a:r>
              <a:rPr sz="2000" spc="54" dirty="0">
                <a:solidFill>
                  <a:srgbClr val="000000"/>
                </a:solidFill>
                <a:latin typeface="Microsoft YaHei"/>
                <a:cs typeface="Microsoft YaHei"/>
              </a:rPr>
              <a:t>前产生的子区域相对于整个绘图区域的图像坐标。数据坐标以</a:t>
            </a:r>
          </a:p>
          <a:p>
            <a:pPr marL="341680" marR="0">
              <a:lnSpc>
                <a:spcPts val="2648"/>
              </a:lnSpc>
              <a:spcBef>
                <a:spcPts val="2152"/>
              </a:spcBef>
              <a:spcAft>
                <a:spcPts val="0"/>
              </a:spcAft>
            </a:pPr>
            <a:r>
              <a:rPr sz="2000" spc="54" dirty="0">
                <a:solidFill>
                  <a:srgbClr val="000000"/>
                </a:solidFill>
                <a:latin typeface="Microsoft YaHei"/>
                <a:cs typeface="Microsoft YaHei"/>
              </a:rPr>
              <a:t>当前绘图区域的坐标轴为参考，显示每个数据点的相对位置，</a:t>
            </a:r>
          </a:p>
          <a:p>
            <a:pPr marL="341680" marR="0">
              <a:lnSpc>
                <a:spcPts val="2644"/>
              </a:lnSpc>
              <a:spcBef>
                <a:spcPts val="2157"/>
              </a:spcBef>
              <a:spcAft>
                <a:spcPts val="0"/>
              </a:spcAft>
            </a:pPr>
            <a:r>
              <a:rPr sz="2000" dirty="0" err="1">
                <a:solidFill>
                  <a:srgbClr val="000000"/>
                </a:solidFill>
                <a:latin typeface="Microsoft YaHei"/>
                <a:cs typeface="Microsoft YaHei"/>
              </a:rPr>
              <a:t>这与坐标系里面标记数据点一</a:t>
            </a:r>
            <a:r>
              <a:rPr lang="zh-CN" altLang="en-US" sz="2000" dirty="0">
                <a:solidFill>
                  <a:srgbClr val="000000"/>
                </a:solidFill>
                <a:latin typeface="Microsoft YaHei"/>
                <a:cs typeface="Microsoft YaHei"/>
              </a:rPr>
              <a:t>致</a:t>
            </a:r>
            <a:r>
              <a:rPr sz="2000" dirty="0">
                <a:solidFill>
                  <a:srgbClr val="000000"/>
                </a:solidFill>
                <a:latin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51870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库的坐标轴设置函数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51870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库的坐标轴设置函数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BB25AE-C6B6-456C-AB9D-BF67DD192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4153407"/>
            <a:ext cx="3226120" cy="270459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01121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库的标签设置函数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01121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库的标签设置函数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46231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微实例</a:t>
            </a:r>
            <a:r>
              <a:rPr sz="4000" b="1" dirty="0">
                <a:solidFill>
                  <a:srgbClr val="262626"/>
                </a:solidFill>
                <a:latin typeface="Microsoft YaHei"/>
                <a:cs typeface="Microsoft YaHei"/>
              </a:rPr>
              <a:t>10.2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带标签的坐标系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6462318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微实例</a:t>
            </a:r>
            <a:r>
              <a:rPr sz="4000" b="1" dirty="0">
                <a:solidFill>
                  <a:srgbClr val="262626"/>
                </a:solidFill>
                <a:latin typeface="Microsoft YaHei"/>
                <a:cs typeface="Microsoft YaHei"/>
              </a:rPr>
              <a:t>10.2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带标签的坐标系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011216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plt</a:t>
            </a:r>
            <a:r>
              <a:rPr sz="4000" spc="-10" dirty="0">
                <a:solidFill>
                  <a:srgbClr val="262626"/>
                </a:solidFill>
                <a:latin typeface="Microsoft YaHei"/>
                <a:cs typeface="Microsoft YaHei"/>
              </a:rPr>
              <a:t>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库的区域填充函数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3615" y="1872684"/>
            <a:ext cx="7527975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66FF"/>
                </a:solidFill>
                <a:latin typeface="Wingdings"/>
                <a:cs typeface="Wingdings"/>
              </a:rPr>
              <a:t></a:t>
            </a:r>
            <a:r>
              <a:rPr sz="2400" spc="1198" dirty="0">
                <a:solidFill>
                  <a:srgbClr val="0066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plt</a:t>
            </a:r>
            <a:r>
              <a:rPr sz="2400" spc="29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库提供了3</a:t>
            </a:r>
            <a:r>
              <a:rPr sz="2400" spc="281" dirty="0">
                <a:solidFill>
                  <a:srgbClr val="000000"/>
                </a:solidFill>
                <a:latin typeface="Microsoft YaHei"/>
                <a:cs typeface="Microsoft YaHei"/>
              </a:rPr>
              <a:t> </a:t>
            </a: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个区域填充函数，对绘图区域填充颜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25296" y="2604204"/>
            <a:ext cx="457200" cy="4403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67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Microsoft YaHei"/>
                <a:cs typeface="Microsoft YaHei"/>
              </a:rPr>
              <a:t>色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7477303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微实例</a:t>
            </a:r>
            <a:r>
              <a:rPr sz="4000" b="1" dirty="0">
                <a:solidFill>
                  <a:srgbClr val="262626"/>
                </a:solidFill>
                <a:latin typeface="Microsoft YaHei"/>
                <a:cs typeface="Microsoft YaHei"/>
              </a:rPr>
              <a:t>10.3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带局部阴影的坐标系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7477303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微实例</a:t>
            </a:r>
            <a:r>
              <a:rPr sz="4000" b="1" dirty="0">
                <a:solidFill>
                  <a:srgbClr val="262626"/>
                </a:solidFill>
                <a:latin typeface="Microsoft YaHei"/>
                <a:cs typeface="Microsoft YaHei"/>
              </a:rPr>
              <a:t>10.3 </a:t>
            </a: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带局部阴影的坐标系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83615" y="527025"/>
            <a:ext cx="5737860" cy="707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274"/>
              </a:lnSpc>
              <a:spcBef>
                <a:spcPts val="0"/>
              </a:spcBef>
              <a:spcAft>
                <a:spcPts val="0"/>
              </a:spcAft>
            </a:pPr>
            <a:r>
              <a:rPr sz="4000" dirty="0">
                <a:solidFill>
                  <a:srgbClr val="262626"/>
                </a:solidFill>
                <a:latin typeface="Microsoft YaHei"/>
                <a:cs typeface="Microsoft YaHei"/>
              </a:rPr>
              <a:t>阻尼衰减曲线坐标图绘制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</TotalTime>
  <Words>1100</Words>
  <Application>Microsoft Office PowerPoint</Application>
  <PresentationFormat>全屏显示(4:3)</PresentationFormat>
  <Paragraphs>224</Paragraphs>
  <Slides>62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69" baseType="lpstr">
      <vt:lpstr>SimHei</vt:lpstr>
      <vt:lpstr>Wingdings</vt:lpstr>
      <vt:lpstr>Palatino Linotype</vt:lpstr>
      <vt:lpstr>Times New Roman</vt:lpstr>
      <vt:lpstr>Microsoft YaHei</vt:lpstr>
      <vt:lpstr>Calibri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hongwei</dc:creator>
  <cp:lastModifiedBy>Administrator</cp:lastModifiedBy>
  <cp:revision>13</cp:revision>
  <dcterms:modified xsi:type="dcterms:W3CDTF">2024-11-10T13:29:31Z</dcterms:modified>
</cp:coreProperties>
</file>