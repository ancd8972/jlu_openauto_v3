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314" r:id="rId19"/>
    <p:sldId id="317" r:id="rId20"/>
    <p:sldId id="316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</p:sldIdLst>
  <p:sldSz cx="9144000" cy="6858000" type="screen4x3"/>
  <p:notesSz cx="9144000" cy="6858000"/>
  <p:embeddedFontLst>
    <p:embeddedFont>
      <p:font typeface="SimHei" panose="02010609060101010101" pitchFamily="49" charset="-122"/>
      <p:regular r:id="rId61"/>
    </p:embeddedFont>
    <p:embeddedFont>
      <p:font typeface="Palatino Linotype" panose="02040502050505030304" pitchFamily="18" charset="0"/>
      <p:regular r:id="rId62"/>
      <p:bold r:id="rId63"/>
      <p:italic r:id="rId64"/>
      <p:boldItalic r:id="rId65"/>
    </p:embeddedFont>
    <p:embeddedFont>
      <p:font typeface="楷体" panose="02010609060101010101" pitchFamily="49" charset="-122"/>
      <p:regular r:id="rId66"/>
    </p:embeddedFont>
    <p:embeddedFont>
      <p:font typeface="楷体" panose="02010609060101010101" pitchFamily="49" charset="-122"/>
      <p:regular r:id="rId66"/>
    </p:embeddedFont>
    <p:embeddedFont>
      <p:font typeface="微软雅黑" panose="020B0503020204020204" pitchFamily="34" charset="-122"/>
      <p:regular r:id="rId67"/>
      <p:bold r:id="rId68"/>
    </p:embeddedFont>
    <p:embeddedFont>
      <p:font typeface="微软雅黑" panose="020B0503020204020204" pitchFamily="34" charset="-122"/>
      <p:regular r:id="rId67"/>
      <p:bold r:id="rId68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1210" y="77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font" Target="fonts/font3.fntdata"/><Relationship Id="rId68" Type="http://schemas.openxmlformats.org/officeDocument/2006/relationships/font" Target="fonts/font8.fntdata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4.fntdata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2.fntdata"/><Relationship Id="rId7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pypi.python.org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18718" y="1859885"/>
            <a:ext cx="7863531" cy="11693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907"/>
              </a:lnSpc>
              <a:spcBef>
                <a:spcPts val="0"/>
              </a:spcBef>
              <a:spcAft>
                <a:spcPts val="0"/>
              </a:spcAft>
            </a:pPr>
            <a:r>
              <a:rPr sz="6600" dirty="0">
                <a:solidFill>
                  <a:srgbClr val="000000"/>
                </a:solidFill>
                <a:latin typeface="Palatino Linotype"/>
                <a:cs typeface="Palatino Linotype"/>
              </a:rPr>
              <a:t>Python</a:t>
            </a:r>
            <a:r>
              <a:rPr sz="6600" dirty="0">
                <a:solidFill>
                  <a:srgbClr val="000000"/>
                </a:solidFill>
                <a:latin typeface="SimHei"/>
                <a:cs typeface="SimHei"/>
              </a:rPr>
              <a:t>语言程序设计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25242" y="3816201"/>
            <a:ext cx="3645661" cy="5751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228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000000"/>
                </a:solidFill>
                <a:latin typeface="Microsoft YaHei"/>
                <a:cs typeface="Microsoft YaHei"/>
              </a:rPr>
              <a:t>北京理工大学</a:t>
            </a:r>
            <a:r>
              <a:rPr sz="3200" spc="927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3200" dirty="0">
                <a:solidFill>
                  <a:srgbClr val="000000"/>
                </a:solidFill>
                <a:latin typeface="Microsoft YaHei"/>
                <a:cs typeface="Microsoft YaHei"/>
              </a:rPr>
              <a:t>嵩天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94764" y="2023991"/>
            <a:ext cx="6705980" cy="8605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6475"/>
              </a:lnSpc>
              <a:spcBef>
                <a:spcPts val="0"/>
              </a:spcBef>
              <a:spcAft>
                <a:spcPts val="0"/>
              </a:spcAft>
            </a:pPr>
            <a:r>
              <a:rPr sz="4800" dirty="0">
                <a:solidFill>
                  <a:srgbClr val="000000"/>
                </a:solidFill>
                <a:latin typeface="SimHei"/>
                <a:cs typeface="SimHei"/>
              </a:rPr>
              <a:t>第</a:t>
            </a:r>
            <a:r>
              <a:rPr sz="4800" dirty="0">
                <a:solidFill>
                  <a:srgbClr val="000000"/>
                </a:solidFill>
                <a:latin typeface="Palatino Linotype"/>
                <a:cs typeface="Palatino Linotype"/>
              </a:rPr>
              <a:t>1</a:t>
            </a:r>
            <a:r>
              <a:rPr sz="4800" dirty="0">
                <a:solidFill>
                  <a:srgbClr val="000000"/>
                </a:solidFill>
                <a:latin typeface="SimHei"/>
                <a:cs typeface="SimHei"/>
              </a:rPr>
              <a:t>章</a:t>
            </a:r>
            <a:r>
              <a:rPr sz="48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800" dirty="0">
                <a:solidFill>
                  <a:srgbClr val="000000"/>
                </a:solidFill>
                <a:latin typeface="SimHei"/>
                <a:cs typeface="SimHei"/>
              </a:rPr>
              <a:t>程序设计基本方法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495423" y="2829774"/>
            <a:ext cx="4269028" cy="9436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30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计算机的概念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87094" y="762923"/>
            <a:ext cx="3199181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计算机的概念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74191" y="1980260"/>
            <a:ext cx="7961121" cy="23279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03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计算机是根据指令操作数据的设备</a:t>
            </a:r>
          </a:p>
          <a:p>
            <a:pPr marL="0" marR="0">
              <a:lnSpc>
                <a:spcPts val="3103"/>
              </a:lnSpc>
              <a:spcBef>
                <a:spcPts val="1938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具备功能性和可编程性两个基本特性</a:t>
            </a:r>
          </a:p>
          <a:p>
            <a:pPr marL="443483" marR="0">
              <a:lnSpc>
                <a:spcPts val="2795"/>
              </a:lnSpc>
              <a:spcBef>
                <a:spcPts val="2097"/>
              </a:spcBef>
              <a:spcAft>
                <a:spcPts val="0"/>
              </a:spcAft>
            </a:pPr>
            <a:r>
              <a:rPr sz="2800" spc="104" dirty="0">
                <a:solidFill>
                  <a:srgbClr val="000000"/>
                </a:solidFill>
                <a:latin typeface="KaiTi"/>
                <a:cs typeface="KaiTi"/>
              </a:rPr>
              <a:t>功能性指对数据的操作，表现为数据计算、输</a:t>
            </a:r>
          </a:p>
          <a:p>
            <a:pPr marL="457200" marR="0">
              <a:lnSpc>
                <a:spcPts val="2795"/>
              </a:lnSpc>
              <a:spcBef>
                <a:spcPts val="2245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入输出处理和结果存储等。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31391" y="4555132"/>
            <a:ext cx="7505444" cy="1033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4675" marR="0">
              <a:lnSpc>
                <a:spcPts val="2795"/>
              </a:lnSpc>
              <a:spcBef>
                <a:spcPts val="0"/>
              </a:spcBef>
              <a:spcAft>
                <a:spcPts val="0"/>
              </a:spcAft>
            </a:pPr>
            <a:r>
              <a:rPr sz="2800" spc="68" dirty="0">
                <a:solidFill>
                  <a:srgbClr val="000000"/>
                </a:solidFill>
                <a:latin typeface="KaiTi"/>
                <a:cs typeface="KaiTi"/>
              </a:rPr>
              <a:t>可编程性指它可以根据一系列指令自动地、可</a:t>
            </a:r>
          </a:p>
          <a:p>
            <a:pPr marL="0" marR="0">
              <a:lnSpc>
                <a:spcPts val="2798"/>
              </a:lnSpc>
              <a:spcBef>
                <a:spcPts val="2241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预测地、准确地完成操作者的意图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87094" y="762923"/>
            <a:ext cx="3199181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计算机的概念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06804" y="1471225"/>
            <a:ext cx="8285675" cy="14825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spc="99" dirty="0" err="1">
                <a:solidFill>
                  <a:srgbClr val="000000"/>
                </a:solidFill>
                <a:latin typeface="KaiTi"/>
                <a:cs typeface="KaiTi"/>
              </a:rPr>
              <a:t>计算机硬件所依赖的集成电路规模按照摩尔定</a:t>
            </a:r>
            <a:endParaRPr lang="en-US" sz="2800" spc="99" dirty="0">
              <a:solidFill>
                <a:srgbClr val="000000"/>
              </a:solidFill>
              <a:latin typeface="KaiTi"/>
              <a:cs typeface="KaiTi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spc="99" dirty="0">
                <a:solidFill>
                  <a:srgbClr val="000000"/>
                </a:solidFill>
                <a:latin typeface="KaiTi"/>
                <a:cs typeface="KaiTi"/>
              </a:rPr>
              <a:t>   </a:t>
            </a:r>
            <a:r>
              <a:rPr lang="zh-CN" altLang="en-US" sz="2800" spc="99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KaiTi"/>
              </a:rPr>
              <a:t>律</a:t>
            </a:r>
            <a:r>
              <a:rPr sz="2800" dirty="0" err="1">
                <a:solidFill>
                  <a:srgbClr val="000000"/>
                </a:solidFill>
                <a:latin typeface="KaiTi"/>
                <a:cs typeface="KaiTi"/>
              </a:rPr>
              <a:t>以指数方式增长</a:t>
            </a:r>
            <a:r>
              <a:rPr lang="zh-CN" altLang="en-US" sz="2800" dirty="0">
                <a:solidFill>
                  <a:srgbClr val="000000"/>
                </a:solidFill>
                <a:latin typeface="KaiTi"/>
                <a:cs typeface="KaiTi"/>
              </a:rPr>
              <a:t>。</a:t>
            </a:r>
            <a:r>
              <a:rPr lang="zh-CN" altLang="en-US" sz="28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摩尔定律指出，单位面积 </a:t>
            </a:r>
            <a:endParaRPr lang="en-US" altLang="zh-CN" sz="28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sz="28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集成电路上可容纳晶体管的数量约每两年翻一倍。</a:t>
            </a:r>
            <a:endParaRPr sz="28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9716" y="3327476"/>
            <a:ext cx="7962029" cy="2327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03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计算机运行速度也接近几何级数快速增加</a:t>
            </a:r>
          </a:p>
          <a:p>
            <a:pPr marL="0" marR="0">
              <a:lnSpc>
                <a:spcPts val="3105"/>
              </a:lnSpc>
              <a:spcBef>
                <a:spcPts val="1934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计算机所能高效支撑的功能不断丰富发展</a:t>
            </a:r>
          </a:p>
          <a:p>
            <a:pPr marL="0" marR="0">
              <a:lnSpc>
                <a:spcPts val="3103"/>
              </a:lnSpc>
              <a:spcBef>
                <a:spcPts val="1988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spc="100" dirty="0">
                <a:solidFill>
                  <a:srgbClr val="000000"/>
                </a:solidFill>
                <a:latin typeface="KaiTi"/>
                <a:cs typeface="KaiTi"/>
              </a:rPr>
              <a:t>程序设计语言经历了从机器语言到高级语言的</a:t>
            </a:r>
          </a:p>
          <a:p>
            <a:pPr marL="457200" marR="0">
              <a:lnSpc>
                <a:spcPts val="2795"/>
              </a:lnSpc>
              <a:spcBef>
                <a:spcPts val="2047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发展过程，朝着更接近自然语言的方向发展。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495423" y="2829774"/>
            <a:ext cx="4269028" cy="9436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30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程序设计语言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87094" y="762923"/>
            <a:ext cx="4214774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程序设计语言概述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29716" y="2046935"/>
            <a:ext cx="8071859" cy="4322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03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程序设计语言包括编译执行和解释执行两种方式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29716" y="3341520"/>
            <a:ext cx="8107967" cy="2954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95"/>
              </a:lnSpc>
              <a:spcBef>
                <a:spcPts val="0"/>
              </a:spcBef>
              <a:spcAft>
                <a:spcPts val="0"/>
              </a:spcAft>
            </a:pPr>
            <a:r>
              <a:rPr sz="2800" spc="46" dirty="0">
                <a:solidFill>
                  <a:srgbClr val="000000"/>
                </a:solidFill>
                <a:latin typeface="KaiTi"/>
                <a:cs typeface="KaiTi"/>
              </a:rPr>
              <a:t>程序设计语言是计算机能够理解和识别用户操作意</a:t>
            </a:r>
          </a:p>
          <a:p>
            <a:pPr marL="0" marR="0">
              <a:lnSpc>
                <a:spcPts val="2798"/>
              </a:lnSpc>
              <a:spcBef>
                <a:spcPts val="2241"/>
              </a:spcBef>
              <a:spcAft>
                <a:spcPts val="0"/>
              </a:spcAft>
            </a:pPr>
            <a:r>
              <a:rPr sz="2800" spc="47" dirty="0">
                <a:solidFill>
                  <a:srgbClr val="000000"/>
                </a:solidFill>
                <a:latin typeface="KaiTi"/>
                <a:cs typeface="KaiTi"/>
              </a:rPr>
              <a:t>图的一种交互体系，它按照</a:t>
            </a:r>
            <a:r>
              <a:rPr sz="2800" spc="47" dirty="0">
                <a:solidFill>
                  <a:srgbClr val="FF0000"/>
                </a:solidFill>
                <a:latin typeface="KaiTi"/>
                <a:cs typeface="KaiTi"/>
              </a:rPr>
              <a:t>特定规则</a:t>
            </a:r>
            <a:r>
              <a:rPr sz="2800" spc="47" dirty="0">
                <a:solidFill>
                  <a:srgbClr val="000000"/>
                </a:solidFill>
                <a:latin typeface="KaiTi"/>
                <a:cs typeface="KaiTi"/>
              </a:rPr>
              <a:t>组织计算机指</a:t>
            </a:r>
          </a:p>
          <a:p>
            <a:pPr marL="0" marR="0">
              <a:lnSpc>
                <a:spcPts val="2795"/>
              </a:lnSpc>
              <a:spcBef>
                <a:spcPts val="2295"/>
              </a:spcBef>
              <a:spcAft>
                <a:spcPts val="0"/>
              </a:spcAft>
            </a:pPr>
            <a:r>
              <a:rPr sz="2800" spc="50" dirty="0">
                <a:solidFill>
                  <a:srgbClr val="000000"/>
                </a:solidFill>
                <a:latin typeface="KaiTi"/>
                <a:cs typeface="KaiTi"/>
              </a:rPr>
              <a:t>令，使计算机能够自动进行各种运算处理。按照程</a:t>
            </a:r>
          </a:p>
          <a:p>
            <a:pPr marL="0" marR="0">
              <a:lnSpc>
                <a:spcPts val="2795"/>
              </a:lnSpc>
              <a:spcBef>
                <a:spcPts val="2243"/>
              </a:spcBef>
              <a:spcAft>
                <a:spcPts val="0"/>
              </a:spcAft>
            </a:pPr>
            <a:r>
              <a:rPr sz="2800" spc="46" dirty="0">
                <a:solidFill>
                  <a:srgbClr val="000000"/>
                </a:solidFill>
                <a:latin typeface="KaiTi"/>
                <a:cs typeface="KaiTi"/>
              </a:rPr>
              <a:t>序设计语言规则组织起来的一组计算机指令称为计</a:t>
            </a:r>
          </a:p>
          <a:p>
            <a:pPr marL="0" marR="0">
              <a:lnSpc>
                <a:spcPts val="2795"/>
              </a:lnSpc>
              <a:spcBef>
                <a:spcPts val="2296"/>
              </a:spcBef>
              <a:spcAft>
                <a:spcPts val="0"/>
              </a:spcAft>
            </a:pPr>
            <a:r>
              <a:rPr sz="2800" dirty="0" err="1">
                <a:solidFill>
                  <a:srgbClr val="000000"/>
                </a:solidFill>
                <a:latin typeface="KaiTi"/>
                <a:cs typeface="KaiTi"/>
              </a:rPr>
              <a:t>算机程序</a:t>
            </a: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。</a:t>
            </a:r>
            <a:r>
              <a:rPr lang="zh-CN" altLang="en-US" sz="2800" dirty="0">
                <a:solidFill>
                  <a:srgbClr val="000000"/>
                </a:solidFill>
                <a:latin typeface="KaiTi"/>
                <a:cs typeface="KaiTi"/>
              </a:rPr>
              <a:t>（</a:t>
            </a:r>
            <a:r>
              <a:rPr lang="en-US" altLang="zh-CN" sz="2800" dirty="0" err="1">
                <a:solidFill>
                  <a:srgbClr val="000000"/>
                </a:solidFill>
                <a:latin typeface="KaiTi"/>
                <a:cs typeface="KaiTi"/>
              </a:rPr>
              <a:t>SyntaxError</a:t>
            </a:r>
            <a:r>
              <a:rPr lang="en-US" altLang="zh-CN" sz="2800" dirty="0">
                <a:solidFill>
                  <a:srgbClr val="000000"/>
                </a:solidFill>
                <a:latin typeface="KaiTi"/>
                <a:cs typeface="KaiTi"/>
              </a:rPr>
              <a:t>: invalid syntax)</a:t>
            </a:r>
            <a:endParaRPr sz="2800" dirty="0">
              <a:solidFill>
                <a:srgbClr val="000000"/>
              </a:solidFill>
              <a:latin typeface="KaiTi"/>
              <a:cs typeface="KaiT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87094" y="762923"/>
            <a:ext cx="4214774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程序设计语言概述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240" y="2053412"/>
            <a:ext cx="2031388" cy="4322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03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机器语言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31240" y="2707274"/>
            <a:ext cx="8106026" cy="16738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98"/>
              </a:lnSpc>
              <a:spcBef>
                <a:spcPts val="0"/>
              </a:spcBef>
              <a:spcAft>
                <a:spcPts val="0"/>
              </a:spcAft>
            </a:pPr>
            <a:r>
              <a:rPr sz="2800" spc="49" dirty="0">
                <a:solidFill>
                  <a:srgbClr val="000000"/>
                </a:solidFill>
                <a:latin typeface="KaiTi"/>
                <a:cs typeface="KaiTi"/>
              </a:rPr>
              <a:t>机器语言是一种二进制语言，它直接使用二进制代</a:t>
            </a:r>
          </a:p>
          <a:p>
            <a:pPr marL="457200" marR="0">
              <a:lnSpc>
                <a:spcPts val="2795"/>
              </a:lnSpc>
              <a:spcBef>
                <a:spcPts val="2245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码表达指令，是计算机硬件可以直接识别和执行</a:t>
            </a:r>
          </a:p>
          <a:p>
            <a:pPr marL="457200" marR="0">
              <a:lnSpc>
                <a:spcPts val="2795"/>
              </a:lnSpc>
              <a:spcBef>
                <a:spcPts val="2293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的程序设计语言。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31240" y="4560665"/>
            <a:ext cx="8104012" cy="1741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72"/>
              </a:lnSpc>
              <a:spcBef>
                <a:spcPts val="0"/>
              </a:spcBef>
              <a:spcAft>
                <a:spcPts val="0"/>
              </a:spcAft>
            </a:pPr>
            <a:r>
              <a:rPr sz="2800" spc="47" dirty="0">
                <a:solidFill>
                  <a:srgbClr val="000000"/>
                </a:solidFill>
                <a:latin typeface="KaiTi"/>
                <a:cs typeface="KaiTi"/>
              </a:rPr>
              <a:t>例如：执行数字</a:t>
            </a:r>
            <a:r>
              <a:rPr sz="2800" spc="40" dirty="0">
                <a:solidFill>
                  <a:srgbClr val="000000"/>
                </a:solidFill>
                <a:latin typeface="Palatino Linotype"/>
                <a:cs typeface="Palatino Linotype"/>
              </a:rPr>
              <a:t>2</a:t>
            </a:r>
            <a:r>
              <a:rPr sz="2800" spc="56" dirty="0">
                <a:solidFill>
                  <a:srgbClr val="000000"/>
                </a:solidFill>
                <a:latin typeface="KaiTi"/>
                <a:cs typeface="KaiTi"/>
              </a:rPr>
              <a:t>和</a:t>
            </a:r>
            <a:r>
              <a:rPr sz="2800" spc="40" dirty="0">
                <a:solidFill>
                  <a:srgbClr val="000000"/>
                </a:solidFill>
                <a:latin typeface="Palatino Linotype"/>
                <a:cs typeface="Palatino Linotype"/>
              </a:rPr>
              <a:t>3</a:t>
            </a:r>
            <a:r>
              <a:rPr sz="2800" spc="47" dirty="0">
                <a:solidFill>
                  <a:srgbClr val="000000"/>
                </a:solidFill>
                <a:latin typeface="KaiTi"/>
                <a:cs typeface="KaiTi"/>
              </a:rPr>
              <a:t>的加法，</a:t>
            </a:r>
            <a:r>
              <a:rPr sz="2800" spc="21" dirty="0">
                <a:solidFill>
                  <a:srgbClr val="000000"/>
                </a:solidFill>
                <a:latin typeface="Palatino Linotype"/>
                <a:cs typeface="Palatino Linotype"/>
              </a:rPr>
              <a:t>16</a:t>
            </a:r>
            <a:r>
              <a:rPr sz="2800" spc="43" dirty="0">
                <a:solidFill>
                  <a:srgbClr val="000000"/>
                </a:solidFill>
                <a:latin typeface="KaiTi"/>
                <a:cs typeface="KaiTi"/>
              </a:rPr>
              <a:t>位计算机上的机器</a:t>
            </a:r>
          </a:p>
          <a:p>
            <a:pPr marL="457200" marR="0">
              <a:lnSpc>
                <a:spcPts val="3772"/>
              </a:lnSpc>
              <a:spcBef>
                <a:spcPts val="1217"/>
              </a:spcBef>
              <a:spcAft>
                <a:spcPts val="0"/>
              </a:spcAft>
            </a:pPr>
            <a:r>
              <a:rPr sz="2800" spc="125" dirty="0">
                <a:solidFill>
                  <a:srgbClr val="000000"/>
                </a:solidFill>
                <a:latin typeface="KaiTi"/>
                <a:cs typeface="KaiTi"/>
              </a:rPr>
              <a:t>指令为：</a:t>
            </a:r>
            <a:r>
              <a:rPr sz="2800" dirty="0">
                <a:solidFill>
                  <a:srgbClr val="000000"/>
                </a:solidFill>
                <a:latin typeface="Palatino Linotype"/>
                <a:cs typeface="Palatino Linotype"/>
              </a:rPr>
              <a:t>11010010</a:t>
            </a:r>
            <a:r>
              <a:rPr sz="2800" spc="81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spc="15" dirty="0">
                <a:solidFill>
                  <a:srgbClr val="000000"/>
                </a:solidFill>
                <a:latin typeface="Palatino Linotype"/>
                <a:cs typeface="Palatino Linotype"/>
              </a:rPr>
              <a:t>00111011</a:t>
            </a:r>
            <a:r>
              <a:rPr sz="2800" spc="122" dirty="0">
                <a:solidFill>
                  <a:srgbClr val="000000"/>
                </a:solidFill>
                <a:latin typeface="KaiTi"/>
                <a:cs typeface="KaiTi"/>
              </a:rPr>
              <a:t>，不同计算机结构</a:t>
            </a:r>
          </a:p>
          <a:p>
            <a:pPr marL="457200" marR="0">
              <a:lnSpc>
                <a:spcPts val="2798"/>
              </a:lnSpc>
              <a:spcBef>
                <a:spcPts val="1798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的机器指令不同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87094" y="762923"/>
            <a:ext cx="4214774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程序设计语言概述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1240" y="1907362"/>
            <a:ext cx="2031388" cy="4322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03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汇编语言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31240" y="2561486"/>
            <a:ext cx="8108899" cy="10335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95"/>
              </a:lnSpc>
              <a:spcBef>
                <a:spcPts val="0"/>
              </a:spcBef>
              <a:spcAft>
                <a:spcPts val="0"/>
              </a:spcAft>
            </a:pPr>
            <a:r>
              <a:rPr sz="2800" spc="50" dirty="0">
                <a:solidFill>
                  <a:srgbClr val="000000"/>
                </a:solidFill>
                <a:latin typeface="KaiTi"/>
                <a:cs typeface="KaiTi"/>
              </a:rPr>
              <a:t>使用助记符与机器语言中的指令进行一一对应，在</a:t>
            </a:r>
          </a:p>
          <a:p>
            <a:pPr marL="457200" marR="0">
              <a:lnSpc>
                <a:spcPts val="2795"/>
              </a:lnSpc>
              <a:spcBef>
                <a:spcPts val="2246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计算机发展早期帮助程序员提高编程效率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31240" y="3774280"/>
            <a:ext cx="8103179" cy="11573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72"/>
              </a:lnSpc>
              <a:spcBef>
                <a:spcPts val="0"/>
              </a:spcBef>
              <a:spcAft>
                <a:spcPts val="0"/>
              </a:spcAft>
            </a:pPr>
            <a:r>
              <a:rPr sz="2800" spc="184" dirty="0">
                <a:solidFill>
                  <a:srgbClr val="000000"/>
                </a:solidFill>
                <a:latin typeface="KaiTi"/>
                <a:cs typeface="KaiTi"/>
              </a:rPr>
              <a:t>例如：执行数字</a:t>
            </a:r>
            <a:r>
              <a:rPr sz="2800" spc="172" dirty="0">
                <a:solidFill>
                  <a:srgbClr val="000000"/>
                </a:solidFill>
                <a:latin typeface="Palatino Linotype"/>
                <a:cs typeface="Palatino Linotype"/>
              </a:rPr>
              <a:t>2</a:t>
            </a:r>
            <a:r>
              <a:rPr sz="2800" spc="187" dirty="0">
                <a:solidFill>
                  <a:srgbClr val="000000"/>
                </a:solidFill>
                <a:latin typeface="KaiTi"/>
                <a:cs typeface="KaiTi"/>
              </a:rPr>
              <a:t>和</a:t>
            </a:r>
            <a:r>
              <a:rPr sz="2800" spc="184" dirty="0">
                <a:solidFill>
                  <a:srgbClr val="000000"/>
                </a:solidFill>
                <a:latin typeface="Palatino Linotype"/>
                <a:cs typeface="Palatino Linotype"/>
              </a:rPr>
              <a:t>3</a:t>
            </a:r>
            <a:r>
              <a:rPr sz="2800" spc="179" dirty="0">
                <a:solidFill>
                  <a:srgbClr val="000000"/>
                </a:solidFill>
                <a:latin typeface="KaiTi"/>
                <a:cs typeface="KaiTi"/>
              </a:rPr>
              <a:t>的加法，汇编语言指令为：</a:t>
            </a:r>
          </a:p>
          <a:p>
            <a:pPr marL="457200" marR="0">
              <a:lnSpc>
                <a:spcPts val="3775"/>
              </a:lnSpc>
              <a:spcBef>
                <a:spcPts val="1215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Palatino Linotype"/>
                <a:cs typeface="Palatino Linotype"/>
              </a:rPr>
              <a:t>add</a:t>
            </a:r>
            <a:r>
              <a:rPr sz="28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Palatino Linotype"/>
                <a:cs typeface="Palatino Linotype"/>
              </a:rPr>
              <a:t>2,</a:t>
            </a:r>
            <a:r>
              <a:rPr sz="28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Palatino Linotype"/>
                <a:cs typeface="Palatino Linotype"/>
              </a:rPr>
              <a:t>3,</a:t>
            </a:r>
            <a:r>
              <a:rPr sz="2800" spc="-1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Palatino Linotype"/>
                <a:cs typeface="Palatino Linotype"/>
              </a:rPr>
              <a:t>result</a:t>
            </a: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，运算结果写入</a:t>
            </a:r>
            <a:r>
              <a:rPr sz="2800" dirty="0">
                <a:solidFill>
                  <a:srgbClr val="000000"/>
                </a:solidFill>
                <a:latin typeface="Palatino Linotype"/>
                <a:cs typeface="Palatino Linotype"/>
              </a:rPr>
              <a:t>result</a:t>
            </a: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。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31240" y="5108397"/>
            <a:ext cx="8102041" cy="1047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03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Wingdings"/>
                <a:cs typeface="Wingdings"/>
              </a:rPr>
              <a:t></a:t>
            </a:r>
            <a:r>
              <a:rPr sz="2800" spc="8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spc="10" dirty="0">
                <a:solidFill>
                  <a:srgbClr val="000000"/>
                </a:solidFill>
                <a:latin typeface="KaiTi"/>
                <a:cs typeface="KaiTi"/>
              </a:rPr>
              <a:t>机器语言和汇编语言都直接操作计算机硬件并基</a:t>
            </a:r>
          </a:p>
          <a:p>
            <a:pPr marL="457200" marR="0">
              <a:lnSpc>
                <a:spcPts val="2795"/>
              </a:lnSpc>
              <a:spcBef>
                <a:spcPts val="2047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于此设计，所以它们统称为低级语言。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87094" y="762923"/>
            <a:ext cx="4214774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程序设计语言概述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29716" y="2046935"/>
            <a:ext cx="2031033" cy="4322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03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高级语言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29716" y="2701440"/>
            <a:ext cx="8106741" cy="30101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95"/>
              </a:lnSpc>
              <a:spcBef>
                <a:spcPts val="0"/>
              </a:spcBef>
              <a:spcAft>
                <a:spcPts val="0"/>
              </a:spcAft>
            </a:pPr>
            <a:r>
              <a:rPr sz="2800" spc="49" dirty="0">
                <a:solidFill>
                  <a:srgbClr val="000000"/>
                </a:solidFill>
                <a:latin typeface="KaiTi"/>
                <a:cs typeface="KaiTi"/>
              </a:rPr>
              <a:t>高级语言区别于低级语言在于，高级语言是接近自</a:t>
            </a:r>
          </a:p>
          <a:p>
            <a:pPr marL="457200" marR="0">
              <a:lnSpc>
                <a:spcPts val="2795"/>
              </a:lnSpc>
              <a:spcBef>
                <a:spcPts val="2244"/>
              </a:spcBef>
              <a:spcAft>
                <a:spcPts val="0"/>
              </a:spcAft>
            </a:pPr>
            <a:r>
              <a:rPr sz="2800" spc="10" dirty="0">
                <a:solidFill>
                  <a:srgbClr val="000000"/>
                </a:solidFill>
                <a:latin typeface="KaiTi"/>
                <a:cs typeface="KaiTi"/>
              </a:rPr>
              <a:t>然语言的一种计算机程序设计语言，更容易地描</a:t>
            </a:r>
          </a:p>
          <a:p>
            <a:pPr marL="457200" marR="0">
              <a:lnSpc>
                <a:spcPts val="2798"/>
              </a:lnSpc>
              <a:spcBef>
                <a:spcPts val="2291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述计算问题并利用计算机解决计算问题。</a:t>
            </a:r>
          </a:p>
          <a:p>
            <a:pPr marL="0" marR="0">
              <a:lnSpc>
                <a:spcPts val="3772"/>
              </a:lnSpc>
              <a:spcBef>
                <a:spcPts val="1713"/>
              </a:spcBef>
              <a:spcAft>
                <a:spcPts val="0"/>
              </a:spcAft>
            </a:pPr>
            <a:r>
              <a:rPr sz="2800" spc="331" dirty="0">
                <a:solidFill>
                  <a:srgbClr val="000000"/>
                </a:solidFill>
                <a:latin typeface="KaiTi"/>
                <a:cs typeface="KaiTi"/>
              </a:rPr>
              <a:t>例如：执行数字</a:t>
            </a:r>
            <a:r>
              <a:rPr sz="2800" spc="329" dirty="0">
                <a:solidFill>
                  <a:srgbClr val="000000"/>
                </a:solidFill>
                <a:latin typeface="Palatino Linotype"/>
                <a:cs typeface="Palatino Linotype"/>
              </a:rPr>
              <a:t>2</a:t>
            </a:r>
            <a:r>
              <a:rPr sz="2800" spc="331" dirty="0">
                <a:solidFill>
                  <a:srgbClr val="000000"/>
                </a:solidFill>
                <a:latin typeface="KaiTi"/>
                <a:cs typeface="KaiTi"/>
              </a:rPr>
              <a:t>和</a:t>
            </a:r>
            <a:r>
              <a:rPr sz="2800" spc="327" dirty="0">
                <a:solidFill>
                  <a:srgbClr val="000000"/>
                </a:solidFill>
                <a:latin typeface="Palatino Linotype"/>
                <a:cs typeface="Palatino Linotype"/>
              </a:rPr>
              <a:t>3</a:t>
            </a:r>
            <a:r>
              <a:rPr sz="2800" spc="331" dirty="0">
                <a:solidFill>
                  <a:srgbClr val="000000"/>
                </a:solidFill>
                <a:latin typeface="KaiTi"/>
                <a:cs typeface="KaiTi"/>
              </a:rPr>
              <a:t>加法的高级语言代码为：</a:t>
            </a:r>
          </a:p>
          <a:p>
            <a:pPr marL="457200" marR="0">
              <a:lnSpc>
                <a:spcPts val="3772"/>
              </a:lnSpc>
              <a:spcBef>
                <a:spcPts val="1217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Palatino Linotype"/>
                <a:cs typeface="Palatino Linotype"/>
              </a:rPr>
              <a:t>result</a:t>
            </a:r>
            <a:r>
              <a:rPr sz="28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Palatino Linotype"/>
                <a:cs typeface="Palatino Linotype"/>
              </a:rPr>
              <a:t>=</a:t>
            </a:r>
            <a:r>
              <a:rPr sz="28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Palatino Linotype"/>
                <a:cs typeface="Palatino Linotype"/>
              </a:rPr>
              <a:t>2</a:t>
            </a:r>
            <a:r>
              <a:rPr sz="28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Palatino Linotype"/>
                <a:cs typeface="Palatino Linotype"/>
              </a:rPr>
              <a:t>+</a:t>
            </a:r>
            <a:r>
              <a:rPr sz="28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Palatino Linotype"/>
                <a:cs typeface="Palatino Linotype"/>
              </a:rPr>
              <a:t>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87094" y="762923"/>
            <a:ext cx="2691384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编译和解释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29716" y="2060979"/>
            <a:ext cx="7614659" cy="3931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95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高级语言按照计算机执行方式的不同可分成两类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3632" y="2909626"/>
            <a:ext cx="4158308" cy="10387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03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Wingdings"/>
                <a:cs typeface="Wingdings"/>
              </a:rPr>
              <a:t></a:t>
            </a:r>
            <a:r>
              <a:rPr sz="2800" dirty="0" err="1">
                <a:solidFill>
                  <a:srgbClr val="000000"/>
                </a:solidFill>
                <a:latin typeface="KaiTi"/>
                <a:cs typeface="KaiTi"/>
              </a:rPr>
              <a:t>静态语言</a:t>
            </a:r>
            <a:r>
              <a:rPr lang="en-US" sz="2800" dirty="0">
                <a:solidFill>
                  <a:srgbClr val="000000"/>
                </a:solidFill>
                <a:latin typeface="KaiTi"/>
                <a:cs typeface="KaiTi"/>
              </a:rPr>
              <a:t>(</a:t>
            </a:r>
            <a:r>
              <a:rPr lang="en-US" sz="2800" dirty="0" err="1">
                <a:solidFill>
                  <a:srgbClr val="000000"/>
                </a:solidFill>
                <a:latin typeface="KaiTi"/>
                <a:cs typeface="KaiTi"/>
              </a:rPr>
              <a:t>c,java</a:t>
            </a:r>
            <a:r>
              <a:rPr lang="en-US" sz="2800" dirty="0">
                <a:solidFill>
                  <a:srgbClr val="000000"/>
                </a:solidFill>
                <a:latin typeface="KaiTi"/>
                <a:cs typeface="KaiTi"/>
              </a:rPr>
              <a:t>)</a:t>
            </a:r>
            <a:endParaRPr sz="2800" dirty="0">
              <a:solidFill>
                <a:srgbClr val="000000"/>
              </a:solidFill>
              <a:latin typeface="KaiTi"/>
              <a:cs typeface="KaiTi"/>
            </a:endParaRPr>
          </a:p>
          <a:p>
            <a:pPr marL="0" marR="0">
              <a:lnSpc>
                <a:spcPts val="3103"/>
              </a:lnSpc>
              <a:spcBef>
                <a:spcPts val="1936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Wingdings"/>
                <a:cs typeface="Wingdings"/>
              </a:rPr>
              <a:t></a:t>
            </a:r>
            <a:r>
              <a:rPr sz="2800" dirty="0" err="1">
                <a:solidFill>
                  <a:srgbClr val="000000"/>
                </a:solidFill>
                <a:latin typeface="KaiTi"/>
                <a:cs typeface="KaiTi"/>
              </a:rPr>
              <a:t>脚本语言</a:t>
            </a:r>
            <a:r>
              <a:rPr lang="en-US" sz="2800" dirty="0">
                <a:solidFill>
                  <a:srgbClr val="000000"/>
                </a:solidFill>
                <a:latin typeface="KaiTi"/>
                <a:cs typeface="KaiTi"/>
              </a:rPr>
              <a:t>(Python)</a:t>
            </a:r>
            <a:endParaRPr sz="2800" dirty="0">
              <a:solidFill>
                <a:srgbClr val="000000"/>
              </a:solidFill>
              <a:latin typeface="KaiTi"/>
              <a:cs typeface="KaiT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9716" y="4621934"/>
            <a:ext cx="8463991" cy="10332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95"/>
              </a:lnSpc>
              <a:spcBef>
                <a:spcPts val="0"/>
              </a:spcBef>
              <a:spcAft>
                <a:spcPts val="0"/>
              </a:spcAft>
            </a:pPr>
            <a:r>
              <a:rPr sz="2800" spc="47" dirty="0">
                <a:solidFill>
                  <a:srgbClr val="000000"/>
                </a:solidFill>
                <a:latin typeface="KaiTi"/>
                <a:cs typeface="KaiTi"/>
              </a:rPr>
              <a:t>这里所说的执行方式指计算机执行一个程序的过程，</a:t>
            </a:r>
          </a:p>
          <a:p>
            <a:pPr marL="0" marR="0">
              <a:lnSpc>
                <a:spcPts val="2795"/>
              </a:lnSpc>
              <a:spcBef>
                <a:spcPts val="2243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静态语言采用编译执行，脚本语言采用解释执行。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87094" y="762923"/>
            <a:ext cx="2691384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编译和解释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29716" y="2046935"/>
            <a:ext cx="8105851" cy="168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03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spc="10" dirty="0">
                <a:solidFill>
                  <a:srgbClr val="000000"/>
                </a:solidFill>
                <a:latin typeface="KaiTi"/>
                <a:cs typeface="KaiTi"/>
              </a:rPr>
              <a:t>编译是将源代码转换成目标代码的过程，通常，</a:t>
            </a:r>
          </a:p>
          <a:p>
            <a:pPr marL="457200" marR="0">
              <a:lnSpc>
                <a:spcPts val="2795"/>
              </a:lnSpc>
              <a:spcBef>
                <a:spcPts val="2000"/>
              </a:spcBef>
              <a:spcAft>
                <a:spcPts val="0"/>
              </a:spcAft>
            </a:pPr>
            <a:r>
              <a:rPr sz="2800" spc="10" dirty="0">
                <a:solidFill>
                  <a:srgbClr val="000000"/>
                </a:solidFill>
                <a:latin typeface="KaiTi"/>
                <a:cs typeface="KaiTi"/>
              </a:rPr>
              <a:t>源代码是高级语言代码，目标代码是机器语言代</a:t>
            </a:r>
          </a:p>
          <a:p>
            <a:pPr marL="457200" marR="0">
              <a:lnSpc>
                <a:spcPts val="2795"/>
              </a:lnSpc>
              <a:spcBef>
                <a:spcPts val="2294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码，执行编译的计算机程序称为编译器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72654" y="4196271"/>
            <a:ext cx="829176" cy="4602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46"/>
              </a:lnSpc>
              <a:spcBef>
                <a:spcPts val="0"/>
              </a:spcBef>
              <a:spcAft>
                <a:spcPts val="0"/>
              </a:spcAft>
            </a:pPr>
            <a:r>
              <a:rPr sz="1300" spc="31" dirty="0">
                <a:solidFill>
                  <a:srgbClr val="000000"/>
                </a:solidFill>
                <a:latin typeface="Microsoft YaHei"/>
                <a:cs typeface="Microsoft YaHei"/>
              </a:rPr>
              <a:t>高级语言</a:t>
            </a:r>
          </a:p>
          <a:p>
            <a:pPr marL="84597" marR="0">
              <a:lnSpc>
                <a:spcPts val="1577"/>
              </a:lnSpc>
              <a:spcBef>
                <a:spcPts val="0"/>
              </a:spcBef>
              <a:spcAft>
                <a:spcPts val="0"/>
              </a:spcAft>
            </a:pPr>
            <a:r>
              <a:rPr sz="1300" spc="31" dirty="0">
                <a:solidFill>
                  <a:srgbClr val="000000"/>
                </a:solidFill>
                <a:latin typeface="Microsoft YaHei"/>
                <a:cs typeface="Microsoft YaHei"/>
              </a:rPr>
              <a:t>源代码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904810" y="4196271"/>
            <a:ext cx="829176" cy="4602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46"/>
              </a:lnSpc>
              <a:spcBef>
                <a:spcPts val="0"/>
              </a:spcBef>
              <a:spcAft>
                <a:spcPts val="0"/>
              </a:spcAft>
            </a:pPr>
            <a:r>
              <a:rPr sz="1300" spc="31" dirty="0">
                <a:solidFill>
                  <a:srgbClr val="000000"/>
                </a:solidFill>
                <a:latin typeface="Microsoft YaHei"/>
                <a:cs typeface="Microsoft YaHei"/>
              </a:rPr>
              <a:t>机器语言</a:t>
            </a:r>
          </a:p>
          <a:p>
            <a:pPr marL="0" marR="0">
              <a:lnSpc>
                <a:spcPts val="1577"/>
              </a:lnSpc>
              <a:spcBef>
                <a:spcPts val="0"/>
              </a:spcBef>
              <a:spcAft>
                <a:spcPts val="0"/>
              </a:spcAft>
            </a:pPr>
            <a:r>
              <a:rPr sz="1300" spc="31" dirty="0">
                <a:solidFill>
                  <a:srgbClr val="000000"/>
                </a:solidFill>
                <a:latin typeface="Microsoft YaHei"/>
                <a:cs typeface="Microsoft YaHei"/>
              </a:rPr>
              <a:t>目标代码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234109" y="4270035"/>
            <a:ext cx="723435" cy="2876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64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0000"/>
                </a:solidFill>
                <a:latin typeface="Microsoft YaHei"/>
                <a:cs typeface="Microsoft YaHei"/>
              </a:rPr>
              <a:t>编译器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877527" y="5393967"/>
            <a:ext cx="913780" cy="2876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64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0000"/>
                </a:solidFill>
                <a:latin typeface="Microsoft YaHei"/>
                <a:cs typeface="Microsoft YaHei"/>
              </a:rPr>
              <a:t>程序执行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380463" y="5420362"/>
            <a:ext cx="490788" cy="2599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46"/>
              </a:lnSpc>
              <a:spcBef>
                <a:spcPts val="0"/>
              </a:spcBef>
              <a:spcAft>
                <a:spcPts val="0"/>
              </a:spcAft>
            </a:pPr>
            <a:r>
              <a:rPr sz="1300" spc="31" dirty="0">
                <a:solidFill>
                  <a:srgbClr val="000000"/>
                </a:solidFill>
                <a:latin typeface="Microsoft YaHei"/>
                <a:cs typeface="Microsoft YaHei"/>
              </a:rPr>
              <a:t>输入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812598" y="5420362"/>
            <a:ext cx="490788" cy="2599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46"/>
              </a:lnSpc>
              <a:spcBef>
                <a:spcPts val="0"/>
              </a:spcBef>
              <a:spcAft>
                <a:spcPts val="0"/>
              </a:spcAft>
            </a:pPr>
            <a:r>
              <a:rPr sz="1300" spc="31" dirty="0">
                <a:solidFill>
                  <a:srgbClr val="000000"/>
                </a:solidFill>
                <a:latin typeface="Microsoft YaHei"/>
                <a:cs typeface="Microsoft YaHei"/>
              </a:rPr>
              <a:t>输出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87094" y="762923"/>
            <a:ext cx="2691384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编译和解释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29716" y="2046935"/>
            <a:ext cx="8100673" cy="168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03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解释是将源代码逐条转换成目标代码同时逐条运</a:t>
            </a:r>
          </a:p>
          <a:p>
            <a:pPr marL="457200" marR="0">
              <a:lnSpc>
                <a:spcPts val="2795"/>
              </a:lnSpc>
              <a:spcBef>
                <a:spcPts val="200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行目标代码的过程。执行解释的计算机程序称为</a:t>
            </a:r>
          </a:p>
          <a:p>
            <a:pPr marL="457200" marR="0">
              <a:lnSpc>
                <a:spcPts val="2795"/>
              </a:lnSpc>
              <a:spcBef>
                <a:spcPts val="2294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解释器。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724108" y="4263876"/>
            <a:ext cx="982606" cy="5664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71"/>
              </a:lnSpc>
              <a:spcBef>
                <a:spcPts val="0"/>
              </a:spcBef>
              <a:spcAft>
                <a:spcPts val="0"/>
              </a:spcAft>
            </a:pPr>
            <a:r>
              <a:rPr sz="1650" spc="-15" dirty="0">
                <a:solidFill>
                  <a:srgbClr val="000000"/>
                </a:solidFill>
                <a:latin typeface="Microsoft YaHei"/>
                <a:cs typeface="Microsoft YaHei"/>
              </a:rPr>
              <a:t>高级语言</a:t>
            </a:r>
          </a:p>
          <a:p>
            <a:pPr marL="103776" marR="0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650" spc="-15" dirty="0">
                <a:solidFill>
                  <a:srgbClr val="000000"/>
                </a:solidFill>
                <a:latin typeface="Microsoft YaHei"/>
                <a:cs typeface="Microsoft YaHei"/>
              </a:rPr>
              <a:t>源代码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931079" y="4767279"/>
            <a:ext cx="852894" cy="348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43"/>
              </a:lnSpc>
              <a:spcBef>
                <a:spcPts val="0"/>
              </a:spcBef>
              <a:spcAft>
                <a:spcPts val="0"/>
              </a:spcAft>
            </a:pPr>
            <a:r>
              <a:rPr sz="1850" spc="-10" dirty="0">
                <a:solidFill>
                  <a:srgbClr val="000000"/>
                </a:solidFill>
                <a:latin typeface="Microsoft YaHei"/>
                <a:cs typeface="Microsoft YaHei"/>
              </a:rPr>
              <a:t>解释器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188096" y="4800169"/>
            <a:ext cx="567503" cy="313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71"/>
              </a:lnSpc>
              <a:spcBef>
                <a:spcPts val="0"/>
              </a:spcBef>
              <a:spcAft>
                <a:spcPts val="0"/>
              </a:spcAft>
            </a:pPr>
            <a:r>
              <a:rPr sz="1650" spc="-15" dirty="0">
                <a:solidFill>
                  <a:srgbClr val="000000"/>
                </a:solidFill>
                <a:latin typeface="Microsoft YaHei"/>
                <a:cs typeface="Microsoft YaHei"/>
              </a:rPr>
              <a:t>输出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931661" y="5284779"/>
            <a:ext cx="567503" cy="313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71"/>
              </a:lnSpc>
              <a:spcBef>
                <a:spcPts val="0"/>
              </a:spcBef>
              <a:spcAft>
                <a:spcPts val="0"/>
              </a:spcAft>
            </a:pPr>
            <a:r>
              <a:rPr sz="1650" spc="-15" dirty="0">
                <a:solidFill>
                  <a:srgbClr val="000000"/>
                </a:solidFill>
                <a:latin typeface="Microsoft YaHei"/>
                <a:cs typeface="Microsoft YaHei"/>
              </a:rPr>
              <a:t>输入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87094" y="762923"/>
            <a:ext cx="2691384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编译和解释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29716" y="2060979"/>
            <a:ext cx="8107552" cy="10336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95"/>
              </a:lnSpc>
              <a:spcBef>
                <a:spcPts val="0"/>
              </a:spcBef>
              <a:spcAft>
                <a:spcPts val="0"/>
              </a:spcAft>
            </a:pPr>
            <a:r>
              <a:rPr sz="2800" spc="50" dirty="0">
                <a:solidFill>
                  <a:srgbClr val="000000"/>
                </a:solidFill>
                <a:latin typeface="KaiTi"/>
                <a:cs typeface="KaiTi"/>
              </a:rPr>
              <a:t>编译是一次性地翻译，一旦程序被编译，不再需要</a:t>
            </a:r>
          </a:p>
          <a:p>
            <a:pPr marL="0" marR="0">
              <a:lnSpc>
                <a:spcPts val="2795"/>
              </a:lnSpc>
              <a:spcBef>
                <a:spcPts val="2246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编译程序或者源代码。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29716" y="3327476"/>
            <a:ext cx="8100466" cy="10473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03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对于相同源代码，编译所产生的目标代码执行速</a:t>
            </a:r>
          </a:p>
          <a:p>
            <a:pPr marL="457200" marR="0">
              <a:lnSpc>
                <a:spcPts val="2798"/>
              </a:lnSpc>
              <a:spcBef>
                <a:spcPts val="2045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度更快。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29716" y="4607890"/>
            <a:ext cx="8105078" cy="1047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03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spc="10" dirty="0">
                <a:solidFill>
                  <a:srgbClr val="000000"/>
                </a:solidFill>
                <a:latin typeface="KaiTi"/>
                <a:cs typeface="KaiTi"/>
              </a:rPr>
              <a:t>目标代码不需要编译器就可以运行，在同类型操</a:t>
            </a:r>
          </a:p>
          <a:p>
            <a:pPr marL="457200" marR="0">
              <a:lnSpc>
                <a:spcPts val="2795"/>
              </a:lnSpc>
              <a:spcBef>
                <a:spcPts val="2047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作系统上使用灵活。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87094" y="762923"/>
            <a:ext cx="2691384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编译和解释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29716" y="2060979"/>
            <a:ext cx="8102117" cy="16737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95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解释则在每次程序运行时都需要解释器和源代码。</a:t>
            </a:r>
          </a:p>
          <a:p>
            <a:pPr marL="0" marR="0">
              <a:lnSpc>
                <a:spcPts val="3103"/>
              </a:lnSpc>
              <a:spcBef>
                <a:spcPts val="2136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Wingdings"/>
                <a:cs typeface="Wingdings"/>
              </a:rPr>
              <a:t></a:t>
            </a:r>
            <a:r>
              <a:rPr sz="2800" spc="86" dirty="0">
                <a:solidFill>
                  <a:srgbClr val="000000"/>
                </a:solidFill>
                <a:latin typeface="KaiTi"/>
                <a:cs typeface="KaiTi"/>
              </a:rPr>
              <a:t>解释执行需要保留源代码，程序纠错和维护十分</a:t>
            </a:r>
          </a:p>
          <a:p>
            <a:pPr marL="0" marR="0">
              <a:lnSpc>
                <a:spcPts val="2795"/>
              </a:lnSpc>
              <a:spcBef>
                <a:spcPts val="2097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方便。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29716" y="3967282"/>
            <a:ext cx="8099860" cy="10478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05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Wingdings"/>
                <a:cs typeface="Wingdings"/>
              </a:rPr>
              <a:t></a:t>
            </a:r>
            <a:r>
              <a:rPr sz="2800" spc="85" dirty="0">
                <a:solidFill>
                  <a:srgbClr val="000000"/>
                </a:solidFill>
                <a:latin typeface="KaiTi"/>
                <a:cs typeface="KaiTi"/>
              </a:rPr>
              <a:t>只要存在解释器，源代码可以在任何操作系统上</a:t>
            </a:r>
          </a:p>
          <a:p>
            <a:pPr marL="0" marR="0">
              <a:lnSpc>
                <a:spcPts val="2795"/>
              </a:lnSpc>
              <a:spcBef>
                <a:spcPts val="2098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运行，可移植性好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87094" y="762923"/>
            <a:ext cx="2691384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计算机编程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07643" y="2806032"/>
            <a:ext cx="5134391" cy="5171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72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Palatino Linotype"/>
                <a:cs typeface="Palatino Linotype"/>
              </a:rPr>
              <a:t>——</a:t>
            </a: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为什么要学习计算机编程？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07643" y="3745070"/>
            <a:ext cx="6201798" cy="5171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72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Palatino Linotype"/>
                <a:cs typeface="Palatino Linotype"/>
              </a:rPr>
              <a:t>——</a:t>
            </a: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因为“编程是件很有趣的事儿”！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87094" y="762923"/>
            <a:ext cx="2691384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计算机编程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74191" y="2038119"/>
            <a:ext cx="7614658" cy="9007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95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计算思维是区别于以数学为代表的逻辑思维和以</a:t>
            </a:r>
          </a:p>
          <a:p>
            <a:pPr marL="0" marR="0">
              <a:lnSpc>
                <a:spcPts val="2798"/>
              </a:lnSpc>
              <a:spcBef>
                <a:spcPts val="1197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物理为代表的实证思维的第三种思维模式。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74191" y="3562500"/>
            <a:ext cx="4416700" cy="3931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95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编程是一个求解问题的过程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74191" y="4055674"/>
            <a:ext cx="7578749" cy="19318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05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Wingdings"/>
                <a:cs typeface="Wingdings"/>
              </a:rPr>
              <a:t></a:t>
            </a: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首先需要分析问题，抽象内容之间的交互关系</a:t>
            </a:r>
          </a:p>
          <a:p>
            <a:pPr marL="0" marR="0">
              <a:lnSpc>
                <a:spcPts val="3103"/>
              </a:lnSpc>
              <a:spcBef>
                <a:spcPts val="906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Wingdings"/>
                <a:cs typeface="Wingdings"/>
              </a:rPr>
              <a:t></a:t>
            </a: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设计利用计算机求解问题的确定性方法，</a:t>
            </a:r>
          </a:p>
          <a:p>
            <a:pPr marL="0" marR="0">
              <a:lnSpc>
                <a:spcPts val="3103"/>
              </a:lnSpc>
              <a:spcBef>
                <a:spcPts val="892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Wingdings"/>
                <a:cs typeface="Wingdings"/>
              </a:rPr>
              <a:t></a:t>
            </a: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进而通过编写和调试代码解决问题</a:t>
            </a:r>
          </a:p>
          <a:p>
            <a:pPr marL="0" marR="0">
              <a:lnSpc>
                <a:spcPts val="2798"/>
              </a:lnSpc>
              <a:spcBef>
                <a:spcPts val="1001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这是从抽象问题到解决问题的完整过程。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pic>
        <p:nvPicPr>
          <p:cNvPr id="9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27" y="404664"/>
            <a:ext cx="8920346" cy="5810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527198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50D0988-74BD-4870-ADDD-45CA8CE35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0070"/>
            <a:ext cx="9144000" cy="477786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60E4860-C932-4B2D-8C34-9FFA30BF5CB2}"/>
              </a:ext>
            </a:extLst>
          </p:cNvPr>
          <p:cNvSpPr/>
          <p:nvPr/>
        </p:nvSpPr>
        <p:spPr>
          <a:xfrm>
            <a:off x="755576" y="1844824"/>
            <a:ext cx="1296144" cy="2938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D411B2C-AD55-4F94-AD8D-699AA4FB15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3888" y="1037323"/>
            <a:ext cx="1440160" cy="35013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CDB92578-2311-4FC0-9F47-A1D26FEA89A6}"/>
              </a:ext>
            </a:extLst>
          </p:cNvPr>
          <p:cNvSpPr txBox="1"/>
          <p:nvPr/>
        </p:nvSpPr>
        <p:spPr>
          <a:xfrm>
            <a:off x="398245" y="165506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力扣</a:t>
            </a:r>
          </a:p>
        </p:txBody>
      </p:sp>
    </p:spTree>
    <p:extLst>
      <p:ext uri="{BB962C8B-B14F-4D97-AF65-F5344CB8AC3E}">
        <p14:creationId xmlns:p14="http://schemas.microsoft.com/office/powerpoint/2010/main" val="20039000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C1083B5-1071-49C0-A6A7-AE0007840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0728"/>
            <a:ext cx="8978144" cy="469525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FC6DAD70-C70F-4DCB-94CA-0FEF1FF621D1}"/>
              </a:ext>
            </a:extLst>
          </p:cNvPr>
          <p:cNvSpPr/>
          <p:nvPr/>
        </p:nvSpPr>
        <p:spPr>
          <a:xfrm>
            <a:off x="251520" y="965930"/>
            <a:ext cx="1296144" cy="2938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A0DBD91-B4A0-46B5-B372-F2AFB271087A}"/>
              </a:ext>
            </a:extLst>
          </p:cNvPr>
          <p:cNvSpPr txBox="1"/>
          <p:nvPr/>
        </p:nvSpPr>
        <p:spPr>
          <a:xfrm>
            <a:off x="467544" y="188640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牛客网</a:t>
            </a:r>
          </a:p>
        </p:txBody>
      </p:sp>
    </p:spTree>
    <p:extLst>
      <p:ext uri="{BB962C8B-B14F-4D97-AF65-F5344CB8AC3E}">
        <p14:creationId xmlns:p14="http://schemas.microsoft.com/office/powerpoint/2010/main" val="4680321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885442" y="2829774"/>
            <a:ext cx="5216777" cy="9436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30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Python语言概述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6883" y="1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4408932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Python语言的诞生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72642" y="2444310"/>
            <a:ext cx="3476995" cy="4398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Guido</a:t>
            </a:r>
            <a:r>
              <a:rPr sz="2800" spc="11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800" spc="-34" dirty="0">
                <a:solidFill>
                  <a:srgbClr val="000000"/>
                </a:solidFill>
                <a:latin typeface="Microsoft YaHei"/>
                <a:cs typeface="Microsoft YaHei"/>
              </a:rPr>
              <a:t>van</a:t>
            </a:r>
            <a:r>
              <a:rPr sz="2800" spc="50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800" spc="-18" dirty="0">
                <a:solidFill>
                  <a:srgbClr val="000000"/>
                </a:solidFill>
                <a:latin typeface="Microsoft YaHei"/>
                <a:cs typeface="Microsoft YaHei"/>
              </a:rPr>
              <a:t>Rossum</a:t>
            </a:r>
            <a:endParaRPr lang="en-US" sz="2800" spc="-18" dirty="0">
              <a:solidFill>
                <a:srgbClr val="000000"/>
              </a:solidFill>
              <a:latin typeface="Microsoft YaHei"/>
              <a:cs typeface="Microsoft YaHei"/>
            </a:endParaRPr>
          </a:p>
          <a:p>
            <a:pPr>
              <a:lnSpc>
                <a:spcPts val="3690"/>
              </a:lnSpc>
            </a:pPr>
            <a:r>
              <a:rPr lang="zh-CN" altLang="en-US" sz="2800" spc="-18" dirty="0">
                <a:solidFill>
                  <a:srgbClr val="000000"/>
                </a:solidFill>
                <a:latin typeface="Microsoft YaHei"/>
                <a:cs typeface="Microsoft YaHei"/>
              </a:rPr>
              <a:t>（</a:t>
            </a:r>
            <a:r>
              <a:rPr lang="zh-CN" altLang="zh-CN" sz="2800" spc="-18" dirty="0">
                <a:solidFill>
                  <a:srgbClr val="000000"/>
                </a:solidFill>
                <a:latin typeface="Microsoft YaHei"/>
                <a:cs typeface="Microsoft YaHei"/>
              </a:rPr>
              <a:t>吉多</a:t>
            </a:r>
            <a:r>
              <a:rPr lang="en-US" altLang="zh-CN" sz="2800" spc="-18" dirty="0">
                <a:solidFill>
                  <a:srgbClr val="000000"/>
                </a:solidFill>
                <a:latin typeface="Microsoft YaHei"/>
                <a:cs typeface="Microsoft YaHei"/>
              </a:rPr>
              <a:t>·</a:t>
            </a:r>
            <a:r>
              <a:rPr lang="zh-CN" altLang="zh-CN" sz="2800" spc="-18" dirty="0">
                <a:solidFill>
                  <a:srgbClr val="000000"/>
                </a:solidFill>
                <a:latin typeface="Microsoft YaHei"/>
                <a:cs typeface="Microsoft YaHei"/>
              </a:rPr>
              <a:t>范罗苏姆</a:t>
            </a:r>
            <a:r>
              <a:rPr lang="zh-CN" altLang="en-US" sz="2800" spc="-18" dirty="0">
                <a:solidFill>
                  <a:srgbClr val="000000"/>
                </a:solidFill>
                <a:latin typeface="Microsoft YaHei"/>
                <a:cs typeface="Microsoft YaHei"/>
              </a:rPr>
              <a:t>）</a:t>
            </a:r>
            <a:endParaRPr sz="2800" spc="-18" dirty="0">
              <a:solidFill>
                <a:srgbClr val="000000"/>
              </a:solidFill>
              <a:latin typeface="Microsoft YaHei"/>
              <a:cs typeface="Microsoft YaHei"/>
            </a:endParaRPr>
          </a:p>
          <a:p>
            <a:pPr marL="0" marR="0">
              <a:lnSpc>
                <a:spcPts val="3693"/>
              </a:lnSpc>
              <a:spcBef>
                <a:spcPts val="3027"/>
              </a:spcBef>
              <a:spcAft>
                <a:spcPts val="0"/>
              </a:spcAft>
            </a:pPr>
            <a:r>
              <a:rPr sz="2800" dirty="0" err="1">
                <a:solidFill>
                  <a:srgbClr val="000000"/>
                </a:solidFill>
                <a:latin typeface="Microsoft YaHei"/>
                <a:cs typeface="Microsoft YaHei"/>
              </a:rPr>
              <a:t>Python语言创立者</a:t>
            </a:r>
            <a:endParaRPr lang="en-US" sz="2800" dirty="0">
              <a:solidFill>
                <a:srgbClr val="000000"/>
              </a:solidFill>
              <a:latin typeface="Microsoft YaHei"/>
              <a:cs typeface="Microsoft YaHei"/>
            </a:endParaRPr>
          </a:p>
          <a:p>
            <a:pPr>
              <a:lnSpc>
                <a:spcPts val="3690"/>
              </a:lnSpc>
              <a:spcBef>
                <a:spcPts val="3031"/>
              </a:spcBef>
            </a:pPr>
            <a:r>
              <a:rPr lang="en-US" altLang="zh-CN" sz="2800" dirty="0">
                <a:solidFill>
                  <a:srgbClr val="000000"/>
                </a:solidFill>
                <a:latin typeface="Microsoft YaHei"/>
                <a:cs typeface="Microsoft YaHei"/>
              </a:rPr>
              <a:t>1989</a:t>
            </a:r>
            <a:r>
              <a:rPr lang="zh-CN" altLang="zh-CN" sz="2800" dirty="0">
                <a:solidFill>
                  <a:srgbClr val="000000"/>
                </a:solidFill>
                <a:latin typeface="Microsoft YaHei"/>
                <a:cs typeface="Microsoft YaHei"/>
              </a:rPr>
              <a:t>年，创立</a:t>
            </a:r>
            <a:r>
              <a:rPr lang="en-US" altLang="zh-CN" sz="2800" dirty="0">
                <a:solidFill>
                  <a:srgbClr val="000000"/>
                </a:solidFill>
                <a:latin typeface="Microsoft YaHei"/>
                <a:cs typeface="Microsoft YaHei"/>
              </a:rPr>
              <a:t>Python</a:t>
            </a:r>
            <a:endParaRPr sz="2800" dirty="0">
              <a:solidFill>
                <a:srgbClr val="000000"/>
              </a:solidFill>
              <a:latin typeface="Microsoft YaHei"/>
              <a:cs typeface="Microsoft YaHei"/>
            </a:endParaRPr>
          </a:p>
          <a:p>
            <a:pPr marL="0" marR="0">
              <a:lnSpc>
                <a:spcPts val="3690"/>
              </a:lnSpc>
              <a:spcBef>
                <a:spcPts val="3031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2002年，Python</a:t>
            </a:r>
            <a:r>
              <a:rPr sz="2800" spc="-25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2.x</a:t>
            </a:r>
          </a:p>
          <a:p>
            <a:pPr marL="0" marR="0">
              <a:lnSpc>
                <a:spcPts val="3690"/>
              </a:lnSpc>
              <a:spcBef>
                <a:spcPts val="3082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2008年，Python</a:t>
            </a:r>
            <a:r>
              <a:rPr sz="2800" spc="-25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3.x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860032" y="6093296"/>
            <a:ext cx="36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  <a:latin typeface="Microsoft YaHei"/>
                <a:cs typeface="Microsoft YaHei"/>
              </a:rPr>
              <a:t>Python</a:t>
            </a:r>
            <a:r>
              <a:rPr lang="zh-CN" altLang="en-US" sz="2400" dirty="0">
                <a:solidFill>
                  <a:srgbClr val="FF0000"/>
                </a:solidFill>
                <a:latin typeface="Microsoft YaHei"/>
                <a:cs typeface="Microsoft YaHei"/>
              </a:rPr>
              <a:t>语言不向下兼容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87094" y="762923"/>
            <a:ext cx="3458641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编写Hello程序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1390" y="2007075"/>
            <a:ext cx="7490405" cy="5171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72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使用</a:t>
            </a:r>
            <a:r>
              <a:rPr sz="2800" dirty="0">
                <a:solidFill>
                  <a:srgbClr val="000000"/>
                </a:solidFill>
                <a:latin typeface="Palatino Linotype"/>
                <a:cs typeface="Palatino Linotype"/>
              </a:rPr>
              <a:t>Python</a:t>
            </a: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语言编写的</a:t>
            </a:r>
            <a:r>
              <a:rPr sz="2800" dirty="0">
                <a:solidFill>
                  <a:srgbClr val="000000"/>
                </a:solidFill>
                <a:latin typeface="Palatino Linotype"/>
                <a:cs typeface="Palatino Linotype"/>
              </a:rPr>
              <a:t>Hello</a:t>
            </a: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程序只有一行代码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717038" y="2511900"/>
            <a:ext cx="3465765" cy="5171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72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Palatino Linotype"/>
                <a:cs typeface="Palatino Linotype"/>
              </a:rPr>
              <a:t>print(“Hello</a:t>
            </a:r>
            <a:r>
              <a:rPr sz="2800" spc="-20" dirty="0">
                <a:solidFill>
                  <a:srgbClr val="000000"/>
                </a:solidFill>
                <a:latin typeface="Palatino Linotype"/>
                <a:cs typeface="Palatino Linotype"/>
              </a:rPr>
              <a:t> </a:t>
            </a:r>
            <a:r>
              <a:rPr sz="2800" spc="-27" dirty="0">
                <a:solidFill>
                  <a:srgbClr val="000000"/>
                </a:solidFill>
                <a:latin typeface="Palatino Linotype"/>
                <a:cs typeface="Palatino Linotype"/>
              </a:rPr>
              <a:t>World”)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761108" y="3416160"/>
            <a:ext cx="2087079" cy="1969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&gt;&gt;&gt;print("Hello</a:t>
            </a:r>
            <a:r>
              <a:rPr sz="11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00"/>
                </a:solidFill>
                <a:latin typeface="Courier New"/>
                <a:cs typeface="Courier New"/>
              </a:rPr>
              <a:t>World")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761108" y="3668001"/>
            <a:ext cx="1076518" cy="1969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ourier New"/>
                <a:cs typeface="Courier New"/>
              </a:rPr>
              <a:t>Hello World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61390" y="4238846"/>
            <a:ext cx="7869423" cy="11572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72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第一行的“</a:t>
            </a:r>
            <a:r>
              <a:rPr sz="2800" dirty="0">
                <a:solidFill>
                  <a:srgbClr val="000000"/>
                </a:solidFill>
                <a:latin typeface="Palatino Linotype"/>
                <a:cs typeface="Palatino Linotype"/>
              </a:rPr>
              <a:t>&gt;&gt;&gt;</a:t>
            </a: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”是</a:t>
            </a:r>
            <a:r>
              <a:rPr sz="2800" dirty="0">
                <a:solidFill>
                  <a:srgbClr val="000000"/>
                </a:solidFill>
                <a:latin typeface="Palatino Linotype"/>
                <a:cs typeface="Palatino Linotype"/>
              </a:rPr>
              <a:t>Python</a:t>
            </a: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语言运行环境的提示符</a:t>
            </a:r>
          </a:p>
          <a:p>
            <a:pPr marL="0" marR="0">
              <a:lnSpc>
                <a:spcPts val="3772"/>
              </a:lnSpc>
              <a:spcBef>
                <a:spcPts val="1217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第二行是</a:t>
            </a:r>
            <a:r>
              <a:rPr sz="2800" dirty="0">
                <a:solidFill>
                  <a:srgbClr val="000000"/>
                </a:solidFill>
                <a:latin typeface="Palatino Linotype"/>
                <a:cs typeface="Palatino Linotype"/>
              </a:rPr>
              <a:t>Python</a:t>
            </a: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语句的执行结果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87094" y="762923"/>
            <a:ext cx="4306290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C语言的Hello程序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94664" y="1696657"/>
            <a:ext cx="3450383" cy="4926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79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000000"/>
                </a:solidFill>
                <a:latin typeface="Arial"/>
                <a:cs typeface="Arial"/>
              </a:rPr>
              <a:t>#include &lt;stdio.h&gt;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94664" y="2281872"/>
            <a:ext cx="2590188" cy="4926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79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000000"/>
                </a:solidFill>
                <a:latin typeface="Arial"/>
                <a:cs typeface="Arial"/>
              </a:rPr>
              <a:t>int</a:t>
            </a:r>
            <a:r>
              <a:rPr sz="3200" spc="-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00000"/>
                </a:solidFill>
                <a:latin typeface="Arial"/>
                <a:cs typeface="Arial"/>
              </a:rPr>
              <a:t>main(void)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94664" y="2866813"/>
            <a:ext cx="288402" cy="4930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2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000000"/>
                </a:solidFill>
                <a:latin typeface="Arial"/>
                <a:cs typeface="Arial"/>
              </a:rPr>
              <a:t>{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94664" y="3452558"/>
            <a:ext cx="4157033" cy="4926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79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000000"/>
                </a:solidFill>
                <a:latin typeface="Arial"/>
                <a:cs typeface="Arial"/>
              </a:rPr>
              <a:t>printf("Hello</a:t>
            </a:r>
            <a:r>
              <a:rPr sz="3200" spc="-2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00000"/>
                </a:solidFill>
                <a:latin typeface="Arial"/>
                <a:cs typeface="Arial"/>
              </a:rPr>
              <a:t>World\n");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94664" y="4037774"/>
            <a:ext cx="1663587" cy="4926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79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000000"/>
                </a:solidFill>
                <a:latin typeface="Arial"/>
                <a:cs typeface="Arial"/>
              </a:rPr>
              <a:t>return</a:t>
            </a:r>
            <a:r>
              <a:rPr sz="3200" spc="-1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00000"/>
                </a:solidFill>
                <a:latin typeface="Arial"/>
                <a:cs typeface="Arial"/>
              </a:rPr>
              <a:t>0;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94664" y="4623371"/>
            <a:ext cx="288300" cy="4926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79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000000"/>
                </a:solidFill>
                <a:latin typeface="Arial"/>
                <a:cs typeface="Arial"/>
              </a:rPr>
              <a:t>}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94664" y="5137117"/>
            <a:ext cx="8048546" cy="13142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72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一般来说，同样功能的程序，</a:t>
            </a:r>
            <a:r>
              <a:rPr sz="2800" dirty="0">
                <a:solidFill>
                  <a:srgbClr val="000000"/>
                </a:solidFill>
                <a:latin typeface="Palatino Linotype"/>
                <a:cs typeface="Palatino Linotype"/>
              </a:rPr>
              <a:t>Python</a:t>
            </a: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语言实现的代</a:t>
            </a:r>
          </a:p>
          <a:p>
            <a:pPr marL="0" marR="0">
              <a:lnSpc>
                <a:spcPts val="3359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码行数仅相当于</a:t>
            </a:r>
            <a:r>
              <a:rPr sz="2800" dirty="0">
                <a:solidFill>
                  <a:srgbClr val="000000"/>
                </a:solidFill>
                <a:latin typeface="Palatino Linotype"/>
                <a:cs typeface="Palatino Linotype"/>
              </a:rPr>
              <a:t>C</a:t>
            </a: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语言的</a:t>
            </a:r>
            <a:r>
              <a:rPr sz="2800" dirty="0">
                <a:solidFill>
                  <a:srgbClr val="000000"/>
                </a:solidFill>
                <a:latin typeface="Palatino Linotype"/>
                <a:cs typeface="Palatino Linotype"/>
              </a:rPr>
              <a:t>1/5</a:t>
            </a: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至</a:t>
            </a:r>
            <a:r>
              <a:rPr sz="2800" dirty="0">
                <a:solidFill>
                  <a:srgbClr val="000000"/>
                </a:solidFill>
                <a:latin typeface="Palatino Linotype"/>
                <a:cs typeface="Palatino Linotype"/>
              </a:rPr>
              <a:t>1/10</a:t>
            </a: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，简洁程度取决</a:t>
            </a:r>
          </a:p>
          <a:p>
            <a:pPr marL="0" marR="0">
              <a:lnSpc>
                <a:spcPts val="2798"/>
              </a:lnSpc>
              <a:spcBef>
                <a:spcPts val="118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于程序的复杂度和规模。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87094" y="762923"/>
            <a:ext cx="4408422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000000"/>
                </a:solidFill>
                <a:latin typeface="Microsoft YaHei"/>
                <a:cs typeface="Microsoft YaHei"/>
              </a:rPr>
              <a:t>Python语言的优势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3392" y="1842367"/>
            <a:ext cx="3949014" cy="5751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228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000000"/>
                </a:solidFill>
                <a:latin typeface="Microsoft YaHei"/>
                <a:cs typeface="Microsoft YaHei"/>
              </a:rPr>
              <a:t>脚本语言 + 语句执行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0623" y="2700851"/>
            <a:ext cx="940742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例1：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063750" y="3310064"/>
            <a:ext cx="5091205" cy="3915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000000"/>
                </a:solidFill>
                <a:latin typeface="Courier New"/>
                <a:cs typeface="Courier New"/>
              </a:rPr>
              <a:t>print(“Hello</a:t>
            </a:r>
            <a:r>
              <a:rPr sz="2400" b="1" spc="-36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2400" b="1" dirty="0">
                <a:solidFill>
                  <a:srgbClr val="000000"/>
                </a:solidFill>
                <a:latin typeface="Courier New"/>
                <a:cs typeface="Courier New"/>
              </a:rPr>
              <a:t>World!</a:t>
            </a:r>
            <a:r>
              <a:rPr sz="2400" spc="12" dirty="0">
                <a:solidFill>
                  <a:srgbClr val="000000"/>
                </a:solidFill>
                <a:latin typeface="SimSun"/>
                <a:cs typeface="SimSun"/>
              </a:rPr>
              <a:t>大家好</a:t>
            </a:r>
            <a:r>
              <a:rPr sz="2400" b="1" dirty="0">
                <a:solidFill>
                  <a:srgbClr val="000000"/>
                </a:solidFill>
                <a:latin typeface="Courier New"/>
                <a:cs typeface="Courier New"/>
              </a:rPr>
              <a:t>!")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20623" y="4347025"/>
            <a:ext cx="940742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例2：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063750" y="4958327"/>
            <a:ext cx="3621053" cy="9323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000000"/>
                </a:solidFill>
                <a:latin typeface="Courier New"/>
                <a:cs typeface="Courier New"/>
              </a:rPr>
              <a:t>sum</a:t>
            </a:r>
            <a:r>
              <a:rPr sz="2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2400" b="1" dirty="0">
                <a:solidFill>
                  <a:srgbClr val="000000"/>
                </a:solidFill>
                <a:latin typeface="Courier New"/>
                <a:cs typeface="Courier New"/>
              </a:rPr>
              <a:t>=</a:t>
            </a:r>
            <a:r>
              <a:rPr sz="2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2400" b="1" dirty="0">
                <a:solidFill>
                  <a:srgbClr val="000000"/>
                </a:solidFill>
                <a:latin typeface="Courier New"/>
                <a:cs typeface="Courier New"/>
              </a:rPr>
              <a:t>99999</a:t>
            </a:r>
            <a:r>
              <a:rPr sz="2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2400" b="1" dirty="0">
                <a:solidFill>
                  <a:srgbClr val="000000"/>
                </a:solidFill>
                <a:latin typeface="Courier New"/>
                <a:cs typeface="Courier New"/>
              </a:rPr>
              <a:t>*</a:t>
            </a:r>
            <a:r>
              <a:rPr sz="2400" b="1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2400" b="1" dirty="0">
                <a:solidFill>
                  <a:srgbClr val="000000"/>
                </a:solidFill>
                <a:latin typeface="Courier New"/>
                <a:cs typeface="Courier New"/>
              </a:rPr>
              <a:t>99999</a:t>
            </a:r>
          </a:p>
          <a:p>
            <a:pPr marL="0" marR="0">
              <a:lnSpc>
                <a:spcPts val="2718"/>
              </a:lnSpc>
              <a:spcBef>
                <a:spcPts val="1603"/>
              </a:spcBef>
              <a:spcAft>
                <a:spcPts val="0"/>
              </a:spcAft>
            </a:pPr>
            <a:r>
              <a:rPr sz="2400" b="1" dirty="0">
                <a:solidFill>
                  <a:srgbClr val="000000"/>
                </a:solidFill>
                <a:latin typeface="Courier New"/>
                <a:cs typeface="Courier New"/>
              </a:rPr>
              <a:t>print(sum)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87094" y="762923"/>
            <a:ext cx="4408422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000000"/>
                </a:solidFill>
                <a:latin typeface="Microsoft YaHei"/>
                <a:cs typeface="Microsoft YaHei"/>
              </a:rPr>
              <a:t>Python语言的优势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0623" y="2708725"/>
            <a:ext cx="940742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例3：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86688" y="3472427"/>
            <a:ext cx="8383339" cy="932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000000"/>
                </a:solidFill>
                <a:latin typeface="Courier New"/>
                <a:cs typeface="Courier New"/>
              </a:rPr>
              <a:t>months="JanFebMarAprMayJunJulAugSepOctNovDec"</a:t>
            </a:r>
          </a:p>
          <a:p>
            <a:pPr marL="0" marR="0">
              <a:lnSpc>
                <a:spcPts val="2718"/>
              </a:lnSpc>
              <a:spcBef>
                <a:spcPts val="1603"/>
              </a:spcBef>
              <a:spcAft>
                <a:spcPts val="0"/>
              </a:spcAft>
            </a:pPr>
            <a:r>
              <a:rPr sz="2400" b="1" dirty="0">
                <a:solidFill>
                  <a:srgbClr val="000000"/>
                </a:solidFill>
                <a:latin typeface="Courier New"/>
                <a:cs typeface="Courier New"/>
              </a:rPr>
              <a:t>n =</a:t>
            </a:r>
            <a:r>
              <a:rPr sz="2400" b="1" spc="-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2400" b="1" dirty="0">
                <a:solidFill>
                  <a:srgbClr val="000000"/>
                </a:solidFill>
                <a:latin typeface="Courier New"/>
                <a:cs typeface="Courier New"/>
              </a:rPr>
              <a:t>4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86688" y="4569962"/>
            <a:ext cx="7270475" cy="9321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000000"/>
                </a:solidFill>
                <a:latin typeface="Courier New"/>
                <a:cs typeface="Courier New"/>
              </a:rPr>
              <a:t>monthAbbrev</a:t>
            </a:r>
            <a:r>
              <a:rPr sz="2400" b="1" spc="-2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2400" b="1" dirty="0">
                <a:solidFill>
                  <a:srgbClr val="000000"/>
                </a:solidFill>
                <a:latin typeface="Courier New"/>
                <a:cs typeface="Courier New"/>
              </a:rPr>
              <a:t>= months[(n-1)*3:(n-1)*3+3]</a:t>
            </a:r>
          </a:p>
          <a:p>
            <a:pPr marL="0" marR="0">
              <a:lnSpc>
                <a:spcPts val="2721"/>
              </a:lnSpc>
              <a:spcBef>
                <a:spcPts val="1599"/>
              </a:spcBef>
              <a:spcAft>
                <a:spcPts val="0"/>
              </a:spcAft>
            </a:pPr>
            <a:r>
              <a:rPr sz="2400" b="1" dirty="0">
                <a:solidFill>
                  <a:srgbClr val="000000"/>
                </a:solidFill>
                <a:latin typeface="Courier New"/>
                <a:cs typeface="Courier New"/>
              </a:rPr>
              <a:t>print(monthAbbrev)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87094" y="762923"/>
            <a:ext cx="4408422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000000"/>
                </a:solidFill>
                <a:latin typeface="Microsoft YaHei"/>
                <a:cs typeface="Microsoft YaHei"/>
              </a:rPr>
              <a:t>Python语言的优势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2290" y="1648438"/>
            <a:ext cx="8550190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228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000000"/>
                </a:solidFill>
                <a:latin typeface="Microsoft YaHei"/>
                <a:cs typeface="Microsoft YaHei"/>
              </a:rPr>
              <a:t>简洁 +</a:t>
            </a:r>
            <a:r>
              <a:rPr sz="3200" spc="15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3200" dirty="0">
                <a:solidFill>
                  <a:srgbClr val="000000"/>
                </a:solidFill>
                <a:latin typeface="Microsoft YaHei"/>
                <a:cs typeface="Microsoft YaHei"/>
              </a:rPr>
              <a:t>强制可读性</a:t>
            </a:r>
            <a:r>
              <a:rPr lang="en-US" sz="3200" dirty="0">
                <a:solidFill>
                  <a:srgbClr val="000000"/>
                </a:solidFill>
                <a:latin typeface="Microsoft YaHei"/>
                <a:cs typeface="Microsoft YaHei"/>
              </a:rPr>
              <a:t>+</a:t>
            </a:r>
            <a:r>
              <a:rPr lang="en-US" altLang="zh-CN" sz="3200" dirty="0">
                <a:solidFill>
                  <a:srgbClr val="000000"/>
                </a:solidFill>
                <a:latin typeface="Microsoft YaHei"/>
                <a:cs typeface="Microsoft YaHei"/>
              </a:rPr>
              <a:t>UTF-8</a:t>
            </a:r>
            <a:r>
              <a:rPr lang="zh-CN" altLang="en-US" sz="3200" dirty="0">
                <a:solidFill>
                  <a:srgbClr val="000000"/>
                </a:solidFill>
                <a:latin typeface="Microsoft YaHei"/>
                <a:cs typeface="Microsoft YaHei"/>
              </a:rPr>
              <a:t>编码（多国语言文字）</a:t>
            </a:r>
            <a:endParaRPr sz="3200" dirty="0">
              <a:solidFill>
                <a:srgbClr val="000000"/>
              </a:solidFill>
              <a:latin typeface="Microsoft YaHei"/>
              <a:cs typeface="Microsoft YaHe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6765" y="2484697"/>
            <a:ext cx="940742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例4：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765680" y="3047486"/>
            <a:ext cx="3437284" cy="8664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000000"/>
                </a:solidFill>
                <a:latin typeface="Courier New"/>
                <a:cs typeface="Courier New"/>
              </a:rPr>
              <a:t>def mean(numbers)</a:t>
            </a:r>
            <a:r>
              <a:rPr sz="2400" dirty="0">
                <a:solidFill>
                  <a:srgbClr val="000000"/>
                </a:solidFill>
                <a:latin typeface="Courier New"/>
                <a:cs typeface="Courier New"/>
              </a:rPr>
              <a:t>:</a:t>
            </a:r>
          </a:p>
          <a:p>
            <a:pPr marL="729995" marR="0">
              <a:lnSpc>
                <a:spcPts val="2718"/>
              </a:lnSpc>
              <a:spcBef>
                <a:spcPts val="1085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Courier New"/>
                <a:cs typeface="Courier New"/>
              </a:rPr>
              <a:t>s =</a:t>
            </a:r>
            <a:r>
              <a:rPr sz="24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rgbClr val="000000"/>
                </a:solidFill>
                <a:latin typeface="Courier New"/>
                <a:cs typeface="Courier New"/>
              </a:rPr>
              <a:t>0.0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495676" y="4012177"/>
            <a:ext cx="3621053" cy="866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Courier New"/>
                <a:cs typeface="Courier New"/>
              </a:rPr>
              <a:t>for</a:t>
            </a:r>
            <a:r>
              <a:rPr sz="24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rgbClr val="000000"/>
                </a:solidFill>
                <a:latin typeface="Courier New"/>
                <a:cs typeface="Courier New"/>
              </a:rPr>
              <a:t>num in numbers:</a:t>
            </a:r>
          </a:p>
          <a:p>
            <a:pPr marL="911732" marR="0">
              <a:lnSpc>
                <a:spcPts val="2718"/>
              </a:lnSpc>
              <a:spcBef>
                <a:spcPts val="1088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Courier New"/>
                <a:cs typeface="Courier New"/>
              </a:rPr>
              <a:t>s = s +</a:t>
            </a:r>
            <a:r>
              <a:rPr sz="2400" spc="-23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rgbClr val="000000"/>
                </a:solidFill>
                <a:latin typeface="Courier New"/>
                <a:cs typeface="Courier New"/>
              </a:rPr>
              <a:t>num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407409" y="4978775"/>
            <a:ext cx="4352573" cy="3833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Courier New"/>
                <a:cs typeface="Courier New"/>
              </a:rPr>
              <a:t>return</a:t>
            </a:r>
            <a:r>
              <a:rPr sz="24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rgbClr val="000000"/>
                </a:solidFill>
                <a:latin typeface="Courier New"/>
                <a:cs typeface="Courier New"/>
              </a:rPr>
              <a:t>s</a:t>
            </a:r>
            <a:r>
              <a:rPr sz="2400" spc="-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rgbClr val="000000"/>
                </a:solidFill>
                <a:latin typeface="Courier New"/>
                <a:cs typeface="Courier New"/>
              </a:rPr>
              <a:t>/ len(numbers)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765680" y="5460333"/>
            <a:ext cx="5262401" cy="8667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000000"/>
                </a:solidFill>
                <a:latin typeface="Courier New"/>
                <a:cs typeface="Courier New"/>
              </a:rPr>
              <a:t>nums = [0,1,2,3,4,5,6,7,8,9]</a:t>
            </a:r>
          </a:p>
          <a:p>
            <a:pPr marL="0" marR="0">
              <a:lnSpc>
                <a:spcPts val="2718"/>
              </a:lnSpc>
              <a:spcBef>
                <a:spcPts val="1087"/>
              </a:spcBef>
              <a:spcAft>
                <a:spcPts val="0"/>
              </a:spcAft>
            </a:pPr>
            <a:r>
              <a:rPr sz="2400" b="1" dirty="0">
                <a:solidFill>
                  <a:srgbClr val="000000"/>
                </a:solidFill>
                <a:latin typeface="Courier New"/>
                <a:cs typeface="Courier New"/>
              </a:rPr>
              <a:t>print(mean(nums))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87094" y="762923"/>
            <a:ext cx="4408422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000000"/>
                </a:solidFill>
                <a:latin typeface="Microsoft YaHei"/>
                <a:cs typeface="Microsoft YaHei"/>
              </a:rPr>
              <a:t>Python语言的优势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2290" y="1648438"/>
            <a:ext cx="6461958" cy="5016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228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000000"/>
                </a:solidFill>
                <a:latin typeface="Microsoft YaHei"/>
                <a:cs typeface="Microsoft YaHei"/>
              </a:rPr>
              <a:t>跨平台 + </a:t>
            </a:r>
            <a:r>
              <a:rPr sz="3200" dirty="0" err="1">
                <a:solidFill>
                  <a:srgbClr val="000000"/>
                </a:solidFill>
                <a:latin typeface="Microsoft YaHei"/>
                <a:cs typeface="Microsoft YaHei"/>
              </a:rPr>
              <a:t>开源</a:t>
            </a:r>
            <a:r>
              <a:rPr lang="en-US" sz="3200" dirty="0">
                <a:solidFill>
                  <a:srgbClr val="000000"/>
                </a:solidFill>
                <a:latin typeface="Microsoft YaHei"/>
                <a:cs typeface="Microsoft YaHei"/>
              </a:rPr>
              <a:t>+</a:t>
            </a:r>
            <a:r>
              <a:rPr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类库丰富</a:t>
            </a:r>
            <a:endParaRPr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81200" y="2805296"/>
            <a:ext cx="5053465" cy="4403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71"/>
              </a:lnSpc>
              <a:spcBef>
                <a:spcPts val="0"/>
              </a:spcBef>
              <a:spcAft>
                <a:spcPts val="0"/>
              </a:spcAft>
            </a:pPr>
            <a:r>
              <a:rPr sz="2800" b="1" strike="sngStrike" dirty="0">
                <a:solidFill>
                  <a:srgbClr val="009999"/>
                </a:solidFill>
                <a:latin typeface="Courier New"/>
                <a:cs typeface="Courier New"/>
                <a:hlinkClick r:id="rId3"/>
              </a:rPr>
              <a:t>http://pypi.python.org/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52779" y="3655457"/>
            <a:ext cx="6905113" cy="4502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SimSun"/>
                <a:cs typeface="SimSun"/>
              </a:rPr>
              <a:t>目前有</a:t>
            </a:r>
            <a:r>
              <a:rPr sz="2800" b="1" dirty="0">
                <a:solidFill>
                  <a:srgbClr val="000000"/>
                </a:solidFill>
                <a:latin typeface="Courier New"/>
                <a:cs typeface="Courier New"/>
              </a:rPr>
              <a:t>93561</a:t>
            </a:r>
            <a:r>
              <a:rPr sz="2800" dirty="0">
                <a:solidFill>
                  <a:srgbClr val="000000"/>
                </a:solidFill>
                <a:latin typeface="SimSun"/>
                <a:cs typeface="SimSun"/>
              </a:rPr>
              <a:t>个开源库，覆盖各类计算问题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18667" y="4400619"/>
            <a:ext cx="940742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例5：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016251" y="5008874"/>
            <a:ext cx="4715285" cy="13484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000000"/>
                </a:solidFill>
                <a:latin typeface="Courier New"/>
                <a:cs typeface="Courier New"/>
              </a:rPr>
              <a:t>from random import</a:t>
            </a:r>
            <a:r>
              <a:rPr sz="2400" b="1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2400" b="1" dirty="0">
                <a:solidFill>
                  <a:srgbClr val="000000"/>
                </a:solidFill>
                <a:latin typeface="Courier New"/>
                <a:cs typeface="Courier New"/>
              </a:rPr>
              <a:t>random</a:t>
            </a:r>
          </a:p>
          <a:p>
            <a:pPr marL="0" marR="0">
              <a:lnSpc>
                <a:spcPts val="2718"/>
              </a:lnSpc>
              <a:spcBef>
                <a:spcPts val="1088"/>
              </a:spcBef>
              <a:spcAft>
                <a:spcPts val="0"/>
              </a:spcAft>
            </a:pPr>
            <a:r>
              <a:rPr sz="2400" b="1" spc="-11" dirty="0">
                <a:solidFill>
                  <a:srgbClr val="000000"/>
                </a:solidFill>
                <a:latin typeface="Courier New"/>
                <a:cs typeface="Courier New"/>
              </a:rPr>
              <a:t>rnd</a:t>
            </a:r>
            <a:r>
              <a:rPr sz="24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2400" b="1" dirty="0">
                <a:solidFill>
                  <a:srgbClr val="000000"/>
                </a:solidFill>
                <a:latin typeface="Courier New"/>
                <a:cs typeface="Courier New"/>
              </a:rPr>
              <a:t>= random()*10</a:t>
            </a:r>
          </a:p>
          <a:p>
            <a:pPr marL="0" marR="0">
              <a:lnSpc>
                <a:spcPts val="2718"/>
              </a:lnSpc>
              <a:spcBef>
                <a:spcPts val="1073"/>
              </a:spcBef>
              <a:spcAft>
                <a:spcPts val="0"/>
              </a:spcAft>
            </a:pPr>
            <a:r>
              <a:rPr sz="2400" b="1" dirty="0">
                <a:solidFill>
                  <a:srgbClr val="000000"/>
                </a:solidFill>
                <a:latin typeface="Courier New"/>
                <a:cs typeface="Courier New"/>
              </a:rPr>
              <a:t>print(rnd)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34770" y="774548"/>
            <a:ext cx="4408601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000000"/>
                </a:solidFill>
                <a:latin typeface="Microsoft YaHei"/>
                <a:cs typeface="Microsoft YaHei"/>
              </a:rPr>
              <a:t>Python语言的优势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2290" y="2172117"/>
            <a:ext cx="7765339" cy="5755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231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000000"/>
                </a:solidFill>
                <a:latin typeface="Microsoft YaHei"/>
                <a:cs typeface="Microsoft YaHei"/>
              </a:rPr>
              <a:t>Python语言的优势：面向过程</a:t>
            </a:r>
            <a:r>
              <a:rPr sz="3200" spc="-18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3200" dirty="0">
                <a:solidFill>
                  <a:srgbClr val="000000"/>
                </a:solidFill>
                <a:latin typeface="Microsoft YaHei"/>
                <a:cs typeface="Microsoft YaHei"/>
              </a:rPr>
              <a:t>+ 面向对象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096135" y="3216290"/>
            <a:ext cx="4061764" cy="393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98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SimSun"/>
                <a:cs typeface="SimSun"/>
              </a:rPr>
              <a:t>灵活的介绍程序设计理念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96240" y="4014321"/>
            <a:ext cx="5597906" cy="14257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228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000000"/>
                </a:solidFill>
                <a:latin typeface="Microsoft YaHei"/>
                <a:cs typeface="Microsoft YaHei"/>
              </a:rPr>
              <a:t>Python语言的优势：图形界面</a:t>
            </a:r>
          </a:p>
          <a:p>
            <a:pPr marL="2353691" marR="0">
              <a:lnSpc>
                <a:spcPts val="3170"/>
              </a:lnSpc>
              <a:spcBef>
                <a:spcPts val="3452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Courier New"/>
                <a:cs typeface="Courier New"/>
              </a:rPr>
              <a:t>Windows</a:t>
            </a:r>
            <a:r>
              <a:rPr sz="2800" dirty="0">
                <a:solidFill>
                  <a:srgbClr val="000000"/>
                </a:solidFill>
                <a:latin typeface="SimSun"/>
                <a:cs typeface="SimSun"/>
              </a:rPr>
              <a:t>窗口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318383" y="5843877"/>
            <a:ext cx="1217676" cy="3931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95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SimSun"/>
                <a:cs typeface="SimSun"/>
              </a:rPr>
              <a:t>玫瑰花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3901135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Python语言特点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12240" y="2131890"/>
            <a:ext cx="7592208" cy="3539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127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 err="1">
                <a:solidFill>
                  <a:srgbClr val="000000"/>
                </a:solidFill>
                <a:latin typeface="Microsoft YaHei"/>
                <a:cs typeface="Microsoft YaHei"/>
              </a:rPr>
              <a:t>Python语言是通用语言</a:t>
            </a:r>
            <a:endParaRPr lang="en-US" sz="2800" dirty="0">
              <a:solidFill>
                <a:srgbClr val="000000"/>
              </a:solidFill>
              <a:latin typeface="Microsoft YaHei"/>
              <a:cs typeface="Microsoft YaHei"/>
            </a:endParaRPr>
          </a:p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Microsoft YaHei"/>
                <a:cs typeface="Microsoft YaHei"/>
              </a:rPr>
              <a:t>    </a:t>
            </a:r>
            <a:r>
              <a:rPr lang="zh-CN" altLang="en-US" sz="2800" dirty="0">
                <a:solidFill>
                  <a:srgbClr val="000000"/>
                </a:solidFill>
                <a:latin typeface="Microsoft YaHei"/>
                <a:cs typeface="Microsoft YaHei"/>
              </a:rPr>
              <a:t>科学计算、数据处理、人工智能、机器人</a:t>
            </a:r>
            <a:endParaRPr sz="2800" dirty="0">
              <a:solidFill>
                <a:srgbClr val="000000"/>
              </a:solidFill>
              <a:latin typeface="Microsoft YaHei"/>
              <a:cs typeface="Microsoft YaHei"/>
            </a:endParaRPr>
          </a:p>
          <a:p>
            <a:pPr marL="0" marR="0">
              <a:lnSpc>
                <a:spcPts val="3690"/>
              </a:lnSpc>
              <a:spcBef>
                <a:spcPts val="1349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127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Python语言是脚本语言</a:t>
            </a:r>
          </a:p>
          <a:p>
            <a:pPr marL="0" marR="0">
              <a:lnSpc>
                <a:spcPts val="3690"/>
              </a:lnSpc>
              <a:spcBef>
                <a:spcPts val="1351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127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Python语言是开源语言</a:t>
            </a:r>
          </a:p>
          <a:p>
            <a:pPr marL="0" marR="0">
              <a:lnSpc>
                <a:spcPts val="3690"/>
              </a:lnSpc>
              <a:spcBef>
                <a:spcPts val="1349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127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Python语言是跨平台语言</a:t>
            </a:r>
          </a:p>
          <a:p>
            <a:pPr marL="0" marR="0">
              <a:lnSpc>
                <a:spcPts val="3693"/>
              </a:lnSpc>
              <a:spcBef>
                <a:spcPts val="1397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127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Python语言是多模型语言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50517" y="2829774"/>
            <a:ext cx="6588986" cy="9436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30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Python开发环境配置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1167993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安装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72642" y="2217234"/>
            <a:ext cx="7931493" cy="22138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125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到Python</a:t>
            </a:r>
            <a:r>
              <a:rPr sz="2800" spc="15" dirty="0">
                <a:solidFill>
                  <a:srgbClr val="000000"/>
                </a:solidFill>
                <a:latin typeface="Microsoft YaHei"/>
                <a:cs typeface="Microsoft YaHei"/>
              </a:rPr>
              <a:t>主页下载并安装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Python</a:t>
            </a:r>
            <a:r>
              <a:rPr sz="2800" spc="10" dirty="0">
                <a:solidFill>
                  <a:srgbClr val="000000"/>
                </a:solidFill>
                <a:latin typeface="Microsoft YaHei"/>
                <a:cs typeface="Microsoft YaHei"/>
              </a:rPr>
              <a:t>基本开发和运</a:t>
            </a:r>
          </a:p>
          <a:p>
            <a:pPr marL="0" marR="0">
              <a:lnSpc>
                <a:spcPts val="3690"/>
              </a:lnSpc>
              <a:spcBef>
                <a:spcPts val="3031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行环境，网址：</a:t>
            </a:r>
            <a:r>
              <a:rPr sz="2800" spc="-10" dirty="0">
                <a:solidFill>
                  <a:srgbClr val="000000"/>
                </a:solidFill>
                <a:latin typeface="Microsoft YaHei"/>
                <a:cs typeface="Microsoft YaHei"/>
              </a:rPr>
              <a:t>www.python.org/downloads/</a:t>
            </a:r>
          </a:p>
          <a:p>
            <a:pPr marL="0" marR="0">
              <a:lnSpc>
                <a:spcPts val="3690"/>
              </a:lnSpc>
              <a:spcBef>
                <a:spcPts val="3029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125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根据操作系统不同选择不同版本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72642" y="4778189"/>
            <a:ext cx="6241389" cy="506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125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下载相应的Python</a:t>
            </a:r>
            <a:r>
              <a:rPr sz="2800" spc="10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3.0系列版本程序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1167993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安装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1167993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安装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23528" y="188640"/>
            <a:ext cx="1167993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启动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18647" y="1085582"/>
            <a:ext cx="8106705" cy="56938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690"/>
              </a:lnSpc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-89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方法1：</a:t>
            </a:r>
            <a:endParaRPr lang="en-US" sz="2800" dirty="0">
              <a:solidFill>
                <a:srgbClr val="000000"/>
              </a:solidFill>
              <a:latin typeface="Microsoft YaHei"/>
              <a:cs typeface="Microsoft YaHei"/>
            </a:endParaRPr>
          </a:p>
          <a:p>
            <a:pPr>
              <a:lnSpc>
                <a:spcPts val="3690"/>
              </a:lnSpc>
            </a:pPr>
            <a:r>
              <a:rPr lang="en-US" altLang="zh-CN" sz="2800" dirty="0">
                <a:solidFill>
                  <a:srgbClr val="000000"/>
                </a:solidFill>
                <a:latin typeface="Microsoft YaHei"/>
                <a:cs typeface="Microsoft YaHei"/>
              </a:rPr>
              <a:t>1</a:t>
            </a:r>
            <a:r>
              <a:rPr lang="zh-CN" altLang="en-US" sz="2800" dirty="0">
                <a:solidFill>
                  <a:srgbClr val="000000"/>
                </a:solidFill>
                <a:latin typeface="Microsoft YaHei"/>
                <a:cs typeface="Microsoft YaHei"/>
              </a:rPr>
              <a:t>、先鼠标</a:t>
            </a:r>
            <a:r>
              <a:rPr lang="zh-CN" altLang="en-US" sz="2800" dirty="0">
                <a:solidFill>
                  <a:srgbClr val="FF0000"/>
                </a:solidFill>
                <a:latin typeface="Microsoft YaHei"/>
                <a:cs typeface="Microsoft YaHei"/>
              </a:rPr>
              <a:t>右击</a:t>
            </a:r>
            <a:r>
              <a:rPr lang="en-US" altLang="zh-CN" sz="2800" dirty="0">
                <a:solidFill>
                  <a:srgbClr val="000000"/>
                </a:solidFill>
                <a:latin typeface="Microsoft YaHei"/>
                <a:cs typeface="Microsoft YaHei"/>
              </a:rPr>
              <a:t>【</a:t>
            </a:r>
            <a:r>
              <a:rPr lang="zh-CN" altLang="en-US" sz="2800" dirty="0">
                <a:solidFill>
                  <a:srgbClr val="000000"/>
                </a:solidFill>
                <a:latin typeface="Microsoft YaHei"/>
                <a:cs typeface="Microsoft YaHei"/>
              </a:rPr>
              <a:t>开始</a:t>
            </a:r>
            <a:r>
              <a:rPr lang="en-US" altLang="zh-CN" sz="2800" dirty="0">
                <a:solidFill>
                  <a:srgbClr val="000000"/>
                </a:solidFill>
                <a:latin typeface="Microsoft YaHei"/>
                <a:cs typeface="Microsoft YaHei"/>
              </a:rPr>
              <a:t>】</a:t>
            </a:r>
            <a:r>
              <a:rPr lang="zh-CN" altLang="en-US" sz="2800" dirty="0">
                <a:solidFill>
                  <a:srgbClr val="000000"/>
                </a:solidFill>
                <a:latin typeface="Microsoft YaHei"/>
                <a:cs typeface="Microsoft YaHei"/>
              </a:rPr>
              <a:t>菜单，点击</a:t>
            </a:r>
            <a:r>
              <a:rPr lang="en-US" altLang="zh-CN" sz="2800" dirty="0">
                <a:solidFill>
                  <a:srgbClr val="000000"/>
                </a:solidFill>
                <a:latin typeface="Microsoft YaHei"/>
                <a:cs typeface="Microsoft YaHei"/>
              </a:rPr>
              <a:t>【</a:t>
            </a:r>
            <a:r>
              <a:rPr lang="zh-CN" altLang="en-US" sz="2800" dirty="0">
                <a:solidFill>
                  <a:srgbClr val="000000"/>
                </a:solidFill>
                <a:latin typeface="Microsoft YaHei"/>
                <a:cs typeface="Microsoft YaHei"/>
              </a:rPr>
              <a:t>运行</a:t>
            </a:r>
            <a:r>
              <a:rPr lang="en-US" altLang="zh-CN" sz="2800" dirty="0">
                <a:solidFill>
                  <a:srgbClr val="000000"/>
                </a:solidFill>
                <a:latin typeface="Microsoft YaHei"/>
                <a:cs typeface="Microsoft YaHei"/>
              </a:rPr>
              <a:t>】</a:t>
            </a:r>
            <a:r>
              <a:rPr lang="zh-CN" altLang="en-US" sz="2800" dirty="0">
                <a:solidFill>
                  <a:srgbClr val="000000"/>
                </a:solidFill>
                <a:latin typeface="Microsoft YaHei"/>
                <a:cs typeface="Microsoft YaHei"/>
              </a:rPr>
              <a:t>，输入</a:t>
            </a:r>
            <a:r>
              <a:rPr lang="en-US" altLang="zh-CN" sz="2800" dirty="0">
                <a:solidFill>
                  <a:srgbClr val="000000"/>
                </a:solidFill>
                <a:latin typeface="Microsoft YaHei"/>
                <a:cs typeface="Microsoft YaHei"/>
              </a:rPr>
              <a:t>【</a:t>
            </a:r>
            <a:r>
              <a:rPr lang="en-US" altLang="zh-CN" sz="2800" dirty="0" err="1">
                <a:solidFill>
                  <a:srgbClr val="000000"/>
                </a:solidFill>
                <a:latin typeface="Microsoft YaHei"/>
                <a:cs typeface="Microsoft YaHei"/>
              </a:rPr>
              <a:t>cmd</a:t>
            </a:r>
            <a:r>
              <a:rPr lang="en-US" altLang="zh-CN" sz="2800" dirty="0">
                <a:solidFill>
                  <a:srgbClr val="000000"/>
                </a:solidFill>
                <a:latin typeface="Microsoft YaHei"/>
                <a:cs typeface="Microsoft YaHei"/>
              </a:rPr>
              <a:t>】</a:t>
            </a:r>
            <a:r>
              <a:rPr lang="zh-CN" altLang="en-US" sz="2800" dirty="0">
                <a:solidFill>
                  <a:srgbClr val="000000"/>
                </a:solidFill>
                <a:latin typeface="Microsoft YaHei"/>
                <a:cs typeface="Microsoft YaHei"/>
              </a:rPr>
              <a:t>，点击</a:t>
            </a:r>
            <a:r>
              <a:rPr lang="en-US" altLang="zh-CN" sz="2800" dirty="0">
                <a:solidFill>
                  <a:srgbClr val="000000"/>
                </a:solidFill>
                <a:latin typeface="Microsoft YaHei"/>
                <a:cs typeface="Microsoft YaHei"/>
              </a:rPr>
              <a:t>【</a:t>
            </a:r>
            <a:r>
              <a:rPr lang="zh-CN" altLang="en-US" sz="2800" dirty="0">
                <a:solidFill>
                  <a:srgbClr val="000000"/>
                </a:solidFill>
                <a:latin typeface="Microsoft YaHei"/>
                <a:cs typeface="Microsoft YaHei"/>
              </a:rPr>
              <a:t>确定</a:t>
            </a:r>
            <a:r>
              <a:rPr lang="en-US" altLang="zh-CN" sz="2800" dirty="0">
                <a:solidFill>
                  <a:srgbClr val="000000"/>
                </a:solidFill>
                <a:latin typeface="Microsoft YaHei"/>
                <a:cs typeface="Microsoft YaHei"/>
              </a:rPr>
              <a:t>】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启动Windows命令行工具</a:t>
            </a:r>
            <a:r>
              <a:rPr lang="en-US" sz="2800" dirty="0">
                <a:solidFill>
                  <a:srgbClr val="000000"/>
                </a:solidFill>
                <a:latin typeface="Microsoft YaHei"/>
                <a:cs typeface="Microsoft YaHei"/>
              </a:rPr>
              <a:t>2</a:t>
            </a:r>
            <a:r>
              <a:rPr lang="zh-CN" altLang="en-US" sz="2800" dirty="0">
                <a:solidFill>
                  <a:srgbClr val="000000"/>
                </a:solidFill>
                <a:latin typeface="Microsoft YaHei"/>
                <a:cs typeface="Microsoft YaHei"/>
              </a:rPr>
              <a:t>、</a:t>
            </a:r>
            <a:r>
              <a:rPr sz="2800" dirty="0" err="1">
                <a:solidFill>
                  <a:srgbClr val="000000"/>
                </a:solidFill>
                <a:latin typeface="Microsoft YaHei"/>
                <a:cs typeface="Microsoft YaHei"/>
              </a:rPr>
              <a:t>输入python</a:t>
            </a:r>
            <a:endParaRPr lang="en-US" sz="2800" dirty="0">
              <a:solidFill>
                <a:srgbClr val="000000"/>
              </a:solidFill>
              <a:latin typeface="Microsoft YaHei"/>
              <a:cs typeface="Microsoft YaHei"/>
            </a:endParaRPr>
          </a:p>
          <a:p>
            <a:pPr>
              <a:lnSpc>
                <a:spcPts val="3690"/>
              </a:lnSpc>
            </a:pPr>
            <a:endParaRPr lang="en-US" sz="2800" dirty="0">
              <a:solidFill>
                <a:srgbClr val="000000"/>
              </a:solidFill>
              <a:latin typeface="Microsoft YaHei"/>
              <a:cs typeface="Microsoft YaHei"/>
            </a:endParaRPr>
          </a:p>
          <a:p>
            <a:pPr>
              <a:lnSpc>
                <a:spcPts val="3690"/>
              </a:lnSpc>
            </a:pPr>
            <a:endParaRPr lang="en-US" sz="2800" dirty="0">
              <a:solidFill>
                <a:srgbClr val="000000"/>
              </a:solidFill>
              <a:latin typeface="Microsoft YaHei"/>
              <a:cs typeface="Microsoft YaHei"/>
            </a:endParaRPr>
          </a:p>
          <a:p>
            <a:pPr>
              <a:lnSpc>
                <a:spcPts val="3690"/>
              </a:lnSpc>
            </a:pPr>
            <a:endParaRPr lang="en-US" sz="2800" dirty="0">
              <a:solidFill>
                <a:srgbClr val="000000"/>
              </a:solidFill>
              <a:latin typeface="Microsoft YaHei"/>
              <a:cs typeface="Microsoft YaHei"/>
            </a:endParaRPr>
          </a:p>
          <a:p>
            <a:pPr>
              <a:lnSpc>
                <a:spcPts val="3690"/>
              </a:lnSpc>
            </a:pPr>
            <a:endParaRPr lang="en-US" sz="2800" dirty="0">
              <a:solidFill>
                <a:srgbClr val="000000"/>
              </a:solidFill>
              <a:latin typeface="Microsoft YaHei"/>
              <a:cs typeface="Microsoft YaHei"/>
            </a:endParaRPr>
          </a:p>
          <a:p>
            <a:pPr>
              <a:lnSpc>
                <a:spcPts val="3690"/>
              </a:lnSpc>
            </a:pPr>
            <a:endParaRPr lang="en-US" sz="2800" dirty="0">
              <a:solidFill>
                <a:srgbClr val="000000"/>
              </a:solidFill>
              <a:latin typeface="Microsoft YaHei"/>
              <a:cs typeface="Microsoft YaHei"/>
            </a:endParaRPr>
          </a:p>
          <a:p>
            <a:pPr>
              <a:lnSpc>
                <a:spcPts val="3690"/>
              </a:lnSpc>
            </a:pPr>
            <a:r>
              <a:rPr lang="en-US" sz="2800" dirty="0">
                <a:solidFill>
                  <a:srgbClr val="000000"/>
                </a:solidFill>
                <a:latin typeface="Microsoft YaHei"/>
                <a:cs typeface="Microsoft YaHei"/>
              </a:rPr>
              <a:t>3</a:t>
            </a:r>
            <a:r>
              <a:rPr lang="zh-CN" altLang="en-US" sz="2800" dirty="0">
                <a:solidFill>
                  <a:srgbClr val="000000"/>
                </a:solidFill>
                <a:latin typeface="Microsoft YaHei"/>
                <a:cs typeface="Microsoft YaHei"/>
              </a:rPr>
              <a:t>、</a:t>
            </a:r>
            <a:r>
              <a:rPr lang="en-US" altLang="zh-CN" sz="2800" dirty="0">
                <a:solidFill>
                  <a:srgbClr val="000000"/>
                </a:solidFill>
                <a:latin typeface="Microsoft YaHei"/>
                <a:cs typeface="Microsoft YaHei"/>
              </a:rPr>
              <a:t>exit()</a:t>
            </a:r>
            <a:r>
              <a:rPr lang="zh-CN" altLang="en-US" sz="2800" dirty="0">
                <a:solidFill>
                  <a:srgbClr val="000000"/>
                </a:solidFill>
                <a:latin typeface="Microsoft YaHei"/>
                <a:cs typeface="Microsoft YaHei"/>
              </a:rPr>
              <a:t>返回</a:t>
            </a:r>
            <a:r>
              <a:rPr lang="en-US" sz="2800" dirty="0">
                <a:solidFill>
                  <a:srgbClr val="000000"/>
                </a:solidFill>
                <a:latin typeface="Microsoft YaHei"/>
                <a:cs typeface="Microsoft YaHei"/>
              </a:rPr>
              <a:t>Windows</a:t>
            </a:r>
            <a:r>
              <a:rPr lang="zh-CN" altLang="en-US" sz="2800" dirty="0">
                <a:solidFill>
                  <a:srgbClr val="000000"/>
                </a:solidFill>
                <a:latin typeface="Microsoft YaHei"/>
                <a:cs typeface="Microsoft YaHei"/>
              </a:rPr>
              <a:t>命令行</a:t>
            </a:r>
            <a:endParaRPr lang="en-US" altLang="zh-CN" sz="2800" dirty="0">
              <a:solidFill>
                <a:srgbClr val="000000"/>
              </a:solidFill>
              <a:latin typeface="Microsoft YaHei"/>
              <a:cs typeface="Microsoft YaHei"/>
            </a:endParaRPr>
          </a:p>
          <a:p>
            <a:pPr>
              <a:lnSpc>
                <a:spcPts val="3690"/>
              </a:lnSpc>
            </a:pPr>
            <a:r>
              <a:rPr lang="en-US" sz="2800" dirty="0">
                <a:solidFill>
                  <a:srgbClr val="000000"/>
                </a:solidFill>
                <a:latin typeface="Microsoft YaHei"/>
                <a:cs typeface="Microsoft YaHei"/>
              </a:rPr>
              <a:t>4</a:t>
            </a:r>
            <a:r>
              <a:rPr lang="zh-CN" altLang="en-US" sz="2800" dirty="0">
                <a:solidFill>
                  <a:srgbClr val="000000"/>
                </a:solidFill>
                <a:latin typeface="Microsoft YaHei"/>
                <a:cs typeface="Microsoft YaHei"/>
              </a:rPr>
              <a:t>、</a:t>
            </a:r>
            <a:r>
              <a:rPr lang="en-US" altLang="zh-CN" sz="2800" dirty="0">
                <a:solidFill>
                  <a:srgbClr val="000000"/>
                </a:solidFill>
                <a:latin typeface="Microsoft YaHei"/>
                <a:cs typeface="Microsoft YaHei"/>
              </a:rPr>
              <a:t>python sunflower.py</a:t>
            </a:r>
            <a:r>
              <a:rPr lang="zh-CN" altLang="en-US" sz="2800" dirty="0">
                <a:solidFill>
                  <a:srgbClr val="000000"/>
                </a:solidFill>
                <a:latin typeface="Microsoft YaHei"/>
                <a:cs typeface="Microsoft YaHei"/>
              </a:rPr>
              <a:t>运行程序</a:t>
            </a:r>
            <a:endParaRPr lang="en-US" sz="2800" dirty="0">
              <a:solidFill>
                <a:srgbClr val="000000"/>
              </a:solidFill>
              <a:latin typeface="Microsoft YaHei"/>
              <a:cs typeface="Microsoft YaHei"/>
            </a:endParaRPr>
          </a:p>
          <a:p>
            <a:pPr>
              <a:lnSpc>
                <a:spcPts val="3690"/>
              </a:lnSpc>
            </a:pPr>
            <a:endParaRPr sz="2800" dirty="0">
              <a:solidFill>
                <a:srgbClr val="000000"/>
              </a:solidFill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1167993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启动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74243" y="2226632"/>
            <a:ext cx="7986241" cy="506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-89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方法2：调用IDLE来启动Python图形化运行环境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1167993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启动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74243" y="2226632"/>
            <a:ext cx="8300894" cy="506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-89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spc="43" dirty="0">
                <a:solidFill>
                  <a:srgbClr val="000000"/>
                </a:solidFill>
                <a:latin typeface="Microsoft YaHei"/>
                <a:cs typeface="Microsoft YaHei"/>
              </a:rPr>
              <a:t>方法</a:t>
            </a:r>
            <a:r>
              <a:rPr sz="2800" spc="50" dirty="0">
                <a:solidFill>
                  <a:srgbClr val="000000"/>
                </a:solidFill>
                <a:latin typeface="Microsoft YaHei"/>
                <a:cs typeface="Microsoft YaHei"/>
              </a:rPr>
              <a:t>3</a:t>
            </a:r>
            <a:r>
              <a:rPr sz="2800" spc="49" dirty="0">
                <a:solidFill>
                  <a:srgbClr val="000000"/>
                </a:solidFill>
                <a:latin typeface="Microsoft YaHei"/>
                <a:cs typeface="Microsoft YaHei"/>
              </a:rPr>
              <a:t>：按照语法格式编写代码，编写可以用任何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17143" y="3080453"/>
            <a:ext cx="4414062" cy="506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文本编辑器，保存为文件。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1167993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启动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74243" y="2226632"/>
            <a:ext cx="8305469" cy="26673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-89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方法4：打开IDLE，点击Ctrl+N打开一个新窗口，</a:t>
            </a:r>
          </a:p>
          <a:p>
            <a:pPr marL="342900" marR="0">
              <a:lnSpc>
                <a:spcPts val="3690"/>
              </a:lnSpc>
              <a:spcBef>
                <a:spcPts val="3032"/>
              </a:spcBef>
              <a:spcAft>
                <a:spcPts val="0"/>
              </a:spcAft>
            </a:pPr>
            <a:r>
              <a:rPr sz="2800" dirty="0" err="1">
                <a:solidFill>
                  <a:srgbClr val="000000"/>
                </a:solidFill>
                <a:latin typeface="Microsoft YaHei"/>
                <a:cs typeface="Microsoft YaHei"/>
              </a:rPr>
              <a:t>输入语句并保存，使用快</a:t>
            </a:r>
            <a:r>
              <a:rPr lang="zh-CN" altLang="en-US" sz="2800" dirty="0">
                <a:solidFill>
                  <a:srgbClr val="000000"/>
                </a:solidFill>
                <a:latin typeface="Microsoft YaHei"/>
                <a:cs typeface="Microsoft YaHei"/>
              </a:rPr>
              <a:t>捷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键F5即可运行该程序</a:t>
            </a:r>
            <a:endParaRPr lang="en-US" sz="2800" dirty="0">
              <a:solidFill>
                <a:srgbClr val="000000"/>
              </a:solidFill>
              <a:latin typeface="Microsoft YaHei"/>
              <a:cs typeface="Microsoft YaHei"/>
            </a:endParaRPr>
          </a:p>
          <a:p>
            <a:pPr marL="342900" marR="0">
              <a:lnSpc>
                <a:spcPts val="3690"/>
              </a:lnSpc>
              <a:spcBef>
                <a:spcPts val="3032"/>
              </a:spcBef>
              <a:spcAft>
                <a:spcPts val="0"/>
              </a:spcAft>
            </a:pPr>
            <a:r>
              <a:rPr lang="zh-CN" altLang="en-US" sz="2800" dirty="0">
                <a:solidFill>
                  <a:srgbClr val="000000"/>
                </a:solidFill>
                <a:latin typeface="Microsoft YaHei"/>
                <a:cs typeface="Microsoft YaHei"/>
              </a:rPr>
              <a:t>每位同学上机实验时以名字建立文件夹，下课拷贝删除</a:t>
            </a:r>
            <a:endParaRPr sz="2800" dirty="0">
              <a:solidFill>
                <a:srgbClr val="000000"/>
              </a:solidFill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1167993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启动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74243" y="2226632"/>
            <a:ext cx="8306993" cy="18648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690"/>
              </a:lnSpc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-89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spc="92" dirty="0">
                <a:solidFill>
                  <a:srgbClr val="000000"/>
                </a:solidFill>
                <a:latin typeface="Microsoft YaHei"/>
                <a:cs typeface="Microsoft YaHei"/>
              </a:rPr>
              <a:t>方法</a:t>
            </a:r>
            <a:r>
              <a:rPr sz="2800" spc="98" dirty="0">
                <a:solidFill>
                  <a:srgbClr val="000000"/>
                </a:solidFill>
                <a:latin typeface="Microsoft YaHei"/>
                <a:cs typeface="Microsoft YaHei"/>
              </a:rPr>
              <a:t>5</a:t>
            </a:r>
            <a:r>
              <a:rPr sz="2800" spc="93" dirty="0">
                <a:solidFill>
                  <a:srgbClr val="000000"/>
                </a:solidFill>
                <a:latin typeface="Microsoft YaHei"/>
                <a:cs typeface="Microsoft YaHei"/>
              </a:rPr>
              <a:t>：</a:t>
            </a:r>
            <a:r>
              <a:rPr sz="2800" spc="93" dirty="0">
                <a:solidFill>
                  <a:srgbClr val="000000"/>
                </a:solidFill>
                <a:latin typeface="+mn-ea"/>
                <a:cs typeface="Microsoft YaHei"/>
              </a:rPr>
              <a:t>将</a:t>
            </a:r>
            <a:r>
              <a:rPr sz="2800" spc="18" dirty="0">
                <a:solidFill>
                  <a:srgbClr val="000000"/>
                </a:solidFill>
                <a:latin typeface="+mn-ea"/>
                <a:cs typeface="Microsoft YaHei"/>
              </a:rPr>
              <a:t>Python</a:t>
            </a:r>
            <a:r>
              <a:rPr sz="2800" spc="93" dirty="0">
                <a:solidFill>
                  <a:srgbClr val="000000"/>
                </a:solidFill>
                <a:latin typeface="+mn-ea"/>
                <a:cs typeface="Microsoft YaHei"/>
              </a:rPr>
              <a:t>集成到</a:t>
            </a:r>
            <a:r>
              <a:rPr lang="en-US" sz="2800" spc="93" dirty="0">
                <a:solidFill>
                  <a:srgbClr val="000000"/>
                </a:solidFill>
                <a:latin typeface="+mn-ea"/>
                <a:cs typeface="Microsoft YaHei"/>
              </a:rPr>
              <a:t>Jupyter</a:t>
            </a:r>
            <a:r>
              <a:rPr lang="zh-CN" altLang="en-US" sz="2800" spc="93" dirty="0">
                <a:solidFill>
                  <a:srgbClr val="000000"/>
                </a:solidFill>
                <a:latin typeface="+mn-ea"/>
                <a:cs typeface="Microsoft YaHei"/>
              </a:rPr>
              <a:t>、</a:t>
            </a:r>
            <a:r>
              <a:rPr sz="2800" spc="14" dirty="0" err="1">
                <a:solidFill>
                  <a:srgbClr val="000000"/>
                </a:solidFill>
                <a:latin typeface="+mn-ea"/>
                <a:cs typeface="Microsoft YaHei"/>
              </a:rPr>
              <a:t>Eclipse</a:t>
            </a:r>
            <a:r>
              <a:rPr sz="2800" spc="92" dirty="0" err="1">
                <a:solidFill>
                  <a:srgbClr val="000000"/>
                </a:solidFill>
                <a:latin typeface="+mn-ea"/>
                <a:cs typeface="Microsoft YaHei"/>
              </a:rPr>
              <a:t>、</a:t>
            </a:r>
            <a:r>
              <a:rPr sz="2800" spc="18" dirty="0" err="1">
                <a:solidFill>
                  <a:srgbClr val="000000"/>
                </a:solidFill>
                <a:latin typeface="+mn-ea"/>
                <a:cs typeface="Microsoft YaHei"/>
              </a:rPr>
              <a:t>PyCharm</a:t>
            </a:r>
            <a:r>
              <a:rPr sz="2800" spc="92" dirty="0" err="1">
                <a:solidFill>
                  <a:srgbClr val="000000"/>
                </a:solidFill>
                <a:latin typeface="+mn-ea"/>
                <a:cs typeface="Microsoft YaHei"/>
              </a:rPr>
              <a:t>等面</a:t>
            </a:r>
            <a:r>
              <a:rPr lang="zh-CN" altLang="en-US" sz="2800" b="1" dirty="0">
                <a:solidFill>
                  <a:srgbClr val="000000"/>
                </a:solidFill>
                <a:latin typeface="+mn-ea"/>
                <a:cs typeface="Microsoft YaHei"/>
              </a:rPr>
              <a:t>向较大规模项目开发的集成开发环境中</a:t>
            </a:r>
          </a:p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endParaRPr sz="2800" spc="92" dirty="0">
              <a:solidFill>
                <a:srgbClr val="000000"/>
              </a:solidFill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2443276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Hello程序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17117" y="2010859"/>
            <a:ext cx="4414164" cy="506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采用上述某个方法，执行：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553210" y="2829774"/>
            <a:ext cx="6327342" cy="9436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30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程序的基本编写方法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87094" y="762923"/>
            <a:ext cx="4072948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IPO程序编写方法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29716" y="2046935"/>
            <a:ext cx="2031033" cy="4322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03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输入数据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29716" y="2687396"/>
            <a:ext cx="2031033" cy="10722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03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处理数据</a:t>
            </a:r>
          </a:p>
          <a:p>
            <a:pPr marL="0" marR="0">
              <a:lnSpc>
                <a:spcPts val="3103"/>
              </a:lnSpc>
              <a:spcBef>
                <a:spcPts val="1936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输出数据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87094" y="762923"/>
            <a:ext cx="4072948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IPO程序编写方法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29716" y="2046935"/>
            <a:ext cx="2031033" cy="4322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03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输入数据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29716" y="2719164"/>
            <a:ext cx="7972551" cy="23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72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输入（</a:t>
            </a:r>
            <a:r>
              <a:rPr sz="2800" dirty="0">
                <a:solidFill>
                  <a:srgbClr val="000000"/>
                </a:solidFill>
                <a:latin typeface="Palatino Linotype"/>
                <a:cs typeface="Palatino Linotype"/>
              </a:rPr>
              <a:t>Input</a:t>
            </a: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）是一个程序的开始。程序要处理的</a:t>
            </a:r>
          </a:p>
          <a:p>
            <a:pPr marL="0" marR="0">
              <a:lnSpc>
                <a:spcPts val="2795"/>
              </a:lnSpc>
              <a:spcBef>
                <a:spcPts val="180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数据有多种来源，形成了多种输入方式，包括：文</a:t>
            </a:r>
          </a:p>
          <a:p>
            <a:pPr marL="0" marR="0">
              <a:lnSpc>
                <a:spcPts val="2798"/>
              </a:lnSpc>
              <a:spcBef>
                <a:spcPts val="2241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件输入、网络输入、控制台输入、交互界面输出、</a:t>
            </a:r>
          </a:p>
          <a:p>
            <a:pPr marL="0" marR="0">
              <a:lnSpc>
                <a:spcPts val="2795"/>
              </a:lnSpc>
              <a:spcBef>
                <a:spcPts val="2295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随机数据输入、内部参数输入等。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87094" y="762923"/>
            <a:ext cx="4072948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IPO程序编写方法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29716" y="2046935"/>
            <a:ext cx="2031033" cy="4322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03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处理数据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29716" y="2719164"/>
            <a:ext cx="8262764" cy="2680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72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处理（</a:t>
            </a:r>
            <a:r>
              <a:rPr sz="2800" dirty="0">
                <a:solidFill>
                  <a:srgbClr val="000000"/>
                </a:solidFill>
                <a:latin typeface="Palatino Linotype"/>
                <a:cs typeface="Palatino Linotype"/>
              </a:rPr>
              <a:t>Process</a:t>
            </a: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）是程序对输入数据进行计算产生输</a:t>
            </a:r>
          </a:p>
          <a:p>
            <a:pPr marL="0" marR="0">
              <a:lnSpc>
                <a:spcPts val="2795"/>
              </a:lnSpc>
              <a:spcBef>
                <a:spcPts val="1800"/>
              </a:spcBef>
              <a:spcAft>
                <a:spcPts val="0"/>
              </a:spcAft>
            </a:pPr>
            <a:r>
              <a:rPr sz="2800" dirty="0" err="1">
                <a:solidFill>
                  <a:srgbClr val="000000"/>
                </a:solidFill>
                <a:latin typeface="KaiTi"/>
                <a:cs typeface="KaiTi"/>
              </a:rPr>
              <a:t>出结果的过程</a:t>
            </a: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。</a:t>
            </a:r>
            <a:endParaRPr lang="en-US" sz="2800" dirty="0">
              <a:solidFill>
                <a:srgbClr val="000000"/>
              </a:solidFill>
              <a:latin typeface="KaiTi"/>
              <a:cs typeface="KaiTi"/>
            </a:endParaRPr>
          </a:p>
          <a:p>
            <a:pPr marL="0" marR="0">
              <a:lnSpc>
                <a:spcPts val="2795"/>
              </a:lnSpc>
              <a:spcBef>
                <a:spcPts val="180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计算问题的处理方法统称为“</a:t>
            </a:r>
            <a:r>
              <a:rPr sz="2800" dirty="0" err="1">
                <a:solidFill>
                  <a:srgbClr val="000000"/>
                </a:solidFill>
                <a:latin typeface="KaiTi"/>
                <a:cs typeface="KaiTi"/>
              </a:rPr>
              <a:t>算法</a:t>
            </a: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”，</a:t>
            </a:r>
            <a:r>
              <a:rPr sz="2800" dirty="0" err="1">
                <a:solidFill>
                  <a:srgbClr val="000000"/>
                </a:solidFill>
                <a:latin typeface="KaiTi"/>
                <a:cs typeface="KaiTi"/>
              </a:rPr>
              <a:t>它是程序最重要的组成部分。可以说，算法是一个程序的灵魂</a:t>
            </a: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。</a:t>
            </a:r>
            <a:endParaRPr lang="en-US" sz="2800" dirty="0">
              <a:solidFill>
                <a:srgbClr val="000000"/>
              </a:solidFill>
              <a:latin typeface="KaiTi"/>
              <a:cs typeface="KaiTi"/>
            </a:endParaRPr>
          </a:p>
          <a:p>
            <a:pPr marL="0" marR="0">
              <a:lnSpc>
                <a:spcPts val="2795"/>
              </a:lnSpc>
              <a:spcBef>
                <a:spcPts val="2295"/>
              </a:spcBef>
              <a:spcAft>
                <a:spcPts val="0"/>
              </a:spcAft>
            </a:pPr>
            <a:r>
              <a:rPr lang="zh-CN" altLang="en-US" sz="2800" dirty="0">
                <a:solidFill>
                  <a:srgbClr val="000000"/>
                </a:solidFill>
                <a:latin typeface="KaiTi"/>
                <a:cs typeface="KaiTi"/>
              </a:rPr>
              <a:t>列表</a:t>
            </a:r>
            <a:r>
              <a:rPr lang="en-US" altLang="zh-CN" sz="2800" dirty="0">
                <a:solidFill>
                  <a:srgbClr val="000000"/>
                </a:solidFill>
                <a:latin typeface="KaiTi"/>
                <a:cs typeface="KaiTi"/>
              </a:rPr>
              <a:t>-</a:t>
            </a:r>
            <a:r>
              <a:rPr lang="zh-CN" altLang="en-US" sz="2800" dirty="0">
                <a:solidFill>
                  <a:srgbClr val="000000"/>
                </a:solidFill>
                <a:latin typeface="KaiTi"/>
                <a:cs typeface="KaiTi"/>
              </a:rPr>
              <a:t>查表</a:t>
            </a:r>
            <a:endParaRPr sz="2800" dirty="0">
              <a:solidFill>
                <a:srgbClr val="000000"/>
              </a:solidFill>
              <a:latin typeface="KaiTi"/>
              <a:cs typeface="KaiT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87094" y="762923"/>
            <a:ext cx="4072948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IPO程序编写方法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29716" y="2046935"/>
            <a:ext cx="2031033" cy="4322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03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输出数据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29716" y="2633820"/>
            <a:ext cx="8107967" cy="17410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72"/>
              </a:lnSpc>
              <a:spcBef>
                <a:spcPts val="0"/>
              </a:spcBef>
              <a:spcAft>
                <a:spcPts val="0"/>
              </a:spcAft>
            </a:pPr>
            <a:r>
              <a:rPr sz="2800" spc="20" dirty="0">
                <a:solidFill>
                  <a:srgbClr val="000000"/>
                </a:solidFill>
                <a:latin typeface="KaiTi"/>
                <a:cs typeface="KaiTi"/>
              </a:rPr>
              <a:t>输出（</a:t>
            </a:r>
            <a:r>
              <a:rPr sz="2800" dirty="0">
                <a:solidFill>
                  <a:srgbClr val="000000"/>
                </a:solidFill>
                <a:latin typeface="Palatino Linotype"/>
                <a:cs typeface="Palatino Linotype"/>
              </a:rPr>
              <a:t>Output</a:t>
            </a:r>
            <a:r>
              <a:rPr sz="2800" spc="18" dirty="0">
                <a:solidFill>
                  <a:srgbClr val="000000"/>
                </a:solidFill>
                <a:latin typeface="KaiTi"/>
                <a:cs typeface="KaiTi"/>
              </a:rPr>
              <a:t>）是程序展示运算成果的方式。程序</a:t>
            </a:r>
          </a:p>
          <a:p>
            <a:pPr marL="0" marR="0">
              <a:lnSpc>
                <a:spcPts val="2795"/>
              </a:lnSpc>
              <a:spcBef>
                <a:spcPts val="1800"/>
              </a:spcBef>
              <a:spcAft>
                <a:spcPts val="0"/>
              </a:spcAft>
            </a:pPr>
            <a:r>
              <a:rPr sz="2800" spc="50" dirty="0">
                <a:solidFill>
                  <a:srgbClr val="000000"/>
                </a:solidFill>
                <a:latin typeface="KaiTi"/>
                <a:cs typeface="KaiTi"/>
              </a:rPr>
              <a:t>的输出方式包括：控制台输出、图形输出、文件输</a:t>
            </a:r>
          </a:p>
          <a:p>
            <a:pPr marL="0" marR="0">
              <a:lnSpc>
                <a:spcPts val="2798"/>
              </a:lnSpc>
              <a:spcBef>
                <a:spcPts val="2241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出、网络输出、操作系统内部变量输出等。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87094" y="762923"/>
            <a:ext cx="4072948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IPO程序编写方法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29716" y="1993359"/>
            <a:ext cx="4257468" cy="5171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72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微实例</a:t>
            </a:r>
            <a:r>
              <a:rPr sz="2800" dirty="0">
                <a:solidFill>
                  <a:srgbClr val="000000"/>
                </a:solidFill>
                <a:latin typeface="Palatino Linotype"/>
                <a:cs typeface="Palatino Linotype"/>
              </a:rPr>
              <a:t>1.1</a:t>
            </a: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圆面积的计算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29716" y="3359244"/>
            <a:ext cx="3292200" cy="5171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72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输入：圆半径</a:t>
            </a:r>
            <a:r>
              <a:rPr sz="2800" dirty="0">
                <a:solidFill>
                  <a:srgbClr val="000000"/>
                </a:solidFill>
                <a:latin typeface="Palatino Linotype"/>
                <a:cs typeface="Palatino Linotype"/>
              </a:rPr>
              <a:t>raduis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29716" y="4084348"/>
            <a:ext cx="8055864" cy="11578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75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处理：计算圆面积</a:t>
            </a:r>
            <a:r>
              <a:rPr sz="2800" dirty="0">
                <a:solidFill>
                  <a:srgbClr val="000000"/>
                </a:solidFill>
                <a:latin typeface="Palatino Linotype"/>
                <a:cs typeface="Palatino Linotype"/>
              </a:rPr>
              <a:t>area</a:t>
            </a:r>
            <a:r>
              <a:rPr sz="2800" spc="-28" dirty="0">
                <a:solidFill>
                  <a:srgbClr val="000000"/>
                </a:solidFill>
                <a:latin typeface="Palatino Linotype"/>
                <a:cs typeface="Palatino Linotype"/>
              </a:rPr>
              <a:t> </a:t>
            </a:r>
            <a:r>
              <a:rPr sz="2800" dirty="0">
                <a:solidFill>
                  <a:srgbClr val="000000"/>
                </a:solidFill>
                <a:latin typeface="Palatino Linotype"/>
                <a:cs typeface="Palatino Linotype"/>
              </a:rPr>
              <a:t>= π * radius * radius </a:t>
            </a: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（此处</a:t>
            </a:r>
          </a:p>
          <a:p>
            <a:pPr marL="0" marR="0">
              <a:lnSpc>
                <a:spcPts val="3772"/>
              </a:lnSpc>
              <a:spcBef>
                <a:spcPts val="1219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，</a:t>
            </a:r>
            <a:r>
              <a:rPr sz="2800" dirty="0">
                <a:solidFill>
                  <a:srgbClr val="000000"/>
                </a:solidFill>
                <a:latin typeface="Palatino Linotype"/>
                <a:cs typeface="Palatino Linotype"/>
              </a:rPr>
              <a:t>π</a:t>
            </a:r>
            <a:r>
              <a:rPr sz="2800" spc="10" dirty="0">
                <a:solidFill>
                  <a:srgbClr val="000000"/>
                </a:solidFill>
                <a:latin typeface="KaiTi"/>
                <a:cs typeface="KaiTi"/>
              </a:rPr>
              <a:t>取</a:t>
            </a:r>
            <a:r>
              <a:rPr sz="2800" dirty="0">
                <a:solidFill>
                  <a:srgbClr val="000000"/>
                </a:solidFill>
                <a:latin typeface="Palatino Linotype"/>
                <a:cs typeface="Palatino Linotype"/>
              </a:rPr>
              <a:t>3.1415</a:t>
            </a: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）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29716" y="5450106"/>
            <a:ext cx="2955849" cy="5175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75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输出：圆面积</a:t>
            </a:r>
            <a:r>
              <a:rPr sz="2800" dirty="0">
                <a:solidFill>
                  <a:srgbClr val="000000"/>
                </a:solidFill>
                <a:latin typeface="Palatino Linotype"/>
                <a:cs typeface="Palatino Linotype"/>
              </a:rPr>
              <a:t>area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87094" y="762923"/>
            <a:ext cx="4722571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使用计算机解决问题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29716" y="2046935"/>
            <a:ext cx="5587009" cy="36332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03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 err="1">
                <a:solidFill>
                  <a:srgbClr val="000000"/>
                </a:solidFill>
                <a:latin typeface="KaiTi"/>
                <a:cs typeface="KaiTi"/>
              </a:rPr>
              <a:t>分析问题</a:t>
            </a:r>
            <a:r>
              <a:rPr lang="zh-CN" altLang="en-US" sz="2800" dirty="0">
                <a:solidFill>
                  <a:srgbClr val="000000"/>
                </a:solidFill>
                <a:latin typeface="KaiTi"/>
                <a:cs typeface="KaiTi"/>
              </a:rPr>
              <a:t>，</a:t>
            </a:r>
            <a:r>
              <a:rPr sz="2800" dirty="0" err="1">
                <a:solidFill>
                  <a:srgbClr val="000000"/>
                </a:solidFill>
                <a:latin typeface="KaiTi"/>
                <a:cs typeface="KaiTi"/>
              </a:rPr>
              <a:t>分析问题的计算部分</a:t>
            </a:r>
            <a:endParaRPr sz="2800" dirty="0">
              <a:solidFill>
                <a:srgbClr val="000000"/>
              </a:solidFill>
              <a:latin typeface="KaiTi"/>
              <a:cs typeface="KaiTi"/>
            </a:endParaRPr>
          </a:p>
          <a:p>
            <a:pPr marL="0" marR="0">
              <a:lnSpc>
                <a:spcPts val="3103"/>
              </a:lnSpc>
              <a:spcBef>
                <a:spcPts val="1939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 err="1">
                <a:solidFill>
                  <a:srgbClr val="000000"/>
                </a:solidFill>
                <a:latin typeface="KaiTi"/>
                <a:cs typeface="KaiTi"/>
              </a:rPr>
              <a:t>划分边界</a:t>
            </a:r>
            <a:r>
              <a:rPr lang="zh-CN" altLang="en-US" sz="2800" dirty="0">
                <a:solidFill>
                  <a:srgbClr val="000000"/>
                </a:solidFill>
                <a:latin typeface="KaiTi"/>
                <a:cs typeface="KaiTi"/>
              </a:rPr>
              <a:t>，</a:t>
            </a:r>
            <a:r>
              <a:rPr sz="2800" dirty="0" err="1">
                <a:solidFill>
                  <a:srgbClr val="000000"/>
                </a:solidFill>
                <a:latin typeface="KaiTi"/>
                <a:cs typeface="KaiTi"/>
              </a:rPr>
              <a:t>划分问题的功能边界</a:t>
            </a:r>
            <a:endParaRPr sz="2800" dirty="0">
              <a:solidFill>
                <a:srgbClr val="000000"/>
              </a:solidFill>
              <a:latin typeface="KaiTi"/>
              <a:cs typeface="KaiTi"/>
            </a:endParaRPr>
          </a:p>
          <a:p>
            <a:pPr marL="0" marR="0">
              <a:lnSpc>
                <a:spcPts val="3103"/>
              </a:lnSpc>
              <a:spcBef>
                <a:spcPts val="1986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 err="1">
                <a:solidFill>
                  <a:srgbClr val="000000"/>
                </a:solidFill>
                <a:latin typeface="KaiTi"/>
                <a:cs typeface="KaiTi"/>
              </a:rPr>
              <a:t>设计算法</a:t>
            </a:r>
            <a:r>
              <a:rPr lang="zh-CN" altLang="en-US" sz="2800" dirty="0">
                <a:solidFill>
                  <a:srgbClr val="000000"/>
                </a:solidFill>
                <a:latin typeface="KaiTi"/>
                <a:cs typeface="KaiTi"/>
              </a:rPr>
              <a:t>，</a:t>
            </a:r>
            <a:r>
              <a:rPr sz="2800" dirty="0" err="1">
                <a:solidFill>
                  <a:srgbClr val="000000"/>
                </a:solidFill>
                <a:latin typeface="KaiTi"/>
                <a:cs typeface="KaiTi"/>
              </a:rPr>
              <a:t>设计问题的求解算法</a:t>
            </a:r>
            <a:endParaRPr sz="2800" dirty="0">
              <a:solidFill>
                <a:srgbClr val="000000"/>
              </a:solidFill>
              <a:latin typeface="KaiTi"/>
              <a:cs typeface="KaiTi"/>
            </a:endParaRPr>
          </a:p>
          <a:p>
            <a:pPr marL="0" marR="0">
              <a:lnSpc>
                <a:spcPts val="3105"/>
              </a:lnSpc>
              <a:spcBef>
                <a:spcPts val="1934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编写程序，编写问题的计算程序</a:t>
            </a:r>
          </a:p>
          <a:p>
            <a:pPr marL="0" marR="0">
              <a:lnSpc>
                <a:spcPts val="3103"/>
              </a:lnSpc>
              <a:spcBef>
                <a:spcPts val="1988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调试测试，调试和测试程序</a:t>
            </a:r>
          </a:p>
          <a:p>
            <a:pPr marL="0" marR="0">
              <a:lnSpc>
                <a:spcPts val="3103"/>
              </a:lnSpc>
              <a:spcBef>
                <a:spcPts val="1936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Wingdings"/>
                <a:cs typeface="Wingdings"/>
              </a:rPr>
              <a:t></a:t>
            </a:r>
            <a:r>
              <a:rPr sz="2800" spc="8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KaiTi"/>
                <a:cs typeface="KaiTi"/>
              </a:rPr>
              <a:t>升级维护，适应问题的升级维护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50517" y="2829774"/>
            <a:ext cx="6588986" cy="9436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30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Python语言版本更迭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5424525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Python语言的版本更迭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12240" y="2226632"/>
            <a:ext cx="7570316" cy="30677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127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更高级别的3.0系列不兼容早期2.0系列</a:t>
            </a:r>
          </a:p>
          <a:p>
            <a:pPr marL="0" marR="0">
              <a:lnSpc>
                <a:spcPts val="3690"/>
              </a:lnSpc>
              <a:spcBef>
                <a:spcPts val="3032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127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spc="17" dirty="0">
                <a:solidFill>
                  <a:srgbClr val="000000"/>
                </a:solidFill>
                <a:latin typeface="Microsoft YaHei"/>
                <a:cs typeface="Microsoft YaHei"/>
              </a:rPr>
              <a:t>2008</a:t>
            </a:r>
            <a:r>
              <a:rPr sz="2800" spc="79" dirty="0">
                <a:solidFill>
                  <a:srgbClr val="000000"/>
                </a:solidFill>
                <a:latin typeface="Microsoft YaHei"/>
                <a:cs typeface="Microsoft YaHei"/>
              </a:rPr>
              <a:t>年至今，版本更迭带来大量库函数的升</a:t>
            </a:r>
          </a:p>
          <a:p>
            <a:pPr marL="0" marR="0">
              <a:lnSpc>
                <a:spcPts val="3693"/>
              </a:lnSpc>
              <a:spcBef>
                <a:spcPts val="3027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级替换，Python语言的版本更迭痛苦且漫长</a:t>
            </a:r>
          </a:p>
          <a:p>
            <a:pPr marL="0" marR="0">
              <a:lnSpc>
                <a:spcPts val="3690"/>
              </a:lnSpc>
              <a:spcBef>
                <a:spcPts val="3081"/>
              </a:spcBef>
              <a:spcAft>
                <a:spcPts val="0"/>
              </a:spcAft>
            </a:pPr>
            <a:r>
              <a:rPr sz="2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800" spc="127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到今天，Python</a:t>
            </a:r>
            <a:r>
              <a:rPr sz="2800" spc="10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3.x系列已经成为主流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79271" y="762923"/>
            <a:ext cx="2183587" cy="7083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7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本章小结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12240" y="2226632"/>
            <a:ext cx="7575854" cy="39214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800" spc="128" dirty="0">
                <a:solidFill>
                  <a:srgbClr val="000000"/>
                </a:solidFill>
                <a:latin typeface="Microsoft YaHei"/>
                <a:cs typeface="Microsoft YaHei"/>
              </a:rPr>
              <a:t>本章具体讲解了计算机的基本定义、计算机的</a:t>
            </a:r>
          </a:p>
          <a:p>
            <a:pPr marL="0" marR="0">
              <a:lnSpc>
                <a:spcPts val="3690"/>
              </a:lnSpc>
              <a:spcBef>
                <a:spcPts val="3032"/>
              </a:spcBef>
              <a:spcAft>
                <a:spcPts val="0"/>
              </a:spcAft>
            </a:pPr>
            <a:r>
              <a:rPr sz="2800" spc="128" dirty="0">
                <a:solidFill>
                  <a:srgbClr val="000000"/>
                </a:solidFill>
                <a:latin typeface="Microsoft YaHei"/>
                <a:cs typeface="Microsoft YaHei"/>
              </a:rPr>
              <a:t>功能性和可编程性、程序设计语言分类、编译</a:t>
            </a:r>
          </a:p>
          <a:p>
            <a:pPr marL="0" marR="0">
              <a:lnSpc>
                <a:spcPts val="3693"/>
              </a:lnSpc>
              <a:spcBef>
                <a:spcPts val="3027"/>
              </a:spcBef>
              <a:spcAft>
                <a:spcPts val="0"/>
              </a:spcAft>
            </a:pPr>
            <a:r>
              <a:rPr sz="2800" spc="465" dirty="0">
                <a:solidFill>
                  <a:srgbClr val="000000"/>
                </a:solidFill>
                <a:latin typeface="Microsoft YaHei"/>
                <a:cs typeface="Microsoft YaHei"/>
              </a:rPr>
              <a:t>和解释、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Python</a:t>
            </a:r>
            <a:r>
              <a:rPr sz="2800" spc="465" dirty="0">
                <a:solidFill>
                  <a:srgbClr val="000000"/>
                </a:solidFill>
                <a:latin typeface="Microsoft YaHei"/>
                <a:cs typeface="Microsoft YaHei"/>
              </a:rPr>
              <a:t>语言的历史和发展、配置</a:t>
            </a:r>
          </a:p>
          <a:p>
            <a:pPr marL="0" marR="0">
              <a:lnSpc>
                <a:spcPts val="3690"/>
              </a:lnSpc>
              <a:spcBef>
                <a:spcPts val="3081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Python</a:t>
            </a:r>
            <a:r>
              <a:rPr sz="2800" spc="20" dirty="0">
                <a:solidFill>
                  <a:srgbClr val="000000"/>
                </a:solidFill>
                <a:latin typeface="Microsoft YaHei"/>
                <a:cs typeface="Microsoft YaHei"/>
              </a:rPr>
              <a:t>开发环境等内容，最后给出了</a:t>
            </a: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Python版</a:t>
            </a:r>
          </a:p>
          <a:p>
            <a:pPr marL="0" marR="0">
              <a:lnSpc>
                <a:spcPts val="3690"/>
              </a:lnSpc>
              <a:spcBef>
                <a:spcPts val="3032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Microsoft YaHei"/>
                <a:cs typeface="Microsoft YaHei"/>
              </a:rPr>
              <a:t>本的主要区别供参考。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885442" y="2829774"/>
            <a:ext cx="5216777" cy="9436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30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Python实例展示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479294" y="4183026"/>
            <a:ext cx="2552972" cy="253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9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000000"/>
                </a:solidFill>
                <a:latin typeface="Courier New"/>
                <a:cs typeface="Courier New"/>
              </a:rPr>
              <a:t>from PIL import Image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479294" y="4525672"/>
            <a:ext cx="4267218" cy="1283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01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000000"/>
                </a:solidFill>
                <a:latin typeface="Courier New"/>
                <a:cs typeface="Courier New"/>
              </a:rPr>
              <a:t>from PIL import ImageFilter</a:t>
            </a:r>
          </a:p>
          <a:p>
            <a:pPr marL="0" marR="0">
              <a:lnSpc>
                <a:spcPts val="1699"/>
              </a:lnSpc>
              <a:spcBef>
                <a:spcPts val="1002"/>
              </a:spcBef>
              <a:spcAft>
                <a:spcPts val="0"/>
              </a:spcAft>
            </a:pPr>
            <a:r>
              <a:rPr sz="1500" b="1" dirty="0">
                <a:solidFill>
                  <a:srgbClr val="000000"/>
                </a:solidFill>
                <a:latin typeface="Courier New"/>
                <a:cs typeface="Courier New"/>
              </a:rPr>
              <a:t>im = Image.open('np.jpg')</a:t>
            </a:r>
          </a:p>
          <a:p>
            <a:pPr marL="0" marR="0">
              <a:lnSpc>
                <a:spcPts val="1699"/>
              </a:lnSpc>
              <a:spcBef>
                <a:spcPts val="1000"/>
              </a:spcBef>
              <a:spcAft>
                <a:spcPts val="0"/>
              </a:spcAft>
            </a:pPr>
            <a:r>
              <a:rPr sz="1500" b="1" dirty="0">
                <a:solidFill>
                  <a:srgbClr val="000000"/>
                </a:solidFill>
                <a:latin typeface="Courier New"/>
                <a:cs typeface="Courier New"/>
              </a:rPr>
              <a:t>e33 = im.filter(ImageFilter.CONTOUR)</a:t>
            </a:r>
          </a:p>
          <a:p>
            <a:pPr marL="0" marR="0">
              <a:lnSpc>
                <a:spcPts val="1699"/>
              </a:lnSpc>
              <a:spcBef>
                <a:spcPts val="1000"/>
              </a:spcBef>
              <a:spcAft>
                <a:spcPts val="0"/>
              </a:spcAft>
            </a:pPr>
            <a:r>
              <a:rPr sz="1500" b="1" dirty="0">
                <a:solidFill>
                  <a:srgbClr val="000000"/>
                </a:solidFill>
                <a:latin typeface="Courier New"/>
                <a:cs typeface="Courier New"/>
              </a:rPr>
              <a:t>e33.save('E(33).jpg')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1100</TotalTime>
  <Words>989</Words>
  <Application>Microsoft Office PowerPoint</Application>
  <PresentationFormat>全屏显示(4:3)</PresentationFormat>
  <Paragraphs>257</Paragraphs>
  <Slides>59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59</vt:i4>
      </vt:variant>
    </vt:vector>
  </HeadingPairs>
  <TitlesOfParts>
    <vt:vector size="72" baseType="lpstr">
      <vt:lpstr>Courier New</vt:lpstr>
      <vt:lpstr>楷体</vt:lpstr>
      <vt:lpstr>微软雅黑</vt:lpstr>
      <vt:lpstr>Arial</vt:lpstr>
      <vt:lpstr>SimSun</vt:lpstr>
      <vt:lpstr>Palatino Linotype</vt:lpstr>
      <vt:lpstr>Times New Roman</vt:lpstr>
      <vt:lpstr>微软雅黑</vt:lpstr>
      <vt:lpstr>楷体</vt:lpstr>
      <vt:lpstr>Calibri</vt:lpstr>
      <vt:lpstr>SimHei</vt:lpstr>
      <vt:lpstr>Wingdings</vt:lpstr>
      <vt:lpstr>Theme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hongwei</dc:creator>
  <cp:lastModifiedBy>Administrator</cp:lastModifiedBy>
  <cp:revision>18</cp:revision>
  <dcterms:modified xsi:type="dcterms:W3CDTF">2024-11-10T13:28:17Z</dcterms:modified>
</cp:coreProperties>
</file>