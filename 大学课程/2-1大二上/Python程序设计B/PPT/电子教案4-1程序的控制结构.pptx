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9144000" cy="6858000" type="screen4x3"/>
  <p:notesSz cx="9144000" cy="6858000"/>
  <p:embeddedFontLst>
    <p:embeddedFont>
      <p:font typeface="SimHei" panose="02010609060101010101" pitchFamily="49" charset="-122"/>
      <p:regular r:id="rId65"/>
    </p:embeddedFont>
    <p:embeddedFont>
      <p:font typeface="KaiTi" panose="02010609060101010101" pitchFamily="49" charset="-122"/>
      <p:regular r:id="rId66"/>
    </p:embeddedFont>
    <p:embeddedFont>
      <p:font typeface="Microsoft YaHei" panose="020B0503020204020204" pitchFamily="34" charset="-122"/>
      <p:regular r:id="rId67"/>
      <p:bold r:id="rId68"/>
    </p:embeddedFont>
    <p:embeddedFont>
      <p:font typeface="Microsoft YaHei" panose="020B0503020204020204" pitchFamily="34" charset="-122"/>
      <p:regular r:id="rId67"/>
      <p:bold r:id="rId68"/>
    </p:embeddedFont>
    <p:embeddedFont>
      <p:font typeface="Palatino Linotype" panose="02040502050505030304" pitchFamily="18" charset="0"/>
      <p:regular r:id="rId69"/>
      <p:bold r:id="rId70"/>
      <p:italic r:id="rId71"/>
      <p:boldItalic r:id="rId7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210" y="77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2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8718" y="1859885"/>
            <a:ext cx="7863531" cy="116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907"/>
              </a:lnSpc>
              <a:spcBef>
                <a:spcPts val="0"/>
              </a:spcBef>
              <a:spcAft>
                <a:spcPts val="0"/>
              </a:spcAft>
            </a:pPr>
            <a:r>
              <a:rPr sz="6600" dirty="0">
                <a:solidFill>
                  <a:srgbClr val="000000"/>
                </a:solidFill>
                <a:latin typeface="Palatino Linotype"/>
                <a:cs typeface="Palatino Linotype"/>
              </a:rPr>
              <a:t>Python</a:t>
            </a:r>
            <a:r>
              <a:rPr sz="6600" dirty="0">
                <a:solidFill>
                  <a:srgbClr val="000000"/>
                </a:solidFill>
                <a:latin typeface="SimHei"/>
                <a:cs typeface="SimHei"/>
              </a:rPr>
              <a:t>语言程序设计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5242" y="3816201"/>
            <a:ext cx="3645661" cy="575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28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北京理工大学</a:t>
            </a:r>
            <a:r>
              <a:rPr sz="3200" spc="107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嵩天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9114" y="2334433"/>
            <a:ext cx="7617307" cy="1072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94"/>
              </a:lnSpc>
              <a:spcBef>
                <a:spcPts val="0"/>
              </a:spcBef>
              <a:spcAft>
                <a:spcPts val="0"/>
              </a:spcAft>
            </a:pP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第</a:t>
            </a:r>
            <a:r>
              <a:rPr sz="6000" dirty="0">
                <a:solidFill>
                  <a:srgbClr val="000000"/>
                </a:solidFill>
                <a:latin typeface="Palatino Linotype"/>
                <a:cs typeface="Palatino Linotype"/>
              </a:rPr>
              <a:t>4</a:t>
            </a: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章</a:t>
            </a:r>
            <a:r>
              <a:rPr sz="6000" spc="2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0" dirty="0">
                <a:solidFill>
                  <a:srgbClr val="000000"/>
                </a:solidFill>
                <a:latin typeface="Microsoft YaHei"/>
                <a:cs typeface="Microsoft YaHei"/>
              </a:rPr>
              <a:t>程序的控制结构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程序的基本结构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程序的流程图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913" y="2014283"/>
            <a:ext cx="9305236" cy="694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程序流程图用一系列图形、流程线和文字说明描述程序的基本操作和</a:t>
            </a:r>
          </a:p>
          <a:p>
            <a:pPr marL="0" marR="0">
              <a:lnSpc>
                <a:spcPts val="2400"/>
              </a:lnSpc>
              <a:spcBef>
                <a:spcPts val="37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控制流程，它是程序分析和过程描述的最基本方式。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6913" y="3084238"/>
            <a:ext cx="3781704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流程图的基本元素包括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程序的流程图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79345" y="5511934"/>
            <a:ext cx="4688509" cy="291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sz="1800" spc="11" dirty="0">
                <a:solidFill>
                  <a:srgbClr val="000000"/>
                </a:solidFill>
                <a:latin typeface="SimSun"/>
                <a:cs typeface="SimSun"/>
              </a:rPr>
              <a:t>程序流程图示例：由连接点</a:t>
            </a:r>
            <a:r>
              <a:rPr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800" spc="11" dirty="0">
                <a:solidFill>
                  <a:srgbClr val="000000"/>
                </a:solidFill>
                <a:latin typeface="SimSun"/>
                <a:cs typeface="SimSun"/>
              </a:rPr>
              <a:t>连接的一个程序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程序的基本结构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465" y="2033847"/>
            <a:ext cx="781750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顺序结构是程序的基础，但单一的顺序结构不可能解决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6365" y="2582487"/>
            <a:ext cx="167761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所有问题。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53465" y="3131508"/>
            <a:ext cx="415625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程序由三种基本结构组成：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25345" y="3680148"/>
            <a:ext cx="17145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</a:t>
            </a:r>
            <a:r>
              <a:rPr sz="2400" spc="3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顺序结构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25345" y="4228788"/>
            <a:ext cx="17145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</a:t>
            </a:r>
            <a:r>
              <a:rPr sz="2400" spc="3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分支结构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25345" y="4777682"/>
            <a:ext cx="17145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</a:t>
            </a:r>
            <a:r>
              <a:rPr sz="2400" spc="3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循环结构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53465" y="5326347"/>
            <a:ext cx="7817508" cy="98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这些基本结构都有一个入口和一个出口。任何程序都由</a:t>
            </a:r>
          </a:p>
          <a:p>
            <a:pPr marL="34290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这三种基本结构组合而成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程序的基本结构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442" y="1785435"/>
            <a:ext cx="84201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顺序结构是程序按照线性顺序依次执行的一种运行方式，其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8342" y="2333752"/>
            <a:ext cx="7753649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中语句块1S1和语句块S2表示一个或一组顺序执行的语句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程序的基本结构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2868" y="1798828"/>
            <a:ext cx="8390227" cy="1538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分支结构是程序根据条件判断结果而选择不同向前执行路径的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一种运行方式，包括单分支结构和二分支结构。由二分支结构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会组合形成多分支结构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程序的基本结构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1390" y="1731587"/>
            <a:ext cx="7772400" cy="1537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循环结构是程序根据条件判断结果向后反复执行的一种运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行方式，根据循环体触发条件不同，包括条件循环和遍历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循环结构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程序的基本结构实例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1757681"/>
            <a:ext cx="8305012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对于一个计算问题，可以用IPO描述、流程图描述或者直接以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9917" y="2307024"/>
            <a:ext cx="301297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Python代码方式描述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31028" y="2850160"/>
            <a:ext cx="4052950" cy="31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ts val="0"/>
              </a:spcBef>
              <a:spcAft>
                <a:spcPts val="0"/>
              </a:spcAft>
            </a:pPr>
            <a:r>
              <a:rPr sz="2000" spc="15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4.1</a:t>
            </a:r>
            <a:r>
              <a:rPr sz="2000" spc="14" dirty="0">
                <a:solidFill>
                  <a:srgbClr val="000000"/>
                </a:solidFill>
                <a:latin typeface="SimSun"/>
                <a:cs typeface="SimSun"/>
              </a:rPr>
              <a:t>：圆面积和周长的计算。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74191" y="3926094"/>
            <a:ext cx="1651424" cy="31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aiTi"/>
                <a:cs typeface="KaiTi"/>
              </a:rPr>
              <a:t>输入：圆半径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4191" y="4358782"/>
            <a:ext cx="841247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spc="11" dirty="0">
                <a:solidFill>
                  <a:srgbClr val="000000"/>
                </a:solidFill>
                <a:latin typeface="KaiTi"/>
                <a:cs typeface="KaiTi"/>
              </a:rPr>
              <a:t>处理：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081395" y="4423131"/>
            <a:ext cx="228490" cy="867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1</a:t>
            </a:r>
          </a:p>
          <a:p>
            <a:pPr marL="0" marR="0">
              <a:lnSpc>
                <a:spcPts val="1131"/>
              </a:lnSpc>
              <a:spcBef>
                <a:spcPts val="669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28"/>
              </a:lnSpc>
              <a:spcBef>
                <a:spcPts val="672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28"/>
              </a:lnSpc>
              <a:spcBef>
                <a:spcPts val="67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14770" y="4434784"/>
            <a:ext cx="2208667" cy="3977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R =</a:t>
            </a:r>
            <a:r>
              <a:rPr sz="9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eval(input("</a:t>
            </a:r>
            <a:r>
              <a:rPr sz="900" dirty="0">
                <a:solidFill>
                  <a:srgbClr val="000000"/>
                </a:solidFill>
                <a:latin typeface="SimSun"/>
                <a:cs typeface="SimSun"/>
              </a:rPr>
              <a:t>请输入圆半径</a:t>
            </a: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:"))</a:t>
            </a:r>
          </a:p>
          <a:p>
            <a:pPr marL="0" marR="0">
              <a:lnSpc>
                <a:spcPts val="1019"/>
              </a:lnSpc>
              <a:spcBef>
                <a:spcPts val="768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S = 3.1415*R*R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74191" y="4748764"/>
            <a:ext cx="1993298" cy="317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aiTi"/>
                <a:cs typeface="KaiTi"/>
              </a:rPr>
              <a:t>圆面积：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S = π*R*R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14770" y="4893529"/>
            <a:ext cx="1109864" cy="167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L = 2*3.1415*R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14770" y="5120584"/>
            <a:ext cx="1684450" cy="170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900" dirty="0">
                <a:solidFill>
                  <a:srgbClr val="000000"/>
                </a:solidFill>
                <a:latin typeface="SimSun"/>
                <a:cs typeface="SimSun"/>
              </a:rPr>
              <a:t>面积和周长</a:t>
            </a: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:",S,L)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74191" y="5160788"/>
            <a:ext cx="1977256" cy="31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aiTi"/>
                <a:cs typeface="KaiTi"/>
              </a:rPr>
              <a:t>圆周长：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L</a:t>
            </a:r>
            <a:r>
              <a:rPr sz="18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= 2*π*R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74191" y="5497691"/>
            <a:ext cx="2492638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aiTi"/>
                <a:cs typeface="KaiTi"/>
              </a:rPr>
              <a:t>输出：圆面积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S</a:t>
            </a:r>
            <a:r>
              <a:rPr sz="1800" dirty="0">
                <a:solidFill>
                  <a:srgbClr val="000000"/>
                </a:solidFill>
                <a:latin typeface="KaiTi"/>
                <a:cs typeface="KaiTi"/>
              </a:rPr>
              <a:t>、周长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L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50633" y="6135926"/>
            <a:ext cx="1380743" cy="2557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1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Python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代码描述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34769" y="6274305"/>
            <a:ext cx="1120730" cy="2557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1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问题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IPO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程序的基本结构实例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6617" y="1970635"/>
            <a:ext cx="3937152" cy="3332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2000" spc="15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2000" b="1" dirty="0">
                <a:solidFill>
                  <a:srgbClr val="000000"/>
                </a:solidFill>
                <a:latin typeface="Courier New"/>
                <a:cs typeface="Courier New"/>
              </a:rPr>
              <a:t>4.2</a:t>
            </a:r>
            <a:r>
              <a:rPr sz="2000" spc="15" dirty="0">
                <a:solidFill>
                  <a:srgbClr val="000000"/>
                </a:solidFill>
                <a:latin typeface="SimSun"/>
                <a:cs typeface="SimSun"/>
              </a:rPr>
              <a:t>：实数绝对值的计算。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07250" y="4030924"/>
            <a:ext cx="1787652" cy="399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R</a:t>
            </a:r>
            <a:r>
              <a:rPr sz="900" b="1" spc="3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900" b="1" spc="3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eval(input("</a:t>
            </a:r>
            <a:r>
              <a:rPr sz="900" dirty="0">
                <a:solidFill>
                  <a:srgbClr val="000000"/>
                </a:solidFill>
                <a:latin typeface="SimSun"/>
                <a:cs typeface="SimSun"/>
              </a:rPr>
              <a:t>输</a:t>
            </a:r>
            <a:r>
              <a:rPr sz="9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SimSun"/>
                <a:cs typeface="SimSun"/>
              </a:rPr>
              <a:t>入</a:t>
            </a:r>
            <a:r>
              <a:rPr sz="9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SimSun"/>
                <a:cs typeface="SimSun"/>
              </a:rPr>
              <a:t>实</a:t>
            </a:r>
          </a:p>
          <a:p>
            <a:pPr marL="0" marR="0">
              <a:lnSpc>
                <a:spcPts val="1019"/>
              </a:lnSpc>
              <a:spcBef>
                <a:spcPts val="756"/>
              </a:spcBef>
              <a:spcAft>
                <a:spcPts val="0"/>
              </a:spcAft>
            </a:pPr>
            <a:r>
              <a:rPr sz="900" spc="11" dirty="0">
                <a:solidFill>
                  <a:srgbClr val="000000"/>
                </a:solidFill>
                <a:latin typeface="SimSun"/>
                <a:cs typeface="SimSun"/>
              </a:rPr>
              <a:t>数</a:t>
            </a: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:"))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56425" y="4133825"/>
            <a:ext cx="228307" cy="867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1</a:t>
            </a:r>
          </a:p>
          <a:p>
            <a:pPr marL="0" marR="0">
              <a:lnSpc>
                <a:spcPts val="1128"/>
              </a:lnSpc>
              <a:spcBef>
                <a:spcPts val="67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28"/>
              </a:lnSpc>
              <a:spcBef>
                <a:spcPts val="67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28"/>
              </a:lnSpc>
              <a:spcBef>
                <a:spcPts val="67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07250" y="4489670"/>
            <a:ext cx="905267" cy="167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if (R &lt;</a:t>
            </a:r>
            <a:r>
              <a:rPr sz="9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0):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07250" y="4718270"/>
            <a:ext cx="563891" cy="167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R = -R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207250" y="4945578"/>
            <a:ext cx="1251253" cy="170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900" dirty="0">
                <a:solidFill>
                  <a:srgbClr val="000000"/>
                </a:solidFill>
                <a:latin typeface="SimSun"/>
                <a:cs typeface="SimSun"/>
              </a:rPr>
              <a:t>绝对值</a:t>
            </a: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",R)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71144" y="6249585"/>
            <a:ext cx="1694688" cy="31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(a)</a:t>
            </a:r>
            <a:r>
              <a:rPr sz="18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问题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IPO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29126" y="6249585"/>
            <a:ext cx="1607820" cy="31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(b)</a:t>
            </a:r>
            <a:r>
              <a:rPr sz="180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流程图描述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979284" y="6248061"/>
            <a:ext cx="2017776" cy="31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(c)</a:t>
            </a:r>
            <a:r>
              <a:rPr sz="1800" spc="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Python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代码描述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程序的基本结构实例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4044" y="1935583"/>
            <a:ext cx="2912617" cy="3332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2000" spc="15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2000" b="1" dirty="0">
                <a:solidFill>
                  <a:srgbClr val="000000"/>
                </a:solidFill>
                <a:latin typeface="Courier New"/>
                <a:cs typeface="Courier New"/>
              </a:rPr>
              <a:t>4.3</a:t>
            </a:r>
            <a:r>
              <a:rPr sz="2000" spc="15" dirty="0">
                <a:solidFill>
                  <a:srgbClr val="000000"/>
                </a:solidFill>
                <a:latin typeface="SimSun"/>
                <a:cs typeface="SimSun"/>
              </a:rPr>
              <a:t>：整数累加。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3465" y="3476768"/>
            <a:ext cx="1648402" cy="31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aiTi"/>
                <a:cs typeface="KaiTi"/>
              </a:rPr>
              <a:t>输入：正整数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92772" y="3706947"/>
            <a:ext cx="1787270" cy="399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R</a:t>
            </a:r>
            <a:r>
              <a:rPr sz="900" b="1" spc="10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900" b="1" spc="10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eval(input("</a:t>
            </a:r>
            <a:r>
              <a:rPr sz="900" spc="111" dirty="0">
                <a:solidFill>
                  <a:srgbClr val="000000"/>
                </a:solidFill>
                <a:latin typeface="SimSun"/>
                <a:cs typeface="SimSun"/>
              </a:rPr>
              <a:t>请输入正</a:t>
            </a:r>
          </a:p>
          <a:p>
            <a:pPr marL="0" marR="0">
              <a:lnSpc>
                <a:spcPts val="1019"/>
              </a:lnSpc>
              <a:spcBef>
                <a:spcPts val="756"/>
              </a:spcBef>
              <a:spcAft>
                <a:spcPts val="0"/>
              </a:spcAft>
            </a:pPr>
            <a:r>
              <a:rPr sz="900" spc="11" dirty="0">
                <a:solidFill>
                  <a:srgbClr val="000000"/>
                </a:solidFill>
                <a:latin typeface="SimSun"/>
                <a:cs typeface="SimSun"/>
              </a:rPr>
              <a:t>整数</a:t>
            </a: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:"))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41947" y="3809848"/>
            <a:ext cx="228307" cy="132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1</a:t>
            </a:r>
          </a:p>
          <a:p>
            <a:pPr marL="0" marR="0">
              <a:lnSpc>
                <a:spcPts val="1128"/>
              </a:lnSpc>
              <a:spcBef>
                <a:spcPts val="67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28"/>
              </a:lnSpc>
              <a:spcBef>
                <a:spcPts val="67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28"/>
              </a:lnSpc>
              <a:spcBef>
                <a:spcPts val="67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4</a:t>
            </a:r>
          </a:p>
          <a:p>
            <a:pPr marL="0" marR="0">
              <a:lnSpc>
                <a:spcPts val="1128"/>
              </a:lnSpc>
              <a:spcBef>
                <a:spcPts val="67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5</a:t>
            </a:r>
          </a:p>
          <a:p>
            <a:pPr marL="0" marR="0">
              <a:lnSpc>
                <a:spcPts val="1128"/>
              </a:lnSpc>
              <a:spcBef>
                <a:spcPts val="67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6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3465" y="3909456"/>
            <a:ext cx="83820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aiTi"/>
                <a:cs typeface="KaiTi"/>
              </a:rPr>
              <a:t>处理：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92772" y="4165947"/>
            <a:ext cx="905267" cy="167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i, S =</a:t>
            </a:r>
            <a:r>
              <a:rPr sz="9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0, 0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53465" y="4357560"/>
            <a:ext cx="1981479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S=1+2+3+…+R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92772" y="4394547"/>
            <a:ext cx="1040903" cy="396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while (i&lt;=R):</a:t>
            </a:r>
          </a:p>
          <a:p>
            <a:pPr marL="0" marR="0">
              <a:lnSpc>
                <a:spcPts val="1019"/>
              </a:lnSpc>
              <a:spcBef>
                <a:spcPts val="78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S = S +</a:t>
            </a:r>
            <a:r>
              <a:rPr sz="9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53465" y="4848749"/>
            <a:ext cx="1400714" cy="31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aiTi"/>
                <a:cs typeface="KaiTi"/>
              </a:rPr>
              <a:t>输出：输出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92772" y="4851747"/>
            <a:ext cx="768107" cy="167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i = i +</a:t>
            </a:r>
            <a:r>
              <a:rPr sz="9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92772" y="5078801"/>
            <a:ext cx="1365553" cy="170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900" dirty="0">
                <a:solidFill>
                  <a:srgbClr val="000000"/>
                </a:solidFill>
                <a:latin typeface="SimSun"/>
                <a:cs typeface="SimSun"/>
              </a:rPr>
              <a:t>累加求和</a:t>
            </a:r>
            <a:r>
              <a:rPr sz="900" b="1" dirty="0">
                <a:solidFill>
                  <a:srgbClr val="000000"/>
                </a:solidFill>
                <a:latin typeface="Courier New"/>
                <a:cs typeface="Courier New"/>
              </a:rPr>
              <a:t>",S)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36091" y="5967035"/>
            <a:ext cx="1694941" cy="31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(a)</a:t>
            </a:r>
            <a:r>
              <a:rPr sz="18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问题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IPO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740150" y="5967035"/>
            <a:ext cx="1607820" cy="31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(b)</a:t>
            </a:r>
            <a:r>
              <a:rPr sz="180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流程图描述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44005" y="5969793"/>
            <a:ext cx="2018461" cy="317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(c)</a:t>
            </a:r>
            <a:r>
              <a:rPr sz="1800" spc="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Python</a:t>
            </a:r>
          </a:p>
          <a:p>
            <a:pPr marL="951356" marR="0">
              <a:lnSpc>
                <a:spcPts val="1802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代码描述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程序的基本结构实例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1390" y="2285307"/>
            <a:ext cx="7687411" cy="98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IPO描述主要用于区分程序的输入输出关系，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重点在于结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构划分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，算法主要采用自然语言描述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1390" y="3382968"/>
            <a:ext cx="7467600" cy="15377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流程图描述侧重于描述算法的具体流程关系，流程图的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结构化关系相比自然语言描述更进一步，有助于阐述算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法的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具体操作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过程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1390" y="5029142"/>
            <a:ext cx="6670902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Python代码描述是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最终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的程序产出，最为细致。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程序的分支结构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292549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单分支结构: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if语句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7064" y="1785816"/>
            <a:ext cx="472320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Python中if语句的语法格式如下：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61795" y="2334133"/>
            <a:ext cx="1655611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if</a:t>
            </a:r>
            <a:r>
              <a:rPr sz="2400" spc="71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&lt;条件&gt;: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1795" y="2883350"/>
            <a:ext cx="10668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语句块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47064" y="3431990"/>
            <a:ext cx="7779713" cy="2635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语句块是if条件满足后执行的一个或多个语句序列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语句块中语句通过与if所在行形成缩进表达包含关系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if语句首先评估&lt;条件&gt;的结果值，如果结果为</a:t>
            </a:r>
            <a:r>
              <a:rPr sz="2400" spc="-57" dirty="0">
                <a:solidFill>
                  <a:srgbClr val="000000"/>
                </a:solidFill>
                <a:latin typeface="Microsoft YaHei"/>
                <a:cs typeface="Microsoft YaHei"/>
              </a:rPr>
              <a:t>True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，则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执行语句块里的语句序列，然后控制转向程序的下一条语</a:t>
            </a:r>
          </a:p>
          <a:p>
            <a:pPr marL="0" marR="0">
              <a:lnSpc>
                <a:spcPts val="3167"/>
              </a:lnSpc>
              <a:spcBef>
                <a:spcPts val="115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句。如果结果为</a:t>
            </a:r>
            <a:r>
              <a:rPr sz="2400" spc="-18" dirty="0">
                <a:solidFill>
                  <a:srgbClr val="000000"/>
                </a:solidFill>
                <a:latin typeface="Microsoft YaHei"/>
                <a:cs typeface="Microsoft YaHei"/>
              </a:rPr>
              <a:t>False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，语句块里的语句会被跳过。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292549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单分支结构: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if语句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1997271"/>
            <a:ext cx="7959179" cy="98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if语句中语句块执行与否依赖于条件判断。但无论什么情况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，控制都会转到if语句后与该语句同级别的下一条语句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38551" y="6249212"/>
            <a:ext cx="2132076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if</a:t>
            </a:r>
            <a:r>
              <a:rPr sz="1800" spc="11" dirty="0">
                <a:solidFill>
                  <a:srgbClr val="000000"/>
                </a:solidFill>
                <a:latin typeface="SimSun"/>
                <a:cs typeface="SimSun"/>
              </a:rPr>
              <a:t>语句的控制流程图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292549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单分支结构: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if语句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1666240"/>
            <a:ext cx="8564829" cy="1538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if语中&lt;条件&gt;部分可以使用任何能够产生</a:t>
            </a:r>
            <a:r>
              <a:rPr sz="2400" spc="-56" dirty="0">
                <a:solidFill>
                  <a:srgbClr val="000000"/>
                </a:solidFill>
                <a:latin typeface="Microsoft YaHei"/>
                <a:cs typeface="Microsoft YaHei"/>
              </a:rPr>
              <a:t>True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或</a:t>
            </a:r>
            <a:r>
              <a:rPr sz="2400" spc="-18" dirty="0">
                <a:solidFill>
                  <a:srgbClr val="000000"/>
                </a:solidFill>
                <a:latin typeface="Microsoft YaHei"/>
                <a:cs typeface="Microsoft YaHei"/>
              </a:rPr>
              <a:t>False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的语句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形成判断条件最常见的方式是采用关系操作符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Python语言共有6个关系操作符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08496" y="3805483"/>
            <a:ext cx="1045158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操作符含义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5622" y="3903400"/>
            <a:ext cx="687323" cy="537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操作符</a:t>
            </a:r>
          </a:p>
          <a:p>
            <a:pPr marL="198120" marR="0">
              <a:lnSpc>
                <a:spcPts val="1568"/>
              </a:lnSpc>
              <a:spcBef>
                <a:spcPts val="912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62653" y="3903400"/>
            <a:ext cx="865632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数学符号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49546" y="4203953"/>
            <a:ext cx="277692" cy="876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</a:p>
          <a:p>
            <a:pPr marL="27432" marR="0">
              <a:lnSpc>
                <a:spcPts val="1568"/>
              </a:lnSpc>
              <a:spcBef>
                <a:spcPts val="948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≤</a:t>
            </a:r>
          </a:p>
          <a:p>
            <a:pPr marL="27432" marR="0">
              <a:lnSpc>
                <a:spcPts val="1568"/>
              </a:lnSpc>
              <a:spcBef>
                <a:spcPts val="949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≥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135370" y="4213661"/>
            <a:ext cx="865632" cy="1175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8308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小于</a:t>
            </a:r>
          </a:p>
          <a:p>
            <a:pPr marL="0" marR="0">
              <a:lnSpc>
                <a:spcPts val="1403"/>
              </a:lnSpc>
              <a:spcBef>
                <a:spcPts val="11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小于等于</a:t>
            </a:r>
          </a:p>
          <a:p>
            <a:pPr marL="0" marR="0">
              <a:lnSpc>
                <a:spcPts val="1403"/>
              </a:lnSpc>
              <a:spcBef>
                <a:spcPts val="11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大于等于</a:t>
            </a:r>
          </a:p>
          <a:p>
            <a:pPr marL="178308" marR="0">
              <a:lnSpc>
                <a:spcPts val="1403"/>
              </a:lnSpc>
              <a:spcBef>
                <a:spcPts val="116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大于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26310" y="4523612"/>
            <a:ext cx="360658" cy="87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&lt;=</a:t>
            </a:r>
          </a:p>
          <a:p>
            <a:pPr marL="0" marR="0">
              <a:lnSpc>
                <a:spcPts val="1568"/>
              </a:lnSpc>
              <a:spcBef>
                <a:spcPts val="949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&gt;=</a:t>
            </a:r>
          </a:p>
          <a:p>
            <a:pPr marL="27432" marR="0">
              <a:lnSpc>
                <a:spcPts val="1568"/>
              </a:lnSpc>
              <a:spcBef>
                <a:spcPts val="949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&gt;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249546" y="5163184"/>
            <a:ext cx="280913" cy="503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&gt;</a:t>
            </a:r>
          </a:p>
          <a:p>
            <a:pPr marL="24384" marR="0">
              <a:lnSpc>
                <a:spcPts val="1568"/>
              </a:lnSpc>
              <a:spcBef>
                <a:spcPts val="531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=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226310" y="5483173"/>
            <a:ext cx="360658" cy="557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==</a:t>
            </a:r>
          </a:p>
          <a:p>
            <a:pPr marL="28955" marR="0">
              <a:lnSpc>
                <a:spcPts val="1568"/>
              </a:lnSpc>
              <a:spcBef>
                <a:spcPts val="949"/>
              </a:spcBef>
              <a:spcAft>
                <a:spcPts val="0"/>
              </a:spcAft>
            </a:pPr>
            <a:r>
              <a:rPr sz="1400" spc="-28" dirty="0">
                <a:solidFill>
                  <a:srgbClr val="000000"/>
                </a:solidFill>
                <a:latin typeface="Arial"/>
                <a:cs typeface="Arial"/>
              </a:rPr>
              <a:t>!</a:t>
            </a: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=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13678" y="5492881"/>
            <a:ext cx="509016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等于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23761" y="5812617"/>
            <a:ext cx="687323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不等于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292549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单分支结构: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if语句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54196" y="1522095"/>
            <a:ext cx="5455589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微实例4.4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：PM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2.5空气质量提醒（1）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6966" y="2002392"/>
            <a:ext cx="3128721" cy="340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8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输入：接收外部输入PM2.5值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6966" y="2414449"/>
            <a:ext cx="83820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处理：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6966" y="2825929"/>
            <a:ext cx="5278221" cy="1163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if PM2.5值</a:t>
            </a:r>
            <a:r>
              <a:rPr sz="1800" spc="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&gt;=</a:t>
            </a:r>
            <a:r>
              <a:rPr sz="1800" spc="1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75，打印空气污染警告</a:t>
            </a:r>
          </a:p>
          <a:p>
            <a:pPr marL="0" marR="0">
              <a:lnSpc>
                <a:spcPts val="2375"/>
              </a:lnSpc>
              <a:spcBef>
                <a:spcPts val="81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if 35 &lt;=</a:t>
            </a:r>
            <a:r>
              <a:rPr sz="1800" spc="1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PM2.5值</a:t>
            </a:r>
            <a:r>
              <a:rPr sz="1800" spc="8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 75，打印空气污染警告</a:t>
            </a:r>
          </a:p>
          <a:p>
            <a:pPr marL="0" marR="0">
              <a:lnSpc>
                <a:spcPts val="2375"/>
              </a:lnSpc>
              <a:spcBef>
                <a:spcPts val="86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if PM2.5值</a:t>
            </a:r>
            <a:r>
              <a:rPr sz="1800" spc="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 35，打印空气质量优，建议户外运动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09365" y="4036759"/>
            <a:ext cx="1014448" cy="311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</a:p>
          <a:p>
            <a:pPr marL="608075" marR="0">
              <a:lnSpc>
                <a:spcPts val="215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4.4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74334" y="4033711"/>
            <a:ext cx="2178528" cy="311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m4.4PM25Warning.py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6966" y="4060623"/>
            <a:ext cx="266700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输出：打印空气质量提醒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01440" y="4761920"/>
            <a:ext cx="4251011" cy="4978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400" spc="96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PM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= eval(input("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请输入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PM2.5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数值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400" b="1" spc="-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"))</a:t>
            </a:r>
          </a:p>
          <a:p>
            <a:pPr marL="0" marR="0">
              <a:lnSpc>
                <a:spcPts val="1590"/>
              </a:lnSpc>
              <a:spcBef>
                <a:spcPts val="389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400" spc="96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 0&lt;=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PM &lt;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35: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901440" y="5272676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663440" y="5269412"/>
            <a:ext cx="3183809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空气优质，快去户外运动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!")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901440" y="5527235"/>
            <a:ext cx="2191834" cy="24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400" spc="96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 35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&lt;=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PM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&lt;75: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901440" y="5780220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663440" y="5778479"/>
            <a:ext cx="3255115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空气良好，适度户外活动！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901440" y="6034728"/>
            <a:ext cx="1766638" cy="24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400" spc="96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 75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&lt;=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PM: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901440" y="6289540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663440" y="6286276"/>
            <a:ext cx="2720191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空气污染，请小心！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43123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二分支结构: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31" dirty="0">
                <a:solidFill>
                  <a:srgbClr val="262626"/>
                </a:solidFill>
                <a:latin typeface="Microsoft YaHei"/>
                <a:cs typeface="Microsoft YaHei"/>
              </a:rPr>
              <a:t>if-else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2089" y="1922595"/>
            <a:ext cx="816575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Python中</a:t>
            </a:r>
            <a:r>
              <a:rPr sz="2400" spc="-20" dirty="0">
                <a:solidFill>
                  <a:srgbClr val="000000"/>
                </a:solidFill>
                <a:latin typeface="Microsoft YaHei"/>
                <a:cs typeface="Microsoft YaHei"/>
              </a:rPr>
              <a:t>if-else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语句用来形成二分支结构，语法格式如下：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43402" y="2470913"/>
            <a:ext cx="1655357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if</a:t>
            </a:r>
            <a:r>
              <a:rPr sz="2400" spc="72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&lt;条件&gt;: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43402" y="3020256"/>
            <a:ext cx="1968001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1271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&lt;语句块1&gt;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else: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704590" y="4117790"/>
            <a:ext cx="169768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&lt;语句块2&gt;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442" y="4696656"/>
            <a:ext cx="8016595" cy="2086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&lt;语句块1&gt;是在if条件满足后执行的一个或多个语句序列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&lt;语句块2&gt;是if条件不满足后执行的语句序列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二分支语句用于区分&lt;条件&gt;的两种可能</a:t>
            </a:r>
            <a:r>
              <a:rPr sz="2400" spc="-57" dirty="0">
                <a:solidFill>
                  <a:srgbClr val="000000"/>
                </a:solidFill>
                <a:latin typeface="Microsoft YaHei"/>
                <a:cs typeface="Microsoft YaHei"/>
              </a:rPr>
              <a:t>True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或者</a:t>
            </a:r>
            <a:r>
              <a:rPr sz="2400" spc="-23" dirty="0">
                <a:solidFill>
                  <a:srgbClr val="000000"/>
                </a:solidFill>
                <a:latin typeface="Microsoft YaHei"/>
                <a:cs typeface="Microsoft YaHei"/>
              </a:rPr>
              <a:t>False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，分别形成执行路径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43123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二分支结构: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31" dirty="0">
                <a:solidFill>
                  <a:srgbClr val="262626"/>
                </a:solidFill>
                <a:latin typeface="Microsoft YaHei"/>
                <a:cs typeface="Microsoft YaHei"/>
              </a:rPr>
              <a:t>if-else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61567" y="2015871"/>
            <a:ext cx="5455640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微实例4.5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：PM 2.5空气质量提醒（2）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4757" y="3323782"/>
            <a:ext cx="1014474" cy="311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4.5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9219" y="3320734"/>
            <a:ext cx="2178528" cy="311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m4.5PM25Warning.py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89050" y="4123237"/>
            <a:ext cx="4571715" cy="780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2100" baseline="-2812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2100" spc="654" baseline="-2812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2100" b="1" baseline="-2812" dirty="0">
                <a:solidFill>
                  <a:srgbClr val="000000"/>
                </a:solidFill>
                <a:latin typeface="Courier New"/>
                <a:cs typeface="Courier New"/>
              </a:rPr>
              <a:t>PM</a:t>
            </a:r>
            <a:r>
              <a:rPr sz="2100" b="1" spc="-432" baseline="-28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100" b="1" baseline="-2812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2100" b="1" spc="-420" baseline="-28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100" b="1" baseline="-2812" dirty="0">
                <a:solidFill>
                  <a:srgbClr val="000000"/>
                </a:solidFill>
                <a:latin typeface="Courier New"/>
                <a:cs typeface="Courier New"/>
              </a:rPr>
              <a:t>eval(input(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请输入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PM2.5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数值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"))</a:t>
            </a:r>
          </a:p>
          <a:p>
            <a:pPr marL="0" marR="0">
              <a:lnSpc>
                <a:spcPts val="1590"/>
              </a:lnSpc>
              <a:spcBef>
                <a:spcPts val="34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400" spc="107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 PM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&gt;=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75:</a:t>
            </a:r>
          </a:p>
          <a:p>
            <a:pPr marL="0" marR="0">
              <a:lnSpc>
                <a:spcPts val="1807"/>
              </a:lnSpc>
              <a:spcBef>
                <a:spcPts val="165"/>
              </a:spcBef>
              <a:spcAft>
                <a:spcPts val="0"/>
              </a:spcAft>
            </a:pPr>
            <a:r>
              <a:rPr sz="2100" baseline="-2837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2100" spc="654" baseline="-2837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2100" b="1" baseline="-2837" dirty="0">
                <a:solidFill>
                  <a:srgbClr val="000000"/>
                </a:solidFill>
                <a:latin typeface="Courier New"/>
                <a:cs typeface="Courier New"/>
              </a:rPr>
              <a:t>print(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空气存在污染，请小心！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89050" y="4906192"/>
            <a:ext cx="1107312" cy="2509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400" spc="107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else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：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4130" y="5139483"/>
            <a:ext cx="4343932" cy="273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空气没有污染，可以开展户外运动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!")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96669" y="5191630"/>
            <a:ext cx="24385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43123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二分支结构: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31" dirty="0">
                <a:solidFill>
                  <a:srgbClr val="262626"/>
                </a:solidFill>
                <a:latin typeface="Microsoft YaHei"/>
                <a:cs typeface="Microsoft YaHei"/>
              </a:rPr>
              <a:t>if-else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2868" y="2047055"/>
            <a:ext cx="7772400" cy="98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二分支结构还有一种更简洁的表达方式，适合通过判断返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回特定值，语法格式如下：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2868" y="3693229"/>
            <a:ext cx="560027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&lt;表达式1&gt;</a:t>
            </a:r>
            <a:r>
              <a:rPr sz="2400" spc="7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if</a:t>
            </a:r>
            <a:r>
              <a:rPr sz="2400" spc="72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&lt;条件&gt; else &lt;表达式2&gt;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25828" y="5142412"/>
            <a:ext cx="4011871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800" baseline="-1356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800" spc="765" baseline="-135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800" b="1" baseline="-1356" dirty="0">
                <a:solidFill>
                  <a:srgbClr val="000000"/>
                </a:solidFill>
                <a:latin typeface="Courier New"/>
                <a:cs typeface="Courier New"/>
              </a:rPr>
              <a:t>PM</a:t>
            </a:r>
            <a:r>
              <a:rPr sz="1800" b="1" spc="-348" baseline="-135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baseline="-1356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800" b="1" spc="-348" baseline="-135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baseline="-1356" dirty="0">
                <a:solidFill>
                  <a:srgbClr val="000000"/>
                </a:solidFill>
                <a:latin typeface="Courier New"/>
                <a:cs typeface="Courier New"/>
              </a:rPr>
              <a:t>eval(input(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spc="15" dirty="0">
                <a:solidFill>
                  <a:srgbClr val="000000"/>
                </a:solidFill>
                <a:latin typeface="SimSun"/>
                <a:cs typeface="SimSun"/>
              </a:rPr>
              <a:t>请输入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PM2.5</a:t>
            </a:r>
            <a:r>
              <a:rPr sz="1400" spc="15" dirty="0">
                <a:solidFill>
                  <a:srgbClr val="000000"/>
                </a:solidFill>
                <a:latin typeface="SimSun"/>
                <a:cs typeface="SimSun"/>
              </a:rPr>
              <a:t>数值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400" b="1" spc="-4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"))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25828" y="5396920"/>
            <a:ext cx="6163706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200" spc="112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print(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spc="15" dirty="0">
                <a:solidFill>
                  <a:srgbClr val="000000"/>
                </a:solidFill>
                <a:latin typeface="SimSun"/>
                <a:cs typeface="SimSun"/>
              </a:rPr>
              <a:t>空气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{}</a:t>
            </a:r>
            <a:r>
              <a:rPr sz="1400" spc="17" dirty="0">
                <a:solidFill>
                  <a:srgbClr val="000000"/>
                </a:solidFill>
                <a:latin typeface="SimSun"/>
                <a:cs typeface="SimSun"/>
              </a:rPr>
              <a:t>污染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!".format("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存在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b="1" spc="-4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PM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75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else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spc="15" dirty="0">
                <a:solidFill>
                  <a:srgbClr val="000000"/>
                </a:solidFill>
                <a:latin typeface="SimSun"/>
                <a:cs typeface="SimSun"/>
              </a:rPr>
              <a:t>没有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))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43123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二分支结构: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31" dirty="0">
                <a:solidFill>
                  <a:srgbClr val="262626"/>
                </a:solidFill>
                <a:latin typeface="Microsoft YaHei"/>
                <a:cs typeface="Microsoft YaHei"/>
              </a:rPr>
              <a:t>if-else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7344" y="2330773"/>
            <a:ext cx="786080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if…else的紧凑结构非常适合对特殊值处理的情况，如下：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16710" y="3807859"/>
            <a:ext cx="143017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&gt;&gt;&gt;count 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16710" y="4137461"/>
            <a:ext cx="3775171" cy="27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&gt;&gt;&gt;count</a:t>
            </a:r>
            <a:r>
              <a:rPr sz="14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400" b="1" spc="-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count!=0</a:t>
            </a:r>
            <a:r>
              <a:rPr sz="1400" b="1" spc="-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else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不存在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16710" y="4493912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16710" y="4813953"/>
            <a:ext cx="1430088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&gt;&gt;&gt;count 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16710" y="5143301"/>
            <a:ext cx="3775171" cy="27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&gt;&gt;&gt;count</a:t>
            </a:r>
            <a:r>
              <a:rPr sz="14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400" b="1" spc="-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count!=0</a:t>
            </a:r>
            <a:r>
              <a:rPr sz="1400" b="1" spc="-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else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不存在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16710" y="5509417"/>
            <a:ext cx="1008602" cy="27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不存在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35782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多分支结构: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37" dirty="0">
                <a:solidFill>
                  <a:srgbClr val="262626"/>
                </a:solidFill>
                <a:latin typeface="Microsoft YaHei"/>
                <a:cs typeface="Microsoft YaHei"/>
              </a:rPr>
              <a:t>if-elif-else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1905255"/>
            <a:ext cx="7526608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Python的</a:t>
            </a:r>
            <a:r>
              <a:rPr sz="2400" spc="-23" dirty="0">
                <a:solidFill>
                  <a:srgbClr val="000000"/>
                </a:solidFill>
                <a:latin typeface="Microsoft YaHei"/>
                <a:cs typeface="Microsoft YaHei"/>
              </a:rPr>
              <a:t>if-elif-else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描述多分支结构，语句格式如下：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58645" y="2454471"/>
            <a:ext cx="2058298" cy="2635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if &lt;条件1&gt;:</a:t>
            </a:r>
          </a:p>
          <a:p>
            <a:pPr marL="361187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&lt;语句块1&gt;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elif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&lt;条件2&gt;:</a:t>
            </a:r>
          </a:p>
          <a:p>
            <a:pPr marL="361187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&lt;语句块2&gt;</a:t>
            </a:r>
          </a:p>
          <a:p>
            <a:pPr marL="0" marR="0">
              <a:lnSpc>
                <a:spcPts val="3167"/>
              </a:lnSpc>
              <a:spcBef>
                <a:spcPts val="115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...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58645" y="5198306"/>
            <a:ext cx="79384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else: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11273" y="5746971"/>
            <a:ext cx="176673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&lt;语句块N&gt;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35782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多分支结构: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37" dirty="0">
                <a:solidFill>
                  <a:srgbClr val="262626"/>
                </a:solidFill>
                <a:latin typeface="Microsoft YaHei"/>
                <a:cs typeface="Microsoft YaHei"/>
              </a:rPr>
              <a:t>if-elif-else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0967" y="2068517"/>
            <a:ext cx="8423754" cy="114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800" spc="16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多分支结构是二分支结构的扩展，这种形式通常用</a:t>
            </a:r>
          </a:p>
          <a:p>
            <a:pPr marL="45720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于设置同一个判断条件的多条执行路径。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0967" y="3348931"/>
            <a:ext cx="8577553" cy="2427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800" spc="16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Python依次评估寻找第一个结果为</a:t>
            </a:r>
            <a:r>
              <a:rPr sz="2800" spc="-66" dirty="0">
                <a:solidFill>
                  <a:srgbClr val="000000"/>
                </a:solidFill>
                <a:latin typeface="Microsoft YaHei"/>
                <a:cs typeface="Microsoft YaHei"/>
              </a:rPr>
              <a:t>True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的条件，执</a:t>
            </a:r>
          </a:p>
          <a:p>
            <a:pPr marL="45720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行该条件下的语句块，同时结束后跳过整个</a:t>
            </a:r>
            <a:r>
              <a:rPr sz="2800" spc="-34" dirty="0">
                <a:solidFill>
                  <a:srgbClr val="000000"/>
                </a:solidFill>
                <a:latin typeface="Microsoft YaHei"/>
                <a:cs typeface="Microsoft YaHei"/>
              </a:rPr>
              <a:t>if-elif-</a:t>
            </a:r>
          </a:p>
          <a:p>
            <a:pPr marL="457200" marR="0">
              <a:lnSpc>
                <a:spcPts val="3690"/>
              </a:lnSpc>
              <a:spcBef>
                <a:spcPts val="135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else结构，执行后面的语句。如果没有任何条件成</a:t>
            </a:r>
          </a:p>
          <a:p>
            <a:pPr marL="457200" marR="0">
              <a:lnSpc>
                <a:spcPts val="3690"/>
              </a:lnSpc>
              <a:spcBef>
                <a:spcPts val="130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立，else下面的语句块被执行。else子句是可选的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35782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多分支结构: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37" dirty="0">
                <a:solidFill>
                  <a:srgbClr val="262626"/>
                </a:solidFill>
                <a:latin typeface="Microsoft YaHei"/>
                <a:cs typeface="Microsoft YaHei"/>
              </a:rPr>
              <a:t>if-elif-else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1964124"/>
            <a:ext cx="765512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微实例4.4通过多条独立的if语句对同一个变量PM进行判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240" y="2512764"/>
            <a:ext cx="71628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断，这种情况更适合多分支结构，改造后的代码如下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23669" y="3804086"/>
            <a:ext cx="4807426" cy="526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6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PM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 eval(input("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请输入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PM2.5</a:t>
            </a:r>
            <a:r>
              <a:rPr sz="1600" spc="14" dirty="0">
                <a:solidFill>
                  <a:srgbClr val="000000"/>
                </a:solidFill>
                <a:latin typeface="SimSun"/>
                <a:cs typeface="SimSun"/>
              </a:rPr>
              <a:t>数值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600" b="1" spc="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"))</a:t>
            </a:r>
          </a:p>
          <a:p>
            <a:pPr marL="0" marR="0">
              <a:lnSpc>
                <a:spcPts val="1807"/>
              </a:lnSpc>
              <a:spcBef>
                <a:spcPts val="172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6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if 0&lt;=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PM &lt;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35: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23669" y="4311832"/>
            <a:ext cx="4440142" cy="526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600" spc="453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空气优质，快去户外运动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!")</a:t>
            </a:r>
          </a:p>
          <a:p>
            <a:pPr marL="0" marR="0">
              <a:lnSpc>
                <a:spcPts val="1807"/>
              </a:lnSpc>
              <a:spcBef>
                <a:spcPts val="17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6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elif 35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&lt;= 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PM</a:t>
            </a:r>
            <a:r>
              <a:rPr sz="16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&lt;75: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23669" y="4822989"/>
            <a:ext cx="27403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43963" y="4820848"/>
            <a:ext cx="3702145" cy="27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空气良好，适度户外活动！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23669" y="5077497"/>
            <a:ext cx="3419063" cy="523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6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  <a:p>
            <a:pPr marL="0" marR="0">
              <a:lnSpc>
                <a:spcPts val="1810"/>
              </a:lnSpc>
              <a:spcBef>
                <a:spcPts val="153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6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空气污染，请小心！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16320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身体质量指数BMI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1819" y="2837250"/>
            <a:ext cx="2162615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BMI的定义如下：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1819" y="3294704"/>
            <a:ext cx="3927906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BMI</a:t>
            </a:r>
            <a:r>
              <a:rPr sz="2000" spc="-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=</a:t>
            </a:r>
            <a:r>
              <a:rPr sz="2000" spc="-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体重（</a:t>
            </a:r>
            <a:r>
              <a:rPr sz="2000" spc="-20" dirty="0">
                <a:solidFill>
                  <a:srgbClr val="000000"/>
                </a:solidFill>
                <a:latin typeface="Microsoft YaHei"/>
                <a:cs typeface="Microsoft YaHei"/>
              </a:rPr>
              <a:t>kg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）÷身高</a:t>
            </a:r>
            <a:r>
              <a:rPr sz="2000" spc="-11" baseline="30100" dirty="0">
                <a:solidFill>
                  <a:srgbClr val="000000"/>
                </a:solidFill>
                <a:latin typeface="Microsoft YaHei"/>
                <a:cs typeface="Microsoft YaHei"/>
              </a:rPr>
              <a:t>2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（m</a:t>
            </a:r>
            <a:r>
              <a:rPr sz="2000" spc="-11" baseline="30100" dirty="0">
                <a:solidFill>
                  <a:srgbClr val="000000"/>
                </a:solidFill>
                <a:latin typeface="Microsoft YaHei"/>
                <a:cs typeface="Microsoft YaHei"/>
              </a:rPr>
              <a:t>2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91819" y="3751904"/>
            <a:ext cx="6937002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例如，一个人身高1.75米、体重75公斤，他的BMI值为24.49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16320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身体质量指数BMI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07617" y="2214823"/>
            <a:ext cx="7252776" cy="831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编写一个根据体重和身高计算BMI值的程序，并同时输出国际和</a:t>
            </a:r>
          </a:p>
          <a:p>
            <a:pPr marL="0" marR="0">
              <a:lnSpc>
                <a:spcPts val="2648"/>
              </a:lnSpc>
              <a:spcBef>
                <a:spcPts val="952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国内的BMI指标建议值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97607" y="3922069"/>
            <a:ext cx="557784" cy="2135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分类</a:t>
            </a:r>
          </a:p>
          <a:p>
            <a:pPr marL="0" marR="0">
              <a:lnSpc>
                <a:spcPts val="1596"/>
              </a:lnSpc>
              <a:spcBef>
                <a:spcPts val="190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偏瘦</a:t>
            </a:r>
          </a:p>
          <a:p>
            <a:pPr marL="0" marR="0">
              <a:lnSpc>
                <a:spcPts val="1596"/>
              </a:lnSpc>
              <a:spcBef>
                <a:spcPts val="219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正常</a:t>
            </a:r>
          </a:p>
          <a:p>
            <a:pPr marL="0" marR="0">
              <a:lnSpc>
                <a:spcPts val="1596"/>
              </a:lnSpc>
              <a:spcBef>
                <a:spcPts val="219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偏胖</a:t>
            </a:r>
          </a:p>
          <a:p>
            <a:pPr marL="0" marR="0">
              <a:lnSpc>
                <a:spcPts val="1596"/>
              </a:lnSpc>
              <a:spcBef>
                <a:spcPts val="219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肥胖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16146" y="3914430"/>
            <a:ext cx="2033270" cy="7148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国际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BMI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值（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kg/m</a:t>
            </a:r>
            <a:r>
              <a:rPr sz="1600" spc="28" baseline="29999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）</a:t>
            </a:r>
          </a:p>
          <a:p>
            <a:pPr marL="679704" marR="0">
              <a:lnSpc>
                <a:spcPts val="1767"/>
              </a:lnSpc>
              <a:spcBef>
                <a:spcPts val="173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&lt; 18.5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972302" y="3914430"/>
            <a:ext cx="2033270" cy="7148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国内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BMI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值（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kg/m</a:t>
            </a:r>
            <a:r>
              <a:rPr sz="1600" spc="27" baseline="29999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）</a:t>
            </a:r>
          </a:p>
          <a:p>
            <a:pPr marL="679704" marR="0">
              <a:lnSpc>
                <a:spcPts val="1767"/>
              </a:lnSpc>
              <a:spcBef>
                <a:spcPts val="173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&lt; 18.5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70883" y="4847689"/>
            <a:ext cx="922022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18.5 ~ 25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27038" y="4847689"/>
            <a:ext cx="922022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18.5 ~ 24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347083" y="5328892"/>
            <a:ext cx="770002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25 ~ 30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03238" y="5328892"/>
            <a:ext cx="770002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24 ~ 28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414139" y="5809917"/>
            <a:ext cx="634401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&gt;= 30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71818" y="5809917"/>
            <a:ext cx="634401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&gt;=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5552" y="374298"/>
            <a:ext cx="952804" cy="243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200" dirty="0">
                <a:solidFill>
                  <a:srgbClr val="000000"/>
                </a:solidFill>
                <a:latin typeface="Palatino Linotype"/>
                <a:cs typeface="Palatino Linotype"/>
              </a:rPr>
              <a:t>5.1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41676" y="374298"/>
            <a:ext cx="1148357" cy="243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Palatino Linotype"/>
                <a:cs typeface="Palatino Linotype"/>
              </a:rPr>
              <a:t>e5.1CalBMI.py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2653" y="743074"/>
            <a:ext cx="1753275" cy="211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200" spc="1022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#e5.1CalBMI.py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2653" y="994632"/>
            <a:ext cx="4788067" cy="467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200" spc="1022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height,</a:t>
            </a:r>
            <a:r>
              <a:rPr sz="1200" b="1" spc="3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weight</a:t>
            </a:r>
            <a:r>
              <a:rPr sz="1200" b="1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eval(input("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请输入身高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米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  <a:r>
              <a:rPr sz="1200" spc="12" dirty="0">
                <a:solidFill>
                  <a:srgbClr val="000000"/>
                </a:solidFill>
                <a:latin typeface="SimSun"/>
                <a:cs typeface="SimSun"/>
              </a:rPr>
              <a:t>和体重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\</a:t>
            </a:r>
          </a:p>
          <a:p>
            <a:pPr marL="312724" marR="0">
              <a:lnSpc>
                <a:spcPts val="1359"/>
              </a:lnSpc>
              <a:spcBef>
                <a:spcPts val="55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公斤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)[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逗号隔开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]:</a:t>
            </a:r>
            <a:r>
              <a:rPr sz="12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"))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2653" y="1505074"/>
            <a:ext cx="3830741" cy="7197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200" spc="1022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bmi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weight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/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pow(height,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2)</a:t>
            </a:r>
          </a:p>
          <a:p>
            <a:pPr marL="0" marR="0">
              <a:lnSpc>
                <a:spcPts val="1359"/>
              </a:lnSpc>
              <a:spcBef>
                <a:spcPts val="562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200" spc="1022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print("BMI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数值为：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{:.2f}".format(bmi))</a:t>
            </a:r>
          </a:p>
          <a:p>
            <a:pPr marL="0" marR="0">
              <a:lnSpc>
                <a:spcPts val="1359"/>
              </a:lnSpc>
              <a:spcBef>
                <a:spcPts val="62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200" b="1" spc="1022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wto, dom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"", 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""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52653" y="2264505"/>
            <a:ext cx="2795676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200" b="1" spc="1022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bmi</a:t>
            </a:r>
            <a:r>
              <a:rPr sz="1200" b="1" spc="2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&lt;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18.5:</a:t>
            </a:r>
            <a:r>
              <a:rPr sz="1200" b="1" spc="147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WTO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标准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52653" y="2520312"/>
            <a:ext cx="24385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6933" y="2519013"/>
            <a:ext cx="3733205" cy="1484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7252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wto</a:t>
            </a:r>
            <a:r>
              <a:rPr sz="12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偏瘦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  <a:p>
            <a:pPr marL="45720" marR="0">
              <a:lnSpc>
                <a:spcPts val="1359"/>
              </a:lnSpc>
              <a:spcBef>
                <a:spcPts val="57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  <a:r>
              <a:rPr sz="1200" b="1" spc="1022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elif bmi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&lt;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25:</a:t>
            </a:r>
            <a:r>
              <a:rPr sz="1200" b="1" spc="145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18.5 &lt;=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bmi &lt;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25</a:t>
            </a:r>
          </a:p>
          <a:p>
            <a:pPr marL="727252" marR="0">
              <a:lnSpc>
                <a:spcPts val="1359"/>
              </a:lnSpc>
              <a:spcBef>
                <a:spcPts val="614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wto</a:t>
            </a:r>
            <a:r>
              <a:rPr sz="12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正常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  <a:p>
            <a:pPr marL="0" marR="0">
              <a:lnSpc>
                <a:spcPts val="1362"/>
              </a:lnSpc>
              <a:spcBef>
                <a:spcPts val="618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  <a:r>
              <a:rPr sz="1200" b="1" spc="66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elif bmi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&lt;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30:</a:t>
            </a:r>
            <a:r>
              <a:rPr sz="1200" b="1" spc="145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25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&lt;=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bmi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&lt;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30</a:t>
            </a:r>
          </a:p>
          <a:p>
            <a:pPr marL="0" marR="0">
              <a:lnSpc>
                <a:spcPts val="1359"/>
              </a:lnSpc>
              <a:spcBef>
                <a:spcPts val="61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  <a:r>
              <a:rPr sz="1200" b="1" spc="356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wto</a:t>
            </a:r>
            <a:r>
              <a:rPr sz="12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偏胖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  <a:p>
            <a:pPr marL="0" marR="0">
              <a:lnSpc>
                <a:spcPts val="1359"/>
              </a:lnSpc>
              <a:spcBef>
                <a:spcPts val="63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  <a:r>
              <a:rPr sz="1200" b="1" spc="66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52653" y="3029327"/>
            <a:ext cx="24385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930519" y="3388905"/>
            <a:ext cx="518057" cy="268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930519" y="3751381"/>
            <a:ext cx="3080537" cy="1736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请输入身高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米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和体重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公</a:t>
            </a:r>
          </a:p>
          <a:p>
            <a:pPr marL="0" marR="0">
              <a:lnSpc>
                <a:spcPts val="1807"/>
              </a:lnSpc>
              <a:spcBef>
                <a:spcPts val="1029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斤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)[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逗号隔开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]:</a:t>
            </a:r>
            <a:r>
              <a:rPr sz="1600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1.75,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75</a:t>
            </a:r>
          </a:p>
          <a:p>
            <a:pPr marL="0" marR="0">
              <a:lnSpc>
                <a:spcPts val="1807"/>
              </a:lnSpc>
              <a:spcBef>
                <a:spcPts val="1079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BMI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数值为：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24.49</a:t>
            </a:r>
          </a:p>
          <a:p>
            <a:pPr marL="0" marR="0">
              <a:lnSpc>
                <a:spcPts val="1810"/>
              </a:lnSpc>
              <a:spcBef>
                <a:spcPts val="102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BMI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指标为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国际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正常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国内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</a:p>
          <a:p>
            <a:pPr marL="0" marR="0">
              <a:lnSpc>
                <a:spcPts val="1807"/>
              </a:lnSpc>
              <a:spcBef>
                <a:spcPts val="108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偏胖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06933" y="4044566"/>
            <a:ext cx="335309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34186" y="4043267"/>
            <a:ext cx="1195186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wto</a:t>
            </a:r>
            <a:r>
              <a:rPr sz="12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肥胖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06933" y="4296251"/>
            <a:ext cx="3423107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14</a:t>
            </a:r>
            <a:r>
              <a:rPr sz="1200" b="1" spc="66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bmi</a:t>
            </a:r>
            <a:r>
              <a:rPr sz="1200" b="1" spc="2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&lt;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18.5:</a:t>
            </a:r>
            <a:r>
              <a:rPr sz="1200" b="1" spc="220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 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我国卫生部标准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06933" y="4553581"/>
            <a:ext cx="3826169" cy="14818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15</a:t>
            </a:r>
          </a:p>
          <a:p>
            <a:pPr marL="0" marR="0">
              <a:lnSpc>
                <a:spcPts val="1362"/>
              </a:lnSpc>
              <a:spcBef>
                <a:spcPts val="63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16</a:t>
            </a:r>
            <a:r>
              <a:rPr sz="1200" b="1" spc="66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elif bmi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&lt;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24:</a:t>
            </a:r>
            <a:r>
              <a:rPr sz="1200" b="1" spc="217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18.5 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&lt;=</a:t>
            </a:r>
            <a:r>
              <a:rPr sz="12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bmi</a:t>
            </a:r>
            <a:r>
              <a:rPr sz="1200" b="1" spc="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&lt; 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24</a:t>
            </a:r>
          </a:p>
          <a:p>
            <a:pPr marL="0" marR="0">
              <a:lnSpc>
                <a:spcPts val="1359"/>
              </a:lnSpc>
              <a:spcBef>
                <a:spcPts val="56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17</a:t>
            </a:r>
            <a:r>
              <a:rPr sz="1200" b="1" spc="356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dom</a:t>
            </a:r>
            <a:r>
              <a:rPr sz="12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正常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  <a:p>
            <a:pPr marL="0" marR="0">
              <a:lnSpc>
                <a:spcPts val="1359"/>
              </a:lnSpc>
              <a:spcBef>
                <a:spcPts val="635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18</a:t>
            </a:r>
            <a:r>
              <a:rPr sz="1200" b="1" spc="66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elif bmi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&lt;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28:</a:t>
            </a:r>
            <a:r>
              <a:rPr sz="1200" b="1" spc="217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24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&lt;=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 bmi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&lt;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28</a:t>
            </a:r>
          </a:p>
          <a:p>
            <a:pPr marL="0" marR="0">
              <a:lnSpc>
                <a:spcPts val="1359"/>
              </a:lnSpc>
              <a:spcBef>
                <a:spcPts val="61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19</a:t>
            </a:r>
            <a:r>
              <a:rPr sz="1200" b="1" spc="356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dom</a:t>
            </a:r>
            <a:r>
              <a:rPr sz="12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偏胖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  <a:p>
            <a:pPr marL="0" marR="0">
              <a:lnSpc>
                <a:spcPts val="1359"/>
              </a:lnSpc>
              <a:spcBef>
                <a:spcPts val="623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20</a:t>
            </a:r>
            <a:r>
              <a:rPr sz="1200" b="1" spc="66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34186" y="4551013"/>
            <a:ext cx="1195186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dom</a:t>
            </a:r>
            <a:r>
              <a:rPr sz="12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偏瘦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06933" y="6077937"/>
            <a:ext cx="335309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21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34186" y="6075368"/>
            <a:ext cx="1195186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dom</a:t>
            </a:r>
            <a:r>
              <a:rPr sz="12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肥胖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06933" y="6329876"/>
            <a:ext cx="5441863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22</a:t>
            </a:r>
            <a:r>
              <a:rPr sz="1200" b="1" spc="66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print("BMI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指标为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国际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'{0}',</a:t>
            </a:r>
            <a:r>
              <a:rPr sz="1200" b="1" spc="3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国内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'{1}'".format(wto,</a:t>
            </a:r>
            <a:r>
              <a:rPr sz="1200" b="1" spc="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dom))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89760" y="849151"/>
            <a:ext cx="952754" cy="243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200" dirty="0">
                <a:solidFill>
                  <a:srgbClr val="000000"/>
                </a:solidFill>
                <a:latin typeface="Palatino Linotype"/>
                <a:cs typeface="Palatino Linotype"/>
              </a:rPr>
              <a:t>5.2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17391" y="849151"/>
            <a:ext cx="1148357" cy="243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Palatino Linotype"/>
                <a:cs typeface="Palatino Linotype"/>
              </a:rPr>
              <a:t>e5.2CalBMI.py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01647" y="1374634"/>
            <a:ext cx="1635189" cy="1981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100" spc="10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#e5.2CalBMI.py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01647" y="1626647"/>
            <a:ext cx="4412552" cy="453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100" spc="10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height,</a:t>
            </a:r>
            <a:r>
              <a:rPr sz="1100" b="1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weight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eval(input("</a:t>
            </a:r>
            <a:r>
              <a:rPr sz="1100" spc="10" dirty="0">
                <a:solidFill>
                  <a:srgbClr val="000000"/>
                </a:solidFill>
                <a:latin typeface="SimSun"/>
                <a:cs typeface="SimSun"/>
              </a:rPr>
              <a:t>请输入身高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米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和体重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\</a:t>
            </a:r>
          </a:p>
          <a:p>
            <a:pPr marL="305688" marR="0">
              <a:lnSpc>
                <a:spcPts val="1250"/>
              </a:lnSpc>
              <a:spcBef>
                <a:spcPts val="661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100" spc="15" dirty="0">
                <a:solidFill>
                  <a:srgbClr val="000000"/>
                </a:solidFill>
                <a:latin typeface="SimSun"/>
                <a:cs typeface="SimSun"/>
              </a:rPr>
              <a:t>公斤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)[</a:t>
            </a: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逗号隔开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]:</a:t>
            </a:r>
            <a:r>
              <a:rPr sz="1100" b="1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"))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01647" y="2136635"/>
            <a:ext cx="3540570" cy="705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100" spc="10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bmi = weight / pow(height, 2)</a:t>
            </a:r>
          </a:p>
          <a:p>
            <a:pPr marL="0" marR="0">
              <a:lnSpc>
                <a:spcPts val="1250"/>
              </a:lnSpc>
              <a:spcBef>
                <a:spcPts val="673"/>
              </a:spcBef>
              <a:spcAft>
                <a:spcPts val="0"/>
              </a:spcAft>
            </a:pPr>
            <a:r>
              <a:rPr sz="11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100" spc="10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print("BMI</a:t>
            </a:r>
            <a:r>
              <a:rPr sz="1100" spc="15" dirty="0">
                <a:solidFill>
                  <a:srgbClr val="000000"/>
                </a:solidFill>
                <a:latin typeface="SimSun"/>
                <a:cs typeface="SimSun"/>
              </a:rPr>
              <a:t>数值为：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{:.2f}".format(bmi))</a:t>
            </a:r>
          </a:p>
          <a:p>
            <a:pPr marL="0" marR="0">
              <a:lnSpc>
                <a:spcPts val="1250"/>
              </a:lnSpc>
              <a:spcBef>
                <a:spcPts val="734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100" b="1" spc="10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wto, dom = "", 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""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01647" y="2899016"/>
            <a:ext cx="1635189" cy="1980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100" b="1" spc="10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if bmi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&lt; 18.5: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01647" y="3152000"/>
            <a:ext cx="23653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960498" y="3150901"/>
            <a:ext cx="2828862" cy="961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3895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wto,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dom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= "</a:t>
            </a:r>
            <a:r>
              <a:rPr sz="1100" spc="15" dirty="0">
                <a:solidFill>
                  <a:srgbClr val="000000"/>
                </a:solidFill>
                <a:latin typeface="SimSun"/>
                <a:cs typeface="SimSun"/>
              </a:rPr>
              <a:t>偏瘦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1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100" spc="15" dirty="0">
                <a:solidFill>
                  <a:srgbClr val="000000"/>
                </a:solidFill>
                <a:latin typeface="SimSun"/>
                <a:cs typeface="SimSun"/>
              </a:rPr>
              <a:t>偏瘦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  <a:p>
            <a:pPr marL="41148" marR="0">
              <a:lnSpc>
                <a:spcPts val="1250"/>
              </a:lnSpc>
              <a:spcBef>
                <a:spcPts val="682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  <a:r>
              <a:rPr sz="1100" b="1" spc="10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elif 18.5 &lt;=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bmi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&lt;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24:</a:t>
            </a:r>
          </a:p>
          <a:p>
            <a:pPr marL="683895" marR="0">
              <a:lnSpc>
                <a:spcPts val="1250"/>
              </a:lnSpc>
              <a:spcBef>
                <a:spcPts val="723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wto,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dom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= "</a:t>
            </a:r>
            <a:r>
              <a:rPr sz="1100" spc="15" dirty="0">
                <a:solidFill>
                  <a:srgbClr val="000000"/>
                </a:solidFill>
                <a:latin typeface="SimSun"/>
                <a:cs typeface="SimSun"/>
              </a:rPr>
              <a:t>正常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1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100" spc="15" dirty="0">
                <a:solidFill>
                  <a:srgbClr val="000000"/>
                </a:solidFill>
                <a:latin typeface="SimSun"/>
                <a:cs typeface="SimSun"/>
              </a:rPr>
              <a:t>正常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  <a:p>
            <a:pPr marL="0" marR="0">
              <a:lnSpc>
                <a:spcPts val="1250"/>
              </a:lnSpc>
              <a:spcBef>
                <a:spcPts val="732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  <a:r>
              <a:rPr sz="1100" b="1" spc="7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elif 24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&lt;= bmi &lt;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25: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01647" y="3661016"/>
            <a:ext cx="23653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60498" y="4168762"/>
            <a:ext cx="320676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644394" y="4166266"/>
            <a:ext cx="2144967" cy="200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wto,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dom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= "</a:t>
            </a:r>
            <a:r>
              <a:rPr sz="1100" spc="15" dirty="0">
                <a:solidFill>
                  <a:srgbClr val="000000"/>
                </a:solidFill>
                <a:latin typeface="SimSun"/>
                <a:cs typeface="SimSun"/>
              </a:rPr>
              <a:t>正常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1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100" spc="15" dirty="0">
                <a:solidFill>
                  <a:srgbClr val="000000"/>
                </a:solidFill>
                <a:latin typeface="SimSun"/>
                <a:cs typeface="SimSun"/>
              </a:rPr>
              <a:t>偏胖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960498" y="4423269"/>
            <a:ext cx="2182305" cy="1981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  <a:r>
              <a:rPr sz="1100" b="1" spc="7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elif 25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&lt;= bmi &lt;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28: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960498" y="4676254"/>
            <a:ext cx="320676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644394" y="4675282"/>
            <a:ext cx="2144967" cy="200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wto,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dom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= "</a:t>
            </a:r>
            <a:r>
              <a:rPr sz="1100" spc="15" dirty="0">
                <a:solidFill>
                  <a:srgbClr val="000000"/>
                </a:solidFill>
                <a:latin typeface="SimSun"/>
                <a:cs typeface="SimSun"/>
              </a:rPr>
              <a:t>偏胖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1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100" spc="15" dirty="0">
                <a:solidFill>
                  <a:srgbClr val="000000"/>
                </a:solidFill>
                <a:latin typeface="SimSun"/>
                <a:cs typeface="SimSun"/>
              </a:rPr>
              <a:t>偏胖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960498" y="4930762"/>
            <a:ext cx="2182305" cy="1981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14</a:t>
            </a:r>
            <a:r>
              <a:rPr sz="1100" b="1" spc="7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elif 28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&lt;= bmi &lt;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30: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60498" y="5185270"/>
            <a:ext cx="320676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15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644394" y="5182775"/>
            <a:ext cx="2144967" cy="200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wto,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dom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= "</a:t>
            </a:r>
            <a:r>
              <a:rPr sz="1100" spc="15" dirty="0">
                <a:solidFill>
                  <a:srgbClr val="000000"/>
                </a:solidFill>
                <a:latin typeface="SimSun"/>
                <a:cs typeface="SimSun"/>
              </a:rPr>
              <a:t>偏胖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1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100" spc="15" dirty="0">
                <a:solidFill>
                  <a:srgbClr val="000000"/>
                </a:solidFill>
                <a:latin typeface="SimSun"/>
                <a:cs typeface="SimSun"/>
              </a:rPr>
              <a:t>肥胖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960498" y="5438254"/>
            <a:ext cx="918909" cy="1981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16</a:t>
            </a:r>
            <a:r>
              <a:rPr sz="1100" b="1" spc="7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960498" y="5690520"/>
            <a:ext cx="2492058" cy="200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17</a:t>
            </a:r>
            <a:r>
              <a:rPr sz="1100" b="1" spc="7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wto,</a:t>
            </a:r>
            <a:r>
              <a:rPr sz="11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dom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= "</a:t>
            </a:r>
            <a:r>
              <a:rPr sz="1100" spc="15" dirty="0">
                <a:solidFill>
                  <a:srgbClr val="000000"/>
                </a:solidFill>
                <a:latin typeface="SimSun"/>
                <a:cs typeface="SimSun"/>
              </a:rPr>
              <a:t>肥胖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1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100" spc="17" dirty="0">
                <a:solidFill>
                  <a:srgbClr val="000000"/>
                </a:solidFill>
                <a:latin typeface="SimSun"/>
                <a:cs typeface="SimSun"/>
              </a:rPr>
              <a:t>肥胖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960498" y="5945028"/>
            <a:ext cx="5009960" cy="200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18</a:t>
            </a:r>
            <a:r>
              <a:rPr sz="1100" b="1" spc="75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print("BMI</a:t>
            </a:r>
            <a:r>
              <a:rPr sz="1100" spc="15" dirty="0">
                <a:solidFill>
                  <a:srgbClr val="000000"/>
                </a:solidFill>
                <a:latin typeface="SimSun"/>
                <a:cs typeface="SimSun"/>
              </a:rPr>
              <a:t>指标为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100" spc="10" dirty="0">
                <a:solidFill>
                  <a:srgbClr val="000000"/>
                </a:solidFill>
                <a:latin typeface="SimSun"/>
                <a:cs typeface="SimSun"/>
              </a:rPr>
              <a:t>国际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'{0}',</a:t>
            </a:r>
            <a:r>
              <a:rPr sz="1100" b="1" spc="-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spc="15" dirty="0">
                <a:solidFill>
                  <a:srgbClr val="000000"/>
                </a:solidFill>
                <a:latin typeface="SimSun"/>
                <a:cs typeface="SimSun"/>
              </a:rPr>
              <a:t>国内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'{1}'".format(wto,</a:t>
            </a:r>
            <a:r>
              <a:rPr sz="11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dom))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程序的循环结构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16605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遍历循环: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for语句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1565" y="1949773"/>
            <a:ext cx="167667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遍历循环：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91565" y="2498413"/>
            <a:ext cx="7829092" cy="318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492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根据循环执行次数的确定性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循环可以分为确定次数循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环和非确定次数循环。确定次数循环指循环体对循环次数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有明确的定义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循环次数采用遍历结构中元素个数来体现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Python通过保留字for实现“遍历循环”</a:t>
            </a:r>
            <a:r>
              <a:rPr sz="24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：</a:t>
            </a:r>
          </a:p>
          <a:p>
            <a:pPr marL="914679" marR="0">
              <a:lnSpc>
                <a:spcPts val="3167"/>
              </a:lnSpc>
              <a:spcBef>
                <a:spcPts val="115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400" spc="71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&lt;循环变量&gt;</a:t>
            </a:r>
            <a:r>
              <a:rPr sz="2400" spc="70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709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&lt;遍历结构&gt;:</a:t>
            </a:r>
          </a:p>
          <a:p>
            <a:pPr marL="1275867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&lt;语句块&gt;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16605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遍历循环: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for语句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1924500"/>
            <a:ext cx="851270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遍历结构可以是字符串、文件、组合数据类型或range()函数：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6385" y="2658802"/>
            <a:ext cx="623341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次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48711" y="2658802"/>
            <a:ext cx="1241602" cy="720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遍历文件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fi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的每一行</a:t>
            </a:r>
          </a:p>
          <a:p>
            <a:pPr marL="0" marR="0">
              <a:lnSpc>
                <a:spcPts val="1328"/>
              </a:lnSpc>
              <a:spcBef>
                <a:spcPts val="779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for line in fi:</a:t>
            </a:r>
          </a:p>
          <a:p>
            <a:pPr marL="152400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&lt;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&gt;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3789" y="2658802"/>
            <a:ext cx="895573" cy="720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遍历字符串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</a:p>
          <a:p>
            <a:pPr marL="0" marR="0">
              <a:lnSpc>
                <a:spcPts val="1328"/>
              </a:lnSpc>
              <a:spcBef>
                <a:spcPts val="779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for c in</a:t>
            </a:r>
            <a:r>
              <a:rPr sz="1200" spc="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s:</a:t>
            </a:r>
          </a:p>
          <a:p>
            <a:pPr marL="114300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&lt;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&gt;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04941" y="2658802"/>
            <a:ext cx="743026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遍历列表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56385" y="2897843"/>
            <a:ext cx="1194510" cy="481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for i in range(N):</a:t>
            </a:r>
          </a:p>
          <a:p>
            <a:pPr marL="190525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&lt;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&gt;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04941" y="2897843"/>
            <a:ext cx="981506" cy="481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for item</a:t>
            </a:r>
            <a:r>
              <a:rPr sz="120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in ls:</a:t>
            </a:r>
          </a:p>
          <a:p>
            <a:pPr marL="114300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&lt;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&gt;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9165" y="3853503"/>
            <a:ext cx="62484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遍历循环还有一种扩展模式，使用方法如下：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79194" y="4455229"/>
            <a:ext cx="479408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400" spc="719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&lt;循环变量&gt;</a:t>
            </a:r>
            <a:r>
              <a:rPr sz="2400" spc="70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71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&lt;遍历结构&gt;: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679194" y="5003546"/>
            <a:ext cx="2058398" cy="9896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188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&lt;语句块1&gt;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else: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40382" y="6101454"/>
            <a:ext cx="169768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&lt;语句块2&gt;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16605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遍历循环: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for语句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0967" y="2428309"/>
            <a:ext cx="4417822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当for循环正常执行之后，程</a:t>
            </a:r>
          </a:p>
          <a:p>
            <a:pPr marL="342899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序会继续执行else语句中内容</a:t>
            </a:r>
          </a:p>
          <a:p>
            <a:pPr marL="342899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。else语句只在循环正常执行</a:t>
            </a:r>
          </a:p>
          <a:p>
            <a:pPr marL="342899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之后才执行并结束，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93208" y="2570202"/>
            <a:ext cx="1530438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65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s in "BIT":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93208" y="2823185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33339" y="2821312"/>
            <a:ext cx="1930869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b="1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 + s)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093208" y="3077693"/>
            <a:ext cx="768438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000" spc="65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93208" y="3332202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633339" y="3328804"/>
            <a:ext cx="1375879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s 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循环正常结束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093208" y="3585566"/>
            <a:ext cx="997038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000" spc="65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073141" y="4378554"/>
            <a:ext cx="3807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70967" y="4623123"/>
            <a:ext cx="4478070" cy="989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因此，可以在&lt;语句块2&gt;中放</a:t>
            </a:r>
          </a:p>
          <a:p>
            <a:pPr marL="342899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置判断循环执行情况的语句。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073141" y="4630046"/>
            <a:ext cx="1016353" cy="9265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</a:p>
          <a:p>
            <a:pPr marL="0" marR="0">
              <a:lnSpc>
                <a:spcPts val="1128"/>
              </a:lnSpc>
              <a:spcBef>
                <a:spcPts val="88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</a:p>
          <a:p>
            <a:pPr marL="0" marR="0">
              <a:lnSpc>
                <a:spcPts val="1128"/>
              </a:lnSpc>
              <a:spcBef>
                <a:spcPts val="89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T</a:t>
            </a:r>
          </a:p>
          <a:p>
            <a:pPr marL="0" marR="0">
              <a:lnSpc>
                <a:spcPts val="996"/>
              </a:lnSpc>
              <a:spcBef>
                <a:spcPts val="84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循环正常结束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74670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无限循环: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while语句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058231"/>
            <a:ext cx="167642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无限循环：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9917" y="2606549"/>
            <a:ext cx="7914097" cy="2087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•无限循环一直保持循环操作直到特定循环条件不被满足才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结束，不需要提前知道确定循环次数。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•Python通过保留字while实现无限循环，使用方法如下：</a:t>
            </a:r>
          </a:p>
          <a:p>
            <a:pPr marL="1371879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while</a:t>
            </a:r>
            <a:r>
              <a:rPr sz="2400" spc="71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&lt;条件&gt;: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92985" y="4802066"/>
            <a:ext cx="243333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&lt;语句块&gt;语句块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74670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无限循环: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while语句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0618" y="1651001"/>
            <a:ext cx="6854342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无限循环也有一种使用保留字else的扩展模式：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2192" y="2200344"/>
            <a:ext cx="2231737" cy="1537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while</a:t>
            </a:r>
            <a:r>
              <a:rPr sz="2400" spc="71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&lt;条件&gt;:</a:t>
            </a:r>
          </a:p>
          <a:p>
            <a:pPr marL="361569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&lt;语句块1&gt;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else: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13761" y="3846518"/>
            <a:ext cx="169768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&lt;语句块2&gt;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78070" y="4577310"/>
            <a:ext cx="3807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7738" y="4640683"/>
            <a:ext cx="1846770" cy="43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74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s, idx = "BIT", 0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000" spc="74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while idx &lt; len(s):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78070" y="4828420"/>
            <a:ext cx="1016099" cy="926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</a:p>
          <a:p>
            <a:pPr marL="0" marR="0">
              <a:lnSpc>
                <a:spcPts val="1128"/>
              </a:lnSpc>
              <a:spcBef>
                <a:spcPts val="88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</a:p>
          <a:p>
            <a:pPr marL="0" marR="0">
              <a:lnSpc>
                <a:spcPts val="1128"/>
              </a:lnSpc>
              <a:spcBef>
                <a:spcPts val="89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T</a:t>
            </a:r>
          </a:p>
          <a:p>
            <a:pPr marL="0" marR="0">
              <a:lnSpc>
                <a:spcPts val="996"/>
              </a:lnSpc>
              <a:spcBef>
                <a:spcPts val="849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循环正常结束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97738" y="5148174"/>
            <a:ext cx="228490" cy="43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31"/>
              </a:lnSpc>
              <a:spcBef>
                <a:spcPts val="873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49426" y="5144777"/>
            <a:ext cx="2311971" cy="43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b="1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 + s[idx])</a:t>
            </a:r>
          </a:p>
          <a:p>
            <a:pPr marL="0" marR="0">
              <a:lnSpc>
                <a:spcPts val="1131"/>
              </a:lnSpc>
              <a:spcBef>
                <a:spcPts val="873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idx += 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7738" y="5656022"/>
            <a:ext cx="779995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000" spc="74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97738" y="5910530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49426" y="5907133"/>
            <a:ext cx="1375854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s 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循环正常结束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97738" y="6165038"/>
            <a:ext cx="1008290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000" spc="74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95731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循环保留字: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12" dirty="0">
                <a:solidFill>
                  <a:srgbClr val="262626"/>
                </a:solidFill>
                <a:latin typeface="Microsoft YaHei"/>
                <a:cs typeface="Microsoft YaHei"/>
              </a:rPr>
              <a:t>break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和continue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2290" y="1734254"/>
            <a:ext cx="8377148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循环结构有两个辅助保留字：break和continue，它们用来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辅助控制循环执行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2290" y="2831915"/>
            <a:ext cx="8582888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break用来跳出最内层for或while循环，脱离该循环后程序从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循环后代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码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继续执行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34329" y="3924877"/>
            <a:ext cx="340920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其中，break语句跳出了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4911" y="4223240"/>
            <a:ext cx="1607833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50" spc="8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for s in "BIT":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4911" y="4476224"/>
            <a:ext cx="232880" cy="952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  <a:p>
            <a:pPr marL="0" marR="0">
              <a:lnSpc>
                <a:spcPts val="1196"/>
              </a:lnSpc>
              <a:spcBef>
                <a:spcPts val="795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65860" y="4476224"/>
            <a:ext cx="1662392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for i</a:t>
            </a:r>
            <a:r>
              <a:rPr sz="105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in range(10):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34329" y="4473771"/>
            <a:ext cx="3505200" cy="2086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最内层for循环，但仍然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继续执行外层循环。每个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break语句只有能力跳出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当前层次循环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84375" y="4730731"/>
            <a:ext cx="1423149" cy="69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print(s, end="")</a:t>
            </a:r>
          </a:p>
          <a:p>
            <a:pPr marL="0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if s=="I":</a:t>
            </a:r>
          </a:p>
          <a:p>
            <a:pPr marL="316991" marR="0">
              <a:lnSpc>
                <a:spcPts val="1196"/>
              </a:lnSpc>
              <a:spcBef>
                <a:spcPts val="795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break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4807" y="6034945"/>
            <a:ext cx="39384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14807" y="6287929"/>
            <a:ext cx="1842485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BBBBBBBBBBITTTTTTTTTT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95731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循环保留字: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12" dirty="0">
                <a:solidFill>
                  <a:srgbClr val="262626"/>
                </a:solidFill>
                <a:latin typeface="Microsoft YaHei"/>
                <a:cs typeface="Microsoft YaHei"/>
              </a:rPr>
              <a:t>break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和continue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1730063"/>
            <a:ext cx="8171967" cy="989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continue用来结束当前当次循环，即跳出循环体中下面尚</a:t>
            </a:r>
          </a:p>
          <a:p>
            <a:pPr marL="34290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未执行的语句，但不跳出当前循环。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6765" y="2827597"/>
            <a:ext cx="8073796" cy="98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对于while循环，继续求解循环条件。而对于for循环，程</a:t>
            </a:r>
          </a:p>
          <a:p>
            <a:pPr marL="34290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序流程接着遍历循环列表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6765" y="3925131"/>
            <a:ext cx="502376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对比continue和break语句，如下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41399" y="4818489"/>
            <a:ext cx="1868386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50" spc="99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for s in "PYTHON":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42229" y="4818489"/>
            <a:ext cx="1868513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50" spc="99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for s in "PYTHON":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41399" y="5071473"/>
            <a:ext cx="232880" cy="69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96"/>
              </a:lnSpc>
              <a:spcBef>
                <a:spcPts val="809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96"/>
              </a:lnSpc>
              <a:spcBef>
                <a:spcPts val="808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144902" y="5071473"/>
            <a:ext cx="94789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if s=="T":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142229" y="5071473"/>
            <a:ext cx="232880" cy="69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96"/>
              </a:lnSpc>
              <a:spcBef>
                <a:spcPts val="809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96"/>
              </a:lnSpc>
              <a:spcBef>
                <a:spcPts val="808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746115" y="5071473"/>
            <a:ext cx="947635" cy="444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if s=="T":</a:t>
            </a:r>
          </a:p>
          <a:p>
            <a:pPr marL="318515" marR="0">
              <a:lnSpc>
                <a:spcPts val="1196"/>
              </a:lnSpc>
              <a:spcBef>
                <a:spcPts val="809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break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463419" y="5326234"/>
            <a:ext cx="796242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continue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144902" y="5580793"/>
            <a:ext cx="1424927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print(s, end="")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746115" y="5580793"/>
            <a:ext cx="1424672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print(s, end="")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91361" y="6120594"/>
            <a:ext cx="39384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095366" y="6120594"/>
            <a:ext cx="39384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491361" y="6373578"/>
            <a:ext cx="554801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PYHON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095366" y="6373578"/>
            <a:ext cx="31336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PY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95731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循环保留字: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12" dirty="0">
                <a:solidFill>
                  <a:srgbClr val="262626"/>
                </a:solidFill>
                <a:latin typeface="Microsoft YaHei"/>
                <a:cs typeface="Microsoft YaHei"/>
              </a:rPr>
              <a:t>break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和continue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1779720"/>
            <a:ext cx="529649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continue语句和break语句的区别是：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6765" y="2328614"/>
            <a:ext cx="8419951" cy="1537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•continue语句只结束本次循环，而不终止整个循环的执行。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•break语句则是结束整个循环过程，不再判断执行循环的条件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是否成立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14169" y="4372211"/>
            <a:ext cx="1868513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50" spc="99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for s in "PYTHON":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15382" y="4372211"/>
            <a:ext cx="1868513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50" spc="99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for s in "PYTHON":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14169" y="4625576"/>
            <a:ext cx="232880" cy="699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18054" y="4625576"/>
            <a:ext cx="947636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if s=="T":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215382" y="4625576"/>
            <a:ext cx="232880" cy="699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818885" y="4625576"/>
            <a:ext cx="948017" cy="4445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if s=="T":</a:t>
            </a:r>
          </a:p>
          <a:p>
            <a:pPr marL="318516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break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36570" y="4880083"/>
            <a:ext cx="796242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continue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18054" y="5134592"/>
            <a:ext cx="1424673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print(s, end="")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818885" y="5134592"/>
            <a:ext cx="1425054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print(s, end="")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087365" y="5849017"/>
            <a:ext cx="39384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45336" y="5869744"/>
            <a:ext cx="39384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087365" y="6102001"/>
            <a:ext cx="31336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PY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545336" y="6122728"/>
            <a:ext cx="554801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PYHON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95731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循环保留字: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12" dirty="0">
                <a:solidFill>
                  <a:srgbClr val="262626"/>
                </a:solidFill>
                <a:latin typeface="Microsoft YaHei"/>
                <a:cs typeface="Microsoft YaHei"/>
              </a:rPr>
              <a:t>break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和continue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1706822"/>
            <a:ext cx="8488629" cy="1537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for循环和while循环中都存在一个else扩展用法。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else中的语句块只在一种条件下执行，即for循环正常遍历了</a:t>
            </a:r>
          </a:p>
          <a:p>
            <a:pPr marL="34290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所有内容没有因为break或return而退出。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240" y="3353123"/>
            <a:ext cx="721519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continue保留字对else没有影响。看下面两个例子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57197" y="4242029"/>
            <a:ext cx="1805647" cy="1826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10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s in "PYTHON":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908" y="4242029"/>
            <a:ext cx="1808695" cy="1826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s in "PYTHON":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57197" y="4495394"/>
            <a:ext cx="228307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43683" y="4496284"/>
            <a:ext cx="1066507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if s=="T":</a:t>
            </a:r>
          </a:p>
          <a:p>
            <a:pPr marL="30480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continue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59908" y="4495394"/>
            <a:ext cx="228307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949696" y="4496284"/>
            <a:ext cx="914107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if s=="T":</a:t>
            </a:r>
          </a:p>
          <a:p>
            <a:pPr marL="30480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break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57197" y="5004410"/>
            <a:ext cx="1653247" cy="435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000" spc="10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print(s, end="")</a:t>
            </a:r>
          </a:p>
          <a:p>
            <a:pPr marL="0" marR="0">
              <a:lnSpc>
                <a:spcPts val="1128"/>
              </a:lnSpc>
              <a:spcBef>
                <a:spcPts val="856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000" spc="10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359908" y="5004410"/>
            <a:ext cx="1656295" cy="435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000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print(s, end="")</a:t>
            </a:r>
          </a:p>
          <a:p>
            <a:pPr marL="0" marR="0">
              <a:lnSpc>
                <a:spcPts val="1128"/>
              </a:lnSpc>
              <a:spcBef>
                <a:spcPts val="856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000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57197" y="5511851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43683" y="5509674"/>
            <a:ext cx="1350225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正常退出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359908" y="5509674"/>
            <a:ext cx="1634959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000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正常退出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27658" y="6117546"/>
            <a:ext cx="39384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295646" y="6125471"/>
            <a:ext cx="393840" cy="443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  <a:p>
            <a:pPr marL="0" marR="0">
              <a:lnSpc>
                <a:spcPts val="1196"/>
              </a:lnSpc>
              <a:spcBef>
                <a:spcPts val="795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PY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27658" y="6368453"/>
            <a:ext cx="1091249" cy="193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PYHON</a:t>
            </a:r>
            <a:r>
              <a:rPr sz="1050" dirty="0">
                <a:solidFill>
                  <a:srgbClr val="000000"/>
                </a:solidFill>
                <a:latin typeface="SimSun"/>
                <a:cs typeface="SimSun"/>
              </a:rPr>
              <a:t>正常退出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49298" y="2788949"/>
            <a:ext cx="5478424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random库的使用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58672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random库概述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442" y="1923865"/>
            <a:ext cx="8501481" cy="42817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随机数在计算机应用中十分常见，Python内置的random库</a:t>
            </a:r>
          </a:p>
          <a:p>
            <a:pPr marL="34290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主要用于产生各种分布的伪随机数序列。random库采用梅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森旋转算法（Mersenne</a:t>
            </a:r>
            <a:r>
              <a:rPr sz="2400" spc="2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twister）生成伪随机数序列，可用</a:t>
            </a:r>
          </a:p>
          <a:p>
            <a:pPr marL="34290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于除随机性要求更高的加解密算法外的大多数工程应用。</a:t>
            </a:r>
          </a:p>
          <a:p>
            <a:pPr marL="0" marR="0">
              <a:lnSpc>
                <a:spcPts val="3167"/>
              </a:lnSpc>
              <a:spcBef>
                <a:spcPts val="115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使用random库主要目的是生成随机数，因此，读者只需要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查阅该库的随机数生成函数，找到符合使用场景的函数使用</a:t>
            </a:r>
          </a:p>
          <a:p>
            <a:pPr marL="34290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即可。这个库提供了不同类型的随机数函数，所有函数都是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基于最基本的random.random()函数扩展而来。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58672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random库解析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80133" y="2305613"/>
            <a:ext cx="557784" cy="240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函数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44209" y="2305613"/>
            <a:ext cx="557783" cy="240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12799" y="2664940"/>
            <a:ext cx="1292544" cy="651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seed(a=None)</a:t>
            </a:r>
          </a:p>
          <a:p>
            <a:pPr marL="193598" marR="0">
              <a:lnSpc>
                <a:spcPts val="1767"/>
              </a:lnSpc>
              <a:spcBef>
                <a:spcPts val="124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random()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66236" y="2671373"/>
            <a:ext cx="4005348" cy="1034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初始化随机数种子，默认值为当前系统时间</a:t>
            </a:r>
          </a:p>
          <a:p>
            <a:pPr marL="0" marR="0">
              <a:lnSpc>
                <a:spcPts val="1767"/>
              </a:lnSpc>
              <a:spcBef>
                <a:spcPts val="141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生成一个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[0.0, 1.0)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之间的随机小数</a:t>
            </a:r>
          </a:p>
          <a:p>
            <a:pPr marL="0" marR="0">
              <a:lnSpc>
                <a:spcPts val="1767"/>
              </a:lnSpc>
              <a:spcBef>
                <a:spcPts val="124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生成一个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[a,b]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之间的整数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12799" y="3442815"/>
            <a:ext cx="1292025" cy="651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582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randint(a,</a:t>
            </a:r>
            <a:r>
              <a:rPr sz="16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b)</a:t>
            </a:r>
          </a:p>
          <a:p>
            <a:pPr marL="0" marR="0">
              <a:lnSpc>
                <a:spcPts val="1770"/>
              </a:lnSpc>
              <a:spcBef>
                <a:spcPts val="124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getrandbits(k)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66236" y="3819154"/>
            <a:ext cx="2883638" cy="2858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1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生成一个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k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比特长度的随机整数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28802" y="4220418"/>
            <a:ext cx="6989978" cy="262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randrange(start,</a:t>
            </a:r>
            <a:r>
              <a:rPr sz="160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stop[,</a:t>
            </a:r>
            <a:r>
              <a:rPr sz="16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step])</a:t>
            </a:r>
            <a:r>
              <a:rPr sz="1600" spc="14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生成一个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[start,</a:t>
            </a:r>
            <a:r>
              <a:rPr sz="16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stop)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之间以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step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为步数的随机整数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38707" y="4609945"/>
            <a:ext cx="1238628" cy="651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uniform(a,</a:t>
            </a:r>
            <a:r>
              <a:rPr sz="16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b)</a:t>
            </a:r>
          </a:p>
          <a:p>
            <a:pPr marL="76250" marR="0">
              <a:lnSpc>
                <a:spcPts val="1767"/>
              </a:lnSpc>
              <a:spcBef>
                <a:spcPts val="124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choice(seq)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66236" y="4609945"/>
            <a:ext cx="2813685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生成一个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[a,</a:t>
            </a:r>
            <a:r>
              <a:rPr sz="16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b]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之间的随机小数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66236" y="4998819"/>
            <a:ext cx="4412615" cy="1040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从序列类型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例如：列表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中随机返回一个元素</a:t>
            </a:r>
          </a:p>
          <a:p>
            <a:pPr marL="0" marR="0">
              <a:lnSpc>
                <a:spcPts val="1596"/>
              </a:lnSpc>
              <a:spcBef>
                <a:spcPts val="134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将序列类型中元素随机排列，返回打乱后的序列</a:t>
            </a:r>
          </a:p>
          <a:p>
            <a:pPr marL="0" marR="0">
              <a:lnSpc>
                <a:spcPts val="1767"/>
              </a:lnSpc>
              <a:spcBef>
                <a:spcPts val="141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从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pop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类型中随机选取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个元素，以列表类型返回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98194" y="5387820"/>
            <a:ext cx="1120863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shuffle(seq)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71651" y="5776694"/>
            <a:ext cx="1374228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sample(pop,</a:t>
            </a:r>
            <a:r>
              <a:rPr sz="1600" spc="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k)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58672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random库解析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97070" y="1787289"/>
            <a:ext cx="2601299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&gt;&gt;&gt;from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random import *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97070" y="2041797"/>
            <a:ext cx="132942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&gt;&gt;&gt;random()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3743" y="2140908"/>
            <a:ext cx="3956303" cy="1537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对random库的引用方法与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math库一样，采用下面两种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方式实现：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97070" y="2294781"/>
            <a:ext cx="2078439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0.2922089114412476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97070" y="2549289"/>
            <a:ext cx="1864435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&gt;&gt;&gt;uniform(1,10)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497070" y="2803797"/>
            <a:ext cx="2078439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1.5913082783598524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497070" y="3057162"/>
            <a:ext cx="1864435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&gt;&gt;&gt;uniform(1,20)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497070" y="3311670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497070" y="3564437"/>
            <a:ext cx="4558791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&gt;&gt;&gt;randrange(0,100,4)</a:t>
            </a:r>
            <a:r>
              <a:rPr sz="1400" b="1" spc="-5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spc="15" dirty="0">
                <a:solidFill>
                  <a:srgbClr val="000000"/>
                </a:solidFill>
                <a:latin typeface="SimSun"/>
                <a:cs typeface="SimSun"/>
              </a:rPr>
              <a:t>从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0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开始到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100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以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4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递增的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497070" y="3817421"/>
            <a:ext cx="1401804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元素中随机返回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497070" y="4073670"/>
            <a:ext cx="36640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96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83743" y="4335399"/>
            <a:ext cx="3051657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import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 random</a:t>
            </a:r>
            <a:r>
              <a:rPr sz="2400" spc="214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或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497070" y="4328178"/>
            <a:ext cx="239944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&gt;&gt;&gt;choice(range(100))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497070" y="4581416"/>
            <a:ext cx="36640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97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497070" y="4835924"/>
            <a:ext cx="2601299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&gt;&gt;&gt;ls =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list(range(10))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&gt;&gt;&gt;print(ls)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83743" y="4884743"/>
            <a:ext cx="3400677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-15" dirty="0">
                <a:solidFill>
                  <a:srgbClr val="000000"/>
                </a:solidFill>
                <a:latin typeface="Microsoft YaHei"/>
                <a:cs typeface="Microsoft YaHei"/>
              </a:rPr>
              <a:t>from</a:t>
            </a:r>
            <a:r>
              <a:rPr sz="2400" spc="2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random</a:t>
            </a:r>
            <a:r>
              <a:rPr sz="2400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import</a:t>
            </a:r>
            <a:r>
              <a:rPr sz="2400" spc="1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*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497070" y="5343416"/>
            <a:ext cx="3345201" cy="494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[0, 1,</a:t>
            </a:r>
            <a:r>
              <a:rPr sz="1400" b="1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2, </a:t>
            </a:r>
            <a:r>
              <a:rPr sz="1400" b="1" spc="-15" dirty="0">
                <a:solidFill>
                  <a:srgbClr val="000000"/>
                </a:solidFill>
                <a:latin typeface="Courier New"/>
                <a:cs typeface="Courier New"/>
              </a:rPr>
              <a:t>3,</a:t>
            </a:r>
            <a:r>
              <a:rPr sz="14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4,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5, 6, 7,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8,</a:t>
            </a:r>
            <a:r>
              <a:rPr sz="1400" b="1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9]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&gt;&gt;&gt;shuffle(ls)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497070" y="5852457"/>
            <a:ext cx="143642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&gt;&gt;&gt;print(ls)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497070" y="6105746"/>
            <a:ext cx="4727624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[5,8,4,7,6,9,3,0,2,10, 1,</a:t>
            </a:r>
            <a:r>
              <a:rPr sz="1400" b="1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2, 3, 4,</a:t>
            </a:r>
            <a:r>
              <a:rPr sz="1400" b="1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5, </a:t>
            </a:r>
            <a:r>
              <a:rPr sz="1400" b="1" spc="-15" dirty="0">
                <a:solidFill>
                  <a:srgbClr val="000000"/>
                </a:solidFill>
                <a:latin typeface="Courier New"/>
                <a:cs typeface="Courier New"/>
              </a:rPr>
              <a:t>6,</a:t>
            </a:r>
            <a:r>
              <a:rPr sz="14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7,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8, 9]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069" y="5567930"/>
            <a:ext cx="4558791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58672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random库解析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1935422"/>
            <a:ext cx="8077200" cy="153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生成随机数之前可以通过seed()函数指定随机数种子，随机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种子一般是一个整数，只要种子相同，每次生成的随机数序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列也相同。这种情况便于测试和同步数据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8530" y="3898574"/>
            <a:ext cx="7849044" cy="2050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&gt;&gt;&gt;seed(125)</a:t>
            </a:r>
            <a:r>
              <a:rPr sz="1600" b="1" spc="3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#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随机种子赋值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125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&gt;&gt;&gt;"{}.{}.{}".format(randint(1,10),randint(1,10),randint(1,10))</a:t>
            </a:r>
          </a:p>
          <a:p>
            <a:pPr marL="0" marR="0">
              <a:lnSpc>
                <a:spcPts val="1810"/>
              </a:lnSpc>
              <a:spcBef>
                <a:spcPts val="19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'4.4.10'</a:t>
            </a:r>
          </a:p>
          <a:p>
            <a:pPr marL="0" marR="0">
              <a:lnSpc>
                <a:spcPts val="1807"/>
              </a:lnSpc>
              <a:spcBef>
                <a:spcPts val="185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&gt;&gt;&gt;"{}.{}.{}".format(randint(1,10),randint(1,10),randint(1,10))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'5.10.3'</a:t>
            </a:r>
          </a:p>
          <a:p>
            <a:pPr marL="0" marR="0">
              <a:lnSpc>
                <a:spcPts val="1807"/>
              </a:lnSpc>
              <a:spcBef>
                <a:spcPts val="153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&gt;&gt;&gt;seed(125)</a:t>
            </a:r>
            <a:r>
              <a:rPr sz="1600" b="1" spc="3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#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再次给随机种子赋值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125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&gt;&gt;&gt;"{}.{}.{}".format(randint(1,10),randint(1,10),randint(1,10))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'4.4.10'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8583" y="2788949"/>
            <a:ext cx="2679613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π的计算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48201"/>
            <a:ext cx="2067153" cy="605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π</a:t>
            </a: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的计算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2358840"/>
            <a:ext cx="8124088" cy="318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π（圆周率）是一个无理数，即无限不循环小数。精确求</a:t>
            </a:r>
          </a:p>
          <a:p>
            <a:pPr marL="34290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解圆周率π是几何学、物理学和很多工程学科的关键。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对π的精确求解曾经是数学历史上一直难以解决的问题之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一，因为π无法用任何精确公式表示，在电子计算机出现</a:t>
            </a:r>
          </a:p>
          <a:p>
            <a:pPr marL="342900" marR="0">
              <a:lnSpc>
                <a:spcPts val="3167"/>
              </a:lnSpc>
              <a:spcBef>
                <a:spcPts val="115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以前，π只能通过一些近似公式的求解得到，直到1948年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，人类才以人工计算方式得到π的808位精确小数。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48201"/>
            <a:ext cx="2067153" cy="605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π</a:t>
            </a: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的计算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55114" y="2014416"/>
            <a:ext cx="706793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随着计算机的出现，数学家找到了另类求解π的另类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9917" y="2563310"/>
            <a:ext cx="8085122" cy="3183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方法：蒙特卡罗（Monte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Carlo）方法，又称随机抽样或统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计试验方法。当所要求解的问题是某种事件出现的概率，或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者是某个随机变量的期望值时，它们可以通过某种“试验”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的方法，得到这种事件出现的频率，或者这个随机变数的平</a:t>
            </a:r>
          </a:p>
          <a:p>
            <a:pPr marL="0" marR="0">
              <a:lnSpc>
                <a:spcPts val="3167"/>
              </a:lnSpc>
              <a:spcBef>
                <a:spcPts val="115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均值，并用它们作为问题的解。这就是蒙特卡罗方法的基本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思想。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48201"/>
            <a:ext cx="2067153" cy="605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π</a:t>
            </a: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的计算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067375"/>
            <a:ext cx="584824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应用蒙特卡罗方法求解π的基本步骤如下：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17117" y="2616015"/>
            <a:ext cx="7810829" cy="153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12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随机向单位正方形和圆结构，抛洒大量“飞镖”点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12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计算每个点到圆心的距离从而判断该点在圆内或者圆外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12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用圆内的点数除以总点数就是π/4值。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9917" y="4262316"/>
            <a:ext cx="8287156" cy="15379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随机点数量越大，越充分覆盖整个图形，计算得到的π值越精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确。实际上，这个方法的思想是利用离散点值表示图形的面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积，通过面积比例来求解π值。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48201"/>
            <a:ext cx="2067153" cy="605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π</a:t>
            </a: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的计算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2118" y="5642585"/>
            <a:ext cx="3052546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计算π使用的正方形和圆结构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85180" y="5641061"/>
            <a:ext cx="3418332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计算π使用的1/4区域和抛点过程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48201"/>
            <a:ext cx="2067153" cy="605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π</a:t>
            </a: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的计算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28666" y="786656"/>
            <a:ext cx="47340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28666" y="1036756"/>
            <a:ext cx="2215160" cy="4978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Pi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值是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3.144.</a:t>
            </a:r>
          </a:p>
          <a:p>
            <a:pPr marL="0" marR="0">
              <a:lnSpc>
                <a:spcPts val="1590"/>
              </a:lnSpc>
              <a:spcBef>
                <a:spcPts val="3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运行时间是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400" spc="-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0.016477s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78585" y="1831384"/>
            <a:ext cx="1353007" cy="346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28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800" dirty="0">
                <a:solidFill>
                  <a:srgbClr val="000000"/>
                </a:solidFill>
                <a:latin typeface="Palatino Linotype"/>
                <a:cs typeface="Palatino Linotype"/>
              </a:rPr>
              <a:t>6.1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40528" y="1831384"/>
            <a:ext cx="1418878" cy="346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28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Palatino Linotype"/>
                <a:cs typeface="Palatino Linotype"/>
              </a:rPr>
              <a:t>e6.1CalPi.py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08505" y="2353728"/>
            <a:ext cx="2131155" cy="269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600" spc="115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#e6.1CalPi.py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08505" y="2608236"/>
            <a:ext cx="3596882" cy="1030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600" spc="115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from random</a:t>
            </a:r>
            <a:r>
              <a:rPr sz="16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import</a:t>
            </a:r>
            <a:r>
              <a:rPr sz="16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random</a:t>
            </a:r>
          </a:p>
          <a:p>
            <a:pPr marL="0" marR="0">
              <a:lnSpc>
                <a:spcPts val="1807"/>
              </a:lnSpc>
              <a:spcBef>
                <a:spcPts val="179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600" spc="115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from math import sqrt</a:t>
            </a:r>
          </a:p>
          <a:p>
            <a:pPr marL="0" marR="0">
              <a:lnSpc>
                <a:spcPts val="1810"/>
              </a:lnSpc>
              <a:spcBef>
                <a:spcPts val="165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600" spc="115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from time import clock</a:t>
            </a:r>
          </a:p>
          <a:p>
            <a:pPr marL="7619" marR="0">
              <a:lnSpc>
                <a:spcPts val="1807"/>
              </a:lnSpc>
              <a:spcBef>
                <a:spcPts val="182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400" b="1" spc="133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DARTS =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10000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99157" y="3625125"/>
            <a:ext cx="1373220" cy="5206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hits =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0.0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clock()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16125" y="3647585"/>
            <a:ext cx="259402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899157" y="4132617"/>
            <a:ext cx="4061993" cy="1537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for i 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6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range(1, DARTS+1):</a:t>
            </a:r>
          </a:p>
          <a:p>
            <a:pPr marL="488061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x,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y = random(), random()</a:t>
            </a:r>
          </a:p>
          <a:p>
            <a:pPr marL="488061" marR="0">
              <a:lnSpc>
                <a:spcPts val="1810"/>
              </a:lnSpc>
              <a:spcBef>
                <a:spcPts val="182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dist = sqrt(x </a:t>
            </a:r>
            <a:r>
              <a:rPr sz="1600" b="1" spc="14" dirty="0">
                <a:solidFill>
                  <a:srgbClr val="000000"/>
                </a:solidFill>
                <a:latin typeface="Courier New"/>
                <a:cs typeface="Courier New"/>
              </a:rPr>
              <a:t>**</a:t>
            </a:r>
            <a:r>
              <a:rPr sz="1600" b="1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2 +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y ** 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2)</a:t>
            </a:r>
          </a:p>
          <a:p>
            <a:pPr marL="488061" marR="0">
              <a:lnSpc>
                <a:spcPts val="1807"/>
              </a:lnSpc>
              <a:spcBef>
                <a:spcPts val="197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dist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&lt;= 1.0:</a:t>
            </a:r>
          </a:p>
          <a:p>
            <a:pPr marL="977265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hits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 hits</a:t>
            </a:r>
            <a:r>
              <a:rPr sz="16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+ 1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pi = 4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* (hits/DARTS)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16125" y="4155076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16125" y="4409585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462786" y="4664093"/>
            <a:ext cx="366404" cy="1002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</a:p>
          <a:p>
            <a:pPr marL="0" marR="0">
              <a:lnSpc>
                <a:spcPts val="1590"/>
              </a:lnSpc>
              <a:spcBef>
                <a:spcPts val="415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62786" y="5652977"/>
            <a:ext cx="5761578" cy="526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14</a:t>
            </a:r>
            <a:r>
              <a:rPr sz="1400" b="1" spc="9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print("Pi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值是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{}.".format(pi))</a:t>
            </a:r>
          </a:p>
          <a:p>
            <a:pPr marL="436371" marR="0">
              <a:lnSpc>
                <a:spcPts val="1807"/>
              </a:lnSpc>
              <a:spcBef>
                <a:spcPts val="191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运行时间是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600" b="1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{:5.5}s".format(clock()))</a:t>
            </a:r>
          </a:p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48201"/>
            <a:ext cx="2067153" cy="605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π</a:t>
            </a: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的计算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71064" y="2294691"/>
            <a:ext cx="662177" cy="240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DARTS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19371" y="2287942"/>
            <a:ext cx="27403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π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63438" y="2294691"/>
            <a:ext cx="963167" cy="240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运行时间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06701" y="2661689"/>
            <a:ext cx="391058" cy="2760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2</a:t>
            </a:r>
            <a:r>
              <a:rPr sz="1600" spc="15" baseline="29999" dirty="0">
                <a:solidFill>
                  <a:srgbClr val="000000"/>
                </a:solidFill>
                <a:latin typeface="SimSun"/>
                <a:cs typeface="SimSun"/>
              </a:rPr>
              <a:t>10</a:t>
            </a:r>
          </a:p>
          <a:p>
            <a:pPr marL="0" marR="0">
              <a:lnSpc>
                <a:spcPts val="1596"/>
              </a:lnSpc>
              <a:spcBef>
                <a:spcPts val="57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2</a:t>
            </a:r>
            <a:r>
              <a:rPr sz="1600" spc="15" baseline="30000" dirty="0">
                <a:solidFill>
                  <a:srgbClr val="000000"/>
                </a:solidFill>
                <a:latin typeface="SimSun"/>
                <a:cs typeface="SimSun"/>
              </a:rPr>
              <a:t>11</a:t>
            </a:r>
          </a:p>
          <a:p>
            <a:pPr marL="0" marR="0">
              <a:lnSpc>
                <a:spcPts val="1596"/>
              </a:lnSpc>
              <a:spcBef>
                <a:spcPts val="52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2</a:t>
            </a:r>
            <a:r>
              <a:rPr sz="1600" spc="15" baseline="29999" dirty="0">
                <a:solidFill>
                  <a:srgbClr val="000000"/>
                </a:solidFill>
                <a:latin typeface="SimSun"/>
                <a:cs typeface="SimSun"/>
              </a:rPr>
              <a:t>12</a:t>
            </a:r>
          </a:p>
          <a:p>
            <a:pPr marL="0" marR="0">
              <a:lnSpc>
                <a:spcPts val="1596"/>
              </a:lnSpc>
              <a:spcBef>
                <a:spcPts val="58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2</a:t>
            </a:r>
            <a:r>
              <a:rPr sz="1600" spc="15" baseline="29999" dirty="0">
                <a:solidFill>
                  <a:srgbClr val="000000"/>
                </a:solidFill>
                <a:latin typeface="SimSun"/>
                <a:cs typeface="SimSun"/>
              </a:rPr>
              <a:t>13</a:t>
            </a:r>
          </a:p>
          <a:p>
            <a:pPr marL="0" marR="0">
              <a:lnSpc>
                <a:spcPts val="1596"/>
              </a:lnSpc>
              <a:spcBef>
                <a:spcPts val="57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2</a:t>
            </a:r>
            <a:r>
              <a:rPr sz="1600" spc="15" baseline="29999" dirty="0">
                <a:solidFill>
                  <a:srgbClr val="000000"/>
                </a:solidFill>
                <a:latin typeface="SimSun"/>
                <a:cs typeface="SimSun"/>
              </a:rPr>
              <a:t>14</a:t>
            </a:r>
          </a:p>
          <a:p>
            <a:pPr marL="0" marR="0">
              <a:lnSpc>
                <a:spcPts val="1596"/>
              </a:lnSpc>
              <a:spcBef>
                <a:spcPts val="57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2</a:t>
            </a:r>
            <a:r>
              <a:rPr sz="1600" spc="15" baseline="29999" dirty="0">
                <a:solidFill>
                  <a:srgbClr val="000000"/>
                </a:solidFill>
                <a:latin typeface="SimSun"/>
                <a:cs typeface="SimSun"/>
              </a:rPr>
              <a:t>15</a:t>
            </a:r>
          </a:p>
          <a:p>
            <a:pPr marL="0" marR="0">
              <a:lnSpc>
                <a:spcPts val="1596"/>
              </a:lnSpc>
              <a:spcBef>
                <a:spcPts val="52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2</a:t>
            </a:r>
            <a:r>
              <a:rPr sz="1600" spc="15" baseline="30187" dirty="0">
                <a:solidFill>
                  <a:srgbClr val="000000"/>
                </a:solidFill>
                <a:latin typeface="SimSun"/>
                <a:cs typeface="SimSun"/>
              </a:rPr>
              <a:t>16</a:t>
            </a:r>
          </a:p>
          <a:p>
            <a:pPr marL="0" marR="0">
              <a:lnSpc>
                <a:spcPts val="1596"/>
              </a:lnSpc>
              <a:spcBef>
                <a:spcPts val="57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2</a:t>
            </a:r>
            <a:r>
              <a:rPr sz="1600" spc="15" baseline="30000" dirty="0">
                <a:solidFill>
                  <a:srgbClr val="000000"/>
                </a:solidFill>
                <a:latin typeface="SimSun"/>
                <a:cs typeface="SimSun"/>
              </a:rPr>
              <a:t>18</a:t>
            </a:r>
          </a:p>
          <a:p>
            <a:pPr marL="0" marR="0">
              <a:lnSpc>
                <a:spcPts val="1596"/>
              </a:lnSpc>
              <a:spcBef>
                <a:spcPts val="57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2</a:t>
            </a:r>
            <a:r>
              <a:rPr sz="1600" spc="15" baseline="29999" dirty="0">
                <a:solidFill>
                  <a:srgbClr val="000000"/>
                </a:solidFill>
                <a:latin typeface="SimSun"/>
                <a:cs typeface="SimSun"/>
              </a:rPr>
              <a:t>20</a:t>
            </a:r>
          </a:p>
          <a:p>
            <a:pPr marL="0" marR="0">
              <a:lnSpc>
                <a:spcPts val="1598"/>
              </a:lnSpc>
              <a:spcBef>
                <a:spcPts val="57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2</a:t>
            </a:r>
            <a:r>
              <a:rPr sz="1600" spc="15" baseline="29999" dirty="0">
                <a:solidFill>
                  <a:srgbClr val="000000"/>
                </a:solidFill>
                <a:latin typeface="SimSun"/>
                <a:cs typeface="SimSun"/>
              </a:rPr>
              <a:t>25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771900" y="2665023"/>
            <a:ext cx="968502" cy="520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3.109375</a:t>
            </a:r>
          </a:p>
          <a:p>
            <a:pPr marL="0" marR="0">
              <a:lnSpc>
                <a:spcPts val="1596"/>
              </a:lnSpc>
              <a:spcBef>
                <a:spcPts val="60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3.138671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762497" y="2665023"/>
            <a:ext cx="764438" cy="2756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0.011s</a:t>
            </a:r>
          </a:p>
          <a:p>
            <a:pPr marL="0" marR="0">
              <a:lnSpc>
                <a:spcPts val="1596"/>
              </a:lnSpc>
              <a:spcBef>
                <a:spcPts val="60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0.012s</a:t>
            </a:r>
          </a:p>
          <a:p>
            <a:pPr marL="0" marR="0">
              <a:lnSpc>
                <a:spcPts val="1596"/>
              </a:lnSpc>
              <a:spcBef>
                <a:spcPts val="60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0.014s</a:t>
            </a:r>
          </a:p>
          <a:p>
            <a:pPr marL="0" marR="0">
              <a:lnSpc>
                <a:spcPts val="1596"/>
              </a:lnSpc>
              <a:spcBef>
                <a:spcPts val="60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0.018s</a:t>
            </a:r>
          </a:p>
          <a:p>
            <a:pPr marL="0" marR="0">
              <a:lnSpc>
                <a:spcPts val="1596"/>
              </a:lnSpc>
              <a:spcBef>
                <a:spcPts val="60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0.030s</a:t>
            </a:r>
          </a:p>
          <a:p>
            <a:pPr marL="0" marR="0">
              <a:lnSpc>
                <a:spcPts val="1596"/>
              </a:lnSpc>
              <a:spcBef>
                <a:spcPts val="60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0.049s</a:t>
            </a:r>
          </a:p>
          <a:p>
            <a:pPr marL="0" marR="0">
              <a:lnSpc>
                <a:spcPts val="1596"/>
              </a:lnSpc>
              <a:spcBef>
                <a:spcPts val="60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0.116s</a:t>
            </a:r>
          </a:p>
          <a:p>
            <a:pPr marL="0" marR="0">
              <a:lnSpc>
                <a:spcPts val="1596"/>
              </a:lnSpc>
              <a:spcBef>
                <a:spcPts val="60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0.363s</a:t>
            </a:r>
          </a:p>
          <a:p>
            <a:pPr marL="0" marR="0">
              <a:lnSpc>
                <a:spcPts val="1596"/>
              </a:lnSpc>
              <a:spcBef>
                <a:spcPts val="60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1.255s</a:t>
            </a:r>
          </a:p>
          <a:p>
            <a:pPr marL="0" marR="0">
              <a:lnSpc>
                <a:spcPts val="1598"/>
              </a:lnSpc>
              <a:spcBef>
                <a:spcPts val="60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40.13s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771900" y="3224077"/>
            <a:ext cx="968502" cy="240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3.150390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771900" y="3503858"/>
            <a:ext cx="968502" cy="240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3.143554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771900" y="3783385"/>
            <a:ext cx="968502" cy="240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3.141357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771900" y="4062785"/>
            <a:ext cx="968502" cy="240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3.147827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771900" y="4342693"/>
            <a:ext cx="968502" cy="240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3.141967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771900" y="4622093"/>
            <a:ext cx="968502" cy="240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3.144577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567684" y="4901620"/>
            <a:ext cx="1375462" cy="520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3.1426696777</a:t>
            </a:r>
          </a:p>
          <a:p>
            <a:pPr marL="0" marR="0">
              <a:lnSpc>
                <a:spcPts val="1598"/>
              </a:lnSpc>
              <a:spcBef>
                <a:spcPts val="60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3.1416978836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549398" y="5830037"/>
            <a:ext cx="358140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不同抛点数产生的精度和运行时间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54326" y="2788949"/>
            <a:ext cx="4268723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异常处理机制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48201"/>
            <a:ext cx="5944819" cy="605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异常处理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4000" b="1" spc="2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try-except</a:t>
            </a: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1390" y="1677866"/>
            <a:ext cx="32004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观察下面这段小程序：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90141" y="2452505"/>
            <a:ext cx="3078822" cy="437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1047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num = eval(input("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请输入一个整数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b="1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"))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000" spc="1047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print(num**2)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1390" y="3141287"/>
            <a:ext cx="38100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当用户输入的不是数字呢？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51533" y="3932806"/>
            <a:ext cx="427313" cy="211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51533" y="4183729"/>
            <a:ext cx="1678192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请输入一个整数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2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100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51533" y="4440806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10000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51533" y="4695314"/>
            <a:ext cx="42676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51533" y="4945729"/>
            <a:ext cx="1586600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请输入一个整数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200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NO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51533" y="5202806"/>
            <a:ext cx="4937816" cy="1227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Traceback (most</a:t>
            </a:r>
            <a:r>
              <a:rPr sz="1200" spc="1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recent call last):</a:t>
            </a:r>
          </a:p>
          <a:p>
            <a:pPr marL="182880" marR="0">
              <a:lnSpc>
                <a:spcPts val="1362"/>
              </a:lnSpc>
              <a:spcBef>
                <a:spcPts val="64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File "D:/PythonPL/echoInt.py", line 1,</a:t>
            </a:r>
            <a:r>
              <a:rPr sz="1200" spc="10" dirty="0">
                <a:solidFill>
                  <a:srgbClr val="000000"/>
                </a:solidFill>
                <a:latin typeface="Courier New"/>
                <a:cs typeface="Courier New"/>
              </a:rPr>
              <a:t> in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 &lt;module&gt;</a:t>
            </a:r>
          </a:p>
          <a:p>
            <a:pPr marL="368808" marR="0">
              <a:lnSpc>
                <a:spcPts val="1359"/>
              </a:lnSpc>
              <a:spcBef>
                <a:spcPts val="564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num</a:t>
            </a:r>
            <a:r>
              <a:rPr sz="12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eval(input("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请输入一个整数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200" spc="5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"))</a:t>
            </a:r>
          </a:p>
          <a:p>
            <a:pPr marL="18288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File "&lt;string&gt;", line 1,</a:t>
            </a:r>
            <a:r>
              <a:rPr sz="1200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200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&lt;module&gt;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NameError: name</a:t>
            </a:r>
            <a:r>
              <a:rPr sz="1200" spc="1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'No' </a:t>
            </a:r>
            <a:r>
              <a:rPr sz="1200" spc="10" dirty="0">
                <a:solidFill>
                  <a:srgbClr val="000000"/>
                </a:solidFill>
                <a:latin typeface="Courier New"/>
                <a:cs typeface="Courier New"/>
              </a:rPr>
              <a:t>is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 not defined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48201"/>
            <a:ext cx="5944819" cy="605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异常处理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4000" b="1" spc="2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try-except</a:t>
            </a: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465" y="2160720"/>
            <a:ext cx="6366026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Python解释器返回了异常信息，同时程序退出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48201"/>
            <a:ext cx="5944819" cy="605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异常处理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4000" b="1" spc="2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try-except</a:t>
            </a: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055818"/>
            <a:ext cx="8232926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Python异常信息中最重要的部分是异常类型，它表明了发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2817" y="2604458"/>
            <a:ext cx="59436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生异常的原因，也是程序处理异常的依据。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9917" y="3152776"/>
            <a:ext cx="8204656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Python使用try-except语句实现异常处理，基本的语法格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817" y="3702119"/>
            <a:ext cx="13716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式如下：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74342" y="4250759"/>
            <a:ext cx="630546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4" dirty="0">
                <a:solidFill>
                  <a:srgbClr val="000000"/>
                </a:solidFill>
                <a:latin typeface="Microsoft YaHei"/>
                <a:cs typeface="Microsoft YaHei"/>
              </a:rPr>
              <a:t>try: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74342" y="4799653"/>
            <a:ext cx="2946747" cy="1537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654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&lt;语句块1&gt;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except</a:t>
            </a:r>
            <a:r>
              <a:rPr sz="2400" spc="2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&lt;异常类型&gt;:</a:t>
            </a:r>
          </a:p>
          <a:p>
            <a:pPr marL="914654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&lt;语句块2&gt;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48201"/>
            <a:ext cx="5944819" cy="605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异常处理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4000" b="1" spc="2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try-except</a:t>
            </a: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37360" y="2405525"/>
            <a:ext cx="580408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try: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37360" y="2655244"/>
            <a:ext cx="3846009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num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= eval(input("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请输入一个整数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400" b="1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"))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22146" y="2785001"/>
            <a:ext cx="259402" cy="4933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</a:p>
          <a:p>
            <a:pPr marL="0" marR="0">
              <a:lnSpc>
                <a:spcPts val="1590"/>
              </a:lnSpc>
              <a:spcBef>
                <a:spcPts val="40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37360" y="2912763"/>
            <a:ext cx="1545806" cy="240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print(num**2)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7360" y="3167779"/>
            <a:ext cx="196196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except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NameError: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69235" y="3417498"/>
            <a:ext cx="3362117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输入错误，请输入一个整数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!")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58519" y="4295699"/>
            <a:ext cx="2438704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该程序执行效果如下：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51533" y="4911870"/>
            <a:ext cx="47340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51533" y="5161843"/>
            <a:ext cx="2399097" cy="4978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请输入一个整数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400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NO</a:t>
            </a:r>
          </a:p>
          <a:p>
            <a:pPr marL="0" marR="0">
              <a:lnSpc>
                <a:spcPts val="1590"/>
              </a:lnSpc>
              <a:spcBef>
                <a:spcPts val="3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输入错误，请输入一个整数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!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71508"/>
            <a:ext cx="3716121" cy="54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98"/>
              </a:lnSpc>
              <a:spcBef>
                <a:spcPts val="0"/>
              </a:spcBef>
              <a:spcAft>
                <a:spcPts val="0"/>
              </a:spcAft>
            </a:pPr>
            <a:r>
              <a:rPr sz="4000" spc="10" dirty="0">
                <a:solidFill>
                  <a:srgbClr val="000000"/>
                </a:solidFill>
                <a:latin typeface="SimSun"/>
                <a:cs typeface="SimSun"/>
              </a:rPr>
              <a:t>异常的高级用法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442" y="1973200"/>
            <a:ext cx="8434984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try-except语句可以支持多个except语句，语法格式如下：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29816" y="2454826"/>
            <a:ext cx="576630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try: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29816" y="2823634"/>
            <a:ext cx="3016275" cy="2570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781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1&gt;</a:t>
            </a:r>
          </a:p>
          <a:p>
            <a:pPr marL="0" marR="0">
              <a:lnSpc>
                <a:spcPts val="2681"/>
              </a:lnSpc>
              <a:spcBef>
                <a:spcPts val="19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except</a:t>
            </a:r>
            <a:r>
              <a:rPr sz="2400" spc="1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异常类型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1&gt;:</a:t>
            </a:r>
          </a:p>
          <a:p>
            <a:pPr marL="914781" marR="0">
              <a:lnSpc>
                <a:spcPts val="2683"/>
              </a:lnSpc>
              <a:spcBef>
                <a:spcPts val="14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2&gt;</a:t>
            </a:r>
          </a:p>
          <a:p>
            <a:pPr marL="0" marR="0">
              <a:lnSpc>
                <a:spcPts val="2681"/>
              </a:lnSpc>
              <a:spcBef>
                <a:spcPts val="17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….</a:t>
            </a:r>
          </a:p>
          <a:p>
            <a:pPr marL="0" marR="0">
              <a:lnSpc>
                <a:spcPts val="2681"/>
              </a:lnSpc>
              <a:spcBef>
                <a:spcPts val="22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except</a:t>
            </a:r>
            <a:r>
              <a:rPr sz="2400" spc="1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异常类型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N&gt;:</a:t>
            </a:r>
          </a:p>
          <a:p>
            <a:pPr marL="914781" marR="0">
              <a:lnSpc>
                <a:spcPts val="2681"/>
              </a:lnSpc>
              <a:spcBef>
                <a:spcPts val="19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N+1&gt;</a:t>
            </a:r>
          </a:p>
          <a:p>
            <a:pPr marL="0" marR="0">
              <a:lnSpc>
                <a:spcPts val="2683"/>
              </a:lnSpc>
              <a:spcBef>
                <a:spcPts val="12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except: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44598" y="5384513"/>
            <a:ext cx="1990643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N+2&gt;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71508"/>
            <a:ext cx="3716121" cy="54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98"/>
              </a:lnSpc>
              <a:spcBef>
                <a:spcPts val="0"/>
              </a:spcBef>
              <a:spcAft>
                <a:spcPts val="0"/>
              </a:spcAft>
            </a:pPr>
            <a:r>
              <a:rPr sz="4000" spc="10" dirty="0">
                <a:solidFill>
                  <a:srgbClr val="000000"/>
                </a:solidFill>
                <a:latin typeface="SimSun"/>
                <a:cs typeface="SimSun"/>
              </a:rPr>
              <a:t>异常的高级用法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2290" y="1763845"/>
            <a:ext cx="8163507" cy="1537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最后一个except语句没有指定任何类型，表示它对应的语</a:t>
            </a:r>
          </a:p>
          <a:p>
            <a:pPr marL="34290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句块可以处理所有其他异常。这个过程与</a:t>
            </a:r>
            <a:r>
              <a:rPr sz="2400" spc="-23" dirty="0">
                <a:solidFill>
                  <a:srgbClr val="000000"/>
                </a:solidFill>
                <a:latin typeface="Microsoft YaHei"/>
                <a:cs typeface="Microsoft YaHei"/>
              </a:rPr>
              <a:t>if-elif-else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语句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类似，是分支结构的一种表达方式，一段代码如下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61261" y="4144917"/>
            <a:ext cx="911039" cy="24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400" spc="9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try: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1261" y="4397900"/>
            <a:ext cx="259402" cy="7494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590"/>
              </a:lnSpc>
              <a:spcBef>
                <a:spcPts val="416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18054" y="4399425"/>
            <a:ext cx="3846009" cy="7494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alp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= "ABCDEFGHIJKLMNOPQRSTUVWXYZ"</a:t>
            </a:r>
          </a:p>
          <a:p>
            <a:pPr marL="0" marR="0">
              <a:lnSpc>
                <a:spcPts val="1590"/>
              </a:lnSpc>
              <a:spcBef>
                <a:spcPts val="378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idx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= eval(input("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请输入一个整数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400" b="1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"))</a:t>
            </a:r>
          </a:p>
          <a:p>
            <a:pPr marL="1524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print(alp[idx])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61261" y="5160282"/>
            <a:ext cx="2293561" cy="24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400" spc="9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except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NameError: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61261" y="5414790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18054" y="5411525"/>
            <a:ext cx="3362117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输入错误，请输入一个整数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!")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61261" y="5669272"/>
            <a:ext cx="1231333" cy="24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400" spc="9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except: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61261" y="5922002"/>
            <a:ext cx="259585" cy="240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18054" y="5920254"/>
            <a:ext cx="1831517" cy="2452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其他错误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71508"/>
            <a:ext cx="3716121" cy="54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98"/>
              </a:lnSpc>
              <a:spcBef>
                <a:spcPts val="0"/>
              </a:spcBef>
              <a:spcAft>
                <a:spcPts val="0"/>
              </a:spcAft>
            </a:pPr>
            <a:r>
              <a:rPr sz="4000" spc="10" dirty="0">
                <a:solidFill>
                  <a:srgbClr val="000000"/>
                </a:solidFill>
                <a:latin typeface="SimSun"/>
                <a:cs typeface="SimSun"/>
              </a:rPr>
              <a:t>异常的高级用法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1949138"/>
            <a:ext cx="8077784" cy="2635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该程序将用户输入的数字作为索引从字符串alp中返回一个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字符，当用户输入非整数字符时，except</a:t>
            </a:r>
            <a:r>
              <a:rPr sz="2400" spc="3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NameError异常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被捕获到，提示升用户输入类型错误，当用户输入数字不在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01到26之间时，异常被except捕获，程序打印其他错误</a:t>
            </a:r>
          </a:p>
          <a:p>
            <a:pPr marL="0" marR="0">
              <a:lnSpc>
                <a:spcPts val="3167"/>
              </a:lnSpc>
              <a:spcBef>
                <a:spcPts val="115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信息，执行过程和结果如</a:t>
            </a:r>
            <a:r>
              <a:rPr sz="2400" spc="1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87957" y="4818672"/>
            <a:ext cx="51848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87957" y="5069260"/>
            <a:ext cx="2706973" cy="1256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请输入一个整数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600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NO</a:t>
            </a:r>
          </a:p>
          <a:p>
            <a:pPr marL="0" marR="0">
              <a:lnSpc>
                <a:spcPts val="1807"/>
              </a:lnSpc>
              <a:spcBef>
                <a:spcPts val="19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输入错误，请输入一个整数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!</a:t>
            </a:r>
          </a:p>
          <a:p>
            <a:pPr marL="0" marR="0">
              <a:lnSpc>
                <a:spcPts val="1810"/>
              </a:lnSpc>
              <a:spcBef>
                <a:spcPts val="182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  <a:p>
            <a:pPr marL="0" marR="0">
              <a:lnSpc>
                <a:spcPts val="1807"/>
              </a:lnSpc>
              <a:spcBef>
                <a:spcPts val="11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请输入一个整数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600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100</a:t>
            </a:r>
          </a:p>
          <a:p>
            <a:pPr marL="0" marR="0">
              <a:lnSpc>
                <a:spcPts val="1596"/>
              </a:lnSpc>
              <a:spcBef>
                <a:spcPts val="19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其他错误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71508"/>
            <a:ext cx="3716121" cy="54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98"/>
              </a:lnSpc>
              <a:spcBef>
                <a:spcPts val="0"/>
              </a:spcBef>
              <a:spcAft>
                <a:spcPts val="0"/>
              </a:spcAft>
            </a:pPr>
            <a:r>
              <a:rPr sz="4000" spc="10" dirty="0">
                <a:solidFill>
                  <a:srgbClr val="000000"/>
                </a:solidFill>
                <a:latin typeface="SimSun"/>
                <a:cs typeface="SimSun"/>
              </a:rPr>
              <a:t>异常的高级用法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39316" y="1692471"/>
            <a:ext cx="7525207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8" dirty="0">
                <a:solidFill>
                  <a:srgbClr val="000000"/>
                </a:solidFill>
                <a:latin typeface="Microsoft YaHei"/>
                <a:cs typeface="Microsoft YaHei"/>
              </a:rPr>
              <a:t>除了</a:t>
            </a:r>
            <a:r>
              <a:rPr sz="2400" spc="36" dirty="0">
                <a:solidFill>
                  <a:srgbClr val="000000"/>
                </a:solidFill>
                <a:latin typeface="Microsoft YaHei"/>
                <a:cs typeface="Microsoft YaHei"/>
              </a:rPr>
              <a:t>try</a:t>
            </a:r>
            <a:r>
              <a:rPr sz="2400" spc="111" dirty="0">
                <a:solidFill>
                  <a:srgbClr val="000000"/>
                </a:solidFill>
                <a:latin typeface="Microsoft YaHei"/>
                <a:cs typeface="Microsoft YaHei"/>
              </a:rPr>
              <a:t>和</a:t>
            </a:r>
            <a:r>
              <a:rPr sz="2400" spc="14" dirty="0">
                <a:solidFill>
                  <a:srgbClr val="000000"/>
                </a:solidFill>
                <a:latin typeface="Microsoft YaHei"/>
                <a:cs typeface="Microsoft YaHei"/>
              </a:rPr>
              <a:t>except</a:t>
            </a:r>
            <a:r>
              <a:rPr sz="2400" spc="107" dirty="0">
                <a:solidFill>
                  <a:srgbClr val="000000"/>
                </a:solidFill>
                <a:latin typeface="Microsoft YaHei"/>
                <a:cs typeface="Microsoft YaHei"/>
              </a:rPr>
              <a:t>保留字外，异常语句还可以与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else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和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2868" y="2241111"/>
            <a:ext cx="5592191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finally保留字配合使用，语法格式如下：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83917" y="2774063"/>
            <a:ext cx="550543" cy="374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8"/>
              </a:lnSpc>
              <a:spcBef>
                <a:spcPts val="0"/>
              </a:spcBef>
              <a:spcAft>
                <a:spcPts val="0"/>
              </a:spcAft>
            </a:pPr>
            <a:r>
              <a:rPr sz="2000" spc="28" dirty="0">
                <a:solidFill>
                  <a:srgbClr val="000000"/>
                </a:solidFill>
                <a:latin typeface="Microsoft YaHei"/>
                <a:cs typeface="Microsoft YaHei"/>
              </a:rPr>
              <a:t>try: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83917" y="3231966"/>
            <a:ext cx="2634413" cy="1745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808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&lt;语句块1&gt;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except</a:t>
            </a:r>
            <a:r>
              <a:rPr sz="2000" spc="-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&lt;异常类型1&gt;:</a:t>
            </a:r>
          </a:p>
          <a:p>
            <a:pPr marL="64808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&lt;语句块2&gt;</a:t>
            </a:r>
          </a:p>
          <a:p>
            <a:pPr marL="0" marR="0">
              <a:lnSpc>
                <a:spcPts val="2644"/>
              </a:lnSpc>
              <a:spcBef>
                <a:spcPts val="957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else: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83917" y="5061020"/>
            <a:ext cx="2091101" cy="8312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808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&lt;语句块3&gt;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finally: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31998" y="5975750"/>
            <a:ext cx="1443020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&lt;语句块4&gt;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71508"/>
            <a:ext cx="3716121" cy="54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98"/>
              </a:lnSpc>
              <a:spcBef>
                <a:spcPts val="0"/>
              </a:spcBef>
              <a:spcAft>
                <a:spcPts val="0"/>
              </a:spcAft>
            </a:pPr>
            <a:r>
              <a:rPr sz="4000" spc="10" dirty="0">
                <a:solidFill>
                  <a:srgbClr val="000000"/>
                </a:solidFill>
                <a:latin typeface="SimSun"/>
                <a:cs typeface="SimSun"/>
              </a:rPr>
              <a:t>异常的高级用法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71508"/>
            <a:ext cx="3716121" cy="54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98"/>
              </a:lnSpc>
              <a:spcBef>
                <a:spcPts val="0"/>
              </a:spcBef>
              <a:spcAft>
                <a:spcPts val="0"/>
              </a:spcAft>
            </a:pPr>
            <a:r>
              <a:rPr sz="4000" spc="10" dirty="0">
                <a:solidFill>
                  <a:srgbClr val="000000"/>
                </a:solidFill>
                <a:latin typeface="SimSun"/>
                <a:cs typeface="SimSun"/>
              </a:rPr>
              <a:t>异常的高级用法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6143" y="1791405"/>
            <a:ext cx="3895458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采用else和finally修改代码如下：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78728" y="1791405"/>
            <a:ext cx="2697480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执行过程和结果如下：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0837" y="2984878"/>
            <a:ext cx="244037" cy="2750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</a:p>
          <a:p>
            <a:pPr marL="0" marR="0">
              <a:lnSpc>
                <a:spcPts val="1359"/>
              </a:lnSpc>
              <a:spcBef>
                <a:spcPts val="633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  <a:p>
            <a:pPr marL="0" marR="0">
              <a:lnSpc>
                <a:spcPts val="1362"/>
              </a:lnSpc>
              <a:spcBef>
                <a:spcPts val="642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  <a:p>
            <a:pPr marL="0" marR="0">
              <a:lnSpc>
                <a:spcPts val="1359"/>
              </a:lnSpc>
              <a:spcBef>
                <a:spcPts val="634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</a:p>
          <a:p>
            <a:pPr marL="0" marR="0">
              <a:lnSpc>
                <a:spcPts val="1359"/>
              </a:lnSpc>
              <a:spcBef>
                <a:spcPts val="57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</a:p>
          <a:p>
            <a:pPr marL="0" marR="0">
              <a:lnSpc>
                <a:spcPts val="1359"/>
              </a:lnSpc>
              <a:spcBef>
                <a:spcPts val="656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6869" y="3112258"/>
            <a:ext cx="519698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try: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85995" y="3134505"/>
            <a:ext cx="47340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24153" y="3365243"/>
            <a:ext cx="3336711" cy="720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alp =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"ABCDEFGHIJKLMNOPQRSTUVWXYZ"</a:t>
            </a:r>
          </a:p>
          <a:p>
            <a:pPr marL="1524" marR="0">
              <a:lnSpc>
                <a:spcPts val="1359"/>
              </a:lnSpc>
              <a:spcBef>
                <a:spcPts val="564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idx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eval(input("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请输入一个整数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2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"))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print(alp[idx])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85995" y="3384605"/>
            <a:ext cx="1716346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请输入一个整数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400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785995" y="3642378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F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785995" y="3892097"/>
            <a:ext cx="1222247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没有发生异常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6869" y="4127496"/>
            <a:ext cx="1717842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except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NameError: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785995" y="4146605"/>
            <a:ext cx="3183635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程序执行完毕，不知道是否发生了异常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6869" y="4377912"/>
            <a:ext cx="3274227" cy="4693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808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输入错误，请输入一个整数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!")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785995" y="4404378"/>
            <a:ext cx="47340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785995" y="4654097"/>
            <a:ext cx="1400555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请输入一个整数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034151" y="4658886"/>
            <a:ext cx="574870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400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NO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56869" y="4886928"/>
            <a:ext cx="1899198" cy="468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没有发生异常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  <a:p>
            <a:pPr marL="0" marR="0">
              <a:lnSpc>
                <a:spcPts val="1359"/>
              </a:lnSpc>
              <a:spcBef>
                <a:spcPts val="635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finally: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785995" y="4908859"/>
            <a:ext cx="2292095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输入错误，请输入一个整数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924420" y="4913648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!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785995" y="5163367"/>
            <a:ext cx="3183635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程序执行完毕，不知道是否发生了异常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25677" y="5394801"/>
            <a:ext cx="3575979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程序执行完毕，不知道是否发生了异常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7666" y="427735"/>
            <a:ext cx="8082766" cy="2769989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异常和错误的区别</a:t>
            </a:r>
            <a:br>
              <a:rPr lang="zh-CN" altLang="en-US" dirty="0"/>
            </a:br>
            <a:r>
              <a:rPr lang="zh-CN" altLang="en-US" dirty="0"/>
              <a:t>编程语言的异常和错误是两个相似但不同的概念。异常和错误都可能引起程序执行错误而退出，它们属于程序没有考虑到的例外情况</a:t>
            </a:r>
            <a:r>
              <a:rPr lang="en-US" altLang="zh-CN" dirty="0"/>
              <a:t>(exception)</a:t>
            </a:r>
            <a:r>
              <a:rPr lang="zh-CN" altLang="en-US" dirty="0"/>
              <a:t>。</a:t>
            </a:r>
            <a:br>
              <a:rPr lang="en-US" altLang="zh-CN" dirty="0"/>
            </a:br>
            <a:r>
              <a:rPr lang="zh-CN" altLang="en-US" dirty="0"/>
              <a:t>绝大多数不可控因素是可以预见的，例如，程序期望获得数字输入却得到了其他字符输入、打开一个不存在的文件等。这种可以预见的例外情况称为</a:t>
            </a:r>
            <a:r>
              <a:rPr lang="zh-CN" altLang="en-US" dirty="0">
                <a:solidFill>
                  <a:srgbClr val="FF0000"/>
                </a:solidFill>
              </a:rPr>
              <a:t>“异常” </a:t>
            </a:r>
            <a:r>
              <a:rPr lang="en-US" altLang="zh-CN" dirty="0"/>
              <a:t>(checked exception)</a:t>
            </a:r>
            <a:r>
              <a:rPr lang="zh-CN" altLang="en-US" dirty="0"/>
              <a:t>，异常发生后经过妥善处理可以继续执行。</a:t>
            </a:r>
            <a:br>
              <a:rPr lang="en-US" altLang="zh-CN" dirty="0"/>
            </a:br>
            <a:r>
              <a:rPr lang="zh-CN" altLang="en-US" dirty="0"/>
              <a:t>另外一些因为程序编码逻辑产生的不可预见的例外情况称为</a:t>
            </a:r>
            <a:r>
              <a:rPr lang="zh-CN" altLang="en-US" dirty="0">
                <a:solidFill>
                  <a:srgbClr val="FF0000"/>
                </a:solidFill>
              </a:rPr>
              <a:t>“错误”</a:t>
            </a:r>
            <a:r>
              <a:rPr lang="en-US" altLang="zh-CN" dirty="0"/>
              <a:t>(unchecked exception)</a:t>
            </a:r>
            <a:r>
              <a:rPr lang="zh-CN" altLang="en-US" dirty="0"/>
              <a:t>，错误发生后程序无法恢复执行，而且程序本不该处理这类可能的例外，例如，对于一个包含</a:t>
            </a:r>
            <a:r>
              <a:rPr lang="en-US" altLang="zh-CN" dirty="0"/>
              <a:t>5</a:t>
            </a:r>
            <a:r>
              <a:rPr lang="zh-CN" altLang="en-US" dirty="0"/>
              <a:t>个字符的字符串，程序去索引其中第</a:t>
            </a:r>
            <a:r>
              <a:rPr lang="en-US" altLang="zh-CN" dirty="0"/>
              <a:t>6</a:t>
            </a:r>
            <a:r>
              <a:rPr lang="zh-CN" altLang="en-US" dirty="0"/>
              <a:t>个元素，这种错误完全可以避免。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77666" y="3501008"/>
            <a:ext cx="8298790" cy="3046988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适当使用异常处理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Python</a:t>
            </a:r>
            <a:r>
              <a:rPr lang="zh-CN" altLang="en-US" dirty="0"/>
              <a:t>能识别多种异常类型，但不建议读者编写程序时</a:t>
            </a:r>
            <a:r>
              <a:rPr lang="zh-CN" altLang="en-US" dirty="0">
                <a:solidFill>
                  <a:srgbClr val="FF0000"/>
                </a:solidFill>
              </a:rPr>
              <a:t>过度依赖</a:t>
            </a:r>
            <a:r>
              <a:rPr lang="en-US" altLang="zh-CN" dirty="0"/>
              <a:t>try-except</a:t>
            </a:r>
            <a:r>
              <a:rPr lang="zh-CN" altLang="en-US" dirty="0"/>
              <a:t>这</a:t>
            </a:r>
          </a:p>
          <a:p>
            <a:r>
              <a:rPr lang="zh-CN" altLang="en-US" dirty="0"/>
              <a:t>种异常处理机制。</a:t>
            </a:r>
            <a:r>
              <a:rPr lang="en-US" altLang="zh-CN" dirty="0"/>
              <a:t>try-except</a:t>
            </a:r>
            <a:r>
              <a:rPr lang="zh-CN" altLang="en-US" dirty="0"/>
              <a:t>异常一般只用来检测极少发生的情况，例如，用户输入</a:t>
            </a:r>
          </a:p>
          <a:p>
            <a:r>
              <a:rPr lang="zh-CN" altLang="en-US" dirty="0"/>
              <a:t>的合规性或文件打开是否成功等。对于本节小例子中索引字符串超过范围的情况应</a:t>
            </a:r>
          </a:p>
          <a:p>
            <a:r>
              <a:rPr lang="zh-CN" altLang="en-US" dirty="0"/>
              <a:t>该尽量在程序中采用</a:t>
            </a:r>
            <a:r>
              <a:rPr lang="en-US" altLang="zh-CN" dirty="0"/>
              <a:t>if</a:t>
            </a:r>
            <a:r>
              <a:rPr lang="zh-CN" altLang="en-US" dirty="0"/>
              <a:t>语句直接判断，而避免通过异常处理来应对这种可能发生的</a:t>
            </a:r>
          </a:p>
          <a:p>
            <a:r>
              <a:rPr lang="zh-CN" altLang="en-US" dirty="0"/>
              <a:t>“错误”。</a:t>
            </a:r>
          </a:p>
          <a:p>
            <a:r>
              <a:rPr lang="zh-CN" altLang="en-US" dirty="0"/>
              <a:t>对于面向商业应用的软件产品，稳定性和可靠性是最重要的衡量指标之一。即</a:t>
            </a:r>
          </a:p>
          <a:p>
            <a:r>
              <a:rPr lang="zh-CN" altLang="en-US" dirty="0"/>
              <a:t>使这类软件产品也不会滥用</a:t>
            </a:r>
            <a:r>
              <a:rPr lang="en-US" altLang="zh-CN" dirty="0"/>
              <a:t>try-except</a:t>
            </a:r>
            <a:r>
              <a:rPr lang="zh-CN" altLang="en-US" dirty="0"/>
              <a:t>类型语句。</a:t>
            </a:r>
            <a:r>
              <a:rPr lang="zh-CN" altLang="en-US" dirty="0">
                <a:solidFill>
                  <a:srgbClr val="FF0000"/>
                </a:solidFill>
              </a:rPr>
              <a:t>因为采用</a:t>
            </a:r>
            <a:r>
              <a:rPr lang="en-US" altLang="zh-CN" dirty="0">
                <a:solidFill>
                  <a:srgbClr val="FF0000"/>
                </a:solidFill>
              </a:rPr>
              <a:t>try-except</a:t>
            </a:r>
            <a:r>
              <a:rPr lang="zh-CN" altLang="en-US" dirty="0">
                <a:solidFill>
                  <a:srgbClr val="FF0000"/>
                </a:solidFill>
              </a:rPr>
              <a:t>语句会影响代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码的可读性，增加代码维护难度，</a:t>
            </a:r>
            <a:r>
              <a:rPr lang="zh-CN" altLang="en-US" dirty="0"/>
              <a:t>因此，</a:t>
            </a:r>
            <a:r>
              <a:rPr lang="zh-CN" altLang="en-US" dirty="0">
                <a:solidFill>
                  <a:srgbClr val="FF0000"/>
                </a:solidFill>
              </a:rPr>
              <a:t>一般只在关键地方采用</a:t>
            </a:r>
            <a:r>
              <a:rPr lang="en-US" altLang="zh-CN" dirty="0"/>
              <a:t>try-except</a:t>
            </a:r>
            <a:r>
              <a:rPr lang="zh-CN" altLang="en-US" dirty="0"/>
              <a:t>类型语</a:t>
            </a:r>
          </a:p>
          <a:p>
            <a:r>
              <a:rPr lang="zh-CN" altLang="en-US" dirty="0"/>
              <a:t>句处理可能发生的异常。建议读者结合函数设计统筹应用异常处理。更多经验还需</a:t>
            </a:r>
          </a:p>
          <a:p>
            <a:r>
              <a:rPr lang="zh-CN" altLang="en-US" dirty="0"/>
              <a:t>要实践来积累。</a:t>
            </a:r>
          </a:p>
        </p:txBody>
      </p:sp>
    </p:spTree>
    <p:extLst>
      <p:ext uri="{BB962C8B-B14F-4D97-AF65-F5344CB8AC3E}">
        <p14:creationId xmlns:p14="http://schemas.microsoft.com/office/powerpoint/2010/main" val="192860174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501</TotalTime>
  <Words>3419</Words>
  <Application>Microsoft Office PowerPoint</Application>
  <PresentationFormat>全屏显示(4:3)</PresentationFormat>
  <Paragraphs>763</Paragraphs>
  <Slides>63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5" baseType="lpstr">
      <vt:lpstr>SimSun</vt:lpstr>
      <vt:lpstr>Palatino Linotype</vt:lpstr>
      <vt:lpstr>Times New Roman</vt:lpstr>
      <vt:lpstr>Microsoft YaHei</vt:lpstr>
      <vt:lpstr>KaiTi</vt:lpstr>
      <vt:lpstr>Calibri</vt:lpstr>
      <vt:lpstr>SimHei</vt:lpstr>
      <vt:lpstr>Wingdings</vt:lpstr>
      <vt:lpstr>Courier New</vt:lpstr>
      <vt:lpstr>Arial</vt:lpstr>
      <vt:lpstr>Microsoft YaHei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异常和错误的区别 编程语言的异常和错误是两个相似但不同的概念。异常和错误都可能引起程序执行错误而退出，它们属于程序没有考虑到的例外情况(exception)。 绝大多数不可控因素是可以预见的，例如，程序期望获得数字输入却得到了其他字符输入、打开一个不存在的文件等。这种可以预见的例外情况称为“异常” (checked exception)，异常发生后经过妥善处理可以继续执行。 另外一些因为程序编码逻辑产生的不可预见的例外情况称为“错误”(unchecked exception)，错误发生后程序无法恢复执行，而且程序本不该处理这类可能的例外，例如，对于一个包含5个字符的字符串，程序去索引其中第6个元素，这种错误完全可以避免。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hongwei</dc:creator>
  <cp:lastModifiedBy>Administrator</cp:lastModifiedBy>
  <cp:revision>8</cp:revision>
  <dcterms:modified xsi:type="dcterms:W3CDTF">2024-11-10T13:28:43Z</dcterms:modified>
</cp:coreProperties>
</file>