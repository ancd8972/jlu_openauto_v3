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53" r:id="rId73"/>
  </p:sldIdLst>
  <p:sldSz cx="9144000" cy="6858000" type="screen4x3"/>
  <p:notesSz cx="9144000" cy="6858000"/>
  <p:embeddedFontLst>
    <p:embeddedFont>
      <p:font typeface="SimHei" panose="02010609060101010101" pitchFamily="49" charset="-122"/>
      <p:regular r:id="rId74"/>
    </p:embeddedFont>
    <p:embeddedFont>
      <p:font typeface="FDCGMS+Symbol" panose="02010600030101010101" charset="2"/>
      <p:regular r:id="rId75"/>
    </p:embeddedFont>
    <p:embeddedFont>
      <p:font typeface="Palatino Linotype" panose="02040502050505030304" pitchFamily="18" charset="0"/>
      <p:regular r:id="rId76"/>
      <p:bold r:id="rId77"/>
      <p:italic r:id="rId78"/>
      <p:boldItalic r:id="rId79"/>
    </p:embeddedFont>
    <p:embeddedFont>
      <p:font typeface="微软雅黑" panose="020B0503020204020204" pitchFamily="34" charset="-122"/>
      <p:regular r:id="rId80"/>
      <p:bold r:id="rId8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>
        <p:scale>
          <a:sx n="100" d="100"/>
          <a:sy n="100" d="100"/>
        </p:scale>
        <p:origin x="2222" y="84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font" Target="fonts/font3.fntdata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1.fntdata"/><Relationship Id="rId79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7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2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5.fntdata"/><Relationship Id="rId81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718" y="1859885"/>
            <a:ext cx="7863531" cy="116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07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6600" dirty="0">
                <a:solidFill>
                  <a:srgbClr val="000000"/>
                </a:solidFill>
                <a:latin typeface="SimHei"/>
                <a:cs typeface="SimHei"/>
              </a:rPr>
              <a:t>语言程序设计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42" y="3816201"/>
            <a:ext cx="3645661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北京理工大学</a:t>
            </a:r>
            <a:r>
              <a:rPr sz="3200" spc="10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嵩天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4606" y="2334433"/>
            <a:ext cx="8379307" cy="1072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94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6000" dirty="0">
                <a:solidFill>
                  <a:srgbClr val="000000"/>
                </a:solidFill>
                <a:latin typeface="Palatino Linotype"/>
                <a:cs typeface="Palatino Linotype"/>
              </a:rPr>
              <a:t>5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节</a:t>
            </a:r>
            <a:r>
              <a:rPr sz="6000" spc="2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0" dirty="0">
                <a:solidFill>
                  <a:srgbClr val="000000"/>
                </a:solidFill>
                <a:latin typeface="Microsoft YaHei"/>
                <a:cs typeface="Microsoft YaHei"/>
              </a:rPr>
              <a:t>函数和代码的复用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函数的基本使用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1984757"/>
            <a:ext cx="8420404" cy="98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函数是一段具有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特定功能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的、可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重用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的语句组，用函数名来</a:t>
            </a:r>
          </a:p>
          <a:p>
            <a:pPr marL="3429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表示并通过函数名进行完成功能调用。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442" y="3082740"/>
            <a:ext cx="8420710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函数也可以看作是一段具有名字的子程序，可以在需要的地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方调用执行，不需要在每个执行地方重复编写这些语句。每</a:t>
            </a:r>
          </a:p>
          <a:p>
            <a:pPr marL="34290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次使用函数可以提供不同的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参数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作为输入，以实现对不同数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据的处理；函数执行后，还可以反馈相应的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处理结果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9552" y="5169296"/>
            <a:ext cx="3808171" cy="507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函数是一种功能抽象</a:t>
            </a:r>
          </a:p>
        </p:txBody>
      </p:sp>
      <p:sp>
        <p:nvSpPr>
          <p:cNvPr id="7" name="object 5"/>
          <p:cNvSpPr txBox="1"/>
          <p:nvPr/>
        </p:nvSpPr>
        <p:spPr>
          <a:xfrm>
            <a:off x="753465" y="5856859"/>
            <a:ext cx="8004036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降低编程难度和代码重用（函数库、多人协作、可读性强、单独调试、方便维护）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" y="2340171"/>
            <a:ext cx="7448701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Python定义一个函数使用def保留字，语法形式如下：</a:t>
            </a:r>
          </a:p>
          <a:p>
            <a:pPr marL="457504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def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&lt;函数名&gt;(&lt;参数列表&gt;):</a:t>
            </a:r>
          </a:p>
          <a:p>
            <a:pPr marL="728751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&lt;函数体&gt;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0316" y="3986472"/>
            <a:ext cx="310833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 &lt;返回值列表&gt;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1935422"/>
            <a:ext cx="305380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微实例5.1：生日歌。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3465" y="2484062"/>
            <a:ext cx="5335574" cy="98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过生日时要为朋友唱生日歌，歌词为：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Happy 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birthday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Microsoft YaHei"/>
                <a:cs typeface="Microsoft YaHei"/>
              </a:rPr>
              <a:t>to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you!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3465" y="3581723"/>
            <a:ext cx="355295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Happy 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birthday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Microsoft YaHei"/>
                <a:cs typeface="Microsoft YaHei"/>
              </a:rPr>
              <a:t>to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you!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3465" y="4130363"/>
            <a:ext cx="4381154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Happy bir</a:t>
            </a:r>
            <a:r>
              <a:rPr sz="2400" spc="-64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Microsoft YaHei"/>
                <a:cs typeface="Microsoft YaHei"/>
              </a:rPr>
              <a:t>thday,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dear &lt;名字&gt;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Happy 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birthday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Microsoft YaHei"/>
                <a:cs typeface="Microsoft YaHei"/>
              </a:rPr>
              <a:t>to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you!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6765" y="5227897"/>
            <a:ext cx="8321954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编写程序为</a:t>
            </a:r>
            <a:r>
              <a:rPr sz="2400" spc="-10" dirty="0">
                <a:solidFill>
                  <a:srgbClr val="000000"/>
                </a:solidFill>
                <a:latin typeface="Microsoft YaHei"/>
                <a:cs typeface="Microsoft YaHei"/>
              </a:rPr>
              <a:t>Mike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和Lily输出生日歌。最简单的实现方法是重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复使用print()语句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743" y="1928369"/>
            <a:ext cx="6847423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最简单的实现方法是重复使用print()语句，如下：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3719" y="3381539"/>
            <a:ext cx="4745723" cy="1030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600" spc="59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print("Happy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birthday to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you!")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600" spc="59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print("Happy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birthday to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you!")</a:t>
            </a:r>
          </a:p>
          <a:p>
            <a:pPr marL="0" marR="0">
              <a:lnSpc>
                <a:spcPts val="1807"/>
              </a:lnSpc>
              <a:spcBef>
                <a:spcPts val="199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600" spc="59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print("Happy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birthday, dear Mike!")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600" spc="592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print("Happy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birthday to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you!")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CBC180-8AE6-4515-BED7-D5EF4DB7B130}"/>
              </a:ext>
            </a:extLst>
          </p:cNvPr>
          <p:cNvSpPr txBox="1"/>
          <p:nvPr/>
        </p:nvSpPr>
        <p:spPr>
          <a:xfrm>
            <a:off x="6228184" y="2708920"/>
            <a:ext cx="1152128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   重     复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8F47606-6755-45E2-B4D3-713F1E0D54A5}"/>
              </a:ext>
            </a:extLst>
          </p:cNvPr>
          <p:cNvCxnSpPr/>
          <p:nvPr/>
        </p:nvCxnSpPr>
        <p:spPr>
          <a:xfrm flipH="1">
            <a:off x="5071131" y="2924722"/>
            <a:ext cx="1152128" cy="637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D5DBB0F-D370-4BA6-ACDA-BE1757E30586}"/>
              </a:ext>
            </a:extLst>
          </p:cNvPr>
          <p:cNvCxnSpPr>
            <a:cxnSpLocks/>
          </p:cNvCxnSpPr>
          <p:nvPr/>
        </p:nvCxnSpPr>
        <p:spPr>
          <a:xfrm flipH="1">
            <a:off x="5071131" y="3077122"/>
            <a:ext cx="1304528" cy="685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2C46EDC-9A8F-4DAE-80D0-6E0B1B917116}"/>
              </a:ext>
            </a:extLst>
          </p:cNvPr>
          <p:cNvCxnSpPr>
            <a:cxnSpLocks/>
          </p:cNvCxnSpPr>
          <p:nvPr/>
        </p:nvCxnSpPr>
        <p:spPr>
          <a:xfrm flipH="1">
            <a:off x="5223531" y="3092085"/>
            <a:ext cx="1610935" cy="1202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0A6FF2C-C07B-4A66-A70B-BE2DF16941DD}"/>
              </a:ext>
            </a:extLst>
          </p:cNvPr>
          <p:cNvSpPr txBox="1"/>
          <p:nvPr/>
        </p:nvSpPr>
        <p:spPr>
          <a:xfrm>
            <a:off x="4139952" y="4715852"/>
            <a:ext cx="1152128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   重     用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AC63EF6-A97F-4DCB-BFDD-A4641A4ACC9D}"/>
              </a:ext>
            </a:extLst>
          </p:cNvPr>
          <p:cNvCxnSpPr>
            <a:stCxn id="15" idx="0"/>
          </p:cNvCxnSpPr>
          <p:nvPr/>
        </p:nvCxnSpPr>
        <p:spPr>
          <a:xfrm flipV="1">
            <a:off x="4716016" y="4066637"/>
            <a:ext cx="0" cy="6492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7556" y="2228407"/>
            <a:ext cx="1014449" cy="3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5.1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3122" y="2225359"/>
            <a:ext cx="2281160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0" dirty="0">
                <a:solidFill>
                  <a:srgbClr val="000000"/>
                </a:solidFill>
                <a:latin typeface="Palatino Linotype"/>
                <a:cs typeface="Palatino Linotype"/>
              </a:rPr>
              <a:t>m5.1HappyBirthday.py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9047" y="2304941"/>
            <a:ext cx="47340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99047" y="2557925"/>
            <a:ext cx="2919581" cy="100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Happy birthday to you!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Happy birthday to you!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Happy birthday, dear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Mike!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Happy birthday to you!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66369" y="2688354"/>
            <a:ext cx="1783681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 happy():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6369" y="2941338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46657" y="2941338"/>
            <a:ext cx="345131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print("Happy birthday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to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you!")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6369" y="3195846"/>
            <a:ext cx="2315557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 happyB(name):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6368" y="3450354"/>
            <a:ext cx="190137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happy()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66368" y="3668433"/>
            <a:ext cx="262145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happy()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99047" y="3829195"/>
            <a:ext cx="2919581" cy="100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Happy birthday to you!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Happy birthday to you!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Happy birthday, dear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Lily!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Happy birthday to you!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66368" y="3957846"/>
            <a:ext cx="578980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print("Happy birthday, dear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{}!".format(name))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66368" y="4243997"/>
            <a:ext cx="2006753" cy="20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happy()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66369" y="4465592"/>
            <a:ext cx="1996976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happyB("Mike")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  <a:r>
              <a:rPr sz="1400" spc="11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3029" y="4974608"/>
            <a:ext cx="205031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400" spc="68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happyB("Lily")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函数调用的过程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9192" y="2268924"/>
            <a:ext cx="5943600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程序调用一个函数需要执行以下四个步骤：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（1）调用程序在调用处暂停执行；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（2）在调用时将实参复制给函数的形参；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（3）执行函数体语句；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2492" y="4463738"/>
            <a:ext cx="7821142" cy="98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6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4</a:t>
            </a:r>
            <a:r>
              <a:rPr sz="2400" spc="73" dirty="0">
                <a:solidFill>
                  <a:srgbClr val="000000"/>
                </a:solidFill>
                <a:latin typeface="Microsoft YaHei"/>
                <a:cs typeface="Microsoft YaHei"/>
              </a:rPr>
              <a:t>）函数调用结束给出返回值，程序回到调用前的暂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停处继续执行。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函数调用的过程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44394" y="5677028"/>
            <a:ext cx="3738752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微实例5.1中happyB()的被调用过程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函数调用的过程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函数调用的过程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29894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lambda函数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967" y="2070423"/>
            <a:ext cx="9036736" cy="318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Python的有33个保留字，其中一个是lambda，该保留字用于定义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一种特殊的函数——匿名函数，又称lambda函数。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匿名函数并非没有名字，而是将函数名作为函数结果返回，如下：</a:t>
            </a:r>
          </a:p>
          <a:p>
            <a:pPr marL="9144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&lt;函数名&gt; = lambda &lt;参数列表&gt;: &lt;表达式&gt;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lambda函数与正常函数一样，等价于下面形式：</a:t>
            </a:r>
          </a:p>
          <a:p>
            <a:pPr marL="9144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def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&lt;函数名&gt;(&lt;参数列表&gt;):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38045" y="5362601"/>
            <a:ext cx="249756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 </a:t>
            </a:r>
            <a:r>
              <a:rPr sz="2400" spc="-11" dirty="0">
                <a:solidFill>
                  <a:srgbClr val="000000"/>
                </a:solidFill>
                <a:latin typeface="Microsoft YaHei"/>
                <a:cs typeface="Microsoft YaHei"/>
              </a:rPr>
              <a:t>&lt;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表达式&gt;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08520" y="33306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29894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lambda函数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7940" y="1981523"/>
            <a:ext cx="7572195" cy="381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简单说，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lambda</a:t>
            </a:r>
            <a:r>
              <a:rPr sz="2400" spc="89" dirty="0">
                <a:solidFill>
                  <a:srgbClr val="000000"/>
                </a:solidFill>
                <a:latin typeface="Microsoft YaHei"/>
                <a:cs typeface="Microsoft YaHei"/>
              </a:rPr>
              <a:t>函数用于定义</a:t>
            </a:r>
            <a:r>
              <a:rPr sz="2400" spc="89" dirty="0">
                <a:solidFill>
                  <a:srgbClr val="FF0000"/>
                </a:solidFill>
                <a:latin typeface="Microsoft YaHei"/>
                <a:cs typeface="Microsoft YaHei"/>
              </a:rPr>
              <a:t>简单的</a:t>
            </a:r>
            <a:r>
              <a:rPr sz="2400" spc="89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89" dirty="0">
                <a:solidFill>
                  <a:srgbClr val="FF0000"/>
                </a:solidFill>
                <a:latin typeface="Microsoft YaHei"/>
                <a:cs typeface="Microsoft YaHei"/>
              </a:rPr>
              <a:t>能够在一行内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2530163"/>
            <a:ext cx="6249365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表示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的函数，返回一个函数类型，实例如下。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6385" y="3594646"/>
            <a:ext cx="3324954" cy="1029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&gt;&gt;&gt;f =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lambda x, y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: x + y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&gt;&gt;&gt;type(f)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&lt;class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'function'&gt;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&gt;&gt;&gt;f(10, 12)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6385" y="4611153"/>
            <a:ext cx="39595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22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3594646"/>
            <a:ext cx="3508497" cy="14905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函数的参数传递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可选参数和可变数量参数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132399"/>
            <a:ext cx="5640679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在定义函数时，有些参数可以存在默认值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；可选参数必须定义在非可选参数的后面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807" y="3428043"/>
            <a:ext cx="3839895" cy="1568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 dup(str, times</a:t>
            </a:r>
            <a:r>
              <a:rPr sz="1800" b="1" spc="-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= 2):</a:t>
            </a:r>
          </a:p>
          <a:p>
            <a:pPr marL="1093012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print(str*times)</a:t>
            </a:r>
          </a:p>
          <a:p>
            <a:pPr marL="0" marR="0">
              <a:lnSpc>
                <a:spcPts val="2004"/>
              </a:lnSpc>
              <a:spcBef>
                <a:spcPts val="5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&gt;&gt;&gt;dup("knock~")</a:t>
            </a:r>
          </a:p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knock~knock~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&gt;&gt;&gt;dup("knock~",4)</a:t>
            </a:r>
          </a:p>
          <a:p>
            <a:pPr marL="0" marR="0">
              <a:lnSpc>
                <a:spcPts val="2004"/>
              </a:lnSpc>
              <a:spcBef>
                <a:spcPts val="5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knock~knock~knock~knock~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2185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可选参数和可变数量参数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90" y="2132399"/>
            <a:ext cx="797290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在函数定义时，可以设计可变数量参数，通过参数前增加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1390" y="2681039"/>
            <a:ext cx="212023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星号（*）实现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61108" y="3761397"/>
            <a:ext cx="2837973" cy="1029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vfunc(a, *b):</a:t>
            </a:r>
          </a:p>
          <a:p>
            <a:pPr marL="977264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print(type(b))</a:t>
            </a:r>
          </a:p>
          <a:p>
            <a:pPr marL="977264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n in b:</a:t>
            </a:r>
          </a:p>
          <a:p>
            <a:pPr marL="1588388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a += 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38373" y="4777904"/>
            <a:ext cx="1128178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return 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61108" y="5032412"/>
            <a:ext cx="2471100" cy="775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&gt;&gt;&gt;vfunc(1,2,3,4,5)</a:t>
            </a:r>
          </a:p>
          <a:p>
            <a:pPr marL="0" marR="0">
              <a:lnSpc>
                <a:spcPts val="1807"/>
              </a:lnSpc>
              <a:spcBef>
                <a:spcPts val="18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&lt;class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'tuple'&gt;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15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755576" y="5940946"/>
            <a:ext cx="7972905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b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被看作是元组数据类型（</a:t>
            </a: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3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4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5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endParaRPr sz="2400" spc="66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参数的位置和名称传递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627699"/>
            <a:ext cx="7958378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Python提供了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按照形参名称输入实参的方式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，调用如下：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result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 func(x2=4,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y2=5,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z2=6,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x1=1,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y1=2,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z1=3)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由于调用函数时指定了参数名称，所以参数之间的顺序可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以任意调整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增强程序的可读性。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290" y="1990921"/>
            <a:ext cx="8089747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return语句用来退出函数并将程序返回到函数被调用的位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置继续执行。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2290" y="3088455"/>
            <a:ext cx="8142452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return语句同时可以将0个、1个或多个函数运算完的结果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返回给函数被调用处的变量，例如。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6385" y="4580822"/>
            <a:ext cx="3428666" cy="1059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 func(a, b):</a:t>
            </a:r>
          </a:p>
          <a:p>
            <a:pPr marL="1092733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return a*b</a:t>
            </a:r>
          </a:p>
          <a:p>
            <a:pPr marL="0" marR="0">
              <a:lnSpc>
                <a:spcPts val="2003"/>
              </a:lnSpc>
              <a:spcBef>
                <a:spcPts val="5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 func("knock~",</a:t>
            </a:r>
            <a:r>
              <a:rPr sz="1800" b="1" spc="-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2)</a:t>
            </a:r>
          </a:p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6385" y="5597838"/>
            <a:ext cx="1798587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knock~knock~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5716" y="2127446"/>
            <a:ext cx="7770167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函数可以没有return，此时函数并不返回值，如微实例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5.1的happy()函数。函数也可以用return返回多个值，多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个值以元组类型保存，例如。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61108" y="4192796"/>
            <a:ext cx="2069271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func(a, b):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3405" y="4445780"/>
            <a:ext cx="121647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b,a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61108" y="4700287"/>
            <a:ext cx="3238215" cy="747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func("knock~", 2)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type(s))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(2, 'knock~')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&lt;class</a:t>
            </a:r>
            <a:r>
              <a:rPr sz="1400" spc="-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'tuple'&gt;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函数对变量的作用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5716" y="2411799"/>
            <a:ext cx="7770621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一个程序中的变量包括两类：全局变量和局部变量。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55" dirty="0">
                <a:solidFill>
                  <a:srgbClr val="000000"/>
                </a:solidFill>
                <a:latin typeface="Microsoft YaHei"/>
                <a:cs typeface="Microsoft YaHei"/>
              </a:rPr>
              <a:t>•全局变量指在函数之外定义的变量，一般没有缩进，在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程序执行全过程有效。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5716" y="4058100"/>
            <a:ext cx="7768106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55" dirty="0">
                <a:solidFill>
                  <a:srgbClr val="000000"/>
                </a:solidFill>
                <a:latin typeface="Microsoft YaHei"/>
                <a:cs typeface="Microsoft YaHei"/>
              </a:rPr>
              <a:t>•局部变量指在函数内部使用的变量，仅在函数内部有效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，当函数退出时变量将不存在。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4483" y="2196774"/>
            <a:ext cx="2536454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&gt;&gt;&gt;n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 1</a:t>
            </a:r>
            <a:r>
              <a:rPr sz="1400" b="1" spc="249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#n</a:t>
            </a:r>
            <a:r>
              <a:rPr sz="1400" spc="10" dirty="0">
                <a:solidFill>
                  <a:srgbClr val="000000"/>
                </a:solidFill>
                <a:latin typeface="SimSun"/>
                <a:cs typeface="SimSun"/>
              </a:rPr>
              <a:t>是全局变量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4483" y="2454547"/>
            <a:ext cx="206888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func(a, b):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4876" y="2709055"/>
            <a:ext cx="111153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c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a * b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64104" y="2704266"/>
            <a:ext cx="3968260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#c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是局部变量，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a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作为函数参数也是局部变量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76400" y="2963309"/>
            <a:ext cx="1004043" cy="240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return 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4483" y="3216801"/>
            <a:ext cx="2707411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func("knock~", 2)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&gt;&gt;&gt;print(c)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4483" y="3725817"/>
            <a:ext cx="4515896" cy="747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Traceback (most recent call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last):</a:t>
            </a:r>
          </a:p>
          <a:p>
            <a:pPr marL="21336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File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"&lt;pyshell#6&gt;", line 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1,</a:t>
            </a:r>
            <a:r>
              <a:rPr sz="14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in &lt;module&gt;</a:t>
            </a:r>
          </a:p>
          <a:p>
            <a:pPr marL="426719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print(c)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24483" y="4487563"/>
            <a:ext cx="3772165" cy="240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NameError: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name 'c' 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is</a:t>
            </a:r>
            <a:r>
              <a:rPr sz="14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not defined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1390" y="5077656"/>
            <a:ext cx="7692185" cy="989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这个例子说明，当函数执行完退出后，其内部变量将被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释放。如果函数内部使用了全局变量呢？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432048" y="3989562"/>
            <a:ext cx="1403648" cy="1938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r>
              <a:rPr lang="pt-BR" dirty="0"/>
              <a:t>n=1</a:t>
            </a:r>
          </a:p>
          <a:p>
            <a:r>
              <a:rPr lang="pt-BR" dirty="0"/>
              <a:t>def func(a,b):</a:t>
            </a:r>
          </a:p>
          <a:p>
            <a:r>
              <a:rPr lang="pt-BR" dirty="0"/>
              <a:t>    c=n*9</a:t>
            </a:r>
          </a:p>
          <a:p>
            <a:r>
              <a:rPr lang="pt-BR" dirty="0"/>
              <a:t>    print(c)</a:t>
            </a:r>
          </a:p>
          <a:p>
            <a:r>
              <a:rPr lang="pt-BR" dirty="0"/>
              <a:t>    n=a*b</a:t>
            </a:r>
          </a:p>
          <a:p>
            <a:r>
              <a:rPr lang="pt-BR" dirty="0"/>
              <a:t>func(3,4)</a:t>
            </a:r>
          </a:p>
          <a:p>
            <a:r>
              <a:rPr lang="pt-BR" dirty="0"/>
              <a:t>print(n)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757" y="1484784"/>
            <a:ext cx="2536020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&gt;&gt;&gt;n</a:t>
            </a:r>
            <a:r>
              <a:rPr sz="1400" b="1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 1</a:t>
            </a:r>
            <a:r>
              <a:rPr sz="1400" b="1" spc="249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#n</a:t>
            </a:r>
            <a:r>
              <a:rPr sz="1400" spc="10" dirty="0">
                <a:solidFill>
                  <a:srgbClr val="000000"/>
                </a:solidFill>
                <a:latin typeface="SimSun"/>
                <a:cs typeface="SimSun"/>
              </a:rPr>
              <a:t>是全局变量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757" y="1742557"/>
            <a:ext cx="206916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func(a, b):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35429" y="1997065"/>
            <a:ext cx="68466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43086" y="2004733"/>
            <a:ext cx="3334298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新生成的局部变量，不是全局变量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36952" y="2251954"/>
            <a:ext cx="121709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return a*b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4757" y="2504937"/>
            <a:ext cx="3673419" cy="749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func("knock~", 2)</a:t>
            </a:r>
          </a:p>
          <a:p>
            <a:pPr marL="0" marR="0">
              <a:lnSpc>
                <a:spcPts val="1590"/>
              </a:lnSpc>
              <a:spcBef>
                <a:spcPts val="375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&gt;&gt;&gt;print(s,</a:t>
            </a:r>
            <a:r>
              <a:rPr sz="1400" b="1" spc="-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n)</a:t>
            </a:r>
            <a:r>
              <a:rPr sz="1400" b="1" spc="839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测试一下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值是否改变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knock~knock~ 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98866" y="1218329"/>
            <a:ext cx="2088821" cy="284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函数func()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内部使用了变量n，并且将变量参数b赋值给变量n，为何全局变量n值没有改变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E08055-8659-471B-8112-AC0BDE266F7E}"/>
              </a:ext>
            </a:extLst>
          </p:cNvPr>
          <p:cNvSpPr txBox="1"/>
          <p:nvPr/>
        </p:nvSpPr>
        <p:spPr>
          <a:xfrm>
            <a:off x="1835696" y="3835677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Traceback (most recent call last):</a:t>
            </a:r>
          </a:p>
          <a:p>
            <a:r>
              <a:rPr lang="en-US" altLang="zh-CN" dirty="0"/>
              <a:t>  File "D:/python/</a:t>
            </a:r>
            <a:r>
              <a:rPr lang="zh-CN" altLang="en-US" dirty="0"/>
              <a:t>第五章 函数</a:t>
            </a:r>
            <a:r>
              <a:rPr lang="en-US" altLang="zh-CN" dirty="0"/>
              <a:t>/variable_global.py", line 6, in &lt;module&gt;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func</a:t>
            </a:r>
            <a:r>
              <a:rPr lang="en-US" altLang="zh-CN" dirty="0"/>
              <a:t>(3,4)</a:t>
            </a:r>
          </a:p>
          <a:p>
            <a:r>
              <a:rPr lang="en-US" altLang="zh-CN" dirty="0"/>
              <a:t>  File "D:/python/</a:t>
            </a:r>
            <a:r>
              <a:rPr lang="zh-CN" altLang="en-US" dirty="0"/>
              <a:t>第五章 函数</a:t>
            </a:r>
            <a:r>
              <a:rPr lang="en-US" altLang="zh-CN" dirty="0"/>
              <a:t>/variable_global.py", line 3, in </a:t>
            </a:r>
            <a:r>
              <a:rPr lang="en-US" altLang="zh-CN" dirty="0" err="1"/>
              <a:t>func</a:t>
            </a:r>
            <a:endParaRPr lang="en-US" altLang="zh-CN" dirty="0"/>
          </a:p>
          <a:p>
            <a:r>
              <a:rPr lang="en-US" altLang="zh-CN" dirty="0"/>
              <a:t>    c=n*9</a:t>
            </a:r>
          </a:p>
          <a:p>
            <a:r>
              <a:rPr lang="en-US" altLang="zh-CN" dirty="0" err="1"/>
              <a:t>UnboundLocalError</a:t>
            </a:r>
            <a:r>
              <a:rPr lang="en-US" altLang="zh-CN" dirty="0"/>
              <a:t>: local variable 'n' referenced before assignment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6391" y="1969897"/>
            <a:ext cx="7842478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如果希望让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func()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函数将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n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当作全局变量，需要在变量</a:t>
            </a:r>
            <a:r>
              <a:rPr sz="2400" spc="33" dirty="0">
                <a:solidFill>
                  <a:srgbClr val="000000"/>
                </a:solidFill>
                <a:latin typeface="Microsoft YaHei"/>
                <a:cs typeface="Microsoft YaHei"/>
              </a:rPr>
              <a:t>n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使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9691" y="2519114"/>
            <a:ext cx="624934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用前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显式声明该变量为全局变量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，代码如下。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7234" y="3445684"/>
            <a:ext cx="2882544" cy="526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&gt;&gt;&gt;n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1</a:t>
            </a:r>
            <a:r>
              <a:rPr sz="1600" b="1" spc="288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#n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是全局变量</a:t>
            </a:r>
          </a:p>
          <a:p>
            <a:pPr marL="0" marR="0">
              <a:lnSpc>
                <a:spcPts val="1807"/>
              </a:lnSpc>
              <a:spcBef>
                <a:spcPts val="18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func(a, b):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14092" y="3959135"/>
            <a:ext cx="1128179" cy="234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global 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14092" y="4208200"/>
            <a:ext cx="4192873" cy="526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n = b</a:t>
            </a:r>
            <a:r>
              <a:rPr sz="1600" b="1" spc="385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spc="12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将局部变量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赋值给全局变量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n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return a*b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37234" y="4721135"/>
            <a:ext cx="4188612" cy="775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func("knock~", 2)</a:t>
            </a:r>
          </a:p>
          <a:p>
            <a:pPr marL="0" marR="0">
              <a:lnSpc>
                <a:spcPts val="1810"/>
              </a:lnSpc>
              <a:spcBef>
                <a:spcPts val="151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&gt;&gt;&gt;print(s,</a:t>
            </a:r>
            <a:r>
              <a:rPr sz="1600" b="1" spc="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n)</a:t>
            </a:r>
            <a:r>
              <a:rPr sz="1600" b="1" spc="97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测试一下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值是否改变</a:t>
            </a:r>
          </a:p>
          <a:p>
            <a:pPr marL="0" marR="0">
              <a:lnSpc>
                <a:spcPts val="1807"/>
              </a:lnSpc>
              <a:spcBef>
                <a:spcPts val="18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knock~knock~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7940" y="1979999"/>
            <a:ext cx="798484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如果此时的全局变量不是整数</a:t>
            </a:r>
            <a:r>
              <a:rPr sz="2400" spc="33" dirty="0">
                <a:solidFill>
                  <a:srgbClr val="000000"/>
                </a:solidFill>
                <a:latin typeface="Microsoft YaHei"/>
                <a:cs typeface="Microsoft YaHei"/>
              </a:rPr>
              <a:t>n，而是列表类型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ls</a:t>
            </a:r>
            <a:r>
              <a:rPr sz="2400" spc="30" dirty="0">
                <a:solidFill>
                  <a:srgbClr val="000000"/>
                </a:solidFill>
                <a:latin typeface="Microsoft YaHei"/>
                <a:cs typeface="Microsoft YaHei"/>
              </a:rPr>
              <a:t>，会怎么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2528639"/>
            <a:ext cx="320098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样呢？理解如下代码。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45336" y="3682928"/>
            <a:ext cx="3209619" cy="497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&gt;&gt;&gt;ls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[]</a:t>
            </a:r>
            <a:r>
              <a:rPr sz="1400" b="1" spc="250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#ls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是全局列表变量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func(a, b):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95727" y="4190420"/>
            <a:ext cx="4845684" cy="499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ls.append(b)</a:t>
            </a:r>
            <a:r>
              <a:rPr sz="1400" b="1" spc="164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将局部变量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增加到全局列表变量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</a:t>
            </a:r>
          </a:p>
          <a:p>
            <a:pPr marL="1523" marR="0">
              <a:lnSpc>
                <a:spcPts val="1593"/>
              </a:lnSpc>
              <a:spcBef>
                <a:spcPts val="41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return a*b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45336" y="4703082"/>
            <a:ext cx="3884849" cy="749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func("knock~", 2)</a:t>
            </a:r>
          </a:p>
          <a:p>
            <a:pPr marL="0" marR="0">
              <a:lnSpc>
                <a:spcPts val="1590"/>
              </a:lnSpc>
              <a:spcBef>
                <a:spcPts val="375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&gt;&gt;&gt;print(s,</a:t>
            </a:r>
            <a:r>
              <a:rPr sz="1400" b="1" spc="-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ls)</a:t>
            </a:r>
            <a:r>
              <a:rPr sz="1400" b="1" spc="82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spc="10" dirty="0">
                <a:solidFill>
                  <a:srgbClr val="000000"/>
                </a:solidFill>
                <a:latin typeface="SimSun"/>
                <a:cs typeface="SimSun"/>
              </a:rPr>
              <a:t>测试一下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值是否改变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knock~knock~ [2]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979999"/>
            <a:ext cx="8323174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49" dirty="0">
                <a:solidFill>
                  <a:srgbClr val="000000"/>
                </a:solidFill>
                <a:latin typeface="Microsoft YaHei"/>
                <a:cs typeface="Microsoft YaHei"/>
              </a:rPr>
              <a:t>如果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func()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函数内部存在一个真实创建过且名称为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ls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的列表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，则func()将操作该列表而不会修改全局变量，例子如下。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0282" y="3661973"/>
            <a:ext cx="3657955" cy="526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&gt;&gt;&gt;ls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[]</a:t>
            </a:r>
            <a:r>
              <a:rPr sz="1600" b="1" spc="288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#ls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是全局列表变量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func(a, b):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17522" y="4169465"/>
            <a:ext cx="5539029" cy="781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3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 =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[]</a:t>
            </a:r>
            <a:r>
              <a:rPr sz="1600" b="1" spc="385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创建了名称为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的局部列表变量列</a:t>
            </a:r>
          </a:p>
          <a:p>
            <a:pPr marL="1523" marR="0">
              <a:lnSpc>
                <a:spcPts val="1810"/>
              </a:lnSpc>
              <a:spcBef>
                <a:spcPts val="151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ls.append(b)</a:t>
            </a:r>
            <a:r>
              <a:rPr sz="1600" b="1" spc="195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将局部变量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600" spc="10" dirty="0">
                <a:solidFill>
                  <a:srgbClr val="000000"/>
                </a:solidFill>
                <a:latin typeface="SimSun"/>
                <a:cs typeface="SimSun"/>
              </a:rPr>
              <a:t>增加到全局列表变量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</a:t>
            </a:r>
          </a:p>
          <a:p>
            <a:pPr marL="0" marR="0">
              <a:lnSpc>
                <a:spcPts val="1807"/>
              </a:lnSpc>
              <a:spcBef>
                <a:spcPts val="18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return a*b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0282" y="4937289"/>
            <a:ext cx="4433925" cy="775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func("knock~", 3)</a:t>
            </a:r>
          </a:p>
          <a:p>
            <a:pPr marL="0" marR="0">
              <a:lnSpc>
                <a:spcPts val="1807"/>
              </a:lnSpc>
              <a:spcBef>
                <a:spcPts val="153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&gt;&gt;&gt;print(s,</a:t>
            </a:r>
            <a:r>
              <a:rPr sz="1600" b="1" spc="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ls)</a:t>
            </a:r>
            <a:r>
              <a:rPr sz="1600" b="1" spc="98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测试一下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值是否改变</a:t>
            </a:r>
          </a:p>
          <a:p>
            <a:pPr marL="0" marR="0">
              <a:lnSpc>
                <a:spcPts val="1807"/>
              </a:lnSpc>
              <a:spcBef>
                <a:spcPts val="18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knock~knock~ []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323077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solidFill>
                  <a:srgbClr val="FF0000"/>
                </a:solidFill>
                <a:latin typeface="Microsoft YaHei"/>
                <a:cs typeface="Microsoft YaHei"/>
              </a:rPr>
              <a:t>总结</a:t>
            </a:r>
            <a:r>
              <a:rPr lang="zh-CN" altLang="en-US" sz="4000" dirty="0">
                <a:solidFill>
                  <a:srgbClr val="262626"/>
                </a:solidFill>
                <a:latin typeface="Microsoft YaHei"/>
                <a:cs typeface="Microsoft YaHei"/>
              </a:rPr>
              <a:t>：</a:t>
            </a: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290" y="2001843"/>
            <a:ext cx="575650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Python函数对变量的作用遵守如下原则：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2290" y="2550483"/>
            <a:ext cx="8516111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•简单数据类型变量无论是否与全局变量重名，仅在函数内部创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建和使用，函数退出后变量被释放；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290" y="3648144"/>
            <a:ext cx="8516111" cy="2635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dirty="0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cs typeface="Microsoft YaHei"/>
              </a:rPr>
              <a:t>简单数据类型变量在用global保留字声明后，作为全局变量；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dirty="0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cs typeface="Microsoft YaHei"/>
              </a:rPr>
              <a:t>对于组合数据类型的全局变量，如果在函数内部没有被真实创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cs typeface="Microsoft YaHei"/>
              </a:rPr>
              <a:t>建的同名变量，则函数内部可直接使用并修改全局变量的值；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cs typeface="Microsoft YaHei"/>
              </a:rPr>
              <a:t>•如果函数内部真实创建了组合数据类型变量，无论是否有同名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cs typeface="Microsoft YaHei"/>
              </a:rPr>
              <a:t>全局变量，函数仅对局部变量进行操作。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75561" y="2788949"/>
            <a:ext cx="5827662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datetime库的使用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9742" y="2748349"/>
            <a:ext cx="8287842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4631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3" dirty="0">
                <a:solidFill>
                  <a:srgbClr val="000000"/>
                </a:solidFill>
                <a:latin typeface="Microsoft YaHei"/>
                <a:cs typeface="Microsoft YaHei"/>
              </a:rPr>
              <a:t>以不同格式显示日期和时间是程序中最常用到的功能。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Python提供了一个处理时间的标准函数库datetime，它提供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了一系列由简单到复杂的时间处理方法。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datetime</a:t>
            </a:r>
            <a:r>
              <a:rPr sz="2400" spc="50" dirty="0">
                <a:solidFill>
                  <a:srgbClr val="000000"/>
                </a:solidFill>
                <a:latin typeface="Microsoft YaHei"/>
                <a:cs typeface="Microsoft YaHei"/>
              </a:rPr>
              <a:t>库可以从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系统中获得时间，并以用户选择的格式输出。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396433"/>
            <a:ext cx="8096961" cy="22031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9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datetime库以类的方式提供多种日期和时间表达方式：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000" spc="4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datetime.date：日期表示类，可以表示年、月、日等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000" spc="4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datetime.time：时间表示类，可以表示小时、分钟、秒、毫秒等</a:t>
            </a:r>
          </a:p>
          <a:p>
            <a:pPr marL="0" marR="0">
              <a:lnSpc>
                <a:spcPts val="2648"/>
              </a:lnSpc>
              <a:spcBef>
                <a:spcPts val="95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000" spc="4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datetime.datetime：日期和时间表示的类，功能覆盖date和time类</a:t>
            </a:r>
          </a:p>
          <a:p>
            <a:pPr marL="0" marR="0">
              <a:lnSpc>
                <a:spcPts val="2644"/>
              </a:lnSpc>
              <a:spcBef>
                <a:spcPts val="95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000" spc="4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datetime.timedelta：时间间隔有关的类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4682814"/>
            <a:ext cx="5351043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000" spc="4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datetime.tzinfo：与时区有关的信息表示类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7668" y="1908371"/>
            <a:ext cx="743986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8" dirty="0">
                <a:solidFill>
                  <a:srgbClr val="000000"/>
                </a:solidFill>
                <a:latin typeface="Microsoft YaHei"/>
                <a:cs typeface="Microsoft YaHei"/>
              </a:rPr>
              <a:t>使用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datetime.now()</a:t>
            </a:r>
            <a:r>
              <a:rPr sz="2400" spc="102" dirty="0">
                <a:solidFill>
                  <a:srgbClr val="000000"/>
                </a:solidFill>
                <a:latin typeface="Microsoft YaHei"/>
                <a:cs typeface="Microsoft YaHei"/>
              </a:rPr>
              <a:t>获得当前日期和时间对象，使用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868" y="2457265"/>
            <a:ext cx="16764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方法如下：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7584" y="3005905"/>
            <a:ext cx="245030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datetime.now</a:t>
            </a:r>
            <a:r>
              <a:rPr sz="1800" b="1" dirty="0">
                <a:solidFill>
                  <a:srgbClr val="000000"/>
                </a:solidFill>
                <a:latin typeface="Microsoft YaHei"/>
                <a:cs typeface="Microsoft YaHei"/>
              </a:rPr>
              <a:t>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7668" y="3966279"/>
            <a:ext cx="743983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83" dirty="0">
                <a:solidFill>
                  <a:srgbClr val="000000"/>
                </a:solidFill>
                <a:latin typeface="Microsoft YaHei"/>
                <a:cs typeface="Microsoft YaHei"/>
              </a:rPr>
              <a:t>作用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：返回一个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datetime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类型，表示当前的日期和时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2868" y="4514919"/>
            <a:ext cx="259113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间，精确到微秒。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5509" y="5329192"/>
            <a:ext cx="3664774" cy="755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 from datetime import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datetime</a:t>
            </a:r>
          </a:p>
          <a:p>
            <a:pPr marL="0" marR="0">
              <a:lnSpc>
                <a:spcPts val="1807"/>
              </a:lnSpc>
              <a:spcBef>
                <a:spcPts val="243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 today =</a:t>
            </a:r>
            <a:r>
              <a:rPr sz="1600" b="1" spc="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datetime.now()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 today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05509" y="6069901"/>
            <a:ext cx="6256688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datetime.datetime(2016, 9, 20,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10, 29, 43,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928549)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116524"/>
            <a:ext cx="8105478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使用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datetime.utcnow()</a:t>
            </a:r>
            <a:r>
              <a:rPr sz="2400" spc="89" dirty="0">
                <a:solidFill>
                  <a:srgbClr val="000000"/>
                </a:solidFill>
                <a:latin typeface="Microsoft YaHei"/>
                <a:cs typeface="Microsoft YaHei"/>
              </a:rPr>
              <a:t>获得当前日期和时间对应的</a:t>
            </a:r>
            <a:r>
              <a:rPr sz="2400" spc="-40" dirty="0">
                <a:solidFill>
                  <a:srgbClr val="000000"/>
                </a:solidFill>
                <a:latin typeface="Microsoft YaHei"/>
                <a:cs typeface="Microsoft YaHei"/>
              </a:rPr>
              <a:t>UTC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（世界标准时间）时间对象，使用方法如下：</a:t>
            </a:r>
          </a:p>
          <a:p>
            <a:pPr marL="269748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datetime.utcnow</a:t>
            </a:r>
            <a:r>
              <a:rPr sz="1800" b="1" dirty="0">
                <a:solidFill>
                  <a:srgbClr val="000000"/>
                </a:solidFill>
                <a:latin typeface="Microsoft YaHei"/>
                <a:cs typeface="Microsoft YaHei"/>
              </a:rPr>
              <a:t>()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9665" y="4152698"/>
            <a:ext cx="7756587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Microsoft YaHei"/>
                <a:cs typeface="Microsoft YaHei"/>
              </a:rPr>
              <a:t>作用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：返回datetime类型，表示当前日期和时间的</a:t>
            </a:r>
            <a:r>
              <a:rPr sz="1800" spc="-28" dirty="0">
                <a:solidFill>
                  <a:srgbClr val="000000"/>
                </a:solidFill>
                <a:latin typeface="Microsoft YaHei"/>
                <a:cs typeface="Microsoft YaHei"/>
              </a:rPr>
              <a:t>UTC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表示，精确到微秒。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84732" y="5099722"/>
            <a:ext cx="6011810" cy="7767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 today =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datetime.utcnow()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 today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datetime.datetime(2016, 9, 20,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2, 35, 1, 427954)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3892" y="2224347"/>
            <a:ext cx="8396682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datetime.now()</a:t>
            </a:r>
            <a:r>
              <a:rPr sz="2400" spc="74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400" spc="8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datetime.utcnow()</a:t>
            </a:r>
            <a:r>
              <a:rPr sz="2400" spc="75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都</a:t>
            </a:r>
            <a:r>
              <a:rPr sz="2400" spc="8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返</a:t>
            </a:r>
            <a:r>
              <a:rPr sz="2400" spc="8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回</a:t>
            </a:r>
            <a:r>
              <a:rPr sz="2400" spc="8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</a:t>
            </a:r>
            <a:r>
              <a:rPr sz="2400" spc="85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个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datetime</a:t>
            </a:r>
            <a:r>
              <a:rPr sz="2400" spc="111" dirty="0">
                <a:solidFill>
                  <a:srgbClr val="000000"/>
                </a:solidFill>
                <a:latin typeface="Microsoft YaHei"/>
                <a:cs typeface="Microsoft YaHei"/>
              </a:rPr>
              <a:t>类型的对象，也可以直接使用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datetime()</a:t>
            </a:r>
            <a:r>
              <a:rPr sz="2400" spc="112" dirty="0">
                <a:solidFill>
                  <a:srgbClr val="000000"/>
                </a:solidFill>
                <a:latin typeface="Microsoft YaHei"/>
                <a:cs typeface="Microsoft YaHei"/>
              </a:rPr>
              <a:t>构造一个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3892" y="3322008"/>
            <a:ext cx="8394958" cy="136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日期和时间对象，使用方法如下：</a:t>
            </a:r>
          </a:p>
          <a:p>
            <a:pPr marL="269747" marR="0">
              <a:lnSpc>
                <a:spcPts val="2644"/>
              </a:lnSpc>
              <a:spcBef>
                <a:spcPts val="1031"/>
              </a:spcBef>
              <a:spcAft>
                <a:spcPts val="0"/>
              </a:spcAft>
            </a:pPr>
            <a:r>
              <a:rPr sz="2000" b="1" spc="-17" dirty="0">
                <a:solidFill>
                  <a:srgbClr val="000000"/>
                </a:solidFill>
                <a:latin typeface="Microsoft YaHei"/>
                <a:cs typeface="Microsoft YaHei"/>
              </a:rPr>
              <a:t>datetime(year,</a:t>
            </a:r>
            <a:r>
              <a:rPr sz="2000" b="1" spc="15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month,</a:t>
            </a:r>
            <a:r>
              <a:rPr sz="2000" b="1" spc="14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spc="-28" dirty="0">
                <a:solidFill>
                  <a:srgbClr val="000000"/>
                </a:solidFill>
                <a:latin typeface="Microsoft YaHei"/>
                <a:cs typeface="Microsoft YaHei"/>
              </a:rPr>
              <a:t>day,</a:t>
            </a:r>
            <a:r>
              <a:rPr sz="2000" b="1" spc="15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hour=0,</a:t>
            </a:r>
            <a:r>
              <a:rPr sz="2000" b="1" spc="149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minute=0,second=0,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microsecond=0</a:t>
            </a:r>
            <a:r>
              <a:rPr sz="1800" b="1" dirty="0">
                <a:solidFill>
                  <a:srgbClr val="000000"/>
                </a:solidFill>
                <a:latin typeface="Microsoft YaHei"/>
                <a:cs typeface="Microsoft YaHei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3640" y="4785302"/>
            <a:ext cx="812566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95" dirty="0">
                <a:solidFill>
                  <a:srgbClr val="000000"/>
                </a:solidFill>
                <a:latin typeface="Microsoft YaHei"/>
                <a:cs typeface="Microsoft YaHei"/>
              </a:rPr>
              <a:t>作用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：返回一个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datetime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类型，表示指定的日期和时间，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3892" y="5333967"/>
            <a:ext cx="259113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可以精确到微秒。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1979999"/>
            <a:ext cx="8535470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调用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datetime()函数直接创建一个datetime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对象，表示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2016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年9月16日22:33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32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秒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7微秒，执行结果如下：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4483" y="3402240"/>
            <a:ext cx="5646154" cy="7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 someday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600" b="1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datetime(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2016,9,16,22,33,32,7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 someday</a:t>
            </a:r>
          </a:p>
          <a:p>
            <a:pPr marL="0" marR="0">
              <a:lnSpc>
                <a:spcPts val="1807"/>
              </a:lnSpc>
              <a:spcBef>
                <a:spcPts val="19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datetime.datetime(2016, 9, 16,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22, 33, 32,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7)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2239" y="4680781"/>
            <a:ext cx="8161139" cy="1537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程序已经有了一个datetime对象，进一步可以利用这个对象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的属性显示时间，为了区别datetime库名，采用上例中的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someday代替生成的datetime对象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47164" y="1945441"/>
            <a:ext cx="557784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属性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62778" y="1945441"/>
            <a:ext cx="557783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8194" y="2304768"/>
            <a:ext cx="1272550" cy="994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3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someday.min</a:t>
            </a:r>
          </a:p>
          <a:p>
            <a:pPr marL="0" marR="0">
              <a:lnSpc>
                <a:spcPts val="1767"/>
              </a:lnSpc>
              <a:spcBef>
                <a:spcPts val="3944"/>
              </a:spcBef>
              <a:spcAft>
                <a:spcPts val="0"/>
              </a:spcAft>
            </a:pPr>
            <a:r>
              <a:rPr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someday.max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29814" y="2292397"/>
            <a:ext cx="4822444" cy="6512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固</a:t>
            </a:r>
            <a:r>
              <a:rPr sz="1600" spc="5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定</a:t>
            </a:r>
            <a:r>
              <a:rPr sz="1600" spc="5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</a:t>
            </a:r>
            <a:r>
              <a:rPr sz="1600" spc="5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回</a:t>
            </a:r>
            <a:r>
              <a:rPr sz="1600" spc="5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datetime</a:t>
            </a:r>
            <a:r>
              <a:rPr sz="1600" spc="57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600" spc="5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最</a:t>
            </a:r>
            <a:r>
              <a:rPr sz="1600" spc="5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小</a:t>
            </a:r>
            <a:r>
              <a:rPr sz="1600" spc="5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时</a:t>
            </a:r>
            <a:r>
              <a:rPr sz="1600" spc="5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间</a:t>
            </a:r>
            <a:r>
              <a:rPr sz="1600" spc="5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对</a:t>
            </a:r>
            <a:r>
              <a:rPr sz="1600" spc="5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象</a:t>
            </a:r>
            <a:r>
              <a:rPr sz="1600" spc="5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，</a:t>
            </a:r>
          </a:p>
          <a:p>
            <a:pPr marL="0" marR="0">
              <a:lnSpc>
                <a:spcPts val="1948"/>
              </a:lnSpc>
              <a:spcBef>
                <a:spcPts val="98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datetime(1,1,1,0,0)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29814" y="3024171"/>
            <a:ext cx="3814317" cy="10064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固定返回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datetime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的最大时间对象，</a:t>
            </a:r>
          </a:p>
          <a:p>
            <a:pPr marL="0" marR="0">
              <a:lnSpc>
                <a:spcPts val="1596"/>
              </a:lnSpc>
              <a:spcBef>
                <a:spcPts val="1079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datetime(9999,12,31,23,59,59,999999)</a:t>
            </a:r>
          </a:p>
          <a:p>
            <a:pPr marL="0" marR="0">
              <a:lnSpc>
                <a:spcPts val="1767"/>
              </a:lnSpc>
              <a:spcBef>
                <a:spcPts val="123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someday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包含的年份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12850" y="3768062"/>
            <a:ext cx="1441592" cy="994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344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2" dirty="0">
                <a:solidFill>
                  <a:srgbClr val="000000"/>
                </a:solidFill>
                <a:latin typeface="Times New Roman"/>
                <a:cs typeface="Times New Roman"/>
              </a:rPr>
              <a:t>someday.year</a:t>
            </a:r>
          </a:p>
          <a:p>
            <a:pPr marL="0" marR="0">
              <a:lnSpc>
                <a:spcPts val="1767"/>
              </a:lnSpc>
              <a:spcBef>
                <a:spcPts val="1064"/>
              </a:spcBef>
              <a:spcAft>
                <a:spcPts val="0"/>
              </a:spcAft>
            </a:pPr>
            <a:r>
              <a:rPr sz="1600" spc="-11" dirty="0">
                <a:solidFill>
                  <a:srgbClr val="000000"/>
                </a:solidFill>
                <a:latin typeface="Times New Roman"/>
                <a:cs typeface="Times New Roman"/>
              </a:rPr>
              <a:t>someday.month</a:t>
            </a:r>
          </a:p>
          <a:p>
            <a:pPr marL="114300" marR="0">
              <a:lnSpc>
                <a:spcPts val="1767"/>
              </a:lnSpc>
              <a:spcBef>
                <a:spcPts val="1112"/>
              </a:spcBef>
              <a:spcAft>
                <a:spcPts val="0"/>
              </a:spcAft>
            </a:pPr>
            <a:r>
              <a:rPr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someday.day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29814" y="4134076"/>
            <a:ext cx="229175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someday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包含的月份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829814" y="4499836"/>
            <a:ext cx="229175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someday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包含的日期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89990" y="4865596"/>
            <a:ext cx="1486525" cy="99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011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2" dirty="0">
                <a:solidFill>
                  <a:srgbClr val="000000"/>
                </a:solidFill>
                <a:latin typeface="Times New Roman"/>
                <a:cs typeface="Times New Roman"/>
              </a:rPr>
              <a:t>someday.hour</a:t>
            </a:r>
          </a:p>
          <a:p>
            <a:pPr marL="0" marR="0">
              <a:lnSpc>
                <a:spcPts val="1767"/>
              </a:lnSpc>
              <a:spcBef>
                <a:spcPts val="1115"/>
              </a:spcBef>
              <a:spcAft>
                <a:spcPts val="0"/>
              </a:spcAft>
            </a:pPr>
            <a:r>
              <a:rPr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someday.minute</a:t>
            </a:r>
          </a:p>
          <a:p>
            <a:pPr marL="0" marR="0">
              <a:lnSpc>
                <a:spcPts val="1767"/>
              </a:lnSpc>
              <a:spcBef>
                <a:spcPts val="1062"/>
              </a:spcBef>
              <a:spcAft>
                <a:spcPts val="0"/>
              </a:spcAft>
            </a:pPr>
            <a:r>
              <a:rPr sz="1600" spc="-11" dirty="0">
                <a:solidFill>
                  <a:srgbClr val="000000"/>
                </a:solidFill>
                <a:latin typeface="Times New Roman"/>
                <a:cs typeface="Times New Roman"/>
              </a:rPr>
              <a:t>someday.second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29814" y="4865596"/>
            <a:ext cx="229175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someday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包含的小时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29814" y="5231737"/>
            <a:ext cx="229175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someday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包含的分钟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829814" y="5597472"/>
            <a:ext cx="229175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someday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包含的秒钟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52246" y="5963232"/>
            <a:ext cx="457336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someday.microsecond</a:t>
            </a:r>
            <a:r>
              <a:rPr sz="1600" spc="18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someday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包含的微秒值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782700"/>
            <a:ext cx="7432752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datetime对象有3个常用的时间格式化方法，如表所示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18716" y="2472618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属性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18688" y="2472618"/>
            <a:ext cx="3998385" cy="10932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3904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  <a:p>
            <a:pPr marL="0" marR="0">
              <a:lnSpc>
                <a:spcPts val="1713"/>
              </a:lnSpc>
              <a:spcBef>
                <a:spcPts val="182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采用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ISO</a:t>
            </a:r>
            <a:r>
              <a:rPr sz="1400" spc="-4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8601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标准显示时间</a:t>
            </a:r>
          </a:p>
          <a:p>
            <a:pPr marL="0" marR="0">
              <a:lnSpc>
                <a:spcPts val="1713"/>
              </a:lnSpc>
              <a:spcBef>
                <a:spcPts val="169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根据日期计算星期后返回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1-7,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对应星期一到星期日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84477" y="2893933"/>
            <a:ext cx="1791301" cy="662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247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someday.isoformat()</a:t>
            </a:r>
          </a:p>
          <a:p>
            <a:pPr marL="0" marR="0">
              <a:lnSpc>
                <a:spcPts val="1554"/>
              </a:lnSpc>
              <a:spcBef>
                <a:spcPts val="175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someday.isoweekday()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91463" y="3748389"/>
            <a:ext cx="5680345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someday.strftime(format)</a:t>
            </a:r>
            <a:r>
              <a:rPr sz="1400" spc="13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根据格式化字符串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format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进行格式显示的方法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2764" y="4348803"/>
            <a:ext cx="639544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isoformat()和isoweekday()方法的使用如下：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11910" y="4981253"/>
            <a:ext cx="5872857" cy="1313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800" b="1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someday = datetime(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2016,9,16,22,33,32,7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800" b="1" spc="-1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someday.isoformat()</a:t>
            </a:r>
          </a:p>
          <a:p>
            <a:pPr marL="0" marR="0">
              <a:lnSpc>
                <a:spcPts val="2006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'2016-09-16T22:33:32.000007'</a:t>
            </a:r>
          </a:p>
          <a:p>
            <a:pPr marL="0" marR="0">
              <a:lnSpc>
                <a:spcPts val="1991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8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someday.isoweekday()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68" y="2132399"/>
            <a:ext cx="810704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strftime()</a:t>
            </a:r>
            <a:r>
              <a:rPr sz="2400" spc="77" dirty="0">
                <a:solidFill>
                  <a:srgbClr val="000000"/>
                </a:solidFill>
                <a:latin typeface="Microsoft YaHei"/>
                <a:cs typeface="Microsoft YaHei"/>
              </a:rPr>
              <a:t>方法是时间格式化最有效的方法，几乎可以以任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8368" y="2681039"/>
            <a:ext cx="289585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何通用格式输出时间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45336" y="3976769"/>
            <a:ext cx="4515396" cy="493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 someday.strftime("%Y-%m-%d %H:%M:%S")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'2016-09-16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22:33:32'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2187" y="2202616"/>
            <a:ext cx="1222247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格式化字符串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7948" y="2196957"/>
            <a:ext cx="915924" cy="54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日期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/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时间</a:t>
            </a:r>
          </a:p>
          <a:p>
            <a:pPr marL="204216" marR="0">
              <a:lnSpc>
                <a:spcPts val="1406"/>
              </a:lnSpc>
              <a:spcBef>
                <a:spcPts val="100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年份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22009" y="2202616"/>
            <a:ext cx="2035160" cy="87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384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值范围和实例</a:t>
            </a:r>
          </a:p>
          <a:p>
            <a:pPr marL="0" marR="0">
              <a:lnSpc>
                <a:spcPts val="1557"/>
              </a:lnSpc>
              <a:spcBef>
                <a:spcPts val="10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0001~9999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1900</a:t>
            </a:r>
          </a:p>
          <a:p>
            <a:pPr marL="266700" marR="0">
              <a:lnSpc>
                <a:spcPts val="1554"/>
              </a:lnSpc>
              <a:spcBef>
                <a:spcPts val="96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01~12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35380" y="2516725"/>
            <a:ext cx="439625" cy="2156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" marR="0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%Y</a:t>
            </a:r>
          </a:p>
          <a:p>
            <a:pPr marL="0" marR="0">
              <a:lnSpc>
                <a:spcPts val="1554"/>
              </a:lnSpc>
              <a:spcBef>
                <a:spcPts val="9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%m</a:t>
            </a:r>
          </a:p>
          <a:p>
            <a:pPr marL="7619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%B</a:t>
            </a:r>
          </a:p>
          <a:p>
            <a:pPr marL="22859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%b</a:t>
            </a:r>
          </a:p>
          <a:p>
            <a:pPr marL="22859" marR="0">
              <a:lnSpc>
                <a:spcPts val="1554"/>
              </a:lnSpc>
              <a:spcBef>
                <a:spcPts val="9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%d</a:t>
            </a:r>
          </a:p>
          <a:p>
            <a:pPr marL="3047" marR="0">
              <a:lnSpc>
                <a:spcPts val="1554"/>
              </a:lnSpc>
              <a:spcBef>
                <a:spcPts val="9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%A</a:t>
            </a:r>
          </a:p>
          <a:p>
            <a:pPr marL="27431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2165" y="2842950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月份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52165" y="3162990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月名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26353" y="3157331"/>
            <a:ext cx="2625552" cy="87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January~December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April</a:t>
            </a:r>
          </a:p>
          <a:p>
            <a:pPr marL="429767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Jan~Dec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Apr</a:t>
            </a:r>
          </a:p>
          <a:p>
            <a:pPr marL="518160" marR="0">
              <a:lnSpc>
                <a:spcPts val="1554"/>
              </a:lnSpc>
              <a:spcBef>
                <a:spcPts val="9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01</a:t>
            </a:r>
            <a:r>
              <a:rPr sz="14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~ </a:t>
            </a:r>
            <a:r>
              <a:rPr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31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25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73857" y="3483030"/>
            <a:ext cx="865632" cy="5367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月名缩写</a:t>
            </a:r>
          </a:p>
          <a:p>
            <a:pPr marL="178308" marR="0">
              <a:lnSpc>
                <a:spcPts val="1403"/>
              </a:lnSpc>
              <a:spcBef>
                <a:spcPts val="11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日期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52165" y="4123364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星期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84621" y="4117705"/>
            <a:ext cx="2923052" cy="876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Monday~Sunday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Wednesday</a:t>
            </a:r>
          </a:p>
          <a:p>
            <a:pPr marL="504444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Mon~Sun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Wed</a:t>
            </a:r>
          </a:p>
          <a:p>
            <a:pPr marL="659892" marR="0">
              <a:lnSpc>
                <a:spcPts val="1554"/>
              </a:lnSpc>
              <a:spcBef>
                <a:spcPts val="91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00</a:t>
            </a:r>
            <a:r>
              <a:rPr sz="14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~ </a:t>
            </a:r>
            <a:r>
              <a:rPr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23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12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49829" y="4443404"/>
            <a:ext cx="1313688" cy="1496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027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星期缩写</a:t>
            </a:r>
          </a:p>
          <a:p>
            <a:pPr marL="0" marR="0">
              <a:lnSpc>
                <a:spcPts val="1554"/>
              </a:lnSpc>
              <a:spcBef>
                <a:spcPts val="1024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小时（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24h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制）</a:t>
            </a:r>
          </a:p>
          <a:p>
            <a:pPr marL="0" marR="0">
              <a:lnSpc>
                <a:spcPts val="1554"/>
              </a:lnSpc>
              <a:spcBef>
                <a:spcPts val="9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小时（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12h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制）</a:t>
            </a:r>
          </a:p>
          <a:p>
            <a:pPr marL="288035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上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/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下午</a:t>
            </a:r>
          </a:p>
          <a:p>
            <a:pPr marL="402336" marR="0">
              <a:lnSpc>
                <a:spcPts val="1403"/>
              </a:lnSpc>
              <a:spcBef>
                <a:spcPts val="100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分钟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38427" y="4758166"/>
            <a:ext cx="429700" cy="555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%H</a:t>
            </a:r>
          </a:p>
          <a:p>
            <a:pPr marL="35052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188709" y="5078206"/>
            <a:ext cx="149910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01</a:t>
            </a:r>
            <a:r>
              <a:rPr sz="14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~ </a:t>
            </a:r>
            <a:r>
              <a:rPr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12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23188" y="5398246"/>
            <a:ext cx="459476" cy="8759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051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%p</a:t>
            </a:r>
          </a:p>
          <a:p>
            <a:pPr marL="0" marR="0">
              <a:lnSpc>
                <a:spcPts val="1554"/>
              </a:lnSpc>
              <a:spcBef>
                <a:spcPts val="914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%M</a:t>
            </a:r>
          </a:p>
          <a:p>
            <a:pPr marL="30479" marR="0">
              <a:lnSpc>
                <a:spcPts val="1554"/>
              </a:lnSpc>
              <a:spcBef>
                <a:spcPts val="9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%S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059170" y="5398246"/>
            <a:ext cx="1757474" cy="55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AM, PM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PM</a:t>
            </a:r>
          </a:p>
          <a:p>
            <a:pPr marL="85344" marR="0">
              <a:lnSpc>
                <a:spcPts val="1554"/>
              </a:lnSpc>
              <a:spcBef>
                <a:spcPts val="914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00</a:t>
            </a:r>
            <a:r>
              <a:rPr sz="14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~ </a:t>
            </a:r>
            <a:r>
              <a:rPr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59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26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440557" y="6044265"/>
            <a:ext cx="330708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秒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144514" y="6038605"/>
            <a:ext cx="1587500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00</a:t>
            </a:r>
            <a:r>
              <a:rPr sz="14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~ </a:t>
            </a:r>
            <a:r>
              <a:rPr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59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，例如：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84682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datetime库解析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411799"/>
            <a:ext cx="7968030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strftime()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格式化字符串的数字左侧会自动补零，上述格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式也可以与print()的格式化函数一起使用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1034" y="4224058"/>
            <a:ext cx="4060710" cy="724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&gt;&gt;&gt;from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datetime import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datetime</a:t>
            </a: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&gt;&gt;&gt;now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datetime.now()</a:t>
            </a: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&gt;&gt;&gt;now.strftime("%Y-%m-%d")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1034" y="4909604"/>
            <a:ext cx="1616836" cy="268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'2016-09-20'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61034" y="5138711"/>
            <a:ext cx="6506673" cy="9550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&gt;&gt;&gt;now.strftime("%A, %d.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%B %Y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%I:%M%p")</a:t>
            </a: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'Tuesday, 20. September</a:t>
            </a:r>
            <a:r>
              <a:rPr sz="1600" spc="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2016 01:53PM'</a:t>
            </a:r>
          </a:p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今天是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{0:%Y}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年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{0:%m}</a:t>
            </a:r>
            <a:r>
              <a:rPr sz="1600" spc="20" dirty="0">
                <a:solidFill>
                  <a:srgbClr val="000000"/>
                </a:solidFill>
                <a:latin typeface="SimSun"/>
                <a:cs typeface="SimSun"/>
              </a:rPr>
              <a:t>月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{0:%d}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日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".format(now))</a:t>
            </a: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今天是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2016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年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09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月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20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79999"/>
            <a:ext cx="8393633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2" dirty="0">
                <a:solidFill>
                  <a:srgbClr val="000000"/>
                </a:solidFill>
                <a:latin typeface="Microsoft YaHei"/>
                <a:cs typeface="Microsoft YaHei"/>
              </a:rPr>
              <a:t>七段数码管（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seven-segment</a:t>
            </a:r>
            <a:r>
              <a:rPr sz="2400" spc="55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indicator</a:t>
            </a: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）由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7</a:t>
            </a:r>
            <a:r>
              <a:rPr sz="2400" spc="62" dirty="0">
                <a:solidFill>
                  <a:srgbClr val="000000"/>
                </a:solidFill>
                <a:latin typeface="Microsoft YaHei"/>
                <a:cs typeface="Microsoft YaHei"/>
              </a:rPr>
              <a:t>段数码管拼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接而成，每段有亮或不亮两种情况，改进型的七段数码管还包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括一个小数点位置，如图所示。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960695"/>
            <a:ext cx="7960511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七段数码管能形成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sz="2400" baseline="30000" dirty="0">
                <a:solidFill>
                  <a:srgbClr val="000000"/>
                </a:solidFill>
                <a:latin typeface="Microsoft YaHei"/>
                <a:cs typeface="Microsoft YaHei"/>
              </a:rPr>
              <a:t>7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=128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种不同状态，其中部分状态能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62" dirty="0">
                <a:solidFill>
                  <a:srgbClr val="000000"/>
                </a:solidFill>
                <a:latin typeface="Microsoft YaHei"/>
                <a:cs typeface="Microsoft YaHei"/>
              </a:rPr>
              <a:t>够显示易于人们理解的数字或字母含义，因此被广泛使用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。图5.5给出了十六进制中16个字符的七段数码管表示。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7380312" y="4725144"/>
            <a:ext cx="28803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700851"/>
            <a:ext cx="8180831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每个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到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9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的数字都有相同的七段数码管样式，因此，可以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通过设计函数复用</a:t>
            </a:r>
            <a:r>
              <a:rPr sz="2400" spc="31" dirty="0">
                <a:solidFill>
                  <a:srgbClr val="FF0000"/>
                </a:solidFill>
                <a:latin typeface="Microsoft YaHei"/>
                <a:cs typeface="Microsoft YaHei"/>
              </a:rPr>
              <a:t>数字的绘制</a:t>
            </a: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过程。进一步，每个七段数码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73" dirty="0">
                <a:solidFill>
                  <a:srgbClr val="000000"/>
                </a:solidFill>
                <a:latin typeface="Microsoft YaHei"/>
                <a:cs typeface="Microsoft YaHei"/>
              </a:rPr>
              <a:t>管包括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7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个数码管样式，除了数码管位置不同外，绘制风格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一致，也可以通过函数复用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单个数码段的绘制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过程。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0319" y="1857531"/>
            <a:ext cx="952804" cy="243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7.1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74947" y="1857531"/>
            <a:ext cx="2174155" cy="243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e7.1</a:t>
            </a:r>
            <a:r>
              <a:rPr sz="1200" u="sng" dirty="0">
                <a:solidFill>
                  <a:srgbClr val="008080"/>
                </a:solidFill>
                <a:latin typeface="Palatino Linotype"/>
                <a:cs typeface="Palatino Linotype"/>
              </a:rPr>
              <a:t>Draw</a:t>
            </a: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SevenSegDisplay.py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7512" y="2445635"/>
            <a:ext cx="3038235" cy="463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200" spc="170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#e7.1</a:t>
            </a:r>
            <a:r>
              <a:rPr sz="1200" b="1" u="sng" dirty="0">
                <a:solidFill>
                  <a:srgbClr val="008080"/>
                </a:solidFill>
                <a:latin typeface="Courier New"/>
                <a:cs typeface="Courier New"/>
              </a:rPr>
              <a:t>Draw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SevenSegDisplay.py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200" spc="170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turtle,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datetime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7512" y="2949035"/>
            <a:ext cx="3741699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200" spc="170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drawLine(draw):</a:t>
            </a:r>
            <a:r>
              <a:rPr sz="1200" b="1" spc="15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绘制单段数码管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7512" y="3207635"/>
            <a:ext cx="243854" cy="714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4571" marR="0">
              <a:lnSpc>
                <a:spcPts val="1250"/>
              </a:lnSpc>
              <a:spcBef>
                <a:spcPts val="662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  <a:p>
            <a:pPr marL="4571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34719" y="3207635"/>
            <a:ext cx="4205365" cy="463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turtle.pendown()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 draw else turtle.penup()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turtle.fd(40)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34719" y="3715128"/>
            <a:ext cx="162637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turtle.right(90)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2083" y="3965797"/>
            <a:ext cx="3978071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100" b="1" spc="179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drawDigit(d):</a:t>
            </a:r>
            <a:r>
              <a:rPr sz="1200" b="1" spc="7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根据数字绘制七段数码管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2083" y="4233024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34135" y="4233024"/>
            <a:ext cx="5902161" cy="119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drawLine(True) 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 d in [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2,3,4,5,6,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8,9] else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drawLine(False)</a:t>
            </a:r>
            <a:r>
              <a:rPr lang="en-US" sz="1100" b="1" dirty="0">
                <a:solidFill>
                  <a:srgbClr val="FF0000"/>
                </a:solidFill>
                <a:latin typeface="Courier New"/>
                <a:cs typeface="Courier New"/>
              </a:rPr>
              <a:t>#</a:t>
            </a:r>
            <a:r>
              <a:rPr lang="en-US" altLang="zh-CN" sz="1100" b="1" dirty="0">
                <a:solidFill>
                  <a:srgbClr val="FF0000"/>
                </a:solidFill>
                <a:latin typeface="Courier New"/>
                <a:cs typeface="Courier New"/>
              </a:rPr>
              <a:t>g</a:t>
            </a:r>
            <a:endParaRPr sz="11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drawLine(True)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 in [0,1,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3,4,5,6,7,8,9] else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drawLine(False)</a:t>
            </a:r>
            <a:r>
              <a:rPr lang="en-US" sz="1100" b="1" dirty="0">
                <a:solidFill>
                  <a:srgbClr val="FF0000"/>
                </a:solidFill>
                <a:latin typeface="Courier New"/>
                <a:cs typeface="Courier New"/>
              </a:rPr>
              <a:t>#c</a:t>
            </a:r>
            <a:endParaRPr sz="11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drawLine(True) 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 d in [0,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2,3,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5,6,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8,9] else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drawLine(False)</a:t>
            </a:r>
            <a:r>
              <a:rPr lang="en-US" sz="1100" b="1" dirty="0">
                <a:solidFill>
                  <a:srgbClr val="FF0000"/>
                </a:solidFill>
                <a:latin typeface="Courier New"/>
                <a:cs typeface="Courier New"/>
              </a:rPr>
              <a:t>#d</a:t>
            </a:r>
            <a:endParaRPr sz="11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250"/>
              </a:lnSpc>
              <a:spcBef>
                <a:spcPts val="741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drawLine(True) 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 d in [0,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2,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  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6,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8] else drawLine(False)</a:t>
            </a:r>
            <a:r>
              <a:rPr lang="en-US" sz="1100" b="1" dirty="0">
                <a:solidFill>
                  <a:srgbClr val="FF0000"/>
                </a:solidFill>
                <a:latin typeface="Courier New"/>
                <a:cs typeface="Courier New"/>
              </a:rPr>
              <a:t>#e</a:t>
            </a:r>
            <a:endParaRPr sz="11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turtle.left(90)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2083" y="4487531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29412" y="4742040"/>
            <a:ext cx="320676" cy="1466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</a:p>
          <a:p>
            <a:pPr marL="0" marR="0">
              <a:lnSpc>
                <a:spcPts val="1250"/>
              </a:lnSpc>
              <a:spcBef>
                <a:spcPts val="691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  <a:p>
            <a:pPr marL="0" marR="0">
              <a:lnSpc>
                <a:spcPts val="1250"/>
              </a:lnSpc>
              <a:spcBef>
                <a:spcPts val="756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  <a:p>
            <a:pPr marL="0" marR="0">
              <a:lnSpc>
                <a:spcPts val="1250"/>
              </a:lnSpc>
              <a:spcBef>
                <a:spcPts val="691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34135" y="5504395"/>
            <a:ext cx="5758145" cy="680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drawLine(True) 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 d in [0,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  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4,5,6,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8,9] else drawLine(False)</a:t>
            </a:r>
            <a:r>
              <a:rPr lang="en-US" sz="1100" b="1" dirty="0">
                <a:solidFill>
                  <a:srgbClr val="FF0000"/>
                </a:solidFill>
                <a:latin typeface="Courier New"/>
                <a:cs typeface="Courier New"/>
              </a:rPr>
              <a:t>#f</a:t>
            </a:r>
            <a:endParaRPr sz="11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250"/>
              </a:lnSpc>
              <a:spcBef>
                <a:spcPts val="691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drawLine(True) 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 d in [0,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2,3,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5,6,7,8,9] else drawLine(False)</a:t>
            </a:r>
            <a:r>
              <a:rPr lang="en-US" sz="1100" b="1" dirty="0">
                <a:solidFill>
                  <a:srgbClr val="FF0000"/>
                </a:solidFill>
                <a:latin typeface="Courier New"/>
                <a:cs typeface="Courier New"/>
              </a:rPr>
              <a:t>#a</a:t>
            </a:r>
            <a:endParaRPr sz="11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drawLine(True) 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 d in [0,1,2,3,4,</a:t>
            </a:r>
            <a:r>
              <a:rPr lang="en-US" sz="1100" b="1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7,8,9] else drawLine(False)</a:t>
            </a:r>
            <a:r>
              <a:rPr lang="en-US" sz="1100" b="1" dirty="0">
                <a:solidFill>
                  <a:srgbClr val="FF0000"/>
                </a:solidFill>
                <a:latin typeface="Courier New"/>
                <a:cs typeface="Courier New"/>
              </a:rPr>
              <a:t>#b</a:t>
            </a:r>
            <a:endParaRPr sz="1100" b="1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7738" y="1712751"/>
            <a:ext cx="952804" cy="243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7.1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62704" y="1712751"/>
            <a:ext cx="2174155" cy="243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1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e7.1</a:t>
            </a:r>
            <a:r>
              <a:rPr sz="1200" u="sng" dirty="0">
                <a:solidFill>
                  <a:srgbClr val="008080"/>
                </a:solidFill>
                <a:latin typeface="Palatino Linotype"/>
                <a:cs typeface="Palatino Linotype"/>
              </a:rPr>
              <a:t>Draw</a:t>
            </a:r>
            <a:r>
              <a:rPr sz="1200" dirty="0">
                <a:solidFill>
                  <a:srgbClr val="000000"/>
                </a:solidFill>
                <a:latin typeface="Palatino Linotype"/>
                <a:cs typeface="Palatino Linotype"/>
              </a:rPr>
              <a:t>SevenSegDisplay.py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7439" y="2421477"/>
            <a:ext cx="2521929" cy="180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  <a:r>
              <a:rPr sz="1100" b="1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100" b="1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Courier New"/>
                <a:cs typeface="Courier New"/>
              </a:rPr>
              <a:t>turtle.left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(180)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7440" y="2690736"/>
            <a:ext cx="320676" cy="451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11553" y="2678553"/>
            <a:ext cx="1441261" cy="465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turtle.penup()</a:t>
            </a:r>
          </a:p>
          <a:p>
            <a:pPr marL="0" marR="0">
              <a:lnSpc>
                <a:spcPts val="1359"/>
              </a:lnSpc>
              <a:spcBef>
                <a:spcPts val="646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turtle.fd(20)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7440" y="3183731"/>
            <a:ext cx="3838194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19</a:t>
            </a:r>
            <a:r>
              <a:rPr sz="1100" b="1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drawDate(date):</a:t>
            </a:r>
            <a:r>
              <a:rPr sz="1200" b="1" spc="79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获得要输出的数字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7440" y="3452736"/>
            <a:ext cx="320676" cy="451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20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11553" y="3440808"/>
            <a:ext cx="5177078" cy="465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for i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date:</a:t>
            </a:r>
          </a:p>
          <a:p>
            <a:pPr marL="368808" marR="0">
              <a:lnSpc>
                <a:spcPts val="1359"/>
              </a:lnSpc>
              <a:spcBef>
                <a:spcPts val="562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drawDigit(eval(i))</a:t>
            </a:r>
            <a:r>
              <a:rPr sz="1200" b="1" spc="79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注意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2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11" dirty="0">
                <a:solidFill>
                  <a:srgbClr val="000000"/>
                </a:solidFill>
                <a:latin typeface="SimSun"/>
                <a:cs typeface="SimSun"/>
              </a:rPr>
              <a:t>通过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eval()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函数将数字变为整数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7440" y="3949824"/>
            <a:ext cx="1601180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22</a:t>
            </a:r>
            <a:r>
              <a:rPr sz="1100" b="1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main():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7440" y="4215117"/>
            <a:ext cx="320676" cy="1468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23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24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25</a:t>
            </a:r>
          </a:p>
          <a:p>
            <a:pPr marL="0" marR="0">
              <a:lnSpc>
                <a:spcPts val="1250"/>
              </a:lnSpc>
              <a:spcBef>
                <a:spcPts val="741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26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27</a:t>
            </a:r>
          </a:p>
          <a:p>
            <a:pPr marL="0" marR="0">
              <a:lnSpc>
                <a:spcPts val="1250"/>
              </a:lnSpc>
              <a:spcBef>
                <a:spcPts val="705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28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11553" y="4202553"/>
            <a:ext cx="3100268" cy="211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turtle.setup(800, 350, 200,</a:t>
            </a:r>
            <a:r>
              <a:rPr sz="1200" b="1" spc="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200)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11553" y="4457569"/>
            <a:ext cx="1441261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turtle.penup()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11553" y="4712078"/>
            <a:ext cx="1533412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turtle.fd(-300)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11553" y="4965062"/>
            <a:ext cx="171781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turtle.pensize(5)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511553" y="5219570"/>
            <a:ext cx="4941178" cy="465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drawDate(datetime.datetime.now().strftime('%Y%m%d'))</a:t>
            </a:r>
          </a:p>
          <a:p>
            <a:pPr marL="0" marR="0">
              <a:lnSpc>
                <a:spcPts val="1359"/>
              </a:lnSpc>
              <a:spcBef>
                <a:spcPts val="645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turtle.hideturtle()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07440" y="5726858"/>
            <a:ext cx="1139694" cy="211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29</a:t>
            </a:r>
            <a:r>
              <a:rPr sz="1100" b="1" spc="14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main()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90" y="1908371"/>
            <a:ext cx="8077200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实例代码定义了drawDigit()函数，该函数根据输入的数字d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绘制七段数码管，结合七段数码管结构，每个数码管的绘制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采用图所示顺序。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110047"/>
            <a:ext cx="8176614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6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绘制起点在数码管中部左侧，无论每段数码管是否被绘制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出来，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画笔都按顺序“画完”所有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7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个数码管。对于给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定数字d，哪个数码段被绘制出来采用if…else…语句判断。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0632" y="4696350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35201" y="4696350"/>
            <a:ext cx="642968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drawLine(True)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d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[2,3,4,5,6,8,9] else drawLine(False)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七段数码管绘制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676" y="218449"/>
            <a:ext cx="1089001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7.2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16530" y="218449"/>
            <a:ext cx="2517854" cy="279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e7.2</a:t>
            </a:r>
            <a:r>
              <a:rPr sz="1400" u="sng" dirty="0">
                <a:solidFill>
                  <a:srgbClr val="008080"/>
                </a:solidFill>
                <a:latin typeface="Palatino Linotype"/>
                <a:cs typeface="Palatino Linotype"/>
              </a:rPr>
              <a:t>Draw</a:t>
            </a:r>
            <a:r>
              <a:rPr sz="1400" spc="-10" dirty="0">
                <a:solidFill>
                  <a:srgbClr val="000000"/>
                </a:solidFill>
                <a:latin typeface="Palatino Linotype"/>
                <a:cs typeface="Palatino Linotype"/>
              </a:rPr>
              <a:t>SevenSegDisplay.py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4036" y="595267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65224" y="722394"/>
            <a:ext cx="3041459" cy="240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#e7.2</a:t>
            </a:r>
            <a:r>
              <a:rPr sz="1400" b="1" u="sng" dirty="0">
                <a:solidFill>
                  <a:srgbClr val="008080"/>
                </a:solidFill>
                <a:latin typeface="Courier New"/>
                <a:cs typeface="Courier New"/>
              </a:rPr>
              <a:t>Draw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SevenSegDisplay.py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4036" y="848251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65224" y="975377"/>
            <a:ext cx="2601045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datetime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4036" y="1102758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65224" y="1225097"/>
            <a:ext cx="3104442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drawGap():</a:t>
            </a:r>
            <a:r>
              <a:rPr sz="14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绘制数码管间隔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04036" y="1357267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92275" y="1484394"/>
            <a:ext cx="1650430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turtle.penup()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04036" y="1610505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92275" y="1737378"/>
            <a:ext cx="143642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turtle.fd(5)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04036" y="1865013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65224" y="1987351"/>
            <a:ext cx="3848408" cy="499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drawLine(draw):</a:t>
            </a:r>
            <a:r>
              <a:rPr sz="1400" b="1" spc="163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绘制单段数码管</a:t>
            </a:r>
          </a:p>
          <a:p>
            <a:pPr marL="42705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drawGap()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04036" y="2119521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04036" y="2372505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92275" y="2499632"/>
            <a:ext cx="4834061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turtle.pendown()</a:t>
            </a:r>
            <a:r>
              <a:rPr sz="1400" b="1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draw else turtle.penup()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turtle.fd(40)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04036" y="2627013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50696" y="2881267"/>
            <a:ext cx="366770" cy="3796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</a:p>
          <a:p>
            <a:pPr marL="0" marR="0">
              <a:lnSpc>
                <a:spcPts val="1590"/>
              </a:lnSpc>
              <a:spcBef>
                <a:spcPts val="40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  <a:p>
            <a:pPr marL="0" marR="0">
              <a:lnSpc>
                <a:spcPts val="1593"/>
              </a:lnSpc>
              <a:spcBef>
                <a:spcPts val="41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</a:p>
          <a:p>
            <a:pPr marL="0" marR="0">
              <a:lnSpc>
                <a:spcPts val="1590"/>
              </a:lnSpc>
              <a:spcBef>
                <a:spcPts val="402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19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20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21</a:t>
            </a:r>
          </a:p>
          <a:p>
            <a:pPr marL="0" marR="0">
              <a:lnSpc>
                <a:spcPts val="1593"/>
              </a:lnSpc>
              <a:spcBef>
                <a:spcPts val="41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22</a:t>
            </a:r>
          </a:p>
          <a:p>
            <a:pPr marL="0" marR="0">
              <a:lnSpc>
                <a:spcPts val="1590"/>
              </a:lnSpc>
              <a:spcBef>
                <a:spcPts val="40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23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24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92275" y="3008648"/>
            <a:ext cx="111541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drawGap()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265224" y="3244330"/>
            <a:ext cx="2730712" cy="207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sz="1400" b="1" dirty="0" err="1">
                <a:solidFill>
                  <a:srgbClr val="000000"/>
                </a:solidFill>
                <a:latin typeface="Courier New"/>
                <a:cs typeface="Courier New"/>
              </a:rPr>
              <a:t>turtle.right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(90)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265224" y="3511732"/>
            <a:ext cx="6856698" cy="1514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drawDigit(d):</a:t>
            </a:r>
            <a:r>
              <a:rPr sz="1400" b="1" spc="-3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根据数字绘制七段数码管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drawLine(True)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d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[2,3,4,5,6,8,9]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else drawLine(False)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drawLine(True)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d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[0,1,3,4,5,6,7,8,9]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else drawLine(False)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drawLine(True)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d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[0,2,3,5,6,8,9]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else drawLine(False)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drawLine(True)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d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[0,2,6,8] else drawLine(False)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turtle.left(90)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265224" y="5040775"/>
            <a:ext cx="6643338" cy="100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drawLine(True)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d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[0,4,5,6,8,9] else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drawLine(False)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drawLine(True)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d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[0,2,3,5,6,7,8,9] else drawLine(False)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drawLine(True)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d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[0,1,2,3,4,7,8,9] else drawLine(False)</a:t>
            </a:r>
          </a:p>
          <a:p>
            <a:pPr marL="42705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turtle.left(180)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692275" y="6057283"/>
            <a:ext cx="1650430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turtle.penup()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692275" y="6310267"/>
            <a:ext cx="154342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turtle.fd(20)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98632" y="4780791"/>
            <a:ext cx="3845368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turtle.setup</a:t>
            </a:r>
            <a:r>
              <a:rPr lang="en-US" dirty="0">
                <a:solidFill>
                  <a:srgbClr val="FF0000"/>
                </a:solidFill>
              </a:rPr>
              <a:t>(width, height, </a:t>
            </a:r>
            <a:r>
              <a:rPr lang="en-US" dirty="0" err="1">
                <a:solidFill>
                  <a:srgbClr val="FF0000"/>
                </a:solidFill>
              </a:rPr>
              <a:t>startx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starty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0676" y="390153"/>
            <a:ext cx="1089001" cy="27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7.2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16530" y="390153"/>
            <a:ext cx="2517854" cy="279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e7.2</a:t>
            </a:r>
            <a:r>
              <a:rPr sz="1400" u="sng" dirty="0">
                <a:solidFill>
                  <a:srgbClr val="008080"/>
                </a:solidFill>
                <a:latin typeface="Palatino Linotype"/>
                <a:cs typeface="Palatino Linotype"/>
              </a:rPr>
              <a:t>Draw</a:t>
            </a:r>
            <a:r>
              <a:rPr sz="1400" spc="-10" dirty="0">
                <a:solidFill>
                  <a:srgbClr val="000000"/>
                </a:solidFill>
                <a:latin typeface="Palatino Linotype"/>
                <a:cs typeface="Palatino Linotype"/>
              </a:rPr>
              <a:t>SevenSegDisplay.py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65224" y="766844"/>
            <a:ext cx="217565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 drawDate(date):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0696" y="893717"/>
            <a:ext cx="366770" cy="5575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25</a:t>
            </a:r>
          </a:p>
          <a:p>
            <a:pPr marL="0" marR="0">
              <a:lnSpc>
                <a:spcPts val="1593"/>
              </a:lnSpc>
              <a:spcBef>
                <a:spcPts val="399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26</a:t>
            </a:r>
          </a:p>
          <a:p>
            <a:pPr marL="0" marR="0">
              <a:lnSpc>
                <a:spcPts val="1590"/>
              </a:lnSpc>
              <a:spcBef>
                <a:spcPts val="414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27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28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29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30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31</a:t>
            </a:r>
          </a:p>
          <a:p>
            <a:pPr marL="0" marR="0">
              <a:lnSpc>
                <a:spcPts val="1593"/>
              </a:lnSpc>
              <a:spcBef>
                <a:spcPts val="399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32</a:t>
            </a:r>
          </a:p>
          <a:p>
            <a:pPr marL="0" marR="0">
              <a:lnSpc>
                <a:spcPts val="1590"/>
              </a:lnSpc>
              <a:spcBef>
                <a:spcPts val="414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33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34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35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36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37</a:t>
            </a:r>
          </a:p>
          <a:p>
            <a:pPr marL="0" marR="0">
              <a:lnSpc>
                <a:spcPts val="1593"/>
              </a:lnSpc>
              <a:spcBef>
                <a:spcPts val="399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38</a:t>
            </a:r>
          </a:p>
          <a:p>
            <a:pPr marL="0" marR="0">
              <a:lnSpc>
                <a:spcPts val="1590"/>
              </a:lnSpc>
              <a:spcBef>
                <a:spcPts val="415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39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40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41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42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43</a:t>
            </a:r>
          </a:p>
          <a:p>
            <a:pPr marL="0" marR="0">
              <a:lnSpc>
                <a:spcPts val="1590"/>
              </a:lnSpc>
              <a:spcBef>
                <a:spcPts val="40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44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45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7F7F7F"/>
                </a:solidFill>
                <a:latin typeface="Courier New"/>
                <a:cs typeface="Courier New"/>
              </a:rPr>
              <a:t>46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92275" y="1019827"/>
            <a:ext cx="2506448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turtle.pencolor("red")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date: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17470" y="1528844"/>
            <a:ext cx="143008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==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'-':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41142" y="1778563"/>
            <a:ext cx="5121597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turtle.write('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年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',font=("Arial",</a:t>
            </a:r>
            <a:r>
              <a:rPr sz="1400" b="1" spc="-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18,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"normal"))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42667" y="2036336"/>
            <a:ext cx="2720452" cy="494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turtle.pencolor("green")</a:t>
            </a:r>
          </a:p>
          <a:p>
            <a:pPr marL="0" marR="0">
              <a:lnSpc>
                <a:spcPts val="1590"/>
              </a:lnSpc>
              <a:spcBef>
                <a:spcPts val="416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turtle.fd(40)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17470" y="2544209"/>
            <a:ext cx="164192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elif i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== '=':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41142" y="2793928"/>
            <a:ext cx="5121597" cy="499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turtle.write('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月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',font=("Arial",</a:t>
            </a:r>
            <a:r>
              <a:rPr sz="1400" b="1" spc="-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18,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"normal"))</a:t>
            </a:r>
          </a:p>
          <a:p>
            <a:pPr marL="1524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turtle.pencolor("blue")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42667" y="3306209"/>
            <a:ext cx="154342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turtle.fd(40)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17470" y="3560717"/>
            <a:ext cx="5545269" cy="1002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elif i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== '+':</a:t>
            </a:r>
          </a:p>
          <a:p>
            <a:pPr marL="423672" marR="0">
              <a:lnSpc>
                <a:spcPts val="1590"/>
              </a:lnSpc>
              <a:spcBef>
                <a:spcPts val="377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turtle.write('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日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',font=("Arial",</a:t>
            </a:r>
            <a:r>
              <a:rPr sz="1400" b="1" spc="-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18,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"normal"))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  <a:p>
            <a:pPr marL="425196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drawDigit(eval(i))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65224" y="4577479"/>
            <a:ext cx="132500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 main():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92275" y="4830462"/>
            <a:ext cx="3556068" cy="494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turtle.setup(800,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350, 200, 200)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turtle.penup()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92275" y="5339733"/>
            <a:ext cx="175743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turtle.fd(-350)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92275" y="5592767"/>
            <a:ext cx="1971437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turtle.pensize(5)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92275" y="5847276"/>
            <a:ext cx="6037525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drawDate(datetime.datetime.now().strftime('%Y-%m=%d+'))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turtle.hideturtle()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65224" y="6354768"/>
            <a:ext cx="79441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main()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9678" y="2788949"/>
            <a:ext cx="769620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代码的复用和模块化设计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代码的复用和模块化设计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2556325"/>
            <a:ext cx="8323223" cy="2635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80" dirty="0">
                <a:solidFill>
                  <a:srgbClr val="000000"/>
                </a:solidFill>
                <a:latin typeface="Microsoft YaHei"/>
                <a:cs typeface="Microsoft YaHei"/>
              </a:rPr>
              <a:t>函数是程序的一种基本抽象方式，它将一系列代码组织起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来通过命名供其他程序使用。函数封装的直接好处是代码复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用，任何其他代码只要输入参数即可调用函数，从而避免相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同功能代码在被调用处重复编写。</a:t>
            </a:r>
            <a:r>
              <a:rPr sz="2400" spc="76" dirty="0">
                <a:solidFill>
                  <a:srgbClr val="FF0000"/>
                </a:solidFill>
                <a:latin typeface="Microsoft YaHei"/>
                <a:cs typeface="Microsoft YaHei"/>
              </a:rPr>
              <a:t>代码复用</a:t>
            </a: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产生了另一个好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处，当更新函数功能时，所有被调用处的功能都被更新。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代码的复用和模块化设计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478532"/>
            <a:ext cx="8085122" cy="3184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当程序的长度在百行以上，如果不划分模块就算是最好的程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序员也很难理解程序含义程序的可读性就已经很糟糕了。解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决这一问题的最好方法是将一个程序分割成短小的程序段，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每一段程序完成一个小的功能。无论面向过程和面向对象编</a:t>
            </a:r>
          </a:p>
          <a:p>
            <a:pPr marL="0" marR="0">
              <a:lnSpc>
                <a:spcPts val="3167"/>
              </a:lnSpc>
              <a:spcBef>
                <a:spcPts val="11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程，对程序合理划分功能模块并基于模块设计程序是一种常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用方法，被称为“模块化设计”。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代码的复用和模块化设计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" y="2138749"/>
            <a:ext cx="47244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模块化设计一般有两个基本要求：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5" y="2687389"/>
            <a:ext cx="8182000" cy="3184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紧耦合：尽可能合理划分功能块，功能块内部耦合紧密；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松耦合：模块间关系尽可能简单，功能块之间耦合度低。</a:t>
            </a:r>
          </a:p>
          <a:p>
            <a:pPr marL="30480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使用函数只是</a:t>
            </a:r>
            <a:r>
              <a:rPr sz="2400" spc="34" dirty="0">
                <a:solidFill>
                  <a:srgbClr val="FF0000"/>
                </a:solidFill>
                <a:latin typeface="Microsoft YaHei"/>
                <a:cs typeface="Microsoft YaHei"/>
              </a:rPr>
              <a:t>模块化设计</a:t>
            </a: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的必要非充分条件，根据计算需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求合理划分函数十分重要。一般来说，</a:t>
            </a:r>
            <a:r>
              <a:rPr sz="2400" spc="31" dirty="0">
                <a:solidFill>
                  <a:srgbClr val="FF0000"/>
                </a:solidFill>
                <a:latin typeface="Microsoft YaHei"/>
                <a:cs typeface="Microsoft YaHei"/>
              </a:rPr>
              <a:t>完成特定功能或被经</a:t>
            </a:r>
          </a:p>
          <a:p>
            <a:pPr marL="0" marR="0">
              <a:lnSpc>
                <a:spcPts val="3170"/>
              </a:lnSpc>
              <a:spcBef>
                <a:spcPts val="1199"/>
              </a:spcBef>
              <a:spcAft>
                <a:spcPts val="0"/>
              </a:spcAft>
            </a:pPr>
            <a:r>
              <a:rPr sz="2400" spc="31" dirty="0">
                <a:solidFill>
                  <a:srgbClr val="FF0000"/>
                </a:solidFill>
                <a:latin typeface="Microsoft YaHei"/>
                <a:cs typeface="Microsoft YaHei"/>
              </a:rPr>
              <a:t>常复用的一组语句</a:t>
            </a: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应该采用函数来封装，并尽可能减少函数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间参数和返回值的数量。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37433" y="2788949"/>
            <a:ext cx="358140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函数的递归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递归的定义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340171"/>
            <a:ext cx="7959496" cy="2635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3" dirty="0" err="1">
                <a:solidFill>
                  <a:srgbClr val="000000"/>
                </a:solidFill>
                <a:latin typeface="Microsoft YaHei"/>
                <a:cs typeface="Microsoft YaHei"/>
              </a:rPr>
              <a:t>函数作为一种代码封装，可以被其他程序调用，当然</a:t>
            </a:r>
            <a:r>
              <a:rPr sz="2400" spc="63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61" dirty="0" err="1">
                <a:solidFill>
                  <a:srgbClr val="000000"/>
                </a:solidFill>
                <a:latin typeface="Microsoft YaHei"/>
                <a:cs typeface="Microsoft YaHei"/>
              </a:rPr>
              <a:t>也可以被函数内部代码调用。这种函数定义中调用函数自</a:t>
            </a:r>
            <a:endParaRPr sz="2400" spc="6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61" dirty="0" err="1">
                <a:solidFill>
                  <a:srgbClr val="000000"/>
                </a:solidFill>
                <a:latin typeface="Microsoft YaHei"/>
                <a:cs typeface="Microsoft YaHei"/>
              </a:rPr>
              <a:t>身的方式称为递归。就像一个人站在装满镜子的房间中</a:t>
            </a: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61" dirty="0" err="1">
                <a:solidFill>
                  <a:srgbClr val="000000"/>
                </a:solidFill>
                <a:latin typeface="Microsoft YaHei"/>
                <a:cs typeface="Microsoft YaHei"/>
              </a:rPr>
              <a:t>看到的影像就是递归的结果。递归在数学和计算机应用上</a:t>
            </a:r>
            <a:endParaRPr sz="2400" spc="6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非常强大，能够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非常简洁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的解决重要问题。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递归的定义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5916" y="1972633"/>
            <a:ext cx="74676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数学上有个经典的递归例子叫阶乘，阶乘通常定义为：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98375" y="2667173"/>
            <a:ext cx="3608130" cy="50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3"/>
              </a:lnSpc>
              <a:spcBef>
                <a:spcPts val="0"/>
              </a:spcBef>
              <a:spcAft>
                <a:spcPts val="0"/>
              </a:spcAft>
            </a:pPr>
            <a:r>
              <a:rPr sz="3000" i="1" spc="-1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000" spc="102" dirty="0">
                <a:solidFill>
                  <a:srgbClr val="000000"/>
                </a:solidFill>
                <a:latin typeface="Times New Roman"/>
                <a:cs typeface="Times New Roman"/>
              </a:rPr>
              <a:t>!</a:t>
            </a:r>
            <a:r>
              <a:rPr sz="3000" dirty="0">
                <a:solidFill>
                  <a:srgbClr val="000000"/>
                </a:solidFill>
                <a:latin typeface="FDCGMS+Symbol"/>
                <a:cs typeface="FDCGMS+Symbol"/>
              </a:rPr>
              <a:t></a:t>
            </a:r>
            <a:r>
              <a:rPr sz="30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i="1" spc="86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000" spc="109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00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000" i="1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spc="231" dirty="0">
                <a:solidFill>
                  <a:srgbClr val="000000"/>
                </a:solidFill>
                <a:latin typeface="FDCGMS+Symbol"/>
                <a:cs typeface="FDCGMS+Symbol"/>
              </a:rPr>
              <a:t></a:t>
            </a:r>
            <a:r>
              <a:rPr sz="3000" spc="-57" dirty="0">
                <a:solidFill>
                  <a:srgbClr val="000000"/>
                </a:solidFill>
                <a:latin typeface="Times New Roman"/>
                <a:cs typeface="Times New Roman"/>
              </a:rPr>
              <a:t>1)(</a:t>
            </a:r>
            <a:r>
              <a:rPr sz="300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000" i="1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FDCGMS+Symbol"/>
                <a:cs typeface="FDCGMS+Symbol"/>
              </a:rPr>
              <a:t></a:t>
            </a:r>
            <a:r>
              <a:rPr sz="300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spc="-40" dirty="0">
                <a:solidFill>
                  <a:srgbClr val="000000"/>
                </a:solidFill>
                <a:latin typeface="Times New Roman"/>
                <a:cs typeface="Times New Roman"/>
              </a:rPr>
              <a:t>2)...(1)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7816" y="3793813"/>
            <a:ext cx="624898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这个关系给出了另一种方式表达阶乘的方式：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06289" y="4801575"/>
            <a:ext cx="854980" cy="474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8"/>
              </a:lnSpc>
              <a:spcBef>
                <a:spcPts val="0"/>
              </a:spcBef>
              <a:spcAft>
                <a:spcPts val="0"/>
              </a:spcAft>
            </a:pPr>
            <a:r>
              <a:rPr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i="1" spc="-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FDCGMS+Symbol"/>
                <a:cs typeface="FDCGMS+Symbol"/>
              </a:rPr>
              <a:t></a:t>
            </a:r>
            <a:r>
              <a:rPr sz="2800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734879" y="4829019"/>
            <a:ext cx="507429" cy="474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8"/>
              </a:lnSpc>
              <a:spcBef>
                <a:spcPts val="0"/>
              </a:spcBef>
              <a:spcAft>
                <a:spcPts val="0"/>
              </a:spcAft>
            </a:pPr>
            <a:r>
              <a:rPr sz="2800" spc="-250" dirty="0">
                <a:solidFill>
                  <a:srgbClr val="000000"/>
                </a:solidFill>
                <a:latin typeface="FDCGMS+Symbol"/>
                <a:cs typeface="FDCGMS+Symbol"/>
              </a:rPr>
              <a:t>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11699" y="5063618"/>
            <a:ext cx="698296" cy="474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8"/>
              </a:lnSpc>
              <a:spcBef>
                <a:spcPts val="0"/>
              </a:spcBef>
              <a:spcAft>
                <a:spcPts val="0"/>
              </a:spcAft>
            </a:pPr>
            <a:r>
              <a:rPr sz="2800" i="1" spc="108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spc="314" dirty="0">
                <a:solidFill>
                  <a:srgbClr val="000000"/>
                </a:solidFill>
                <a:latin typeface="Times New Roman"/>
                <a:cs typeface="Times New Roman"/>
              </a:rPr>
              <a:t>!</a:t>
            </a:r>
            <a:r>
              <a:rPr sz="2800" dirty="0">
                <a:solidFill>
                  <a:srgbClr val="000000"/>
                </a:solidFill>
                <a:latin typeface="FDCGMS+Symbol"/>
                <a:cs typeface="FDCGMS+Symbol"/>
              </a:rPr>
              <a:t>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34879" y="5124963"/>
            <a:ext cx="328868" cy="474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8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FDCGMS+Symbol"/>
                <a:cs typeface="FDCGMS+Symbol"/>
              </a:rPr>
              <a:t>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917057" y="5336462"/>
            <a:ext cx="2671124" cy="474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8"/>
              </a:lnSpc>
              <a:spcBef>
                <a:spcPts val="0"/>
              </a:spcBef>
              <a:spcAft>
                <a:spcPts val="0"/>
              </a:spcAft>
            </a:pPr>
            <a:r>
              <a:rPr sz="2800" i="1" spc="17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spc="54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i="1" spc="-2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138" dirty="0">
                <a:solidFill>
                  <a:srgbClr val="000000"/>
                </a:solidFill>
                <a:latin typeface="FDCGMS+Symbol"/>
                <a:cs typeface="FDCGMS+Symbol"/>
              </a:rPr>
              <a:t></a:t>
            </a:r>
            <a:r>
              <a:rPr sz="2800" spc="-47" dirty="0">
                <a:solidFill>
                  <a:srgbClr val="000000"/>
                </a:solidFill>
                <a:latin typeface="Times New Roman"/>
                <a:cs typeface="Times New Roman"/>
              </a:rPr>
              <a:t>1)!</a:t>
            </a:r>
            <a:r>
              <a:rPr sz="2800" i="1" spc="-17" dirty="0">
                <a:solidFill>
                  <a:srgbClr val="000000"/>
                </a:solidFill>
                <a:latin typeface="Times New Roman"/>
                <a:cs typeface="Times New Roman"/>
              </a:rPr>
              <a:t>otherwise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34879" y="5420192"/>
            <a:ext cx="328868" cy="474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8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FDCGMS+Symbol"/>
                <a:cs typeface="FDCGMS+Symbol"/>
              </a:rPr>
              <a:t>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递归的定义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484697"/>
            <a:ext cx="7816291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阶乘的例子揭示了递归的2个关键特征：</a:t>
            </a:r>
          </a:p>
          <a:p>
            <a:pPr marL="3048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62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sz="2400" spc="56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sz="2400" spc="57" dirty="0">
                <a:solidFill>
                  <a:srgbClr val="000000"/>
                </a:solidFill>
                <a:latin typeface="Microsoft YaHei"/>
                <a:cs typeface="Microsoft YaHei"/>
              </a:rPr>
              <a:t>）存在一个或多个基例，基例不需要再次递归，它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是确定的表达式；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6040" y="4130549"/>
            <a:ext cx="6128311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（2）所有递归链要以一个或多个基例结尾。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递归的使用方法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5716" y="2089727"/>
            <a:ext cx="385137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微实例5.21：阶乘的计算。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5716" y="2638367"/>
            <a:ext cx="662419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根据用户输入的整数n，计算并输出n的阶乘值。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64613" y="3809166"/>
            <a:ext cx="3604936" cy="6975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spc="11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5.21</a:t>
            </a:r>
            <a:r>
              <a:rPr sz="1400" b="1" spc="283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m5.1CalFactorial.py</a:t>
            </a:r>
          </a:p>
          <a:p>
            <a:pPr marL="56769" marR="0">
              <a:lnSpc>
                <a:spcPts val="1590"/>
              </a:lnSpc>
              <a:spcBef>
                <a:spcPts val="1949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 fact(n):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21382" y="4519313"/>
            <a:ext cx="259585" cy="1002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590"/>
              </a:lnSpc>
              <a:spcBef>
                <a:spcPts val="414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48583" y="4517789"/>
            <a:ext cx="1428310" cy="748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 ==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0:</a:t>
            </a:r>
          </a:p>
          <a:p>
            <a:pPr marL="425195" marR="0">
              <a:lnSpc>
                <a:spcPts val="1590"/>
              </a:lnSpc>
              <a:spcBef>
                <a:spcPts val="402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1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573779" y="5280297"/>
            <a:ext cx="2280480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 * fact(n-1)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21382" y="5531591"/>
            <a:ext cx="4146110" cy="499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num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 eval(input("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请输入一个整数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  <a:p>
            <a:pPr marL="0" marR="0">
              <a:lnSpc>
                <a:spcPts val="1590"/>
              </a:lnSpc>
              <a:spcBef>
                <a:spcPts val="389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print(fact(abs(int(num))))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递归的使用方法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0C5095-95BF-494A-8ED3-4352AB45716E}"/>
              </a:ext>
            </a:extLst>
          </p:cNvPr>
          <p:cNvSpPr txBox="1"/>
          <p:nvPr/>
        </p:nvSpPr>
        <p:spPr>
          <a:xfrm>
            <a:off x="3478065" y="5646499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A7A144-25C5-4F62-93C5-1FD684AD3096}"/>
              </a:ext>
            </a:extLst>
          </p:cNvPr>
          <p:cNvSpPr/>
          <p:nvPr/>
        </p:nvSpPr>
        <p:spPr>
          <a:xfrm>
            <a:off x="3275856" y="5805264"/>
            <a:ext cx="288032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递归的使用方法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193867"/>
            <a:ext cx="385137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微实例5.32：字符串反转。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83842" y="2742507"/>
            <a:ext cx="7772400" cy="98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对于用户输入的字符串s，输出反转后的字符串。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解决这个问题的基本思想是把字符串看作一个递归对象。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7031" y="4644788"/>
            <a:ext cx="204921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 reverse(s):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7031" y="4897773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71269" y="4897773"/>
            <a:ext cx="313252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reverse(s[1:])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+ s[0]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681851" y="4245959"/>
            <a:ext cx="4169071" cy="24929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def reverse(s):</a:t>
            </a:r>
          </a:p>
          <a:p>
            <a:r>
              <a:rPr lang="en-US" dirty="0"/>
              <a:t>    #if s=="":</a:t>
            </a:r>
          </a:p>
          <a:p>
            <a:r>
              <a:rPr lang="en-US" dirty="0"/>
              <a:t>        #return s</a:t>
            </a:r>
          </a:p>
          <a:p>
            <a:r>
              <a:rPr lang="en-US" dirty="0"/>
              <a:t>    if </a:t>
            </a:r>
            <a:r>
              <a:rPr lang="en-US" dirty="0" err="1"/>
              <a:t>len</a:t>
            </a:r>
            <a:r>
              <a:rPr lang="en-US" dirty="0"/>
              <a:t>(s)==1:</a:t>
            </a:r>
          </a:p>
          <a:p>
            <a:r>
              <a:rPr lang="en-US" dirty="0"/>
              <a:t>        return s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return reverse(s[1:])+s[0]</a:t>
            </a:r>
          </a:p>
          <a:p>
            <a:r>
              <a:rPr lang="en-US" dirty="0"/>
              <a:t>str=input("</a:t>
            </a:r>
            <a:r>
              <a:rPr lang="zh-CN" altLang="en-US" dirty="0"/>
              <a:t>请输入字符串：</a:t>
            </a:r>
            <a:r>
              <a:rPr lang="en-US" altLang="zh-CN" dirty="0"/>
              <a:t>")</a:t>
            </a:r>
          </a:p>
          <a:p>
            <a:r>
              <a:rPr lang="en-US" dirty="0"/>
              <a:t>print(reverse(str))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75716" y="62068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递归的使用方法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1953" y="1268760"/>
            <a:ext cx="676148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观察这个函数的工作过程。s[0]是首字符，s[1:]是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1734386"/>
            <a:ext cx="7772400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剩余字符串，将它们反向连接，可以得到反转字符串。执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行这个程序，结果如下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1851" y="2780928"/>
            <a:ext cx="4169071" cy="776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reverse(s):</a:t>
            </a:r>
          </a:p>
          <a:p>
            <a:pPr marL="600481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reverse(s[1:]) +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s[0]</a:t>
            </a:r>
          </a:p>
          <a:p>
            <a:pPr marL="0" marR="0">
              <a:lnSpc>
                <a:spcPts val="1810"/>
              </a:lnSpc>
              <a:spcBef>
                <a:spcPts val="19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spc="-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reverse("ABC")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1851" y="3581503"/>
            <a:ext cx="517875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...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1851" y="3933056"/>
            <a:ext cx="6011328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RecursionError: maximum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recursion depth exceeded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1873BA2-3C01-4E40-B753-BF3D1F035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4725143"/>
            <a:ext cx="1872208" cy="1999137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94533" y="2788949"/>
            <a:ext cx="426720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科赫曲线绘制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316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科赫曲线绘制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3166" y="2484697"/>
            <a:ext cx="8317712" cy="2086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89" dirty="0">
                <a:solidFill>
                  <a:srgbClr val="000000"/>
                </a:solidFill>
                <a:latin typeface="Microsoft YaHei"/>
                <a:cs typeface="Microsoft YaHei"/>
              </a:rPr>
              <a:t>自然界有很多图形很规则，符合一定的数学规律，例如，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77" dirty="0">
                <a:solidFill>
                  <a:srgbClr val="000000"/>
                </a:solidFill>
                <a:latin typeface="Microsoft YaHei"/>
                <a:cs typeface="Microsoft YaHei"/>
              </a:rPr>
              <a:t>蜜蜂蜂窝是天然的等边六角形等。科赫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(Koch)</a:t>
            </a: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曲线在众多经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52" dirty="0">
                <a:solidFill>
                  <a:srgbClr val="000000"/>
                </a:solidFill>
                <a:latin typeface="Microsoft YaHei"/>
                <a:cs typeface="Microsoft YaHei"/>
              </a:rPr>
              <a:t>典数学曲线中非常著名，由瑞典数学家冯·科赫</a:t>
            </a:r>
            <a:r>
              <a:rPr sz="2400" spc="28" dirty="0">
                <a:solidFill>
                  <a:srgbClr val="000000"/>
                </a:solidFill>
                <a:latin typeface="Microsoft YaHei"/>
                <a:cs typeface="Microsoft YaHei"/>
              </a:rPr>
              <a:t>(H</a:t>
            </a:r>
            <a:r>
              <a:rPr sz="2400" spc="57" dirty="0">
                <a:solidFill>
                  <a:srgbClr val="000000"/>
                </a:solidFill>
                <a:latin typeface="Microsoft YaHei"/>
                <a:cs typeface="Microsoft YaHei"/>
              </a:rPr>
              <a:t>·</a:t>
            </a: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V</a:t>
            </a: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·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Koch)于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1904年提出，由于其形状类似雪花，也被称为雪花曲线。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316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科赫曲线绘制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914" y="2132399"/>
            <a:ext cx="53340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科赫曲线的基本概念和绘制方法如下：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3166" y="2681039"/>
            <a:ext cx="8536838" cy="3184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正整数</a:t>
            </a: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n</a:t>
            </a: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代表科赫曲线的阶数，表示生成科赫曲线过程的操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作次数。科赫曲线初始化阶数为</a:t>
            </a:r>
            <a:r>
              <a:rPr sz="2400" spc="33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，表示一个长度为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L</a:t>
            </a: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的直线。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对于直线</a:t>
            </a:r>
            <a:r>
              <a:rPr sz="2400" spc="51" dirty="0">
                <a:solidFill>
                  <a:srgbClr val="000000"/>
                </a:solidFill>
                <a:latin typeface="Microsoft YaHei"/>
                <a:cs typeface="Microsoft YaHei"/>
              </a:rPr>
              <a:t>L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，将其等分为三段，中间一段用边长为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L/3</a:t>
            </a:r>
            <a:r>
              <a:rPr sz="2400" spc="37" dirty="0">
                <a:solidFill>
                  <a:srgbClr val="000000"/>
                </a:solidFill>
                <a:latin typeface="Microsoft YaHei"/>
                <a:cs typeface="Microsoft YaHei"/>
              </a:rPr>
              <a:t>的等边三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83" dirty="0">
                <a:solidFill>
                  <a:srgbClr val="000000"/>
                </a:solidFill>
                <a:latin typeface="Microsoft YaHei"/>
                <a:cs typeface="Microsoft YaHei"/>
              </a:rPr>
              <a:t>角形的两个边替代，得到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sz="2400" spc="83" dirty="0">
                <a:solidFill>
                  <a:srgbClr val="000000"/>
                </a:solidFill>
                <a:latin typeface="Microsoft YaHei"/>
                <a:cs typeface="Microsoft YaHei"/>
              </a:rPr>
              <a:t>阶科赫曲线，它包含四条线段。进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spc="83" dirty="0">
                <a:solidFill>
                  <a:srgbClr val="000000"/>
                </a:solidFill>
                <a:latin typeface="Microsoft YaHei"/>
                <a:cs typeface="Microsoft YaHei"/>
              </a:rPr>
              <a:t>一步对每条线段重复同样的操作后得到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sz="2400" spc="83" dirty="0">
                <a:solidFill>
                  <a:srgbClr val="000000"/>
                </a:solidFill>
                <a:latin typeface="Microsoft YaHei"/>
                <a:cs typeface="Microsoft YaHei"/>
              </a:rPr>
              <a:t>阶科赫曲线。继续重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复同样的操作n次可以得到n阶科赫曲线。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科赫曲线绘制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DEDAB14-FFB9-40EC-A049-D63FDECE5538}"/>
              </a:ext>
            </a:extLst>
          </p:cNvPr>
          <p:cNvCxnSpPr/>
          <p:nvPr/>
        </p:nvCxnSpPr>
        <p:spPr>
          <a:xfrm>
            <a:off x="4860032" y="3356992"/>
            <a:ext cx="36004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CFDF17B-4C5D-4059-AEA3-F66CEC783AF2}"/>
              </a:ext>
            </a:extLst>
          </p:cNvPr>
          <p:cNvCxnSpPr>
            <a:cxnSpLocks/>
          </p:cNvCxnSpPr>
          <p:nvPr/>
        </p:nvCxnSpPr>
        <p:spPr>
          <a:xfrm>
            <a:off x="6300192" y="3356992"/>
            <a:ext cx="144016" cy="216024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4582A-B466-4FF7-9CC3-47A126FB19F7}"/>
              </a:ext>
            </a:extLst>
          </p:cNvPr>
          <p:cNvCxnSpPr>
            <a:cxnSpLocks/>
          </p:cNvCxnSpPr>
          <p:nvPr/>
        </p:nvCxnSpPr>
        <p:spPr>
          <a:xfrm flipH="1">
            <a:off x="5580112" y="2060848"/>
            <a:ext cx="216024" cy="288032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D4CD71D-ACB1-44BA-8C27-EA3DFCCAC93A}"/>
              </a:ext>
            </a:extLst>
          </p:cNvPr>
          <p:cNvSpPr txBox="1"/>
          <p:nvPr/>
        </p:nvSpPr>
        <p:spPr>
          <a:xfrm>
            <a:off x="3203848" y="299695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513684-1E38-4609-80EA-A08F2F97E47C}"/>
              </a:ext>
            </a:extLst>
          </p:cNvPr>
          <p:cNvSpPr txBox="1"/>
          <p:nvPr/>
        </p:nvSpPr>
        <p:spPr>
          <a:xfrm>
            <a:off x="5220072" y="313167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11FFF9-50A8-45E6-A2A2-0972C2E0A096}"/>
              </a:ext>
            </a:extLst>
          </p:cNvPr>
          <p:cNvSpPr txBox="1"/>
          <p:nvPr/>
        </p:nvSpPr>
        <p:spPr>
          <a:xfrm>
            <a:off x="6444208" y="328407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6BB255-29DA-4352-9EB8-674DE6707A4D}"/>
              </a:ext>
            </a:extLst>
          </p:cNvPr>
          <p:cNvSpPr txBox="1"/>
          <p:nvPr/>
        </p:nvSpPr>
        <p:spPr>
          <a:xfrm>
            <a:off x="5724128" y="220486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-120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科赫曲线绘制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9455" y="1124655"/>
            <a:ext cx="1090117" cy="2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8.1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13398" y="1124655"/>
            <a:ext cx="1570051" cy="2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Palatino Linotype"/>
                <a:cs typeface="Palatino Linotype"/>
              </a:rPr>
              <a:t>e8.1DrawKoch.py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07434" y="1655082"/>
            <a:ext cx="2153734" cy="49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66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#e8.1DrawKoch.py</a:t>
            </a:r>
          </a:p>
          <a:p>
            <a:pPr marL="0" marR="0">
              <a:lnSpc>
                <a:spcPts val="1590"/>
              </a:lnSpc>
              <a:spcBef>
                <a:spcPts val="372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66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07434" y="2162574"/>
            <a:ext cx="2367094" cy="244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400" spc="66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 koch(size, n):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07434" y="2421019"/>
            <a:ext cx="259402" cy="4852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7619" marR="0">
              <a:lnSpc>
                <a:spcPts val="1359"/>
              </a:lnSpc>
              <a:spcBef>
                <a:spcPts val="521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32603" y="2417082"/>
            <a:ext cx="3876489" cy="1002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n ==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0:</a:t>
            </a:r>
          </a:p>
          <a:p>
            <a:pPr marL="425196" marR="0">
              <a:lnSpc>
                <a:spcPts val="1590"/>
              </a:lnSpc>
              <a:spcBef>
                <a:spcPts val="40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turtle.fd(size)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  <a:p>
            <a:pPr marL="425196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angle in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[0,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60, -120,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60]: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5442" y="2700851"/>
            <a:ext cx="3270478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科赫曲线属于分形几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何分支，它的绘制过程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体现了递归思想，绘制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过程代码。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15053" y="2950080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15053" y="3204588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76570" y="3432320"/>
            <a:ext cx="2078439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turtle.left(angle)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koch(size/3, n-1)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115053" y="3457826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15053" y="3712333"/>
            <a:ext cx="24385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05884" y="3941336"/>
            <a:ext cx="132493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def main():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67809" y="3966841"/>
            <a:ext cx="335675" cy="2497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  <a:p>
            <a:pPr marL="0" marR="0">
              <a:lnSpc>
                <a:spcPts val="1359"/>
              </a:lnSpc>
              <a:spcBef>
                <a:spcPts val="635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</a:p>
          <a:p>
            <a:pPr marL="0" marR="0">
              <a:lnSpc>
                <a:spcPts val="1359"/>
              </a:lnSpc>
              <a:spcBef>
                <a:spcPts val="63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</a:p>
          <a:p>
            <a:pPr marL="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</a:p>
          <a:p>
            <a:pPr marL="0" marR="0">
              <a:lnSpc>
                <a:spcPts val="1362"/>
              </a:lnSpc>
              <a:spcBef>
                <a:spcPts val="642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19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405884" y="4194700"/>
            <a:ext cx="3139595" cy="749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turtle.setup(800,400)</a:t>
            </a:r>
          </a:p>
          <a:p>
            <a:pPr marL="0" marR="0">
              <a:lnSpc>
                <a:spcPts val="1590"/>
              </a:lnSpc>
              <a:spcBef>
                <a:spcPts val="375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turtle.speed(0)</a:t>
            </a:r>
            <a:r>
              <a:rPr sz="1400" b="1" spc="80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控制绘制速度</a:t>
            </a:r>
          </a:p>
          <a:p>
            <a:pPr marL="426719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turtle.penup()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832603" y="4956700"/>
            <a:ext cx="2492316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turtle.goto(-300,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-50)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turtle.pendown()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832603" y="5465666"/>
            <a:ext cx="1971437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turtle.pensize(2)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831079" y="5720479"/>
            <a:ext cx="132942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koch(600,3)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33642" y="5715690"/>
            <a:ext cx="2254376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0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阶科赫曲线长度，阶数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832603" y="5973463"/>
            <a:ext cx="2185441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turtle.hideturtle()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405884" y="6227971"/>
            <a:ext cx="79441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main()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74464" y="249049"/>
            <a:ext cx="888491" cy="227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8.2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68567" y="249049"/>
            <a:ext cx="1265232" cy="227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9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Palatino Linotype"/>
                <a:cs typeface="Palatino Linotype"/>
              </a:rPr>
              <a:t>e8.2DrawKoch.py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52441" y="666356"/>
            <a:ext cx="1751395" cy="45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100" spc="68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#e8.2DrawKoch.py</a:t>
            </a:r>
          </a:p>
          <a:p>
            <a:pPr marL="0" marR="0">
              <a:lnSpc>
                <a:spcPts val="1253"/>
              </a:lnSpc>
              <a:spcBef>
                <a:spcPts val="689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100" spc="68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科赫曲线绘制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52441" y="1174102"/>
            <a:ext cx="192055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100" spc="68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def koch(size, n):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52441" y="1428609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42229" y="1428609"/>
            <a:ext cx="3098991" cy="958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if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n ==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0:</a:t>
            </a:r>
          </a:p>
          <a:p>
            <a:pPr marL="336804" marR="0">
              <a:lnSpc>
                <a:spcPts val="1250"/>
              </a:lnSpc>
              <a:spcBef>
                <a:spcPts val="691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turtle.fd(size)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  <a:p>
            <a:pPr marL="336804" marR="0">
              <a:lnSpc>
                <a:spcPts val="1250"/>
              </a:lnSpc>
              <a:spcBef>
                <a:spcPts val="75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angle in [0,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60, -120, 60]: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52441" y="1681594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52441" y="1936102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52441" y="2190610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552441" y="2443848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730494" y="2443848"/>
            <a:ext cx="1668261" cy="451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turtle.left(angle)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koch(size/3, n-1)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552441" y="2698356"/>
            <a:ext cx="2365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2868" y="2724277"/>
            <a:ext cx="2898343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科赫曲线的雪花效果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509770" y="2952864"/>
            <a:ext cx="1373442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100" b="1" spc="3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def main():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509770" y="3205848"/>
            <a:ext cx="2654510" cy="42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  <a:r>
              <a:rPr sz="1100" b="1" spc="3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100" b="1" spc="359" dirty="0">
                <a:solidFill>
                  <a:srgbClr val="7F7F7F"/>
                </a:solidFill>
                <a:latin typeface="Courier New"/>
                <a:cs typeface="Courier New"/>
              </a:rPr>
              <a:t>   </a:t>
            </a:r>
            <a:r>
              <a:rPr sz="1100" b="1" dirty="0" err="1">
                <a:solidFill>
                  <a:srgbClr val="000000"/>
                </a:solidFill>
                <a:latin typeface="Courier New"/>
                <a:cs typeface="Courier New"/>
              </a:rPr>
              <a:t>turtle.setup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(600,600)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100" b="1" spc="3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100" b="1" spc="359" dirty="0">
                <a:solidFill>
                  <a:srgbClr val="7F7F7F"/>
                </a:solidFill>
                <a:latin typeface="Courier New"/>
                <a:cs typeface="Courier New"/>
              </a:rPr>
              <a:t>   </a:t>
            </a:r>
            <a:r>
              <a:rPr sz="1100" b="1" dirty="0" err="1">
                <a:solidFill>
                  <a:srgbClr val="000000"/>
                </a:solidFill>
                <a:latin typeface="Courier New"/>
                <a:cs typeface="Courier New"/>
              </a:rPr>
              <a:t>turtle.speed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(0)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09770" y="3714864"/>
            <a:ext cx="320676" cy="27365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</a:p>
          <a:p>
            <a:pPr marL="0" marR="0">
              <a:lnSpc>
                <a:spcPts val="1250"/>
              </a:lnSpc>
              <a:spcBef>
                <a:spcPts val="694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14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15</a:t>
            </a:r>
          </a:p>
          <a:p>
            <a:pPr marL="0" marR="0">
              <a:lnSpc>
                <a:spcPts val="1250"/>
              </a:lnSpc>
              <a:spcBef>
                <a:spcPts val="75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16</a:t>
            </a:r>
          </a:p>
          <a:p>
            <a:pPr marL="0" marR="0">
              <a:lnSpc>
                <a:spcPts val="1250"/>
              </a:lnSpc>
              <a:spcBef>
                <a:spcPts val="691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17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18</a:t>
            </a:r>
          </a:p>
          <a:p>
            <a:pPr marL="0" marR="0">
              <a:lnSpc>
                <a:spcPts val="1250"/>
              </a:lnSpc>
              <a:spcBef>
                <a:spcPts val="75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19</a:t>
            </a:r>
          </a:p>
          <a:p>
            <a:pPr marL="0" marR="0">
              <a:lnSpc>
                <a:spcPts val="1250"/>
              </a:lnSpc>
              <a:spcBef>
                <a:spcPts val="69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20</a:t>
            </a:r>
          </a:p>
          <a:p>
            <a:pPr marL="0" marR="0">
              <a:lnSpc>
                <a:spcPts val="1250"/>
              </a:lnSpc>
              <a:spcBef>
                <a:spcPts val="75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21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22</a:t>
            </a:r>
          </a:p>
          <a:p>
            <a:pPr marL="0" marR="0">
              <a:lnSpc>
                <a:spcPts val="1250"/>
              </a:lnSpc>
              <a:spcBef>
                <a:spcPts val="691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23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42229" y="3714864"/>
            <a:ext cx="1330770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turtle.penup()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142229" y="3968229"/>
            <a:ext cx="2004759" cy="958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turtle.goto(-200, 100)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turtle.pendown()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turtle.pensize(2)</a:t>
            </a:r>
          </a:p>
          <a:p>
            <a:pPr marL="0" marR="0">
              <a:lnSpc>
                <a:spcPts val="1250"/>
              </a:lnSpc>
              <a:spcBef>
                <a:spcPts val="741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level =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142229" y="4984737"/>
            <a:ext cx="1751774" cy="14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koch(400,level)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turtle.right(120)</a:t>
            </a:r>
          </a:p>
          <a:p>
            <a:pPr marL="0" marR="0">
              <a:lnSpc>
                <a:spcPts val="1250"/>
              </a:lnSpc>
              <a:spcBef>
                <a:spcPts val="69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koch(400,level)</a:t>
            </a:r>
          </a:p>
          <a:p>
            <a:pPr marL="0" marR="0">
              <a:lnSpc>
                <a:spcPts val="1250"/>
              </a:lnSpc>
              <a:spcBef>
                <a:spcPts val="75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turtle.right(120)</a:t>
            </a:r>
          </a:p>
          <a:p>
            <a:pPr marL="0" marR="0">
              <a:lnSpc>
                <a:spcPts val="1250"/>
              </a:lnSpc>
              <a:spcBef>
                <a:spcPts val="703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koch(400,level)</a:t>
            </a:r>
          </a:p>
          <a:p>
            <a:pPr marL="0" marR="0">
              <a:lnSpc>
                <a:spcPts val="1250"/>
              </a:lnSpc>
              <a:spcBef>
                <a:spcPts val="691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turtle.hideturtle()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509770" y="6509015"/>
            <a:ext cx="95281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7F7F7F"/>
                </a:solidFill>
                <a:latin typeface="Courier New"/>
                <a:cs typeface="Courier New"/>
              </a:rPr>
              <a:t>24</a:t>
            </a:r>
            <a:r>
              <a:rPr sz="1100" b="1" spc="35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main()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20189" y="2788949"/>
            <a:ext cx="521576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Python内置函数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9006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Python内置函数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665" y="1730571"/>
            <a:ext cx="805398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解释器提供了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68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个内置函数</a:t>
            </a:r>
            <a:endParaRPr sz="2400" spc="23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2422" y="2943730"/>
            <a:ext cx="610986" cy="462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abs()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all()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32888" y="2931792"/>
            <a:ext cx="795238" cy="76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id()</a:t>
            </a:r>
          </a:p>
          <a:p>
            <a:pPr marL="0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input()</a:t>
            </a:r>
          </a:p>
          <a:p>
            <a:pPr marL="91439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int()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09390" y="2931792"/>
            <a:ext cx="795301" cy="462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round()</a:t>
            </a:r>
          </a:p>
          <a:p>
            <a:pPr marL="91439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set()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00370" y="2931792"/>
            <a:ext cx="979616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compile()</a:t>
            </a:r>
          </a:p>
          <a:p>
            <a:pPr marL="184403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dir()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3242" y="2931792"/>
            <a:ext cx="886924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locals()</a:t>
            </a:r>
          </a:p>
          <a:p>
            <a:pPr marL="138683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map()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2422" y="3492369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any()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63670" y="3481066"/>
            <a:ext cx="886678" cy="462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sorted()</a:t>
            </a:r>
          </a:p>
          <a:p>
            <a:pPr marL="13715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str()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39053" y="3481066"/>
            <a:ext cx="70242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exec()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58838" y="3492369"/>
            <a:ext cx="1255181" cy="473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memoryview()</a:t>
            </a:r>
          </a:p>
          <a:p>
            <a:pPr marL="277368" marR="0">
              <a:lnSpc>
                <a:spcPts val="1359"/>
              </a:lnSpc>
              <a:spcBef>
                <a:spcPts val="66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next()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06322" y="3766690"/>
            <a:ext cx="702426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asci()</a:t>
            </a:r>
          </a:p>
          <a:p>
            <a:pPr marL="4610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bin()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624327" y="3755387"/>
            <a:ext cx="610986" cy="180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len()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08929" y="3755387"/>
            <a:ext cx="1163741" cy="2131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enumerate()</a:t>
            </a:r>
          </a:p>
          <a:p>
            <a:pPr marL="138684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filter()</a:t>
            </a:r>
          </a:p>
          <a:p>
            <a:pPr marL="13868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format()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frozenset()</a:t>
            </a:r>
          </a:p>
          <a:p>
            <a:pPr marL="9144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getattr()</a:t>
            </a:r>
          </a:p>
          <a:p>
            <a:pPr marL="9144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globals()</a:t>
            </a:r>
          </a:p>
          <a:p>
            <a:pPr marL="91440" marR="0">
              <a:lnSpc>
                <a:spcPts val="1362"/>
              </a:lnSpc>
              <a:spcBef>
                <a:spcPts val="7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hasattr()</a:t>
            </a:r>
          </a:p>
          <a:p>
            <a:pPr marL="230123" marR="0">
              <a:lnSpc>
                <a:spcPts val="1359"/>
              </a:lnSpc>
              <a:spcBef>
                <a:spcPts val="80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help()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78607" y="4029706"/>
            <a:ext cx="702426" cy="462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list()</a:t>
            </a:r>
          </a:p>
          <a:p>
            <a:pPr marL="4572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max()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09390" y="4029706"/>
            <a:ext cx="795238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tuple()</a:t>
            </a:r>
          </a:p>
          <a:p>
            <a:pPr marL="4571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type()</a:t>
            </a:r>
          </a:p>
          <a:p>
            <a:pPr marL="91439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zip()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051802" y="4029706"/>
            <a:ext cx="1071239" cy="7709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object()</a:t>
            </a:r>
          </a:p>
          <a:p>
            <a:pPr marL="0" marR="0">
              <a:lnSpc>
                <a:spcPts val="1362"/>
              </a:lnSpc>
              <a:spcBef>
                <a:spcPts val="837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property()</a:t>
            </a:r>
          </a:p>
          <a:p>
            <a:pPr marL="184404" marR="0">
              <a:lnSpc>
                <a:spcPts val="1359"/>
              </a:lnSpc>
              <a:spcBef>
                <a:spcPts val="80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repr()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06322" y="4315076"/>
            <a:ext cx="702915" cy="462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bool()</a:t>
            </a:r>
          </a:p>
          <a:p>
            <a:pPr marL="46100" marR="0">
              <a:lnSpc>
                <a:spcPts val="1359"/>
              </a:lnSpc>
              <a:spcBef>
                <a:spcPts val="75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chr()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24327" y="4578346"/>
            <a:ext cx="610986" cy="180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min()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67688" y="4864224"/>
            <a:ext cx="979489" cy="1856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complex()</a:t>
            </a:r>
          </a:p>
          <a:p>
            <a:pPr marL="13863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dict()</a:t>
            </a:r>
          </a:p>
          <a:p>
            <a:pPr marL="4724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divmod()</a:t>
            </a:r>
          </a:p>
          <a:p>
            <a:pPr marL="13863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eval()</a:t>
            </a:r>
          </a:p>
          <a:p>
            <a:pPr marL="92963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float()</a:t>
            </a:r>
          </a:p>
          <a:p>
            <a:pPr marL="138633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hash()</a:t>
            </a:r>
          </a:p>
          <a:p>
            <a:pPr marL="184734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hex()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24327" y="485266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oct()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097521" y="4864224"/>
            <a:ext cx="979489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setattr()</a:t>
            </a:r>
          </a:p>
          <a:p>
            <a:pPr marL="9144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slice()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578607" y="5126987"/>
            <a:ext cx="702426" cy="450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open()</a:t>
            </a:r>
          </a:p>
          <a:p>
            <a:pPr marL="45720" marR="0">
              <a:lnSpc>
                <a:spcPts val="1362"/>
              </a:lnSpc>
              <a:spcBef>
                <a:spcPts val="7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ord()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916426" y="5412864"/>
            <a:ext cx="979489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964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bytes()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delattr()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867397" y="5412864"/>
            <a:ext cx="1439433" cy="462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staticmethod()</a:t>
            </a:r>
          </a:p>
          <a:p>
            <a:pPr marL="414528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sum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624327" y="5675906"/>
            <a:ext cx="610986" cy="180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pow()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394204" y="5950226"/>
            <a:ext cx="1070929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683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print()</a:t>
            </a:r>
          </a:p>
          <a:p>
            <a:pPr marL="13868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range()</a:t>
            </a:r>
          </a:p>
          <a:p>
            <a:pPr marL="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reversed()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733546" y="5961503"/>
            <a:ext cx="1346621" cy="748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39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bytearray()</a:t>
            </a:r>
          </a:p>
          <a:p>
            <a:pPr marL="13715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callable()</a:t>
            </a:r>
          </a:p>
          <a:p>
            <a:pPr marL="0" marR="0">
              <a:lnSpc>
                <a:spcPts val="1359"/>
              </a:lnSpc>
              <a:spcBef>
                <a:spcPts val="71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classmethod()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363209" y="5950226"/>
            <a:ext cx="1255181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isinstance()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issubclass()</a:t>
            </a:r>
          </a:p>
          <a:p>
            <a:pPr marL="27584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iter()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188961" y="5961503"/>
            <a:ext cx="79523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super()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236206" y="6235824"/>
            <a:ext cx="70242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vars()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958838" y="6510143"/>
            <a:ext cx="1255181" cy="180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__</a:t>
            </a:r>
            <a:r>
              <a:rPr sz="1200" dirty="0">
                <a:solidFill>
                  <a:srgbClr val="000000"/>
                </a:solidFill>
                <a:highlight>
                  <a:srgbClr val="FF0000"/>
                </a:highlight>
                <a:latin typeface="Courier New"/>
                <a:cs typeface="Courier New"/>
              </a:rPr>
              <a:t>import()__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DBAA176-015E-4E54-AF29-1073B09CEC51}"/>
              </a:ext>
            </a:extLst>
          </p:cNvPr>
          <p:cNvCxnSpPr/>
          <p:nvPr/>
        </p:nvCxnSpPr>
        <p:spPr>
          <a:xfrm flipH="1" flipV="1">
            <a:off x="1296140" y="3426781"/>
            <a:ext cx="10182" cy="2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05E4CDF-86DC-474F-B800-7F63FD95C419}"/>
              </a:ext>
            </a:extLst>
          </p:cNvPr>
          <p:cNvCxnSpPr/>
          <p:nvPr/>
        </p:nvCxnSpPr>
        <p:spPr>
          <a:xfrm>
            <a:off x="2483768" y="31409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7C5787FD-947F-4DB9-8D3A-967E60B99657}"/>
              </a:ext>
            </a:extLst>
          </p:cNvPr>
          <p:cNvCxnSpPr/>
          <p:nvPr/>
        </p:nvCxnSpPr>
        <p:spPr>
          <a:xfrm>
            <a:off x="1259632" y="31409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377AE0B-1754-43B8-8873-F9FB1756CA86}"/>
              </a:ext>
            </a:extLst>
          </p:cNvPr>
          <p:cNvCxnSpPr/>
          <p:nvPr/>
        </p:nvCxnSpPr>
        <p:spPr>
          <a:xfrm>
            <a:off x="3923928" y="342900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F10EC46-F7A5-40C9-9C43-93D81943C43D}"/>
              </a:ext>
            </a:extLst>
          </p:cNvPr>
          <p:cNvCxnSpPr/>
          <p:nvPr/>
        </p:nvCxnSpPr>
        <p:spPr>
          <a:xfrm>
            <a:off x="3923928" y="31409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95408D1-E2C6-48EC-A9E7-8F635E54C20F}"/>
              </a:ext>
            </a:extLst>
          </p:cNvPr>
          <p:cNvCxnSpPr/>
          <p:nvPr/>
        </p:nvCxnSpPr>
        <p:spPr>
          <a:xfrm>
            <a:off x="5621399" y="249289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0CD7001-680C-4412-85D9-CC8961E4E7F6}"/>
              </a:ext>
            </a:extLst>
          </p:cNvPr>
          <p:cNvCxnSpPr/>
          <p:nvPr/>
        </p:nvCxnSpPr>
        <p:spPr>
          <a:xfrm>
            <a:off x="5621399" y="270892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0F72951-AB50-4EC8-A54E-2B5636061C8E}"/>
              </a:ext>
            </a:extLst>
          </p:cNvPr>
          <p:cNvCxnSpPr/>
          <p:nvPr/>
        </p:nvCxnSpPr>
        <p:spPr>
          <a:xfrm>
            <a:off x="-828600" y="3394739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434F4E9-3ACC-4902-ABEA-04957520BF71}"/>
              </a:ext>
            </a:extLst>
          </p:cNvPr>
          <p:cNvCxnSpPr/>
          <p:nvPr/>
        </p:nvCxnSpPr>
        <p:spPr>
          <a:xfrm>
            <a:off x="2483768" y="3645024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B880C91-4B7D-4FCD-9569-C79341274F32}"/>
              </a:ext>
            </a:extLst>
          </p:cNvPr>
          <p:cNvCxnSpPr/>
          <p:nvPr/>
        </p:nvCxnSpPr>
        <p:spPr>
          <a:xfrm>
            <a:off x="3923928" y="422108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25C66E9-6BF1-4DCB-81D4-582F018730FF}"/>
              </a:ext>
            </a:extLst>
          </p:cNvPr>
          <p:cNvCxnSpPr/>
          <p:nvPr/>
        </p:nvCxnSpPr>
        <p:spPr>
          <a:xfrm>
            <a:off x="3923928" y="45125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3E86400-AFD3-4E2A-BA90-5FE11569F207}"/>
              </a:ext>
            </a:extLst>
          </p:cNvPr>
          <p:cNvCxnSpPr/>
          <p:nvPr/>
        </p:nvCxnSpPr>
        <p:spPr>
          <a:xfrm>
            <a:off x="-684584" y="270892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1E461A8-53A0-4683-9C64-30433D392952}"/>
              </a:ext>
            </a:extLst>
          </p:cNvPr>
          <p:cNvCxnSpPr/>
          <p:nvPr/>
        </p:nvCxnSpPr>
        <p:spPr>
          <a:xfrm>
            <a:off x="3923928" y="481251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90D24BB4-BB46-41E7-8AB3-DBD5A5235ABF}"/>
              </a:ext>
            </a:extLst>
          </p:cNvPr>
          <p:cNvCxnSpPr/>
          <p:nvPr/>
        </p:nvCxnSpPr>
        <p:spPr>
          <a:xfrm>
            <a:off x="2483768" y="422108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E03EB6E-8B2E-4CFA-8632-ADE7FD6D6FA1}"/>
              </a:ext>
            </a:extLst>
          </p:cNvPr>
          <p:cNvCxnSpPr/>
          <p:nvPr/>
        </p:nvCxnSpPr>
        <p:spPr>
          <a:xfrm>
            <a:off x="1259632" y="479715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34C806E-6DDC-473F-B7F3-B1E63BF67C08}"/>
              </a:ext>
            </a:extLst>
          </p:cNvPr>
          <p:cNvCxnSpPr/>
          <p:nvPr/>
        </p:nvCxnSpPr>
        <p:spPr>
          <a:xfrm>
            <a:off x="1259632" y="5085184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63A6FF2-1E0E-4E1F-802C-2E31480FBDC3}"/>
              </a:ext>
            </a:extLst>
          </p:cNvPr>
          <p:cNvCxnSpPr/>
          <p:nvPr/>
        </p:nvCxnSpPr>
        <p:spPr>
          <a:xfrm>
            <a:off x="2478832" y="4503443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812687D5-E63A-4C0B-81B1-A6C5CF785CCC}"/>
              </a:ext>
            </a:extLst>
          </p:cNvPr>
          <p:cNvCxnSpPr/>
          <p:nvPr/>
        </p:nvCxnSpPr>
        <p:spPr>
          <a:xfrm>
            <a:off x="1288668" y="345809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C3EE580-1F1A-4AD4-98B1-676548A55BF7}"/>
              </a:ext>
            </a:extLst>
          </p:cNvPr>
          <p:cNvCxnSpPr/>
          <p:nvPr/>
        </p:nvCxnSpPr>
        <p:spPr>
          <a:xfrm>
            <a:off x="1306322" y="3703109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7B5BBCD-EAB6-4DBA-9477-A67500BFBB1F}"/>
              </a:ext>
            </a:extLst>
          </p:cNvPr>
          <p:cNvCxnSpPr/>
          <p:nvPr/>
        </p:nvCxnSpPr>
        <p:spPr>
          <a:xfrm>
            <a:off x="1288668" y="4007264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D69B1B4-BEBF-4D38-9A8B-5CB129BC8A91}"/>
              </a:ext>
            </a:extLst>
          </p:cNvPr>
          <p:cNvCxnSpPr/>
          <p:nvPr/>
        </p:nvCxnSpPr>
        <p:spPr>
          <a:xfrm>
            <a:off x="7143242" y="6697521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9EBDB22-A562-48AF-A983-F64653C1B473}"/>
              </a:ext>
            </a:extLst>
          </p:cNvPr>
          <p:cNvCxnSpPr/>
          <p:nvPr/>
        </p:nvCxnSpPr>
        <p:spPr>
          <a:xfrm>
            <a:off x="7143242" y="5866667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54D101FA-5472-4A95-813F-B90F06965B77}"/>
              </a:ext>
            </a:extLst>
          </p:cNvPr>
          <p:cNvCxnSpPr/>
          <p:nvPr/>
        </p:nvCxnSpPr>
        <p:spPr>
          <a:xfrm>
            <a:off x="5408929" y="6172243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CA59CE3-E08F-496B-89C7-D355BDEF16AA}"/>
              </a:ext>
            </a:extLst>
          </p:cNvPr>
          <p:cNvCxnSpPr/>
          <p:nvPr/>
        </p:nvCxnSpPr>
        <p:spPr>
          <a:xfrm>
            <a:off x="2478832" y="6709605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4F8E32A6-CEC5-497D-B764-336BE1D32478}"/>
              </a:ext>
            </a:extLst>
          </p:cNvPr>
          <p:cNvCxnSpPr/>
          <p:nvPr/>
        </p:nvCxnSpPr>
        <p:spPr>
          <a:xfrm>
            <a:off x="2478832" y="6446564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082FE53-3EC5-4C5D-8DC6-2D2C1AE9A2F8}"/>
              </a:ext>
            </a:extLst>
          </p:cNvPr>
          <p:cNvCxnSpPr/>
          <p:nvPr/>
        </p:nvCxnSpPr>
        <p:spPr>
          <a:xfrm>
            <a:off x="1187624" y="623107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CAC54C5-3C3D-4F15-A048-69BD85BB7ACC}"/>
              </a:ext>
            </a:extLst>
          </p:cNvPr>
          <p:cNvCxnSpPr/>
          <p:nvPr/>
        </p:nvCxnSpPr>
        <p:spPr>
          <a:xfrm>
            <a:off x="1187624" y="562668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C884F212-DA6F-44CD-BDFB-54C46B996774}"/>
              </a:ext>
            </a:extLst>
          </p:cNvPr>
          <p:cNvCxnSpPr/>
          <p:nvPr/>
        </p:nvCxnSpPr>
        <p:spPr>
          <a:xfrm>
            <a:off x="1187624" y="587727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72675355-F2BD-4134-9E36-CE6385C69A71}"/>
              </a:ext>
            </a:extLst>
          </p:cNvPr>
          <p:cNvCxnSpPr/>
          <p:nvPr/>
        </p:nvCxnSpPr>
        <p:spPr>
          <a:xfrm>
            <a:off x="1187624" y="537480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FCE61EB7-1798-4AEE-B7FF-94124036BB37}"/>
              </a:ext>
            </a:extLst>
          </p:cNvPr>
          <p:cNvCxnSpPr/>
          <p:nvPr/>
        </p:nvCxnSpPr>
        <p:spPr>
          <a:xfrm>
            <a:off x="2483768" y="558924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7D5F5EDC-8EF2-41F9-85BD-0BC92BB4415F}"/>
              </a:ext>
            </a:extLst>
          </p:cNvPr>
          <p:cNvCxnSpPr/>
          <p:nvPr/>
        </p:nvCxnSpPr>
        <p:spPr>
          <a:xfrm>
            <a:off x="2483768" y="587727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EB5E1537-CFEA-4FDC-B311-FD420AEAF9E5}"/>
              </a:ext>
            </a:extLst>
          </p:cNvPr>
          <p:cNvCxnSpPr/>
          <p:nvPr/>
        </p:nvCxnSpPr>
        <p:spPr>
          <a:xfrm>
            <a:off x="2478832" y="478908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ABFE5A42-F95B-463E-81DC-AD3B1C2E2FBE}"/>
              </a:ext>
            </a:extLst>
          </p:cNvPr>
          <p:cNvCxnSpPr/>
          <p:nvPr/>
        </p:nvCxnSpPr>
        <p:spPr>
          <a:xfrm>
            <a:off x="1306322" y="425175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35266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9006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Python内置函数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665" y="1730571"/>
            <a:ext cx="805398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解释器提供了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68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个内置函数</a:t>
            </a:r>
            <a:endParaRPr sz="2400" spc="23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2422" y="2943730"/>
            <a:ext cx="610986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abs()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all()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32888" y="2931792"/>
            <a:ext cx="795238" cy="76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id()</a:t>
            </a:r>
          </a:p>
          <a:p>
            <a:pPr marL="0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input()</a:t>
            </a:r>
          </a:p>
          <a:p>
            <a:pPr marL="91439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int()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09390" y="2931792"/>
            <a:ext cx="795301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round()</a:t>
            </a:r>
          </a:p>
          <a:p>
            <a:pPr marL="91439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set()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00370" y="2931792"/>
            <a:ext cx="979616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compile()</a:t>
            </a:r>
          </a:p>
          <a:p>
            <a:pPr marL="184403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dir()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3242" y="2931792"/>
            <a:ext cx="886924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locals()</a:t>
            </a:r>
          </a:p>
          <a:p>
            <a:pPr marL="138683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map()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2422" y="3492369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any()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63670" y="3481066"/>
            <a:ext cx="886678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sorted()</a:t>
            </a:r>
          </a:p>
          <a:p>
            <a:pPr marL="13715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str()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39053" y="3481066"/>
            <a:ext cx="70242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exec()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58838" y="3492369"/>
            <a:ext cx="1255181" cy="473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memoryview()</a:t>
            </a:r>
          </a:p>
          <a:p>
            <a:pPr marL="277368" marR="0">
              <a:lnSpc>
                <a:spcPts val="1359"/>
              </a:lnSpc>
              <a:spcBef>
                <a:spcPts val="66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next()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06322" y="3766690"/>
            <a:ext cx="702426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asci()</a:t>
            </a:r>
          </a:p>
          <a:p>
            <a:pPr marL="4610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bin()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624327" y="3755387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len()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08929" y="3755387"/>
            <a:ext cx="1163741" cy="2131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enumerate()</a:t>
            </a:r>
          </a:p>
          <a:p>
            <a:pPr marL="138684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filter()</a:t>
            </a:r>
          </a:p>
          <a:p>
            <a:pPr marL="13868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format()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frozenset()</a:t>
            </a:r>
          </a:p>
          <a:p>
            <a:pPr marL="9144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getattr()</a:t>
            </a:r>
          </a:p>
          <a:p>
            <a:pPr marL="9144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globals()</a:t>
            </a:r>
          </a:p>
          <a:p>
            <a:pPr marL="91440" marR="0">
              <a:lnSpc>
                <a:spcPts val="1362"/>
              </a:lnSpc>
              <a:spcBef>
                <a:spcPts val="7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hasattr()</a:t>
            </a:r>
          </a:p>
          <a:p>
            <a:pPr marL="230123" marR="0">
              <a:lnSpc>
                <a:spcPts val="1359"/>
              </a:lnSpc>
              <a:spcBef>
                <a:spcPts val="80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help()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78607" y="4029706"/>
            <a:ext cx="702426" cy="4850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list()</a:t>
            </a:r>
          </a:p>
          <a:p>
            <a:pPr marL="4572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max()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09390" y="4029706"/>
            <a:ext cx="795238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tuple()</a:t>
            </a:r>
          </a:p>
          <a:p>
            <a:pPr marL="4571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type()</a:t>
            </a:r>
          </a:p>
          <a:p>
            <a:pPr marL="91439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zip()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051802" y="4029706"/>
            <a:ext cx="1071239" cy="7709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object()</a:t>
            </a:r>
          </a:p>
          <a:p>
            <a:pPr marL="0" marR="0">
              <a:lnSpc>
                <a:spcPts val="1362"/>
              </a:lnSpc>
              <a:spcBef>
                <a:spcPts val="837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property()</a:t>
            </a:r>
          </a:p>
          <a:p>
            <a:pPr marL="184404" marR="0">
              <a:lnSpc>
                <a:spcPts val="1359"/>
              </a:lnSpc>
              <a:spcBef>
                <a:spcPts val="80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repr()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06322" y="4315076"/>
            <a:ext cx="702915" cy="485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bool()</a:t>
            </a:r>
          </a:p>
          <a:p>
            <a:pPr marL="46100" marR="0">
              <a:lnSpc>
                <a:spcPts val="1359"/>
              </a:lnSpc>
              <a:spcBef>
                <a:spcPts val="75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chr()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24327" y="457834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min()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67688" y="4864224"/>
            <a:ext cx="979489" cy="1856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complex()</a:t>
            </a:r>
          </a:p>
          <a:p>
            <a:pPr marL="13863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dict()</a:t>
            </a:r>
          </a:p>
          <a:p>
            <a:pPr marL="4724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divmod()</a:t>
            </a:r>
          </a:p>
          <a:p>
            <a:pPr marL="13863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eval()</a:t>
            </a:r>
          </a:p>
          <a:p>
            <a:pPr marL="92963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float()</a:t>
            </a:r>
          </a:p>
          <a:p>
            <a:pPr marL="138633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hash()</a:t>
            </a:r>
          </a:p>
          <a:p>
            <a:pPr marL="184734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hex()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24327" y="485266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oct()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097521" y="4864224"/>
            <a:ext cx="979489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setattr()</a:t>
            </a:r>
          </a:p>
          <a:p>
            <a:pPr marL="9144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slice()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578607" y="5126987"/>
            <a:ext cx="702426" cy="485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open()</a:t>
            </a:r>
          </a:p>
          <a:p>
            <a:pPr marL="45720" marR="0">
              <a:lnSpc>
                <a:spcPts val="1362"/>
              </a:lnSpc>
              <a:spcBef>
                <a:spcPts val="7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ord()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916426" y="5412864"/>
            <a:ext cx="979489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964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bytes()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delattr()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867397" y="5412864"/>
            <a:ext cx="1439433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staticmethod()</a:t>
            </a:r>
          </a:p>
          <a:p>
            <a:pPr marL="414528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sum()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624327" y="567590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pow()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394204" y="5950226"/>
            <a:ext cx="1070929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683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print()</a:t>
            </a:r>
          </a:p>
          <a:p>
            <a:pPr marL="13868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range()</a:t>
            </a:r>
          </a:p>
          <a:p>
            <a:pPr marL="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reversed()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733546" y="5961503"/>
            <a:ext cx="1346621" cy="748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39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bytearray()</a:t>
            </a:r>
          </a:p>
          <a:p>
            <a:pPr marL="13715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callable()</a:t>
            </a:r>
          </a:p>
          <a:p>
            <a:pPr marL="0" marR="0">
              <a:lnSpc>
                <a:spcPts val="1359"/>
              </a:lnSpc>
              <a:spcBef>
                <a:spcPts val="71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classmethod()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363209" y="5950226"/>
            <a:ext cx="1255181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isinstance()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issubclass()</a:t>
            </a:r>
          </a:p>
          <a:p>
            <a:pPr marL="27584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iter()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188961" y="5961503"/>
            <a:ext cx="79523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super()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236206" y="6235824"/>
            <a:ext cx="70242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vars()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958838" y="6510143"/>
            <a:ext cx="1255181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__import()__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B9E4292-C82B-4405-B744-456ADCB59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504" y="2616895"/>
            <a:ext cx="4285364" cy="3952058"/>
          </a:xfrm>
          <a:prstGeom prst="rect">
            <a:avLst/>
          </a:prstGeom>
        </p:spPr>
      </p:pic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ED544D0-B468-4309-B0D4-59A3908714A1}"/>
              </a:ext>
            </a:extLst>
          </p:cNvPr>
          <p:cNvSpPr/>
          <p:nvPr/>
        </p:nvSpPr>
        <p:spPr>
          <a:xfrm>
            <a:off x="3799643" y="3355759"/>
            <a:ext cx="949910" cy="355107"/>
          </a:xfrm>
          <a:custGeom>
            <a:avLst/>
            <a:gdLst>
              <a:gd name="connsiteX0" fmla="*/ 355107 w 949910"/>
              <a:gd name="connsiteY0" fmla="*/ 292963 h 355107"/>
              <a:gd name="connsiteX1" fmla="*/ 213064 w 949910"/>
              <a:gd name="connsiteY1" fmla="*/ 301841 h 355107"/>
              <a:gd name="connsiteX2" fmla="*/ 133165 w 949910"/>
              <a:gd name="connsiteY2" fmla="*/ 319596 h 355107"/>
              <a:gd name="connsiteX3" fmla="*/ 0 w 949910"/>
              <a:gd name="connsiteY3" fmla="*/ 292963 h 355107"/>
              <a:gd name="connsiteX4" fmla="*/ 62143 w 949910"/>
              <a:gd name="connsiteY4" fmla="*/ 230820 h 355107"/>
              <a:gd name="connsiteX5" fmla="*/ 115409 w 949910"/>
              <a:gd name="connsiteY5" fmla="*/ 195309 h 355107"/>
              <a:gd name="connsiteX6" fmla="*/ 186431 w 949910"/>
              <a:gd name="connsiteY6" fmla="*/ 159798 h 355107"/>
              <a:gd name="connsiteX7" fmla="*/ 266330 w 949910"/>
              <a:gd name="connsiteY7" fmla="*/ 115410 h 355107"/>
              <a:gd name="connsiteX8" fmla="*/ 363984 w 949910"/>
              <a:gd name="connsiteY8" fmla="*/ 106532 h 355107"/>
              <a:gd name="connsiteX9" fmla="*/ 435006 w 949910"/>
              <a:gd name="connsiteY9" fmla="*/ 79899 h 355107"/>
              <a:gd name="connsiteX10" fmla="*/ 488272 w 949910"/>
              <a:gd name="connsiteY10" fmla="*/ 44389 h 355107"/>
              <a:gd name="connsiteX11" fmla="*/ 568171 w 949910"/>
              <a:gd name="connsiteY11" fmla="*/ 0 h 355107"/>
              <a:gd name="connsiteX12" fmla="*/ 692458 w 949910"/>
              <a:gd name="connsiteY12" fmla="*/ 8878 h 355107"/>
              <a:gd name="connsiteX13" fmla="*/ 798990 w 949910"/>
              <a:gd name="connsiteY13" fmla="*/ 71022 h 355107"/>
              <a:gd name="connsiteX14" fmla="*/ 843378 w 949910"/>
              <a:gd name="connsiteY14" fmla="*/ 97655 h 355107"/>
              <a:gd name="connsiteX15" fmla="*/ 905522 w 949910"/>
              <a:gd name="connsiteY15" fmla="*/ 133165 h 355107"/>
              <a:gd name="connsiteX16" fmla="*/ 949910 w 949910"/>
              <a:gd name="connsiteY16" fmla="*/ 195309 h 355107"/>
              <a:gd name="connsiteX17" fmla="*/ 905522 w 949910"/>
              <a:gd name="connsiteY17" fmla="*/ 275208 h 355107"/>
              <a:gd name="connsiteX18" fmla="*/ 843378 w 949910"/>
              <a:gd name="connsiteY18" fmla="*/ 310719 h 355107"/>
              <a:gd name="connsiteX19" fmla="*/ 807868 w 949910"/>
              <a:gd name="connsiteY19" fmla="*/ 328474 h 355107"/>
              <a:gd name="connsiteX20" fmla="*/ 772357 w 949910"/>
              <a:gd name="connsiteY20" fmla="*/ 337352 h 355107"/>
              <a:gd name="connsiteX21" fmla="*/ 719091 w 949910"/>
              <a:gd name="connsiteY21" fmla="*/ 355107 h 355107"/>
              <a:gd name="connsiteX22" fmla="*/ 355107 w 949910"/>
              <a:gd name="connsiteY22" fmla="*/ 292963 h 355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49910" h="355107">
                <a:moveTo>
                  <a:pt x="355107" y="292963"/>
                </a:moveTo>
                <a:cubicBezTo>
                  <a:pt x="307759" y="295922"/>
                  <a:pt x="260166" y="296189"/>
                  <a:pt x="213064" y="301841"/>
                </a:cubicBezTo>
                <a:cubicBezTo>
                  <a:pt x="185976" y="305092"/>
                  <a:pt x="160424" y="320732"/>
                  <a:pt x="133165" y="319596"/>
                </a:cubicBezTo>
                <a:cubicBezTo>
                  <a:pt x="87937" y="317711"/>
                  <a:pt x="44388" y="301841"/>
                  <a:pt x="0" y="292963"/>
                </a:cubicBezTo>
                <a:cubicBezTo>
                  <a:pt x="163190" y="211368"/>
                  <a:pt x="-12403" y="316016"/>
                  <a:pt x="62143" y="230820"/>
                </a:cubicBezTo>
                <a:cubicBezTo>
                  <a:pt x="76195" y="214760"/>
                  <a:pt x="96881" y="205896"/>
                  <a:pt x="115409" y="195309"/>
                </a:cubicBezTo>
                <a:cubicBezTo>
                  <a:pt x="138390" y="182177"/>
                  <a:pt x="163293" y="172652"/>
                  <a:pt x="186431" y="159798"/>
                </a:cubicBezTo>
                <a:cubicBezTo>
                  <a:pt x="213064" y="145002"/>
                  <a:pt x="237148" y="124165"/>
                  <a:pt x="266330" y="115410"/>
                </a:cubicBezTo>
                <a:cubicBezTo>
                  <a:pt x="297637" y="106018"/>
                  <a:pt x="331433" y="109491"/>
                  <a:pt x="363984" y="106532"/>
                </a:cubicBezTo>
                <a:cubicBezTo>
                  <a:pt x="387658" y="97654"/>
                  <a:pt x="412391" y="91206"/>
                  <a:pt x="435006" y="79899"/>
                </a:cubicBezTo>
                <a:cubicBezTo>
                  <a:pt x="454092" y="70356"/>
                  <a:pt x="469974" y="55368"/>
                  <a:pt x="488272" y="44389"/>
                </a:cubicBezTo>
                <a:cubicBezTo>
                  <a:pt x="514397" y="28714"/>
                  <a:pt x="541538" y="14796"/>
                  <a:pt x="568171" y="0"/>
                </a:cubicBezTo>
                <a:cubicBezTo>
                  <a:pt x="609600" y="2959"/>
                  <a:pt x="652760" y="-3337"/>
                  <a:pt x="692458" y="8878"/>
                </a:cubicBezTo>
                <a:cubicBezTo>
                  <a:pt x="731751" y="20968"/>
                  <a:pt x="763555" y="50178"/>
                  <a:pt x="798990" y="71022"/>
                </a:cubicBezTo>
                <a:cubicBezTo>
                  <a:pt x="813863" y="79771"/>
                  <a:pt x="831177" y="85454"/>
                  <a:pt x="843378" y="97655"/>
                </a:cubicBezTo>
                <a:cubicBezTo>
                  <a:pt x="878639" y="132916"/>
                  <a:pt x="857831" y="121243"/>
                  <a:pt x="905522" y="133165"/>
                </a:cubicBezTo>
                <a:cubicBezTo>
                  <a:pt x="947650" y="175293"/>
                  <a:pt x="935740" y="152795"/>
                  <a:pt x="949910" y="195309"/>
                </a:cubicBezTo>
                <a:cubicBezTo>
                  <a:pt x="935114" y="221942"/>
                  <a:pt x="923802" y="250834"/>
                  <a:pt x="905522" y="275208"/>
                </a:cubicBezTo>
                <a:cubicBezTo>
                  <a:pt x="883479" y="304599"/>
                  <a:pt x="870795" y="298969"/>
                  <a:pt x="843378" y="310719"/>
                </a:cubicBezTo>
                <a:cubicBezTo>
                  <a:pt x="831214" y="315932"/>
                  <a:pt x="820259" y="323827"/>
                  <a:pt x="807868" y="328474"/>
                </a:cubicBezTo>
                <a:cubicBezTo>
                  <a:pt x="796444" y="332758"/>
                  <a:pt x="784044" y="333846"/>
                  <a:pt x="772357" y="337352"/>
                </a:cubicBezTo>
                <a:cubicBezTo>
                  <a:pt x="754431" y="342730"/>
                  <a:pt x="736846" y="349189"/>
                  <a:pt x="719091" y="355107"/>
                </a:cubicBezTo>
                <a:lnTo>
                  <a:pt x="355107" y="292963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01674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2461</TotalTime>
  <Words>3823</Words>
  <Application>Microsoft Office PowerPoint</Application>
  <PresentationFormat>全屏显示(4:3)</PresentationFormat>
  <Paragraphs>868</Paragraphs>
  <Slides>72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2" baseType="lpstr">
      <vt:lpstr>微软雅黑</vt:lpstr>
      <vt:lpstr>FDCGMS+Symbol</vt:lpstr>
      <vt:lpstr>Calibri</vt:lpstr>
      <vt:lpstr>SimHei</vt:lpstr>
      <vt:lpstr>Wingdings</vt:lpstr>
      <vt:lpstr>Courier New</vt:lpstr>
      <vt:lpstr>SimSun</vt:lpstr>
      <vt:lpstr>Palatino Linotype</vt:lpstr>
      <vt:lpstr>Times New Roman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hongwei</dc:creator>
  <cp:lastModifiedBy>Administrator</cp:lastModifiedBy>
  <cp:revision>43</cp:revision>
  <dcterms:modified xsi:type="dcterms:W3CDTF">2024-11-25T11:42:01Z</dcterms:modified>
</cp:coreProperties>
</file>