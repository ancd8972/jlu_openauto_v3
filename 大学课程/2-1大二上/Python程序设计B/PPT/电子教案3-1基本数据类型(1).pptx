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75"/>
    </p:embeddedFont>
    <p:embeddedFont>
      <p:font typeface="微软雅黑" panose="020B0503020204020204" pitchFamily="34" charset="-122"/>
      <p:regular r:id="rId76"/>
      <p:bold r:id="rId77"/>
    </p:embeddedFont>
    <p:embeddedFont>
      <p:font typeface="微软雅黑" panose="020B0503020204020204" pitchFamily="34" charset="-122"/>
      <p:regular r:id="rId76"/>
      <p:bold r:id="rId77"/>
    </p:embeddedFont>
    <p:embeddedFont>
      <p:font typeface="Palatino Linotype" panose="02040502050505030304" pitchFamily="18" charset="0"/>
      <p:regular r:id="rId78"/>
      <p:bold r:id="rId79"/>
      <p:italic r:id="rId80"/>
      <p:boldItalic r:id="rId8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210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2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10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04364" y="2450457"/>
            <a:ext cx="5486780" cy="8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47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3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基本数据类型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9473" y="2829774"/>
            <a:ext cx="2896819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数字类型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4906034" cy="1360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Python语言包括三种数字类型</a:t>
            </a:r>
          </a:p>
          <a:p>
            <a:pPr marL="457225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整数类型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6242" y="3717993"/>
            <a:ext cx="2194255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浮点数类型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36242" y="4571110"/>
            <a:ext cx="1839320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复数类型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整数类型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7714484" cy="1423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与数学中的整数概念一致，没有取值范围限制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[-∞,∞],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实际取值范围受限于计算机内存。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pow(x, y)函数：计算x</a:t>
            </a:r>
            <a:r>
              <a:rPr sz="2800" baseline="29999" dirty="0">
                <a:solidFill>
                  <a:srgbClr val="000000"/>
                </a:solidFill>
                <a:latin typeface="Microsoft YaHei"/>
                <a:cs typeface="Microsoft YaHei"/>
              </a:rPr>
              <a:t>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3717993"/>
            <a:ext cx="2071013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打开IDLE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36242" y="4411090"/>
            <a:ext cx="5456633" cy="1147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程序1：pow(2,10)</a:t>
            </a:r>
            <a:r>
              <a:rPr sz="28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, pow(2,15)</a:t>
            </a:r>
          </a:p>
          <a:p>
            <a:pPr marL="0" marR="0">
              <a:lnSpc>
                <a:spcPts val="3690"/>
              </a:lnSpc>
              <a:spcBef>
                <a:spcPts val="1302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程序2：pow(2, 1000)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36242" y="5691928"/>
            <a:ext cx="4849980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程序3：pow(2, pow(2,15))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整数类型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02985"/>
            <a:ext cx="1319809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示例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6242" y="2696405"/>
            <a:ext cx="293187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1010,</a:t>
            </a:r>
            <a:r>
              <a:rPr sz="2800" spc="-2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99,</a:t>
            </a:r>
            <a:r>
              <a:rPr sz="2800" spc="-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-217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36242" y="3336739"/>
            <a:ext cx="7311595" cy="1786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0x9a, -0X89</a:t>
            </a:r>
            <a:r>
              <a:rPr sz="2800" spc="16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(0x,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0X开头表示16进制数)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0b010,</a:t>
            </a:r>
            <a:r>
              <a:rPr sz="2800" spc="-2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-0B101</a:t>
            </a:r>
            <a:r>
              <a:rPr sz="2800" spc="80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(0b,</a:t>
            </a:r>
            <a:r>
              <a:rPr sz="28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0B开头表示2进制数)</a:t>
            </a:r>
          </a:p>
          <a:p>
            <a:pPr marL="0" marR="0">
              <a:lnSpc>
                <a:spcPts val="3693"/>
              </a:lnSpc>
              <a:spcBef>
                <a:spcPts val="139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0o123,</a:t>
            </a:r>
            <a:r>
              <a:rPr sz="2800" spc="-4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-0O456</a:t>
            </a:r>
            <a:r>
              <a:rPr sz="2800" spc="8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(0o,</a:t>
            </a:r>
            <a:r>
              <a:rPr sz="28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0O开头表示8进制数)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浮点数类型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451563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带有小数点及小数的数字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2863976"/>
            <a:ext cx="7039178" cy="221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139" dirty="0">
                <a:solidFill>
                  <a:srgbClr val="000000"/>
                </a:solidFill>
                <a:latin typeface="Microsoft YaHei"/>
                <a:cs typeface="Microsoft YaHei"/>
              </a:rPr>
              <a:t>语言中浮点数的数值范围存在限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spc="56" dirty="0">
                <a:solidFill>
                  <a:srgbClr val="000000"/>
                </a:solidFill>
                <a:latin typeface="Microsoft YaHei"/>
                <a:cs typeface="Microsoft YaHei"/>
              </a:rPr>
              <a:t>制，小数精度也存在限制。这种限制与在不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同计算机系统有关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浮点数类型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579172"/>
            <a:ext cx="8352928" cy="336199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544" y="4941168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取值范围</a:t>
            </a:r>
            <a:r>
              <a:rPr lang="en-US" altLang="zh-CN" sz="2800" dirty="0"/>
              <a:t>[-2.225*10</a:t>
            </a:r>
            <a:r>
              <a:rPr lang="en-US" altLang="zh-CN" sz="2800" baseline="30000" dirty="0"/>
              <a:t>308</a:t>
            </a:r>
            <a:r>
              <a:rPr lang="en-US" altLang="zh-CN" sz="2800" dirty="0"/>
              <a:t>,1.797*10</a:t>
            </a:r>
            <a:r>
              <a:rPr lang="en-US" altLang="zh-CN" sz="2800" baseline="30000" dirty="0"/>
              <a:t>308</a:t>
            </a:r>
            <a:r>
              <a:rPr lang="en-US" altLang="zh-CN" sz="2800" dirty="0"/>
              <a:t>]</a:t>
            </a:r>
            <a:endParaRPr lang="zh-CN" altLang="en-US" sz="2800" dirty="0"/>
          </a:p>
        </p:txBody>
      </p:sp>
      <p:cxnSp>
        <p:nvCxnSpPr>
          <p:cNvPr id="8" name="直接箭头连接符 7"/>
          <p:cNvCxnSpPr>
            <a:endCxn id="13" idx="2"/>
          </p:cNvCxnSpPr>
          <p:nvPr/>
        </p:nvCxnSpPr>
        <p:spPr>
          <a:xfrm flipH="1" flipV="1">
            <a:off x="647564" y="4221088"/>
            <a:ext cx="1332148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2447256" y="3717032"/>
            <a:ext cx="828600" cy="122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23051" y="3738803"/>
            <a:ext cx="288709" cy="19425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7544" y="4005064"/>
            <a:ext cx="360040" cy="21602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092280" y="4005064"/>
            <a:ext cx="360040" cy="21602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31640" y="4149080"/>
            <a:ext cx="792088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67544" y="5435932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运算精度</a:t>
            </a:r>
            <a:r>
              <a:rPr lang="en-US" altLang="zh-CN" sz="2800" dirty="0"/>
              <a:t>2.220*10</a:t>
            </a:r>
            <a:r>
              <a:rPr lang="en-US" altLang="zh-CN" sz="2800" baseline="30000" dirty="0"/>
              <a:t>-16</a:t>
            </a:r>
            <a:endParaRPr lang="zh-CN" altLang="en-US" sz="2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67544" y="6002124"/>
            <a:ext cx="856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采用整数而不直接采用浮点数可以获得更高运算精度</a:t>
            </a:r>
            <a:endParaRPr lang="en-US" altLang="zh-CN" sz="2800" dirty="0"/>
          </a:p>
          <a:p>
            <a:r>
              <a:rPr lang="en-US" altLang="zh-CN" sz="2800" dirty="0"/>
              <a:t>Import decimal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浮点数类型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02985"/>
            <a:ext cx="1319809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示例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6242" y="2696405"/>
            <a:ext cx="2926161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0.0,</a:t>
            </a:r>
            <a:r>
              <a:rPr sz="28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-77.,</a:t>
            </a:r>
            <a:r>
              <a:rPr sz="28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-2.17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36242" y="3336739"/>
            <a:ext cx="7659242" cy="242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96e4,</a:t>
            </a:r>
            <a:r>
              <a:rPr sz="2800" spc="-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4.3e-3,</a:t>
            </a:r>
            <a:r>
              <a:rPr sz="28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9.6E5</a:t>
            </a:r>
            <a:r>
              <a:rPr sz="2800" spc="8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（科学计数法）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39" dirty="0">
                <a:solidFill>
                  <a:srgbClr val="000000"/>
                </a:solidFill>
                <a:latin typeface="Microsoft YaHei"/>
                <a:cs typeface="Microsoft YaHei"/>
              </a:rPr>
              <a:t>科学计数法使用字母“</a:t>
            </a:r>
            <a:r>
              <a:rPr sz="2800" spc="140" dirty="0">
                <a:solidFill>
                  <a:srgbClr val="000000"/>
                </a:solidFill>
                <a:latin typeface="Microsoft YaHei"/>
                <a:cs typeface="Microsoft YaHei"/>
              </a:rPr>
              <a:t>e</a:t>
            </a:r>
            <a:r>
              <a:rPr sz="2800" spc="139" dirty="0">
                <a:solidFill>
                  <a:srgbClr val="000000"/>
                </a:solidFill>
                <a:latin typeface="Microsoft YaHei"/>
                <a:cs typeface="Microsoft YaHei"/>
              </a:rPr>
              <a:t>”或者“</a:t>
            </a:r>
            <a:r>
              <a:rPr sz="2800" spc="142" dirty="0">
                <a:solidFill>
                  <a:srgbClr val="000000"/>
                </a:solidFill>
                <a:latin typeface="Microsoft YaHei"/>
                <a:cs typeface="Microsoft YaHei"/>
              </a:rPr>
              <a:t>E</a:t>
            </a:r>
            <a:r>
              <a:rPr sz="2800" spc="139" dirty="0">
                <a:solidFill>
                  <a:srgbClr val="000000"/>
                </a:solidFill>
                <a:latin typeface="Microsoft YaHei"/>
                <a:cs typeface="Microsoft YaHei"/>
              </a:rPr>
              <a:t>”作为幂</a:t>
            </a:r>
          </a:p>
          <a:p>
            <a:pPr marL="228600" marR="0">
              <a:lnSpc>
                <a:spcPts val="3693"/>
              </a:lnSpc>
              <a:spcBef>
                <a:spcPts val="139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的符号，以10为基数。科学计数法含义如下：</a:t>
            </a:r>
          </a:p>
          <a:p>
            <a:pPr marL="1152398" marR="0">
              <a:lnSpc>
                <a:spcPts val="3690"/>
              </a:lnSpc>
              <a:spcBef>
                <a:spcPts val="13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&lt;a&gt;e&lt;b&gt; = a * 10</a:t>
            </a:r>
            <a:r>
              <a:rPr sz="2800" baseline="30014" dirty="0">
                <a:solidFill>
                  <a:srgbClr val="000000"/>
                </a:solidFill>
                <a:latin typeface="Microsoft YaHei"/>
                <a:cs typeface="Microsoft YaHei"/>
              </a:rPr>
              <a:t>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复数类型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7493" y="1991936"/>
            <a:ext cx="7973212" cy="1787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与数学中的复数概念一致,</a:t>
            </a:r>
            <a:r>
              <a:rPr sz="2800" spc="33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z</a:t>
            </a:r>
            <a:r>
              <a:rPr sz="2800" spc="33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800" spc="33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a</a:t>
            </a:r>
            <a:r>
              <a:rPr sz="2800" spc="3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  <a:r>
              <a:rPr sz="2800" spc="3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Microsoft YaHei"/>
                <a:cs typeface="Microsoft YaHei"/>
              </a:rPr>
              <a:t>b</a:t>
            </a:r>
            <a:r>
              <a:rPr sz="2800" dirty="0">
                <a:solidFill>
                  <a:srgbClr val="C00000"/>
                </a:solidFill>
                <a:latin typeface="Microsoft YaHei"/>
                <a:cs typeface="Microsoft YaHei"/>
              </a:rPr>
              <a:t>j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800" spc="4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a是实</a:t>
            </a:r>
          </a:p>
          <a:p>
            <a:pPr marL="0" marR="0">
              <a:lnSpc>
                <a:spcPts val="3690"/>
              </a:lnSpc>
              <a:spcBef>
                <a:spcPts val="1302"/>
              </a:spcBef>
              <a:spcAft>
                <a:spcPts val="0"/>
              </a:spcAft>
            </a:pP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数部分，</a:t>
            </a:r>
            <a:r>
              <a:rPr sz="2800" spc="23" dirty="0">
                <a:solidFill>
                  <a:srgbClr val="000000"/>
                </a:solidFill>
                <a:latin typeface="Microsoft YaHei"/>
                <a:cs typeface="Microsoft YaHei"/>
              </a:rPr>
              <a:t>b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是虚数部分，</a:t>
            </a:r>
            <a:r>
              <a:rPr sz="2800" spc="23" dirty="0">
                <a:solidFill>
                  <a:srgbClr val="000000"/>
                </a:solidFill>
                <a:latin typeface="Microsoft YaHei"/>
                <a:cs typeface="Microsoft YaHei"/>
              </a:rPr>
              <a:t>a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800" spc="23" dirty="0">
                <a:solidFill>
                  <a:srgbClr val="000000"/>
                </a:solidFill>
                <a:latin typeface="Microsoft YaHei"/>
                <a:cs typeface="Microsoft YaHei"/>
              </a:rPr>
              <a:t>b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都是浮点类型，虚数</a:t>
            </a:r>
          </a:p>
          <a:p>
            <a:pPr marL="0" marR="0">
              <a:lnSpc>
                <a:spcPts val="3690"/>
              </a:lnSpc>
              <a:spcBef>
                <a:spcPts val="139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部分用j或者J标识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7493" y="4072831"/>
            <a:ext cx="1780057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63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示例：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81960" y="4926271"/>
            <a:ext cx="3054830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12.3+4</a:t>
            </a:r>
            <a:r>
              <a:rPr sz="2800" dirty="0">
                <a:solidFill>
                  <a:srgbClr val="C00000"/>
                </a:solidFill>
                <a:latin typeface="Microsoft YaHei"/>
                <a:cs typeface="Microsoft YaHei"/>
              </a:rPr>
              <a:t>j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,</a:t>
            </a:r>
            <a:r>
              <a:rPr sz="2800" spc="164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-5.6+7</a:t>
            </a:r>
            <a:r>
              <a:rPr sz="2800" dirty="0">
                <a:solidFill>
                  <a:srgbClr val="C00000"/>
                </a:solidFill>
                <a:latin typeface="Microsoft YaHei"/>
                <a:cs typeface="Microsoft YaHei"/>
              </a:rPr>
              <a:t>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复数类型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7493" y="2012383"/>
            <a:ext cx="8328304" cy="2213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z</a:t>
            </a:r>
            <a:r>
              <a:rPr sz="2800" spc="57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800" spc="56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1.23e-4+5.6e+89</a:t>
            </a:r>
            <a:r>
              <a:rPr sz="2800" dirty="0">
                <a:solidFill>
                  <a:srgbClr val="C00000"/>
                </a:solidFill>
                <a:latin typeface="Microsoft YaHei"/>
                <a:cs typeface="Microsoft YaHei"/>
              </a:rPr>
              <a:t>j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（实部和虚部是什么？）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对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于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复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数</a:t>
            </a:r>
            <a:r>
              <a:rPr sz="2800" spc="-2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482" dirty="0">
                <a:solidFill>
                  <a:srgbClr val="000000"/>
                </a:solidFill>
                <a:latin typeface="Microsoft YaHei"/>
                <a:cs typeface="Microsoft YaHei"/>
              </a:rPr>
              <a:t>z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可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以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用</a:t>
            </a:r>
            <a:r>
              <a:rPr sz="2800" spc="-2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z.real获</a:t>
            </a:r>
            <a:r>
              <a:rPr sz="2800" spc="-2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得</a:t>
            </a:r>
            <a:r>
              <a:rPr sz="2800" spc="-2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实</a:t>
            </a:r>
            <a:r>
              <a:rPr sz="2800" spc="-2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数</a:t>
            </a:r>
            <a:r>
              <a:rPr sz="2800" spc="-2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部</a:t>
            </a:r>
            <a:r>
              <a:rPr sz="2800" spc="-2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分</a:t>
            </a:r>
            <a:r>
              <a:rPr sz="2800" spc="-2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</a:p>
          <a:p>
            <a:pPr marL="0" marR="0">
              <a:lnSpc>
                <a:spcPts val="3690"/>
              </a:lnSpc>
              <a:spcBef>
                <a:spcPts val="302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z.imag获得虚数部分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7493" y="4573338"/>
            <a:ext cx="6901033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z.real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8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0.000123</a:t>
            </a:r>
            <a:r>
              <a:rPr sz="2800" spc="243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z.imag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 5.6e+89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71370" y="2829774"/>
            <a:ext cx="4955133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数字类型的操作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内置的数值运算操作符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7003236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三种类型存在一种逐渐“扩展”的关系：</a:t>
            </a:r>
          </a:p>
          <a:p>
            <a:pPr marL="486181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整数</a:t>
            </a:r>
            <a:r>
              <a:rPr sz="28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-&gt; 浮点数</a:t>
            </a:r>
            <a:r>
              <a:rPr sz="2800" spc="1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-&gt;</a:t>
            </a:r>
            <a:r>
              <a:rPr sz="28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复数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3122802"/>
            <a:ext cx="8115594" cy="1787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5844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（整数是浮点数特例，浮点数是复数特例）</a:t>
            </a:r>
          </a:p>
          <a:p>
            <a:pPr marL="0" marR="0">
              <a:lnSpc>
                <a:spcPts val="3690"/>
              </a:lnSpc>
              <a:spcBef>
                <a:spcPts val="130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不同数字类型之间可以进行混合运算，运算后生</a:t>
            </a:r>
          </a:p>
          <a:p>
            <a:pPr marL="0" marR="0">
              <a:lnSpc>
                <a:spcPts val="3693"/>
              </a:lnSpc>
              <a:spcBef>
                <a:spcPts val="139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成结果为最宽类型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9017" y="5203893"/>
            <a:ext cx="7837299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123</a:t>
            </a:r>
            <a:r>
              <a:rPr sz="2800" spc="-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+ 4.0</a:t>
            </a:r>
            <a:r>
              <a:rPr sz="28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8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127.0</a:t>
            </a:r>
            <a:r>
              <a:rPr sz="2800" spc="80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(整数</a:t>
            </a:r>
            <a:r>
              <a:rPr sz="28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  <a:r>
              <a:rPr sz="28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浮点数</a:t>
            </a:r>
            <a:r>
              <a:rPr sz="28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 浮点数)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内置的数值运算操作符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54810" y="2078489"/>
            <a:ext cx="532485" cy="243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  <a:p>
            <a:pPr marL="59435" marR="0">
              <a:lnSpc>
                <a:spcPts val="1102"/>
              </a:lnSpc>
              <a:spcBef>
                <a:spcPts val="150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+ y</a:t>
            </a:r>
          </a:p>
          <a:p>
            <a:pPr marL="74675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- y</a:t>
            </a:r>
          </a:p>
          <a:p>
            <a:pPr marL="64261" marR="0">
              <a:lnSpc>
                <a:spcPts val="1102"/>
              </a:lnSpc>
              <a:spcBef>
                <a:spcPts val="14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* y</a:t>
            </a:r>
          </a:p>
          <a:p>
            <a:pPr marL="77977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FF0000"/>
                </a:solidFill>
                <a:latin typeface="Times New Roman"/>
                <a:cs typeface="Times New Roman"/>
              </a:rPr>
              <a:t>x / y</a:t>
            </a:r>
          </a:p>
          <a:p>
            <a:pPr marL="60960" marR="0">
              <a:lnSpc>
                <a:spcPts val="1102"/>
              </a:lnSpc>
              <a:spcBef>
                <a:spcPts val="1484"/>
              </a:spcBef>
              <a:spcAft>
                <a:spcPts val="0"/>
              </a:spcAft>
            </a:pPr>
            <a:r>
              <a:rPr sz="1000" dirty="0">
                <a:solidFill>
                  <a:srgbClr val="FF0000"/>
                </a:solidFill>
                <a:latin typeface="Times New Roman"/>
                <a:cs typeface="Times New Roman"/>
              </a:rPr>
              <a:t>x // y</a:t>
            </a:r>
          </a:p>
          <a:p>
            <a:pPr marL="42672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% y</a:t>
            </a:r>
          </a:p>
          <a:p>
            <a:pPr marL="137160" marR="0">
              <a:lnSpc>
                <a:spcPts val="1105"/>
              </a:lnSpc>
              <a:spcBef>
                <a:spcPts val="143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-x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23154" y="2078489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15514" y="2396674"/>
            <a:ext cx="658368" cy="1145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之和</a:t>
            </a:r>
          </a:p>
          <a:p>
            <a:pPr marL="0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之差</a:t>
            </a:r>
          </a:p>
          <a:p>
            <a:pPr marL="0" marR="0">
              <a:lnSpc>
                <a:spcPts val="1102"/>
              </a:lnSpc>
              <a:spcBef>
                <a:spcPts val="14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之积</a:t>
            </a:r>
          </a:p>
          <a:p>
            <a:pPr marL="0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15514" y="3685978"/>
            <a:ext cx="2811768" cy="822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之整数商，即：不大于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之商的最大整数</a:t>
            </a:r>
          </a:p>
          <a:p>
            <a:pPr marL="0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之商的余数，也称为模运算</a:t>
            </a:r>
          </a:p>
          <a:p>
            <a:pPr marL="0" marR="0">
              <a:lnSpc>
                <a:spcPts val="1105"/>
              </a:lnSpc>
              <a:spcBef>
                <a:spcPts val="148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的负值，即：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x*(-1)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76729" y="4653083"/>
            <a:ext cx="28727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+x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15514" y="4653083"/>
            <a:ext cx="46863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本身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0595" y="4975010"/>
            <a:ext cx="405993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1" dirty="0">
                <a:solidFill>
                  <a:srgbClr val="FF0000"/>
                </a:solidFill>
                <a:latin typeface="Times New Roman"/>
                <a:cs typeface="Times New Roman"/>
              </a:rPr>
              <a:t>x**y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15514" y="4973849"/>
            <a:ext cx="1141475" cy="179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次幂，即：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内置的数值运算操作符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79211"/>
            <a:ext cx="8445652" cy="1147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spc="40" dirty="0">
                <a:solidFill>
                  <a:srgbClr val="000000"/>
                </a:solidFill>
                <a:latin typeface="Microsoft YaHei"/>
                <a:cs typeface="Microsoft YaHei"/>
              </a:rPr>
              <a:t>数字类型之间相互运算所生成的结果是“更宽”的类</a:t>
            </a:r>
          </a:p>
          <a:p>
            <a:pPr marL="0" marR="0">
              <a:lnSpc>
                <a:spcPts val="3690"/>
              </a:lnSpc>
              <a:spcBef>
                <a:spcPts val="13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型，基本规则是：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3059625"/>
            <a:ext cx="8445652" cy="114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800" spc="76" dirty="0">
                <a:solidFill>
                  <a:srgbClr val="000000"/>
                </a:solidFill>
                <a:latin typeface="Microsoft YaHei"/>
                <a:cs typeface="Microsoft YaHei"/>
              </a:rPr>
              <a:t>整数之间运算，如果数学意义上的结果是小数，结</a:t>
            </a:r>
          </a:p>
          <a:p>
            <a:pPr marL="0" marR="0">
              <a:lnSpc>
                <a:spcPts val="3690"/>
              </a:lnSpc>
              <a:spcBef>
                <a:spcPts val="130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果是浮点数；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6765" y="4340166"/>
            <a:ext cx="8445652" cy="114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800" spc="76" dirty="0">
                <a:solidFill>
                  <a:srgbClr val="000000"/>
                </a:solidFill>
                <a:latin typeface="Microsoft YaHei"/>
                <a:cs typeface="Microsoft YaHei"/>
              </a:rPr>
              <a:t>整数之间运算，如果数学意义上的结果是整数，结</a:t>
            </a:r>
          </a:p>
          <a:p>
            <a:pPr marL="0" marR="0">
              <a:lnSpc>
                <a:spcPts val="3693"/>
              </a:lnSpc>
              <a:spcBef>
                <a:spcPts val="134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果是整数；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6765" y="5620605"/>
            <a:ext cx="7524338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整数和浮点数混合运算，输出结果是浮点数；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整数或浮点数与复数运算，输出结果是复数。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内置的数值运算函数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8115296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Python解释器提供了一些内置函数，在这些内置函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数之中，有6个函数与数值运算相关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62200" y="336144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49138" y="336144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30195" y="3749732"/>
            <a:ext cx="46863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abs(x)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213" y="3749732"/>
            <a:ext cx="72161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的绝对值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19300" y="4142035"/>
            <a:ext cx="1092158" cy="135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divmod(x,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y)</a:t>
            </a:r>
          </a:p>
          <a:p>
            <a:pPr marL="118872" marR="0">
              <a:lnSpc>
                <a:spcPts val="1102"/>
              </a:lnSpc>
              <a:spcBef>
                <a:spcPts val="198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pow(x,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y[,</a:t>
            </a:r>
            <a:r>
              <a:rPr sz="10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z])</a:t>
            </a:r>
          </a:p>
          <a:p>
            <a:pPr marL="1523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round(x[,</a:t>
            </a:r>
            <a:r>
              <a:rPr sz="1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ndigits])</a:t>
            </a:r>
          </a:p>
          <a:p>
            <a:pPr marL="0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max(x</a:t>
            </a:r>
            <a:r>
              <a:rPr sz="1000" spc="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…, x</a:t>
            </a:r>
            <a:r>
              <a:rPr sz="1000" spc="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55213" y="4142035"/>
            <a:ext cx="3801491" cy="135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(x//y,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x%y)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，输出为二元组形式（也称为元组类型）</a:t>
            </a:r>
          </a:p>
          <a:p>
            <a:pPr marL="0" marR="0">
              <a:lnSpc>
                <a:spcPts val="1102"/>
              </a:lnSpc>
              <a:spcBef>
                <a:spcPts val="198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(x**y)%z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[..]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表示该参数可以省略，即：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pow(x,y)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，它与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x**y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相同</a:t>
            </a:r>
          </a:p>
          <a:p>
            <a:pPr marL="0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对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四舍五入，保留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ndigits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位小数。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round(x)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返回四舍五入的整数值</a:t>
            </a:r>
          </a:p>
          <a:p>
            <a:pPr marL="0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…,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的最大值，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没有限定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39339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13076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74264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17696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86860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48048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29967" y="5710485"/>
            <a:ext cx="106929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min(x</a:t>
            </a:r>
            <a:r>
              <a:rPr sz="1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 …, x</a:t>
            </a:r>
            <a:r>
              <a:rPr sz="1000" spc="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55213" y="5710485"/>
            <a:ext cx="1989201" cy="199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…,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的最小值，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没有限定</a:t>
            </a:r>
          </a:p>
          <a:p>
            <a:pPr marL="62483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650" spc="8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650" spc="23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328672" y="5777632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02407" y="5777632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62072" y="5777632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数字类型的转换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3965" y="1893005"/>
            <a:ext cx="7576972" cy="1745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数值运算操作符可以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隐式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地转换输出结果的数字类型</a:t>
            </a:r>
          </a:p>
          <a:p>
            <a:pPr marL="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spc="57" dirty="0">
                <a:solidFill>
                  <a:srgbClr val="000000"/>
                </a:solidFill>
                <a:latin typeface="Microsoft YaHei"/>
                <a:cs typeface="Microsoft YaHei"/>
              </a:rPr>
              <a:t>例如，两个整数采用运算符“</a:t>
            </a:r>
            <a:r>
              <a:rPr sz="2000" spc="46" dirty="0">
                <a:solidFill>
                  <a:srgbClr val="000000"/>
                </a:solidFill>
                <a:latin typeface="Microsoft YaHei"/>
                <a:cs typeface="Microsoft YaHei"/>
              </a:rPr>
              <a:t>/</a:t>
            </a:r>
            <a:r>
              <a:rPr sz="2000" spc="56" dirty="0">
                <a:solidFill>
                  <a:srgbClr val="000000"/>
                </a:solidFill>
                <a:latin typeface="Microsoft YaHei"/>
                <a:cs typeface="Microsoft YaHei"/>
              </a:rPr>
              <a:t>”的除法将可能输出浮点数结果。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spc="15" dirty="0">
                <a:solidFill>
                  <a:srgbClr val="000000"/>
                </a:solidFill>
                <a:latin typeface="Microsoft YaHei"/>
                <a:cs typeface="Microsoft YaHei"/>
              </a:rPr>
              <a:t>此外，通过内置的数字类型转换函数可以</a:t>
            </a:r>
            <a:r>
              <a:rPr sz="2000" spc="15" dirty="0">
                <a:solidFill>
                  <a:srgbClr val="FF0000"/>
                </a:solidFill>
                <a:latin typeface="Microsoft YaHei"/>
                <a:cs typeface="Microsoft YaHei"/>
              </a:rPr>
              <a:t>显式</a:t>
            </a:r>
            <a:r>
              <a:rPr sz="2000" spc="15" dirty="0">
                <a:solidFill>
                  <a:srgbClr val="000000"/>
                </a:solidFill>
                <a:latin typeface="Microsoft YaHei"/>
                <a:cs typeface="Microsoft YaHei"/>
              </a:rPr>
              <a:t>地在数字类型之间进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行转换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0064" y="4075945"/>
            <a:ext cx="433424" cy="50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  <a:p>
            <a:pPr marL="0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int(x)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42310" y="4075945"/>
            <a:ext cx="2437764" cy="83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38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转换为整数，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可以是浮点数或字符串</a:t>
            </a:r>
          </a:p>
          <a:p>
            <a:pPr marL="0" marR="0">
              <a:lnSpc>
                <a:spcPts val="1102"/>
              </a:lnSpc>
              <a:spcBef>
                <a:spcPts val="149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转换为浮点数，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可以是整数或字符串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9773" y="4732331"/>
            <a:ext cx="53169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float(x)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77644" y="5062785"/>
            <a:ext cx="1054415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complex(re[,</a:t>
            </a:r>
            <a:r>
              <a:rPr sz="10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im])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42310" y="5062785"/>
            <a:ext cx="4469257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生成一个复数，实部为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re</a:t>
            </a: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，虚部为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im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re</a:t>
            </a: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可以是整数、浮点数或字符串，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im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可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42310" y="5295399"/>
            <a:ext cx="2049780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以是整数或浮点数但不能为字符串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数字类型的转换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5452457" cy="1786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三种类型可以相互转换</a:t>
            </a:r>
          </a:p>
          <a:p>
            <a:pPr marL="486181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函数：int(),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float(), complex()</a:t>
            </a:r>
          </a:p>
          <a:p>
            <a:pPr marL="0" marR="0">
              <a:lnSpc>
                <a:spcPts val="3693"/>
              </a:lnSpc>
              <a:spcBef>
                <a:spcPts val="139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示例：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6242" y="3763459"/>
            <a:ext cx="7240214" cy="221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int(4.5)</a:t>
            </a:r>
            <a:r>
              <a:rPr sz="28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8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4 （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直接去掉小数部分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，截断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  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(“123”)=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123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3"/>
              </a:lnSpc>
              <a:spcBef>
                <a:spcPts val="134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float(4) = 4.0</a:t>
            </a:r>
            <a:r>
              <a:rPr sz="28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（增加小数部分）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complex(4)</a:t>
            </a: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 4</a:t>
            </a:r>
            <a:r>
              <a:rPr sz="28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+ 0J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数字类型的转换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5655361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示例：complex(4.5)</a:t>
            </a:r>
            <a:r>
              <a:rPr sz="28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 4.5 +</a:t>
            </a:r>
            <a:r>
              <a:rPr sz="2800" spc="-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0J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数字类型的判断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4529" y="1656409"/>
            <a:ext cx="8114941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44" dirty="0">
                <a:solidFill>
                  <a:srgbClr val="000000"/>
                </a:solidFill>
                <a:latin typeface="Microsoft YaHei"/>
                <a:cs typeface="Microsoft YaHei"/>
              </a:rPr>
              <a:t>函数：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type(x)</a:t>
            </a:r>
            <a:r>
              <a:rPr sz="2800" spc="52" dirty="0">
                <a:solidFill>
                  <a:srgbClr val="000000"/>
                </a:solidFill>
                <a:latin typeface="Microsoft YaHei"/>
                <a:cs typeface="Microsoft YaHei"/>
              </a:rPr>
              <a:t>，返回</a:t>
            </a:r>
            <a:r>
              <a:rPr sz="2800" spc="44" dirty="0">
                <a:solidFill>
                  <a:srgbClr val="000000"/>
                </a:solidFill>
                <a:latin typeface="Microsoft YaHei"/>
                <a:cs typeface="Microsoft YaHei"/>
              </a:rPr>
              <a:t>x</a:t>
            </a:r>
            <a:r>
              <a:rPr sz="2800" spc="47" dirty="0">
                <a:solidFill>
                  <a:srgbClr val="000000"/>
                </a:solidFill>
                <a:latin typeface="Microsoft YaHei"/>
                <a:cs typeface="Microsoft YaHei"/>
              </a:rPr>
              <a:t>的类型，适用于所有类型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2234148"/>
            <a:ext cx="1217675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的判断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4529" y="2967225"/>
            <a:ext cx="1675206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示例：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4399E35-0589-41AC-B684-0DC61BC01CF5}"/>
              </a:ext>
            </a:extLst>
          </p:cNvPr>
          <p:cNvSpPr txBox="1"/>
          <p:nvPr/>
        </p:nvSpPr>
        <p:spPr>
          <a:xfrm>
            <a:off x="514528" y="5441372"/>
            <a:ext cx="8521967" cy="911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800" b="1" spc="810" dirty="0">
                <a:latin typeface="Times New Roman"/>
                <a:cs typeface="Times New Roman"/>
              </a:rPr>
              <a:t>在</a:t>
            </a:r>
            <a:r>
              <a:rPr lang="en-US" altLang="zh-CN" sz="2800" b="1" spc="810" dirty="0">
                <a:latin typeface="Times New Roman"/>
                <a:cs typeface="Times New Roman"/>
              </a:rPr>
              <a:t>python</a:t>
            </a:r>
            <a:r>
              <a:rPr lang="zh-CN" altLang="en-US" sz="2800" b="1" spc="810" dirty="0">
                <a:latin typeface="Times New Roman"/>
                <a:cs typeface="Times New Roman"/>
              </a:rPr>
              <a:t>解释器内部，所有数据类型都采用面向对象方式实现，封装为一个类</a:t>
            </a:r>
            <a:r>
              <a:rPr lang="zh-CN" altLang="en-US" sz="2800" spc="810" dirty="0">
                <a:latin typeface="Times New Roman"/>
                <a:cs typeface="Times New Roman"/>
              </a:rPr>
              <a:t>。</a:t>
            </a:r>
            <a:endParaRPr sz="2800" dirty="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87270" y="2829774"/>
            <a:ext cx="4597856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math库的使用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8167" y="2284290"/>
            <a:ext cx="7309204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math库是Python提供的内置数学类函数库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math库不支持复数类型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8167" y="3564704"/>
            <a:ext cx="8224697" cy="1613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math库一共提供了4个数学常数和44个函数。</a:t>
            </a:r>
          </a:p>
          <a:p>
            <a:pPr marL="457200" marR="0">
              <a:lnSpc>
                <a:spcPts val="3167"/>
              </a:lnSpc>
              <a:spcBef>
                <a:spcPts val="1228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44</a:t>
            </a:r>
            <a:r>
              <a:rPr sz="2400" spc="74" dirty="0">
                <a:solidFill>
                  <a:srgbClr val="000000"/>
                </a:solidFill>
                <a:latin typeface="Microsoft YaHei"/>
                <a:cs typeface="Microsoft YaHei"/>
              </a:rPr>
              <a:t>个函数共分为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类，包括：</a:t>
            </a: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16</a:t>
            </a:r>
            <a:r>
              <a:rPr sz="2400" spc="74" dirty="0">
                <a:solidFill>
                  <a:srgbClr val="000000"/>
                </a:solidFill>
                <a:latin typeface="Microsoft YaHei"/>
                <a:cs typeface="Microsoft YaHei"/>
              </a:rPr>
              <a:t>个数值表示函数、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8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个</a:t>
            </a:r>
          </a:p>
          <a:p>
            <a:pPr marL="68585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幂对数函数、16个三角对数函数和4个高等特殊函数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1755462"/>
            <a:ext cx="521723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首先使用保留字</a:t>
            </a:r>
            <a:r>
              <a:rPr sz="2800" spc="11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引用该库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2341879"/>
            <a:ext cx="6896580" cy="1019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7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第一种：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</a:t>
            </a:r>
          </a:p>
          <a:p>
            <a:pPr marL="0" marR="0">
              <a:lnSpc>
                <a:spcPts val="3690"/>
              </a:lnSpc>
              <a:spcBef>
                <a:spcPts val="34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对math库中函数采用math.&lt;b&gt;()形式使用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4258" y="3645141"/>
            <a:ext cx="1666892" cy="699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math</a:t>
            </a:r>
          </a:p>
          <a:p>
            <a:pPr marL="0" marR="0">
              <a:lnSpc>
                <a:spcPts val="1250"/>
              </a:lnSpc>
              <a:spcBef>
                <a:spcPts val="679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&gt;&gt;&gt;math.ceil(10.2)</a:t>
            </a:r>
          </a:p>
          <a:p>
            <a:pPr marL="0" marR="0">
              <a:lnSpc>
                <a:spcPts val="1250"/>
              </a:lnSpc>
              <a:spcBef>
                <a:spcPts val="729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868" y="4647125"/>
            <a:ext cx="8194815" cy="1018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7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第二种，</a:t>
            </a:r>
            <a:r>
              <a:rPr sz="2800" spc="-11" dirty="0">
                <a:solidFill>
                  <a:srgbClr val="000000"/>
                </a:solidFill>
                <a:latin typeface="Microsoft YaHei"/>
                <a:cs typeface="Microsoft YaHei"/>
              </a:rPr>
              <a:t>from</a:t>
            </a:r>
            <a:r>
              <a:rPr sz="28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 </a:t>
            </a:r>
            <a:r>
              <a:rPr sz="2800" spc="14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 &lt;函数名&gt;</a:t>
            </a:r>
          </a:p>
          <a:p>
            <a:pPr marL="0" marR="0">
              <a:lnSpc>
                <a:spcPts val="3693"/>
              </a:lnSpc>
              <a:spcBef>
                <a:spcPts val="33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对math库中函数可以直接采用&lt;函数名&gt;()形式使用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27632" y="5921971"/>
            <a:ext cx="2254412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&gt;&gt;&gt;from</a:t>
            </a:r>
            <a:r>
              <a:rPr sz="11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math</a:t>
            </a:r>
            <a:r>
              <a:rPr sz="11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import floor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27632" y="6173431"/>
            <a:ext cx="13303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&gt;&gt;&gt;floor(10.2)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27632" y="6424891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10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172" y="3429000"/>
            <a:ext cx="23241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3965" y="1842965"/>
            <a:ext cx="4539132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math库包括4个数学常数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86457" y="3277369"/>
            <a:ext cx="535334" cy="975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08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常数</a:t>
            </a:r>
          </a:p>
          <a:p>
            <a:pPr marL="0" marR="0">
              <a:lnSpc>
                <a:spcPts val="1102"/>
              </a:lnSpc>
              <a:spcBef>
                <a:spcPts val="212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math.pi</a:t>
            </a:r>
          </a:p>
          <a:p>
            <a:pPr marL="21336" marR="0">
              <a:lnSpc>
                <a:spcPts val="1102"/>
              </a:lnSpc>
              <a:spcBef>
                <a:spcPts val="2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64713" y="3277369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5616" y="3277369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45330" y="3674167"/>
            <a:ext cx="196672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圆周率，值为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3.141592653589793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90265" y="4074979"/>
            <a:ext cx="20854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i="1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45330" y="4074979"/>
            <a:ext cx="2093467" cy="578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自然对数，值为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2.718281828459045</a:t>
            </a:r>
          </a:p>
          <a:p>
            <a:pPr marL="0" marR="0">
              <a:lnSpc>
                <a:spcPts val="1102"/>
              </a:lnSpc>
              <a:spcBef>
                <a:spcPts val="2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正无穷大，负无穷大为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-math.inf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45310" y="4475791"/>
            <a:ext cx="619580" cy="578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35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math.inf</a:t>
            </a:r>
          </a:p>
          <a:p>
            <a:pPr marL="0" marR="0">
              <a:lnSpc>
                <a:spcPts val="1102"/>
              </a:lnSpc>
              <a:spcBef>
                <a:spcPts val="2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math.nan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45330" y="4868882"/>
            <a:ext cx="2254250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非浮点数标记，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NaN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（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6844" y="1733237"/>
            <a:ext cx="5457697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math库包括16个数值表示函数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31594" y="2494542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89148" y="2494542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8029" y="2494542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38045" y="2724951"/>
            <a:ext cx="796723" cy="178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math.fabs(x)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86529" y="2724951"/>
            <a:ext cx="976579" cy="178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的绝对值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7546" y="2999924"/>
            <a:ext cx="1174650" cy="64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536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math.fmod(x,</a:t>
            </a:r>
            <a:r>
              <a:rPr sz="1000" spc="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y)</a:t>
            </a:r>
          </a:p>
          <a:p>
            <a:pPr marL="0" marR="0">
              <a:lnSpc>
                <a:spcPts val="1102"/>
              </a:lnSpc>
              <a:spcBef>
                <a:spcPts val="79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math.fsum([x,y,…])</a:t>
            </a:r>
          </a:p>
          <a:p>
            <a:pPr marL="204215" marR="0">
              <a:lnSpc>
                <a:spcPts val="1102"/>
              </a:lnSpc>
              <a:spcBef>
                <a:spcPts val="74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math.ceil(x)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94304" y="2999924"/>
            <a:ext cx="448517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% 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86529" y="2999924"/>
            <a:ext cx="911351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的模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5535" y="3234620"/>
            <a:ext cx="54805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x+y+…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86529" y="3238635"/>
            <a:ext cx="103784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浮点数精确求和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986529" y="3461849"/>
            <a:ext cx="2104897" cy="466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向上取整，返回不小于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的最小整数</a:t>
            </a:r>
          </a:p>
          <a:p>
            <a:pPr marL="0" marR="0">
              <a:lnSpc>
                <a:spcPts val="1215"/>
              </a:lnSpc>
              <a:spcBef>
                <a:spcPts val="99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向下取证，返回不大于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的最大整数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19758" y="3743890"/>
            <a:ext cx="83031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math.floor(x)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31366" y="4018591"/>
            <a:ext cx="1005788" cy="64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math.factorial(x)</a:t>
            </a:r>
          </a:p>
          <a:p>
            <a:pPr marL="56387" marR="0">
              <a:lnSpc>
                <a:spcPts val="1102"/>
              </a:lnSpc>
              <a:spcBef>
                <a:spcPts val="79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math.gcd(a,</a:t>
            </a:r>
            <a:r>
              <a:rPr sz="1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b)</a:t>
            </a:r>
          </a:p>
          <a:p>
            <a:pPr marL="79247" marR="0">
              <a:lnSpc>
                <a:spcPts val="1102"/>
              </a:lnSpc>
              <a:spcBef>
                <a:spcPts val="74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math.frepx(x)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90315" y="4018591"/>
            <a:ext cx="25776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86529" y="4018591"/>
            <a:ext cx="3004170" cy="41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的阶乘，如果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是小数或负数，返回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ValueError</a:t>
            </a:r>
          </a:p>
          <a:p>
            <a:pPr marL="0" marR="0">
              <a:lnSpc>
                <a:spcPts val="1102"/>
              </a:lnSpc>
              <a:spcBef>
                <a:spcPts val="79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的最大公约数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078479" y="4486804"/>
            <a:ext cx="677959" cy="414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= m * 2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</a:p>
          <a:p>
            <a:pPr marL="124968" marR="0">
              <a:lnSpc>
                <a:spcPts val="1102"/>
              </a:lnSpc>
              <a:spcBef>
                <a:spcPts val="73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* 2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986529" y="4488237"/>
            <a:ext cx="2651748" cy="647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spc="-10" dirty="0">
                <a:solidFill>
                  <a:srgbClr val="000000"/>
                </a:solidFill>
                <a:latin typeface="Times New Roman"/>
                <a:cs typeface="Times New Roman"/>
              </a:rPr>
              <a:t>(m,</a:t>
            </a:r>
            <a:r>
              <a:rPr sz="10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x=0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(0.0,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0)</a:t>
            </a:r>
          </a:p>
          <a:p>
            <a:pPr marL="0" marR="0">
              <a:lnSpc>
                <a:spcPts val="1102"/>
              </a:lnSpc>
              <a:spcBef>
                <a:spcPts val="73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* 2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运算值，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math.frepx(x)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函数的反运算</a:t>
            </a:r>
          </a:p>
          <a:p>
            <a:pPr marL="0" marR="0">
              <a:lnSpc>
                <a:spcPts val="1105"/>
              </a:lnSpc>
              <a:spcBef>
                <a:spcPts val="79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的小数和整数部分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551177" y="4723187"/>
            <a:ext cx="966503" cy="412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math.ldexp(x,</a:t>
            </a:r>
            <a:r>
              <a:rPr sz="10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i)</a:t>
            </a:r>
          </a:p>
          <a:p>
            <a:pPr marL="59436" marR="0">
              <a:lnSpc>
                <a:spcPts val="1105"/>
              </a:lnSpc>
              <a:spcBef>
                <a:spcPts val="79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math.modf(x)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13661" y="5192960"/>
            <a:ext cx="84433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math.trunc(x)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986529" y="5192960"/>
            <a:ext cx="1101089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的整数部分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49069" y="5427910"/>
            <a:ext cx="1169017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math.copysign(x,</a:t>
            </a:r>
            <a:r>
              <a:rPr sz="1000" spc="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986529" y="5427910"/>
            <a:ext cx="2176393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用数值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的正负号替换数值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的正负号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526794" y="5702255"/>
            <a:ext cx="1016473" cy="648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math.isclose(a,b)</a:t>
            </a:r>
          </a:p>
          <a:p>
            <a:pPr marL="41147" marR="0">
              <a:lnSpc>
                <a:spcPts val="1102"/>
              </a:lnSpc>
              <a:spcBef>
                <a:spcPts val="7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math.isfinite(x)</a:t>
            </a:r>
          </a:p>
          <a:p>
            <a:pPr marL="105155" marR="0">
              <a:lnSpc>
                <a:spcPts val="1102"/>
              </a:lnSpc>
              <a:spcBef>
                <a:spcPts val="74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math.isinf(x)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986529" y="5702255"/>
            <a:ext cx="2171753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比较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的相似性，返回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86529" y="5937256"/>
            <a:ext cx="3130723" cy="647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为无穷大，返回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；否则，返回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7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为正数或负数无穷大，返回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；否则，返回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74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NaN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；否则，返回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610613" y="6406953"/>
            <a:ext cx="851441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math.isnan(x)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3965" y="1733237"/>
            <a:ext cx="524931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math库中包括8个幂对数函数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42567" y="2744224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29076" y="2744224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7140" y="2744224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5297" y="3129718"/>
            <a:ext cx="900605" cy="1346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math.pow(x,y)</a:t>
            </a:r>
          </a:p>
          <a:p>
            <a:pPr marL="67437" marR="0">
              <a:lnSpc>
                <a:spcPts val="1102"/>
              </a:lnSpc>
              <a:spcBef>
                <a:spcPts val="196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math.exp(x)</a:t>
            </a:r>
          </a:p>
          <a:p>
            <a:pPr marL="0" marR="0">
              <a:lnSpc>
                <a:spcPts val="1102"/>
              </a:lnSpc>
              <a:spcBef>
                <a:spcPts val="191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math.expml(x)</a:t>
            </a:r>
          </a:p>
          <a:p>
            <a:pPr marL="62865" marR="0">
              <a:lnSpc>
                <a:spcPts val="1102"/>
              </a:lnSpc>
              <a:spcBef>
                <a:spcPts val="196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math.sqrt(x)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30245" y="3128285"/>
            <a:ext cx="257555" cy="569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</a:p>
          <a:p>
            <a:pPr marL="1523" marR="0">
              <a:lnSpc>
                <a:spcPts val="1102"/>
              </a:lnSpc>
              <a:spcBef>
                <a:spcPts val="195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000" baseline="29999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39794" y="3129718"/>
            <a:ext cx="911351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39794" y="3511506"/>
            <a:ext cx="1724470" cy="964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是自然对数</a:t>
            </a:r>
          </a:p>
          <a:p>
            <a:pPr marL="0" marR="0">
              <a:lnSpc>
                <a:spcPts val="1215"/>
              </a:lnSpc>
              <a:spcBef>
                <a:spcPts val="189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返回e的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次幂减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  <a:p>
            <a:pPr marL="0" marR="0">
              <a:lnSpc>
                <a:spcPts val="1102"/>
              </a:lnSpc>
              <a:spcBef>
                <a:spcPts val="191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的平方根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79952" y="3907049"/>
            <a:ext cx="355854" cy="179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000" spc="1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-1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01191" y="4707693"/>
            <a:ext cx="1086698" cy="97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math.log(x[,base])</a:t>
            </a:r>
          </a:p>
          <a:p>
            <a:pPr marL="107822" marR="0">
              <a:lnSpc>
                <a:spcPts val="1102"/>
              </a:lnSpc>
              <a:spcBef>
                <a:spcPts val="204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math.log1p(x)</a:t>
            </a:r>
          </a:p>
          <a:p>
            <a:pPr marL="139826" marR="0">
              <a:lnSpc>
                <a:spcPts val="1102"/>
              </a:lnSpc>
              <a:spcBef>
                <a:spcPts val="209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math.log2(x)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39794" y="5106981"/>
            <a:ext cx="1362455" cy="577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1+x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的自然对数值</a:t>
            </a:r>
          </a:p>
          <a:p>
            <a:pPr marL="0" marR="0">
              <a:lnSpc>
                <a:spcPts val="1102"/>
              </a:lnSpc>
              <a:spcBef>
                <a:spcPts val="204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对数值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09013" y="5906167"/>
            <a:ext cx="87256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math.log10(x)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39794" y="5906167"/>
            <a:ext cx="110185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10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对数值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440" y="1733237"/>
            <a:ext cx="5752160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math库包括六个“三角双曲函数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4189" y="2629035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9627" y="2629035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24626" y="2629035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5297" y="2853620"/>
            <a:ext cx="967433" cy="635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36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math.degree(x)</a:t>
            </a:r>
          </a:p>
          <a:p>
            <a:pPr marL="7619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math.radians(x)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math.hypot(x,y)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53585" y="2845899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角度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的弧度值转角度值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53585" y="3074499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角度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的角度值转弧度值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53585" y="3303099"/>
            <a:ext cx="1875129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(x,y)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坐标到原点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(0,0)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的距离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01977" y="3601523"/>
            <a:ext cx="754499" cy="40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math.sin(x)</a:t>
            </a:r>
          </a:p>
          <a:p>
            <a:pPr marL="0" marR="0">
              <a:lnSpc>
                <a:spcPts val="1105"/>
              </a:lnSpc>
              <a:spcBef>
                <a:spcPts val="69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math.cos(x)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40023" y="3601523"/>
            <a:ext cx="416644" cy="40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sin x</a:t>
            </a:r>
          </a:p>
          <a:p>
            <a:pPr marL="0" marR="0">
              <a:lnSpc>
                <a:spcPts val="1105"/>
              </a:lnSpc>
              <a:spcBef>
                <a:spcPts val="69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cos x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53585" y="3593803"/>
            <a:ext cx="2042786" cy="133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8"/>
              </a:lnSpc>
              <a:spcBef>
                <a:spcPts val="58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的余弦函数值，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的正切函数值，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的反正弦函数值，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的反余弦函数值，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的反正切函数值，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09597" y="4059104"/>
            <a:ext cx="738969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math.tan(x)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47644" y="4059104"/>
            <a:ext cx="40298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tan 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01394" y="4287704"/>
            <a:ext cx="953227" cy="2235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19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math.asin(x)</a:t>
            </a:r>
          </a:p>
          <a:p>
            <a:pPr marL="71627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math.acos(x)</a:t>
            </a:r>
          </a:p>
          <a:p>
            <a:pPr marL="79247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math.atan(x)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math.atan2(y,x)</a:t>
            </a:r>
          </a:p>
          <a:p>
            <a:pPr marL="80772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math.sinh(x)</a:t>
            </a:r>
          </a:p>
          <a:p>
            <a:pPr marL="68580" marR="0">
              <a:lnSpc>
                <a:spcPts val="1102"/>
              </a:lnSpc>
              <a:spcBef>
                <a:spcPts val="69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math.cosh(x)</a:t>
            </a:r>
          </a:p>
          <a:p>
            <a:pPr marL="7620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math.tanh(x)</a:t>
            </a:r>
          </a:p>
          <a:p>
            <a:pPr marL="51816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math.asinh(x)</a:t>
            </a:r>
          </a:p>
          <a:p>
            <a:pPr marL="41147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math.acosh(x)</a:t>
            </a:r>
          </a:p>
          <a:p>
            <a:pPr marL="47244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math.atanh(x)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21151" y="4287704"/>
            <a:ext cx="655965" cy="1092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816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arcsin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41148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arccos x</a:t>
            </a:r>
          </a:p>
          <a:p>
            <a:pPr marL="47244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arctan</a:t>
            </a:r>
            <a:r>
              <a:rPr sz="10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arctan</a:t>
            </a:r>
            <a:r>
              <a:rPr sz="10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000000"/>
                </a:solidFill>
                <a:latin typeface="Times New Roman"/>
                <a:cs typeface="Times New Roman"/>
              </a:rPr>
              <a:t>y/x</a:t>
            </a:r>
          </a:p>
          <a:p>
            <a:pPr marL="9906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sinh</a:t>
            </a:r>
            <a:r>
              <a:rPr sz="10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53585" y="4965783"/>
            <a:ext cx="2139817" cy="421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spc="-10" dirty="0">
                <a:solidFill>
                  <a:srgbClr val="000000"/>
                </a:solidFill>
                <a:latin typeface="Times New Roman"/>
                <a:cs typeface="Times New Roman"/>
              </a:rPr>
              <a:t>y/x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的反正切函数值，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的双曲正弦函数值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08020" y="5430958"/>
            <a:ext cx="480646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cosh x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53585" y="5423237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的双曲余弦函数值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15639" y="5659583"/>
            <a:ext cx="466985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tanh</a:t>
            </a:r>
            <a:r>
              <a:rPr sz="10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53585" y="5651863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的双曲正切函数值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130295" y="5888183"/>
            <a:ext cx="637370" cy="635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arcsinh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arccosh</a:t>
            </a:r>
            <a:r>
              <a:rPr sz="10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6096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arctanh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053585" y="5880463"/>
            <a:ext cx="1598676" cy="64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的反双曲正弦函数值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的反双曲余弦函数值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的反双曲正切函数值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9867" y="1733237"/>
            <a:ext cx="5250738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math库包括4个高等特殊函数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4870" y="2912491"/>
            <a:ext cx="405993" cy="164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34182" y="2912491"/>
            <a:ext cx="659587" cy="164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76265" y="2912491"/>
            <a:ext cx="405993" cy="164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76373" y="3198933"/>
            <a:ext cx="724825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math.erf(x)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9079" y="3202948"/>
            <a:ext cx="2685276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高斯误差函数，应用于概率论、统计学等领域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43785" y="3854507"/>
            <a:ext cx="991891" cy="148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632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math.erfc(x)</a:t>
            </a:r>
          </a:p>
          <a:p>
            <a:pPr marL="16764" marR="0">
              <a:lnSpc>
                <a:spcPts val="1102"/>
              </a:lnSpc>
              <a:spcBef>
                <a:spcPts val="4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math.gamma(x)</a:t>
            </a:r>
          </a:p>
          <a:p>
            <a:pPr marL="0" marR="0">
              <a:lnSpc>
                <a:spcPts val="1102"/>
              </a:lnSpc>
              <a:spcBef>
                <a:spcPts val="400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math.lgamma(x)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69079" y="3846786"/>
            <a:ext cx="2734752" cy="1485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余补高斯误差函数，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math.erfc(x)=1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0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math.erf(x)</a:t>
            </a:r>
          </a:p>
          <a:p>
            <a:pPr marL="0" marR="0">
              <a:lnSpc>
                <a:spcPts val="1215"/>
              </a:lnSpc>
              <a:spcBef>
                <a:spcPts val="399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伽玛（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Gamma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）函数，也叫欧拉第二积分函数</a:t>
            </a:r>
          </a:p>
          <a:p>
            <a:pPr marL="0" marR="0">
              <a:lnSpc>
                <a:spcPts val="996"/>
              </a:lnSpc>
              <a:spcBef>
                <a:spcPts val="403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伽玛函数的自然对数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36645" y="5164004"/>
            <a:ext cx="85483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ln(gamma(x))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7617" y="2788949"/>
            <a:ext cx="70963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实例3: 天天向上的力量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实例代码3.1: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9490" y="2284290"/>
            <a:ext cx="7367974" cy="3067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一年365天，以第1天的能力值为基数，记为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1.0，当好好学习时能力值相比前一天提高1‰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，当没有学习时由于遗忘等原因能力值相比前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一天下降1‰。每天努力和每天放任，一年下</a:t>
            </a:r>
          </a:p>
          <a:p>
            <a:pPr marL="0" marR="0">
              <a:lnSpc>
                <a:spcPts val="3690"/>
              </a:lnSpc>
              <a:spcBef>
                <a:spcPts val="135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来的能力值相差多少呢？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实例代码3.1: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87957" y="1866901"/>
            <a:ext cx="2133615" cy="45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  <a:r>
              <a:rPr sz="1100" spc="13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e3.1DayDayUp365.py</a:t>
            </a:r>
          </a:p>
          <a:p>
            <a:pPr marL="0" marR="0">
              <a:lnSpc>
                <a:spcPts val="1489"/>
              </a:lnSpc>
              <a:spcBef>
                <a:spcPts val="31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3.1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0888" y="2794864"/>
            <a:ext cx="1896833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1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#e3.1DayDayUp365.py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70888" y="3047848"/>
            <a:ext cx="1287233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1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math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0888" y="3298959"/>
            <a:ext cx="4866093" cy="6940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11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math.pow((1.0 + 0.001), 365)</a:t>
            </a:r>
            <a:r>
              <a:rPr sz="1000" b="1" spc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提高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0.001</a:t>
            </a:r>
          </a:p>
          <a:p>
            <a:pPr marL="0" marR="0">
              <a:lnSpc>
                <a:spcPts val="1128"/>
              </a:lnSpc>
              <a:spcBef>
                <a:spcPts val="85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1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daydown = math.pow((1.0 - 0.001), 365) #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放任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0.001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b="1" spc="11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spc="25" dirty="0">
                <a:solidFill>
                  <a:srgbClr val="000000"/>
                </a:solidFill>
                <a:latin typeface="SimSun"/>
                <a:cs typeface="SimSun"/>
              </a:rPr>
              <a:t>向上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{:.2f},</a:t>
            </a:r>
            <a:r>
              <a:rPr sz="10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spc="25" dirty="0">
                <a:solidFill>
                  <a:srgbClr val="000000"/>
                </a:solidFill>
                <a:latin typeface="SimSun"/>
                <a:cs typeface="SimSun"/>
              </a:rPr>
              <a:t>向下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{:.2f}.".format(dayup,</a:t>
            </a:r>
            <a:r>
              <a:rPr sz="10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daydown))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8167" y="5093022"/>
            <a:ext cx="8255438" cy="114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86" dirty="0">
                <a:solidFill>
                  <a:srgbClr val="000000"/>
                </a:solidFill>
                <a:latin typeface="Microsoft YaHei"/>
                <a:cs typeface="Microsoft YaHei"/>
              </a:rPr>
              <a:t>运行结果如下，每天努力</a:t>
            </a:r>
            <a:r>
              <a:rPr sz="2800" spc="88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800" spc="81" dirty="0">
                <a:solidFill>
                  <a:srgbClr val="000000"/>
                </a:solidFill>
                <a:latin typeface="Microsoft YaHei"/>
                <a:cs typeface="Microsoft YaHei"/>
              </a:rPr>
              <a:t>‰，一年下来将提高</a:t>
            </a:r>
          </a:p>
          <a:p>
            <a:pPr marL="0" marR="0">
              <a:lnSpc>
                <a:spcPts val="3690"/>
              </a:lnSpc>
              <a:spcBef>
                <a:spcPts val="13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44%，好像不多？请继续分析。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实例代码3.2: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1819" y="2571691"/>
            <a:ext cx="7185076" cy="1787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一年365天，如果好好学习时能力值相比前一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天提高5‰，当放任时相比前一天下降5‰。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效果相差多少呢？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实例代码3.2: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0233" y="1866901"/>
            <a:ext cx="2097928" cy="45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  <a:r>
              <a:rPr sz="1100" spc="10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e3.2DayDayUp365.py</a:t>
            </a:r>
          </a:p>
          <a:p>
            <a:pPr marL="0" marR="0">
              <a:lnSpc>
                <a:spcPts val="1489"/>
              </a:lnSpc>
              <a:spcBef>
                <a:spcPts val="31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3.2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67483" y="2447392"/>
            <a:ext cx="16001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#e3.2DayDayUp365.py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82495" y="2574519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67483" y="2700377"/>
            <a:ext cx="9905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math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82495" y="2827503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67483" y="2951487"/>
            <a:ext cx="3913974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math.pow((1.0 + 0.005), 365)</a:t>
            </a:r>
            <a:r>
              <a:rPr sz="1000" b="1" spc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提高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0.005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82495" y="3082011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67483" y="3205995"/>
            <a:ext cx="3913974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daydown = math.pow((1.0 - 0.005), 365) #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放任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0.005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82495" y="3336519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67483" y="3460757"/>
            <a:ext cx="4240110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b="1" spc="-15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上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4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{:.2f},</a:t>
            </a:r>
            <a:r>
              <a:rPr sz="1000" b="1" spc="4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下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4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{:.2f}.".format(dayup,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82495" y="3589503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67483" y="3717138"/>
            <a:ext cx="8379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daydown))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-135636" y="4964371"/>
            <a:ext cx="957681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85" dirty="0">
                <a:solidFill>
                  <a:srgbClr val="000000"/>
                </a:solidFill>
                <a:latin typeface="Microsoft YaHei"/>
                <a:cs typeface="Microsoft YaHei"/>
              </a:rPr>
              <a:t>运行结果如下，每天努力</a:t>
            </a:r>
            <a:r>
              <a:rPr sz="2800" spc="98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sz="2800" spc="85" dirty="0">
                <a:solidFill>
                  <a:srgbClr val="000000"/>
                </a:solidFill>
                <a:latin typeface="Microsoft YaHei"/>
                <a:cs typeface="Microsoft YaHei"/>
              </a:rPr>
              <a:t>‰，一年下来将提高</a:t>
            </a:r>
            <a:r>
              <a:rPr sz="2800" spc="86" dirty="0">
                <a:solidFill>
                  <a:srgbClr val="000000"/>
                </a:solidFill>
                <a:latin typeface="Microsoft YaHei"/>
                <a:cs typeface="Microsoft YaHei"/>
              </a:rPr>
              <a:t>6倍！这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-135636" y="5604755"/>
            <a:ext cx="2638297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不容小觑了吧？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实例代码3.3: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1819" y="2571691"/>
            <a:ext cx="7238416" cy="1787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一年365天，如果好好学习时能力值相比前一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天提高1%，当放任时相比前一天下降1%。效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果相差多少呢？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实例代码3.3: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4435" y="1800226"/>
            <a:ext cx="2097928" cy="45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  <a:r>
              <a:rPr sz="1100" spc="10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e3.3DayDayUp365.py</a:t>
            </a:r>
          </a:p>
          <a:p>
            <a:pPr marL="0" marR="0">
              <a:lnSpc>
                <a:spcPts val="1489"/>
              </a:lnSpc>
              <a:spcBef>
                <a:spcPts val="31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3.3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21686" y="2380590"/>
            <a:ext cx="16001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#e3.3DayDayUp365.py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21686" y="2633574"/>
            <a:ext cx="990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math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36317" y="2749144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21686" y="2868271"/>
            <a:ext cx="1371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dayfactor = 0.01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6317" y="3002128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21686" y="3117064"/>
            <a:ext cx="3348570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</a:t>
            </a:r>
            <a:r>
              <a:rPr sz="1000" b="1" spc="24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000" b="1" spc="24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math.pow((1.0</a:t>
            </a:r>
            <a:r>
              <a:rPr sz="1000" b="1" spc="2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+</a:t>
            </a:r>
            <a:r>
              <a:rPr sz="1000" b="1" spc="2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dayfactor),</a:t>
            </a:r>
            <a:r>
              <a:rPr sz="1000" b="1" spc="2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365)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dayfactor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40297" y="3113667"/>
            <a:ext cx="61721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000" b="1" spc="2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提</a:t>
            </a:r>
            <a:r>
              <a:rPr sz="10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高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36317" y="3256636"/>
            <a:ext cx="228307" cy="943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0" marR="0">
              <a:lnSpc>
                <a:spcPts val="1128"/>
              </a:lnSpc>
              <a:spcBef>
                <a:spcPts val="877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21686" y="3622682"/>
            <a:ext cx="4238878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daydown</a:t>
            </a:r>
            <a:r>
              <a:rPr sz="1000" b="1" spc="2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000" b="1" spc="2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math.pow((1.0</a:t>
            </a:r>
            <a:r>
              <a:rPr sz="1000" b="1" spc="2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  <a:r>
              <a:rPr sz="1000" b="1" spc="2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dayfactor),</a:t>
            </a:r>
            <a:r>
              <a:rPr sz="1000" b="1" spc="27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365)</a:t>
            </a:r>
            <a:r>
              <a:rPr sz="1000" b="1" spc="117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000" b="1" spc="2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放</a:t>
            </a:r>
            <a:r>
              <a:rPr sz="10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任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21686" y="3879063"/>
            <a:ext cx="8379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dayfactor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21686" y="4130175"/>
            <a:ext cx="4240110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b="1" spc="-15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上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4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{:.2f},</a:t>
            </a:r>
            <a:r>
              <a:rPr sz="1000" b="1" spc="4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下</a:t>
            </a:r>
            <a:r>
              <a:rPr sz="1000" spc="2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4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{:.2f}.".format(dayup,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21686" y="4386555"/>
            <a:ext cx="8379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daydown))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88440" y="4964371"/>
            <a:ext cx="7791295" cy="1147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12" dirty="0">
                <a:solidFill>
                  <a:srgbClr val="000000"/>
                </a:solidFill>
                <a:latin typeface="Microsoft YaHei"/>
                <a:cs typeface="Microsoft YaHei"/>
              </a:rPr>
              <a:t>运行结果如下，每天努力</a:t>
            </a:r>
            <a:r>
              <a:rPr sz="2800" spc="56" dirty="0">
                <a:solidFill>
                  <a:srgbClr val="000000"/>
                </a:solidFill>
                <a:latin typeface="Microsoft YaHei"/>
                <a:cs typeface="Microsoft YaHei"/>
              </a:rPr>
              <a:t>1%</a:t>
            </a:r>
            <a:r>
              <a:rPr sz="2800" spc="112" dirty="0">
                <a:solidFill>
                  <a:srgbClr val="000000"/>
                </a:solidFill>
                <a:latin typeface="Microsoft YaHei"/>
                <a:cs typeface="Microsoft YaHei"/>
              </a:rPr>
              <a:t>，一年下来将提</a:t>
            </a:r>
          </a:p>
          <a:p>
            <a:pPr marL="0" marR="0">
              <a:lnSpc>
                <a:spcPts val="3690"/>
              </a:lnSpc>
              <a:spcBef>
                <a:spcPts val="130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高37倍。这个相当惊人吧！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实例代码3.4: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668" y="2716217"/>
            <a:ext cx="7600822" cy="1787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699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spc="127" dirty="0">
                <a:solidFill>
                  <a:srgbClr val="000000"/>
                </a:solidFill>
                <a:latin typeface="Microsoft YaHei"/>
                <a:cs typeface="Microsoft YaHei"/>
              </a:rPr>
              <a:t>一年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365</a:t>
            </a:r>
            <a:r>
              <a:rPr sz="2800" spc="135" dirty="0">
                <a:solidFill>
                  <a:srgbClr val="000000"/>
                </a:solidFill>
                <a:latin typeface="Microsoft YaHei"/>
                <a:cs typeface="Microsoft YaHei"/>
              </a:rPr>
              <a:t>天，一周</a:t>
            </a:r>
            <a:r>
              <a:rPr sz="2800" spc="134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sz="2800" spc="132" dirty="0">
                <a:solidFill>
                  <a:srgbClr val="000000"/>
                </a:solidFill>
                <a:latin typeface="Microsoft YaHei"/>
                <a:cs typeface="Microsoft YaHei"/>
              </a:rPr>
              <a:t>个工作日，如果每个工作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spc="70" dirty="0">
                <a:solidFill>
                  <a:srgbClr val="000000"/>
                </a:solidFill>
                <a:latin typeface="Microsoft YaHei"/>
                <a:cs typeface="Microsoft YaHei"/>
              </a:rPr>
              <a:t>日都很努力，可以提高</a:t>
            </a:r>
            <a:r>
              <a:rPr sz="2800" spc="33" dirty="0">
                <a:solidFill>
                  <a:srgbClr val="000000"/>
                </a:solidFill>
                <a:latin typeface="Microsoft YaHei"/>
                <a:cs typeface="Microsoft YaHei"/>
              </a:rPr>
              <a:t>1%</a:t>
            </a:r>
            <a:r>
              <a:rPr sz="2800" spc="68" dirty="0">
                <a:solidFill>
                  <a:srgbClr val="000000"/>
                </a:solidFill>
                <a:latin typeface="Microsoft YaHei"/>
                <a:cs typeface="Microsoft YaHei"/>
              </a:rPr>
              <a:t>，仅在周末放任一下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，能力值每天下降1%，效果如何呢？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实例代码3.4: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0233" y="1868328"/>
            <a:ext cx="573023" cy="178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8413" y="1841629"/>
            <a:ext cx="1508953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e3.4DayDayUp365.py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0233" y="2070229"/>
            <a:ext cx="467868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3.4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08404" y="2647925"/>
            <a:ext cx="1913216" cy="18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#e3.4DayDayUp365.py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404" y="2900909"/>
            <a:ext cx="2599016" cy="437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dayup, dayfactor = 1.0, 0.01</a:t>
            </a:r>
          </a:p>
          <a:p>
            <a:pPr marL="0" marR="0">
              <a:lnSpc>
                <a:spcPts val="1131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range(365):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8404" y="3407798"/>
            <a:ext cx="2827616" cy="692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i % 7 in [6, 0]:#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周六周日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b="1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dayup * (1 - dayfactor)</a:t>
            </a:r>
          </a:p>
          <a:p>
            <a:pPr marL="0" marR="0">
              <a:lnSpc>
                <a:spcPts val="1128"/>
              </a:lnSpc>
              <a:spcBef>
                <a:spcPts val="868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000" b="1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08404" y="4172306"/>
            <a:ext cx="4199597" cy="43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000" b="1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dayup * (1 + dayfactor)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000" b="1" spc="126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向上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5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天向下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天的力量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{:.2f}.".format(dayup))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9490" y="4964371"/>
            <a:ext cx="7935854" cy="1787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猜猜运行结果？每周努力5天，而不是每天，一</a:t>
            </a:r>
          </a:p>
          <a:p>
            <a:pPr marL="0" marR="0">
              <a:lnSpc>
                <a:spcPts val="3690"/>
              </a:lnSpc>
              <a:spcBef>
                <a:spcPts val="1302"/>
              </a:spcBef>
              <a:spcAft>
                <a:spcPts val="0"/>
              </a:spcAft>
            </a:pPr>
            <a:r>
              <a:rPr sz="2800" spc="130" dirty="0">
                <a:solidFill>
                  <a:srgbClr val="000000"/>
                </a:solidFill>
                <a:latin typeface="Microsoft YaHei"/>
                <a:cs typeface="Microsoft YaHei"/>
              </a:rPr>
              <a:t>年下来，水平仅是初始的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4.63</a:t>
            </a:r>
            <a:r>
              <a:rPr sz="2800" spc="128" dirty="0">
                <a:solidFill>
                  <a:srgbClr val="000000"/>
                </a:solidFill>
                <a:latin typeface="Microsoft YaHei"/>
                <a:cs typeface="Microsoft YaHei"/>
              </a:rPr>
              <a:t>倍！与每天坚持所</a:t>
            </a:r>
          </a:p>
          <a:p>
            <a:pPr marL="0" marR="0">
              <a:lnSpc>
                <a:spcPts val="3690"/>
              </a:lnSpc>
              <a:spcBef>
                <a:spcPts val="139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提高的37倍相去甚远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实例代码3.5: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668" y="2500063"/>
            <a:ext cx="7966200" cy="2427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如果对实例代码3.4的结果感到意外，那自然会产</a:t>
            </a:r>
          </a:p>
          <a:p>
            <a:pPr marL="0" marR="0">
              <a:lnSpc>
                <a:spcPts val="3690"/>
              </a:lnSpc>
              <a:spcBef>
                <a:spcPts val="13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生如下问题：每周工作5天，休息2天，休息日水</a:t>
            </a:r>
          </a:p>
          <a:p>
            <a:pPr marL="0" marR="0">
              <a:lnSpc>
                <a:spcPts val="3690"/>
              </a:lnSpc>
              <a:spcBef>
                <a:spcPts val="139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平下降0.01，工作日要努力到什么程度一年后的水</a:t>
            </a:r>
          </a:p>
          <a:p>
            <a:pPr marL="0" marR="0">
              <a:lnSpc>
                <a:spcPts val="3690"/>
              </a:lnSpc>
              <a:spcBef>
                <a:spcPts val="130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平才与每天努力1%所取得的效果一样呢？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0654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实例代码3.5:</a:t>
            </a:r>
            <a:r>
              <a:rPr sz="4000" spc="41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天天向上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6265" y="1924938"/>
            <a:ext cx="4725365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275" dirty="0">
                <a:solidFill>
                  <a:srgbClr val="000000"/>
                </a:solidFill>
                <a:latin typeface="Microsoft YaHei"/>
                <a:cs typeface="Microsoft YaHei"/>
              </a:rPr>
              <a:t>如果每周连续努力</a:t>
            </a:r>
            <a:r>
              <a:rPr sz="2800" spc="277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sz="2800" spc="283" dirty="0">
                <a:solidFill>
                  <a:srgbClr val="000000"/>
                </a:solidFill>
                <a:latin typeface="Microsoft YaHei"/>
                <a:cs typeface="Microsoft YaHei"/>
              </a:rPr>
              <a:t>天，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28615" y="2041429"/>
            <a:ext cx="432816" cy="657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</a:t>
            </a:r>
          </a:p>
          <a:p>
            <a:pPr marL="0" marR="0">
              <a:lnSpc>
                <a:spcPts val="1103"/>
              </a:lnSpc>
              <a:spcBef>
                <a:spcPts val="69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代码</a:t>
            </a:r>
          </a:p>
          <a:p>
            <a:pPr marL="0" marR="0">
              <a:lnSpc>
                <a:spcPts val="1489"/>
              </a:lnSpc>
              <a:spcBef>
                <a:spcPts val="485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3.5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74842" y="2014730"/>
            <a:ext cx="1508953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e3.5DayDayUp365.py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6265" y="2565595"/>
            <a:ext cx="4725060" cy="3707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spc="68" dirty="0">
                <a:solidFill>
                  <a:srgbClr val="000000"/>
                </a:solidFill>
                <a:latin typeface="Microsoft YaHei"/>
                <a:cs typeface="Microsoft YaHei"/>
              </a:rPr>
              <a:t>休息</a:t>
            </a:r>
            <a:r>
              <a:rPr sz="2800" spc="75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sz="2800" spc="68" dirty="0">
                <a:solidFill>
                  <a:srgbClr val="000000"/>
                </a:solidFill>
                <a:latin typeface="Microsoft YaHei"/>
                <a:cs typeface="Microsoft YaHei"/>
              </a:rPr>
              <a:t>天，为了达到每天努</a:t>
            </a:r>
          </a:p>
          <a:p>
            <a:pPr marL="0" marR="0">
              <a:lnSpc>
                <a:spcPts val="3693"/>
              </a:lnSpc>
              <a:spcBef>
                <a:spcPts val="1347"/>
              </a:spcBef>
              <a:spcAft>
                <a:spcPts val="0"/>
              </a:spcAft>
            </a:pPr>
            <a:r>
              <a:rPr sz="2800" spc="103" dirty="0">
                <a:solidFill>
                  <a:srgbClr val="000000"/>
                </a:solidFill>
                <a:latin typeface="Microsoft YaHei"/>
                <a:cs typeface="Microsoft YaHei"/>
              </a:rPr>
              <a:t>力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1%</a:t>
            </a:r>
            <a:r>
              <a:rPr sz="2800" spc="109" dirty="0">
                <a:solidFill>
                  <a:srgbClr val="000000"/>
                </a:solidFill>
                <a:latin typeface="Microsoft YaHei"/>
                <a:cs typeface="Microsoft YaHei"/>
              </a:rPr>
              <a:t>所达到的的水平，则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spc="238" dirty="0">
                <a:solidFill>
                  <a:srgbClr val="000000"/>
                </a:solidFill>
                <a:latin typeface="Microsoft YaHei"/>
                <a:cs typeface="Microsoft YaHei"/>
              </a:rPr>
              <a:t>就需要在工作日将提高的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spc="109" dirty="0">
                <a:solidFill>
                  <a:srgbClr val="000000"/>
                </a:solidFill>
                <a:latin typeface="Microsoft YaHei"/>
                <a:cs typeface="Microsoft YaHei"/>
              </a:rPr>
              <a:t>程度达到约</a:t>
            </a:r>
            <a:r>
              <a:rPr sz="2800" spc="50" dirty="0">
                <a:solidFill>
                  <a:srgbClr val="000000"/>
                </a:solidFill>
                <a:latin typeface="Microsoft YaHei"/>
                <a:cs typeface="Microsoft YaHei"/>
              </a:rPr>
              <a:t>2%</a:t>
            </a:r>
            <a:r>
              <a:rPr sz="2800" spc="108" dirty="0">
                <a:solidFill>
                  <a:srgbClr val="000000"/>
                </a:solidFill>
                <a:latin typeface="Microsoft YaHei"/>
                <a:cs typeface="Microsoft YaHei"/>
              </a:rPr>
              <a:t>，即要努力</a:t>
            </a:r>
          </a:p>
          <a:p>
            <a:pPr marL="0" marR="0">
              <a:lnSpc>
                <a:spcPts val="3690"/>
              </a:lnSpc>
              <a:spcBef>
                <a:spcPts val="135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1倍才仅是为了休息2天。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61" dirty="0">
                <a:solidFill>
                  <a:srgbClr val="000000"/>
                </a:solidFill>
                <a:latin typeface="Microsoft YaHei"/>
                <a:cs typeface="Microsoft YaHei"/>
              </a:rPr>
              <a:t>这就是天天向上的力量！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86782" y="2824074"/>
            <a:ext cx="1873338" cy="434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#e3.5DayDayUp365.py</a:t>
            </a:r>
          </a:p>
          <a:p>
            <a:pPr marL="0" marR="0">
              <a:lnSpc>
                <a:spcPts val="1128"/>
              </a:lnSpc>
              <a:spcBef>
                <a:spcPts val="86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def dayUP(df):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86782" y="3331947"/>
            <a:ext cx="13399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0.01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86782" y="3586455"/>
            <a:ext cx="2559138" cy="94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range(365):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b="1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i % 7 in [6, 0]: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000" b="1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dayup * (1 </a:t>
            </a:r>
            <a:r>
              <a:rPr sz="1000" b="1">
                <a:solidFill>
                  <a:srgbClr val="000000"/>
                </a:solidFill>
                <a:latin typeface="Courier New"/>
                <a:cs typeface="Courier New"/>
              </a:rPr>
              <a:t>-0.01)</a:t>
            </a:r>
            <a:endParaRPr sz="1000" b="1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000" b="1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86782" y="4601693"/>
            <a:ext cx="2254338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000" b="1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dayup = dayup * (1 + df)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000" b="1" spc="9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return dayup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48682" y="5110710"/>
            <a:ext cx="2825838" cy="43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000" b="1" spc="6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dayfacotr = 0.01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000" b="1" spc="6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while (dayUP(dayfactor)&lt;37.78):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48682" y="5618227"/>
            <a:ext cx="304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64759" y="5618227"/>
            <a:ext cx="1523961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dayfactor += 0.001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48682" y="5869338"/>
            <a:ext cx="4223727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000" b="1" spc="6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每天的努力参数是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{:.3f}.".format(dayfactor))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327342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字符串类型及其操作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50839"/>
            <a:ext cx="7716658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89" dirty="0">
                <a:solidFill>
                  <a:srgbClr val="000000"/>
                </a:solidFill>
                <a:latin typeface="Microsoft YaHei"/>
                <a:cs typeface="Microsoft YaHei"/>
              </a:rPr>
              <a:t>字符串是用双引号</a:t>
            </a:r>
            <a:r>
              <a:rPr sz="2800" spc="46" dirty="0">
                <a:solidFill>
                  <a:srgbClr val="000000"/>
                </a:solidFill>
                <a:latin typeface="Microsoft YaHei"/>
                <a:cs typeface="Microsoft YaHei"/>
              </a:rPr>
              <a:t>""</a:t>
            </a:r>
            <a:r>
              <a:rPr sz="2800" spc="89" dirty="0">
                <a:solidFill>
                  <a:srgbClr val="000000"/>
                </a:solidFill>
                <a:latin typeface="Microsoft YaHei"/>
                <a:cs typeface="Microsoft YaHei"/>
              </a:rPr>
              <a:t>或者单引号</a:t>
            </a:r>
            <a:r>
              <a:rPr sz="2800" spc="43" dirty="0">
                <a:solidFill>
                  <a:srgbClr val="000000"/>
                </a:solidFill>
                <a:latin typeface="Microsoft YaHei"/>
                <a:cs typeface="Microsoft YaHei"/>
              </a:rPr>
              <a:t>''</a:t>
            </a:r>
            <a:r>
              <a:rPr sz="2800" spc="85" dirty="0">
                <a:solidFill>
                  <a:srgbClr val="000000"/>
                </a:solidFill>
                <a:latin typeface="Microsoft YaHei"/>
                <a:cs typeface="Microsoft YaHei"/>
              </a:rPr>
              <a:t>括起来的一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个或多个字符。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3131253"/>
            <a:ext cx="8073796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46" dirty="0">
                <a:solidFill>
                  <a:srgbClr val="000000"/>
                </a:solidFill>
                <a:latin typeface="Microsoft YaHei"/>
                <a:cs typeface="Microsoft YaHei"/>
              </a:rPr>
              <a:t>字符串可以保存在变量中，也可以单独存在。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可以用type()函数测试一个字符串的类型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7624" y="317515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5113" y="952786"/>
            <a:ext cx="8164983" cy="2334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Python语言转义符：</a:t>
            </a:r>
            <a:r>
              <a:rPr sz="280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\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/>
              <a:t>转义字符</a:t>
            </a:r>
            <a:r>
              <a:rPr lang="zh-CN" altLang="en-US" sz="2800" dirty="0"/>
              <a:t>‌是编程中用于表示那些在字符串中具有特殊含义的字符的一种方式。通过在字符前加上反斜杠（</a:t>
            </a:r>
            <a:r>
              <a:rPr lang="en-US" altLang="zh-CN" sz="2800" dirty="0"/>
              <a:t>\</a:t>
            </a:r>
            <a:r>
              <a:rPr lang="zh-CN" altLang="en-US" sz="2800" dirty="0"/>
              <a:t>），可以指示编译器该字符应该被视为普通字符，而不是其通常的特殊含义。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2876" y="3287399"/>
            <a:ext cx="6918247" cy="1360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输出带有引号的字符串，可以使用转义符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使用</a:t>
            </a:r>
            <a:r>
              <a:rPr sz="28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\\ 输出带有转移符的字符串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5877272"/>
            <a:ext cx="4483385" cy="72618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8109168" cy="1360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字符串是一个字符序列：字符串最左端位置标记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为0，依次增加。字符串中的编号叫做“索引”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90727" y="3966951"/>
            <a:ext cx="2582003" cy="3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sz="2200" spc="24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sz="2200" spc="29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  <a:r>
              <a:rPr sz="2200" spc="333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  <a:r>
              <a:rPr sz="2200" spc="29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99537" y="3966951"/>
            <a:ext cx="1988032" cy="3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r>
              <a:rPr sz="2200" spc="26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sz="2200" spc="259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sz="2200" spc="259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13805" y="4535036"/>
            <a:ext cx="5373765" cy="3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2200" spc="259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sz="2200" spc="259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sz="2200" spc="259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sz="2200" spc="259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  <a:r>
              <a:rPr sz="2200" spc="259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5</a:t>
            </a:r>
            <a:r>
              <a:rPr sz="2200" spc="259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6</a:t>
            </a:r>
            <a:r>
              <a:rPr sz="2200" spc="259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200" spc="259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2200" spc="259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6647254" cy="1360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单个索引辅助访问字符串中的特定位置</a:t>
            </a:r>
          </a:p>
          <a:p>
            <a:pPr marL="876325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格式为&lt;string&gt;[&lt;索引&gt;]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8116468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98" dirty="0">
                <a:solidFill>
                  <a:srgbClr val="000000"/>
                </a:solidFill>
                <a:latin typeface="Microsoft YaHei"/>
                <a:cs typeface="Microsoft YaHei"/>
              </a:rPr>
              <a:t>中字符串索引从0开始，一个长度为</a:t>
            </a:r>
            <a:r>
              <a:rPr sz="2800" spc="99" dirty="0">
                <a:solidFill>
                  <a:srgbClr val="000000"/>
                </a:solidFill>
                <a:latin typeface="Microsoft YaHei"/>
                <a:cs typeface="Microsoft YaHei"/>
              </a:rPr>
              <a:t>L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的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字符串最后一个字符的位置是L-1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3122802"/>
            <a:ext cx="8109904" cy="114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116" dirty="0">
                <a:solidFill>
                  <a:srgbClr val="000000"/>
                </a:solidFill>
                <a:latin typeface="Microsoft YaHei"/>
                <a:cs typeface="Microsoft YaHei"/>
              </a:rPr>
              <a:t>同时允许使用负数从字符串右边末尾向</a:t>
            </a:r>
          </a:p>
          <a:p>
            <a:pPr marL="0" marR="0">
              <a:lnSpc>
                <a:spcPts val="3690"/>
              </a:lnSpc>
              <a:spcBef>
                <a:spcPts val="13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左边进行反向索引，最右侧索引值是-1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8115802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可以通过两个索引值确定一个位置范围，返回这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个范围的子串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50186" y="3122802"/>
            <a:ext cx="5624566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格式：</a:t>
            </a:r>
            <a:r>
              <a:rPr sz="28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&lt;string&gt;[&lt;start&gt;:&lt;end&gt;]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9017" y="3763459"/>
            <a:ext cx="8114259" cy="1146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21" dirty="0">
                <a:solidFill>
                  <a:srgbClr val="000000"/>
                </a:solidFill>
                <a:latin typeface="Microsoft YaHei"/>
                <a:cs typeface="Microsoft YaHei"/>
              </a:rPr>
              <a:t>start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end</a:t>
            </a: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都是整数型数值，这个子序列从索引</a:t>
            </a:r>
          </a:p>
          <a:p>
            <a:pPr marL="0" marR="0">
              <a:lnSpc>
                <a:spcPts val="3693"/>
              </a:lnSpc>
              <a:spcBef>
                <a:spcPts val="1347"/>
              </a:spcBef>
              <a:spcAft>
                <a:spcPts val="0"/>
              </a:spcAft>
            </a:pP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start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开始直到索引end结束，</a:t>
            </a:r>
            <a:r>
              <a:rPr sz="2800" dirty="0">
                <a:solidFill>
                  <a:srgbClr val="FF0000"/>
                </a:solidFill>
                <a:latin typeface="Microsoft YaHei"/>
                <a:cs typeface="Microsoft YaHei"/>
              </a:rPr>
              <a:t>但不包括end位置</a:t>
            </a: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1EFCAB-91ED-4BC3-AEC0-7FD487E9F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910378"/>
            <a:ext cx="2520280" cy="188554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7031101" cy="1987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字符串之间可以通过+或*进行连接</a:t>
            </a:r>
          </a:p>
          <a:p>
            <a:pPr marL="457225" marR="0">
              <a:lnSpc>
                <a:spcPts val="3167"/>
              </a:lnSpc>
              <a:spcBef>
                <a:spcPts val="2728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21" dirty="0">
                <a:solidFill>
                  <a:srgbClr val="000000"/>
                </a:solidFill>
                <a:latin typeface="Microsoft YaHei"/>
                <a:cs typeface="Microsoft YaHei"/>
              </a:rPr>
              <a:t>加法操作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(+)</a:t>
            </a:r>
            <a:r>
              <a:rPr sz="2400" spc="120" dirty="0">
                <a:solidFill>
                  <a:srgbClr val="000000"/>
                </a:solidFill>
                <a:latin typeface="Microsoft YaHei"/>
                <a:cs typeface="Microsoft YaHei"/>
              </a:rPr>
              <a:t>将两个字符串连接成为一个新的</a:t>
            </a:r>
          </a:p>
          <a:p>
            <a:pPr marL="685825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字符串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6242" y="4289367"/>
            <a:ext cx="6575094" cy="11722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乘法操作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(*)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生成一个由其本身字符串重复连接</a:t>
            </a:r>
          </a:p>
          <a:p>
            <a:pPr marL="228600" marR="0">
              <a:lnSpc>
                <a:spcPts val="3167"/>
              </a:lnSpc>
              <a:spcBef>
                <a:spcPts val="254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而成的字符串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6334022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len()函数能否返回一个字符串的长度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字符串类型的转换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703618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33" dirty="0">
                <a:solidFill>
                  <a:srgbClr val="000000"/>
                </a:solidFill>
                <a:latin typeface="Microsoft YaHei"/>
                <a:cs typeface="Microsoft YaHei"/>
              </a:rPr>
              <a:t>大多数数据类型都可以通过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str()</a:t>
            </a:r>
            <a:r>
              <a:rPr sz="2800" spc="33" dirty="0">
                <a:solidFill>
                  <a:srgbClr val="000000"/>
                </a:solidFill>
                <a:latin typeface="Microsoft YaHei"/>
                <a:cs typeface="Microsoft YaHei"/>
              </a:rPr>
              <a:t>函数转换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2863976"/>
            <a:ext cx="1573987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为字符串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字符串使用实例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0917" y="1850839"/>
            <a:ext cx="6938973" cy="1232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输入一个月份数字，返回对应月份名称缩写</a:t>
            </a:r>
          </a:p>
          <a:p>
            <a:pPr marL="0" marR="0">
              <a:lnSpc>
                <a:spcPts val="3690"/>
              </a:lnSpc>
              <a:spcBef>
                <a:spcPts val="202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这个问题的IPO模式是：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8830" y="3301941"/>
            <a:ext cx="6194906" cy="1957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输入：输入一个表示月份的数字(1-12)</a:t>
            </a:r>
          </a:p>
          <a:p>
            <a:pPr marL="0" marR="0">
              <a:lnSpc>
                <a:spcPts val="3690"/>
              </a:lnSpc>
              <a:spcBef>
                <a:spcPts val="202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处理：利用字符串基本操作实现该功能</a:t>
            </a:r>
          </a:p>
          <a:p>
            <a:pPr marL="0" marR="0">
              <a:lnSpc>
                <a:spcPts val="3690"/>
              </a:lnSpc>
              <a:spcBef>
                <a:spcPts val="2024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输出：输入数字对应月份名称的缩写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字符串使用实例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8167" y="1850839"/>
            <a:ext cx="6291071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将所有月份名称缩写存储在字符串中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8167" y="3131253"/>
            <a:ext cx="7357413" cy="1065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在字符串中截取适当的子串来查找特定月份</a:t>
            </a:r>
          </a:p>
          <a:p>
            <a:pPr marL="457200" marR="0">
              <a:lnSpc>
                <a:spcPts val="3167"/>
              </a:lnSpc>
              <a:spcBef>
                <a:spcPts val="1228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6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找出在哪里切割子串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5367" y="4304607"/>
            <a:ext cx="7228002" cy="1538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6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101" dirty="0">
                <a:solidFill>
                  <a:srgbClr val="000000"/>
                </a:solidFill>
                <a:latin typeface="Microsoft YaHei"/>
                <a:cs typeface="Microsoft YaHei"/>
              </a:rPr>
              <a:t>每个月份的缩写都由</a:t>
            </a:r>
            <a:r>
              <a:rPr sz="2400" spc="104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个字母组成，如果</a:t>
            </a: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pos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表示</a:t>
            </a:r>
          </a:p>
          <a:p>
            <a:pPr marL="22865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一个月份的第一个字母，则months[pos:pos+3]表</a:t>
            </a:r>
          </a:p>
          <a:p>
            <a:pPr marL="90556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示这个月份的缩写，即：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5367" y="5999126"/>
            <a:ext cx="380185" cy="376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62072" y="5950560"/>
            <a:ext cx="5429169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monthAbbrev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months[pos:pos+3]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字符串使用实例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34817" y="2009081"/>
            <a:ext cx="351929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月份</a:t>
            </a:r>
            <a:r>
              <a:rPr sz="2800" spc="34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字符串中位置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63319" y="2521145"/>
            <a:ext cx="708098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0" dirty="0">
                <a:solidFill>
                  <a:srgbClr val="000000"/>
                </a:solidFill>
                <a:latin typeface="Microsoft YaHei"/>
                <a:cs typeface="Microsoft YaHei"/>
              </a:rPr>
              <a:t>Jan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92372" y="2521145"/>
            <a:ext cx="360813" cy="2043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</a:p>
          <a:p>
            <a:pPr marL="0" marR="0">
              <a:lnSpc>
                <a:spcPts val="3693"/>
              </a:lnSpc>
              <a:spcBef>
                <a:spcPts val="33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</a:p>
          <a:p>
            <a:pPr marL="0" marR="0">
              <a:lnSpc>
                <a:spcPts val="3690"/>
              </a:lnSpc>
              <a:spcBef>
                <a:spcPts val="39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</a:p>
          <a:p>
            <a:pPr marL="0" marR="0">
              <a:lnSpc>
                <a:spcPts val="3690"/>
              </a:lnSpc>
              <a:spcBef>
                <a:spcPts val="34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75620" y="2521145"/>
            <a:ext cx="360814" cy="2043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</a:p>
          <a:p>
            <a:pPr marL="0" marR="0">
              <a:lnSpc>
                <a:spcPts val="3693"/>
              </a:lnSpc>
              <a:spcBef>
                <a:spcPts val="33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</a:p>
          <a:p>
            <a:pPr marL="160" marR="0">
              <a:lnSpc>
                <a:spcPts val="3690"/>
              </a:lnSpc>
              <a:spcBef>
                <a:spcPts val="39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6</a:t>
            </a:r>
          </a:p>
          <a:p>
            <a:pPr marL="160" marR="0">
              <a:lnSpc>
                <a:spcPts val="3690"/>
              </a:lnSpc>
              <a:spcBef>
                <a:spcPts val="34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63319" y="3032886"/>
            <a:ext cx="831277" cy="1531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Feb</a:t>
            </a:r>
          </a:p>
          <a:p>
            <a:pPr marL="0" marR="0">
              <a:lnSpc>
                <a:spcPts val="3690"/>
              </a:lnSpc>
              <a:spcBef>
                <a:spcPts val="34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Mar</a:t>
            </a:r>
          </a:p>
          <a:p>
            <a:pPr marL="0" marR="0">
              <a:lnSpc>
                <a:spcPts val="3690"/>
              </a:lnSpc>
              <a:spcBef>
                <a:spcPts val="39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Apr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字符串使用实例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774548"/>
            <a:ext cx="3197351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634685"/>
            <a:ext cx="7715444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可以通过</a:t>
            </a:r>
            <a:r>
              <a:rPr sz="2800" spc="7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800" spc="57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800" spc="7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800" spc="56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组成的循环来遍历字符串中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2275146"/>
            <a:ext cx="1572767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每个字符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0914" y="2915607"/>
            <a:ext cx="3905442" cy="161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格式如下：</a:t>
            </a:r>
          </a:p>
          <a:p>
            <a:pPr marL="547141" marR="0">
              <a:lnSpc>
                <a:spcPts val="3170"/>
              </a:lnSpc>
              <a:spcBef>
                <a:spcPts val="122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Microsoft YaHei"/>
                <a:cs typeface="Microsoft YaHei"/>
              </a:rPr>
              <a:t>&lt;var&gt;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 in &lt;string&gt;:</a:t>
            </a:r>
          </a:p>
          <a:p>
            <a:pPr marL="1181379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操作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356" y="2158765"/>
            <a:ext cx="3816424" cy="45937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3029028"/>
            <a:ext cx="3849012" cy="382897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774548"/>
            <a:ext cx="3197351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8044" y="1792547"/>
            <a:ext cx="7467600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用转义符可以在字符串中表达一些不可直接打印的信息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例如：用\n表示换行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5194" y="2890081"/>
            <a:ext cx="6331929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字符串"Hello\nWorld\n\nGoodbye</a:t>
            </a: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28" dirty="0">
                <a:solidFill>
                  <a:srgbClr val="000000"/>
                </a:solidFill>
                <a:latin typeface="Microsoft YaHei"/>
                <a:cs typeface="Microsoft YaHei"/>
              </a:rPr>
              <a:t>32\n"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用print()函数打印后的输出效果如下：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82394" y="3987038"/>
            <a:ext cx="1048791" cy="8707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Hello</a:t>
            </a:r>
          </a:p>
          <a:p>
            <a:pPr marL="0" marR="0">
              <a:lnSpc>
                <a:spcPts val="3167"/>
              </a:lnSpc>
              <a:spcBef>
                <a:spcPts val="217"/>
              </a:spcBef>
              <a:spcAft>
                <a:spcPts val="0"/>
              </a:spcAft>
            </a:pPr>
            <a:r>
              <a:rPr sz="2400" spc="-15" dirty="0">
                <a:solidFill>
                  <a:srgbClr val="000000"/>
                </a:solidFill>
                <a:latin typeface="Microsoft YaHei"/>
                <a:cs typeface="Microsoft YaHei"/>
              </a:rPr>
              <a:t>World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82394" y="5148903"/>
            <a:ext cx="193781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Goodbye 32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内置的字符串处理函数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26869" y="1592124"/>
            <a:ext cx="609600" cy="705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YaHei"/>
                <a:cs typeface="Microsoft YaHei"/>
              </a:rPr>
              <a:t>操作</a:t>
            </a:r>
          </a:p>
          <a:p>
            <a:pPr marL="144779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57417" y="1592124"/>
            <a:ext cx="609600" cy="705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YaHei"/>
                <a:cs typeface="Microsoft YaHei"/>
              </a:rPr>
              <a:t>含义</a:t>
            </a:r>
          </a:p>
          <a:p>
            <a:pPr marL="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连接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03652" y="2323644"/>
            <a:ext cx="25643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*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57417" y="2323644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重复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62379" y="2689657"/>
            <a:ext cx="1340659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&lt;string&gt;[</a:t>
            </a:r>
            <a:r>
              <a:rPr sz="18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57417" y="2689657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索引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78661" y="3055418"/>
            <a:ext cx="2505768" cy="3631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1233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&lt;string&gt;[</a:t>
            </a:r>
            <a:r>
              <a:rPr sz="1800" spc="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: ]</a:t>
            </a:r>
          </a:p>
          <a:p>
            <a:pPr marL="454177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len(&lt;string&gt;)</a:t>
            </a:r>
          </a:p>
          <a:p>
            <a:pPr marL="266725" marR="0">
              <a:lnSpc>
                <a:spcPts val="2375"/>
              </a:lnSpc>
              <a:spcBef>
                <a:spcPts val="45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&lt;string&gt;.upper()</a:t>
            </a:r>
          </a:p>
          <a:p>
            <a:pPr marL="291109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&lt;string&gt;.lower()</a:t>
            </a:r>
          </a:p>
          <a:p>
            <a:pPr marL="349021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&lt;string&gt;.strip()</a:t>
            </a:r>
          </a:p>
          <a:p>
            <a:pPr marL="362737" marR="0">
              <a:lnSpc>
                <a:spcPts val="2378"/>
              </a:lnSpc>
              <a:spcBef>
                <a:spcPts val="5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&lt;string&gt;.split()</a:t>
            </a:r>
          </a:p>
          <a:p>
            <a:pPr marL="388645" marR="0">
              <a:lnSpc>
                <a:spcPts val="2375"/>
              </a:lnSpc>
              <a:spcBef>
                <a:spcPts val="5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&lt;string&gt;.join()</a:t>
            </a:r>
          </a:p>
          <a:p>
            <a:pPr marL="377977" marR="0">
              <a:lnSpc>
                <a:spcPts val="2375"/>
              </a:lnSpc>
              <a:spcBef>
                <a:spcPts val="45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&lt;string&gt;.find()</a:t>
            </a:r>
          </a:p>
          <a:p>
            <a:pPr marL="196621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&lt;string&gt;.replace()</a:t>
            </a:r>
          </a:p>
          <a:p>
            <a:pPr marL="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for &lt;var&gt;</a:t>
            </a:r>
            <a:r>
              <a:rPr sz="1800" spc="3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in &lt;string&gt;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57417" y="3055418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剪切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57417" y="3421177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长度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99736" y="3786937"/>
            <a:ext cx="3128162" cy="2534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88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字符串中字母大写</a:t>
            </a:r>
          </a:p>
          <a:p>
            <a:pPr marL="57188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字符串中字母小写</a:t>
            </a:r>
          </a:p>
          <a:p>
            <a:pPr marL="228980" marR="0">
              <a:lnSpc>
                <a:spcPts val="2375"/>
              </a:lnSpc>
              <a:spcBef>
                <a:spcPts val="45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去两边空格及去指定字符</a:t>
            </a:r>
          </a:p>
          <a:p>
            <a:pPr marL="0" marR="0">
              <a:lnSpc>
                <a:spcPts val="2378"/>
              </a:lnSpc>
              <a:spcBef>
                <a:spcPts val="5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按指定字符分割字符串为数组</a:t>
            </a:r>
          </a:p>
          <a:p>
            <a:pPr marL="457580" marR="0">
              <a:lnSpc>
                <a:spcPts val="2375"/>
              </a:lnSpc>
              <a:spcBef>
                <a:spcPts val="5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连接两个字符串序列</a:t>
            </a:r>
          </a:p>
          <a:p>
            <a:pPr marL="686180" marR="0">
              <a:lnSpc>
                <a:spcPts val="2375"/>
              </a:lnSpc>
              <a:spcBef>
                <a:spcPts val="50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搜索指定字符串</a:t>
            </a:r>
          </a:p>
          <a:p>
            <a:pPr marL="91478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字符串替换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14517" y="6347588"/>
            <a:ext cx="12954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字符串迭代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内置的字符串处理函数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8990" y="2027469"/>
            <a:ext cx="3289401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3.2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：恺撒密码。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586164"/>
            <a:ext cx="8322563" cy="1440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91" dirty="0">
                <a:solidFill>
                  <a:srgbClr val="000000"/>
                </a:solidFill>
                <a:latin typeface="SimSun"/>
                <a:cs typeface="SimSun"/>
              </a:rPr>
              <a:t>凯撒密码是古罗马凯撒大帝用来对军事情报进行加密的算</a:t>
            </a:r>
          </a:p>
          <a:p>
            <a:pPr marL="0" marR="0">
              <a:lnSpc>
                <a:spcPts val="2400"/>
              </a:lnSpc>
              <a:spcBef>
                <a:spcPts val="1919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SimSun"/>
                <a:cs typeface="SimSun"/>
              </a:rPr>
              <a:t>法，它采用了替换方法对信息中的每一个英文字符循环替换</a:t>
            </a:r>
          </a:p>
          <a:p>
            <a:pPr marL="0" marR="0">
              <a:lnSpc>
                <a:spcPts val="2402"/>
              </a:lnSpc>
              <a:spcBef>
                <a:spcPts val="191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为字母表序列该字符后面第三个字符，对应关系如下：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9816" y="4215019"/>
            <a:ext cx="5438885" cy="1522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原文：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r>
              <a:rPr sz="1800" spc="-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18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z="18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z="18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G</a:t>
            </a:r>
            <a:r>
              <a:rPr sz="1800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H</a:t>
            </a:r>
            <a:r>
              <a:rPr sz="18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J</a:t>
            </a:r>
            <a:r>
              <a:rPr sz="1800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K</a:t>
            </a:r>
            <a:r>
              <a:rPr sz="18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8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z="18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18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1800" spc="-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Q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z="18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U</a:t>
            </a:r>
            <a:r>
              <a:rPr sz="18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V</a:t>
            </a:r>
            <a:r>
              <a:rPr sz="18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W</a:t>
            </a:r>
            <a:r>
              <a:rPr sz="18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8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18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Z</a:t>
            </a:r>
          </a:p>
          <a:p>
            <a:pPr marL="0" marR="0">
              <a:lnSpc>
                <a:spcPts val="2197"/>
              </a:lnSpc>
              <a:spcBef>
                <a:spcPts val="104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密文：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z="18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G</a:t>
            </a:r>
            <a:r>
              <a:rPr sz="1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H</a:t>
            </a:r>
            <a:r>
              <a:rPr sz="18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J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K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8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z="18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18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1800" spc="-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Q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z="18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z="18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U</a:t>
            </a:r>
            <a:r>
              <a:rPr sz="18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V</a:t>
            </a:r>
            <a:r>
              <a:rPr sz="18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W</a:t>
            </a:r>
            <a:r>
              <a:rPr sz="18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8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18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Z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r>
              <a:rPr sz="1800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</a:p>
          <a:p>
            <a:pPr marL="0" marR="0">
              <a:lnSpc>
                <a:spcPts val="2197"/>
              </a:lnSpc>
              <a:spcBef>
                <a:spcPts val="109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原文字符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，其密文字符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满足如下条件：</a:t>
            </a:r>
          </a:p>
          <a:p>
            <a:pPr marL="0" marR="0">
              <a:lnSpc>
                <a:spcPts val="1800"/>
              </a:lnSpc>
              <a:spcBef>
                <a:spcPts val="120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C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=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(</a:t>
            </a:r>
            <a:r>
              <a:rPr sz="1800" spc="45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P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+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3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)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mod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26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9816" y="5882478"/>
            <a:ext cx="243878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解密方法反之，满足：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29816" y="6293696"/>
            <a:ext cx="2553233" cy="2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P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=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(</a:t>
            </a:r>
            <a:r>
              <a:rPr sz="1800" spc="45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C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–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3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)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mod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26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内置的字符串处理函数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258" y="2025300"/>
            <a:ext cx="573023" cy="178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55469" y="1998600"/>
            <a:ext cx="1429533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m3.2</a:t>
            </a:r>
            <a:r>
              <a:rPr sz="11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CaesarCode.py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6258" y="2227455"/>
            <a:ext cx="327660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3.2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28520" y="2566574"/>
            <a:ext cx="2920072" cy="449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plaincode = input(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请输入明文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1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0" marR="0">
              <a:lnSpc>
                <a:spcPts val="1128"/>
              </a:lnSpc>
              <a:spcBef>
                <a:spcPts val="831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p in plaincode: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28520" y="3089631"/>
            <a:ext cx="2283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94508" y="3089631"/>
            <a:ext cx="2743542" cy="432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ord("a") &lt;= ord(p) &lt;= ord("z"):</a:t>
            </a:r>
          </a:p>
          <a:p>
            <a:pPr marL="305180" marR="0">
              <a:lnSpc>
                <a:spcPts val="1128"/>
              </a:lnSpc>
              <a:spcBef>
                <a:spcPts val="851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print(chr(ord("a")+(ord(p)-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28520" y="3597123"/>
            <a:ext cx="2266276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ord("a")+3)%26), end='')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28520" y="3851631"/>
            <a:ext cx="2283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94508" y="3851631"/>
            <a:ext cx="1676488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  <a:p>
            <a:pPr marL="30518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print(p, end='')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61846" y="4663328"/>
            <a:ext cx="24384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微实例运行结果如下：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56258" y="5399126"/>
            <a:ext cx="380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56258" y="5625803"/>
            <a:ext cx="3378796" cy="411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请输入明文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python is an excellent language.</a:t>
            </a:r>
          </a:p>
          <a:p>
            <a:pPr marL="0" marR="0">
              <a:lnSpc>
                <a:spcPts val="1128"/>
              </a:lnSpc>
              <a:spcBef>
                <a:spcPts val="65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sbwkrq lv dq hafhoohqw odqjxdjh.</a:t>
            </a: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0A50BE1D-5116-4091-ACB8-9E8991F07A2D}"/>
              </a:ext>
            </a:extLst>
          </p:cNvPr>
          <p:cNvSpPr txBox="1"/>
          <p:nvPr/>
        </p:nvSpPr>
        <p:spPr>
          <a:xfrm>
            <a:off x="5940152" y="1548078"/>
            <a:ext cx="292007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91" dirty="0">
                <a:solidFill>
                  <a:srgbClr val="000000"/>
                </a:solidFill>
                <a:latin typeface="SimSun"/>
                <a:cs typeface="SimSun"/>
              </a:rPr>
              <a:t>1</a:t>
            </a:r>
            <a:r>
              <a:rPr lang="zh-CN" altLang="en-US" sz="2400" spc="91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91" dirty="0">
                <a:solidFill>
                  <a:srgbClr val="000000"/>
                </a:solidFill>
                <a:latin typeface="SimSun"/>
                <a:cs typeface="SimSun"/>
              </a:rPr>
              <a:t>ASCII</a:t>
            </a:r>
            <a:r>
              <a:rPr lang="zh-CN" altLang="en-US" sz="2400" spc="91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endParaRPr lang="en-US" altLang="zh-CN" sz="2400" spc="91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2667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91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lang="zh-CN" altLang="en-US" sz="2400" spc="91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91" dirty="0">
                <a:solidFill>
                  <a:srgbClr val="000000"/>
                </a:solidFill>
                <a:latin typeface="SimSun"/>
                <a:cs typeface="SimSun"/>
              </a:rPr>
              <a:t>Unicode</a:t>
            </a:r>
          </a:p>
          <a:p>
            <a:pPr marL="2667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91" dirty="0">
                <a:solidFill>
                  <a:srgbClr val="000000"/>
                </a:solidFill>
                <a:latin typeface="SimSun"/>
                <a:cs typeface="SimSun"/>
              </a:rPr>
              <a:t>3</a:t>
            </a:r>
            <a:r>
              <a:rPr lang="zh-CN" altLang="en-US" sz="2400" spc="91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sz="2400" spc="91" dirty="0">
                <a:solidFill>
                  <a:srgbClr val="000000"/>
                </a:solidFill>
                <a:latin typeface="SimSun"/>
                <a:cs typeface="SimSun"/>
              </a:rPr>
              <a:t>UTF-8</a:t>
            </a:r>
            <a:endParaRPr sz="2400" spc="91" dirty="0">
              <a:solidFill>
                <a:srgbClr val="000000"/>
              </a:solidFill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内置的字符串处理方法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7017" y="173076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方法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54803" y="173076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18333" y="1955349"/>
            <a:ext cx="68276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str.lower()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69538" y="1955349"/>
            <a:ext cx="2176272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的副本，全部字符小写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16810" y="2183949"/>
            <a:ext cx="684426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str.upper()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69538" y="2183949"/>
            <a:ext cx="2176272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的副本，全部字符大写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93366" y="2412803"/>
            <a:ext cx="929820" cy="406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295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str.islower()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str.isprintable()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69538" y="2412803"/>
            <a:ext cx="2939969" cy="635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所有字符都是小写时，返回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所有字符都是可打印的，返回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所有字符都是字符时，返回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38501" y="2871142"/>
            <a:ext cx="1041383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 </a:t>
            </a:r>
            <a:r>
              <a:rPr sz="1200" dirty="0">
                <a:solidFill>
                  <a:srgbClr val="000000"/>
                </a:solidFill>
                <a:latin typeface="Calibri"/>
                <a:cs typeface="Calibri"/>
              </a:rPr>
              <a:t>isnumeric()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78710" y="3144323"/>
            <a:ext cx="76095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str.isspace()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69538" y="3144323"/>
            <a:ext cx="268673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所有字符都是空格，返回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10766" y="3372651"/>
            <a:ext cx="4794169" cy="636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404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str.endswith(suffix[,start[,end]])</a:t>
            </a:r>
            <a:r>
              <a:rPr sz="1000" spc="11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str[start:</a:t>
            </a:r>
            <a:r>
              <a:rPr sz="10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end]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suffix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结尾返回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69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str.startswith(prefix[, start[, end]])</a:t>
            </a:r>
            <a:r>
              <a:rPr sz="1000" spc="6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str[start:</a:t>
            </a:r>
            <a:r>
              <a:rPr sz="10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end]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suffix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开始返回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46735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str.split(sep=None,</a:t>
            </a:r>
            <a:r>
              <a:rPr sz="10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maxsplit=-1)</a:t>
            </a:r>
            <a:r>
              <a:rPr sz="1000" spc="10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返回一个列表，由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根据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sep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被分割的部分构成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15998" y="4087679"/>
            <a:ext cx="148512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str.count(sub[,start[,end]])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669538" y="4087679"/>
            <a:ext cx="227533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str[start: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end]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sub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子串出现的次数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42845" y="4316279"/>
            <a:ext cx="1631092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str.replace(old,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new[,</a:t>
            </a:r>
            <a:r>
              <a:rPr sz="10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count])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669538" y="4316279"/>
            <a:ext cx="3372866" cy="406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spc="62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spc="63" dirty="0">
                <a:solidFill>
                  <a:srgbClr val="000000"/>
                </a:solidFill>
                <a:latin typeface="SimSun"/>
                <a:cs typeface="SimSun"/>
              </a:rPr>
              <a:t>的副本，所有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old</a:t>
            </a:r>
            <a:r>
              <a:rPr sz="1000" spc="63" dirty="0">
                <a:solidFill>
                  <a:srgbClr val="000000"/>
                </a:solidFill>
                <a:latin typeface="SimSun"/>
                <a:cs typeface="SimSun"/>
              </a:rPr>
              <a:t>子串被替换为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new</a:t>
            </a:r>
            <a:r>
              <a:rPr sz="1000" spc="62" dirty="0">
                <a:solidFill>
                  <a:srgbClr val="000000"/>
                </a:solidFill>
                <a:latin typeface="SimSun"/>
                <a:cs typeface="SimSun"/>
              </a:rPr>
              <a:t>，如果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count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给出，则前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count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old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出现被替换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03805" y="4773860"/>
            <a:ext cx="1509660" cy="406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str.center(width[,</a:t>
            </a:r>
            <a:r>
              <a:rPr sz="1000" spc="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fillchar])</a:t>
            </a:r>
          </a:p>
          <a:p>
            <a:pPr marL="268223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str.strip([chars])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69538" y="4777875"/>
            <a:ext cx="192328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字符串居中函数，详见函数定义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669538" y="5002460"/>
            <a:ext cx="3373987" cy="397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的副本，在其左侧和右侧去掉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chars</a:t>
            </a: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中列出的</a:t>
            </a:r>
          </a:p>
          <a:p>
            <a:pPr marL="0" marR="0">
              <a:lnSpc>
                <a:spcPts val="996"/>
              </a:lnSpc>
              <a:spcBef>
                <a:spcPts val="72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字符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17750" y="5459660"/>
            <a:ext cx="886584" cy="406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str.zfill(width)</a:t>
            </a:r>
          </a:p>
          <a:p>
            <a:pPr marL="76200" marR="0">
              <a:lnSpc>
                <a:spcPts val="1102"/>
              </a:lnSpc>
              <a:spcBef>
                <a:spcPts val="69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str.format()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669538" y="5459660"/>
            <a:ext cx="3373979" cy="864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的副本，长度为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width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，不足部分在左侧添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  <a:p>
            <a:pPr marL="0" marR="0">
              <a:lnSpc>
                <a:spcPts val="1102"/>
              </a:lnSpc>
              <a:spcBef>
                <a:spcPts val="69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的一种排版格式，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3.6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节将详细介绍</a:t>
            </a:r>
          </a:p>
          <a:p>
            <a:pPr marL="0" marR="0">
              <a:lnSpc>
                <a:spcPts val="1102"/>
              </a:lnSpc>
              <a:spcBef>
                <a:spcPts val="699"/>
              </a:spcBef>
              <a:spcAft>
                <a:spcPts val="0"/>
              </a:spcAft>
            </a:pPr>
            <a:r>
              <a:rPr sz="1000" spc="38" dirty="0">
                <a:solidFill>
                  <a:srgbClr val="000000"/>
                </a:solidFill>
                <a:latin typeface="SimSun"/>
                <a:cs typeface="SimSun"/>
              </a:rPr>
              <a:t>返回一个新字符串，由组合数据类型（见第</a:t>
            </a:r>
            <a:r>
              <a:rPr sz="1000" spc="4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  <a:r>
              <a:rPr sz="1000" spc="37" dirty="0">
                <a:solidFill>
                  <a:srgbClr val="000000"/>
                </a:solidFill>
                <a:latin typeface="SimSun"/>
                <a:cs typeface="SimSun"/>
              </a:rPr>
              <a:t>章）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iterable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变量的每个元素组成，元素间用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分割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72029" y="5917139"/>
            <a:ext cx="97371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str.join(iterable)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327342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字符串类型的格式化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123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1002" y="762923"/>
            <a:ext cx="568460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format()方法的基本使用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3142" y="2141284"/>
            <a:ext cx="4296691" cy="842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字符串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format()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方法的基本使用格式是：</a:t>
            </a:r>
          </a:p>
          <a:p>
            <a:pPr marL="0" marR="0">
              <a:lnSpc>
                <a:spcPts val="2010"/>
              </a:lnSpc>
              <a:spcBef>
                <a:spcPts val="231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模板字符串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&gt;.format(&lt;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逗号分隔的参数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35" y="5877272"/>
            <a:ext cx="8340927" cy="50405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1002" y="762923"/>
            <a:ext cx="568460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format()方法的基本使用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946116"/>
            <a:ext cx="7876567" cy="5760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98" y="4725144"/>
            <a:ext cx="7154661" cy="202103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1002" y="762923"/>
            <a:ext cx="568460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format()方法的格式控制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92186"/>
            <a:ext cx="7868437" cy="56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format()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方法中模板字符串的槽除了包括参数序号，还可以包括格式控制信</a:t>
            </a:r>
          </a:p>
          <a:p>
            <a:pPr marL="286512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息。此时，槽的内部样式如下：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{&lt;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参数序号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&gt;:</a:t>
            </a:r>
            <a:r>
              <a:rPr sz="1800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格式控制标记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815146"/>
            <a:ext cx="7953400" cy="826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其中，格式控制标记用来控制参数显示时的格式</a:t>
            </a:r>
            <a:r>
              <a:rPr sz="1800" spc="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。格式控制标记包括：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填</a:t>
            </a:r>
          </a:p>
          <a:p>
            <a:pPr marL="286512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充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对齐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宽度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&gt;,&lt;.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精度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类型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&gt;6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个字段，这些字段都是可选的，可以组</a:t>
            </a:r>
          </a:p>
          <a:p>
            <a:pPr marL="286512" marR="0">
              <a:lnSpc>
                <a:spcPts val="1800"/>
              </a:lnSpc>
              <a:spcBef>
                <a:spcPts val="23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合使用，这里按照使用方式逐一介绍。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1002" y="762923"/>
            <a:ext cx="568460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format()方法的基本使用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" y="4495812"/>
            <a:ext cx="3528392" cy="53668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" y="1641980"/>
            <a:ext cx="8886825" cy="2876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60" y="5032492"/>
            <a:ext cx="7450075" cy="183022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9BAB6EF-AC69-473E-9A23-E2239CD3C40F}"/>
              </a:ext>
            </a:extLst>
          </p:cNvPr>
          <p:cNvSpPr txBox="1"/>
          <p:nvPr/>
        </p:nvSpPr>
        <p:spPr>
          <a:xfrm>
            <a:off x="2283172" y="3305491"/>
            <a:ext cx="2648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宽度：使用实际长度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7A95AF-89D4-4004-9A2F-A76DC8403D9A}"/>
              </a:ext>
            </a:extLst>
          </p:cNvPr>
          <p:cNvSpPr txBox="1"/>
          <p:nvPr/>
        </p:nvSpPr>
        <p:spPr>
          <a:xfrm>
            <a:off x="1135701" y="4764152"/>
            <a:ext cx="300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精度：输出的最大长度</a:t>
            </a:r>
          </a:p>
        </p:txBody>
      </p:sp>
    </p:spTree>
    <p:extLst>
      <p:ext uri="{BB962C8B-B14F-4D97-AF65-F5344CB8AC3E}">
        <p14:creationId xmlns:p14="http://schemas.microsoft.com/office/powerpoint/2010/main" val="33448517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3595" y="2788949"/>
            <a:ext cx="3582619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文本进度条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简单的开始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668" y="1961204"/>
            <a:ext cx="5228145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利用print()函数实现简单的非刷新文本进度条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2668" y="2418785"/>
            <a:ext cx="7726374" cy="1745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基本思想是按照任务执行百分比将整个任务划分为100个单位，每执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行N%输出一次进度条。每一行输出包含进度百分比，代表已完成的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部分(**)和未完成的部分(..)的两种字符，以及一个跟随完成度前进的</a:t>
            </a:r>
          </a:p>
          <a:p>
            <a:pPr marL="0" marR="0">
              <a:lnSpc>
                <a:spcPts val="2648"/>
              </a:lnSpc>
              <a:spcBef>
                <a:spcPts val="95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小箭头，风格如下：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95983" y="4984598"/>
            <a:ext cx="4572342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%10 [*****-&gt;.............................................]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简单的开始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48510" y="2230502"/>
            <a:ext cx="2198322" cy="455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  <a:r>
              <a:rPr sz="1100" spc="10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e4.1TextProgressBar.py</a:t>
            </a:r>
          </a:p>
          <a:p>
            <a:pPr marL="0" marR="0">
              <a:lnSpc>
                <a:spcPts val="1489"/>
              </a:lnSpc>
              <a:spcBef>
                <a:spcPts val="31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4.1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20773" y="2810993"/>
            <a:ext cx="2190076" cy="43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#e4.1TextProgressBar.py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time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20773" y="3318485"/>
            <a:ext cx="1199095" cy="18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scale = 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20773" y="3570866"/>
            <a:ext cx="2549740" cy="437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print("------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执行开始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------")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b="1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range(scale+1):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20773" y="4080866"/>
            <a:ext cx="228307" cy="943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10560" y="4081755"/>
            <a:ext cx="27432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a, b = '**' * i,'..' * (scale - i)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10560" y="4336263"/>
            <a:ext cx="14478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 = (i/scale)*100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10560" y="4589501"/>
            <a:ext cx="3505542" cy="43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print("%{:^3.0f}[{}-&gt;{}]" .format (c, a, b))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time.sleep(0.1)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2673" y="5095120"/>
            <a:ext cx="2587840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000" b="1" spc="74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print("------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执行结束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------")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简单的开始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8692" y="1892351"/>
            <a:ext cx="266733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程序的输出效果如下图：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2183" y="2711330"/>
            <a:ext cx="157272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执行开始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2183" y="2967711"/>
            <a:ext cx="2286144" cy="2976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 0 [-&gt;....................]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%10 [**-&gt;..................]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%20 [****-&gt;................]</a:t>
            </a:r>
          </a:p>
          <a:p>
            <a:pPr marL="0" marR="0">
              <a:lnSpc>
                <a:spcPts val="1128"/>
              </a:lnSpc>
              <a:spcBef>
                <a:spcPts val="86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%30 [******-&gt;..............]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%40 [********-&gt;............]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%50 [**********-&gt;..........]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%60 [************-&gt;........]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%70 [**************-&gt;......]</a:t>
            </a:r>
          </a:p>
          <a:p>
            <a:pPr marL="0" marR="0">
              <a:lnSpc>
                <a:spcPts val="1131"/>
              </a:lnSpc>
              <a:spcBef>
                <a:spcPts val="8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%80 [****************-&gt;....]</a:t>
            </a:r>
          </a:p>
          <a:p>
            <a:pPr marL="0" marR="0">
              <a:lnSpc>
                <a:spcPts val="1128"/>
              </a:lnSpc>
              <a:spcBef>
                <a:spcPts val="86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%90 [******************-&gt;..]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%100[********************-&gt;]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执行结束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单行动态刷新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19883" y="2571265"/>
            <a:ext cx="573938" cy="178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6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63901" y="2544508"/>
            <a:ext cx="1613582" cy="227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e4.2TextProgressBar.py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19883" y="2773681"/>
            <a:ext cx="467868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4.2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08910" y="3283179"/>
            <a:ext cx="2206713" cy="43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17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#e4.2TextProgressBar.py</a:t>
            </a:r>
          </a:p>
          <a:p>
            <a:pPr marL="0" marR="0">
              <a:lnSpc>
                <a:spcPts val="1128"/>
              </a:lnSpc>
              <a:spcBef>
                <a:spcPts val="851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17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time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08910" y="3789147"/>
            <a:ext cx="1977859" cy="18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117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range(101):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08910" y="4045179"/>
            <a:ext cx="228307" cy="43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15463" y="4042131"/>
            <a:ext cx="2743161" cy="437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print("\r{:2}%".format(i), end="")</a:t>
            </a:r>
          </a:p>
          <a:p>
            <a:pPr marL="0" marR="0">
              <a:lnSpc>
                <a:spcPts val="1128"/>
              </a:lnSpc>
              <a:spcBef>
                <a:spcPts val="887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time.sleep(0.05)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单行动态刷新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21193"/>
            <a:ext cx="3861010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上述程序在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IDLE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中的执行效果如下。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03933" y="2492477"/>
            <a:ext cx="380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56333" y="2743937"/>
            <a:ext cx="5206580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0%</a:t>
            </a:r>
            <a:r>
              <a:rPr sz="1000" spc="6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1%</a:t>
            </a:r>
            <a:r>
              <a:rPr sz="1000" spc="61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2%</a:t>
            </a:r>
            <a:r>
              <a:rPr sz="1000" spc="6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3%</a:t>
            </a:r>
            <a:r>
              <a:rPr sz="1000" spc="6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4%</a:t>
            </a:r>
            <a:r>
              <a:rPr sz="1000" spc="6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5%</a:t>
            </a:r>
            <a:r>
              <a:rPr sz="1000" spc="6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6%</a:t>
            </a:r>
            <a:r>
              <a:rPr sz="1000" spc="6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7%</a:t>
            </a:r>
            <a:r>
              <a:rPr sz="1000" spc="62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8%</a:t>
            </a:r>
            <a:r>
              <a:rPr sz="1000" spc="6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9% 10%</a:t>
            </a:r>
            <a:r>
              <a:rPr sz="10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11%</a:t>
            </a:r>
            <a:r>
              <a:rPr sz="10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12% 13%</a:t>
            </a:r>
            <a:r>
              <a:rPr sz="10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14% 15%</a:t>
            </a:r>
            <a:r>
              <a:rPr sz="10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16%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03933" y="2998446"/>
            <a:ext cx="5356115" cy="119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17%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18%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19%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20%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21%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22%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23%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24%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25%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26%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27%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28%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29%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30%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31%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32%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33%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34%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35%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36%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37%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38%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39%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40%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41%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42%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43%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44%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45%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46%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47%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48%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49%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50%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51%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52%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53%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54%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55%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56%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57%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58%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59%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60%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61%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62%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63%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64%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65%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66%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67%</a:t>
            </a:r>
          </a:p>
          <a:p>
            <a:pPr marL="0" marR="0">
              <a:lnSpc>
                <a:spcPts val="1131"/>
              </a:lnSpc>
              <a:spcBef>
                <a:spcPts val="8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68%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69%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70%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71%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72%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73%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74%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75%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76%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77%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78%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79%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80%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81%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82%</a:t>
            </a:r>
            <a:r>
              <a:rPr sz="1000" spc="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83%</a:t>
            </a:r>
            <a:r>
              <a:rPr sz="10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84%</a:t>
            </a:r>
          </a:p>
          <a:p>
            <a:pPr marL="0" marR="0">
              <a:lnSpc>
                <a:spcPts val="1128"/>
              </a:lnSpc>
              <a:spcBef>
                <a:spcPts val="88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85% 86% 87% 88% 89% 90% 91% 92% 93% 94% 95% 96% 97% 98% 99%100%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9917" y="4713161"/>
            <a:ext cx="3410711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为什么输出没有单行刷新呢？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9917" y="4987481"/>
            <a:ext cx="8490483" cy="1116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这是因为</a:t>
            </a:r>
            <a:r>
              <a:rPr sz="1800" dirty="0">
                <a:solidFill>
                  <a:schemeClr val="accent2"/>
                </a:solidFill>
                <a:latin typeface="Arial"/>
                <a:cs typeface="Arial"/>
              </a:rPr>
              <a:t>IDLE</a:t>
            </a:r>
            <a:r>
              <a:rPr sz="1800" dirty="0">
                <a:solidFill>
                  <a:schemeClr val="accent2"/>
                </a:solidFill>
                <a:latin typeface="SimSun"/>
                <a:cs typeface="SimSun"/>
              </a:rPr>
              <a:t>本身屏蔽了单行刷新功能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，如果希望获得刷新效果，请使用控制台</a:t>
            </a:r>
          </a:p>
          <a:p>
            <a:pPr marL="286512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命令行执行</a:t>
            </a:r>
            <a:r>
              <a:rPr sz="1800" spc="-15" dirty="0">
                <a:solidFill>
                  <a:srgbClr val="000000"/>
                </a:solidFill>
                <a:latin typeface="Arial"/>
                <a:cs typeface="Arial"/>
              </a:rPr>
              <a:t>e4.2TextProgressBar.py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程序。以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Windows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系统为例，启动命令行工</a:t>
            </a:r>
          </a:p>
          <a:p>
            <a:pPr marL="286512" marR="0">
              <a:lnSpc>
                <a:spcPts val="2010"/>
              </a:lnSpc>
              <a:spcBef>
                <a:spcPts val="1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具（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&lt;Windows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系统安装目录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&gt;\system32\cmd.exe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），选择到</a:t>
            </a:r>
          </a:p>
          <a:p>
            <a:pPr marL="286512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sz="1800" spc="-15" dirty="0">
                <a:solidFill>
                  <a:srgbClr val="000000"/>
                </a:solidFill>
                <a:latin typeface="Arial"/>
                <a:cs typeface="Arial"/>
              </a:rPr>
              <a:t>e4.2TextProgressBar.py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文件所在目录执行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带刷新的文本进度条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64410" y="1892174"/>
            <a:ext cx="2198195" cy="456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</a:t>
            </a:r>
            <a:r>
              <a:rPr sz="1100" spc="10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e4.3TextProgressBar.py</a:t>
            </a:r>
          </a:p>
          <a:p>
            <a:pPr marL="0" marR="0">
              <a:lnSpc>
                <a:spcPts val="1489"/>
              </a:lnSpc>
              <a:spcBef>
                <a:spcPts val="3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4.3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21533" y="2472665"/>
            <a:ext cx="19050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#e4.3TextProgressBar.py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36545" y="2598522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21533" y="2725649"/>
            <a:ext cx="9906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import time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36545" y="2851887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21533" y="2980539"/>
            <a:ext cx="9144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scale = 50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36545" y="3106396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21533" y="3231649"/>
            <a:ext cx="2950806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执行开始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".center(scale//2,'-'))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36545" y="3360903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21533" y="3488030"/>
            <a:ext cx="1371688" cy="144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 = </a:t>
            </a:r>
            <a:r>
              <a:rPr sz="1000" b="1" dirty="0">
                <a:solidFill>
                  <a:schemeClr val="accent2"/>
                </a:solidFill>
                <a:latin typeface="Courier New"/>
                <a:cs typeface="Courier New"/>
              </a:rPr>
              <a:t>time.clock()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36545" y="3613887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21533" y="3742538"/>
            <a:ext cx="19812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i in range(scale+1):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36545" y="3868396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26714" y="3997047"/>
            <a:ext cx="990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a = '*' * 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36545" y="4122649"/>
            <a:ext cx="228490" cy="181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26714" y="4250030"/>
            <a:ext cx="1752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b = '.' * (scale - i)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336545" y="4376141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926714" y="4504792"/>
            <a:ext cx="1447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 = (i/scale)*100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336545" y="4630649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926714" y="4759300"/>
            <a:ext cx="1523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 -=</a:t>
            </a:r>
            <a:r>
              <a:rPr sz="1000" b="1" spc="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time.clock()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98445" y="4885158"/>
            <a:ext cx="304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926714" y="5010760"/>
            <a:ext cx="3886542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print("\r{:^3.0f}%[{}-&gt;{}]{:.2f}s".format(c,a,b,-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298445" y="5138141"/>
            <a:ext cx="304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621533" y="5266792"/>
            <a:ext cx="45728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t),\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621533" y="5521300"/>
            <a:ext cx="685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end='')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298445" y="5646929"/>
            <a:ext cx="304690" cy="181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926714" y="5774030"/>
            <a:ext cx="1371490" cy="181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time.sleep(0.05)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298445" y="5900472"/>
            <a:ext cx="3045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621533" y="6025700"/>
            <a:ext cx="3331806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print("\n"+"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执行结束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".center(scale//2,'-'))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950709" y="3369982"/>
            <a:ext cx="2234963" cy="380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2"/>
                </a:solidFill>
              </a:rPr>
              <a:t>time.perf_counter</a:t>
            </a:r>
            <a:r>
              <a:rPr lang="en-US" altLang="zh-CN" dirty="0">
                <a:solidFill>
                  <a:schemeClr val="accent2"/>
                </a:solidFill>
              </a:rPr>
              <a:t>()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203848" y="5319532"/>
            <a:ext cx="2880320" cy="383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\:line continuation character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带刷新的文本进度条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4717" y="2048994"/>
            <a:ext cx="4733545" cy="29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采用命令行的执行上述文件，效果如下：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32482" y="2979903"/>
            <a:ext cx="2591142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:\&gt;python e4.3TextProgressBar.py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32482" y="3231014"/>
            <a:ext cx="225852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-----------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执行开始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----------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32482" y="3487396"/>
            <a:ext cx="5105996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100%[**************************************************-&gt;] 65.71s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-----------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执行结束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----------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624596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五花八门的进度条设计函数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63217" y="2413516"/>
            <a:ext cx="658368" cy="514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设计名称</a:t>
            </a:r>
          </a:p>
          <a:p>
            <a:pPr marL="117347" marR="0">
              <a:lnSpc>
                <a:spcPts val="1102"/>
              </a:lnSpc>
              <a:spcBef>
                <a:spcPts val="164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Liner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94505" y="2413516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趋势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96329" y="2413516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设计函数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96589" y="2749353"/>
            <a:ext cx="60216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Constant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65242" y="2749353"/>
            <a:ext cx="542627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14829" y="3089205"/>
            <a:ext cx="755115" cy="1537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Early Pause</a:t>
            </a:r>
          </a:p>
          <a:p>
            <a:pPr marL="24002" marR="0">
              <a:lnSpc>
                <a:spcPts val="1105"/>
              </a:lnSpc>
              <a:spcBef>
                <a:spcPts val="156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Late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Pause</a:t>
            </a:r>
          </a:p>
          <a:p>
            <a:pPr marL="5715" marR="0">
              <a:lnSpc>
                <a:spcPts val="1102"/>
              </a:lnSpc>
              <a:spcBef>
                <a:spcPts val="157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Slow Wavy</a:t>
            </a:r>
          </a:p>
          <a:p>
            <a:pPr marL="30480" marR="0">
              <a:lnSpc>
                <a:spcPts val="1102"/>
              </a:lnSpc>
              <a:spcBef>
                <a:spcPts val="152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Fast Wavy</a:t>
            </a:r>
          </a:p>
          <a:p>
            <a:pPr marL="140208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Power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11245" y="3089205"/>
            <a:ext cx="773070" cy="857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291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Speeds up</a:t>
            </a:r>
          </a:p>
          <a:p>
            <a:pPr marL="0" marR="0">
              <a:lnSpc>
                <a:spcPts val="1105"/>
              </a:lnSpc>
              <a:spcBef>
                <a:spcPts val="156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Slows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down</a:t>
            </a:r>
          </a:p>
          <a:p>
            <a:pPr marL="85344" marR="0">
              <a:lnSpc>
                <a:spcPts val="1102"/>
              </a:lnSpc>
              <a:spcBef>
                <a:spcPts val="157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Constant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65242" y="3089205"/>
            <a:ext cx="1724660" cy="187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x+(1-sin(x*</a:t>
            </a:r>
            <a:r>
              <a:rPr sz="1000" spc="10" dirty="0">
                <a:solidFill>
                  <a:srgbClr val="000000"/>
                </a:solidFill>
                <a:latin typeface="Times New Roman"/>
                <a:cs typeface="Times New Roman"/>
              </a:rPr>
              <a:t>π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*2+π/2))/-8</a:t>
            </a:r>
          </a:p>
          <a:p>
            <a:pPr marL="0" marR="0">
              <a:lnSpc>
                <a:spcPts val="1105"/>
              </a:lnSpc>
              <a:spcBef>
                <a:spcPts val="156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x+(1-sin(x*</a:t>
            </a:r>
            <a:r>
              <a:rPr sz="1000" spc="10" dirty="0">
                <a:solidFill>
                  <a:srgbClr val="000000"/>
                </a:solidFill>
                <a:latin typeface="Times New Roman"/>
                <a:cs typeface="Times New Roman"/>
              </a:rPr>
              <a:t>π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*2+π/2))/8</a:t>
            </a:r>
          </a:p>
          <a:p>
            <a:pPr marL="0" marR="0">
              <a:lnSpc>
                <a:spcPts val="1102"/>
              </a:lnSpc>
              <a:spcBef>
                <a:spcPts val="157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x+sin(x*π*5)/20</a:t>
            </a:r>
          </a:p>
          <a:p>
            <a:pPr marL="0" marR="0">
              <a:lnSpc>
                <a:spcPts val="1102"/>
              </a:lnSpc>
              <a:spcBef>
                <a:spcPts val="152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x+sin(x*π*20)/80</a:t>
            </a:r>
          </a:p>
          <a:p>
            <a:pPr marL="0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(x+(1-x)*0.03)2</a:t>
            </a:r>
          </a:p>
          <a:p>
            <a:pPr marL="0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1+(1-x)1.5 </a:t>
            </a:r>
            <a:r>
              <a:rPr sz="1000" spc="-15" dirty="0">
                <a:solidFill>
                  <a:srgbClr val="000000"/>
                </a:solidFill>
                <a:latin typeface="Times New Roman"/>
                <a:cs typeface="Times New Roman"/>
              </a:rPr>
              <a:t>*-1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96589" y="4108507"/>
            <a:ext cx="60216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Constant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11245" y="4448359"/>
            <a:ext cx="772969" cy="1197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291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Speeds up</a:t>
            </a:r>
          </a:p>
          <a:p>
            <a:pPr marL="0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Slows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down</a:t>
            </a:r>
          </a:p>
          <a:p>
            <a:pPr marL="50291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Speeds up</a:t>
            </a:r>
          </a:p>
          <a:p>
            <a:pPr marL="0" marR="0">
              <a:lnSpc>
                <a:spcPts val="1102"/>
              </a:lnSpc>
              <a:spcBef>
                <a:spcPts val="152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Slows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down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16913" y="4788211"/>
            <a:ext cx="949553" cy="857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527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Inverse</a:t>
            </a:r>
            <a:r>
              <a:rPr sz="10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Power</a:t>
            </a:r>
          </a:p>
          <a:p>
            <a:pPr marL="117347" marR="0">
              <a:lnSpc>
                <a:spcPts val="1102"/>
              </a:lnSpc>
              <a:spcBef>
                <a:spcPts val="15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Fast Power</a:t>
            </a:r>
          </a:p>
          <a:p>
            <a:pPr marL="0" marR="0">
              <a:lnSpc>
                <a:spcPts val="1102"/>
              </a:lnSpc>
              <a:spcBef>
                <a:spcPts val="157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Inv.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Fast Power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65242" y="5128063"/>
            <a:ext cx="111506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(x+(1-x)/2)8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865242" y="5467534"/>
            <a:ext cx="113030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f(x)</a:t>
            </a:r>
            <a:r>
              <a:rPr sz="10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= 1+(1-x)3 </a:t>
            </a:r>
            <a:r>
              <a:rPr sz="1000" spc="-14" dirty="0">
                <a:solidFill>
                  <a:srgbClr val="000000"/>
                </a:solidFill>
                <a:latin typeface="Times New Roman"/>
                <a:cs typeface="Times New Roman"/>
              </a:rPr>
              <a:t>*-1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3838</Words>
  <Application>Microsoft Office PowerPoint</Application>
  <PresentationFormat>全屏显示(4:3)</PresentationFormat>
  <Paragraphs>751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Courier New</vt:lpstr>
      <vt:lpstr>微软雅黑</vt:lpstr>
      <vt:lpstr>Arial</vt:lpstr>
      <vt:lpstr>SimSun</vt:lpstr>
      <vt:lpstr>Palatino Linotype</vt:lpstr>
      <vt:lpstr>Times New Roman</vt:lpstr>
      <vt:lpstr>微软雅黑</vt:lpstr>
      <vt:lpstr>Calibri</vt:lpstr>
      <vt:lpstr>SimHei</vt:lpstr>
      <vt:lpstr>Wingdings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34</cp:revision>
  <dcterms:modified xsi:type="dcterms:W3CDTF">2024-11-10T13:28:35Z</dcterms:modified>
</cp:coreProperties>
</file>