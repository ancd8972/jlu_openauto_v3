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3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335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</p:sldIdLst>
  <p:sldSz cx="9144000" cy="6858000" type="screen4x3"/>
  <p:notesSz cx="9144000" cy="6858000"/>
  <p:embeddedFontLst>
    <p:embeddedFont>
      <p:font typeface="SimHei" panose="02010609060101010101" pitchFamily="49" charset="-122"/>
      <p:regular r:id="rId51"/>
    </p:embeddedFont>
    <p:embeddedFont>
      <p:font typeface="Palatino Linotype" panose="02040502050505030304" pitchFamily="18" charset="0"/>
      <p:regular r:id="rId52"/>
      <p:bold r:id="rId53"/>
      <p:italic r:id="rId54"/>
      <p:boldItalic r:id="rId55"/>
    </p:embeddedFont>
    <p:embeddedFont>
      <p:font typeface="微软雅黑" panose="020B0503020204020204" pitchFamily="34" charset="-122"/>
      <p:regular r:id="rId56"/>
      <p:bold r:id="rId57"/>
    </p:embeddedFont>
    <p:embeddedFont>
      <p:font typeface="微软雅黑" panose="020B0503020204020204" pitchFamily="34" charset="-122"/>
      <p:regular r:id="rId56"/>
      <p:bold r:id="rId5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210" y="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718" y="1859885"/>
            <a:ext cx="7863531" cy="116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07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6600" dirty="0">
                <a:solidFill>
                  <a:srgbClr val="000000"/>
                </a:solidFill>
                <a:latin typeface="SimHei"/>
                <a:cs typeface="SimHei"/>
              </a:rPr>
              <a:t>语言程序设计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42" y="3816201"/>
            <a:ext cx="3645661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北京理工大学</a:t>
            </a:r>
            <a:r>
              <a:rPr sz="3200" spc="10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嵩天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894" y="2340758"/>
            <a:ext cx="8344255" cy="1066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94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6000" dirty="0">
                <a:solidFill>
                  <a:srgbClr val="000000"/>
                </a:solidFill>
                <a:latin typeface="Palatino Linotype"/>
                <a:cs typeface="Palatino Linotype"/>
              </a:rPr>
              <a:t>7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6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文件和数据格式化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97479" y="2788949"/>
            <a:ext cx="358140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文件的使用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484697"/>
            <a:ext cx="8392363" cy="2086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文件是一个存储在辅助存储器上的数据序列，可以包含任何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数据内容。概念上，文件是数据的集合和抽象，类似地，函数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是程序的集合和抽象。用文件形式组织和表达数据更有效也更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为灵活。文件包括两种类型：文本文件和二进制文件。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268924"/>
            <a:ext cx="8535568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二进制文件直接由比特</a:t>
            </a: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和比特</a:t>
            </a: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组成，没有统一字符编码，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文件内部数据的组织格式与文件用途有关。二进制文件和文本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文件最主要的区别在于是否有统一的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字符编码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。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917" y="3915098"/>
            <a:ext cx="8538616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无论文件创建为文本文件或者二进制文件，都可以用“文本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文件方式”和“二进制文件方式”打开，打开后的操作不同。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665" y="1935394"/>
            <a:ext cx="6659270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7.1</a:t>
            </a: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：理解文本文件和二进制文件的区别</a:t>
            </a:r>
            <a:r>
              <a:rPr lang="zh-CN" altLang="en-US" sz="2400" spc="11" dirty="0">
                <a:solidFill>
                  <a:srgbClr val="FF0000"/>
                </a:solidFill>
                <a:latin typeface="SimSun"/>
                <a:cs typeface="SimSun"/>
              </a:rPr>
              <a:t>（注意中文文本文件）</a:t>
            </a:r>
            <a:endParaRPr sz="2400" spc="11" dirty="0">
              <a:solidFill>
                <a:srgbClr val="000000"/>
              </a:solidFill>
              <a:latin typeface="SimSun"/>
              <a:cs typeface="SimSun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52120" y="3429000"/>
            <a:ext cx="31683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输出结果：</a:t>
            </a:r>
            <a:endParaRPr lang="en-US" altLang="zh-CN" dirty="0"/>
          </a:p>
          <a:p>
            <a:r>
              <a:rPr lang="zh-CN" altLang="pt-BR" dirty="0"/>
              <a:t>中</a:t>
            </a:r>
          </a:p>
          <a:p>
            <a:endParaRPr lang="zh-CN" altLang="pt-BR" dirty="0"/>
          </a:p>
          <a:p>
            <a:r>
              <a:rPr lang="pt-BR" altLang="zh-CN" dirty="0"/>
              <a:t>b'\xe4\xb8\xad</a:t>
            </a:r>
            <a:r>
              <a:rPr lang="pt-BR" altLang="zh-CN" dirty="0">
                <a:solidFill>
                  <a:srgbClr val="FF0000"/>
                </a:solidFill>
              </a:rPr>
              <a:t>\r\n</a:t>
            </a:r>
            <a:r>
              <a:rPr lang="pt-BR" altLang="zh-CN" dirty="0"/>
              <a:t>'</a:t>
            </a:r>
          </a:p>
          <a:p>
            <a:r>
              <a:rPr lang="pt-BR" altLang="zh-CN" dirty="0"/>
              <a:t>0xE4</a:t>
            </a:r>
          </a:p>
          <a:p>
            <a:r>
              <a:rPr lang="pt-BR" altLang="zh-CN" dirty="0"/>
              <a:t>0xB8</a:t>
            </a:r>
          </a:p>
          <a:p>
            <a:r>
              <a:rPr lang="pt-BR" altLang="zh-CN" dirty="0"/>
              <a:t>0xAD</a:t>
            </a:r>
          </a:p>
          <a:p>
            <a:r>
              <a:rPr lang="pt-BR" altLang="zh-CN" dirty="0">
                <a:solidFill>
                  <a:srgbClr val="FF0000"/>
                </a:solidFill>
              </a:rPr>
              <a:t>0x0D</a:t>
            </a:r>
          </a:p>
          <a:p>
            <a:r>
              <a:rPr lang="pt-BR" altLang="zh-CN" dirty="0">
                <a:solidFill>
                  <a:srgbClr val="FF0000"/>
                </a:solidFill>
              </a:rPr>
              <a:t>0x0A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9512" y="2736502"/>
            <a:ext cx="55446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textfile</a:t>
            </a:r>
            <a:r>
              <a:rPr lang="en-US" altLang="zh-CN" dirty="0"/>
              <a:t>=open("F:\\python\\7.1.txt",</a:t>
            </a:r>
            <a:r>
              <a:rPr lang="en-US" altLang="zh-CN" dirty="0">
                <a:solidFill>
                  <a:srgbClr val="FF0000"/>
                </a:solidFill>
              </a:rPr>
              <a:t>"rt",</a:t>
            </a:r>
            <a:r>
              <a:rPr lang="en-US" altLang="zh-CN" dirty="0"/>
              <a:t>encoding="utf-8")</a:t>
            </a:r>
          </a:p>
          <a:p>
            <a:r>
              <a:rPr lang="en-US" altLang="zh-CN" dirty="0"/>
              <a:t>d=</a:t>
            </a:r>
            <a:r>
              <a:rPr lang="en-US" altLang="zh-CN" dirty="0" err="1"/>
              <a:t>textfile.readline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print(d)</a:t>
            </a:r>
          </a:p>
          <a:p>
            <a:r>
              <a:rPr lang="en-US" altLang="zh-CN" dirty="0" err="1"/>
              <a:t>textfile.close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textfile</a:t>
            </a:r>
            <a:r>
              <a:rPr lang="en-US" altLang="zh-CN" dirty="0"/>
              <a:t>=open("F:/python/7.1.txt",</a:t>
            </a:r>
            <a:r>
              <a:rPr lang="en-US" altLang="zh-CN" dirty="0">
                <a:solidFill>
                  <a:srgbClr val="FF0000"/>
                </a:solidFill>
              </a:rPr>
              <a:t>"rb")</a:t>
            </a:r>
          </a:p>
          <a:p>
            <a:r>
              <a:rPr lang="en-US" altLang="zh-CN" dirty="0"/>
              <a:t>d=</a:t>
            </a:r>
            <a:r>
              <a:rPr lang="en-US" altLang="zh-CN" dirty="0" err="1"/>
              <a:t>textfile.readline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print(d)</a:t>
            </a:r>
          </a:p>
          <a:p>
            <a:r>
              <a:rPr lang="en-US" altLang="zh-CN" dirty="0"/>
              <a:t>for c in d:</a:t>
            </a:r>
          </a:p>
          <a:p>
            <a:r>
              <a:rPr lang="en-US" altLang="zh-CN" dirty="0"/>
              <a:t>  print("0x{:0&gt;2X}".format(c));</a:t>
            </a:r>
          </a:p>
          <a:p>
            <a:r>
              <a:rPr lang="en-US" altLang="zh-CN" dirty="0" err="1"/>
              <a:t>textfile.close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763689" y="1772816"/>
            <a:ext cx="7380312" cy="110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r>
              <a:rPr lang="zh-CN" altLang="en-US" dirty="0"/>
              <a:t>字符         </a:t>
            </a:r>
            <a:r>
              <a:rPr lang="en-US" altLang="zh-CN" dirty="0">
                <a:solidFill>
                  <a:srgbClr val="FF0000"/>
                </a:solidFill>
              </a:rPr>
              <a:t>ASCII                  Unicode                           UTF-8</a:t>
            </a:r>
          </a:p>
          <a:p>
            <a:r>
              <a:rPr lang="en-US" altLang="zh-CN" dirty="0"/>
              <a:t> A         01000001        00000000 01000001               01000001</a:t>
            </a:r>
          </a:p>
          <a:p>
            <a:r>
              <a:rPr lang="en-US" altLang="zh-CN" dirty="0"/>
              <a:t> </a:t>
            </a:r>
            <a:r>
              <a:rPr lang="zh-CN" altLang="en-US" dirty="0"/>
              <a:t>中              </a:t>
            </a:r>
            <a:r>
              <a:rPr lang="en-US" altLang="zh-CN" dirty="0"/>
              <a:t>x                 01001110 00101101      11100100 10111000 10101101</a:t>
            </a:r>
          </a:p>
          <a:p>
            <a:r>
              <a:rPr lang="en-US" altLang="zh-CN" dirty="0"/>
              <a:t>                                                                               0xe4           0xb8          0xad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1102" y="1352660"/>
            <a:ext cx="19812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输出结果为：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28395" y="4773365"/>
            <a:ext cx="7737084" cy="311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61" dirty="0">
                <a:solidFill>
                  <a:srgbClr val="000000"/>
                </a:solidFill>
                <a:latin typeface="Microsoft YaHei"/>
                <a:cs typeface="Microsoft YaHei"/>
              </a:rPr>
              <a:t>采用文本方式读入文件，文件经过编码形成</a:t>
            </a:r>
            <a:r>
              <a:rPr sz="2000" spc="61" dirty="0">
                <a:solidFill>
                  <a:srgbClr val="FF0000"/>
                </a:solidFill>
                <a:latin typeface="Microsoft YaHei"/>
                <a:cs typeface="Microsoft YaHei"/>
              </a:rPr>
              <a:t>字符串</a:t>
            </a:r>
            <a:r>
              <a:rPr sz="2000" spc="61" dirty="0">
                <a:solidFill>
                  <a:srgbClr val="000000"/>
                </a:solidFill>
                <a:latin typeface="Microsoft YaHei"/>
                <a:cs typeface="Microsoft YaHei"/>
              </a:rPr>
              <a:t>，打印出有含义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1390" y="5230565"/>
            <a:ext cx="8003768" cy="311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56" dirty="0">
                <a:solidFill>
                  <a:srgbClr val="000000"/>
                </a:solidFill>
                <a:latin typeface="Microsoft YaHei"/>
                <a:cs typeface="Microsoft YaHei"/>
              </a:rPr>
              <a:t>的字符；采用二进制方式打开文件，文件被解析为</a:t>
            </a:r>
            <a:r>
              <a:rPr sz="2000" spc="56" dirty="0">
                <a:solidFill>
                  <a:srgbClr val="FF0000"/>
                </a:solidFill>
                <a:latin typeface="Microsoft YaHei"/>
                <a:cs typeface="Microsoft YaHei"/>
              </a:rPr>
              <a:t>字节（</a:t>
            </a:r>
            <a:r>
              <a:rPr sz="2000" spc="10" dirty="0">
                <a:solidFill>
                  <a:srgbClr val="FF0000"/>
                </a:solidFill>
                <a:latin typeface="Microsoft YaHei"/>
                <a:cs typeface="Microsoft YaHei"/>
              </a:rPr>
              <a:t>byte</a:t>
            </a:r>
            <a:r>
              <a:rPr sz="2000" spc="63" dirty="0">
                <a:solidFill>
                  <a:srgbClr val="FF0000"/>
                </a:solidFill>
                <a:latin typeface="Microsoft YaHei"/>
                <a:cs typeface="Microsoft YaHei"/>
              </a:rPr>
              <a:t>）流</a:t>
            </a:r>
            <a:r>
              <a:rPr sz="2000" spc="63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1390" y="5703385"/>
            <a:ext cx="7699042" cy="381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由于存在编码，字符串中的一个字符由</a:t>
            </a:r>
            <a:r>
              <a:rPr lang="en-US" sz="2000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到多</a:t>
            </a:r>
            <a:r>
              <a:rPr sz="2000" dirty="0" err="1">
                <a:solidFill>
                  <a:srgbClr val="000000"/>
                </a:solidFill>
                <a:latin typeface="Microsoft YaHei"/>
                <a:cs typeface="Microsoft YaHei"/>
              </a:rPr>
              <a:t>个字节表示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413357"/>
            <a:ext cx="3752850" cy="127635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79512" y="2341313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pt-BR" dirty="0"/>
              <a:t>中</a:t>
            </a:r>
          </a:p>
          <a:p>
            <a:endParaRPr lang="zh-CN" altLang="pt-BR" dirty="0"/>
          </a:p>
          <a:p>
            <a:r>
              <a:rPr lang="pt-BR" altLang="zh-CN" dirty="0"/>
              <a:t>b'\xe4\xb8\xad\r\n'</a:t>
            </a:r>
          </a:p>
          <a:p>
            <a:r>
              <a:rPr lang="pt-BR" altLang="zh-CN" dirty="0"/>
              <a:t>0xE4</a:t>
            </a:r>
          </a:p>
          <a:p>
            <a:r>
              <a:rPr lang="pt-BR" altLang="zh-CN" dirty="0"/>
              <a:t>0xB8</a:t>
            </a:r>
          </a:p>
          <a:p>
            <a:r>
              <a:rPr lang="pt-BR" altLang="zh-CN" dirty="0"/>
              <a:t>0xAD</a:t>
            </a:r>
          </a:p>
          <a:p>
            <a:r>
              <a:rPr lang="pt-BR" altLang="zh-CN" dirty="0"/>
              <a:t>0x0D</a:t>
            </a:r>
          </a:p>
          <a:p>
            <a:r>
              <a:rPr lang="pt-BR" altLang="zh-CN" dirty="0"/>
              <a:t>0x0A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文件的打开关闭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1770195"/>
            <a:ext cx="8465540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Python对文本文件和二进制文件采用统一的操作步骤，即“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打开-操作-关闭”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文件的打开关闭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290" y="2195772"/>
            <a:ext cx="8454872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86" dirty="0">
                <a:solidFill>
                  <a:srgbClr val="000000"/>
                </a:solidFill>
                <a:latin typeface="Microsoft YaHei"/>
                <a:cs typeface="Microsoft YaHei"/>
              </a:rPr>
              <a:t>通过解释器内置的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open()</a:t>
            </a:r>
            <a:r>
              <a:rPr sz="2400" spc="87" dirty="0">
                <a:solidFill>
                  <a:srgbClr val="000000"/>
                </a:solidFill>
                <a:latin typeface="Microsoft YaHei"/>
                <a:cs typeface="Microsoft YaHei"/>
              </a:rPr>
              <a:t>函数打开一个文件，并实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现该文件与一个程序变量的关联，open()函数格式如下：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090" y="3704786"/>
            <a:ext cx="607674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&lt;变量名&gt;</a:t>
            </a:r>
            <a:r>
              <a:rPr sz="2400" spc="1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400" spc="1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open(&lt;文件名&gt;,</a:t>
            </a:r>
            <a:r>
              <a:rPr sz="2400" spc="1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&lt;打开模式&gt;)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0023" y="4802447"/>
            <a:ext cx="750599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open()函数有两个参数：文件名和打开模式。文件名可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2290" y="5351036"/>
            <a:ext cx="71628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以是文件的实际名字，也可以是包含完整路径的名字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63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文件的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名称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897" y="1411522"/>
            <a:ext cx="8694206" cy="5366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lvl="0">
              <a:lnSpc>
                <a:spcPct val="150000"/>
              </a:lnSpc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实例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：绝对路径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=open("F:\\python\\7.1.txt","rt",encoding="utf-8")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r"F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:\python\7.1.txt","rt",encoding="utf-8")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=open("F:/python/7.1.txt","rt",encoding="utf-8")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f = "f:/python/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中文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/7.1.txt"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=open(f,"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rt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",encoding="utf-8")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=open("F:/python/7.1.txt","rb")</a:t>
            </a:r>
          </a:p>
          <a:p>
            <a:pPr marL="304800" lvl="0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实例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：相对路径（与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*.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py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文件同路径）</a:t>
            </a:r>
            <a:endParaRPr lang="en-US" altLang="zh-CN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=open("7.1.txt","rb")</a:t>
            </a:r>
          </a:p>
          <a:p>
            <a:pPr marL="304800" marR="0" lvl="0" indent="0" algn="l" defTabSz="914400" rtl="0" eaLnBrk="1" fontAlgn="auto" latinLnBrk="0" hangingPunct="1">
              <a:lnSpc>
                <a:spcPts val="31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3837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文件的打开关闭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097601"/>
            <a:ext cx="4943271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open()函数提供7种基本的打开模式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0879" y="3376096"/>
            <a:ext cx="865632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打开模式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76570" y="3376096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含义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81430" y="3662825"/>
            <a:ext cx="473955" cy="2160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'r'</a:t>
            </a:r>
          </a:p>
          <a:p>
            <a:pPr marL="0" marR="0">
              <a:lnSpc>
                <a:spcPts val="1590"/>
              </a:lnSpc>
              <a:spcBef>
                <a:spcPts val="93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'w'</a:t>
            </a:r>
          </a:p>
          <a:p>
            <a:pPr marL="0" marR="0">
              <a:lnSpc>
                <a:spcPts val="1590"/>
              </a:lnSpc>
              <a:spcBef>
                <a:spcPts val="92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'x'</a:t>
            </a:r>
          </a:p>
          <a:p>
            <a:pPr marL="0" marR="0">
              <a:lnSpc>
                <a:spcPts val="1590"/>
              </a:lnSpc>
              <a:spcBef>
                <a:spcPts val="97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'a'</a:t>
            </a:r>
          </a:p>
          <a:p>
            <a:pPr marL="0" marR="0">
              <a:lnSpc>
                <a:spcPts val="1590"/>
              </a:lnSpc>
              <a:spcBef>
                <a:spcPts val="93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'b'</a:t>
            </a:r>
          </a:p>
          <a:p>
            <a:pPr marL="0" marR="0">
              <a:lnSpc>
                <a:spcPts val="1590"/>
              </a:lnSpc>
              <a:spcBef>
                <a:spcPts val="92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't'</a:t>
            </a:r>
          </a:p>
          <a:p>
            <a:pPr marL="0" marR="0">
              <a:lnSpc>
                <a:spcPts val="1593"/>
              </a:lnSpc>
              <a:spcBef>
                <a:spcPts val="927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'+'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55113" y="3643018"/>
            <a:ext cx="5242797" cy="151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只读模式，如果文件不存在，返回异常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FileNotFoundError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，默认值</a:t>
            </a:r>
          </a:p>
          <a:p>
            <a:pPr marL="0" marR="0">
              <a:lnSpc>
                <a:spcPts val="1403"/>
              </a:lnSpc>
              <a:spcBef>
                <a:spcPts val="98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覆盖写模式，文件不存在则创建，存在则完全</a:t>
            </a:r>
            <a:r>
              <a:rPr sz="1400" dirty="0">
                <a:solidFill>
                  <a:srgbClr val="FF0000"/>
                </a:solidFill>
                <a:latin typeface="SimSun"/>
                <a:cs typeface="SimSun"/>
              </a:rPr>
              <a:t>覆盖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源文件</a:t>
            </a:r>
          </a:p>
          <a:p>
            <a:pPr marL="0" marR="0">
              <a:lnSpc>
                <a:spcPts val="1713"/>
              </a:lnSpc>
              <a:spcBef>
                <a:spcPts val="98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创建写模式，文件不存在则创建，存在则返回</a:t>
            </a:r>
            <a:r>
              <a:rPr sz="1400" dirty="0">
                <a:solidFill>
                  <a:srgbClr val="FF0000"/>
                </a:solidFill>
                <a:latin typeface="SimSun"/>
                <a:cs typeface="SimSun"/>
              </a:rPr>
              <a:t>异常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FileExistsError</a:t>
            </a:r>
          </a:p>
          <a:p>
            <a:pPr marL="0" marR="0">
              <a:lnSpc>
                <a:spcPts val="1403"/>
              </a:lnSpc>
              <a:spcBef>
                <a:spcPts val="93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追加写模式，文件不存在则创建，存在则在原文件最后</a:t>
            </a:r>
            <a:r>
              <a:rPr sz="1400" dirty="0">
                <a:solidFill>
                  <a:srgbClr val="FF0000"/>
                </a:solidFill>
                <a:latin typeface="SimSun"/>
                <a:cs typeface="SimSun"/>
              </a:rPr>
              <a:t>追加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内容</a:t>
            </a:r>
          </a:p>
          <a:p>
            <a:pPr marL="0" marR="0">
              <a:lnSpc>
                <a:spcPts val="1403"/>
              </a:lnSpc>
              <a:spcBef>
                <a:spcPts val="11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二进制文件模式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55113" y="5260268"/>
            <a:ext cx="1935479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文本文件模式，默认值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55113" y="5563526"/>
            <a:ext cx="4463090" cy="256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r/w/x/a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一同使用，在原功能基础上增加同时读写功能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0941" y="1927548"/>
            <a:ext cx="8500516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根据打开方式不同可以对文件进行相应的读写操作，Python提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供4个常用的文件内容读取方法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占用内存不同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430" y="3412418"/>
            <a:ext cx="1375257" cy="6324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7473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方法</a:t>
            </a:r>
          </a:p>
          <a:p>
            <a:pPr marL="0" marR="0">
              <a:lnSpc>
                <a:spcPts val="1948"/>
              </a:lnSpc>
              <a:spcBef>
                <a:spcPts val="11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&lt;file&gt;.readall()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81707" y="3412418"/>
            <a:ext cx="6554841" cy="13383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32963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含义</a:t>
            </a:r>
          </a:p>
          <a:p>
            <a:pPr marL="0" marR="0">
              <a:lnSpc>
                <a:spcPts val="1948"/>
              </a:lnSpc>
              <a:spcBef>
                <a:spcPts val="11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读入整个文件内容，返回一个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字符串或字节流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*</a:t>
            </a:r>
          </a:p>
          <a:p>
            <a:pPr marL="0" marR="0">
              <a:lnSpc>
                <a:spcPts val="1948"/>
              </a:lnSpc>
              <a:spcBef>
                <a:spcPts val="98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从文件中读入整个文件内容，如果给出参数，读入前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size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长度的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字符串或</a:t>
            </a:r>
          </a:p>
          <a:p>
            <a:pPr marL="0" marR="0">
              <a:lnSpc>
                <a:spcPts val="1596"/>
              </a:lnSpc>
              <a:spcBef>
                <a:spcPts val="1029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字节流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9430" y="4125388"/>
            <a:ext cx="1731675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&lt;file&gt;.read(size=-1)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9430" y="4856908"/>
            <a:ext cx="8717118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&lt;file&gt;.readline(size</a:t>
            </a:r>
            <a:r>
              <a:rPr sz="1600" spc="-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-1)</a:t>
            </a:r>
            <a:r>
              <a:rPr sz="1600" spc="11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从文件中读入一行内容，如果给出参数，读入</a:t>
            </a:r>
            <a:r>
              <a:rPr sz="1600" dirty="0">
                <a:latin typeface="SimSun"/>
                <a:cs typeface="SimSun"/>
              </a:rPr>
              <a:t>该行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前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size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长度的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字符串或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81707" y="5241472"/>
            <a:ext cx="760476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字节流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9430" y="5588163"/>
            <a:ext cx="871514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&lt;file&gt;.readlines(hint=-1)</a:t>
            </a:r>
            <a:r>
              <a:rPr sz="1600" spc="10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27" dirty="0">
                <a:solidFill>
                  <a:srgbClr val="000000"/>
                </a:solidFill>
                <a:latin typeface="SimSun"/>
                <a:cs typeface="SimSun"/>
              </a:rPr>
              <a:t>从文件中读入所有行，以每行为元素形成一个</a:t>
            </a:r>
            <a:r>
              <a:rPr sz="1600" spc="27" dirty="0">
                <a:solidFill>
                  <a:srgbClr val="FF0000"/>
                </a:solidFill>
                <a:latin typeface="SimSun"/>
                <a:cs typeface="SimSun"/>
              </a:rPr>
              <a:t>列表</a:t>
            </a:r>
            <a:r>
              <a:rPr sz="1600" spc="27" dirty="0">
                <a:solidFill>
                  <a:srgbClr val="000000"/>
                </a:solidFill>
                <a:latin typeface="SimSun"/>
                <a:cs typeface="SimSun"/>
              </a:rPr>
              <a:t>，如果给出参数，读</a:t>
            </a:r>
          </a:p>
          <a:p>
            <a:pPr marL="2162276" marR="0">
              <a:lnSpc>
                <a:spcPts val="1948"/>
              </a:lnSpc>
              <a:spcBef>
                <a:spcPts val="93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入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hint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2142" y="1991169"/>
            <a:ext cx="4375759" cy="391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7.2</a:t>
            </a: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：文本文件逐行打印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6710" y="3001562"/>
            <a:ext cx="1124407" cy="346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2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800" dirty="0">
                <a:solidFill>
                  <a:srgbClr val="000000"/>
                </a:solidFill>
                <a:latin typeface="Palatino Linotype"/>
                <a:cs typeface="Palatino Linotype"/>
              </a:rPr>
              <a:t>7.2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95370" y="3001562"/>
            <a:ext cx="2634573" cy="346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2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Palatino Linotype"/>
                <a:cs typeface="Palatino Linotype"/>
              </a:rPr>
              <a:t>m7.2PrintFilebyLines.py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09673" y="3839988"/>
            <a:ext cx="7434327" cy="1025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600" spc="85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fname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input(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请输入要打开的文件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: "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600" spc="85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 = open(fname,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"r")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600" spc="85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8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line</a:t>
            </a:r>
            <a:r>
              <a:rPr sz="18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Courier New"/>
                <a:cs typeface="Courier New"/>
              </a:rPr>
              <a:t>fo.readlines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():</a:t>
            </a:r>
            <a:r>
              <a:rPr lang="zh-CN" altLang="en-US" sz="1600" b="1" dirty="0">
                <a:solidFill>
                  <a:srgbClr val="FF0000"/>
                </a:solidFill>
                <a:latin typeface="Courier New"/>
                <a:cs typeface="Courier New"/>
              </a:rPr>
              <a:t>一次性读入，占内存多，执行速度慢</a:t>
            </a:r>
            <a:r>
              <a:rPr sz="1600" b="1" spc="516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en-US" sz="1600" spc="5161" dirty="0">
                <a:solidFill>
                  <a:srgbClr val="7F7F7F"/>
                </a:solidFill>
                <a:latin typeface="Courier New"/>
                <a:cs typeface="Courier New"/>
              </a:rPr>
              <a:t>	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print(line)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17294" y="4861492"/>
            <a:ext cx="1864382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b="1" spc="103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fo.close()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2356427"/>
            <a:ext cx="50292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遍历文件的所有行可以直接这样完成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7747" y="3743087"/>
            <a:ext cx="4928889" cy="3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2400" baseline="-2689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2400" spc="155" baseline="-26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2400" b="1" baseline="-2689" dirty="0">
                <a:solidFill>
                  <a:srgbClr val="000000"/>
                </a:solidFill>
                <a:latin typeface="Courier New"/>
                <a:cs typeface="Courier New"/>
              </a:rPr>
              <a:t>fname</a:t>
            </a:r>
            <a:r>
              <a:rPr sz="2400" b="1" spc="-468" baseline="-2689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baseline="-2689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2400" b="1" spc="-468" baseline="-2689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baseline="-2689" dirty="0">
                <a:solidFill>
                  <a:srgbClr val="000000"/>
                </a:solidFill>
                <a:latin typeface="Courier New"/>
                <a:cs typeface="Courier New"/>
              </a:rPr>
              <a:t>input(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请输入要打开的文件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: "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78352" y="4002209"/>
            <a:ext cx="701129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"r")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7747" y="4023778"/>
            <a:ext cx="2430799" cy="275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600" spc="63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 = open(fname,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02410" y="4256718"/>
            <a:ext cx="2200932" cy="804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8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line </a:t>
            </a:r>
            <a:r>
              <a:rPr sz="18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 fo:</a:t>
            </a:r>
          </a:p>
          <a:p>
            <a:pPr marL="547116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print(line)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fo.close()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7747" y="4285906"/>
            <a:ext cx="274035" cy="767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7619" marR="0">
              <a:lnSpc>
                <a:spcPts val="1590"/>
              </a:lnSpc>
              <a:spcBef>
                <a:spcPts val="305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" y="2484697"/>
            <a:ext cx="807811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如果程序需要逐行处理文件内容，建议采用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（占用内存少）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5845" y="3033591"/>
            <a:ext cx="3276925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</a:t>
            </a:r>
            <a:r>
              <a:rPr sz="2400" spc="1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400" spc="1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open(fname,</a:t>
            </a:r>
            <a:r>
              <a:rPr sz="2400" spc="1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"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</a:t>
            </a:r>
            <a:r>
              <a:rPr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"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)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10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line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15845" y="4130549"/>
            <a:ext cx="2629585" cy="989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187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#</a:t>
            </a:r>
            <a:r>
              <a:rPr sz="2400" spc="1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处理一行数据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fo.close()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2866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9218" y="1938470"/>
            <a:ext cx="7764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Python提供3个与文件内容写入有关的方法，如表所示。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0534" y="3098093"/>
            <a:ext cx="1538325" cy="590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0541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方法</a:t>
            </a:r>
          </a:p>
          <a:p>
            <a:pPr marL="0" marR="0">
              <a:lnSpc>
                <a:spcPts val="1948"/>
              </a:lnSpc>
              <a:spcBef>
                <a:spcPts val="85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&lt;file&gt;.write(s)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11697" y="3098093"/>
            <a:ext cx="557783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含义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60090" y="3426134"/>
            <a:ext cx="2990088" cy="240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向文件写入一个字符串或字节流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0534" y="3731307"/>
            <a:ext cx="1974252" cy="61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&lt;file&gt;.writelines(lines)</a:t>
            </a:r>
          </a:p>
          <a:p>
            <a:pPr marL="0" marR="0">
              <a:lnSpc>
                <a:spcPts val="1948"/>
              </a:lnSpc>
              <a:spcBef>
                <a:spcPts val="68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&lt;file&gt;.seek(offset)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60090" y="3754048"/>
            <a:ext cx="4076786" cy="564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将一个元素为字符串的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列表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写入文件</a:t>
            </a:r>
          </a:p>
          <a:p>
            <a:pPr marL="0" marR="0">
              <a:lnSpc>
                <a:spcPts val="1948"/>
              </a:lnSpc>
              <a:spcBef>
                <a:spcPts val="85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改变当前文件操作指针的位置，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offset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的值：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60090" y="4424981"/>
            <a:ext cx="3798189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0：文件开头；</a:t>
            </a:r>
            <a:r>
              <a:rPr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1:</a:t>
            </a:r>
            <a:r>
              <a:rPr sz="16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当前位置；</a:t>
            </a:r>
            <a:r>
              <a:rPr sz="16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2:</a:t>
            </a:r>
            <a:r>
              <a:rPr sz="16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文件结尾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07BA47-3F92-4C39-930E-F7A7D149E9D1}"/>
              </a:ext>
            </a:extLst>
          </p:cNvPr>
          <p:cNvSpPr txBox="1"/>
          <p:nvPr/>
        </p:nvSpPr>
        <p:spPr>
          <a:xfrm>
            <a:off x="726482" y="4911726"/>
            <a:ext cx="76619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-apple-system"/>
              </a:rPr>
              <a:t>seek(offset, from)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-apple-system"/>
              </a:rPr>
              <a:t>offset </a:t>
            </a:r>
            <a:r>
              <a:rPr lang="zh-CN" altLang="en-US" b="0" i="0" dirty="0">
                <a:effectLst/>
                <a:latin typeface="-apple-system"/>
              </a:rPr>
              <a:t>：文件指针偏移量</a:t>
            </a:r>
            <a:r>
              <a:rPr lang="en-US" altLang="zh-CN" b="0" i="0" dirty="0">
                <a:effectLst/>
                <a:latin typeface="-apple-system"/>
              </a:rPr>
              <a:t>(</a:t>
            </a:r>
            <a:r>
              <a:rPr lang="zh-CN" altLang="en-US" b="0" i="0" dirty="0">
                <a:effectLst/>
                <a:latin typeface="-apple-system"/>
              </a:rPr>
              <a:t>指针偏移量</a:t>
            </a:r>
            <a:r>
              <a:rPr lang="en-US" altLang="zh-CN" b="0" i="0" dirty="0">
                <a:effectLst/>
                <a:latin typeface="-apple-system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-apple-system"/>
              </a:rPr>
              <a:t>from </a:t>
            </a:r>
            <a:r>
              <a:rPr lang="zh-CN" altLang="en-US" b="0" i="0" dirty="0">
                <a:effectLst/>
                <a:latin typeface="-apple-system"/>
              </a:rPr>
              <a:t>： </a:t>
            </a:r>
            <a:r>
              <a:rPr lang="en-US" altLang="zh-CN" b="0" i="0" dirty="0">
                <a:effectLst/>
                <a:latin typeface="-apple-system"/>
              </a:rPr>
              <a:t>0-</a:t>
            </a:r>
            <a:r>
              <a:rPr lang="zh-CN" altLang="en-US" b="0" i="0" dirty="0">
                <a:effectLst/>
                <a:latin typeface="-apple-system"/>
              </a:rPr>
              <a:t>文件开头 </a:t>
            </a:r>
            <a:r>
              <a:rPr lang="en-US" altLang="zh-CN" b="0" i="0" dirty="0">
                <a:effectLst/>
                <a:latin typeface="-apple-system"/>
              </a:rPr>
              <a:t>1-</a:t>
            </a:r>
            <a:r>
              <a:rPr lang="zh-CN" altLang="en-US" b="0" i="0" dirty="0">
                <a:effectLst/>
                <a:latin typeface="-apple-system"/>
              </a:rPr>
              <a:t>当前位置 </a:t>
            </a:r>
            <a:r>
              <a:rPr lang="en-US" altLang="zh-CN" b="0" i="0" dirty="0">
                <a:effectLst/>
                <a:latin typeface="-apple-system"/>
              </a:rPr>
              <a:t>2-</a:t>
            </a:r>
            <a:r>
              <a:rPr lang="zh-CN" altLang="en-US" b="0" i="0" dirty="0">
                <a:effectLst/>
                <a:latin typeface="-apple-system"/>
              </a:rPr>
              <a:t>文件末尾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-apple-system"/>
              </a:rPr>
              <a:t>Python3</a:t>
            </a:r>
            <a:r>
              <a:rPr lang="zh-CN" altLang="en-US" b="0" i="0" dirty="0">
                <a:effectLst/>
                <a:latin typeface="-apple-system"/>
              </a:rPr>
              <a:t>中 如果</a:t>
            </a:r>
            <a:r>
              <a:rPr lang="en-US" altLang="zh-CN" b="0" i="0" dirty="0">
                <a:effectLst/>
                <a:latin typeface="-apple-system"/>
              </a:rPr>
              <a:t>from </a:t>
            </a:r>
            <a:r>
              <a:rPr lang="zh-CN" altLang="en-US" b="0" i="0" dirty="0">
                <a:effectLst/>
                <a:latin typeface="-apple-system"/>
              </a:rPr>
              <a:t>不为</a:t>
            </a:r>
            <a:r>
              <a:rPr lang="en-US" altLang="zh-CN" b="0" i="0" dirty="0">
                <a:effectLst/>
                <a:latin typeface="-apple-system"/>
              </a:rPr>
              <a:t>0 </a:t>
            </a:r>
            <a:r>
              <a:rPr lang="zh-CN" altLang="en-US" b="0" i="0" dirty="0">
                <a:effectLst/>
                <a:latin typeface="-apple-system"/>
              </a:rPr>
              <a:t>，那么 </a:t>
            </a:r>
            <a:r>
              <a:rPr lang="en-US" altLang="zh-CN" b="0" i="0" dirty="0">
                <a:effectLst/>
                <a:latin typeface="-apple-system"/>
              </a:rPr>
              <a:t>offset</a:t>
            </a:r>
            <a:r>
              <a:rPr lang="zh-CN" altLang="en-US" b="0" i="0" dirty="0">
                <a:effectLst/>
                <a:latin typeface="-apple-system"/>
              </a:rPr>
              <a:t>就必须为</a:t>
            </a:r>
            <a:r>
              <a:rPr lang="en-US" altLang="zh-CN" b="0" i="0" dirty="0">
                <a:effectLst/>
                <a:latin typeface="-apple-system"/>
              </a:rPr>
              <a:t>0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effectLst/>
              <a:latin typeface="-apple-syste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2482" y="1900681"/>
            <a:ext cx="1015136" cy="311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7.3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57779" y="1897633"/>
            <a:ext cx="1834458" cy="540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m7.3WriteListtoFil</a:t>
            </a:r>
          </a:p>
          <a:p>
            <a:pPr marL="641857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e.py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23032" y="2502590"/>
            <a:ext cx="6969448" cy="48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2100" baseline="-3786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2100" spc="524" baseline="-37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2100" b="1" baseline="-3786" dirty="0">
                <a:solidFill>
                  <a:srgbClr val="000000"/>
                </a:solidFill>
                <a:latin typeface="Courier New"/>
                <a:cs typeface="Courier New"/>
              </a:rPr>
              <a:t>fname</a:t>
            </a:r>
            <a:r>
              <a:rPr sz="2100" b="1" spc="-429" baseline="-378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100" b="1" baseline="-3786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2100" b="1" spc="-432" baseline="-378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100" b="1" baseline="-3786" dirty="0">
                <a:solidFill>
                  <a:srgbClr val="000000"/>
                </a:solidFill>
                <a:latin typeface="Courier New"/>
                <a:cs typeface="Courier New"/>
              </a:rPr>
              <a:t>input(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请输入要写入的文件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6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pPr marL="2142744" marR="0">
              <a:lnSpc>
                <a:spcPts val="1807"/>
              </a:lnSpc>
              <a:spcBef>
                <a:spcPts val="181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"w+")</a:t>
            </a:r>
            <a:r>
              <a:rPr lang="zh-CN" alt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lang="zh-CN" alt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默认</a:t>
            </a:r>
            <a:r>
              <a:rPr lang="en-US"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gbk,encoding</a:t>
            </a:r>
            <a:r>
              <a:rPr 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="utf-8"</a:t>
            </a:r>
            <a:r>
              <a:rPr lang="zh-CN" alt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附录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cs typeface="Courier New"/>
              </a:rPr>
              <a:t>A</a:t>
            </a:r>
            <a:endParaRPr sz="16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3033" y="2781318"/>
            <a:ext cx="2188786" cy="247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94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 = open(fname,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56408" y="3009820"/>
            <a:ext cx="6887592" cy="123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["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唐诗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宋词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元曲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"]</a:t>
            </a:r>
          </a:p>
          <a:p>
            <a:pPr marL="0" marR="0">
              <a:lnSpc>
                <a:spcPts val="1807"/>
              </a:lnSpc>
              <a:spcBef>
                <a:spcPts val="18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fo.writelines(ls)</a:t>
            </a:r>
            <a:r>
              <a:rPr lang="zh-CN" altLang="en-US" sz="1600" b="1" dirty="0">
                <a:solidFill>
                  <a:srgbClr val="FF0000"/>
                </a:solidFill>
                <a:latin typeface="Courier New"/>
                <a:cs typeface="Courier New"/>
              </a:rPr>
              <a:t>不在列表后面增加换行，列表内容直接排列输出一行</a:t>
            </a:r>
            <a:endParaRPr sz="16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for line in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fo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  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/>
                <a:cs typeface="Courier New"/>
              </a:rPr>
              <a:t>fo.seek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(0)</a:t>
            </a:r>
            <a:r>
              <a:rPr lang="zh-CN" altLang="en-US" sz="1600" b="1" dirty="0">
                <a:solidFill>
                  <a:srgbClr val="FF0000"/>
                </a:solidFill>
                <a:latin typeface="Courier New"/>
                <a:cs typeface="Courier New"/>
              </a:rPr>
              <a:t>，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/>
                <a:cs typeface="Courier New"/>
              </a:rPr>
              <a:t>fo.seek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(2,0)</a:t>
            </a:r>
            <a:r>
              <a:rPr lang="zh-CN" altLang="en-US" sz="1600" b="1" dirty="0">
                <a:solidFill>
                  <a:srgbClr val="FF0000"/>
                </a:solidFill>
                <a:latin typeface="Courier New"/>
                <a:cs typeface="Courier New"/>
              </a:rPr>
              <a:t>，     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cs typeface="Courier New"/>
              </a:rPr>
              <a:t> print(line) 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			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/>
                <a:cs typeface="Courier New"/>
              </a:rPr>
              <a:t>fo.seek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/>
                <a:cs typeface="Courier New"/>
              </a:rPr>
              <a:t>fo.seek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(0,2)-2,0)</a:t>
            </a:r>
            <a:endParaRPr sz="16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endParaRPr sz="16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3033" y="3043446"/>
            <a:ext cx="259402" cy="1249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590"/>
              </a:lnSpc>
              <a:spcBef>
                <a:spcPts val="415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7620" marR="0">
              <a:lnSpc>
                <a:spcPts val="1359"/>
              </a:lnSpc>
              <a:spcBef>
                <a:spcPts val="521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  <a:p>
            <a:pPr marL="762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  <a:p>
            <a:pPr marL="762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56408" y="4030763"/>
            <a:ext cx="1373219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fo.close()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34895" y="4656589"/>
            <a:ext cx="2212543" cy="267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程序执行结果如下：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32482" y="5404015"/>
            <a:ext cx="3186754" cy="268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请输入要写入的文件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b="1" spc="-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test.txt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32482" y="5771806"/>
            <a:ext cx="51848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C4E600-72DD-403A-B459-D420646EE55F}"/>
              </a:ext>
            </a:extLst>
          </p:cNvPr>
          <p:cNvSpPr txBox="1"/>
          <p:nvPr/>
        </p:nvSpPr>
        <p:spPr>
          <a:xfrm>
            <a:off x="2286000" y="56519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唐诗宋词元曲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9C4FD10-2294-4227-B150-397067B6A16E}"/>
              </a:ext>
            </a:extLst>
          </p:cNvPr>
          <p:cNvCxnSpPr/>
          <p:nvPr/>
        </p:nvCxnSpPr>
        <p:spPr>
          <a:xfrm flipH="1">
            <a:off x="4111819" y="3573016"/>
            <a:ext cx="5321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78362FAB-4A29-4CE8-B027-9F6A4082A7AC}"/>
              </a:ext>
            </a:extLst>
          </p:cNvPr>
          <p:cNvSpPr txBox="1"/>
          <p:nvPr/>
        </p:nvSpPr>
        <p:spPr>
          <a:xfrm>
            <a:off x="6382227" y="4397407"/>
            <a:ext cx="25378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b=fo.seek(0,2)</a:t>
            </a:r>
          </a:p>
          <a:p>
            <a:r>
              <a:rPr lang="zh-CN" altLang="en-US" dirty="0"/>
              <a:t>print(b,type(b))</a:t>
            </a:r>
          </a:p>
          <a:p>
            <a:r>
              <a:rPr lang="zh-CN" altLang="en-US" dirty="0"/>
              <a:t>fo.seek(fo.seek(0,2)-4,0)</a:t>
            </a:r>
          </a:p>
          <a:p>
            <a:r>
              <a:rPr lang="zh-CN" altLang="en-US" dirty="0"/>
              <a:t>for line in fo:</a:t>
            </a:r>
          </a:p>
          <a:p>
            <a:r>
              <a:rPr lang="zh-CN" altLang="en-US" dirty="0"/>
              <a:t>    print(line)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821667-C6F7-498C-B43A-589297C7068E}"/>
              </a:ext>
            </a:extLst>
          </p:cNvPr>
          <p:cNvSpPr txBox="1"/>
          <p:nvPr/>
        </p:nvSpPr>
        <p:spPr>
          <a:xfrm>
            <a:off x="6404167" y="6117086"/>
            <a:ext cx="2632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12 &lt;class 'int'&gt;</a:t>
            </a:r>
          </a:p>
          <a:p>
            <a:r>
              <a:rPr lang="zh-CN" altLang="en-US" dirty="0"/>
              <a:t>元曲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DD84F7-23A0-4460-8FB0-9A24A46CA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28" y="620688"/>
            <a:ext cx="6852130" cy="4801314"/>
          </a:xfrm>
        </p:spPr>
        <p:txBody>
          <a:bodyPr/>
          <a:lstStyle/>
          <a:p>
            <a:r>
              <a:rPr lang="en-US" altLang="zh-CN" sz="2400" dirty="0" err="1"/>
              <a:t>fname</a:t>
            </a:r>
            <a:r>
              <a:rPr lang="en-US" altLang="zh-CN" sz="2400" dirty="0"/>
              <a:t>=input("</a:t>
            </a:r>
            <a:r>
              <a:rPr lang="zh-CN" altLang="en-US" sz="2400" dirty="0"/>
              <a:t>请输入要写入的文件</a:t>
            </a:r>
            <a:r>
              <a:rPr lang="en-US" altLang="zh-CN" sz="2400" dirty="0"/>
              <a:t>:")</a:t>
            </a:r>
          </a:p>
          <a:p>
            <a:r>
              <a:rPr lang="en-US" altLang="zh-CN" sz="2400" dirty="0" err="1"/>
              <a:t>fo</a:t>
            </a:r>
            <a:r>
              <a:rPr lang="en-US" altLang="zh-CN" sz="2400" dirty="0"/>
              <a:t>=open(</a:t>
            </a:r>
            <a:r>
              <a:rPr lang="en-US" altLang="zh-CN" sz="2400" dirty="0" err="1"/>
              <a:t>fname</a:t>
            </a:r>
            <a:r>
              <a:rPr lang="en-US" altLang="zh-CN" sz="2400" dirty="0"/>
              <a:t>,"</a:t>
            </a:r>
            <a:r>
              <a:rPr lang="en-US" altLang="zh-CN" sz="2400" dirty="0" err="1"/>
              <a:t>w+",encoding</a:t>
            </a:r>
            <a:r>
              <a:rPr lang="en-US" altLang="zh-CN" sz="2400" dirty="0"/>
              <a:t>="utf-8")#</a:t>
            </a:r>
            <a:r>
              <a:rPr lang="zh-CN" altLang="en-US" sz="2400" dirty="0"/>
              <a:t>默认</a:t>
            </a:r>
            <a:r>
              <a:rPr lang="en-US" altLang="zh-CN" sz="2400" dirty="0" err="1"/>
              <a:t>gbk,encoding</a:t>
            </a:r>
            <a:r>
              <a:rPr lang="en-US" altLang="zh-CN" sz="2400" dirty="0"/>
              <a:t>="utf-8"</a:t>
            </a:r>
          </a:p>
          <a:p>
            <a:r>
              <a:rPr lang="en-US" altLang="zh-CN" sz="2400" dirty="0"/>
              <a:t>ls=["</a:t>
            </a:r>
            <a:r>
              <a:rPr lang="zh-CN" altLang="en-US" sz="2400" dirty="0"/>
              <a:t>唐诗</a:t>
            </a:r>
            <a:r>
              <a:rPr lang="en-US" altLang="zh-CN" sz="2400" dirty="0"/>
              <a:t>","</a:t>
            </a:r>
            <a:r>
              <a:rPr lang="zh-CN" altLang="en-US" sz="2400" dirty="0"/>
              <a:t>宋词</a:t>
            </a:r>
            <a:r>
              <a:rPr lang="en-US" altLang="zh-CN" sz="2400" dirty="0"/>
              <a:t>","</a:t>
            </a:r>
            <a:r>
              <a:rPr lang="zh-CN" altLang="en-US" sz="2400" dirty="0"/>
              <a:t>元曲</a:t>
            </a:r>
            <a:r>
              <a:rPr lang="en-US" altLang="zh-CN" sz="2400" dirty="0"/>
              <a:t>"]</a:t>
            </a:r>
          </a:p>
          <a:p>
            <a:r>
              <a:rPr lang="en-US" altLang="zh-CN" sz="2400" dirty="0" err="1"/>
              <a:t>fo.writelines</a:t>
            </a:r>
            <a:r>
              <a:rPr lang="en-US" altLang="zh-CN" sz="2400" dirty="0"/>
              <a:t>(ls)</a:t>
            </a:r>
          </a:p>
          <a:p>
            <a:r>
              <a:rPr lang="en-US" altLang="zh-CN" sz="2400" dirty="0"/>
              <a:t>#fo.seek(0)</a:t>
            </a:r>
          </a:p>
          <a:p>
            <a:r>
              <a:rPr lang="en-US" altLang="zh-CN" sz="2400" dirty="0"/>
              <a:t>#fo.seek(2,0)</a:t>
            </a:r>
          </a:p>
          <a:p>
            <a:r>
              <a:rPr lang="en-US" altLang="zh-CN" sz="2400" dirty="0"/>
              <a:t>b=</a:t>
            </a:r>
            <a:r>
              <a:rPr lang="en-US" altLang="zh-CN" sz="2400" dirty="0" err="1"/>
              <a:t>fo.seek</a:t>
            </a:r>
            <a:r>
              <a:rPr lang="en-US" altLang="zh-CN" sz="2400" dirty="0"/>
              <a:t>(0,2)</a:t>
            </a:r>
          </a:p>
          <a:p>
            <a:r>
              <a:rPr lang="en-US" altLang="zh-CN" sz="2400" dirty="0"/>
              <a:t>print(</a:t>
            </a:r>
            <a:r>
              <a:rPr lang="en-US" altLang="zh-CN" sz="2400" dirty="0" err="1"/>
              <a:t>b,type</a:t>
            </a:r>
            <a:r>
              <a:rPr lang="en-US" altLang="zh-CN" sz="2400" dirty="0"/>
              <a:t>(b))</a:t>
            </a:r>
          </a:p>
          <a:p>
            <a:r>
              <a:rPr lang="en-US" altLang="zh-CN" sz="2400" dirty="0" err="1"/>
              <a:t>fo.seek</a:t>
            </a:r>
            <a:r>
              <a:rPr lang="en-US" altLang="zh-CN" sz="2400" dirty="0"/>
              <a:t>(</a:t>
            </a:r>
            <a:r>
              <a:rPr lang="en-US" altLang="zh-CN" sz="2400" dirty="0" err="1"/>
              <a:t>fo.seek</a:t>
            </a:r>
            <a:r>
              <a:rPr lang="en-US" altLang="zh-CN" sz="2400" dirty="0"/>
              <a:t>(0,2)-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en-US" altLang="zh-CN" sz="2400" dirty="0"/>
              <a:t>,0)</a:t>
            </a:r>
          </a:p>
          <a:p>
            <a:r>
              <a:rPr lang="en-US" altLang="zh-CN" sz="2400" dirty="0"/>
              <a:t>for line in </a:t>
            </a:r>
            <a:r>
              <a:rPr lang="en-US" altLang="zh-CN" sz="2400" dirty="0" err="1"/>
              <a:t>fo</a:t>
            </a:r>
            <a:r>
              <a:rPr lang="en-US" altLang="zh-CN" sz="2400" dirty="0"/>
              <a:t>:</a:t>
            </a:r>
          </a:p>
          <a:p>
            <a:r>
              <a:rPr lang="en-US" altLang="zh-CN" sz="2400" dirty="0"/>
              <a:t>    print(line)</a:t>
            </a:r>
          </a:p>
          <a:p>
            <a:r>
              <a:rPr lang="en-US" altLang="zh-CN" sz="2400" dirty="0" err="1"/>
              <a:t>fo.close</a:t>
            </a:r>
            <a:r>
              <a:rPr lang="en-US" altLang="zh-CN" sz="2400" dirty="0"/>
              <a:t>()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F02F34-B0F7-41D6-AEE4-58F445DEB57F}"/>
              </a:ext>
            </a:extLst>
          </p:cNvPr>
          <p:cNvSpPr txBox="1"/>
          <p:nvPr/>
        </p:nvSpPr>
        <p:spPr>
          <a:xfrm>
            <a:off x="301268" y="5775647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请输入要写入的文件</a:t>
            </a:r>
            <a:r>
              <a:rPr lang="en-US" altLang="zh-CN" dirty="0">
                <a:solidFill>
                  <a:srgbClr val="FF0000"/>
                </a:solidFill>
              </a:rPr>
              <a:t>:hw1.txt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18 &lt;class 'int'&gt;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曲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E37F71A-0729-4B18-895D-B6AC2C658EB7}"/>
              </a:ext>
            </a:extLst>
          </p:cNvPr>
          <p:cNvSpPr txBox="1"/>
          <p:nvPr/>
        </p:nvSpPr>
        <p:spPr>
          <a:xfrm>
            <a:off x="301268" y="0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</p:spTree>
    <p:extLst>
      <p:ext uri="{BB962C8B-B14F-4D97-AF65-F5344CB8AC3E}">
        <p14:creationId xmlns:p14="http://schemas.microsoft.com/office/powerpoint/2010/main" val="1534311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9678" y="2788949"/>
            <a:ext cx="769620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一二维数据格式化和处理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数据组织的维度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195772"/>
            <a:ext cx="8249106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8" dirty="0">
                <a:solidFill>
                  <a:srgbClr val="FF0000"/>
                </a:solidFill>
                <a:latin typeface="Microsoft YaHei"/>
                <a:cs typeface="Microsoft YaHei"/>
              </a:rPr>
              <a:t>一维数据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由</a:t>
            </a:r>
            <a:r>
              <a:rPr sz="2400" spc="68" dirty="0">
                <a:solidFill>
                  <a:srgbClr val="FF0000"/>
                </a:solidFill>
                <a:latin typeface="Microsoft YaHei"/>
                <a:cs typeface="Microsoft YaHei"/>
              </a:rPr>
              <a:t>对等关系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的有序或无序数据构成，采用线性方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式组织，对应于数学中的数组和集合等概念。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7057" y="4060332"/>
            <a:ext cx="8310016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spc="36" dirty="0">
                <a:solidFill>
                  <a:srgbClr val="000000"/>
                </a:solidFill>
                <a:latin typeface="SimSun"/>
                <a:cs typeface="SimSun"/>
              </a:rPr>
              <a:t>中国、美国、日本、德国、法国、英国、意大利、加拿大、俄罗斯、欧盟、澳大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7057" y="4471813"/>
            <a:ext cx="8537092" cy="6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spc="34" dirty="0">
                <a:solidFill>
                  <a:srgbClr val="000000"/>
                </a:solidFill>
                <a:latin typeface="SimSun"/>
                <a:cs typeface="SimSun"/>
              </a:rPr>
              <a:t>利亚、南非、阿根廷、巴西、印度、印度尼西亚、墨西哥、沙特阿拉伯、土耳其、</a:t>
            </a:r>
          </a:p>
          <a:p>
            <a:pPr marL="0" marR="0">
              <a:lnSpc>
                <a:spcPts val="1800"/>
              </a:lnSpc>
              <a:spcBef>
                <a:spcPts val="143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韩国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数据组织的维度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5267" y="2033847"/>
            <a:ext cx="8682812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二维数据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，也称表格数据，由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关联关系数据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构成，采用表格方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式组织，对应于数学中的矩阵，常见的表格都属于二维数据。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70050" y="3637930"/>
            <a:ext cx="610209" cy="2324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</a:p>
          <a:p>
            <a:pPr marL="0" marR="0">
              <a:lnSpc>
                <a:spcPts val="1800"/>
              </a:lnSpc>
              <a:spcBef>
                <a:spcPts val="144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</a:p>
          <a:p>
            <a:pPr marL="0" marR="0">
              <a:lnSpc>
                <a:spcPts val="1800"/>
              </a:lnSpc>
              <a:spcBef>
                <a:spcPts val="148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上海</a:t>
            </a:r>
          </a:p>
          <a:p>
            <a:pPr marL="0" marR="0">
              <a:lnSpc>
                <a:spcPts val="1802"/>
              </a:lnSpc>
              <a:spcBef>
                <a:spcPts val="143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广州</a:t>
            </a:r>
          </a:p>
          <a:p>
            <a:pPr marL="0" marR="0">
              <a:lnSpc>
                <a:spcPts val="1800"/>
              </a:lnSpc>
              <a:spcBef>
                <a:spcPts val="149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深圳</a:t>
            </a:r>
          </a:p>
          <a:p>
            <a:pPr marL="0" marR="0">
              <a:lnSpc>
                <a:spcPts val="1800"/>
              </a:lnSpc>
              <a:spcBef>
                <a:spcPts val="144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沈阳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51276" y="3637930"/>
            <a:ext cx="667435" cy="23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5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</a:p>
          <a:p>
            <a:pPr marL="0" marR="0">
              <a:lnSpc>
                <a:spcPts val="1993"/>
              </a:lnSpc>
              <a:spcBef>
                <a:spcPts val="13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101.5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101.2</a:t>
            </a:r>
          </a:p>
          <a:p>
            <a:pPr marL="0" marR="0">
              <a:lnSpc>
                <a:spcPts val="1996"/>
              </a:lnSpc>
              <a:spcBef>
                <a:spcPts val="129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101.3</a:t>
            </a:r>
          </a:p>
          <a:p>
            <a:pPr marL="0" marR="0">
              <a:lnSpc>
                <a:spcPts val="1993"/>
              </a:lnSpc>
              <a:spcBef>
                <a:spcPts val="124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102.0</a:t>
            </a:r>
          </a:p>
          <a:p>
            <a:pPr marL="0" marR="0">
              <a:lnSpc>
                <a:spcPts val="1993"/>
              </a:lnSpc>
              <a:spcBef>
                <a:spcPts val="124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100.1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61203" y="3637930"/>
            <a:ext cx="667435" cy="23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5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</a:p>
          <a:p>
            <a:pPr marL="0" marR="0">
              <a:lnSpc>
                <a:spcPts val="1993"/>
              </a:lnSpc>
              <a:spcBef>
                <a:spcPts val="13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120.7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127.3</a:t>
            </a:r>
          </a:p>
          <a:p>
            <a:pPr marL="4572" marR="0">
              <a:lnSpc>
                <a:spcPts val="1996"/>
              </a:lnSpc>
              <a:spcBef>
                <a:spcPts val="1294"/>
              </a:spcBef>
              <a:spcAft>
                <a:spcPts val="0"/>
              </a:spcAft>
            </a:pPr>
            <a:r>
              <a:rPr sz="1800" spc="-17" dirty="0">
                <a:solidFill>
                  <a:srgbClr val="000000"/>
                </a:solidFill>
                <a:latin typeface="Times New Roman"/>
                <a:cs typeface="Times New Roman"/>
              </a:rPr>
              <a:t>119.4</a:t>
            </a:r>
          </a:p>
          <a:p>
            <a:pPr marL="0" marR="0">
              <a:lnSpc>
                <a:spcPts val="1993"/>
              </a:lnSpc>
              <a:spcBef>
                <a:spcPts val="124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140.9</a:t>
            </a:r>
          </a:p>
          <a:p>
            <a:pPr marL="0" marR="0">
              <a:lnSpc>
                <a:spcPts val="1993"/>
              </a:lnSpc>
              <a:spcBef>
                <a:spcPts val="124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72909" y="3637930"/>
            <a:ext cx="667436" cy="23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6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</a:p>
          <a:p>
            <a:pPr marL="0" marR="0">
              <a:lnSpc>
                <a:spcPts val="1993"/>
              </a:lnSpc>
              <a:spcBef>
                <a:spcPts val="13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121.4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127.8</a:t>
            </a:r>
          </a:p>
          <a:p>
            <a:pPr marL="0" marR="0">
              <a:lnSpc>
                <a:spcPts val="1996"/>
              </a:lnSpc>
              <a:spcBef>
                <a:spcPts val="129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120.0</a:t>
            </a:r>
          </a:p>
          <a:p>
            <a:pPr marL="0" marR="0">
              <a:lnSpc>
                <a:spcPts val="1993"/>
              </a:lnSpc>
              <a:spcBef>
                <a:spcPts val="124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145.5</a:t>
            </a:r>
          </a:p>
          <a:p>
            <a:pPr marL="0" marR="0">
              <a:lnSpc>
                <a:spcPts val="1993"/>
              </a:lnSpc>
              <a:spcBef>
                <a:spcPts val="124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04492" y="6318706"/>
            <a:ext cx="637120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环比：上月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=100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；同比：上年同月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=100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；定基：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2015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年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=100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数据组织的维度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8718" y="2484697"/>
            <a:ext cx="8199983" cy="2086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957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7" dirty="0">
                <a:solidFill>
                  <a:srgbClr val="FF0000"/>
                </a:solidFill>
                <a:latin typeface="Microsoft YaHei"/>
                <a:cs typeface="Microsoft YaHei"/>
              </a:rPr>
              <a:t>高维数据</a:t>
            </a: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由</a:t>
            </a:r>
            <a:r>
              <a:rPr sz="2400" spc="97" dirty="0">
                <a:solidFill>
                  <a:srgbClr val="FF0000"/>
                </a:solidFill>
                <a:latin typeface="Microsoft YaHei"/>
                <a:cs typeface="Microsoft YaHei"/>
              </a:rPr>
              <a:t>键值对类型</a:t>
            </a: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的数据构成，采用</a:t>
            </a:r>
            <a:r>
              <a:rPr sz="2400" spc="97" dirty="0">
                <a:solidFill>
                  <a:srgbClr val="FF0000"/>
                </a:solidFill>
                <a:latin typeface="Microsoft YaHei"/>
                <a:cs typeface="Microsoft YaHei"/>
              </a:rPr>
              <a:t>对象方式</a:t>
            </a: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组织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38" dirty="0">
                <a:solidFill>
                  <a:srgbClr val="000000"/>
                </a:solidFill>
                <a:latin typeface="Microsoft YaHei"/>
                <a:cs typeface="Microsoft YaHei"/>
              </a:rPr>
              <a:t>，属于整合度更好的数据组织方式。高维数据在网络系统中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十分常用，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HTML</a:t>
            </a:r>
            <a:r>
              <a:rPr sz="2400" spc="108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XML</a:t>
            </a:r>
            <a:r>
              <a:rPr sz="2400" spc="108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JSON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等都是高维数据组织的语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法结构。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数据组织的维度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7685" y="1906396"/>
            <a:ext cx="1509066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本书作者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7685" y="2317876"/>
            <a:ext cx="166992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 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嵩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7685" y="2729356"/>
            <a:ext cx="144703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天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97685" y="3141217"/>
            <a:ext cx="287235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97685" y="3552697"/>
            <a:ext cx="26212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826385" y="3552697"/>
            <a:ext cx="144741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礼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97685" y="3964177"/>
            <a:ext cx="144703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欣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97685" y="4375657"/>
            <a:ext cx="2872358" cy="1937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},</a:t>
            </a:r>
          </a:p>
          <a:p>
            <a:pPr marL="0" marR="0">
              <a:lnSpc>
                <a:spcPts val="1993"/>
              </a:lnSpc>
              <a:spcBef>
                <a:spcPts val="124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 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黄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  <a:p>
            <a:pPr marL="0" marR="0">
              <a:lnSpc>
                <a:spcPts val="1993"/>
              </a:lnSpc>
              <a:spcBef>
                <a:spcPts val="129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天羽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</a:t>
            </a:r>
          </a:p>
          <a:p>
            <a:pPr marL="0" marR="0">
              <a:lnSpc>
                <a:spcPts val="1996"/>
              </a:lnSpc>
              <a:spcBef>
                <a:spcPts val="129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一二维数据的存储格式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2038" y="1934407"/>
            <a:ext cx="8551164" cy="98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一维数据是最简单的数据组织类型，有多种存储格式，常用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特殊字符分隔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</a:p>
          <a:p>
            <a:pPr marL="0" marR="0">
              <a:lnSpc>
                <a:spcPts val="2644"/>
              </a:lnSpc>
              <a:spcBef>
                <a:spcPts val="21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（1）用一个或多个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空格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分隔，例如：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2038" y="3153285"/>
            <a:ext cx="4861559" cy="374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中国</a:t>
            </a:r>
            <a:r>
              <a:rPr sz="2000" spc="6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美国</a:t>
            </a:r>
            <a:r>
              <a:rPr sz="2000" spc="66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日本</a:t>
            </a:r>
            <a:r>
              <a:rPr sz="2000" spc="6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德国</a:t>
            </a:r>
            <a:r>
              <a:rPr sz="2000" spc="6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法国</a:t>
            </a:r>
            <a:r>
              <a:rPr sz="2000" spc="66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英国</a:t>
            </a:r>
            <a:r>
              <a:rPr sz="2000" spc="6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意大利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2038" y="3763461"/>
            <a:ext cx="310230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（2）用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逗号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分隔，例如：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2038" y="4373061"/>
            <a:ext cx="4337615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中国,美国,日本,德国,法国,英国,意大利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2038" y="4983042"/>
            <a:ext cx="8191398" cy="9264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（3）用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其他符号或符号组合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分隔，建议采用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不出现在数据中的特殊符号</a:t>
            </a:r>
          </a:p>
          <a:p>
            <a:pPr marL="0" marR="0">
              <a:lnSpc>
                <a:spcPts val="2644"/>
              </a:lnSpc>
              <a:spcBef>
                <a:spcPts val="215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中国;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美国;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日本;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德国;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法国;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英国;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意大利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一二维数据的存储格式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627699"/>
            <a:ext cx="7672984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41" dirty="0">
                <a:solidFill>
                  <a:srgbClr val="333333"/>
                </a:solidFill>
                <a:latin typeface="Microsoft YaHei"/>
                <a:cs typeface="Microsoft YaHei"/>
              </a:rPr>
              <a:t>逗号分割数值的存储格式叫做</a:t>
            </a: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CSV</a:t>
            </a:r>
            <a:r>
              <a:rPr sz="2400" spc="241" dirty="0">
                <a:solidFill>
                  <a:srgbClr val="333333"/>
                </a:solidFill>
                <a:latin typeface="Microsoft YaHei"/>
                <a:cs typeface="Microsoft YaHei"/>
              </a:rPr>
              <a:t>格式（</a:t>
            </a: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Comma-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Separated</a:t>
            </a:r>
            <a:r>
              <a:rPr sz="2400" spc="653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spc="-34" dirty="0">
                <a:solidFill>
                  <a:srgbClr val="333333"/>
                </a:solidFill>
                <a:latin typeface="Microsoft YaHei"/>
                <a:cs typeface="Microsoft YaHei"/>
              </a:rPr>
              <a:t>Values</a:t>
            </a:r>
            <a:r>
              <a:rPr sz="2400" spc="37" dirty="0">
                <a:solidFill>
                  <a:srgbClr val="333333"/>
                </a:solidFill>
                <a:latin typeface="Microsoft YaHei"/>
                <a:cs typeface="Microsoft YaHei"/>
              </a:rPr>
              <a:t>，即逗号分隔值），它是一种通用的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69" dirty="0">
                <a:solidFill>
                  <a:srgbClr val="333333"/>
                </a:solidFill>
                <a:latin typeface="Microsoft YaHei"/>
                <a:cs typeface="Microsoft YaHei"/>
              </a:rPr>
              <a:t>、相对简单的文件格式，在商业和科学上广泛应用，尤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其应用在程序之间转移表格数据。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一二维数据的存储格式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043626"/>
            <a:ext cx="53340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该格式的应用有一些基本规则，如下：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2290" y="2988252"/>
            <a:ext cx="612251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（1）纯文本格式，通过单一编码表示字符；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290" y="3536892"/>
            <a:ext cx="8561806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（2）以行为单位，开头不留空行，行之间没有空行；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（3）每行表示一个一维数据，多行表示二维数据；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（4）以逗号分隔每列数据，列数据为空也要保留逗号；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（5）可以包含或不包含列名，包含时列名放置在文件第一行。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一二维数据的存储格式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4540" y="1685799"/>
            <a:ext cx="5315493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二维数据采用CSV存储后的内容如下：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45336" y="2435886"/>
            <a:ext cx="2570479" cy="2606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</a:p>
          <a:p>
            <a:pPr marL="0" marR="0">
              <a:lnSpc>
                <a:spcPts val="2219"/>
              </a:lnSpc>
              <a:spcBef>
                <a:spcPts val="1383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,101.5,120.7,121.4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上海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,101.2,127.3,127.8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广州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,101.3,119.4,120</a:t>
            </a:r>
          </a:p>
          <a:p>
            <a:pPr marL="0" marR="0">
              <a:lnSpc>
                <a:spcPts val="2221"/>
              </a:lnSpc>
              <a:spcBef>
                <a:spcPts val="1378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深圳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,102,140.9,145.5</a:t>
            </a:r>
          </a:p>
          <a:p>
            <a:pPr marL="0" marR="0">
              <a:lnSpc>
                <a:spcPts val="2219"/>
              </a:lnSpc>
              <a:spcBef>
                <a:spcPts val="138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沈阳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,100.1,101.4,101.6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290" y="5631003"/>
            <a:ext cx="8612302" cy="751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15" dirty="0">
                <a:solidFill>
                  <a:srgbClr val="000000"/>
                </a:solidFill>
                <a:latin typeface="Microsoft YaHei"/>
                <a:cs typeface="Microsoft YaHei"/>
              </a:rPr>
              <a:t>CSV</a:t>
            </a:r>
            <a:r>
              <a:rPr sz="1800" spc="46" dirty="0">
                <a:solidFill>
                  <a:srgbClr val="000000"/>
                </a:solidFill>
                <a:latin typeface="Microsoft YaHei"/>
                <a:cs typeface="Microsoft YaHei"/>
              </a:rPr>
              <a:t>格式存储的文件一般采用</a:t>
            </a:r>
            <a:r>
              <a:rPr sz="1800" spc="10" dirty="0">
                <a:solidFill>
                  <a:srgbClr val="000000"/>
                </a:solidFill>
                <a:latin typeface="Microsoft YaHei"/>
                <a:cs typeface="Microsoft YaHei"/>
              </a:rPr>
              <a:t>.csv</a:t>
            </a:r>
            <a:r>
              <a:rPr sz="1800" spc="47" dirty="0">
                <a:solidFill>
                  <a:srgbClr val="000000"/>
                </a:solidFill>
                <a:latin typeface="Microsoft YaHei"/>
                <a:cs typeface="Microsoft YaHei"/>
              </a:rPr>
              <a:t>为扩展名，可以通过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Windows</a:t>
            </a:r>
            <a:r>
              <a:rPr sz="1800" spc="49" dirty="0">
                <a:solidFill>
                  <a:srgbClr val="000000"/>
                </a:solidFill>
                <a:latin typeface="Microsoft YaHei"/>
                <a:cs typeface="Microsoft YaHei"/>
              </a:rPr>
              <a:t>平台上的记事本</a:t>
            </a:r>
          </a:p>
          <a:p>
            <a:pPr marL="0" marR="0">
              <a:lnSpc>
                <a:spcPts val="2375"/>
              </a:lnSpc>
              <a:spcBef>
                <a:spcPts val="81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或微软Office</a:t>
            </a:r>
            <a:r>
              <a:rPr sz="1800" spc="8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Excel工具打开，也可以在其他操作系统平台上用文本编辑工具打开。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35422"/>
            <a:ext cx="8104275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0" dirty="0">
                <a:solidFill>
                  <a:srgbClr val="000000"/>
                </a:solidFill>
                <a:latin typeface="Microsoft YaHei"/>
                <a:cs typeface="Microsoft YaHei"/>
              </a:rPr>
              <a:t>CSV</a:t>
            </a: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文件的每一行是一维数据，可以使用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中的列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表类型表示，整个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CSV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文件是一个二维数据，由表示每一行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的列表类型作为元素，组成一个二维列表。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27808" y="3872087"/>
            <a:ext cx="211777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27808" y="4192127"/>
            <a:ext cx="2533673" cy="2156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 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\n'],</a:t>
            </a:r>
          </a:p>
          <a:p>
            <a:pPr marL="0" marR="0">
              <a:lnSpc>
                <a:spcPts val="1557"/>
              </a:lnSpc>
              <a:spcBef>
                <a:spcPts val="9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'101.5',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'120.7',</a:t>
            </a:r>
            <a:r>
              <a:rPr sz="14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'121.4\n'],</a:t>
            </a:r>
          </a:p>
          <a:p>
            <a:pPr marL="0" marR="0">
              <a:lnSpc>
                <a:spcPts val="1554"/>
              </a:lnSpc>
              <a:spcBef>
                <a:spcPts val="9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上海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'101.2',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'127.3',</a:t>
            </a:r>
            <a:r>
              <a:rPr sz="14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'127.8\n'],</a:t>
            </a:r>
          </a:p>
          <a:p>
            <a:pPr marL="0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广州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'101.3',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'119.4',</a:t>
            </a:r>
            <a:r>
              <a:rPr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'120.0\n'],</a:t>
            </a:r>
          </a:p>
          <a:p>
            <a:pPr marL="0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深圳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'102.0',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'140.9',</a:t>
            </a:r>
            <a:r>
              <a:rPr sz="14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'145.5\n'],</a:t>
            </a:r>
          </a:p>
          <a:p>
            <a:pPr marL="0" marR="0">
              <a:lnSpc>
                <a:spcPts val="1554"/>
              </a:lnSpc>
              <a:spcBef>
                <a:spcPts val="9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沈阳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'100.1',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'101.4',</a:t>
            </a:r>
            <a:r>
              <a:rPr sz="14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'101.6\n'],</a:t>
            </a:r>
          </a:p>
          <a:p>
            <a:pPr marL="0" marR="0">
              <a:lnSpc>
                <a:spcPts val="1554"/>
              </a:lnSpc>
              <a:spcBef>
                <a:spcPts val="9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033847"/>
            <a:ext cx="513159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微实例7.5：导入CSV格式数据到列表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12010" y="3793468"/>
            <a:ext cx="1125245" cy="34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800" dirty="0">
                <a:solidFill>
                  <a:srgbClr val="000000"/>
                </a:solidFill>
                <a:latin typeface="Palatino Linotype"/>
                <a:cs typeface="Palatino Linotype"/>
              </a:rPr>
              <a:t>7.5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38955" y="3793468"/>
            <a:ext cx="2262057" cy="34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Palatino Linotype"/>
                <a:cs typeface="Palatino Linotype"/>
              </a:rPr>
              <a:t>m7.5GetCSV2List.py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61285" y="4316386"/>
            <a:ext cx="4858987" cy="151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 = open("price2016.csv", "r")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 = []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for line in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fo: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600" spc="503" dirty="0">
                <a:solidFill>
                  <a:srgbClr val="7F7F7F"/>
                </a:solidFill>
                <a:latin typeface="Courier New"/>
                <a:cs typeface="Courier New"/>
              </a:rPr>
              <a:t>	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line 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line.replace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("\n","")</a:t>
            </a:r>
          </a:p>
          <a:p>
            <a:pPr marL="0" marR="0">
              <a:lnSpc>
                <a:spcPts val="1810"/>
              </a:lnSpc>
              <a:spcBef>
                <a:spcPts val="194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600" spc="503" dirty="0">
                <a:solidFill>
                  <a:srgbClr val="7F7F7F"/>
                </a:solidFill>
                <a:latin typeface="Courier New"/>
                <a:cs typeface="Courier New"/>
              </a:rPr>
              <a:t>	</a:t>
            </a:r>
            <a:r>
              <a:rPr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ls.append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line.split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(","))</a:t>
            </a:r>
          </a:p>
          <a:p>
            <a:pPr marL="0" marR="0">
              <a:lnSpc>
                <a:spcPts val="1807"/>
              </a:lnSpc>
              <a:spcBef>
                <a:spcPts val="197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print(ls)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61285" y="5840691"/>
            <a:ext cx="1680552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fo.close()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556325"/>
            <a:ext cx="8270443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需要注意，以split(",")方法从CSV文件中获得内容时，每行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79" dirty="0">
                <a:solidFill>
                  <a:srgbClr val="000000"/>
                </a:solidFill>
                <a:latin typeface="Microsoft YaHei"/>
                <a:cs typeface="Microsoft YaHei"/>
              </a:rPr>
              <a:t>最后一个元素后面包含了一个换行符（</a:t>
            </a:r>
            <a:r>
              <a:rPr sz="2400" spc="-34" dirty="0">
                <a:solidFill>
                  <a:srgbClr val="000000"/>
                </a:solidFill>
                <a:latin typeface="Microsoft YaHei"/>
                <a:cs typeface="Microsoft YaHei"/>
              </a:rPr>
              <a:t>"\n"</a:t>
            </a: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）。对于数据的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表达和使用来说，这个换行符是多余的，可以通过使用字符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串的replace()方法将其去掉，如第4行。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2463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7117" y="2175297"/>
            <a:ext cx="512307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7.6</a:t>
            </a:r>
            <a:r>
              <a:rPr sz="2400" spc="12" dirty="0">
                <a:solidFill>
                  <a:srgbClr val="000000"/>
                </a:solidFill>
                <a:latin typeface="SimSun"/>
                <a:cs typeface="SimSun"/>
              </a:rPr>
              <a:t>：</a:t>
            </a:r>
            <a:r>
              <a:rPr sz="2400" spc="12" dirty="0">
                <a:solidFill>
                  <a:srgbClr val="FF0000"/>
                </a:solidFill>
                <a:latin typeface="SimSun"/>
                <a:cs typeface="SimSun"/>
              </a:rPr>
              <a:t>逐行处理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CSV</a:t>
            </a:r>
            <a:r>
              <a:rPr sz="2400" spc="12" dirty="0">
                <a:solidFill>
                  <a:srgbClr val="000000"/>
                </a:solidFill>
                <a:latin typeface="SimSun"/>
                <a:cs typeface="SimSun"/>
              </a:rPr>
              <a:t>格式数据。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32482" y="3085784"/>
            <a:ext cx="1014703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7.6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47110" y="3082735"/>
            <a:ext cx="2207930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m7.6GetCSVbyLine.py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89505" y="3589037"/>
            <a:ext cx="3751514" cy="4930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 = open("price2016.csv", "r")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 = []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89505" y="4096530"/>
            <a:ext cx="204883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line in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89505" y="4351037"/>
            <a:ext cx="4050647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line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Courier New"/>
                <a:cs typeface="Courier New"/>
              </a:rPr>
              <a:t>line.replace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("\n","")</a:t>
            </a:r>
          </a:p>
          <a:p>
            <a:pPr marL="0" marR="0">
              <a:lnSpc>
                <a:spcPts val="1590"/>
              </a:lnSpc>
              <a:spcBef>
                <a:spcPts val="40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 = </a:t>
            </a:r>
            <a:r>
              <a:rPr sz="1400" b="1" dirty="0" err="1">
                <a:solidFill>
                  <a:srgbClr val="000000"/>
                </a:solidFill>
                <a:latin typeface="Courier New"/>
                <a:cs typeface="Courier New"/>
              </a:rPr>
              <a:t>line.split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(",")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Courier New"/>
                <a:cs typeface="Courier New"/>
              </a:rPr>
              <a:t>lns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""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89504" y="5113292"/>
            <a:ext cx="239446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s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89505" y="5366276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54663" y="5373784"/>
            <a:ext cx="2599311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lns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+= "{}\t".format(s)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36166" y="5620809"/>
            <a:ext cx="2519810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339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</a:t>
            </a:r>
            <a:r>
              <a:rPr sz="1400" b="1" dirty="0" err="1">
                <a:solidFill>
                  <a:srgbClr val="000000"/>
                </a:solidFill>
                <a:latin typeface="Courier New"/>
                <a:cs typeface="Courier New"/>
              </a:rPr>
              <a:t>lns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pPr marL="0" marR="0">
              <a:lnSpc>
                <a:spcPts val="1593"/>
              </a:lnSpc>
              <a:spcBef>
                <a:spcPts val="411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400" spc="26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fo.close()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9816" y="2102173"/>
            <a:ext cx="35052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运行后的输出结果如下：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72183" y="3242709"/>
            <a:ext cx="47340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2183" y="3559484"/>
            <a:ext cx="509625" cy="1816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</a:p>
          <a:p>
            <a:pPr marL="0" marR="0">
              <a:lnSpc>
                <a:spcPts val="1403"/>
              </a:lnSpc>
              <a:spcBef>
                <a:spcPts val="11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</a:p>
          <a:p>
            <a:pPr marL="0" marR="0">
              <a:lnSpc>
                <a:spcPts val="1406"/>
              </a:lnSpc>
              <a:spcBef>
                <a:spcPts val="11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上海</a:t>
            </a:r>
          </a:p>
          <a:p>
            <a:pPr marL="0" marR="0">
              <a:lnSpc>
                <a:spcPts val="1403"/>
              </a:lnSpc>
              <a:spcBef>
                <a:spcPts val="116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广州</a:t>
            </a:r>
          </a:p>
          <a:p>
            <a:pPr marL="0" marR="0">
              <a:lnSpc>
                <a:spcPts val="1403"/>
              </a:lnSpc>
              <a:spcBef>
                <a:spcPts val="11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深圳</a:t>
            </a:r>
          </a:p>
          <a:p>
            <a:pPr marL="0" marR="0">
              <a:lnSpc>
                <a:spcPts val="1403"/>
              </a:lnSpc>
              <a:spcBef>
                <a:spcPts val="11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沈阳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86583" y="3559484"/>
            <a:ext cx="509320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01238" y="3559484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15638" y="3559484"/>
            <a:ext cx="509320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86583" y="3884312"/>
            <a:ext cx="2515359" cy="152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101.5</a:t>
            </a:r>
            <a:r>
              <a:rPr sz="1400" spc="216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120.7</a:t>
            </a:r>
            <a:r>
              <a:rPr sz="1400" spc="21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121.4</a:t>
            </a:r>
          </a:p>
          <a:p>
            <a:pPr marL="0" marR="0">
              <a:lnSpc>
                <a:spcPts val="1593"/>
              </a:lnSpc>
              <a:spcBef>
                <a:spcPts val="92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101.2</a:t>
            </a:r>
            <a:r>
              <a:rPr sz="1400" spc="216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127.3</a:t>
            </a:r>
            <a:r>
              <a:rPr sz="1400" spc="21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127.8</a:t>
            </a:r>
          </a:p>
          <a:p>
            <a:pPr marL="0" marR="0">
              <a:lnSpc>
                <a:spcPts val="1590"/>
              </a:lnSpc>
              <a:spcBef>
                <a:spcPts val="93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101.3</a:t>
            </a:r>
            <a:r>
              <a:rPr sz="1400" spc="216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119.4</a:t>
            </a:r>
            <a:r>
              <a:rPr sz="1400" spc="21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120.0</a:t>
            </a:r>
          </a:p>
          <a:p>
            <a:pPr marL="0" marR="0">
              <a:lnSpc>
                <a:spcPts val="1590"/>
              </a:lnSpc>
              <a:spcBef>
                <a:spcPts val="97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102.0</a:t>
            </a:r>
            <a:r>
              <a:rPr sz="1400" spc="216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140.9</a:t>
            </a:r>
            <a:r>
              <a:rPr sz="1400" spc="21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145.5</a:t>
            </a:r>
          </a:p>
          <a:p>
            <a:pPr marL="0" marR="0">
              <a:lnSpc>
                <a:spcPts val="1590"/>
              </a:lnSpc>
              <a:spcBef>
                <a:spcPts val="92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100.1</a:t>
            </a:r>
            <a:r>
              <a:rPr sz="1400" spc="216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101.4</a:t>
            </a:r>
            <a:r>
              <a:rPr sz="1400" spc="21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101.6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1755" y="2175297"/>
            <a:ext cx="5123103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7.7</a:t>
            </a: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：一维数据写入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CSV</a:t>
            </a:r>
            <a:r>
              <a:rPr sz="2400" spc="14" dirty="0">
                <a:solidFill>
                  <a:srgbClr val="000000"/>
                </a:solidFill>
                <a:latin typeface="SimSun"/>
                <a:cs typeface="SimSun"/>
              </a:rPr>
              <a:t>文件。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83385" y="3246058"/>
            <a:ext cx="1014448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7.7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60445" y="3243009"/>
            <a:ext cx="2206338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8" dirty="0">
                <a:solidFill>
                  <a:srgbClr val="000000"/>
                </a:solidFill>
                <a:latin typeface="Palatino Linotype"/>
                <a:cs typeface="Palatino Linotype"/>
              </a:rPr>
              <a:t>m7.7WriteD1toCSV.py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40635" y="3727487"/>
            <a:ext cx="4134045" cy="1208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 = open(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"price2016bj.csv"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"w")</a:t>
            </a:r>
          </a:p>
          <a:p>
            <a:pPr marL="0" marR="0">
              <a:lnSpc>
                <a:spcPts val="1590"/>
              </a:lnSpc>
              <a:spcBef>
                <a:spcPts val="174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  <a:r>
              <a:rPr sz="1400" b="1" spc="85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400" b="1" spc="839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['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北</a:t>
            </a:r>
            <a:r>
              <a:rPr sz="1400" spc="49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京</a:t>
            </a:r>
            <a:r>
              <a:rPr sz="1400" spc="5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b="1" spc="839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'101.5',</a:t>
            </a:r>
            <a:r>
              <a:rPr sz="1400" b="1" spc="8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'120.7',</a:t>
            </a:r>
          </a:p>
          <a:p>
            <a:pPr marL="0" marR="0">
              <a:lnSpc>
                <a:spcPts val="1590"/>
              </a:lnSpc>
              <a:spcBef>
                <a:spcPts val="20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'121.4']</a:t>
            </a:r>
          </a:p>
          <a:p>
            <a:pPr marL="0" marR="0">
              <a:lnSpc>
                <a:spcPts val="1802"/>
              </a:lnSpc>
              <a:spcBef>
                <a:spcPts val="2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fo.write(",".join(ls)+ "\n")</a:t>
            </a:r>
          </a:p>
          <a:p>
            <a:pPr marL="0" marR="0">
              <a:lnSpc>
                <a:spcPts val="1807"/>
              </a:lnSpc>
              <a:spcBef>
                <a:spcPts val="18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fo.close()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40407" y="3842022"/>
            <a:ext cx="259585" cy="1002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  <a:p>
            <a:pPr marL="0" marR="0">
              <a:lnSpc>
                <a:spcPts val="1593"/>
              </a:lnSpc>
              <a:spcBef>
                <a:spcPts val="399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590"/>
              </a:lnSpc>
              <a:spcBef>
                <a:spcPts val="414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" y="2340171"/>
            <a:ext cx="801532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80" dirty="0">
                <a:solidFill>
                  <a:srgbClr val="000000"/>
                </a:solidFill>
                <a:latin typeface="Microsoft YaHei"/>
                <a:cs typeface="Microsoft YaHei"/>
              </a:rPr>
              <a:t>对于列表中存储的二维数据，可以通过循环写入一维数据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5" y="2889192"/>
            <a:ext cx="591993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的方式写入CSV文件，参考代码样式如下：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91565" y="3610044"/>
            <a:ext cx="195121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Microsoft YaHei"/>
                <a:cs typeface="Microsoft YaHei"/>
              </a:rPr>
              <a:t>row</a:t>
            </a:r>
            <a:r>
              <a:rPr sz="2400" spc="1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ls: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34388" y="4066921"/>
            <a:ext cx="7558092" cy="381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&lt;输出文件&gt;.write(",".join(row)+"\n")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           </a:t>
            </a:r>
            <a:r>
              <a:rPr 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P84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0165" y="2175297"/>
            <a:ext cx="5123078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7.8</a:t>
            </a: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：二维数据写入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CSV</a:t>
            </a: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文件。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82545" y="2689732"/>
            <a:ext cx="2214932" cy="2349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,1.0%,1.2%,1.2%</a:t>
            </a:r>
          </a:p>
          <a:p>
            <a:pPr marL="0" marR="0">
              <a:lnSpc>
                <a:spcPts val="1993"/>
              </a:lnSpc>
              <a:spcBef>
                <a:spcPts val="129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上海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,1.0%,1.3%,1.3%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广州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,1.0%,1.2%,1.2%</a:t>
            </a:r>
          </a:p>
          <a:p>
            <a:pPr marL="0" marR="0">
              <a:lnSpc>
                <a:spcPts val="1993"/>
              </a:lnSpc>
              <a:spcBef>
                <a:spcPts val="129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深圳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,1.0%,1.4%,1.5%</a:t>
            </a:r>
          </a:p>
          <a:p>
            <a:pPr marL="0" marR="0">
              <a:lnSpc>
                <a:spcPts val="1996"/>
              </a:lnSpc>
              <a:spcBef>
                <a:spcPts val="124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沈阳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,1.0%,1.0%,1.0%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7504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7206" y="1685553"/>
            <a:ext cx="910744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7.8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58859" y="1685553"/>
            <a:ext cx="422742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4" dirty="0">
                <a:solidFill>
                  <a:srgbClr val="000000"/>
                </a:solidFill>
                <a:latin typeface="Palatino Linotype"/>
                <a:cs typeface="Palatino Linotype"/>
              </a:rPr>
              <a:t>m7.8WriteD2toCSV.py</a:t>
            </a:r>
            <a:r>
              <a:rPr lang="zh-CN" altLang="en-US" sz="1400" spc="-14" dirty="0">
                <a:solidFill>
                  <a:srgbClr val="000000"/>
                </a:solidFill>
                <a:latin typeface="Palatino Linotype"/>
                <a:cs typeface="Palatino Linotype"/>
              </a:rPr>
              <a:t>（不完备：负数，科学计数法）</a:t>
            </a:r>
            <a:endParaRPr sz="1400" spc="-14" dirty="0">
              <a:solidFill>
                <a:srgbClr val="000000"/>
              </a:solidFill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206" y="2326276"/>
            <a:ext cx="4377150" cy="747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3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 = open("price2016.csv", "r")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3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 = open("price2016out.csv", "w")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400" spc="3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 = []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7206" y="3088531"/>
            <a:ext cx="235401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3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line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-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49209" y="3083742"/>
            <a:ext cx="5128317" cy="752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1665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将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CSV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文件中的二维数据读入到列表变量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line =</a:t>
            </a:r>
            <a:r>
              <a:rPr sz="1400" b="1" spc="-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line.replace("\n","")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ls.append(line.split(","))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7206" y="3341515"/>
            <a:ext cx="259402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7206" y="3845742"/>
            <a:ext cx="5696990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400" spc="3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 in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range(len(ls)):</a:t>
            </a:r>
            <a:r>
              <a:rPr sz="1400" b="1" spc="1629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遍历列表变量计算百分数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7206" y="4103515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49209" y="4103515"/>
            <a:ext cx="302443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j 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range(len(ls[i])):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7206" y="4358023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74405" y="4358023"/>
            <a:ext cx="5577918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if</a:t>
            </a:r>
            <a:r>
              <a:rPr sz="1400" b="1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ls[i][j].replace(".","").isnumeric():</a:t>
            </a:r>
          </a:p>
          <a:p>
            <a:pPr marL="425195" marR="0">
              <a:lnSpc>
                <a:spcPts val="1590"/>
              </a:lnSpc>
              <a:spcBef>
                <a:spcPts val="415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ls[i][j]</a:t>
            </a:r>
            <a:r>
              <a:rPr sz="1400" b="1" spc="-12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= "{:.2}%".format(float(ls[i][j])/100)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7206" y="4612785"/>
            <a:ext cx="36640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7206" y="4862504"/>
            <a:ext cx="5947536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  <a:r>
              <a:rPr sz="1400" spc="224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row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in ls:</a:t>
            </a:r>
            <a:r>
              <a:rPr sz="1400" b="1" spc="249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将列表变量中的二位数据输出到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CSV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文件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17206" y="5120276"/>
            <a:ext cx="366404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42528" y="5120276"/>
            <a:ext cx="1222421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print(row)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49209" y="5374785"/>
            <a:ext cx="3148461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fw.write(",".join(row)+"\n")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17206" y="5627820"/>
            <a:ext cx="1823280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  <a:r>
              <a:rPr sz="1400" spc="224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fr.close()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  <a:r>
              <a:rPr sz="1400" spc="224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fw.close()</a:t>
            </a:r>
          </a:p>
        </p:txBody>
      </p:sp>
      <p:sp>
        <p:nvSpPr>
          <p:cNvPr id="21" name="矩形 20"/>
          <p:cNvSpPr/>
          <p:nvPr/>
        </p:nvSpPr>
        <p:spPr>
          <a:xfrm>
            <a:off x="4286079" y="5054557"/>
            <a:ext cx="39738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try: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</a:t>
            </a:r>
            <a:r>
              <a:rPr lang="en-US" altLang="zh-CN" dirty="0" err="1">
                <a:solidFill>
                  <a:srgbClr val="FF0000"/>
                </a:solidFill>
              </a:rPr>
              <a:t>lin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eval</a:t>
            </a:r>
            <a:r>
              <a:rPr lang="en-US" altLang="zh-CN" dirty="0">
                <a:solidFill>
                  <a:srgbClr val="FF0000"/>
                </a:solidFill>
              </a:rPr>
              <a:t>(ls[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][j])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ls[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][j] = "{:.2}%".format(</a:t>
            </a:r>
            <a:r>
              <a:rPr lang="en-US" altLang="zh-CN" dirty="0" err="1">
                <a:solidFill>
                  <a:srgbClr val="FF0000"/>
                </a:solidFill>
              </a:rPr>
              <a:t>lin</a:t>
            </a:r>
            <a:r>
              <a:rPr lang="en-US" altLang="zh-CN" dirty="0">
                <a:solidFill>
                  <a:srgbClr val="FF0000"/>
                </a:solidFill>
              </a:rPr>
              <a:t>/100.0)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except </a:t>
            </a:r>
            <a:r>
              <a:rPr lang="en-US" altLang="zh-CN" dirty="0" err="1">
                <a:solidFill>
                  <a:srgbClr val="FF0000"/>
                </a:solidFill>
              </a:rPr>
              <a:t>NameError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continue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02511" y="365400"/>
            <a:ext cx="3178001" cy="2308324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&gt;&gt;&gt; print("-3.0".isnumeric())</a:t>
            </a:r>
          </a:p>
          <a:p>
            <a:r>
              <a:rPr lang="en-US" altLang="zh-CN" dirty="0"/>
              <a:t>False</a:t>
            </a:r>
          </a:p>
          <a:p>
            <a:r>
              <a:rPr lang="en-US" altLang="zh-CN" dirty="0"/>
              <a:t>&gt;&gt;&gt; print("3.0E2.2".isnumeric())</a:t>
            </a:r>
          </a:p>
          <a:p>
            <a:r>
              <a:rPr lang="en-US" altLang="zh-CN" dirty="0"/>
              <a:t>False</a:t>
            </a:r>
          </a:p>
          <a:p>
            <a:r>
              <a:rPr lang="en-US" altLang="zh-CN" dirty="0"/>
              <a:t>&gt;&gt;&gt; print("34.0".isnumeric())</a:t>
            </a:r>
          </a:p>
          <a:p>
            <a:r>
              <a:rPr lang="en-US" altLang="zh-CN" dirty="0"/>
              <a:t>False</a:t>
            </a:r>
          </a:p>
          <a:p>
            <a:r>
              <a:rPr lang="en-US" altLang="zh-CN" dirty="0"/>
              <a:t>&gt;&gt;&gt; print("340".isnumeric())</a:t>
            </a:r>
          </a:p>
          <a:p>
            <a:r>
              <a:rPr lang="en-US" altLang="zh-CN" dirty="0"/>
              <a:t>True       </a:t>
            </a:r>
            <a:r>
              <a:rPr lang="en-US" altLang="zh-CN" dirty="0">
                <a:solidFill>
                  <a:srgbClr val="FF0000"/>
                </a:solidFill>
              </a:rPr>
              <a:t>P83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08352" y="2788949"/>
            <a:ext cx="564093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高维数据的格式化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421233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高维数据的格式化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2253558"/>
            <a:ext cx="8393912" cy="128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25" dirty="0">
                <a:solidFill>
                  <a:srgbClr val="000000"/>
                </a:solidFill>
                <a:latin typeface="Microsoft YaHei"/>
                <a:cs typeface="Microsoft YaHei"/>
              </a:rPr>
              <a:t>与一维二维数据不同，高维数据能展示数据间更为复杂的组织关系。为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spc="28" dirty="0">
                <a:solidFill>
                  <a:srgbClr val="000000"/>
                </a:solidFill>
                <a:latin typeface="Microsoft YaHei"/>
                <a:cs typeface="Microsoft YaHei"/>
              </a:rPr>
              <a:t>了保持灵活性，表示高维数据不采用任何结构形式，仅采用最基本的二元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关系，即键值对。万维网是高维数据最成功的典型应用。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442" y="3625412"/>
            <a:ext cx="8395437" cy="83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JSON格式可以对高维数据进行表达和存储。JSON（JavaScript</a:t>
            </a:r>
            <a:r>
              <a:rPr sz="20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Object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Notation</a:t>
            </a:r>
            <a:r>
              <a:rPr sz="2000" spc="46" dirty="0">
                <a:solidFill>
                  <a:srgbClr val="000000"/>
                </a:solidFill>
                <a:latin typeface="Microsoft YaHei"/>
                <a:cs typeface="Microsoft YaHei"/>
              </a:rPr>
              <a:t>）是一种轻量级的数据交换格式，易于阅读和理解。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JSON</a:t>
            </a:r>
            <a:r>
              <a:rPr sz="2000" spc="51" dirty="0">
                <a:solidFill>
                  <a:srgbClr val="000000"/>
                </a:solidFill>
                <a:latin typeface="Microsoft YaHei"/>
                <a:cs typeface="Microsoft YaHei"/>
              </a:rPr>
              <a:t>格式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442" y="4539812"/>
            <a:ext cx="8062821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表达键值对</a:t>
            </a:r>
            <a:r>
              <a:rPr sz="2000" spc="-34" dirty="0">
                <a:solidFill>
                  <a:srgbClr val="000000"/>
                </a:solidFill>
                <a:latin typeface="Microsoft YaHei"/>
                <a:cs typeface="Microsoft YaHei"/>
              </a:rPr>
              <a:t>&lt;key,</a:t>
            </a:r>
            <a:r>
              <a:rPr sz="20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value&gt;的基本格式如下，键值对都保存在双引号中：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2142" y="4983640"/>
            <a:ext cx="1641902" cy="305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6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cs typeface="Microsoft YaHei"/>
              </a:rPr>
              <a:t>"key"</a:t>
            </a:r>
            <a:r>
              <a:rPr sz="1600" b="1" spc="1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0000"/>
                </a:solidFill>
                <a:latin typeface="Microsoft YaHei"/>
                <a:cs typeface="Microsoft YaHei"/>
              </a:rPr>
              <a:t>:</a:t>
            </a:r>
            <a:r>
              <a:rPr sz="1600" b="1" spc="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000000"/>
                </a:solidFill>
                <a:latin typeface="Microsoft YaHei"/>
                <a:cs typeface="Microsoft YaHei"/>
              </a:rPr>
              <a:t>"value"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421233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高维数据的格式化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344" y="2195772"/>
            <a:ext cx="7311263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当多个键值对放在一起时，JSON有如下一些约定：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数据保存在键值对中；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7344" y="3293306"/>
            <a:ext cx="377494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键值对之间由逗号分隔；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7344" y="3841946"/>
            <a:ext cx="5909437" cy="1483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lang="zh-CN" altLang="en-US" sz="2400" b="1" spc="331" dirty="0">
                <a:solidFill>
                  <a:srgbClr val="000000"/>
                </a:solidFill>
                <a:latin typeface="Wingdings"/>
                <a:cs typeface="Wingdings"/>
              </a:rPr>
              <a:t>大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括号用于保存键值对数据组成的对象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；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方括号用于保存键值对数据组成的数组。</a:t>
            </a:r>
          </a:p>
          <a:p>
            <a:pPr marL="269747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以“本书作者”JSON数据为例。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421233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高维数据的格式化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6710" y="2022220"/>
            <a:ext cx="150893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本书作者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6710" y="2433700"/>
            <a:ext cx="172770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  <a:r>
              <a:rPr sz="1800" spc="89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: 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嵩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6710" y="2845561"/>
            <a:ext cx="144729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天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6710" y="3257041"/>
            <a:ext cx="287223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16710" y="3668521"/>
            <a:ext cx="26212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31364" y="3668521"/>
            <a:ext cx="144703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礼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16710" y="4080001"/>
            <a:ext cx="144729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欣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16710" y="4491735"/>
            <a:ext cx="2872232" cy="1937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},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  <a:r>
              <a:rPr sz="1800" spc="89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: 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黄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  <a:p>
            <a:pPr marL="0" marR="0">
              <a:lnSpc>
                <a:spcPts val="1993"/>
              </a:lnSpc>
              <a:spcBef>
                <a:spcPts val="129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天羽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  <a:p>
            <a:pPr marL="0" marR="0">
              <a:lnSpc>
                <a:spcPts val="1996"/>
              </a:lnSpc>
              <a:spcBef>
                <a:spcPts val="124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</a:t>
            </a:r>
          </a:p>
          <a:p>
            <a:pPr marL="0" marR="0">
              <a:lnSpc>
                <a:spcPts val="1993"/>
              </a:lnSpc>
              <a:spcBef>
                <a:spcPts val="129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02154" y="2788949"/>
            <a:ext cx="425481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json库的使用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325462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Json库的概述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6993" y="2411799"/>
            <a:ext cx="7673999" cy="2555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400" spc="3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Microsoft YaHei"/>
                <a:cs typeface="Microsoft YaHei"/>
              </a:rPr>
              <a:t>json库</a:t>
            </a:r>
            <a:r>
              <a:rPr lang="zh-CN" altLang="en-US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是处理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json</a:t>
            </a:r>
            <a:r>
              <a:rPr lang="zh-CN" altLang="en-US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格式的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lang="zh-CN" altLang="en-US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标准库</a:t>
            </a:r>
            <a:endParaRPr lang="en-US" altLang="zh-CN" sz="2400" b="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import json</a:t>
            </a: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主要包括两类函数：操作类函数和解析类函数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457200" marR="0">
              <a:lnSpc>
                <a:spcPct val="150000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1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57" dirty="0">
                <a:solidFill>
                  <a:srgbClr val="000000"/>
                </a:solidFill>
                <a:latin typeface="Microsoft YaHei"/>
                <a:cs typeface="Microsoft YaHei"/>
              </a:rPr>
              <a:t>操作类函数主要完成外部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JSON</a:t>
            </a:r>
            <a:r>
              <a:rPr sz="2400" spc="56" dirty="0">
                <a:solidFill>
                  <a:srgbClr val="000000"/>
                </a:solidFill>
                <a:latin typeface="Microsoft YaHei"/>
                <a:cs typeface="Microsoft YaHei"/>
              </a:rPr>
              <a:t>格式和程序内部数</a:t>
            </a:r>
          </a:p>
          <a:p>
            <a:pPr marL="800125" marR="0">
              <a:lnSpc>
                <a:spcPct val="15000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据类型之间的转换功能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9632" y="5285277"/>
            <a:ext cx="7488832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1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解析类函数主要用于解析键值对内容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Microsoft YaHei"/>
                <a:cs typeface="Microsoft YaHei"/>
              </a:rPr>
              <a:t>（编码和解码）</a:t>
            </a:r>
            <a:endParaRPr sz="2400" b="1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325462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Json库的解析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190" y="2002224"/>
            <a:ext cx="630555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dumps()和loads()分别对应编码和解码功能。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44345" y="3542720"/>
            <a:ext cx="509320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17413" y="3542720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3602" y="3857101"/>
            <a:ext cx="2126262" cy="8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json.dumps(obj,</a:t>
            </a:r>
            <a:r>
              <a:rPr sz="1400" spc="-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sort_keys=</a:t>
            </a:r>
          </a:p>
          <a:p>
            <a:pPr marL="259080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False,</a:t>
            </a:r>
            <a:r>
              <a:rPr sz="1400" spc="-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indent=None)</a:t>
            </a:r>
          </a:p>
          <a:p>
            <a:pPr marL="365734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json.loads(string)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05960" y="3857101"/>
            <a:ext cx="3936743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将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Python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的数据类型转换为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JSON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格式，编码过程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39007" y="4497181"/>
            <a:ext cx="4471667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将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JSON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格式字符串转换为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Python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的数据类型，解码过程</a:t>
            </a:r>
          </a:p>
          <a:p>
            <a:pPr marL="806450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dumps()</a:t>
            </a:r>
            <a:r>
              <a:rPr sz="1400" dirty="0" err="1">
                <a:solidFill>
                  <a:srgbClr val="000000"/>
                </a:solidFill>
                <a:latin typeface="SimSun"/>
                <a:cs typeface="SimSun"/>
              </a:rPr>
              <a:t>功能一致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latin typeface="SimSun"/>
                <a:cs typeface="SimSun"/>
              </a:rPr>
              <a:t>将</a:t>
            </a:r>
            <a:r>
              <a:rPr lang="zh-CN" altLang="en-US" sz="1400" dirty="0">
                <a:solidFill>
                  <a:srgbClr val="FF0000"/>
                </a:solidFill>
                <a:latin typeface="SimSun"/>
                <a:cs typeface="SimSun"/>
              </a:rPr>
              <a:t>列表</a:t>
            </a:r>
            <a:r>
              <a:rPr sz="1400" dirty="0" err="1">
                <a:solidFill>
                  <a:srgbClr val="000000"/>
                </a:solidFill>
                <a:latin typeface="SimSun"/>
                <a:cs typeface="SimSun"/>
              </a:rPr>
              <a:t>输出到文件</a:t>
            </a:r>
            <a:r>
              <a:rPr sz="1400" spc="-10" dirty="0" err="1">
                <a:solidFill>
                  <a:srgbClr val="000000"/>
                </a:solidFill>
                <a:latin typeface="Times New Roman"/>
                <a:cs typeface="Times New Roman"/>
              </a:rPr>
              <a:t>fp</a:t>
            </a:r>
            <a:endParaRPr sz="1400" spc="-1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306" y="4817221"/>
            <a:ext cx="2292802" cy="875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json.dump(obj,</a:t>
            </a:r>
            <a:r>
              <a:rPr sz="1400" spc="-4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fp, sort_keys=</a:t>
            </a:r>
          </a:p>
          <a:p>
            <a:pPr marL="341376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False,</a:t>
            </a:r>
            <a:r>
              <a:rPr sz="1400" spc="-1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indent=None)</a:t>
            </a:r>
          </a:p>
          <a:p>
            <a:pPr marL="612622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json.load(fp)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39007" y="5457352"/>
            <a:ext cx="436138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loads()</a:t>
            </a:r>
            <a:r>
              <a:rPr sz="1400" dirty="0" err="1">
                <a:solidFill>
                  <a:srgbClr val="000000"/>
                </a:solidFill>
                <a:latin typeface="SimSun"/>
                <a:cs typeface="SimSun"/>
              </a:rPr>
              <a:t>功能一致，从文件</a:t>
            </a:r>
            <a:r>
              <a:rPr sz="1400" dirty="0" err="1">
                <a:solidFill>
                  <a:srgbClr val="000000"/>
                </a:solidFill>
                <a:latin typeface="Times New Roman"/>
                <a:cs typeface="Times New Roman"/>
              </a:rPr>
              <a:t>fp</a:t>
            </a:r>
            <a:r>
              <a:rPr sz="1400" dirty="0" err="1">
                <a:solidFill>
                  <a:srgbClr val="000000"/>
                </a:solidFill>
                <a:latin typeface="SimSun"/>
                <a:cs typeface="SimSun"/>
              </a:rPr>
              <a:t>读入</a:t>
            </a:r>
            <a:r>
              <a:rPr lang="zh-CN" altLang="en-US" sz="1400" dirty="0">
                <a:solidFill>
                  <a:srgbClr val="000000"/>
                </a:solidFill>
                <a:latin typeface="SimSun"/>
                <a:cs typeface="SimSun"/>
              </a:rPr>
              <a:t>，数据类型为</a:t>
            </a:r>
            <a:r>
              <a:rPr lang="zh-CN" altLang="en-US" sz="1400" dirty="0">
                <a:solidFill>
                  <a:srgbClr val="FF0000"/>
                </a:solidFill>
                <a:latin typeface="SimSun"/>
                <a:cs typeface="SimSun"/>
              </a:rPr>
              <a:t>列表</a:t>
            </a:r>
            <a:endParaRPr sz="1400" dirty="0">
              <a:solidFill>
                <a:srgbClr val="FF0000"/>
              </a:solidFill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325462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Json库的解析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8530" y="2081314"/>
            <a:ext cx="6347481" cy="179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&gt;&gt;&gt;dt 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{'b':2,'c':4,'a':6}</a:t>
            </a:r>
          </a:p>
          <a:p>
            <a:pPr marL="0" marR="0">
              <a:lnSpc>
                <a:spcPts val="1807"/>
              </a:lnSpc>
              <a:spcBef>
                <a:spcPts val="16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&gt;&gt;&gt;s1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json.dumps(dt)</a:t>
            </a:r>
            <a:r>
              <a:rPr sz="1600" b="1" spc="99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#dumps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JSON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格式的字符串类型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&gt;&gt;&gt;s2 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json.dumps(dt,sort_keys=True,indent=4)</a:t>
            </a:r>
          </a:p>
          <a:p>
            <a:pPr marL="0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&gt;&gt;&gt;print(s1)</a:t>
            </a:r>
          </a:p>
          <a:p>
            <a:pPr marL="0" marR="0">
              <a:lnSpc>
                <a:spcPts val="1807"/>
              </a:lnSpc>
              <a:spcBef>
                <a:spcPts val="19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{"c": 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4,</a:t>
            </a:r>
            <a:r>
              <a:rPr sz="16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"a": 6, "b": 2}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&gt;&gt;&gt;print(s2)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6515" y="3860075"/>
            <a:ext cx="1007129" cy="77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"a": 6,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"b": 2,</a:t>
            </a:r>
          </a:p>
          <a:p>
            <a:pPr marL="0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"c": 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8530" y="4622456"/>
            <a:ext cx="27403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8530" y="4876964"/>
            <a:ext cx="4917002" cy="1282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&gt;&gt;&gt;print(s1==s2)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False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&gt;&gt;&gt;dt2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json.loads(s2)</a:t>
            </a:r>
          </a:p>
          <a:p>
            <a:pPr marL="0" marR="0">
              <a:lnSpc>
                <a:spcPts val="1807"/>
              </a:lnSpc>
              <a:spcBef>
                <a:spcPts val="19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&gt;&gt;&gt;print(dt2, type(dt2))</a:t>
            </a:r>
          </a:p>
          <a:p>
            <a:pPr marL="0" marR="0">
              <a:lnSpc>
                <a:spcPts val="1807"/>
              </a:lnSpc>
              <a:spcBef>
                <a:spcPts val="18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{'c': 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4,</a:t>
            </a:r>
            <a:r>
              <a:rPr sz="16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'a': 6, 'b': 2}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&lt;class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'dict'&gt;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01014" y="2788949"/>
            <a:ext cx="805647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CSV和JSON格式相互转换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1240" y="762923"/>
            <a:ext cx="60039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CSV和JSON格式相互转换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2225871"/>
            <a:ext cx="8397188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CSV</a:t>
            </a:r>
            <a:r>
              <a:rPr sz="2400" spc="69" dirty="0">
                <a:solidFill>
                  <a:srgbClr val="000000"/>
                </a:solidFill>
                <a:latin typeface="Microsoft YaHei"/>
                <a:cs typeface="Microsoft YaHei"/>
              </a:rPr>
              <a:t>格式常用于一二维数据表示和存储，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JSON</a:t>
            </a:r>
            <a:r>
              <a:rPr sz="2400" spc="67" dirty="0">
                <a:solidFill>
                  <a:srgbClr val="000000"/>
                </a:solidFill>
                <a:latin typeface="Microsoft YaHei"/>
                <a:cs typeface="Microsoft YaHei"/>
              </a:rPr>
              <a:t>也可以表示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一二维数据。在网络信息传输中，可能需要统一表示方式，因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此，需要在CSV和JSON格式间进行相互转换。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41982" y="4398753"/>
            <a:ext cx="1675968" cy="1526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":</a:t>
            </a:r>
            <a:r>
              <a:rPr sz="18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"120.7",</a:t>
            </a:r>
          </a:p>
          <a:p>
            <a:pPr marL="0" marR="0">
              <a:lnSpc>
                <a:spcPts val="1993"/>
              </a:lnSpc>
              <a:spcBef>
                <a:spcPts val="124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":</a:t>
            </a:r>
            <a:r>
              <a:rPr sz="18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  <a:p>
            <a:pPr marL="0" marR="0">
              <a:lnSpc>
                <a:spcPts val="1993"/>
              </a:lnSpc>
              <a:spcBef>
                <a:spcPts val="129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":</a:t>
            </a:r>
            <a:r>
              <a:rPr sz="18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"121.4",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":</a:t>
            </a:r>
            <a:r>
              <a:rPr sz="18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"101.5"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1240" y="762923"/>
            <a:ext cx="60039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CSV和JSON格式相互转换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782700"/>
            <a:ext cx="488867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将CSV转换成JSON格式的代码如下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757" y="2458530"/>
            <a:ext cx="1319374" cy="3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14.1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61485" y="2455483"/>
            <a:ext cx="1643838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e14.1csv2json.py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0386" y="2961785"/>
            <a:ext cx="2331661" cy="493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#e14.1csv2json.py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json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10386" y="3469531"/>
            <a:ext cx="3821400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 = open("price2016.csv", "r")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 = []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10386" y="3977023"/>
            <a:ext cx="2118301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line in</a:t>
            </a:r>
            <a:r>
              <a:rPr sz="1400" b="1" spc="-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10386" y="4231531"/>
            <a:ext cx="259402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07057" y="4231531"/>
            <a:ext cx="3131372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line =</a:t>
            </a:r>
            <a:r>
              <a:rPr sz="1400" b="1" spc="-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line.replace("\n","")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ls.append(line.split(','))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10386" y="4739023"/>
            <a:ext cx="158794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fr.close()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56995" y="4993785"/>
            <a:ext cx="3981775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39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 = open("price2016.json",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"w")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400" spc="8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i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range(1,len(ls)):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56995" y="5501328"/>
            <a:ext cx="36640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07057" y="5501328"/>
            <a:ext cx="3451039" cy="207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ls[i] =</a:t>
            </a:r>
            <a:r>
              <a:rPr sz="1400" b="1" spc="-12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dict(zip(ls[0],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ls[i]))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56995" y="5755835"/>
            <a:ext cx="5470772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400" spc="8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json.dump(ls[1:],fw, sort_keys=True, indent=4)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  <a:r>
              <a:rPr sz="1400" spc="8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fw.close()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1531" y="1239283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[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76139" y="1263033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8251" y="1492268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00065" y="1512752"/>
            <a:ext cx="1787973" cy="498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"140.9",</a:t>
            </a:r>
          </a:p>
          <a:p>
            <a:pPr marL="0" marR="0">
              <a:lnSpc>
                <a:spcPts val="1590"/>
              </a:lnSpc>
              <a:spcBef>
                <a:spcPts val="3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深圳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2227" y="1741987"/>
            <a:ext cx="1787974" cy="1007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"120.7",</a:t>
            </a:r>
          </a:p>
          <a:p>
            <a:pPr marL="0" marR="0">
              <a:lnSpc>
                <a:spcPts val="1590"/>
              </a:lnSpc>
              <a:spcBef>
                <a:spcPts val="37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</a:p>
          <a:p>
            <a:pPr marL="0" marR="0">
              <a:lnSpc>
                <a:spcPts val="1590"/>
              </a:lnSpc>
              <a:spcBef>
                <a:spcPts val="32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"121.4",</a:t>
            </a:r>
          </a:p>
          <a:p>
            <a:pPr marL="0" marR="0">
              <a:lnSpc>
                <a:spcPts val="1590"/>
              </a:lnSpc>
              <a:spcBef>
                <a:spcPts val="36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"101.5"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00065" y="2020625"/>
            <a:ext cx="1787973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79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</a:p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96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"145.5",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00065" y="2275133"/>
            <a:ext cx="1467933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79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</a:p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96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"102"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176139" y="2532906"/>
            <a:ext cx="366404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},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8251" y="2763665"/>
            <a:ext cx="366404" cy="493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},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00065" y="3037133"/>
            <a:ext cx="1787973" cy="498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"101.4",</a:t>
            </a:r>
          </a:p>
          <a:p>
            <a:pPr marL="0" marR="0">
              <a:lnSpc>
                <a:spcPts val="1590"/>
              </a:lnSpc>
              <a:spcBef>
                <a:spcPts val="3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沈阳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62227" y="3266368"/>
            <a:ext cx="1787974" cy="1007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"127.3",</a:t>
            </a:r>
          </a:p>
          <a:p>
            <a:pPr marL="0" marR="0">
              <a:lnSpc>
                <a:spcPts val="1590"/>
              </a:lnSpc>
              <a:spcBef>
                <a:spcPts val="37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上海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</a:p>
          <a:p>
            <a:pPr marL="0" marR="0">
              <a:lnSpc>
                <a:spcPts val="1590"/>
              </a:lnSpc>
              <a:spcBef>
                <a:spcPts val="32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"127.8",</a:t>
            </a:r>
          </a:p>
          <a:p>
            <a:pPr marL="0" marR="0">
              <a:lnSpc>
                <a:spcPts val="1590"/>
              </a:lnSpc>
              <a:spcBef>
                <a:spcPts val="36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"101.2"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600065" y="3544879"/>
            <a:ext cx="1787973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79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</a:p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96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"101.6",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600065" y="3799387"/>
            <a:ext cx="1681293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79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</a:p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96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"100.1"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176139" y="4057160"/>
            <a:ext cx="366404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},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8251" y="4287919"/>
            <a:ext cx="366404" cy="493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},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600065" y="4561387"/>
            <a:ext cx="1254573" cy="1007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"",</a:t>
            </a:r>
          </a:p>
          <a:p>
            <a:pPr marL="0" marR="0">
              <a:lnSpc>
                <a:spcPts val="1590"/>
              </a:lnSpc>
              <a:spcBef>
                <a:spcPts val="3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"",</a:t>
            </a:r>
          </a:p>
          <a:p>
            <a:pPr marL="0" marR="0">
              <a:lnSpc>
                <a:spcPts val="1590"/>
              </a:lnSpc>
              <a:spcBef>
                <a:spcPts val="3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"",</a:t>
            </a:r>
          </a:p>
          <a:p>
            <a:pPr marL="0" marR="0">
              <a:lnSpc>
                <a:spcPts val="1590"/>
              </a:lnSpc>
              <a:spcBef>
                <a:spcPts val="3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62227" y="4790622"/>
            <a:ext cx="1787974" cy="10071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"119.4",</a:t>
            </a:r>
          </a:p>
          <a:p>
            <a:pPr marL="0" marR="0">
              <a:lnSpc>
                <a:spcPts val="1590"/>
              </a:lnSpc>
              <a:spcBef>
                <a:spcPts val="37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广州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</a:p>
          <a:p>
            <a:pPr marL="0" marR="0">
              <a:lnSpc>
                <a:spcPts val="1590"/>
              </a:lnSpc>
              <a:spcBef>
                <a:spcPts val="32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"120",</a:t>
            </a:r>
          </a:p>
          <a:p>
            <a:pPr marL="0" marR="0">
              <a:lnSpc>
                <a:spcPts val="1590"/>
              </a:lnSpc>
              <a:spcBef>
                <a:spcPts val="364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"101.3"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76139" y="5581490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38251" y="5812223"/>
            <a:ext cx="36640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},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749419" y="5835998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8990" y="1042993"/>
            <a:ext cx="823694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将二维JSON格式数据转换成CSV格式的代码如下，供参考。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1910" y="2242057"/>
            <a:ext cx="1319631" cy="311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14.2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83023" y="2239008"/>
            <a:ext cx="1645338" cy="311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2" dirty="0">
                <a:solidFill>
                  <a:srgbClr val="000000"/>
                </a:solidFill>
                <a:latin typeface="Palatino Linotype"/>
                <a:cs typeface="Palatino Linotype"/>
              </a:rPr>
              <a:t>e14.2json2csv.py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6995" y="2745885"/>
            <a:ext cx="2245225" cy="493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#14.2json2csv.py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json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6995" y="3253376"/>
            <a:ext cx="3947787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 = open("price2016.json",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"r")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 = json.load(fr)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56995" y="3760869"/>
            <a:ext cx="3627747" cy="494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data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 list(ls[0].keys())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]</a:t>
            </a:r>
          </a:p>
          <a:p>
            <a:pPr marL="0" marR="0">
              <a:lnSpc>
                <a:spcPts val="1590"/>
              </a:lnSpc>
              <a:spcBef>
                <a:spcPts val="416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item in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56995" y="4270266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73529" y="4270266"/>
            <a:ext cx="3576470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data.append(list(item.values()))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56995" y="4523250"/>
            <a:ext cx="1607955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fr.close()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03655" y="4777758"/>
            <a:ext cx="4958498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339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 = open("price2016_from_json.csv", "w")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400" spc="96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item in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data: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03655" y="5285250"/>
            <a:ext cx="36640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73529" y="5285250"/>
            <a:ext cx="345129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fw.write(",".join(item)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+ "\n")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03655" y="5540037"/>
            <a:ext cx="166149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400" spc="96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fw.close()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938</TotalTime>
  <Words>2948</Words>
  <Application>Microsoft Office PowerPoint</Application>
  <PresentationFormat>全屏显示(4:3)</PresentationFormat>
  <Paragraphs>553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微软雅黑</vt:lpstr>
      <vt:lpstr>Arial</vt:lpstr>
      <vt:lpstr>-apple-system</vt:lpstr>
      <vt:lpstr>SimSun</vt:lpstr>
      <vt:lpstr>Palatino Linotype</vt:lpstr>
      <vt:lpstr>Times New Roman</vt:lpstr>
      <vt:lpstr>微软雅黑</vt:lpstr>
      <vt:lpstr>Calibri</vt:lpstr>
      <vt:lpstr>SimHei</vt:lpstr>
      <vt:lpstr>Wingdings</vt:lpstr>
      <vt:lpstr>Courier New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hongwei</dc:creator>
  <cp:lastModifiedBy>Administrator</cp:lastModifiedBy>
  <cp:revision>49</cp:revision>
  <dcterms:modified xsi:type="dcterms:W3CDTF">2024-11-10T13:29:18Z</dcterms:modified>
</cp:coreProperties>
</file>