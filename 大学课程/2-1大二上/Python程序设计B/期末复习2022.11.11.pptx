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74" r:id="rId7"/>
    <p:sldId id="275" r:id="rId8"/>
    <p:sldId id="284" r:id="rId9"/>
    <p:sldId id="295" r:id="rId10"/>
    <p:sldId id="296" r:id="rId11"/>
    <p:sldId id="301" r:id="rId12"/>
    <p:sldId id="302" r:id="rId13"/>
    <p:sldId id="303" r:id="rId14"/>
    <p:sldId id="515" r:id="rId15"/>
    <p:sldId id="524" r:id="rId16"/>
    <p:sldId id="526" r:id="rId17"/>
    <p:sldId id="527" r:id="rId18"/>
    <p:sldId id="528" r:id="rId19"/>
    <p:sldId id="529" r:id="rId20"/>
    <p:sldId id="530" r:id="rId21"/>
    <p:sldId id="304" r:id="rId22"/>
    <p:sldId id="258" r:id="rId23"/>
    <p:sldId id="260" r:id="rId24"/>
    <p:sldId id="276" r:id="rId25"/>
    <p:sldId id="268" r:id="rId26"/>
    <p:sldId id="270" r:id="rId27"/>
    <p:sldId id="272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310" r:id="rId36"/>
    <p:sldId id="312" r:id="rId37"/>
    <p:sldId id="297" r:id="rId38"/>
    <p:sldId id="342" r:id="rId39"/>
    <p:sldId id="300" r:id="rId40"/>
    <p:sldId id="314" r:id="rId41"/>
    <p:sldId id="316" r:id="rId42"/>
    <p:sldId id="322" r:id="rId43"/>
    <p:sldId id="324" r:id="rId44"/>
    <p:sldId id="327" r:id="rId45"/>
    <p:sldId id="328" r:id="rId46"/>
    <p:sldId id="329" r:id="rId47"/>
    <p:sldId id="332" r:id="rId48"/>
    <p:sldId id="345" r:id="rId49"/>
    <p:sldId id="346" r:id="rId50"/>
    <p:sldId id="259" r:id="rId51"/>
    <p:sldId id="347" r:id="rId52"/>
    <p:sldId id="261" r:id="rId53"/>
    <p:sldId id="349" r:id="rId54"/>
    <p:sldId id="350" r:id="rId55"/>
    <p:sldId id="266" r:id="rId56"/>
    <p:sldId id="267" r:id="rId57"/>
    <p:sldId id="351" r:id="rId58"/>
    <p:sldId id="352" r:id="rId59"/>
    <p:sldId id="269" r:id="rId60"/>
    <p:sldId id="353" r:id="rId61"/>
    <p:sldId id="271" r:id="rId62"/>
    <p:sldId id="354" r:id="rId63"/>
    <p:sldId id="355" r:id="rId64"/>
    <p:sldId id="356" r:id="rId65"/>
    <p:sldId id="358" r:id="rId66"/>
    <p:sldId id="359" r:id="rId67"/>
    <p:sldId id="360" r:id="rId68"/>
    <p:sldId id="361" r:id="rId69"/>
    <p:sldId id="362" r:id="rId70"/>
    <p:sldId id="364" r:id="rId71"/>
    <p:sldId id="285" r:id="rId72"/>
    <p:sldId id="366" r:id="rId73"/>
    <p:sldId id="367" r:id="rId74"/>
    <p:sldId id="368" r:id="rId75"/>
    <p:sldId id="298" r:id="rId76"/>
    <p:sldId id="299" r:id="rId77"/>
    <p:sldId id="369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84" r:id="rId86"/>
    <p:sldId id="387" r:id="rId87"/>
    <p:sldId id="390" r:id="rId88"/>
    <p:sldId id="392" r:id="rId89"/>
    <p:sldId id="393" r:id="rId90"/>
    <p:sldId id="394" r:id="rId91"/>
    <p:sldId id="399" r:id="rId92"/>
    <p:sldId id="286" r:id="rId93"/>
    <p:sldId id="287" r:id="rId94"/>
    <p:sldId id="288" r:id="rId95"/>
    <p:sldId id="289" r:id="rId96"/>
    <p:sldId id="290" r:id="rId97"/>
    <p:sldId id="291" r:id="rId98"/>
    <p:sldId id="292" r:id="rId99"/>
    <p:sldId id="293" r:id="rId100"/>
    <p:sldId id="294" r:id="rId101"/>
    <p:sldId id="531" r:id="rId102"/>
    <p:sldId id="533" r:id="rId103"/>
    <p:sldId id="536" r:id="rId104"/>
    <p:sldId id="315" r:id="rId105"/>
    <p:sldId id="539" r:id="rId106"/>
    <p:sldId id="400" r:id="rId107"/>
    <p:sldId id="401" r:id="rId108"/>
    <p:sldId id="402" r:id="rId109"/>
    <p:sldId id="403" r:id="rId110"/>
    <p:sldId id="406" r:id="rId111"/>
    <p:sldId id="410" r:id="rId112"/>
    <p:sldId id="412" r:id="rId113"/>
    <p:sldId id="413" r:id="rId114"/>
    <p:sldId id="414" r:id="rId115"/>
    <p:sldId id="273" r:id="rId116"/>
    <p:sldId id="416" r:id="rId117"/>
    <p:sldId id="417" r:id="rId118"/>
    <p:sldId id="423" r:id="rId119"/>
    <p:sldId id="307" r:id="rId120"/>
    <p:sldId id="308" r:id="rId121"/>
    <p:sldId id="309" r:id="rId122"/>
    <p:sldId id="468" r:id="rId123"/>
    <p:sldId id="311" r:id="rId124"/>
    <p:sldId id="469" r:id="rId125"/>
    <p:sldId id="470" r:id="rId126"/>
    <p:sldId id="325" r:id="rId127"/>
    <p:sldId id="326" r:id="rId128"/>
    <p:sldId id="474" r:id="rId129"/>
    <p:sldId id="475" r:id="rId130"/>
    <p:sldId id="476" r:id="rId131"/>
    <p:sldId id="478" r:id="rId132"/>
    <p:sldId id="479" r:id="rId133"/>
    <p:sldId id="262" r:id="rId134"/>
    <p:sldId id="480" r:id="rId135"/>
    <p:sldId id="481" r:id="rId136"/>
    <p:sldId id="482" r:id="rId137"/>
    <p:sldId id="483" r:id="rId138"/>
    <p:sldId id="484" r:id="rId139"/>
    <p:sldId id="487" r:id="rId140"/>
    <p:sldId id="488" r:id="rId141"/>
    <p:sldId id="489" r:id="rId142"/>
    <p:sldId id="490" r:id="rId143"/>
    <p:sldId id="491" r:id="rId144"/>
    <p:sldId id="492" r:id="rId145"/>
    <p:sldId id="493" r:id="rId146"/>
    <p:sldId id="494" r:id="rId147"/>
    <p:sldId id="495" r:id="rId148"/>
    <p:sldId id="496" r:id="rId149"/>
    <p:sldId id="305" r:id="rId150"/>
    <p:sldId id="306" r:id="rId151"/>
    <p:sldId id="497" r:id="rId152"/>
    <p:sldId id="498" r:id="rId153"/>
    <p:sldId id="313" r:id="rId154"/>
    <p:sldId id="321" r:id="rId155"/>
    <p:sldId id="505" r:id="rId156"/>
    <p:sldId id="323" r:id="rId157"/>
    <p:sldId id="506" r:id="rId158"/>
    <p:sldId id="507" r:id="rId159"/>
    <p:sldId id="508" r:id="rId160"/>
    <p:sldId id="509" r:id="rId161"/>
    <p:sldId id="510" r:id="rId162"/>
    <p:sldId id="511" r:id="rId163"/>
    <p:sldId id="331" r:id="rId164"/>
    <p:sldId id="512" r:id="rId165"/>
    <p:sldId id="333" r:id="rId166"/>
    <p:sldId id="343" r:id="rId167"/>
    <p:sldId id="514" r:id="rId168"/>
    <p:sldId id="344" r:id="rId169"/>
    <p:sldId id="513" r:id="rId170"/>
  </p:sldIdLst>
  <p:sldSz cx="9144000" cy="6858000" type="screen4x3"/>
  <p:notesSz cx="9144000" cy="6858000"/>
  <p:embeddedFontLst>
    <p:embeddedFont>
      <p:font typeface="等线" panose="02010600030101010101" pitchFamily="2" charset="-122"/>
      <p:regular r:id="rId171"/>
      <p:bold r:id="rId172"/>
    </p:embeddedFont>
    <p:embeddedFont>
      <p:font typeface="SimHei" panose="02010609060101010101" pitchFamily="49" charset="-122"/>
      <p:regular r:id="rId173"/>
    </p:embeddedFont>
    <p:embeddedFont>
      <p:font typeface="KaiTi" panose="02010609060101010101" pitchFamily="49" charset="-122"/>
      <p:regular r:id="rId174"/>
    </p:embeddedFont>
    <p:embeddedFont>
      <p:font typeface="Microsoft YaHei" panose="020B0503020204020204" pitchFamily="34" charset="-122"/>
      <p:regular r:id="rId175"/>
      <p:bold r:id="rId176"/>
    </p:embeddedFont>
    <p:embeddedFont>
      <p:font typeface="Microsoft YaHei" panose="020B0503020204020204" pitchFamily="34" charset="-122"/>
      <p:regular r:id="rId175"/>
      <p:bold r:id="rId176"/>
    </p:embeddedFont>
    <p:embeddedFont>
      <p:font typeface="Calibri" panose="020F0502020204030204" pitchFamily="34" charset="0"/>
      <p:regular r:id="rId177"/>
      <p:bold r:id="rId178"/>
      <p:italic r:id="rId179"/>
      <p:boldItalic r:id="rId180"/>
    </p:embeddedFont>
    <p:embeddedFont>
      <p:font typeface="Palatino Linotype" panose="02040502050505030304" pitchFamily="18" charset="0"/>
      <p:regular r:id="rId181"/>
      <p:bold r:id="rId182"/>
      <p:italic r:id="rId183"/>
      <p:boldItalic r:id="rId18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font" Target="fonts/font11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1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font" Target="fonts/font12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font" Target="fonts/font2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font" Target="fonts/font14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4.fntdata"/><Relationship Id="rId179" Type="http://schemas.openxmlformats.org/officeDocument/2006/relationships/font" Target="fonts/font9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font" Target="fonts/font10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5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6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%E6%BA%90%E7%A0%81&amp;spm=1001.2101.3001.7020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9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4764" y="2023991"/>
            <a:ext cx="6705980" cy="8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47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1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程序设计基本方法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95423" y="2829774"/>
            <a:ext cx="4269028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程序设计语言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程序设计语言概述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1520" y="5077051"/>
            <a:ext cx="8071859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程序设计语言包括编译执行和解释执行两种方式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3568" y="1638643"/>
            <a:ext cx="8107967" cy="295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46" dirty="0">
                <a:solidFill>
                  <a:srgbClr val="000000"/>
                </a:solidFill>
                <a:latin typeface="KaiTi"/>
                <a:cs typeface="KaiTi"/>
              </a:rPr>
              <a:t>程序设计语言是计算机能够理解和识别用户操作意</a:t>
            </a:r>
          </a:p>
          <a:p>
            <a:pPr marL="0" marR="0">
              <a:lnSpc>
                <a:spcPts val="2798"/>
              </a:lnSpc>
              <a:spcBef>
                <a:spcPts val="2241"/>
              </a:spcBef>
              <a:spcAft>
                <a:spcPts val="0"/>
              </a:spcAft>
            </a:pP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图的一种</a:t>
            </a:r>
            <a:r>
              <a:rPr sz="2800" spc="47" dirty="0">
                <a:solidFill>
                  <a:srgbClr val="FF0000"/>
                </a:solidFill>
                <a:latin typeface="KaiTi"/>
                <a:cs typeface="KaiTi"/>
              </a:rPr>
              <a:t>交互</a:t>
            </a: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体系，它按照</a:t>
            </a:r>
            <a:r>
              <a:rPr sz="2800" spc="47" dirty="0">
                <a:solidFill>
                  <a:srgbClr val="FF0000"/>
                </a:solidFill>
                <a:latin typeface="KaiTi"/>
                <a:cs typeface="KaiTi"/>
              </a:rPr>
              <a:t>特定规则</a:t>
            </a: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组织计算机指</a:t>
            </a:r>
          </a:p>
          <a:p>
            <a:pPr marL="0" marR="0">
              <a:lnSpc>
                <a:spcPts val="2795"/>
              </a:lnSpc>
              <a:spcBef>
                <a:spcPts val="2295"/>
              </a:spcBef>
              <a:spcAft>
                <a:spcPts val="0"/>
              </a:spcAft>
            </a:pPr>
            <a:r>
              <a:rPr sz="2800" spc="50" dirty="0">
                <a:solidFill>
                  <a:srgbClr val="000000"/>
                </a:solidFill>
                <a:latin typeface="KaiTi"/>
                <a:cs typeface="KaiTi"/>
              </a:rPr>
              <a:t>令，使计算机能够自动进行各种运算处理。按照程</a:t>
            </a:r>
          </a:p>
          <a:p>
            <a:pPr marL="0" marR="0">
              <a:lnSpc>
                <a:spcPts val="2795"/>
              </a:lnSpc>
              <a:spcBef>
                <a:spcPts val="2243"/>
              </a:spcBef>
              <a:spcAft>
                <a:spcPts val="0"/>
              </a:spcAft>
            </a:pPr>
            <a:r>
              <a:rPr sz="2800" spc="46" dirty="0">
                <a:solidFill>
                  <a:srgbClr val="000000"/>
                </a:solidFill>
                <a:latin typeface="KaiTi"/>
                <a:cs typeface="KaiTi"/>
              </a:rPr>
              <a:t>序设计语言规则组织起来的一组计算机指令称为计</a:t>
            </a:r>
          </a:p>
          <a:p>
            <a:pPr marL="0" marR="0">
              <a:lnSpc>
                <a:spcPts val="2795"/>
              </a:lnSpc>
              <a:spcBef>
                <a:spcPts val="229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算机程序。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程序设计语言概述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53412"/>
            <a:ext cx="2031388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机器语言</a:t>
            </a:r>
            <a:endParaRPr lang="en-US"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CC8F665-7B99-47F3-A0A2-F06E3046DF6E}"/>
              </a:ext>
            </a:extLst>
          </p:cNvPr>
          <p:cNvSpPr txBox="1"/>
          <p:nvPr/>
        </p:nvSpPr>
        <p:spPr>
          <a:xfrm>
            <a:off x="621104" y="2491172"/>
            <a:ext cx="2031388" cy="1192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汇编语言</a:t>
            </a:r>
            <a:endParaRPr lang="en-US"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>
              <a:lnSpc>
                <a:spcPts val="3103"/>
              </a:lnSpc>
            </a:pPr>
            <a:r>
              <a:rPr lang="zh-CN" altLang="en-US"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lang="zh-CN" altLang="en-US"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高级语言</a:t>
            </a:r>
          </a:p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A9DD21-1A9B-4A37-88DF-633437F5BF8B}"/>
              </a:ext>
            </a:extLst>
          </p:cNvPr>
          <p:cNvSpPr txBox="1"/>
          <p:nvPr/>
        </p:nvSpPr>
        <p:spPr>
          <a:xfrm>
            <a:off x="987596" y="3331101"/>
            <a:ext cx="7400828" cy="301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lang="zh-CN" altLang="en-US" sz="2400" dirty="0">
                <a:solidFill>
                  <a:srgbClr val="000000"/>
                </a:solidFill>
                <a:latin typeface="KaiTi"/>
                <a:cs typeface="KaiTi"/>
              </a:rPr>
              <a:t>静态语言</a:t>
            </a:r>
            <a:r>
              <a:rPr lang="en-US" altLang="zh-CN" sz="2400" dirty="0">
                <a:solidFill>
                  <a:srgbClr val="000000"/>
                </a:solidFill>
                <a:latin typeface="KaiTi"/>
                <a:cs typeface="KaiTi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latin typeface="KaiTi"/>
                <a:cs typeface="KaiTi"/>
              </a:rPr>
              <a:t>c,java</a:t>
            </a:r>
            <a:r>
              <a:rPr lang="en-US" altLang="zh-CN" sz="2400" dirty="0">
                <a:solidFill>
                  <a:srgbClr val="000000"/>
                </a:solidFill>
                <a:latin typeface="KaiTi"/>
                <a:cs typeface="KaiTi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KaiTi"/>
                <a:cs typeface="KaiTi"/>
              </a:rPr>
              <a:t> 编译执行 生成目标代码，执行速度更快，保密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lang="zh-CN" altLang="en-US" sz="2400" dirty="0">
                <a:solidFill>
                  <a:srgbClr val="000000"/>
                </a:solidFill>
                <a:latin typeface="KaiTi"/>
                <a:cs typeface="KaiTi"/>
              </a:rPr>
              <a:t>脚本语言</a:t>
            </a:r>
            <a:r>
              <a:rPr lang="en-US" altLang="zh-CN" sz="2400" dirty="0">
                <a:solidFill>
                  <a:srgbClr val="000000"/>
                </a:solidFill>
                <a:latin typeface="KaiTi"/>
                <a:cs typeface="KaiTi"/>
              </a:rPr>
              <a:t>(Python) </a:t>
            </a:r>
            <a:r>
              <a:rPr lang="zh-CN" altLang="en-US" sz="2400" dirty="0">
                <a:solidFill>
                  <a:srgbClr val="000000"/>
                </a:solidFill>
                <a:latin typeface="KaiTi"/>
                <a:cs typeface="KaiTi"/>
              </a:rPr>
              <a:t>解释执行 </a:t>
            </a:r>
            <a:r>
              <a:rPr lang="en-US" altLang="zh-CN" sz="2400" b="1" i="0" dirty="0">
                <a:solidFill>
                  <a:srgbClr val="4F4F4F"/>
                </a:solidFill>
                <a:effectLst/>
                <a:latin typeface="PingFang SC"/>
              </a:rPr>
              <a:t>Python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有</a:t>
            </a:r>
            <a:r>
              <a:rPr lang="en-US" altLang="zh-CN" sz="2400" b="1" i="0" dirty="0" err="1">
                <a:solidFill>
                  <a:srgbClr val="4F4F4F"/>
                </a:solidFill>
                <a:effectLst/>
                <a:latin typeface="PingFang SC"/>
              </a:rPr>
              <a:t>py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、</a:t>
            </a:r>
            <a:r>
              <a:rPr lang="en-US" altLang="zh-CN" sz="2400" b="1" i="0" dirty="0" err="1">
                <a:solidFill>
                  <a:srgbClr val="4F4F4F"/>
                </a:solidFill>
                <a:effectLst/>
                <a:latin typeface="PingFang SC"/>
              </a:rPr>
              <a:t>pyc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、</a:t>
            </a:r>
            <a:r>
              <a:rPr lang="en-US" altLang="zh-CN" sz="2400" b="1" i="0" dirty="0" err="1">
                <a:solidFill>
                  <a:srgbClr val="4F4F4F"/>
                </a:solidFill>
                <a:effectLst/>
                <a:latin typeface="PingFang SC"/>
              </a:rPr>
              <a:t>pyw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、</a:t>
            </a:r>
            <a:r>
              <a:rPr lang="en-US" altLang="zh-CN" sz="2400" b="1" i="0" dirty="0" err="1">
                <a:solidFill>
                  <a:srgbClr val="4F4F4F"/>
                </a:solidFill>
                <a:effectLst/>
                <a:latin typeface="PingFang SC"/>
              </a:rPr>
              <a:t>pyo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、</a:t>
            </a:r>
            <a:r>
              <a:rPr lang="en-US" altLang="zh-CN" sz="2400" b="1" i="0" dirty="0" err="1">
                <a:solidFill>
                  <a:srgbClr val="4F4F4F"/>
                </a:solidFill>
                <a:effectLst/>
                <a:latin typeface="PingFang SC"/>
              </a:rPr>
              <a:t>pyd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等文件格式，其中除</a:t>
            </a:r>
            <a:r>
              <a:rPr lang="en-US" altLang="zh-CN" sz="2400" b="1" i="0" dirty="0" err="1">
                <a:solidFill>
                  <a:srgbClr val="4F4F4F"/>
                </a:solidFill>
                <a:effectLst/>
                <a:latin typeface="PingFang SC"/>
              </a:rPr>
              <a:t>py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其他格式起到了不暴露</a:t>
            </a:r>
            <a:r>
              <a:rPr lang="zh-CN" altLang="en-US" sz="2400" b="0" i="0" u="none" strike="noStrike" dirty="0">
                <a:solidFill>
                  <a:srgbClr val="FC5531"/>
                </a:solidFill>
                <a:effectLst/>
                <a:latin typeface="PingFang SC"/>
                <a:hlinkClick r:id="rId3"/>
              </a:rPr>
              <a:t>源码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的作用，相当于</a:t>
            </a:r>
            <a:r>
              <a:rPr lang="en-US" altLang="zh-CN" sz="2400" b="1" i="0" dirty="0">
                <a:solidFill>
                  <a:srgbClr val="4F4F4F"/>
                </a:solidFill>
                <a:effectLst/>
                <a:latin typeface="PingFang SC"/>
              </a:rPr>
              <a:t>c</a:t>
            </a:r>
            <a:r>
              <a:rPr lang="zh-CN" altLang="en-US" sz="2400" b="1" i="0" dirty="0">
                <a:solidFill>
                  <a:srgbClr val="4F4F4F"/>
                </a:solidFill>
                <a:effectLst/>
                <a:latin typeface="PingFang SC"/>
              </a:rPr>
              <a:t>语言中的动态库。</a:t>
            </a:r>
          </a:p>
          <a:p>
            <a:pPr marL="0" marR="0">
              <a:spcBef>
                <a:spcPts val="1936"/>
              </a:spcBef>
              <a:spcAft>
                <a:spcPts val="0"/>
              </a:spcAft>
            </a:pPr>
            <a:endParaRPr lang="zh-CN" altLang="en-US" sz="1800" dirty="0">
              <a:solidFill>
                <a:srgbClr val="000000"/>
              </a:solidFill>
              <a:latin typeface="KaiTi"/>
              <a:cs typeface="KaiT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计算机编程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191" y="2038119"/>
            <a:ext cx="7614658" cy="900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计算思维是区别于以数学为代表的逻辑思维和以</a:t>
            </a:r>
          </a:p>
          <a:p>
            <a:pPr marL="0" marR="0">
              <a:lnSpc>
                <a:spcPts val="2798"/>
              </a:lnSpc>
              <a:spcBef>
                <a:spcPts val="119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物理为代表的实证思维的第三种思维模式。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4191" y="3562500"/>
            <a:ext cx="4416700" cy="393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编程是一个求解问题的过程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4191" y="4055674"/>
            <a:ext cx="7578749" cy="1931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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首先需要分析问题，抽象内容之间的交互关系</a:t>
            </a:r>
          </a:p>
          <a:p>
            <a:pPr marL="0" marR="0">
              <a:lnSpc>
                <a:spcPts val="3103"/>
              </a:lnSpc>
              <a:spcBef>
                <a:spcPts val="90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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设计利用计算机求解问题的确定性方法，</a:t>
            </a:r>
          </a:p>
          <a:p>
            <a:pPr marL="0" marR="0">
              <a:lnSpc>
                <a:spcPts val="3103"/>
              </a:lnSpc>
              <a:spcBef>
                <a:spcPts val="89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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进而通过编写和调试代码解决问题</a:t>
            </a:r>
          </a:p>
          <a:p>
            <a:pPr marL="0" marR="0">
              <a:lnSpc>
                <a:spcPts val="2798"/>
              </a:lnSpc>
              <a:spcBef>
                <a:spcPts val="10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这是从抽象问题到解决问题的完整过程。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85442" y="2829774"/>
            <a:ext cx="5216777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Python语言概述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90113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Python语言特点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1600" y="1618722"/>
            <a:ext cx="7592208" cy="5091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Python语言是通用语言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科学计算、数据处理、人工智能、机器人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Python语言是脚本语言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，语句执行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Python语言是开源语言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，类库丰富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Python语言是跨平台语言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语言是简洁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  <a:r>
              <a:rPr lang="zh-CN" altLang="en-US"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强制可读性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+UTF-8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编码（多国语言文字）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3"/>
              </a:lnSpc>
              <a:spcBef>
                <a:spcPts val="139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Python语言是多模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式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语言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，面向过程</a:t>
            </a:r>
            <a:r>
              <a:rPr lang="zh-CN" altLang="en-US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+ 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面向对象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53210" y="2829774"/>
            <a:ext cx="6327342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程序的基本编写方法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641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07294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IPO程序编写方法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544" y="1484390"/>
            <a:ext cx="8514284" cy="1751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KaiTi"/>
                <a:cs typeface="KaiTi"/>
              </a:rPr>
              <a:t>输入数据</a:t>
            </a:r>
            <a:r>
              <a:rPr lang="en-US" sz="2000" dirty="0">
                <a:solidFill>
                  <a:srgbClr val="000000"/>
                </a:solidFill>
                <a:latin typeface="KaiTi"/>
                <a:cs typeface="KaiTi"/>
              </a:rPr>
              <a:t>(Input)</a:t>
            </a:r>
          </a:p>
          <a:p>
            <a:pPr marL="0" marR="0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KaiTi"/>
                <a:cs typeface="KaiTi"/>
              </a:rPr>
              <a:t>数据有多种来源：文件输入、网络输入、控制台输入、交互界面输出、随机数据输入、内部参数输入等。</a:t>
            </a:r>
          </a:p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544" y="3386842"/>
            <a:ext cx="8136904" cy="3012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KaiTi"/>
                <a:cs typeface="KaiTi"/>
              </a:rPr>
              <a:t>处理数据</a:t>
            </a:r>
            <a:r>
              <a:rPr lang="zh-CN" altLang="en-US" sz="2000" dirty="0">
                <a:solidFill>
                  <a:srgbClr val="000000"/>
                </a:solidFill>
                <a:latin typeface="KaiTi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KaiTi"/>
              </a:rPr>
              <a:t>Process</a:t>
            </a:r>
            <a:r>
              <a:rPr lang="zh-CN" altLang="en-US" sz="2000" dirty="0">
                <a:solidFill>
                  <a:srgbClr val="000000"/>
                </a:solidFill>
                <a:latin typeface="KaiTi"/>
              </a:rPr>
              <a:t>）</a:t>
            </a:r>
            <a:endParaRPr lang="en-US" sz="2000" dirty="0">
              <a:solidFill>
                <a:srgbClr val="000000"/>
              </a:solidFill>
              <a:latin typeface="KaiTi"/>
              <a:cs typeface="KaiTi"/>
            </a:endParaRPr>
          </a:p>
          <a:p>
            <a:pPr>
              <a:spcBef>
                <a:spcPts val="18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KaiTi"/>
              </a:rPr>
              <a:t>处理是程序对输入数据进行计算产生输出结果的过程。</a:t>
            </a:r>
          </a:p>
          <a:p>
            <a:pPr>
              <a:spcBef>
                <a:spcPts val="18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KaiTi"/>
              </a:rPr>
              <a:t>“算法”</a:t>
            </a:r>
            <a:r>
              <a:rPr lang="en-US" altLang="zh-CN" sz="2000" dirty="0">
                <a:solidFill>
                  <a:srgbClr val="000000"/>
                </a:solidFill>
                <a:latin typeface="KaiTi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latin typeface="KaiTi"/>
              </a:rPr>
              <a:t>“查表”</a:t>
            </a:r>
          </a:p>
          <a:p>
            <a:pPr marL="0" marR="0">
              <a:lnSpc>
                <a:spcPts val="3103"/>
              </a:lnSpc>
              <a:spcBef>
                <a:spcPts val="193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0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KaiTi"/>
                <a:cs typeface="KaiTi"/>
              </a:rPr>
              <a:t>输出数据</a:t>
            </a:r>
            <a:r>
              <a:rPr lang="en-US" sz="2000" dirty="0">
                <a:solidFill>
                  <a:srgbClr val="000000"/>
                </a:solidFill>
                <a:latin typeface="KaiTi"/>
                <a:cs typeface="KaiTi"/>
              </a:rPr>
              <a:t>(Output)</a:t>
            </a:r>
          </a:p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8" dirty="0">
                <a:solidFill>
                  <a:srgbClr val="000000"/>
                </a:solidFill>
                <a:latin typeface="KaiTi"/>
                <a:cs typeface="KaiTi"/>
              </a:rPr>
              <a:t>程序</a:t>
            </a:r>
            <a:r>
              <a:rPr lang="zh-CN" altLang="en-US" sz="2000" spc="50" dirty="0">
                <a:solidFill>
                  <a:srgbClr val="000000"/>
                </a:solidFill>
                <a:latin typeface="KaiTi"/>
                <a:cs typeface="KaiTi"/>
              </a:rPr>
              <a:t>的输出方式包括：控制台输出、图形输出、文件输</a:t>
            </a:r>
            <a:r>
              <a:rPr lang="zh-CN" altLang="en-US" sz="2000" dirty="0">
                <a:solidFill>
                  <a:srgbClr val="000000"/>
                </a:solidFill>
                <a:latin typeface="KaiTi"/>
                <a:cs typeface="KaiTi"/>
              </a:rPr>
              <a:t>出、网络输出、操作系统内部变量输出等。</a:t>
            </a:r>
            <a:endParaRPr sz="2000" dirty="0">
              <a:solidFill>
                <a:srgbClr val="000000"/>
              </a:solidFill>
              <a:latin typeface="KaiTi"/>
              <a:cs typeface="KaiT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使用计算机解决问题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5587009" cy="3633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分析问题分析问题的计算部分</a:t>
            </a:r>
          </a:p>
          <a:p>
            <a:pPr marL="0" marR="0">
              <a:lnSpc>
                <a:spcPts val="3103"/>
              </a:lnSpc>
              <a:spcBef>
                <a:spcPts val="1939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划分边界划分问题的功能边界</a:t>
            </a:r>
          </a:p>
          <a:p>
            <a:pPr marL="0" marR="0">
              <a:lnSpc>
                <a:spcPts val="3103"/>
              </a:lnSpc>
              <a:spcBef>
                <a:spcPts val="198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设计算法设计问题的求解算法</a:t>
            </a:r>
          </a:p>
          <a:p>
            <a:pPr marL="0" marR="0">
              <a:lnSpc>
                <a:spcPts val="3105"/>
              </a:lnSpc>
              <a:spcBef>
                <a:spcPts val="1934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编写程序，编写问题的计算程序</a:t>
            </a:r>
          </a:p>
          <a:p>
            <a:pPr marL="0" marR="0">
              <a:lnSpc>
                <a:spcPts val="3103"/>
              </a:lnSpc>
              <a:spcBef>
                <a:spcPts val="1988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调试测试，调试和测试程序</a:t>
            </a:r>
          </a:p>
          <a:p>
            <a:pPr marL="0" marR="0">
              <a:lnSpc>
                <a:spcPts val="3103"/>
              </a:lnSpc>
              <a:spcBef>
                <a:spcPts val="193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升级维护，适应问题的升级维护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588986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Python语言版本更迭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4245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Python语言的版本更迭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2240" y="2226632"/>
            <a:ext cx="7570316" cy="3067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更高级别的3.0系列</a:t>
            </a:r>
            <a:r>
              <a:rPr sz="2800" dirty="0">
                <a:solidFill>
                  <a:srgbClr val="FF0000"/>
                </a:solidFill>
                <a:latin typeface="Microsoft YaHei"/>
                <a:cs typeface="Microsoft YaHei"/>
              </a:rPr>
              <a:t>不兼容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早期2.0系列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2008</a:t>
            </a:r>
            <a:r>
              <a:rPr sz="2800" spc="79" dirty="0">
                <a:solidFill>
                  <a:srgbClr val="000000"/>
                </a:solidFill>
                <a:latin typeface="Microsoft YaHei"/>
                <a:cs typeface="Microsoft YaHei"/>
              </a:rPr>
              <a:t>年至今，版本更迭带来大量库函数的升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级替换，Python语言的版本更迭痛苦且漫长</a:t>
            </a:r>
          </a:p>
          <a:p>
            <a:pPr marL="0" marR="0">
              <a:lnSpc>
                <a:spcPts val="3690"/>
              </a:lnSpc>
              <a:spcBef>
                <a:spcPts val="308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到今天，</a:t>
            </a:r>
            <a:r>
              <a:rPr sz="2800" dirty="0">
                <a:solidFill>
                  <a:srgbClr val="FF0000"/>
                </a:solidFill>
                <a:latin typeface="Microsoft YaHei"/>
                <a:cs typeface="Microsoft YaHei"/>
              </a:rPr>
              <a:t>Python</a:t>
            </a:r>
            <a:r>
              <a:rPr sz="2800" spc="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FF0000"/>
                </a:solidFill>
                <a:latin typeface="Microsoft YaHei"/>
                <a:cs typeface="Microsoft YaHei"/>
              </a:rPr>
              <a:t>3.x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系列已经成为主流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0554" y="2023991"/>
            <a:ext cx="7434681" cy="8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47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程序实例解析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程序的格式框架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440" y="2055183"/>
            <a:ext cx="7575856" cy="1903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15" dirty="0">
                <a:solidFill>
                  <a:srgbClr val="000000"/>
                </a:solidFill>
                <a:latin typeface="Microsoft YaHei"/>
                <a:cs typeface="Microsoft YaHei"/>
              </a:rPr>
              <a:t>语言采用严格的“缩进”来表明程序的格式框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架。缩进指每一行代码开始前的空白区域，用来表示代</a:t>
            </a:r>
          </a:p>
          <a:p>
            <a:pPr marL="0" marR="0">
              <a:lnSpc>
                <a:spcPts val="3167"/>
              </a:lnSpc>
              <a:spcBef>
                <a:spcPts val="259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码之间的包含和层次关系。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8440" y="4250124"/>
            <a:ext cx="274505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1个缩进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4个空格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8440" y="4981898"/>
            <a:ext cx="6593408" cy="1171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用以在Python中标明代码的层次关系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缩进是Python语言中表明程序框架的唯一手段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注释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777336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注释：程序员在代码中加入的说明信息，不被计算机执行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注释的两种方法：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7217" y="3205481"/>
            <a:ext cx="2710632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单行注释以#开头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1998" y="3640398"/>
            <a:ext cx="3170413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#Here</a:t>
            </a:r>
            <a:r>
              <a:rPr sz="2000" spc="-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Microsoft YaHei"/>
                <a:cs typeface="Microsoft YaHei"/>
              </a:rPr>
              <a:t>are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 the comments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7217" y="4059624"/>
            <a:ext cx="447052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多行注释以</a:t>
            </a:r>
            <a:r>
              <a:rPr sz="2400" spc="8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54" dirty="0">
                <a:solidFill>
                  <a:srgbClr val="000000"/>
                </a:solidFill>
                <a:latin typeface="Microsoft YaHei"/>
                <a:cs typeface="Microsoft YaHei"/>
              </a:rPr>
              <a:t>’’’开头和结尾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31998" y="4493838"/>
            <a:ext cx="915924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75" dirty="0">
                <a:solidFill>
                  <a:srgbClr val="000000"/>
                </a:solidFill>
                <a:latin typeface="Microsoft YaHei"/>
                <a:cs typeface="Microsoft YaHei"/>
              </a:rPr>
              <a:t>’’’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81351" y="4798316"/>
            <a:ext cx="3491774" cy="679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This is</a:t>
            </a:r>
            <a:r>
              <a:rPr sz="20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a</a:t>
            </a:r>
            <a:r>
              <a:rPr sz="2000" spc="-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multiline</a:t>
            </a:r>
            <a:r>
              <a:rPr sz="2000" spc="4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comment</a:t>
            </a:r>
          </a:p>
          <a:p>
            <a:pPr marL="0" marR="0">
              <a:lnSpc>
                <a:spcPts val="2402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used</a:t>
            </a:r>
            <a:r>
              <a:rPr sz="2000" spc="-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0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31998" y="5408517"/>
            <a:ext cx="915924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75" dirty="0">
                <a:solidFill>
                  <a:srgbClr val="000000"/>
                </a:solidFill>
                <a:latin typeface="Microsoft YaHei"/>
                <a:cs typeface="Microsoft YaHei"/>
              </a:rPr>
              <a:t>’’’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495195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常量：程序中值不发生改变的元素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0068" y="2657163"/>
            <a:ext cx="708555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变量：程序中值发生改变或者可以发生改变的元素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0068" y="3754824"/>
            <a:ext cx="7578547" cy="2635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16" dirty="0">
                <a:solidFill>
                  <a:srgbClr val="000000"/>
                </a:solidFill>
                <a:latin typeface="Microsoft YaHei"/>
                <a:cs typeface="Microsoft YaHei"/>
              </a:rPr>
              <a:t>语言允许采用大写字母、小写字母、数字、下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划线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(_)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和汉字等字符及其组合给变量命名，</a:t>
            </a:r>
            <a:r>
              <a:rPr sz="2400" spc="23" dirty="0">
                <a:solidFill>
                  <a:srgbClr val="FF0000"/>
                </a:solidFill>
                <a:latin typeface="Microsoft YaHei"/>
                <a:cs typeface="Microsoft YaHei"/>
              </a:rPr>
              <a:t>但名字的首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字符不能是数字，中间不能出现空格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，长度没有限制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注意：标识符对大小写敏感，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是两个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不同的名字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1600" y="1922176"/>
            <a:ext cx="7578547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23" dirty="0" err="1">
                <a:solidFill>
                  <a:srgbClr val="FF0000"/>
                </a:solidFill>
                <a:latin typeface="Microsoft YaHei"/>
                <a:cs typeface="Microsoft YaHei"/>
              </a:rPr>
              <a:t>名字的首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字符不能是数字</a:t>
            </a:r>
            <a:endParaRPr lang="en-US" sz="2400" dirty="0">
              <a:solidFill>
                <a:srgbClr val="FF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Microsoft YaHei"/>
                <a:cs typeface="Microsoft YaHei"/>
              </a:rPr>
              <a:t>如果允许变量名开头是数字，则无法区分变量名和数字类型，例如：如果变量名 </a:t>
            </a:r>
            <a:r>
              <a:rPr lang="en-US" altLang="zh-CN" sz="2800" dirty="0">
                <a:latin typeface="Microsoft YaHei"/>
                <a:cs typeface="Microsoft YaHei"/>
              </a:rPr>
              <a:t>091</a:t>
            </a:r>
            <a:r>
              <a:rPr lang="zh-CN" altLang="en-US" sz="2800" dirty="0">
                <a:latin typeface="Microsoft YaHei"/>
                <a:cs typeface="Microsoft YaHei"/>
              </a:rPr>
              <a:t>合法，则程序无法区分这个变量和数字 </a:t>
            </a:r>
            <a:r>
              <a:rPr lang="en-US" altLang="zh-CN" sz="2800" dirty="0">
                <a:latin typeface="Microsoft YaHei"/>
                <a:cs typeface="Microsoft YaHei"/>
              </a:rPr>
              <a:t>091</a:t>
            </a:r>
            <a:r>
              <a:rPr lang="zh-CN" altLang="en-US" sz="2800" dirty="0">
                <a:latin typeface="Microsoft YaHei"/>
                <a:cs typeface="Microsoft YaHei"/>
              </a:rPr>
              <a:t>。另外，有些数字可能含有字母，如浮点数 </a:t>
            </a:r>
            <a:r>
              <a:rPr lang="en-US" altLang="zh-CN" sz="2800" dirty="0">
                <a:latin typeface="Microsoft YaHei"/>
                <a:cs typeface="Microsoft YaHei"/>
              </a:rPr>
              <a:t>1E10</a:t>
            </a:r>
            <a:r>
              <a:rPr lang="zh-CN" altLang="en-US" sz="2800" dirty="0">
                <a:latin typeface="Microsoft YaHei"/>
                <a:cs typeface="Microsoft YaHei"/>
              </a:rPr>
              <a:t>。程序设计语言不能存在歧义，因此，需要约定变量名开头不能是数字，以便区分变量与数字</a:t>
            </a:r>
            <a:endParaRPr sz="2800" dirty="0">
              <a:latin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567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868" y="1989651"/>
            <a:ext cx="7810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保留字，也称为关键字，指被编程语言内部定义并保留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5768" y="2355411"/>
            <a:ext cx="2286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使用的标识符。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2868" y="2794323"/>
            <a:ext cx="72009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程序员编写程序不能定义与保留字相同的标识符。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868" y="3232913"/>
            <a:ext cx="7810804" cy="117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每种程序设计语言都有一套保留字，保留字一般用来构</a:t>
            </a:r>
          </a:p>
          <a:p>
            <a:pPr marL="342900" marR="0">
              <a:lnSpc>
                <a:spcPts val="2882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成程序整体框架、表达关键值和具有结构性的复杂语义</a:t>
            </a:r>
          </a:p>
          <a:p>
            <a:pPr marL="342900" marR="0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等。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2868" y="4404048"/>
            <a:ext cx="72009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掌握一门编程语言首先要熟记其所对应的保留字。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命名与保留字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2108523"/>
            <a:ext cx="450369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</a:t>
            </a:r>
            <a:r>
              <a:rPr sz="2400" spc="21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 3.x保留字列表</a:t>
            </a:r>
            <a:r>
              <a:rPr sz="2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(33个)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7094" y="3003487"/>
            <a:ext cx="53380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64814" y="3003487"/>
            <a:ext cx="444624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elif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42790" y="3003487"/>
            <a:ext cx="787524" cy="689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import</a:t>
            </a:r>
          </a:p>
          <a:p>
            <a:pPr marL="0" marR="0">
              <a:lnSpc>
                <a:spcPts val="2013"/>
              </a:lnSpc>
              <a:spcBef>
                <a:spcPts val="11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20638" y="3003487"/>
            <a:ext cx="750369" cy="1085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raise</a:t>
            </a:r>
          </a:p>
          <a:p>
            <a:pPr marL="0" marR="0">
              <a:lnSpc>
                <a:spcPts val="2013"/>
              </a:lnSpc>
              <a:spcBef>
                <a:spcPts val="11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return</a:t>
            </a:r>
          </a:p>
          <a:p>
            <a:pPr marL="0" marR="0">
              <a:lnSpc>
                <a:spcPts val="2010"/>
              </a:lnSpc>
              <a:spcBef>
                <a:spcPts val="11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try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7094" y="3398816"/>
            <a:ext cx="394158" cy="29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64814" y="3398816"/>
            <a:ext cx="825921" cy="148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else</a:t>
            </a:r>
          </a:p>
          <a:p>
            <a:pPr marL="0" marR="0">
              <a:lnSpc>
                <a:spcPts val="2010"/>
              </a:lnSpc>
              <a:spcBef>
                <a:spcPts val="11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except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finally</a:t>
            </a:r>
          </a:p>
          <a:p>
            <a:pPr marL="0" marR="0">
              <a:lnSpc>
                <a:spcPts val="2010"/>
              </a:lnSpc>
              <a:spcBef>
                <a:spcPts val="115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87094" y="3795078"/>
            <a:ext cx="1016682" cy="184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assert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break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class</a:t>
            </a:r>
          </a:p>
          <a:p>
            <a:pPr marL="0" marR="0">
              <a:lnSpc>
                <a:spcPts val="2010"/>
              </a:lnSpc>
              <a:spcBef>
                <a:spcPts val="115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continue</a:t>
            </a:r>
          </a:p>
          <a:p>
            <a:pPr marL="0" marR="0">
              <a:lnSpc>
                <a:spcPts val="2010"/>
              </a:lnSpc>
              <a:spcBef>
                <a:spcPts val="82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def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42790" y="3795078"/>
            <a:ext cx="317487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42790" y="4190683"/>
            <a:ext cx="1003957" cy="1084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lambda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nonlocal</a:t>
            </a:r>
          </a:p>
          <a:p>
            <a:pPr marL="0" marR="0">
              <a:lnSpc>
                <a:spcPts val="2010"/>
              </a:lnSpc>
              <a:spcBef>
                <a:spcPts val="110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not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20638" y="4190683"/>
            <a:ext cx="673335" cy="689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spc="-11" dirty="0">
                <a:solidFill>
                  <a:srgbClr val="000000"/>
                </a:solidFill>
                <a:latin typeface="Arial"/>
                <a:cs typeface="Arial"/>
              </a:rPr>
              <a:t>while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spc="-12" dirty="0">
                <a:solidFill>
                  <a:srgbClr val="000000"/>
                </a:solidFill>
                <a:latin typeface="Arial"/>
                <a:cs typeface="Arial"/>
              </a:rPr>
              <a:t>with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64814" y="4982020"/>
            <a:ext cx="762520" cy="1055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</a:p>
          <a:p>
            <a:pPr marL="0" marR="0">
              <a:lnSpc>
                <a:spcPts val="2010"/>
              </a:lnSpc>
              <a:spcBef>
                <a:spcPts val="87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global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20638" y="4982020"/>
            <a:ext cx="711398" cy="1450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yield</a:t>
            </a:r>
          </a:p>
          <a:p>
            <a:pPr marL="0" marR="0">
              <a:lnSpc>
                <a:spcPts val="2010"/>
              </a:lnSpc>
              <a:spcBef>
                <a:spcPts val="871"/>
              </a:spcBef>
              <a:spcAft>
                <a:spcPts val="0"/>
              </a:spcAft>
            </a:pPr>
            <a:r>
              <a:rPr sz="1800" spc="-18" dirty="0">
                <a:solidFill>
                  <a:srgbClr val="000000"/>
                </a:solidFill>
                <a:latin typeface="Arial"/>
                <a:cs typeface="Arial"/>
              </a:rPr>
              <a:t>True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False</a:t>
            </a:r>
          </a:p>
          <a:p>
            <a:pPr marL="0" marR="0">
              <a:lnSpc>
                <a:spcPts val="2010"/>
              </a:lnSpc>
              <a:spcBef>
                <a:spcPts val="11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None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42790" y="5348034"/>
            <a:ext cx="355662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or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87094" y="5743664"/>
            <a:ext cx="457460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del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42790" y="5743664"/>
            <a:ext cx="635272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04364" y="2450457"/>
            <a:ext cx="5486780" cy="8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47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3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基本数据类型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49473" y="2829774"/>
            <a:ext cx="2896819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数字类型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22795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67544" y="188640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3528" y="980728"/>
            <a:ext cx="8417519" cy="233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Python语言包括三种数字类型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整数类型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、与数学中的整数概念一致，没有取值范围限制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[-∞,∞],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实际取值范围受限于计算机内存。</a:t>
            </a:r>
            <a:endParaRPr lang="en-US" altLang="zh-CN" sz="2000" dirty="0">
              <a:solidFill>
                <a:srgbClr val="000000"/>
              </a:solidFill>
              <a:latin typeface="+mn-ea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+mn-ea"/>
                <a:cs typeface="Microsoft YaHei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、整数计算的精度高于浮点数</a:t>
            </a:r>
            <a:endParaRPr sz="2000" dirty="0">
              <a:solidFill>
                <a:srgbClr val="000000"/>
              </a:solidFill>
              <a:latin typeface="+mn-ea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731" y="3496295"/>
            <a:ext cx="4320479" cy="278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浮点数类型</a:t>
            </a:r>
            <a:r>
              <a:rPr lang="en-US" sz="2000" dirty="0">
                <a:solidFill>
                  <a:srgbClr val="FF0000"/>
                </a:solidFill>
                <a:latin typeface="Microsoft YaHei"/>
                <a:cs typeface="Microsoft YaHei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Microsoft YaHei"/>
                <a:cs typeface="Microsoft YaHei"/>
              </a:rPr>
              <a:t>sys.float_info</a:t>
            </a:r>
            <a:r>
              <a:rPr lang="en-US" sz="2000" dirty="0">
                <a:solidFill>
                  <a:srgbClr val="FF0000"/>
                </a:solidFill>
                <a:latin typeface="Microsoft YaHei"/>
                <a:cs typeface="Microsoft YaHei"/>
              </a:rPr>
              <a:t>)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+mn-ea"/>
                <a:cs typeface="Microsoft YaHei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、取值范围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[2</a:t>
            </a:r>
            <a:r>
              <a:rPr lang="en-US" altLang="zh-CN" sz="2000" baseline="30000" dirty="0">
                <a:solidFill>
                  <a:srgbClr val="000000"/>
                </a:solidFill>
                <a:latin typeface="+mn-ea"/>
                <a:cs typeface="Microsoft YaHei"/>
              </a:rPr>
              <a:t>-1023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2</a:t>
            </a:r>
            <a:r>
              <a:rPr lang="en-US" altLang="zh-CN" sz="2000" baseline="30000" dirty="0">
                <a:solidFill>
                  <a:srgbClr val="000000"/>
                </a:solidFill>
                <a:latin typeface="+mn-ea"/>
                <a:cs typeface="Microsoft YaHei"/>
              </a:rPr>
              <a:t>1023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]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、只能提供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15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个数字的准确性</a:t>
            </a:r>
            <a:endParaRPr lang="en-US" altLang="zh-CN" sz="2000" dirty="0">
              <a:solidFill>
                <a:srgbClr val="000000"/>
              </a:solidFill>
              <a:latin typeface="+mn-ea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+mn-ea"/>
                <a:cs typeface="Microsoft YaHei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、标准浮点形式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+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科学计数法</a:t>
            </a:r>
            <a:endParaRPr lang="en-US" altLang="zh-CN" sz="2000" dirty="0">
              <a:solidFill>
                <a:srgbClr val="000000"/>
              </a:solidFill>
              <a:latin typeface="+mn-ea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&lt;a&gt;e&lt;b&gt; = a * 10b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sz="2000" dirty="0">
              <a:solidFill>
                <a:srgbClr val="000000"/>
              </a:solidFill>
              <a:latin typeface="+mn-ea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528" y="5919376"/>
            <a:ext cx="1839320" cy="915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复数类型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a+bj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EC76AFF-AC59-48B1-BBC5-3F35926FE507}"/>
              </a:ext>
            </a:extLst>
          </p:cNvPr>
          <p:cNvSpPr txBox="1"/>
          <p:nvPr/>
        </p:nvSpPr>
        <p:spPr>
          <a:xfrm>
            <a:off x="4688805" y="3123828"/>
            <a:ext cx="4176464" cy="3232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类型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</a:rPr>
              <a:t>转换</a:t>
            </a:r>
            <a:endParaRPr lang="en-US" altLang="zh-CN" sz="2800" b="1" dirty="0">
              <a:solidFill>
                <a:srgbClr val="000000"/>
              </a:solidFill>
              <a:latin typeface="Microsoft YaHei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Microsoft YaHei"/>
                <a:cs typeface="Microsoft YaHei"/>
              </a:rPr>
              <a:t>三种类型存在一种逐渐“扩展”的关系：整数</a:t>
            </a:r>
            <a:r>
              <a:rPr lang="zh-CN" altLang="en-US" sz="20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cs typeface="Microsoft YaHei"/>
              </a:rPr>
              <a:t>-&gt; 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cs typeface="Microsoft YaHei"/>
              </a:rPr>
              <a:t>浮点数</a:t>
            </a:r>
            <a:r>
              <a:rPr lang="zh-CN" altLang="en-US" sz="2000" spc="1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cs typeface="Microsoft YaHei"/>
              </a:rPr>
              <a:t>-&gt;</a:t>
            </a:r>
            <a:r>
              <a:rPr lang="zh-CN" altLang="en-US" sz="20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cs typeface="Microsoft YaHei"/>
              </a:rPr>
              <a:t>复数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+mn-ea"/>
                <a:cs typeface="Microsoft YaHei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、内置的数据类型转换函数</a:t>
            </a:r>
            <a:endParaRPr lang="en-US" altLang="zh-CN" sz="2000" dirty="0">
              <a:solidFill>
                <a:srgbClr val="000000"/>
              </a:solidFill>
              <a:latin typeface="+mn-ea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Int(x),float(x),complex(re,[</a:t>
            </a:r>
            <a:r>
              <a:rPr lang="en-US" altLang="zh-CN" sz="2000" dirty="0" err="1">
                <a:solidFill>
                  <a:srgbClr val="000000"/>
                </a:solidFill>
                <a:latin typeface="+mn-ea"/>
                <a:cs typeface="Microsoft YaHei"/>
              </a:rPr>
              <a:t>im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])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Microsoft YaHei"/>
              </a:rPr>
              <a:t>、数据类型之间相互运算所产生的结果是“更宽”的类型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Microsoft YaHei"/>
              </a:rPr>
              <a:t>P67</a:t>
            </a:r>
            <a:endParaRPr sz="2000" dirty="0">
              <a:solidFill>
                <a:srgbClr val="000000"/>
              </a:solidFill>
              <a:latin typeface="+mn-ea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6513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数字类型的判断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-36512" y="1842965"/>
            <a:ext cx="9143999" cy="436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90"/>
              </a:lnSpc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44" dirty="0">
                <a:solidFill>
                  <a:srgbClr val="000000"/>
                </a:solidFill>
                <a:latin typeface="Microsoft YaHei"/>
                <a:cs typeface="Microsoft YaHei"/>
              </a:rPr>
              <a:t>函数：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type(x)</a:t>
            </a:r>
            <a:r>
              <a:rPr sz="2800" spc="52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800" spc="52" dirty="0" err="1">
                <a:solidFill>
                  <a:srgbClr val="000000"/>
                </a:solidFill>
                <a:latin typeface="Microsoft YaHei"/>
                <a:cs typeface="Microsoft YaHei"/>
              </a:rPr>
              <a:t>返回</a:t>
            </a:r>
            <a:r>
              <a:rPr sz="2800" spc="44" dirty="0" err="1">
                <a:solidFill>
                  <a:srgbClr val="000000"/>
                </a:solidFill>
                <a:latin typeface="Microsoft YaHei"/>
                <a:cs typeface="Microsoft YaHei"/>
              </a:rPr>
              <a:t>x</a:t>
            </a:r>
            <a:r>
              <a:rPr sz="2800" spc="47" dirty="0" err="1">
                <a:solidFill>
                  <a:srgbClr val="000000"/>
                </a:solidFill>
                <a:latin typeface="Microsoft YaHei"/>
                <a:cs typeface="Microsoft YaHei"/>
              </a:rPr>
              <a:t>的类型，适用于所有类型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cs typeface="Microsoft YaHei"/>
              </a:rPr>
              <a:t>的判断</a:t>
            </a:r>
            <a:endParaRPr sz="2800" spc="47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499" y="2483045"/>
            <a:ext cx="8649998" cy="4211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Microsoft YaHei"/>
                <a:cs typeface="Microsoft YaHei"/>
              </a:rPr>
              <a:t>函数：</a:t>
            </a:r>
            <a:r>
              <a:rPr lang="en-US" altLang="zh-CN" sz="2800" b="1" dirty="0" err="1">
                <a:solidFill>
                  <a:srgbClr val="000000"/>
                </a:solidFill>
                <a:latin typeface="Microsoft YaHei"/>
                <a:cs typeface="Microsoft YaHei"/>
              </a:rPr>
              <a:t>isinstance</a:t>
            </a:r>
            <a:r>
              <a:rPr lang="en-US" altLang="zh-CN" sz="2800" b="1" dirty="0">
                <a:solidFill>
                  <a:srgbClr val="000000"/>
                </a:solidFill>
                <a:latin typeface="Microsoft YaHei"/>
                <a:cs typeface="Microsoft YaHei"/>
              </a:rPr>
              <a:t>(object, </a:t>
            </a:r>
            <a:r>
              <a:rPr lang="en-US" altLang="zh-CN" sz="2800" b="1" dirty="0" err="1">
                <a:solidFill>
                  <a:srgbClr val="000000"/>
                </a:solidFill>
                <a:latin typeface="Microsoft YaHei"/>
                <a:cs typeface="Microsoft YaHei"/>
              </a:rPr>
              <a:t>classinfo</a:t>
            </a:r>
            <a:r>
              <a:rPr lang="en-US" altLang="zh-CN" sz="2800" b="1" dirty="0">
                <a:solidFill>
                  <a:srgbClr val="000000"/>
                </a:solidFill>
                <a:latin typeface="Microsoft YaHei"/>
                <a:cs typeface="Microsoft YaHei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cs typeface="Microsoft YaHei"/>
              </a:rPr>
              <a:t>来判断一个对象是否是一个已知的类型</a:t>
            </a:r>
            <a:endParaRPr lang="en-US" altLang="zh-CN"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algn="l" latinLnBrk="1"/>
            <a:r>
              <a:rPr lang="en-US" altLang="zh-CN" sz="2000" b="0" i="1" dirty="0" err="1">
                <a:solidFill>
                  <a:srgbClr val="333333"/>
                </a:solidFill>
                <a:effectLst/>
                <a:latin typeface="Helvetica Neue"/>
              </a:rPr>
              <a:t>isinstance</a:t>
            </a:r>
            <a:r>
              <a:rPr lang="en-US" altLang="zh-CN" sz="2000" b="0" i="1" dirty="0">
                <a:solidFill>
                  <a:srgbClr val="333333"/>
                </a:solidFill>
                <a:effectLst/>
                <a:latin typeface="Helvetica Neue"/>
              </a:rPr>
              <a:t>() </a:t>
            </a:r>
            <a:r>
              <a:rPr lang="zh-CN" altLang="en-US" sz="2000" b="0" i="1" dirty="0">
                <a:solidFill>
                  <a:srgbClr val="333333"/>
                </a:solidFill>
                <a:effectLst/>
                <a:latin typeface="Helvetica Neue"/>
              </a:rPr>
              <a:t>与 </a:t>
            </a:r>
            <a:r>
              <a:rPr lang="en-US" altLang="zh-CN" sz="2000" b="0" i="1" dirty="0">
                <a:solidFill>
                  <a:srgbClr val="333333"/>
                </a:solidFill>
                <a:effectLst/>
                <a:latin typeface="Helvetica Neue"/>
              </a:rPr>
              <a:t>type() </a:t>
            </a:r>
            <a:r>
              <a:rPr lang="zh-CN" altLang="en-US" sz="2000" b="0" i="1" dirty="0">
                <a:solidFill>
                  <a:srgbClr val="333333"/>
                </a:solidFill>
                <a:effectLst/>
                <a:latin typeface="Helvetica Neue"/>
              </a:rPr>
              <a:t>区别：</a:t>
            </a: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en-US" altLang="zh-CN" sz="2000" b="0" i="1" dirty="0">
                <a:solidFill>
                  <a:srgbClr val="333333"/>
                </a:solidFill>
                <a:effectLst/>
                <a:latin typeface="Helvetica Neue"/>
              </a:rPr>
              <a:t>type() </a:t>
            </a:r>
            <a:r>
              <a:rPr lang="zh-CN" altLang="en-US" sz="2000" b="0" i="1" dirty="0">
                <a:solidFill>
                  <a:srgbClr val="333333"/>
                </a:solidFill>
                <a:effectLst/>
                <a:latin typeface="Helvetica Neue"/>
              </a:rPr>
              <a:t>不会认为子类是一种父类类型，不考虑继承关系。</a:t>
            </a:r>
          </a:p>
          <a:p>
            <a:pPr algn="l" latinLnBrk="1">
              <a:buFont typeface="Arial" panose="020B0604020202020204" pitchFamily="34" charset="0"/>
              <a:buChar char="•"/>
            </a:pPr>
            <a:r>
              <a:rPr lang="en-US" altLang="zh-CN" sz="2000" b="0" i="1" dirty="0" err="1">
                <a:solidFill>
                  <a:srgbClr val="333333"/>
                </a:solidFill>
                <a:effectLst/>
                <a:latin typeface="Helvetica Neue"/>
              </a:rPr>
              <a:t>isinstance</a:t>
            </a:r>
            <a:r>
              <a:rPr lang="en-US" altLang="zh-CN" sz="2000" b="0" i="1" dirty="0">
                <a:solidFill>
                  <a:srgbClr val="333333"/>
                </a:solidFill>
                <a:effectLst/>
                <a:latin typeface="Helvetica Neue"/>
              </a:rPr>
              <a:t>() </a:t>
            </a:r>
            <a:r>
              <a:rPr lang="zh-CN" altLang="en-US" sz="2000" b="0" i="1" dirty="0">
                <a:solidFill>
                  <a:srgbClr val="333333"/>
                </a:solidFill>
                <a:effectLst/>
                <a:latin typeface="Helvetica Neue"/>
              </a:rPr>
              <a:t>会认为子类是一种父类类型，考虑继承关系。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sz="2800" b="1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FFEB77-6E3B-4C62-87BE-3CCD77B36458}"/>
              </a:ext>
            </a:extLst>
          </p:cNvPr>
          <p:cNvSpPr txBox="1"/>
          <p:nvPr/>
        </p:nvSpPr>
        <p:spPr>
          <a:xfrm>
            <a:off x="5580112" y="3668931"/>
            <a:ext cx="31683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&gt;&gt;&gt;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Menlo"/>
              </a:rPr>
              <a:t>2</a:t>
            </a:r>
          </a:p>
          <a:p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&gt;&gt;&gt; </a:t>
            </a:r>
            <a:r>
              <a:rPr lang="en-US" altLang="zh-CN" b="0" i="0" dirty="0" err="1">
                <a:solidFill>
                  <a:srgbClr val="008080"/>
                </a:solidFill>
                <a:effectLst/>
                <a:latin typeface="Menlo"/>
              </a:rPr>
              <a:t>isinstance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int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True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&gt;&gt;&gt; </a:t>
            </a:r>
            <a:r>
              <a:rPr lang="en-US" altLang="zh-CN" b="0" i="0" dirty="0" err="1">
                <a:solidFill>
                  <a:srgbClr val="008080"/>
                </a:solidFill>
                <a:effectLst/>
                <a:latin typeface="Menlo"/>
              </a:rPr>
              <a:t>isinstance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str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False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&gt;&gt;&gt; </a:t>
            </a:r>
            <a:r>
              <a:rPr lang="en-US" altLang="zh-CN" b="0" i="0" dirty="0" err="1">
                <a:solidFill>
                  <a:srgbClr val="008080"/>
                </a:solidFill>
                <a:effectLst/>
                <a:latin typeface="Menlo"/>
              </a:rPr>
              <a:t>isinstance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Menlo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(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str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int</a:t>
            </a:r>
            <a:r>
              <a:rPr lang="en-US" altLang="zh-CN" b="0" i="0" dirty="0" err="1">
                <a:solidFill>
                  <a:srgbClr val="808080"/>
                </a:solidFill>
                <a:effectLst/>
                <a:latin typeface="Menlo"/>
              </a:rPr>
              <a:t>,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Menlo"/>
              </a:rPr>
              <a:t>list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Menlo"/>
              </a:rPr>
              <a:t>))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Menlo"/>
              </a:rPr>
              <a:t> </a:t>
            </a:r>
          </a:p>
          <a:p>
            <a:r>
              <a:rPr lang="en-US" altLang="zh-CN" b="0" i="0" dirty="0">
                <a:solidFill>
                  <a:srgbClr val="008000"/>
                </a:solidFill>
                <a:effectLst/>
                <a:latin typeface="Menlo"/>
              </a:rPr>
              <a:t>True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2388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71370" y="2829774"/>
            <a:ext cx="4955133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数字类型的操作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内置的数值运算操作符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54810" y="2078489"/>
            <a:ext cx="532485" cy="243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  <a:p>
            <a:pPr marL="59435" marR="0">
              <a:lnSpc>
                <a:spcPts val="1102"/>
              </a:lnSpc>
              <a:spcBef>
                <a:spcPts val="150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+ y</a:t>
            </a:r>
          </a:p>
          <a:p>
            <a:pPr marL="74675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- y</a:t>
            </a:r>
          </a:p>
          <a:p>
            <a:pPr marL="64261" marR="0">
              <a:lnSpc>
                <a:spcPts val="1102"/>
              </a:lnSpc>
              <a:spcBef>
                <a:spcPts val="14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* y</a:t>
            </a:r>
          </a:p>
          <a:p>
            <a:pPr marL="77977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/ y</a:t>
            </a:r>
          </a:p>
          <a:p>
            <a:pPr marL="60960" marR="0">
              <a:lnSpc>
                <a:spcPts val="1102"/>
              </a:lnSpc>
              <a:spcBef>
                <a:spcPts val="14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// y</a:t>
            </a:r>
          </a:p>
          <a:p>
            <a:pPr marL="42672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% y</a:t>
            </a:r>
          </a:p>
          <a:p>
            <a:pPr marL="137160" marR="0">
              <a:lnSpc>
                <a:spcPts val="1105"/>
              </a:lnSpc>
              <a:spcBef>
                <a:spcPts val="143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-x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23154" y="2078489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15514" y="2396674"/>
            <a:ext cx="658368" cy="1145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之和</a:t>
            </a:r>
          </a:p>
          <a:p>
            <a:pPr marL="0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之差</a:t>
            </a:r>
          </a:p>
          <a:p>
            <a:pPr marL="0" marR="0">
              <a:lnSpc>
                <a:spcPts val="1102"/>
              </a:lnSpc>
              <a:spcBef>
                <a:spcPts val="14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之积</a:t>
            </a:r>
          </a:p>
          <a:p>
            <a:pPr marL="0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15514" y="3685978"/>
            <a:ext cx="2811768" cy="822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之整数商，即：不大于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之商的最大整数</a:t>
            </a:r>
          </a:p>
          <a:p>
            <a:pPr marL="0" marR="0">
              <a:lnSpc>
                <a:spcPts val="1102"/>
              </a:lnSpc>
              <a:spcBef>
                <a:spcPts val="143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之商的余数，也称为模运算</a:t>
            </a:r>
          </a:p>
          <a:p>
            <a:pPr marL="0" marR="0">
              <a:lnSpc>
                <a:spcPts val="1105"/>
              </a:lnSpc>
              <a:spcBef>
                <a:spcPts val="148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的负值，即：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x*(-1)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76729" y="4653083"/>
            <a:ext cx="28727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+x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15514" y="4653083"/>
            <a:ext cx="46863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本身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0595" y="4975010"/>
            <a:ext cx="405993" cy="178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1" dirty="0">
                <a:solidFill>
                  <a:srgbClr val="000000"/>
                </a:solidFill>
                <a:latin typeface="Times New Roman"/>
                <a:cs typeface="Times New Roman"/>
              </a:rPr>
              <a:t>x**y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15514" y="4973849"/>
            <a:ext cx="1141475" cy="179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次幂，即：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内置的数值运算函数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8115296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Python解释器提供了一些内置函数，在这些内置函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数之中，有6个函数与数值运算相关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62200" y="336144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49138" y="336144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30195" y="3749732"/>
            <a:ext cx="46863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abs(x)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5213" y="3749732"/>
            <a:ext cx="72161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的绝对值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19300" y="4142035"/>
            <a:ext cx="1092158" cy="135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divmod(x,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y)</a:t>
            </a:r>
          </a:p>
          <a:p>
            <a:pPr marL="118872" marR="0">
              <a:lnSpc>
                <a:spcPts val="1102"/>
              </a:lnSpc>
              <a:spcBef>
                <a:spcPts val="198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pow(x,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y[,</a:t>
            </a:r>
            <a:r>
              <a:rPr sz="10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z])</a:t>
            </a:r>
          </a:p>
          <a:p>
            <a:pPr marL="1523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round(x[,</a:t>
            </a:r>
            <a:r>
              <a:rPr sz="1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ndigits])</a:t>
            </a:r>
          </a:p>
          <a:p>
            <a:pPr marL="0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max(x</a:t>
            </a:r>
            <a:r>
              <a:rPr sz="1000" spc="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…, x</a:t>
            </a:r>
            <a:r>
              <a:rPr sz="1000" spc="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55213" y="4142035"/>
            <a:ext cx="3801491" cy="1354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(x//y,</a:t>
            </a:r>
            <a:r>
              <a:rPr sz="1000" spc="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x%y)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，输出为二元组形式（也称为元组类型）</a:t>
            </a:r>
          </a:p>
          <a:p>
            <a:pPr marL="0" marR="0">
              <a:lnSpc>
                <a:spcPts val="1102"/>
              </a:lnSpc>
              <a:spcBef>
                <a:spcPts val="198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(x**y)%z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[..]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表示该参数可以省略，即：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pow(x,y)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，它与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x**y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相同</a:t>
            </a:r>
          </a:p>
          <a:p>
            <a:pPr marL="0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对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四舍五入，保留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ndigits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位小数。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round(x)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返回四舍五入的整数值</a:t>
            </a:r>
          </a:p>
          <a:p>
            <a:pPr marL="0" marR="0">
              <a:lnSpc>
                <a:spcPts val="1102"/>
              </a:lnSpc>
              <a:spcBef>
                <a:spcPts val="19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…,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的最大值，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没有限定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39339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13076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74264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17696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86860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48048" y="5385710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29967" y="5710485"/>
            <a:ext cx="106929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min(x</a:t>
            </a:r>
            <a:r>
              <a:rPr sz="1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 …, x</a:t>
            </a:r>
            <a:r>
              <a:rPr sz="1000" spc="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55213" y="5710485"/>
            <a:ext cx="1989201" cy="199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10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…, x</a:t>
            </a:r>
            <a:r>
              <a:rPr sz="1000" spc="7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的最小值，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没有限定</a:t>
            </a:r>
          </a:p>
          <a:p>
            <a:pPr marL="62483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650" spc="8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650" spc="235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328672" y="5777632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02407" y="5777632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62072" y="5777632"/>
            <a:ext cx="166496" cy="132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44"/>
              </a:lnSpc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87270" y="2829774"/>
            <a:ext cx="4597856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math库的使用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8167" y="2284290"/>
            <a:ext cx="7309204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math库是Python提供的内置数学类函数库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math库不支持复数类型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8167" y="3564704"/>
            <a:ext cx="8224697" cy="1613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math库一共提供了4个数学常数和44个函数。</a:t>
            </a:r>
          </a:p>
          <a:p>
            <a:pPr marL="457200" marR="0">
              <a:lnSpc>
                <a:spcPts val="3167"/>
              </a:lnSpc>
              <a:spcBef>
                <a:spcPts val="1228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44</a:t>
            </a:r>
            <a:r>
              <a:rPr sz="2400" spc="74" dirty="0">
                <a:solidFill>
                  <a:srgbClr val="000000"/>
                </a:solidFill>
                <a:latin typeface="Microsoft YaHei"/>
                <a:cs typeface="Microsoft YaHei"/>
              </a:rPr>
              <a:t>个函数共分为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类，包括：</a:t>
            </a: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16</a:t>
            </a:r>
            <a:r>
              <a:rPr sz="2400" spc="74" dirty="0">
                <a:solidFill>
                  <a:srgbClr val="000000"/>
                </a:solidFill>
                <a:latin typeface="Microsoft YaHei"/>
                <a:cs typeface="Microsoft YaHei"/>
              </a:rPr>
              <a:t>个数值表示函数、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8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个</a:t>
            </a:r>
          </a:p>
          <a:p>
            <a:pPr marL="68585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幂对数函数、16个三角对数函数和4个高等特殊函数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0068" y="1755462"/>
            <a:ext cx="521723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首先使用保留字</a:t>
            </a:r>
            <a:r>
              <a:rPr sz="2800" spc="11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引用该库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2341879"/>
            <a:ext cx="6896580" cy="1019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7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第一种：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</a:t>
            </a:r>
          </a:p>
          <a:p>
            <a:pPr marL="0" marR="0">
              <a:lnSpc>
                <a:spcPts val="3690"/>
              </a:lnSpc>
              <a:spcBef>
                <a:spcPts val="34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对math库中函数采用math.&lt;b&gt;()形式使用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4258" y="3645141"/>
            <a:ext cx="1666892" cy="699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math</a:t>
            </a:r>
          </a:p>
          <a:p>
            <a:pPr marL="0" marR="0">
              <a:lnSpc>
                <a:spcPts val="1250"/>
              </a:lnSpc>
              <a:spcBef>
                <a:spcPts val="679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&gt;&gt;&gt;math.ceil(10.2)</a:t>
            </a:r>
          </a:p>
          <a:p>
            <a:pPr marL="0" marR="0">
              <a:lnSpc>
                <a:spcPts val="1250"/>
              </a:lnSpc>
              <a:spcBef>
                <a:spcPts val="729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868" y="4647125"/>
            <a:ext cx="8194815" cy="1018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7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第二种，</a:t>
            </a:r>
            <a:r>
              <a:rPr sz="2800" spc="-11" dirty="0">
                <a:solidFill>
                  <a:srgbClr val="000000"/>
                </a:solidFill>
                <a:latin typeface="Microsoft YaHei"/>
                <a:cs typeface="Microsoft YaHei"/>
              </a:rPr>
              <a:t>from</a:t>
            </a:r>
            <a:r>
              <a:rPr sz="28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 </a:t>
            </a:r>
            <a:r>
              <a:rPr sz="2800" spc="14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 &lt;函数名&gt;</a:t>
            </a:r>
          </a:p>
          <a:p>
            <a:pPr marL="0" marR="0">
              <a:lnSpc>
                <a:spcPts val="3693"/>
              </a:lnSpc>
              <a:spcBef>
                <a:spcPts val="33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对math库中函数可以直接采用&lt;函数名&gt;()形式使用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27632" y="5921971"/>
            <a:ext cx="2254412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&gt;&gt;&gt;from</a:t>
            </a:r>
            <a:r>
              <a:rPr sz="11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math</a:t>
            </a:r>
            <a:r>
              <a:rPr sz="11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import floor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27632" y="6173431"/>
            <a:ext cx="133033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&gt;&gt;&gt;floor(10.2)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27632" y="6424891"/>
            <a:ext cx="320676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10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172" y="3429000"/>
            <a:ext cx="23241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3965" y="1842965"/>
            <a:ext cx="4539132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math库包括4个数学常数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86457" y="3277369"/>
            <a:ext cx="535334" cy="975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08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常数</a:t>
            </a:r>
          </a:p>
          <a:p>
            <a:pPr marL="0" marR="0">
              <a:lnSpc>
                <a:spcPts val="1102"/>
              </a:lnSpc>
              <a:spcBef>
                <a:spcPts val="212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math.pi</a:t>
            </a:r>
          </a:p>
          <a:p>
            <a:pPr marL="21336" marR="0">
              <a:lnSpc>
                <a:spcPts val="1102"/>
              </a:lnSpc>
              <a:spcBef>
                <a:spcPts val="2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64713" y="3277369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5616" y="3277369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45330" y="3674167"/>
            <a:ext cx="196672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圆周率，值为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3.141592653589793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90265" y="4074979"/>
            <a:ext cx="20854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i="1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45330" y="4074979"/>
            <a:ext cx="2093467" cy="578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自然对数，值为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2.718281828459045</a:t>
            </a:r>
          </a:p>
          <a:p>
            <a:pPr marL="0" marR="0">
              <a:lnSpc>
                <a:spcPts val="1102"/>
              </a:lnSpc>
              <a:spcBef>
                <a:spcPts val="2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正无穷大，负无穷大为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-math.inf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45310" y="4475791"/>
            <a:ext cx="619580" cy="578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35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math.inf</a:t>
            </a:r>
          </a:p>
          <a:p>
            <a:pPr marL="0" marR="0">
              <a:lnSpc>
                <a:spcPts val="1102"/>
              </a:lnSpc>
              <a:spcBef>
                <a:spcPts val="2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math.nan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45330" y="4868882"/>
            <a:ext cx="2254250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非浮点数标记，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NaN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（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Number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6844" y="1733237"/>
            <a:ext cx="5457697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math库包括16个数值表示函数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31594" y="2494542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89148" y="2494542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8029" y="2494542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38045" y="2724951"/>
            <a:ext cx="796723" cy="178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math.fabs(x)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86529" y="2724951"/>
            <a:ext cx="976579" cy="178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的绝对值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7546" y="2999924"/>
            <a:ext cx="1174650" cy="64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536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math.fmod(x,</a:t>
            </a:r>
            <a:r>
              <a:rPr sz="1000" spc="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y)</a:t>
            </a:r>
          </a:p>
          <a:p>
            <a:pPr marL="0" marR="0">
              <a:lnSpc>
                <a:spcPts val="1102"/>
              </a:lnSpc>
              <a:spcBef>
                <a:spcPts val="79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math.fsum([x,y,…])</a:t>
            </a:r>
          </a:p>
          <a:p>
            <a:pPr marL="204215" marR="0">
              <a:lnSpc>
                <a:spcPts val="1102"/>
              </a:lnSpc>
              <a:spcBef>
                <a:spcPts val="74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math.ceil(x)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94304" y="2999924"/>
            <a:ext cx="448517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% 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86529" y="2999924"/>
            <a:ext cx="911351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的模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45535" y="3234620"/>
            <a:ext cx="54805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x+y+…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86529" y="3238635"/>
            <a:ext cx="103784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浮点数精确求和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986529" y="3461849"/>
            <a:ext cx="2104897" cy="466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向上取整，返回不小于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的最小整数</a:t>
            </a:r>
          </a:p>
          <a:p>
            <a:pPr marL="0" marR="0">
              <a:lnSpc>
                <a:spcPts val="1215"/>
              </a:lnSpc>
              <a:spcBef>
                <a:spcPts val="99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向下取证，返回不大于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的最大整数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19758" y="3743890"/>
            <a:ext cx="83031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math.floor(x)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31366" y="4018591"/>
            <a:ext cx="1005788" cy="64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math.factorial(x)</a:t>
            </a:r>
          </a:p>
          <a:p>
            <a:pPr marL="56387" marR="0">
              <a:lnSpc>
                <a:spcPts val="1102"/>
              </a:lnSpc>
              <a:spcBef>
                <a:spcPts val="79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math.gcd(a,</a:t>
            </a:r>
            <a:r>
              <a:rPr sz="10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b)</a:t>
            </a:r>
          </a:p>
          <a:p>
            <a:pPr marL="79247" marR="0">
              <a:lnSpc>
                <a:spcPts val="1102"/>
              </a:lnSpc>
              <a:spcBef>
                <a:spcPts val="74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math.frepx(x)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90315" y="4018591"/>
            <a:ext cx="25776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x!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86529" y="4018591"/>
            <a:ext cx="3004170" cy="41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的阶乘，如果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是小数或负数，返回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ValueError</a:t>
            </a:r>
          </a:p>
          <a:p>
            <a:pPr marL="0" marR="0">
              <a:lnSpc>
                <a:spcPts val="1102"/>
              </a:lnSpc>
              <a:spcBef>
                <a:spcPts val="79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的最大公约数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078479" y="4486804"/>
            <a:ext cx="677959" cy="414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= m * 2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</a:p>
          <a:p>
            <a:pPr marL="124968" marR="0">
              <a:lnSpc>
                <a:spcPts val="1102"/>
              </a:lnSpc>
              <a:spcBef>
                <a:spcPts val="73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* 2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986529" y="4488237"/>
            <a:ext cx="2651748" cy="647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spc="-10" dirty="0">
                <a:solidFill>
                  <a:srgbClr val="000000"/>
                </a:solidFill>
                <a:latin typeface="Times New Roman"/>
                <a:cs typeface="Times New Roman"/>
              </a:rPr>
              <a:t>(m,</a:t>
            </a:r>
            <a:r>
              <a:rPr sz="1000" spc="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x=0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(0.0,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0)</a:t>
            </a:r>
          </a:p>
          <a:p>
            <a:pPr marL="0" marR="0">
              <a:lnSpc>
                <a:spcPts val="1102"/>
              </a:lnSpc>
              <a:spcBef>
                <a:spcPts val="73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 * 2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运算值，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math.frepx(x)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函数的反运算</a:t>
            </a:r>
          </a:p>
          <a:p>
            <a:pPr marL="0" marR="0">
              <a:lnSpc>
                <a:spcPts val="1105"/>
              </a:lnSpc>
              <a:spcBef>
                <a:spcPts val="79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的小数和整数部分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551177" y="4723187"/>
            <a:ext cx="966503" cy="412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math.ldexp(x,</a:t>
            </a:r>
            <a:r>
              <a:rPr sz="10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i)</a:t>
            </a:r>
          </a:p>
          <a:p>
            <a:pPr marL="59436" marR="0">
              <a:lnSpc>
                <a:spcPts val="1105"/>
              </a:lnSpc>
              <a:spcBef>
                <a:spcPts val="79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math.modf(x)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13661" y="5192960"/>
            <a:ext cx="84433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math.trunc(x)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986529" y="5192960"/>
            <a:ext cx="1101089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的整数部分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49069" y="5427910"/>
            <a:ext cx="1169017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math.copysign(x,</a:t>
            </a:r>
            <a:r>
              <a:rPr sz="1000" spc="6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986529" y="5427910"/>
            <a:ext cx="2176393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用数值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的正负号替换数值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的正负号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526794" y="5702255"/>
            <a:ext cx="1016473" cy="648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math.isclose(a,b)</a:t>
            </a:r>
          </a:p>
          <a:p>
            <a:pPr marL="41147" marR="0">
              <a:lnSpc>
                <a:spcPts val="1102"/>
              </a:lnSpc>
              <a:spcBef>
                <a:spcPts val="7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math.isfinite(x)</a:t>
            </a:r>
          </a:p>
          <a:p>
            <a:pPr marL="105155" marR="0">
              <a:lnSpc>
                <a:spcPts val="1102"/>
              </a:lnSpc>
              <a:spcBef>
                <a:spcPts val="74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math.isinf(x)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986529" y="5702255"/>
            <a:ext cx="2171753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比较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的相似性，返回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86529" y="5937256"/>
            <a:ext cx="3130723" cy="647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为无穷大，返回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；否则，返回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7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为正数或负数无穷大，返回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；否则，返回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745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NaN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；否则，返回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610613" y="6406953"/>
            <a:ext cx="851441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math.isnan(x)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3965" y="1733237"/>
            <a:ext cx="5249316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math库中包括8个幂对数函数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42567" y="2744224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29076" y="2744224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7140" y="2744224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5297" y="3129718"/>
            <a:ext cx="900605" cy="1346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math.pow(x,y)</a:t>
            </a:r>
          </a:p>
          <a:p>
            <a:pPr marL="67437" marR="0">
              <a:lnSpc>
                <a:spcPts val="1102"/>
              </a:lnSpc>
              <a:spcBef>
                <a:spcPts val="196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math.exp(x)</a:t>
            </a:r>
          </a:p>
          <a:p>
            <a:pPr marL="0" marR="0">
              <a:lnSpc>
                <a:spcPts val="1102"/>
              </a:lnSpc>
              <a:spcBef>
                <a:spcPts val="191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math.expml(x)</a:t>
            </a:r>
          </a:p>
          <a:p>
            <a:pPr marL="62865" marR="0">
              <a:lnSpc>
                <a:spcPts val="1102"/>
              </a:lnSpc>
              <a:spcBef>
                <a:spcPts val="196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math.sqrt(x)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30245" y="3128285"/>
            <a:ext cx="257555" cy="569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</a:p>
          <a:p>
            <a:pPr marL="1523" marR="0">
              <a:lnSpc>
                <a:spcPts val="1102"/>
              </a:lnSpc>
              <a:spcBef>
                <a:spcPts val="195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000" baseline="29999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39794" y="3129718"/>
            <a:ext cx="911351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spc="-2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39794" y="3511506"/>
            <a:ext cx="1724470" cy="964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是自然对数</a:t>
            </a:r>
          </a:p>
          <a:p>
            <a:pPr marL="0" marR="0">
              <a:lnSpc>
                <a:spcPts val="1215"/>
              </a:lnSpc>
              <a:spcBef>
                <a:spcPts val="189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返回e的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次幂减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</a:p>
          <a:p>
            <a:pPr marL="0" marR="0">
              <a:lnSpc>
                <a:spcPts val="1102"/>
              </a:lnSpc>
              <a:spcBef>
                <a:spcPts val="191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的平方根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79952" y="3907049"/>
            <a:ext cx="355854" cy="179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000" spc="10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-1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01191" y="4707693"/>
            <a:ext cx="1086698" cy="97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math.log(x[,base])</a:t>
            </a:r>
          </a:p>
          <a:p>
            <a:pPr marL="107822" marR="0">
              <a:lnSpc>
                <a:spcPts val="1102"/>
              </a:lnSpc>
              <a:spcBef>
                <a:spcPts val="204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math.log1p(x)</a:t>
            </a:r>
          </a:p>
          <a:p>
            <a:pPr marL="139826" marR="0">
              <a:lnSpc>
                <a:spcPts val="1102"/>
              </a:lnSpc>
              <a:spcBef>
                <a:spcPts val="209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math.log2(x)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39794" y="5106981"/>
            <a:ext cx="1362455" cy="577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1+x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的自然对数值</a:t>
            </a:r>
          </a:p>
          <a:p>
            <a:pPr marL="0" marR="0">
              <a:lnSpc>
                <a:spcPts val="1102"/>
              </a:lnSpc>
              <a:spcBef>
                <a:spcPts val="204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对数值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09013" y="5906167"/>
            <a:ext cx="87256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math.log10(x)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39794" y="5906167"/>
            <a:ext cx="110185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10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对数值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8440" y="1733237"/>
            <a:ext cx="5752160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math库包括六个“三角双曲函数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4189" y="2629035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9627" y="2629035"/>
            <a:ext cx="65836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24626" y="2629035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5297" y="2853620"/>
            <a:ext cx="967433" cy="635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36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math.degree(x)</a:t>
            </a:r>
          </a:p>
          <a:p>
            <a:pPr marL="7619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math.radians(x)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math.hypot(x,y)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53585" y="2845899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角度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的弧度值转角度值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53585" y="3074499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角度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的角度值转弧度值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53585" y="3303099"/>
            <a:ext cx="1875129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(x,y)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坐标到原点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(0,0)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的距离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01977" y="3601523"/>
            <a:ext cx="754499" cy="40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math.sin(x)</a:t>
            </a:r>
          </a:p>
          <a:p>
            <a:pPr marL="0" marR="0">
              <a:lnSpc>
                <a:spcPts val="1105"/>
              </a:lnSpc>
              <a:spcBef>
                <a:spcPts val="69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math.cos(x)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40023" y="3601523"/>
            <a:ext cx="416644" cy="40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sin x</a:t>
            </a:r>
          </a:p>
          <a:p>
            <a:pPr marL="0" marR="0">
              <a:lnSpc>
                <a:spcPts val="1105"/>
              </a:lnSpc>
              <a:spcBef>
                <a:spcPts val="69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cos x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053585" y="3593803"/>
            <a:ext cx="2042786" cy="1335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8"/>
              </a:lnSpc>
              <a:spcBef>
                <a:spcPts val="58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的余弦函数值，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的正切函数值，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的反正弦函数值，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的反余弦函数值，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的反正切函数值，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09597" y="4059104"/>
            <a:ext cx="738969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math.tan(x)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47644" y="4059104"/>
            <a:ext cx="40298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tan 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01394" y="4287704"/>
            <a:ext cx="953227" cy="2235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19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math.asin(x)</a:t>
            </a:r>
          </a:p>
          <a:p>
            <a:pPr marL="71627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math.acos(x)</a:t>
            </a:r>
          </a:p>
          <a:p>
            <a:pPr marL="79247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math.atan(x)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math.atan2(y,x)</a:t>
            </a:r>
          </a:p>
          <a:p>
            <a:pPr marL="80772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math.sinh(x)</a:t>
            </a:r>
          </a:p>
          <a:p>
            <a:pPr marL="68580" marR="0">
              <a:lnSpc>
                <a:spcPts val="1102"/>
              </a:lnSpc>
              <a:spcBef>
                <a:spcPts val="69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math.cosh(x)</a:t>
            </a:r>
          </a:p>
          <a:p>
            <a:pPr marL="7620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math.tanh(x)</a:t>
            </a:r>
          </a:p>
          <a:p>
            <a:pPr marL="51816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math.asinh(x)</a:t>
            </a:r>
          </a:p>
          <a:p>
            <a:pPr marL="41147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math.acosh(x)</a:t>
            </a:r>
          </a:p>
          <a:p>
            <a:pPr marL="47244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math.atanh(x)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21151" y="4287704"/>
            <a:ext cx="655965" cy="1092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816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arcsin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41148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arccos x</a:t>
            </a:r>
          </a:p>
          <a:p>
            <a:pPr marL="47244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arctan</a:t>
            </a:r>
            <a:r>
              <a:rPr sz="10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arctan</a:t>
            </a:r>
            <a:r>
              <a:rPr sz="10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000000"/>
                </a:solidFill>
                <a:latin typeface="Times New Roman"/>
                <a:cs typeface="Times New Roman"/>
              </a:rPr>
              <a:t>y/x</a:t>
            </a:r>
          </a:p>
          <a:p>
            <a:pPr marL="9906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sinh</a:t>
            </a:r>
            <a:r>
              <a:rPr sz="10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53585" y="4965783"/>
            <a:ext cx="2139817" cy="421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spc="-10" dirty="0">
                <a:solidFill>
                  <a:srgbClr val="000000"/>
                </a:solidFill>
                <a:latin typeface="Times New Roman"/>
                <a:cs typeface="Times New Roman"/>
              </a:rPr>
              <a:t>y/x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的反正切函数值，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是弧度值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的双曲正弦函数值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08020" y="5430958"/>
            <a:ext cx="480646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cosh x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53585" y="5423237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的双曲余弦函数值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15639" y="5659583"/>
            <a:ext cx="466985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tanh</a:t>
            </a:r>
            <a:r>
              <a:rPr sz="10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53585" y="5651863"/>
            <a:ext cx="1472184" cy="192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的双曲正切函数值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130295" y="5888183"/>
            <a:ext cx="637370" cy="635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arcsinh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arccosh</a:t>
            </a:r>
            <a:r>
              <a:rPr sz="10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  <a:p>
            <a:pPr marL="6096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arctanh</a:t>
            </a:r>
            <a:r>
              <a:rPr sz="10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053585" y="5880463"/>
            <a:ext cx="1598676" cy="649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的反双曲正弦函数值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的反双曲余弦函数值</a:t>
            </a:r>
          </a:p>
          <a:p>
            <a:pPr marL="0" marR="0">
              <a:lnSpc>
                <a:spcPts val="1215"/>
              </a:lnSpc>
              <a:spcBef>
                <a:spcPts val="584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的反双曲正切函数值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9341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math库解析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9867" y="1733237"/>
            <a:ext cx="5250738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math库包括4个高等特殊函数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4870" y="2912491"/>
            <a:ext cx="405993" cy="164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34182" y="2912491"/>
            <a:ext cx="659587" cy="164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数学表示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76265" y="2912491"/>
            <a:ext cx="405993" cy="164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76373" y="3198933"/>
            <a:ext cx="724825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math.erf(x)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9079" y="3202948"/>
            <a:ext cx="2685276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高斯误差函数，应用于概率论、统计学等领域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43785" y="3854507"/>
            <a:ext cx="991891" cy="148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632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math.erfc(x)</a:t>
            </a:r>
          </a:p>
          <a:p>
            <a:pPr marL="16764" marR="0">
              <a:lnSpc>
                <a:spcPts val="1102"/>
              </a:lnSpc>
              <a:spcBef>
                <a:spcPts val="4053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math.gamma(x)</a:t>
            </a:r>
          </a:p>
          <a:p>
            <a:pPr marL="0" marR="0">
              <a:lnSpc>
                <a:spcPts val="1102"/>
              </a:lnSpc>
              <a:spcBef>
                <a:spcPts val="4002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math.lgamma(x)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69079" y="3846786"/>
            <a:ext cx="2734752" cy="1485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余补高斯误差函数，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math.erfc(x)=1</a:t>
            </a:r>
            <a:r>
              <a:rPr sz="1000" spc="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sz="10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math.erf(x)</a:t>
            </a:r>
          </a:p>
          <a:p>
            <a:pPr marL="0" marR="0">
              <a:lnSpc>
                <a:spcPts val="1215"/>
              </a:lnSpc>
              <a:spcBef>
                <a:spcPts val="399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伽玛（</a:t>
            </a:r>
            <a:r>
              <a:rPr sz="1000" dirty="0">
                <a:solidFill>
                  <a:srgbClr val="000000"/>
                </a:solidFill>
                <a:latin typeface="Calibri"/>
                <a:cs typeface="Calibri"/>
              </a:rPr>
              <a:t>Gamma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）函数，也叫欧拉第二积分函数</a:t>
            </a:r>
          </a:p>
          <a:p>
            <a:pPr marL="0" marR="0">
              <a:lnSpc>
                <a:spcPts val="996"/>
              </a:lnSpc>
              <a:spcBef>
                <a:spcPts val="4031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伽玛函数的自然对数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36645" y="5164004"/>
            <a:ext cx="854838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ln(gamma(x))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327342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字符串类型及其操作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50839"/>
            <a:ext cx="7716658" cy="1082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89" dirty="0">
                <a:solidFill>
                  <a:srgbClr val="000000"/>
                </a:solidFill>
                <a:latin typeface="Microsoft YaHei"/>
                <a:cs typeface="Microsoft YaHei"/>
              </a:rPr>
              <a:t>字符串是用双引号</a:t>
            </a:r>
            <a:r>
              <a:rPr sz="2800" spc="46" dirty="0">
                <a:solidFill>
                  <a:srgbClr val="000000"/>
                </a:solidFill>
                <a:latin typeface="Microsoft YaHei"/>
                <a:cs typeface="Microsoft YaHei"/>
              </a:rPr>
              <a:t>""</a:t>
            </a:r>
            <a:r>
              <a:rPr sz="2800" spc="89" dirty="0">
                <a:solidFill>
                  <a:srgbClr val="000000"/>
                </a:solidFill>
                <a:latin typeface="Microsoft YaHei"/>
                <a:cs typeface="Microsoft YaHei"/>
              </a:rPr>
              <a:t>或者单引号</a:t>
            </a:r>
            <a:r>
              <a:rPr sz="2800" spc="43" dirty="0">
                <a:solidFill>
                  <a:srgbClr val="000000"/>
                </a:solidFill>
                <a:latin typeface="Microsoft YaHei"/>
                <a:cs typeface="Microsoft YaHei"/>
              </a:rPr>
              <a:t>''</a:t>
            </a:r>
            <a:r>
              <a:rPr sz="2800" spc="85" dirty="0">
                <a:solidFill>
                  <a:srgbClr val="000000"/>
                </a:solidFill>
                <a:latin typeface="Microsoft YaHei"/>
                <a:cs typeface="Microsoft YaHei"/>
              </a:rPr>
              <a:t>括起来的一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个或多个字符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cs typeface="Microsoft YaHei"/>
              </a:rPr>
              <a:t>三引号表示单行或多行字符串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017" y="3131253"/>
            <a:ext cx="8073796" cy="2505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语言转义符：</a:t>
            </a:r>
            <a:r>
              <a:rPr lang="zh-CN" altLang="en-US" sz="2800" spc="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\   (</a:t>
            </a:r>
            <a:r>
              <a:rPr lang="zh-CN" altLang="en-US" sz="2800" dirty="0">
                <a:solidFill>
                  <a:srgbClr val="FF0000"/>
                </a:solidFill>
                <a:latin typeface="Microsoft YaHei"/>
                <a:cs typeface="Microsoft YaHei"/>
              </a:rPr>
              <a:t>与续行符</a:t>
            </a:r>
            <a:r>
              <a:rPr lang="en-US" altLang="zh-CN" sz="2800" dirty="0">
                <a:solidFill>
                  <a:srgbClr val="FF0000"/>
                </a:solidFill>
                <a:latin typeface="Microsoft YaHei"/>
                <a:cs typeface="Microsoft YaHei"/>
              </a:rPr>
              <a:t>\</a:t>
            </a:r>
            <a:r>
              <a:rPr lang="zh-CN" altLang="en-US" sz="2800" dirty="0">
                <a:solidFill>
                  <a:srgbClr val="FF0000"/>
                </a:solidFill>
                <a:latin typeface="Microsoft YaHei"/>
                <a:cs typeface="Microsoft YaHei"/>
              </a:rPr>
              <a:t>的区别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lang="en-US" altLang="zh-CN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、输出格式化控制字符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\n,\r,\t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、输出带有引号的字符串</a:t>
            </a:r>
            <a:endParaRPr lang="en-US" altLang="zh-CN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、使用</a:t>
            </a:r>
            <a:r>
              <a:rPr lang="zh-CN" altLang="en-US" sz="2800" spc="1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\\ 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输出带有转义符的字符串</a:t>
            </a:r>
            <a:endParaRPr lang="en-US" altLang="zh-CN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61D1AB-65C1-4193-B317-07EBF1D2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887" y="5407039"/>
            <a:ext cx="4483385" cy="72618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0" y="762923"/>
            <a:ext cx="3364737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字符串</a:t>
            </a:r>
            <a:r>
              <a:rPr lang="zh-CN" altLang="en-US"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类型</a:t>
            </a:r>
            <a:endParaRPr sz="4000" b="1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726ED47-DE9F-4848-B821-9877A8F1D564}"/>
              </a:ext>
            </a:extLst>
          </p:cNvPr>
          <p:cNvSpPr txBox="1"/>
          <p:nvPr/>
        </p:nvSpPr>
        <p:spPr>
          <a:xfrm>
            <a:off x="979017" y="2010859"/>
            <a:ext cx="8109168" cy="233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2" dirty="0" err="1">
                <a:solidFill>
                  <a:srgbClr val="000000"/>
                </a:solidFill>
                <a:latin typeface="Microsoft YaHei"/>
                <a:cs typeface="Microsoft YaHei"/>
              </a:rPr>
              <a:t>字符串是一个字符序列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  <a:endParaRPr lang="en-US" sz="2800" spc="12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长度为</a:t>
            </a:r>
            <a:r>
              <a:rPr lang="en-US" altLang="zh-CN"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n</a:t>
            </a:r>
            <a:r>
              <a:rPr lang="zh-CN" altLang="en-US"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的字符串：</a:t>
            </a:r>
            <a:r>
              <a:rPr sz="2800" spc="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endParaRPr lang="en-US" sz="2800" spc="12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“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正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索引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”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0~n-1</a:t>
            </a:r>
          </a:p>
          <a:p>
            <a:pPr>
              <a:lnSpc>
                <a:spcPts val="369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“负索引”：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-1~-n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6647254" cy="1360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单个索引辅助访问字符串中的特定位置</a:t>
            </a:r>
          </a:p>
          <a:p>
            <a:pPr marL="876325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格式为&lt;string&gt;[&lt;索引&gt;]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842965"/>
            <a:ext cx="8115802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可以通过两个索引值确定一个位置范围，返回这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个范围的子串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50186" y="3122802"/>
            <a:ext cx="5624566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格式：</a:t>
            </a:r>
            <a:r>
              <a:rPr sz="28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&lt;string&gt;[&lt;start&gt;:&lt;end&gt;]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9017" y="3763459"/>
            <a:ext cx="8114259" cy="1146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21" dirty="0">
                <a:solidFill>
                  <a:srgbClr val="000000"/>
                </a:solidFill>
                <a:latin typeface="Microsoft YaHei"/>
                <a:cs typeface="Microsoft YaHei"/>
              </a:rPr>
              <a:t>start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end</a:t>
            </a: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都是整数型数值，这个子序列从索引</a:t>
            </a:r>
          </a:p>
          <a:p>
            <a:pPr marL="0" marR="0">
              <a:lnSpc>
                <a:spcPts val="3693"/>
              </a:lnSpc>
              <a:spcBef>
                <a:spcPts val="1347"/>
              </a:spcBef>
              <a:spcAft>
                <a:spcPts val="0"/>
              </a:spcAft>
            </a:pP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start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开始直到索引end结束，</a:t>
            </a:r>
            <a:r>
              <a:rPr sz="2800" dirty="0">
                <a:solidFill>
                  <a:srgbClr val="FF0000"/>
                </a:solidFill>
                <a:latin typeface="Microsoft YaHei"/>
                <a:cs typeface="Microsoft YaHei"/>
              </a:rPr>
              <a:t>但不包括end位置</a:t>
            </a: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2010859"/>
            <a:ext cx="6334022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len()函数能否返回一个字符串的长度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774548"/>
            <a:ext cx="3197351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字符串的操作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017" y="1634685"/>
            <a:ext cx="7715444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可以通过</a:t>
            </a:r>
            <a:r>
              <a:rPr sz="2800" spc="7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800" spc="57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800" spc="7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800" spc="56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组成的循环来遍历字符串中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9017" y="2275146"/>
            <a:ext cx="1572767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每个字符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0914" y="2915607"/>
            <a:ext cx="3905442" cy="161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格式如下：</a:t>
            </a:r>
          </a:p>
          <a:p>
            <a:pPr marL="547141" marR="0">
              <a:lnSpc>
                <a:spcPts val="3170"/>
              </a:lnSpc>
              <a:spcBef>
                <a:spcPts val="122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-11" dirty="0">
                <a:solidFill>
                  <a:srgbClr val="000000"/>
                </a:solidFill>
                <a:latin typeface="Microsoft YaHei"/>
                <a:cs typeface="Microsoft YaHei"/>
              </a:rPr>
              <a:t>&lt;var&gt;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 in &lt;string&gt;:</a:t>
            </a:r>
          </a:p>
          <a:p>
            <a:pPr marL="1181379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操作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356" y="2158765"/>
            <a:ext cx="3816424" cy="45937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3029028"/>
            <a:ext cx="3849012" cy="382897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内置的字符串处理函数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26869" y="1592124"/>
            <a:ext cx="609600" cy="705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YaHei"/>
                <a:cs typeface="Microsoft YaHei"/>
              </a:rPr>
              <a:t>操作</a:t>
            </a:r>
          </a:p>
          <a:p>
            <a:pPr marL="144779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57417" y="1592124"/>
            <a:ext cx="609600" cy="705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Microsoft YaHei"/>
                <a:cs typeface="Microsoft YaHei"/>
              </a:rPr>
              <a:t>含义</a:t>
            </a:r>
          </a:p>
          <a:p>
            <a:pPr marL="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连接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03652" y="2323644"/>
            <a:ext cx="25643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*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57417" y="2323644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重复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62379" y="2689657"/>
            <a:ext cx="1340659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&lt;string&gt;[</a:t>
            </a:r>
            <a:r>
              <a:rPr sz="1800" spc="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57417" y="2689657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索引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78661" y="3055418"/>
            <a:ext cx="2505768" cy="3631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1233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&lt;string&gt;[</a:t>
            </a:r>
            <a:r>
              <a:rPr sz="1800" spc="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: ]</a:t>
            </a:r>
          </a:p>
          <a:p>
            <a:pPr marL="454177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len(&lt;string&gt;)</a:t>
            </a:r>
          </a:p>
          <a:p>
            <a:pPr marL="266725" marR="0">
              <a:lnSpc>
                <a:spcPts val="2375"/>
              </a:lnSpc>
              <a:spcBef>
                <a:spcPts val="45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&lt;string&gt;.upper()</a:t>
            </a:r>
          </a:p>
          <a:p>
            <a:pPr marL="291109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&lt;string&gt;.lower()</a:t>
            </a:r>
          </a:p>
          <a:p>
            <a:pPr marL="349021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&lt;string&gt;.strip()</a:t>
            </a:r>
          </a:p>
          <a:p>
            <a:pPr marL="362737" marR="0">
              <a:lnSpc>
                <a:spcPts val="2378"/>
              </a:lnSpc>
              <a:spcBef>
                <a:spcPts val="5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&lt;string&gt;.split()</a:t>
            </a:r>
          </a:p>
          <a:p>
            <a:pPr marL="388645" marR="0">
              <a:lnSpc>
                <a:spcPts val="2375"/>
              </a:lnSpc>
              <a:spcBef>
                <a:spcPts val="5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&lt;string&gt;.join()</a:t>
            </a:r>
          </a:p>
          <a:p>
            <a:pPr marL="377977" marR="0">
              <a:lnSpc>
                <a:spcPts val="2375"/>
              </a:lnSpc>
              <a:spcBef>
                <a:spcPts val="45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&lt;string&gt;.find()</a:t>
            </a:r>
          </a:p>
          <a:p>
            <a:pPr marL="196621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&lt;string&gt;.replace()</a:t>
            </a:r>
          </a:p>
          <a:p>
            <a:pPr marL="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for &lt;var&gt;</a:t>
            </a:r>
            <a:r>
              <a:rPr sz="1800" spc="3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in &lt;string&gt;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57417" y="3055418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剪切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57417" y="3421177"/>
            <a:ext cx="6096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长度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99736" y="3786937"/>
            <a:ext cx="3128162" cy="2534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88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字符串中字母大写</a:t>
            </a:r>
          </a:p>
          <a:p>
            <a:pPr marL="57188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字符串中字母小写</a:t>
            </a:r>
          </a:p>
          <a:p>
            <a:pPr marL="228980" marR="0">
              <a:lnSpc>
                <a:spcPts val="2375"/>
              </a:lnSpc>
              <a:spcBef>
                <a:spcPts val="45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去两边空格及去指定字符</a:t>
            </a:r>
          </a:p>
          <a:p>
            <a:pPr marL="0" marR="0">
              <a:lnSpc>
                <a:spcPts val="2378"/>
              </a:lnSpc>
              <a:spcBef>
                <a:spcPts val="50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按指定字符分割字符串为数组</a:t>
            </a:r>
          </a:p>
          <a:p>
            <a:pPr marL="457580" marR="0">
              <a:lnSpc>
                <a:spcPts val="2375"/>
              </a:lnSpc>
              <a:spcBef>
                <a:spcPts val="50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连接两个字符串序列</a:t>
            </a:r>
          </a:p>
          <a:p>
            <a:pPr marL="686180" marR="0">
              <a:lnSpc>
                <a:spcPts val="2375"/>
              </a:lnSpc>
              <a:spcBef>
                <a:spcPts val="50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搜索指定字符串</a:t>
            </a:r>
          </a:p>
          <a:p>
            <a:pPr marL="914780" marR="0">
              <a:lnSpc>
                <a:spcPts val="2375"/>
              </a:lnSpc>
              <a:spcBef>
                <a:spcPts val="50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字符串替换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14517" y="6347588"/>
            <a:ext cx="1295400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字符串迭代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内置的字符串处理方法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7017" y="173076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方法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54803" y="1730763"/>
            <a:ext cx="405384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18333" y="1955349"/>
            <a:ext cx="68276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str.lower()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69538" y="1955349"/>
            <a:ext cx="2176272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的副本，全部字符小写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16810" y="2183949"/>
            <a:ext cx="684426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str.upper()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69538" y="2183949"/>
            <a:ext cx="2176272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的副本，全部字符大写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93366" y="2412803"/>
            <a:ext cx="929820" cy="406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295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str.islower()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str.isprintable()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69538" y="2412803"/>
            <a:ext cx="2939969" cy="635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所有字符都是小写时，返回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所有字符都是可打印的，返回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所有字符都是字符时，返回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38501" y="2871142"/>
            <a:ext cx="1041383" cy="2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 </a:t>
            </a:r>
            <a:r>
              <a:rPr sz="1200" dirty="0">
                <a:solidFill>
                  <a:srgbClr val="000000"/>
                </a:solidFill>
                <a:latin typeface="Calibri"/>
                <a:cs typeface="Calibri"/>
              </a:rPr>
              <a:t>isnumeric()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78710" y="3144323"/>
            <a:ext cx="760954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str.isspace()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69538" y="3144323"/>
            <a:ext cx="268673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当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所有字符都是空格，返回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10766" y="3372651"/>
            <a:ext cx="4794169" cy="636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404" marR="0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str.endswith(suffix[,start[,end]])</a:t>
            </a:r>
            <a:r>
              <a:rPr sz="1000" spc="11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str[start:</a:t>
            </a:r>
            <a:r>
              <a:rPr sz="10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end]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suffix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结尾返回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102"/>
              </a:lnSpc>
              <a:spcBef>
                <a:spcPts val="69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str.startswith(prefix[, start[, end]])</a:t>
            </a:r>
            <a:r>
              <a:rPr sz="1000" spc="6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str[start:</a:t>
            </a:r>
            <a:r>
              <a:rPr sz="1000" spc="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end]</a:t>
            </a:r>
            <a:r>
              <a:rPr sz="10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suffix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开始返回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46735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str.split(sep=None,</a:t>
            </a:r>
            <a:r>
              <a:rPr sz="10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maxsplit=-1)</a:t>
            </a:r>
            <a:r>
              <a:rPr sz="1000" spc="10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返回一个列表，由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根据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sep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被分割的部分构成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15998" y="4087679"/>
            <a:ext cx="1485120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str.count(sub[,start[,end]])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669538" y="4087679"/>
            <a:ext cx="2275332" cy="1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str[start: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end]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sub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子串出现的次数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42845" y="4316279"/>
            <a:ext cx="1631092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str.replace(old,</a:t>
            </a:r>
            <a:r>
              <a:rPr sz="1000" spc="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new[,</a:t>
            </a:r>
            <a:r>
              <a:rPr sz="1000" spc="4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count])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669538" y="4316279"/>
            <a:ext cx="3372866" cy="406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spc="62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spc="63" dirty="0">
                <a:solidFill>
                  <a:srgbClr val="000000"/>
                </a:solidFill>
                <a:latin typeface="SimSun"/>
                <a:cs typeface="SimSun"/>
              </a:rPr>
              <a:t>的副本，所有</a:t>
            </a:r>
            <a:r>
              <a:rPr sz="1000" spc="23" dirty="0">
                <a:solidFill>
                  <a:srgbClr val="000000"/>
                </a:solidFill>
                <a:latin typeface="Times New Roman"/>
                <a:cs typeface="Times New Roman"/>
              </a:rPr>
              <a:t>old</a:t>
            </a:r>
            <a:r>
              <a:rPr sz="1000" spc="63" dirty="0">
                <a:solidFill>
                  <a:srgbClr val="000000"/>
                </a:solidFill>
                <a:latin typeface="SimSun"/>
                <a:cs typeface="SimSun"/>
              </a:rPr>
              <a:t>子串被替换为</a:t>
            </a:r>
            <a:r>
              <a:rPr sz="1000" spc="25" dirty="0">
                <a:solidFill>
                  <a:srgbClr val="000000"/>
                </a:solidFill>
                <a:latin typeface="Times New Roman"/>
                <a:cs typeface="Times New Roman"/>
              </a:rPr>
              <a:t>new</a:t>
            </a:r>
            <a:r>
              <a:rPr sz="1000" spc="62" dirty="0">
                <a:solidFill>
                  <a:srgbClr val="000000"/>
                </a:solidFill>
                <a:latin typeface="SimSun"/>
                <a:cs typeface="SimSun"/>
              </a:rPr>
              <a:t>，如果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count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给出，则前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count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old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出现被替换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03805" y="4773860"/>
            <a:ext cx="1509660" cy="406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str.center(width[,</a:t>
            </a:r>
            <a:r>
              <a:rPr sz="1000" spc="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fillchar])</a:t>
            </a:r>
          </a:p>
          <a:p>
            <a:pPr marL="268223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str.strip([chars])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69538" y="4777875"/>
            <a:ext cx="1923288" cy="164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字符串居中函数，详见函数定义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669538" y="5002460"/>
            <a:ext cx="3373987" cy="397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的副本，在其左侧和右侧去掉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chars</a:t>
            </a:r>
            <a:r>
              <a:rPr sz="1000" spc="10" dirty="0">
                <a:solidFill>
                  <a:srgbClr val="000000"/>
                </a:solidFill>
                <a:latin typeface="SimSun"/>
                <a:cs typeface="SimSun"/>
              </a:rPr>
              <a:t>中列出的</a:t>
            </a:r>
          </a:p>
          <a:p>
            <a:pPr marL="0" marR="0">
              <a:lnSpc>
                <a:spcPts val="996"/>
              </a:lnSpc>
              <a:spcBef>
                <a:spcPts val="72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字符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17750" y="5459660"/>
            <a:ext cx="886584" cy="406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str.zfill(width)</a:t>
            </a:r>
          </a:p>
          <a:p>
            <a:pPr marL="76200" marR="0">
              <a:lnSpc>
                <a:spcPts val="1102"/>
              </a:lnSpc>
              <a:spcBef>
                <a:spcPts val="69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str.format()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669538" y="5459660"/>
            <a:ext cx="3373979" cy="864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的副本，长度为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width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，不足部分在左侧添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</a:p>
          <a:p>
            <a:pPr marL="0" marR="0">
              <a:lnSpc>
                <a:spcPts val="1102"/>
              </a:lnSpc>
              <a:spcBef>
                <a:spcPts val="69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返回字符串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的一种排版格式，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3.6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节将详细介绍</a:t>
            </a:r>
          </a:p>
          <a:p>
            <a:pPr marL="0" marR="0">
              <a:lnSpc>
                <a:spcPts val="1102"/>
              </a:lnSpc>
              <a:spcBef>
                <a:spcPts val="699"/>
              </a:spcBef>
              <a:spcAft>
                <a:spcPts val="0"/>
              </a:spcAft>
            </a:pPr>
            <a:r>
              <a:rPr sz="1000" spc="38" dirty="0">
                <a:solidFill>
                  <a:srgbClr val="000000"/>
                </a:solidFill>
                <a:latin typeface="SimSun"/>
                <a:cs typeface="SimSun"/>
              </a:rPr>
              <a:t>返回一个新字符串，由组合数据类型（见第</a:t>
            </a:r>
            <a:r>
              <a:rPr sz="1000" spc="40" dirty="0">
                <a:solidFill>
                  <a:srgbClr val="000000"/>
                </a:solidFill>
                <a:latin typeface="Times New Roman"/>
                <a:cs typeface="Times New Roman"/>
              </a:rPr>
              <a:t>6</a:t>
            </a:r>
            <a:r>
              <a:rPr sz="1000" spc="37" dirty="0">
                <a:solidFill>
                  <a:srgbClr val="000000"/>
                </a:solidFill>
                <a:latin typeface="SimSun"/>
                <a:cs typeface="SimSun"/>
              </a:rPr>
              <a:t>章）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iterable</a:t>
            </a:r>
          </a:p>
          <a:p>
            <a:pPr marL="0" marR="0">
              <a:lnSpc>
                <a:spcPts val="1102"/>
              </a:lnSpc>
              <a:spcBef>
                <a:spcPts val="697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变量的每个元素组成，元素间用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分割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72029" y="5917139"/>
            <a:ext cx="973713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str.join(iterable)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327342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字符串类型的格式化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123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1002" y="762923"/>
            <a:ext cx="568460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format()方法的基本使用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3142" y="2141284"/>
            <a:ext cx="4296691" cy="842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字符串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format()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方法的基本使用格式是：</a:t>
            </a:r>
          </a:p>
          <a:p>
            <a:pPr marL="0" marR="0">
              <a:lnSpc>
                <a:spcPts val="2010"/>
              </a:lnSpc>
              <a:spcBef>
                <a:spcPts val="231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模板字符串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&gt;.format(&lt;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逗号分隔的参数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35" y="5877272"/>
            <a:ext cx="8340927" cy="50405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1002" y="762923"/>
            <a:ext cx="568460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format()方法的格式控制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92186"/>
            <a:ext cx="7868437" cy="56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format()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方法中模板字符串的槽除了包括参数序号，还可以包括格式控制信</a:t>
            </a:r>
          </a:p>
          <a:p>
            <a:pPr marL="286512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息。此时，槽的内部样式如下：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{&lt;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参数序号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&gt;:</a:t>
            </a:r>
            <a:r>
              <a:rPr sz="1800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格式控制标记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815146"/>
            <a:ext cx="7953400" cy="826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1800" spc="11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其中，格式控制标记用来控制参数显示时的格式</a:t>
            </a:r>
            <a:r>
              <a:rPr sz="1800" spc="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。格式控制标记包括：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填</a:t>
            </a:r>
          </a:p>
          <a:p>
            <a:pPr marL="286512" marR="0">
              <a:lnSpc>
                <a:spcPts val="2010"/>
              </a:lnSpc>
              <a:spcBef>
                <a:spcPts val="19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充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对齐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宽度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&gt;,&lt;.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精度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&gt;&lt;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类型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&gt;6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个字段，这些字段都是可选的，可以组</a:t>
            </a:r>
          </a:p>
          <a:p>
            <a:pPr marL="286512" marR="0">
              <a:lnSpc>
                <a:spcPts val="1800"/>
              </a:lnSpc>
              <a:spcBef>
                <a:spcPts val="233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合使用，这里按照使用方式逐一介绍。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6580" y="2334433"/>
            <a:ext cx="6855333" cy="107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6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6000" spc="2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Microsoft YaHei"/>
                <a:cs typeface="Microsoft YaHei"/>
              </a:rPr>
              <a:t>组合数据类型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68526" y="2761575"/>
            <a:ext cx="5641237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组合数据类型概述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95772"/>
            <a:ext cx="8108848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计算机不仅对单个变量表示的数据进行处理，更多情况，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计算机需要对一组数据进行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批量处理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。一些例子包括：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给定一组单词{python,</a:t>
            </a:r>
            <a:r>
              <a:rPr sz="2400" spc="18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data,</a:t>
            </a:r>
            <a:r>
              <a:rPr sz="2400" spc="20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function,</a:t>
            </a:r>
            <a:r>
              <a:rPr sz="2400" spc="19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list,</a:t>
            </a:r>
            <a:r>
              <a:rPr sz="2400" spc="2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loop}，计算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并输出每个单词的长度；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4390967"/>
            <a:ext cx="804280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给定一个学院学生信息，统计一下男女生比例；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一次实验产生了很多组数据，对这些大量数据进行分析；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7903770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  <a:r>
              <a:rPr lang="zh-CN" altLang="en-US" sz="400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lang="zh-CN" altLang="en-US" sz="4000" b="1" dirty="0">
                <a:solidFill>
                  <a:srgbClr val="000000"/>
                </a:solidFill>
                <a:latin typeface="Microsoft YaHei"/>
                <a:cs typeface="Microsoft YaHei"/>
              </a:rPr>
              <a:t>集合类型和映射类型</a:t>
            </a:r>
            <a:endParaRPr sz="4000" b="1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765" y="2627699"/>
            <a:ext cx="8468580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9664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组合数据类型能够将多个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同类型或不同类型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的数据组织起来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，通过单一的表示使数据操作更有序更容易。根据数据之间的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关系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429" y="4273873"/>
            <a:ext cx="8108916" cy="120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序列类型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（字符串、元组（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a,b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,…,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a,c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）、列表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[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a,b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,…,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a,c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集合类型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{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a,b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,…,c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}</a:t>
            </a: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映射类型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{a : 1, b:1,…,c:1}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250583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组合数据</a:t>
            </a:r>
            <a:r>
              <a:rPr sz="4000" b="1" dirty="0" err="1">
                <a:solidFill>
                  <a:srgbClr val="262626"/>
                </a:solidFill>
                <a:latin typeface="Microsoft YaHei"/>
                <a:cs typeface="Microsoft YaHei"/>
              </a:rPr>
              <a:t>类型</a:t>
            </a:r>
            <a:endParaRPr sz="4000" b="1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240" y="2268924"/>
            <a:ext cx="8102803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9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序列类型是一个元素向量，元素之间存在</a:t>
            </a:r>
            <a:r>
              <a:rPr sz="2400" spc="100" dirty="0">
                <a:solidFill>
                  <a:srgbClr val="FF0000"/>
                </a:solidFill>
                <a:latin typeface="Microsoft YaHei"/>
                <a:cs typeface="Microsoft YaHei"/>
              </a:rPr>
              <a:t>先后关系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，通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过序号访问，元素之间不排他。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3366458"/>
            <a:ext cx="8101584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9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集合类型是一个元素集合，元素之间</a:t>
            </a:r>
            <a:r>
              <a:rPr sz="2400" spc="100" dirty="0">
                <a:solidFill>
                  <a:srgbClr val="FF0000"/>
                </a:solidFill>
                <a:latin typeface="Microsoft YaHei"/>
                <a:cs typeface="Microsoft YaHei"/>
              </a:rPr>
              <a:t>无序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，相同元素在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集合中唯一存在。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4463738"/>
            <a:ext cx="8101939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9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映射类型是“</a:t>
            </a:r>
            <a:r>
              <a:rPr sz="2400" spc="51" dirty="0">
                <a:solidFill>
                  <a:srgbClr val="FF0000"/>
                </a:solidFill>
                <a:latin typeface="Microsoft YaHei"/>
                <a:cs typeface="Microsoft YaHei"/>
              </a:rPr>
              <a:t>键</a:t>
            </a:r>
            <a:r>
              <a:rPr sz="2400" spc="54" dirty="0">
                <a:solidFill>
                  <a:srgbClr val="FF0000"/>
                </a:solidFill>
                <a:latin typeface="Microsoft YaHei"/>
                <a:cs typeface="Microsoft YaHei"/>
              </a:rPr>
              <a:t>-</a:t>
            </a:r>
            <a:r>
              <a:rPr sz="2400" spc="51" dirty="0">
                <a:solidFill>
                  <a:srgbClr val="FF0000"/>
                </a:solidFill>
                <a:latin typeface="Microsoft YaHei"/>
                <a:cs typeface="Microsoft YaHei"/>
              </a:rPr>
              <a:t>值”</a:t>
            </a: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数据项的组合，每个元素是一个键</a:t>
            </a:r>
          </a:p>
          <a:p>
            <a:pPr marL="34290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值对，表示为</a:t>
            </a:r>
            <a:r>
              <a:rPr sz="2400" spc="-36" dirty="0">
                <a:solidFill>
                  <a:srgbClr val="000000"/>
                </a:solidFill>
                <a:latin typeface="Microsoft YaHei"/>
                <a:cs typeface="Microsoft YaHei"/>
              </a:rPr>
              <a:t>(key,</a:t>
            </a: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value)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，也是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无序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556325"/>
            <a:ext cx="7747151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由于元素之间存在顺序关系，所以序列中可以存在相同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数值但位置不同的元素。序列类型支持成员关系操作符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）、长度计算函数（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len()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）、分片（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[]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），元素本身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也可以是序列类型。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5529" y="1673294"/>
            <a:ext cx="758497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Python语言中有很多数据类型都是序列类型，其中比较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222315"/>
            <a:ext cx="8093659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重要的是：str（字符串）、tuple（元组）和list（列表）。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•元组是包含0个或多个数据项的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不可变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序列类型。元组生成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后是固定的，其中任何数据项不能替换或删除。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3868489"/>
            <a:ext cx="7906511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列表则是一个可以修改数据项的序列类型，使用也最灵活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Microsoft YaHei"/>
                <a:cs typeface="Microsoft YaHei"/>
              </a:rPr>
              <a:t>序列类型的索引体系：</a:t>
            </a:r>
            <a:endParaRPr sz="2400" b="1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97275" y="1391100"/>
            <a:ext cx="508188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序列类型有12个通用的操作符和函数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77086" y="1999289"/>
            <a:ext cx="760476" cy="621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  <a:p>
            <a:pPr marL="83819" marR="0">
              <a:lnSpc>
                <a:spcPts val="1767"/>
              </a:lnSpc>
              <a:spcBef>
                <a:spcPts val="12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 in 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30398" y="1999289"/>
            <a:ext cx="4183476" cy="1353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2936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767"/>
              </a:lnSpc>
              <a:spcBef>
                <a:spcPts val="12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600" spc="-17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767"/>
              </a:lnSpc>
              <a:spcBef>
                <a:spcPts val="111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不是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600" spc="-17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770"/>
              </a:lnSpc>
              <a:spcBef>
                <a:spcPts val="11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连接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03933" y="2724376"/>
            <a:ext cx="904419" cy="628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 not in s</a:t>
            </a:r>
          </a:p>
          <a:p>
            <a:pPr marL="201167" marR="0">
              <a:lnSpc>
                <a:spcPts val="1770"/>
              </a:lnSpc>
              <a:spcBef>
                <a:spcPts val="106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 + 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3913" y="3456277"/>
            <a:ext cx="1225027" cy="62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 * n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 n * s</a:t>
            </a:r>
          </a:p>
          <a:p>
            <a:pPr marL="400812" marR="0">
              <a:lnSpc>
                <a:spcPts val="1767"/>
              </a:lnSpc>
              <a:spcBef>
                <a:spcPts val="106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s[i]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30398" y="3456277"/>
            <a:ext cx="1550161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复制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30398" y="3822037"/>
            <a:ext cx="2641345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索引，返回序列的第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62429" y="4187797"/>
            <a:ext cx="588189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s[i: j]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30398" y="4187797"/>
            <a:ext cx="5887995" cy="994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分片，返回包含序列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spc="1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个元素的子序列（不包含第</a:t>
            </a:r>
            <a:r>
              <a:rPr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个元素）</a:t>
            </a:r>
          </a:p>
          <a:p>
            <a:pPr marL="0" marR="0">
              <a:lnSpc>
                <a:spcPts val="1770"/>
              </a:lnSpc>
              <a:spcBef>
                <a:spcPts val="1060"/>
              </a:spcBef>
              <a:spcAft>
                <a:spcPts val="0"/>
              </a:spcAft>
            </a:pP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步骤分片，返回包含序列</a:t>
            </a:r>
            <a:r>
              <a:rPr sz="1600" dirty="0" err="1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600" dirty="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600" spc="10" dirty="0" err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个元素以</a:t>
            </a:r>
            <a:r>
              <a:rPr lang="en-US" altLang="zh-CN" sz="1600" spc="10" dirty="0" err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600" dirty="0" err="1">
                <a:solidFill>
                  <a:srgbClr val="000000"/>
                </a:solidFill>
                <a:latin typeface="SimSun"/>
                <a:cs typeface="SimSun"/>
              </a:rPr>
              <a:t>为步数的子序列</a:t>
            </a:r>
            <a:endParaRPr sz="1600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1767"/>
              </a:lnSpc>
              <a:spcBef>
                <a:spcPts val="111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的元素个数（长度）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57274" y="4553286"/>
            <a:ext cx="799758" cy="628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s[i: j:</a:t>
            </a:r>
            <a:r>
              <a:rPr sz="16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k]</a:t>
            </a:r>
          </a:p>
          <a:p>
            <a:pPr marL="92963" marR="0">
              <a:lnSpc>
                <a:spcPts val="1767"/>
              </a:lnSpc>
              <a:spcBef>
                <a:spcPts val="111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len(s)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18233" y="5285331"/>
            <a:ext cx="681596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min(s)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30398" y="5285331"/>
            <a:ext cx="1853438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中的最小元素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01469" y="5651117"/>
            <a:ext cx="715246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max(s)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30398" y="5651117"/>
            <a:ext cx="1853438" cy="26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中的最大元素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77747" y="6016876"/>
            <a:ext cx="1558273" cy="628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s.index(x[, i[, j]])</a:t>
            </a:r>
          </a:p>
          <a:p>
            <a:pPr marL="294182" marR="0">
              <a:lnSpc>
                <a:spcPts val="1767"/>
              </a:lnSpc>
              <a:spcBef>
                <a:spcPts val="106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s.count(x)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930398" y="6016876"/>
            <a:ext cx="4503928" cy="628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中从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开始到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位置中第一次出现元素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的位置</a:t>
            </a:r>
          </a:p>
          <a:p>
            <a:pPr marL="0" marR="0">
              <a:lnSpc>
                <a:spcPts val="1767"/>
              </a:lnSpc>
              <a:spcBef>
                <a:spcPts val="106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序列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中出现</a:t>
            </a:r>
            <a:r>
              <a:rPr sz="16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的总次数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635194"/>
            <a:ext cx="8128711" cy="208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5" dirty="0">
                <a:solidFill>
                  <a:srgbClr val="000000"/>
                </a:solidFill>
                <a:latin typeface="Microsoft YaHei"/>
                <a:cs typeface="Microsoft YaHei"/>
              </a:rPr>
              <a:t>元组（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tuple</a:t>
            </a:r>
            <a:r>
              <a:rPr sz="2400" spc="87" dirty="0">
                <a:solidFill>
                  <a:srgbClr val="000000"/>
                </a:solidFill>
                <a:latin typeface="Microsoft YaHei"/>
                <a:cs typeface="Microsoft YaHei"/>
              </a:rPr>
              <a:t>）是序列类型中比较特殊的类型，因为它一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旦创建就不能被修改。</a:t>
            </a:r>
            <a:r>
              <a:rPr sz="2400" spc="15" dirty="0">
                <a:solidFill>
                  <a:srgbClr val="FF0000"/>
                </a:solidFill>
                <a:latin typeface="Microsoft YaHei"/>
                <a:cs typeface="Microsoft YaHei"/>
              </a:rPr>
              <a:t>元组类型在表达固定数据项、函数多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16" dirty="0">
                <a:solidFill>
                  <a:srgbClr val="FF0000"/>
                </a:solidFill>
                <a:latin typeface="Microsoft YaHei"/>
                <a:cs typeface="Microsoft YaHei"/>
              </a:rPr>
              <a:t>返回值、多变量同步赋值、循环遍历</a:t>
            </a:r>
            <a:r>
              <a:rPr sz="2400" spc="116" dirty="0">
                <a:solidFill>
                  <a:srgbClr val="000000"/>
                </a:solidFill>
                <a:latin typeface="Microsoft YaHei"/>
                <a:cs typeface="Microsoft YaHei"/>
              </a:rPr>
              <a:t>等情况下十分有用。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Python中元组采用逗号和圆括号（可选）来表示。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59357" y="3912761"/>
            <a:ext cx="4634060" cy="5188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&gt;&gt;&gt;creature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"cat", "dog",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"tiger",</a:t>
            </a:r>
            <a:r>
              <a:rPr sz="1400" b="1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"human"</a:t>
            </a:r>
          </a:p>
          <a:p>
            <a:pPr marL="0" marR="0">
              <a:lnSpc>
                <a:spcPts val="1359"/>
              </a:lnSpc>
              <a:spcBef>
                <a:spcPts val="835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&gt;&gt;&gt;creature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9357" y="4504326"/>
            <a:ext cx="351346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('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cat', 'dog',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'tiger', 'human'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59357" y="4815456"/>
            <a:ext cx="438763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("red",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0x001100, "blue", creature)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9357" y="5089776"/>
            <a:ext cx="88667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59357" y="5364095"/>
            <a:ext cx="521316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('red', 4352, 'blue', ('cat', 'dog', 'tiger', 'human'))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59357" y="5638415"/>
            <a:ext cx="1163741" cy="48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&gt;&gt;&gt;color[2]</a:t>
            </a:r>
          </a:p>
          <a:p>
            <a:pPr marL="0" marR="0">
              <a:lnSpc>
                <a:spcPts val="1359"/>
              </a:lnSpc>
              <a:spcBef>
                <a:spcPts val="7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'blue'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9357" y="6187360"/>
            <a:ext cx="1531863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&gt;&gt;&gt;color[-1][2]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'tiger'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lang="zh-CN" altLang="en-US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序列类型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757" y="2783554"/>
            <a:ext cx="2723667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func(x):</a:t>
            </a:r>
            <a:r>
              <a:rPr sz="1200" b="1" spc="76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函数多返回值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3062220"/>
            <a:ext cx="144047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x**3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757" y="3345235"/>
            <a:ext cx="413070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'dog',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'tiger'</a:t>
            </a:r>
            <a:r>
              <a:rPr sz="1400" b="1" spc="8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757" y="3691632"/>
            <a:ext cx="162487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(b,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a)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10432" y="3665275"/>
            <a:ext cx="2577405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多变量同步赋值，括号可省略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3988580"/>
            <a:ext cx="164359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math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757" y="4305093"/>
            <a:ext cx="4579061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y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((1,0),</a:t>
            </a:r>
            <a:r>
              <a:rPr sz="1200" b="1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(2,5),</a:t>
            </a:r>
            <a:r>
              <a:rPr sz="1200" b="1" spc="3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(3,8)):</a:t>
            </a:r>
            <a:r>
              <a:rPr sz="1200" b="1" spc="87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循环遍历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1129" y="4652133"/>
            <a:ext cx="217209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print(math.hypot(x,y))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53329" y="4625776"/>
            <a:ext cx="2399097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求多个坐标值到原点的距离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300" y="3551149"/>
            <a:ext cx="2114550" cy="8858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799439" y="205914"/>
            <a:ext cx="2877017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def func(x):</a:t>
            </a:r>
          </a:p>
          <a:p>
            <a:r>
              <a:rPr lang="en-US" altLang="zh-CN"/>
              <a:t> return x,x**3</a:t>
            </a:r>
          </a:p>
          <a:p>
            <a:endParaRPr lang="en-US" altLang="zh-CN"/>
          </a:p>
          <a:p>
            <a:r>
              <a:rPr lang="en-US" altLang="zh-CN"/>
              <a:t>result=func(4)</a:t>
            </a:r>
          </a:p>
          <a:p>
            <a:r>
              <a:rPr lang="en-US" altLang="zh-CN"/>
              <a:t>print(result,type(result))</a:t>
            </a:r>
          </a:p>
          <a:p>
            <a:r>
              <a:rPr lang="en-US" altLang="zh-CN"/>
              <a:t>a,b='dog','tiger'</a:t>
            </a:r>
          </a:p>
          <a:p>
            <a:r>
              <a:rPr lang="en-US" altLang="zh-CN"/>
              <a:t>a,b=(b,a)</a:t>
            </a:r>
          </a:p>
          <a:p>
            <a:r>
              <a:rPr lang="en-US" altLang="zh-CN"/>
              <a:t>print(a,b)</a:t>
            </a:r>
          </a:p>
          <a:p>
            <a:r>
              <a:rPr lang="en-US" altLang="zh-CN"/>
              <a:t>import math</a:t>
            </a:r>
          </a:p>
          <a:p>
            <a:r>
              <a:rPr lang="en-US" altLang="zh-CN"/>
              <a:t>for x,y in((1,0),(2,5),(3,8)):</a:t>
            </a:r>
          </a:p>
          <a:p>
            <a:r>
              <a:rPr lang="en-US" altLang="zh-CN"/>
              <a:t>    print(math.hypot(x,y))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6ECA3B-8B96-4329-9BAA-6BD894F3BBAD}"/>
              </a:ext>
            </a:extLst>
          </p:cNvPr>
          <p:cNvSpPr txBox="1"/>
          <p:nvPr/>
        </p:nvSpPr>
        <p:spPr>
          <a:xfrm>
            <a:off x="179512" y="5092201"/>
            <a:ext cx="8640960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c=(1,2,c1)</a:t>
            </a:r>
          </a:p>
          <a:p>
            <a:r>
              <a:rPr lang="en-US" altLang="zh-CN" dirty="0"/>
              <a:t>c[1]='reset’</a:t>
            </a:r>
          </a:p>
          <a:p>
            <a:r>
              <a:rPr lang="en-US" altLang="zh-CN" dirty="0"/>
              <a:t>Traceback (most recent call last):</a:t>
            </a:r>
          </a:p>
          <a:p>
            <a:r>
              <a:rPr lang="en-US" altLang="zh-CN" dirty="0"/>
              <a:t>  File "D:/python/</a:t>
            </a:r>
            <a:r>
              <a:rPr lang="zh-CN" altLang="en-US" dirty="0"/>
              <a:t>第六章 组合数据类型</a:t>
            </a:r>
            <a:r>
              <a:rPr lang="en-US" altLang="zh-CN" dirty="0"/>
              <a:t>/</a:t>
            </a:r>
            <a:r>
              <a:rPr lang="en-US" altLang="zh-CN" dirty="0" err="1"/>
              <a:t>changenable</a:t>
            </a:r>
            <a:r>
              <a:rPr lang="en-US" altLang="zh-CN" dirty="0"/>
              <a:t> data type.py", line 7, in &lt;module&gt;</a:t>
            </a:r>
          </a:p>
          <a:p>
            <a:r>
              <a:rPr lang="en-US" altLang="zh-CN" dirty="0"/>
              <a:t>    c[1]='reset'</a:t>
            </a:r>
          </a:p>
          <a:p>
            <a:r>
              <a:rPr lang="en-US" altLang="zh-CN" dirty="0" err="1"/>
              <a:t>TypeError</a:t>
            </a:r>
            <a:r>
              <a:rPr lang="en-US" altLang="zh-CN" dirty="0"/>
              <a:t>: 'tuple' object does not support item assignment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36512" y="-27384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332656"/>
            <a:ext cx="7776815" cy="3063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zh-CN" altLang="en-US" sz="2000" b="0" i="0" dirty="0">
                <a:solidFill>
                  <a:srgbClr val="000000"/>
                </a:solidFill>
                <a:effectLst/>
                <a:latin typeface="PingFang SC"/>
              </a:rPr>
              <a:t>基于内存地址，数据类型分为：</a:t>
            </a:r>
          </a:p>
          <a:p>
            <a:pPr algn="l"/>
            <a:r>
              <a:rPr lang="zh-CN" altLang="en-US" sz="2000" b="0" i="0" dirty="0">
                <a:solidFill>
                  <a:srgbClr val="000000"/>
                </a:solidFill>
                <a:effectLst/>
                <a:latin typeface="PingFang SC"/>
              </a:rPr>
              <a:t>　　不可变数据类型： 当该数据类型的对应变量的值发生了改变，那么它对应的内存地址也会发生改变，对于这种数据类型，就称不可变数据类型。</a:t>
            </a:r>
            <a:r>
              <a:rPr lang="zh-CN" altLang="en-US" sz="2000" spc="61" dirty="0">
                <a:solidFill>
                  <a:srgbClr val="FF0000"/>
                </a:solidFill>
                <a:latin typeface="Microsoft YaHei"/>
                <a:cs typeface="Microsoft YaHei"/>
              </a:rPr>
              <a:t>整数、浮点数、</a:t>
            </a:r>
            <a:r>
              <a:rPr lang="zh-CN" altLang="en-US" sz="2000" spc="61" dirty="0">
                <a:solidFill>
                  <a:srgbClr val="FF0000"/>
                </a:solidFill>
                <a:latin typeface="Microsoft YaHei"/>
              </a:rPr>
              <a:t>复数</a:t>
            </a:r>
            <a:r>
              <a:rPr lang="zh-CN" altLang="en-US" sz="2000" spc="61" dirty="0">
                <a:solidFill>
                  <a:srgbClr val="FF0000"/>
                </a:solidFill>
                <a:latin typeface="Microsoft YaHei"/>
                <a:cs typeface="Microsoft YaHei"/>
              </a:rPr>
              <a:t>、字符串、元组</a:t>
            </a:r>
            <a:endParaRPr lang="zh-CN" altLang="en-US" sz="2000" b="0" i="0" dirty="0">
              <a:solidFill>
                <a:srgbClr val="FF0000"/>
              </a:solidFill>
              <a:effectLst/>
              <a:latin typeface="PingFang SC"/>
            </a:endParaRPr>
          </a:p>
          <a:p>
            <a:pPr algn="l"/>
            <a:r>
              <a:rPr lang="zh-CN" altLang="en-US" sz="2000" b="0" i="0" dirty="0">
                <a:solidFill>
                  <a:srgbClr val="000000"/>
                </a:solidFill>
                <a:effectLst/>
                <a:latin typeface="PingFang SC"/>
              </a:rPr>
              <a:t>　　可变数据类型    ：当该数据类型的对应变量的值发生了改变，那么它对应的内存地址不发生改变，对于这种数据类型，就称可变数据类型。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PingFang SC"/>
              </a:rPr>
              <a:t>列表、字典和集合</a:t>
            </a:r>
            <a:endParaRPr lang="zh-CN" altLang="en-US" sz="2000" b="0" i="0" dirty="0">
              <a:solidFill>
                <a:srgbClr val="000000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　   </a:t>
            </a:r>
          </a:p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4757" y="2783554"/>
            <a:ext cx="2723667" cy="214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func(x):</a:t>
            </a:r>
            <a:r>
              <a:rPr sz="1200" b="1" spc="76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函数多返回值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3062220"/>
            <a:ext cx="1440474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2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 x**3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757" y="3345235"/>
            <a:ext cx="4130700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'dog',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'tiger'</a:t>
            </a:r>
            <a:r>
              <a:rPr sz="1400" b="1" spc="8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757" y="3691632"/>
            <a:ext cx="162487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&gt;&gt;&gt;a,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(b,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a)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10432" y="3665275"/>
            <a:ext cx="2577405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多变量同步赋值，括号可省略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3988580"/>
            <a:ext cx="164359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&gt;&gt;&gt;import math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757" y="4305093"/>
            <a:ext cx="4579061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</a:t>
            </a:r>
            <a:r>
              <a:rPr sz="12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x,</a:t>
            </a:r>
            <a:r>
              <a:rPr sz="12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y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((1,0),</a:t>
            </a:r>
            <a:r>
              <a:rPr sz="1200" b="1" spc="4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(2,5),</a:t>
            </a:r>
            <a:r>
              <a:rPr sz="1200" b="1" spc="3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(3,8)):</a:t>
            </a:r>
            <a:r>
              <a:rPr sz="1200" b="1" spc="87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循环遍历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1129" y="4652133"/>
            <a:ext cx="217209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print(math.hypot(x,y))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53329" y="4625776"/>
            <a:ext cx="2399097" cy="244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求多个坐标值到原点的距离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14CD654-BD81-49AD-AFCD-5E8217373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2446630"/>
            <a:ext cx="9036496" cy="33239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c1 = [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'2’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 = 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,c1)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print(c,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(c),type(c))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c1[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'djx’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print(c,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(c),type(c))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result: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'2'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386030735432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&lt;class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'tuple'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'djx'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386030735432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&lt;class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'tuple'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1656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7960766" cy="285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集合类型与数学中集合的概念一致，即包含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个或多个数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据项的无序组合。集合中元素不可重复，元素类型只能是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 err="1">
                <a:solidFill>
                  <a:srgbClr val="FF0000"/>
                </a:solidFill>
                <a:latin typeface="Microsoft YaHei"/>
                <a:cs typeface="Microsoft YaHei"/>
              </a:rPr>
              <a:t>固定数据类型</a:t>
            </a: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，例如：整数、浮点数</a:t>
            </a: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lang="zh-CN" altLang="en-US" sz="2400" spc="6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复数</a:t>
            </a:r>
            <a:r>
              <a:rPr lang="zh-CN" altLang="en-US"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61" dirty="0" err="1">
                <a:solidFill>
                  <a:srgbClr val="000000"/>
                </a:solidFill>
                <a:latin typeface="Microsoft YaHei"/>
                <a:cs typeface="Microsoft YaHei"/>
              </a:rPr>
              <a:t>字符串、元组等，列表、字典和集合类型本身都是可变数据类型，不能作为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集合的元素出现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endParaRPr lang="zh-CN" alt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7" y="5379465"/>
            <a:ext cx="2377135" cy="14785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7B285B0-6B82-4875-B6BF-85F6AB6D2131}"/>
              </a:ext>
            </a:extLst>
          </p:cNvPr>
          <p:cNvSpPr txBox="1"/>
          <p:nvPr/>
        </p:nvSpPr>
        <p:spPr>
          <a:xfrm>
            <a:off x="3131840" y="4653135"/>
            <a:ext cx="5832648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c=(1,2,c1)</a:t>
            </a:r>
          </a:p>
          <a:p>
            <a:r>
              <a:rPr lang="en-US" altLang="zh-CN" dirty="0"/>
              <a:t>a={c}</a:t>
            </a:r>
          </a:p>
          <a:p>
            <a:r>
              <a:rPr lang="en-US" altLang="zh-CN" dirty="0"/>
              <a:t>Traceback (most recent call last):</a:t>
            </a:r>
          </a:p>
          <a:p>
            <a:r>
              <a:rPr lang="en-US" altLang="zh-CN" dirty="0"/>
              <a:t>  File "D:/python/</a:t>
            </a:r>
            <a:r>
              <a:rPr lang="zh-CN" altLang="en-US" dirty="0"/>
              <a:t>第六章 组合数据类型</a:t>
            </a:r>
            <a:r>
              <a:rPr lang="en-US" altLang="zh-CN" dirty="0"/>
              <a:t>/changeable data type.py", line 4, in &lt;module&gt;</a:t>
            </a:r>
          </a:p>
          <a:p>
            <a:r>
              <a:rPr lang="en-US" altLang="zh-CN" dirty="0"/>
              <a:t>    a={c}</a:t>
            </a:r>
          </a:p>
          <a:p>
            <a:r>
              <a:rPr lang="en-US" altLang="zh-CN" dirty="0" err="1"/>
              <a:t>TypeError</a:t>
            </a:r>
            <a:r>
              <a:rPr lang="en-US" altLang="zh-CN" dirty="0"/>
              <a:t>: </a:t>
            </a:r>
            <a:r>
              <a:rPr lang="en-US" altLang="zh-CN" dirty="0" err="1"/>
              <a:t>unhashable</a:t>
            </a:r>
            <a:r>
              <a:rPr lang="en-US" altLang="zh-CN" dirty="0"/>
              <a:t> type: 'list'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2868" y="1658620"/>
            <a:ext cx="8129372" cy="1538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28" dirty="0">
                <a:solidFill>
                  <a:srgbClr val="000000"/>
                </a:solidFill>
                <a:latin typeface="Microsoft YaHei"/>
                <a:cs typeface="Microsoft YaHei"/>
              </a:rPr>
              <a:t>由于集合是无序组合，它没有索引和位置的概念，不能分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片，集合中元素可以动态增加或删除。集合用大括号（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{}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表示，可以用赋值语句生成一个集合。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04110" y="3952131"/>
            <a:ext cx="3983352" cy="560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{425, "BIT", (10, "CS"), 424}</a:t>
            </a:r>
          </a:p>
          <a:p>
            <a:pPr marL="0" marR="0">
              <a:lnSpc>
                <a:spcPts val="1590"/>
              </a:lnSpc>
              <a:spcBef>
                <a:spcPts val="93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04110" y="4605947"/>
            <a:ext cx="5260281" cy="91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{424, 425, (10, 'CS'), 'BIT'}</a:t>
            </a:r>
          </a:p>
          <a:p>
            <a:pPr marL="0" marR="0">
              <a:lnSpc>
                <a:spcPts val="1590"/>
              </a:lnSpc>
              <a:spcBef>
                <a:spcPts val="967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&gt;&gt;&gt;T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{425, "BIT", (10, "CS"), 424, 425, "BIT"}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4110" y="5612091"/>
            <a:ext cx="3693529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{424, 425, (10, 'CS'), 'BIT'}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83047"/>
            <a:ext cx="8222640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6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由于集合元素是无序的，集合的打印效果与定义顺序可以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不一致。由于集合元素独一无二，</a:t>
            </a:r>
            <a:r>
              <a:rPr sz="2400" spc="44" dirty="0">
                <a:solidFill>
                  <a:srgbClr val="FF0000"/>
                </a:solidFill>
                <a:latin typeface="Microsoft YaHei"/>
                <a:cs typeface="Microsoft YaHei"/>
              </a:rPr>
              <a:t>使用集合类型能够过滤掉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重复元素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。set(x)函数可以用于生成集合。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87957" y="4229605"/>
            <a:ext cx="1900061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&gt;&gt;&gt;W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set(‘apple’)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87957" y="4503925"/>
            <a:ext cx="1993635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{'e',</a:t>
            </a:r>
            <a:r>
              <a:rPr sz="1200" b="1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'p', 'a',</a:t>
            </a:r>
            <a:r>
              <a:rPr sz="1200" b="1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'l'}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7957" y="4787156"/>
            <a:ext cx="463234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&gt;&gt;&gt;V 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set((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"cat", "dog", "tiger", "human"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87957" y="5110244"/>
            <a:ext cx="355851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{'cat', 'human', 'dog', 'tiger'}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D557BDB-0B66-4C23-9B6D-C588BAB2E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263" y="5488260"/>
            <a:ext cx="1952625" cy="1181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5FDC28C-791B-4E28-84A1-4783B0C8771E}"/>
              </a:ext>
            </a:extLst>
          </p:cNvPr>
          <p:cNvSpPr txBox="1"/>
          <p:nvPr/>
        </p:nvSpPr>
        <p:spPr>
          <a:xfrm>
            <a:off x="251519" y="5589240"/>
            <a:ext cx="135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空集合</a:t>
            </a:r>
            <a:r>
              <a:rPr lang="zh-CN" altLang="en-US" dirty="0"/>
              <a:t>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6792" y="1784927"/>
            <a:ext cx="325308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集合类型有10个操作符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47926" y="2567781"/>
            <a:ext cx="60960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65342" y="2567781"/>
            <a:ext cx="45750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6268" y="2827962"/>
            <a:ext cx="2036787" cy="765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309" marR="0"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 –</a:t>
            </a:r>
            <a:r>
              <a:rPr sz="1200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Calibri"/>
                <a:cs typeface="Calibri"/>
              </a:rPr>
              <a:t>S.difference(T)</a:t>
            </a:r>
          </a:p>
          <a:p>
            <a:pPr marL="0" marR="0">
              <a:lnSpc>
                <a:spcPts val="1328"/>
              </a:lnSpc>
              <a:spcBef>
                <a:spcPts val="77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S-=T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S.difference_update(T)</a:t>
            </a:r>
          </a:p>
          <a:p>
            <a:pPr marL="164541" marR="0">
              <a:lnSpc>
                <a:spcPts val="1328"/>
              </a:lnSpc>
              <a:spcBef>
                <a:spcPts val="83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 &amp; 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S.intersection(T)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95115" y="2837264"/>
            <a:ext cx="4445762" cy="156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中但不在集合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</a:t>
            </a:r>
          </a:p>
          <a:p>
            <a:pPr marL="0" marR="0">
              <a:lnSpc>
                <a:spcPts val="1328"/>
              </a:lnSpc>
              <a:spcBef>
                <a:spcPts val="88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中但不在集合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返回一个新集合，包括同时在集合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</a:t>
            </a:r>
          </a:p>
          <a:p>
            <a:pPr marL="0" marR="0">
              <a:lnSpc>
                <a:spcPts val="1328"/>
              </a:lnSpc>
              <a:spcBef>
                <a:spcPts val="83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，包括同时在集合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中的元素。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中元素，但不包括同时在其中的</a:t>
            </a:r>
          </a:p>
          <a:p>
            <a:pPr marL="0" marR="0">
              <a:lnSpc>
                <a:spcPts val="1200"/>
              </a:lnSpc>
              <a:spcBef>
                <a:spcPts val="82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元素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53972" y="3660732"/>
            <a:ext cx="2197968" cy="48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S&amp;=T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S.intersection_update(T)</a:t>
            </a:r>
          </a:p>
          <a:p>
            <a:pPr marL="9144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S^T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s.symmetric_difference(T)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4775" y="4484073"/>
            <a:ext cx="7099045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S=^T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s.symmetric_difference_update(T)</a:t>
            </a:r>
            <a:r>
              <a:rPr sz="1200" spc="6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中元素，但不包括同时在其中的元素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25777" y="4758647"/>
            <a:ext cx="1454646" cy="7558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S|T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S.union(T)</a:t>
            </a:r>
          </a:p>
          <a:p>
            <a:pPr marL="67055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S=|T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S.update(T)</a:t>
            </a:r>
          </a:p>
          <a:p>
            <a:pPr marL="0" marR="0">
              <a:lnSpc>
                <a:spcPts val="1328"/>
              </a:lnSpc>
              <a:spcBef>
                <a:spcPts val="884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S&lt;=T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S.issubset(T)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95115" y="4758647"/>
            <a:ext cx="3074162" cy="48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返回一个新集合，包括集合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，包括集合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和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595115" y="5307668"/>
            <a:ext cx="4470275" cy="48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相同或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的子集，返回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，可以用</a:t>
            </a:r>
          </a:p>
          <a:p>
            <a:pPr marL="0" marR="0">
              <a:lnSpc>
                <a:spcPts val="1328"/>
              </a:lnSpc>
              <a:spcBef>
                <a:spcPts val="88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S&lt;T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判断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是否是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的真子集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66341" y="5856562"/>
            <a:ext cx="1573038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S&gt;=T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S.issuperset(T)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95115" y="5856562"/>
            <a:ext cx="4470275" cy="48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相同或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的超集，返回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，可以用</a:t>
            </a:r>
          </a:p>
          <a:p>
            <a:pPr marL="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S&gt;T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判断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是否是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的真超集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5367" y="1889126"/>
            <a:ext cx="447660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集合类型有10个操作函数或方法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6361" y="2724967"/>
            <a:ext cx="1043939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函数或方法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3532" y="2724967"/>
            <a:ext cx="3173884" cy="5505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6908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554"/>
              </a:lnSpc>
              <a:spcBef>
                <a:spcPts val="102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如果数据项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不在集合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中，将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增加到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6570" y="3039983"/>
            <a:ext cx="763357" cy="556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S.add(x)</a:t>
            </a:r>
          </a:p>
          <a:p>
            <a:pPr marL="0" marR="0">
              <a:lnSpc>
                <a:spcPts val="1554"/>
              </a:lnSpc>
              <a:spcBef>
                <a:spcPts val="922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S.clear()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3532" y="3360912"/>
            <a:ext cx="167803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移除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中所有数据项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68094" y="3681587"/>
            <a:ext cx="76150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S.copy()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3532" y="3681587"/>
            <a:ext cx="1856338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的一个拷贝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06194" y="4002262"/>
            <a:ext cx="68375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S.pop()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13532" y="4002262"/>
            <a:ext cx="4946777" cy="1518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随机返回集合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中的一个元素，如果</a:t>
            </a:r>
            <a:r>
              <a:rPr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为空，产生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KeyError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异常</a:t>
            </a:r>
          </a:p>
          <a:p>
            <a:pPr marL="0" marR="0">
              <a:lnSpc>
                <a:spcPts val="1554"/>
              </a:lnSpc>
              <a:spcBef>
                <a:spcPts val="922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在集合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中，移除该元素；如果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不在，不报错</a:t>
            </a:r>
          </a:p>
          <a:p>
            <a:pPr marL="0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在集合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中，移除该元素；不在产生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KeyError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异常</a:t>
            </a:r>
          </a:p>
          <a:p>
            <a:pPr marL="0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没有相同元素，返回</a:t>
            </a:r>
            <a:r>
              <a:rPr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</a:p>
          <a:p>
            <a:pPr marL="0" marR="0">
              <a:lnSpc>
                <a:spcPts val="1554"/>
              </a:lnSpc>
              <a:spcBef>
                <a:spcPts val="96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返回集合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元素个数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59305" y="4323191"/>
            <a:ext cx="1177757" cy="1197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723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S.discard(x)</a:t>
            </a:r>
          </a:p>
          <a:p>
            <a:pPr marL="70104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S.remove(x)</a:t>
            </a:r>
          </a:p>
          <a:p>
            <a:pPr marL="0" marR="0">
              <a:lnSpc>
                <a:spcPts val="1554"/>
              </a:lnSpc>
              <a:spcBef>
                <a:spcPts val="9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S.isdisjoint(T)</a:t>
            </a:r>
          </a:p>
          <a:p>
            <a:pPr marL="294132" marR="0">
              <a:lnSpc>
                <a:spcPts val="1554"/>
              </a:lnSpc>
              <a:spcBef>
                <a:spcPts val="9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len(S)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864105" y="5606094"/>
            <a:ext cx="566279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 in</a:t>
            </a:r>
            <a:r>
              <a:rPr sz="1400" spc="-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13532" y="5606094"/>
            <a:ext cx="3728310" cy="55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  <a:p>
            <a:pPr marL="0" marR="0">
              <a:lnSpc>
                <a:spcPts val="1554"/>
              </a:lnSpc>
              <a:spcBef>
                <a:spcPts val="9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不是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的元素，返回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28470" y="5926744"/>
            <a:ext cx="836951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x not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集合类型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620520"/>
            <a:ext cx="8109204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集合类型主要用于三个场景：</a:t>
            </a:r>
            <a:r>
              <a:rPr sz="2400" spc="21" dirty="0">
                <a:solidFill>
                  <a:srgbClr val="FF0000"/>
                </a:solidFill>
                <a:latin typeface="Microsoft YaHei"/>
                <a:cs typeface="Microsoft YaHei"/>
              </a:rPr>
              <a:t>成员关系测试、元素去重和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删除数据项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，例子如下。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5405" y="3014273"/>
            <a:ext cx="7002170" cy="1796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in {"PYTHON",</a:t>
            </a:r>
            <a:r>
              <a:rPr sz="16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123,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"GOOD"}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spc="37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成员关系测试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True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&gt;&gt;&gt;tup</a:t>
            </a:r>
            <a:r>
              <a:rPr sz="1400" b="1" spc="-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"PYTHON",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123,</a:t>
            </a:r>
            <a:r>
              <a:rPr sz="1600" b="1" spc="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"GOOD",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123)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元素去重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&gt;&gt;&gt;set(tup)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{123, 'GOOD', 'BIT', 'PYTHON'}</a:t>
            </a:r>
          </a:p>
          <a:p>
            <a:pPr marL="0" marR="0">
              <a:lnSpc>
                <a:spcPts val="1807"/>
              </a:lnSpc>
              <a:spcBef>
                <a:spcPts val="10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&gt;&gt;&gt;newtup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tuple(set(tup)–{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'PYTHON'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})</a:t>
            </a:r>
            <a:r>
              <a:rPr sz="1600" b="1" spc="6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去重同时删除数据项</a:t>
            </a:r>
          </a:p>
          <a:p>
            <a:pPr marL="0" marR="0">
              <a:lnSpc>
                <a:spcPts val="1807"/>
              </a:lnSpc>
              <a:spcBef>
                <a:spcPts val="18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('GOOD', 123, 'BIT')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816" y="5149284"/>
            <a:ext cx="8072323" cy="1537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集合类型与其他类型最大的不同在于它不包含重复元素，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因此，当需要对一维数据进行去重或进行数据重复处理时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，一般通过集合来完成。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列表类型和操作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743" y="2556325"/>
            <a:ext cx="7841310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列表（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list</a:t>
            </a: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）是包含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个或多个对象引用的有序序列，属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于序列类型。</a:t>
            </a:r>
            <a:r>
              <a:rPr sz="2400" spc="20" dirty="0">
                <a:solidFill>
                  <a:srgbClr val="FF0000"/>
                </a:solidFill>
                <a:latin typeface="Microsoft YaHei"/>
                <a:cs typeface="Microsoft YaHei"/>
              </a:rPr>
              <a:t>与元组不同，列表的长度和内容都是可变的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，可自由对列表中数据项进行增加、删除或替换。列表没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有长度限制，元素类型可以不同，使用非常灵活。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340171"/>
            <a:ext cx="8229041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由于列表属于序列类型，所以列表也支持成员关系操作符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83" dirty="0">
                <a:solidFill>
                  <a:srgbClr val="000000"/>
                </a:solidFill>
                <a:latin typeface="Microsoft YaHei"/>
                <a:cs typeface="Microsoft YaHei"/>
              </a:rPr>
              <a:t>）、长度计算函数（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len()</a:t>
            </a:r>
            <a:r>
              <a:rPr sz="2400" spc="85" dirty="0">
                <a:solidFill>
                  <a:srgbClr val="000000"/>
                </a:solidFill>
                <a:latin typeface="Microsoft YaHei"/>
                <a:cs typeface="Microsoft YaHei"/>
              </a:rPr>
              <a:t>）、分片（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[]</a:t>
            </a:r>
            <a:r>
              <a:rPr sz="2400" spc="79" dirty="0">
                <a:solidFill>
                  <a:srgbClr val="000000"/>
                </a:solidFill>
                <a:latin typeface="Microsoft YaHei"/>
                <a:cs typeface="Microsoft YaHei"/>
              </a:rPr>
              <a:t>）。列表可以同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时使用正向递增序号和反向递减序号，可以采用标准的比较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51" dirty="0">
                <a:solidFill>
                  <a:srgbClr val="000000"/>
                </a:solidFill>
                <a:latin typeface="Microsoft YaHei"/>
                <a:cs typeface="Microsoft YaHei"/>
              </a:rPr>
              <a:t>操作符（</a:t>
            </a:r>
            <a:r>
              <a:rPr sz="2400" spc="56" dirty="0">
                <a:solidFill>
                  <a:srgbClr val="000000"/>
                </a:solidFill>
                <a:latin typeface="Microsoft YaHei"/>
                <a:cs typeface="Microsoft YaHei"/>
              </a:rPr>
              <a:t>&lt;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0" dirty="0">
                <a:solidFill>
                  <a:srgbClr val="000000"/>
                </a:solidFill>
                <a:latin typeface="Microsoft YaHei"/>
                <a:cs typeface="Microsoft YaHei"/>
              </a:rPr>
              <a:t>&lt;=</a:t>
            </a:r>
            <a:r>
              <a:rPr sz="2400" spc="5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==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!=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&gt;=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&gt;</a:t>
            </a:r>
            <a:r>
              <a:rPr sz="2400" spc="52" dirty="0">
                <a:solidFill>
                  <a:srgbClr val="000000"/>
                </a:solidFill>
                <a:latin typeface="Microsoft YaHei"/>
                <a:cs typeface="Microsoft YaHei"/>
              </a:rPr>
              <a:t>）进行比较，列表的比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较实际上是单个数据项的逐个比较。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814" y="9681"/>
            <a:ext cx="3706977" cy="1311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列表类型的</a:t>
            </a:r>
            <a:endParaRPr lang="en-US" sz="4000" dirty="0">
              <a:solidFill>
                <a:srgbClr val="262626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概念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240" y="2007930"/>
            <a:ext cx="8177477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列表用中括号（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[]</a:t>
            </a: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）表示，也可以通过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list()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函数将元组或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字符串转化成列表。直接使用list()函数会返回一个空列表。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9081" y="3015633"/>
            <a:ext cx="4089874" cy="56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 =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[425, "BIT",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[10, "CS"], 425]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9081" y="3668940"/>
            <a:ext cx="3694551" cy="593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[425, 'BIT', [10, 'CS'],</a:t>
            </a:r>
            <a:r>
              <a:rPr sz="1600" spc="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425]</a:t>
            </a:r>
          </a:p>
          <a:p>
            <a:pPr marL="0" marR="0">
              <a:lnSpc>
                <a:spcPts val="1590"/>
              </a:lnSpc>
              <a:spcBef>
                <a:spcPts val="97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&gt;&gt;&gt;ls[2][-1][0]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9081" y="4341894"/>
            <a:ext cx="47340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'C'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9081" y="4661934"/>
            <a:ext cx="419655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&gt;&gt;&gt;list((425,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[10, "CS"], 425))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9081" y="4995201"/>
            <a:ext cx="3694551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[425, 'BIT', [10, 'CS'],</a:t>
            </a:r>
            <a:r>
              <a:rPr sz="1600" spc="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425]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9081" y="5344207"/>
            <a:ext cx="3117564" cy="245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中国是一个伟大的国家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9081" y="5677361"/>
            <a:ext cx="7073766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是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一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个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伟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大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家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']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9081" y="6033813"/>
            <a:ext cx="111541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&gt;&gt;&gt;list()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9081" y="6367081"/>
            <a:ext cx="395955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[]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0E5396F-7FCF-4DEA-BFE4-3FE49EF3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643" y="-4291"/>
            <a:ext cx="586740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6740" y="1597094"/>
            <a:ext cx="8009890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与整数和字符串不同，列表要处理一组数据，因此，列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表必须通过</a:t>
            </a:r>
            <a:r>
              <a:rPr sz="2400" spc="75" dirty="0">
                <a:solidFill>
                  <a:srgbClr val="FF0000"/>
                </a:solidFill>
                <a:latin typeface="Microsoft YaHei"/>
                <a:cs typeface="Microsoft YaHei"/>
              </a:rPr>
              <a:t>显式的数据赋值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才能生成，简单将一个列表赋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值给另一个列表不会生成新的列表对象。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880" y="3601394"/>
            <a:ext cx="5779611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&gt;&gt;&gt;ls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[425,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"BIT",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1024]</a:t>
            </a:r>
            <a:r>
              <a:rPr sz="1600" b="1" spc="98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用数据赋值产生列表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3880" y="3972597"/>
            <a:ext cx="1617115" cy="997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&gt;&gt;&gt;lt</a:t>
            </a:r>
            <a:r>
              <a:rPr sz="1600" b="1" spc="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</a:p>
          <a:p>
            <a:pPr marL="0" marR="0">
              <a:lnSpc>
                <a:spcPts val="1810"/>
              </a:lnSpc>
              <a:spcBef>
                <a:spcPts val="1058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&gt;&gt;&gt;ls[0] = 0</a:t>
            </a:r>
          </a:p>
          <a:p>
            <a:pPr marL="0" marR="0">
              <a:lnSpc>
                <a:spcPts val="1807"/>
              </a:lnSpc>
              <a:spcBef>
                <a:spcPts val="1073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&gt;&gt;&gt;lt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42870" y="3967154"/>
            <a:ext cx="46843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#lt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是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ls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所对应数据的引用，</a:t>
            </a:r>
            <a:r>
              <a:rPr sz="1600" b="1" dirty="0">
                <a:solidFill>
                  <a:srgbClr val="FF0000"/>
                </a:solidFill>
                <a:latin typeface="Courier New"/>
                <a:cs typeface="Courier New"/>
              </a:rPr>
              <a:t>lt</a:t>
            </a:r>
            <a:r>
              <a:rPr sz="1600" spc="11" dirty="0">
                <a:solidFill>
                  <a:srgbClr val="FF0000"/>
                </a:solidFill>
                <a:latin typeface="SimSun"/>
                <a:cs typeface="SimSun"/>
              </a:rPr>
              <a:t>并不包含真实数据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3880" y="5082090"/>
            <a:ext cx="2338092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[0,</a:t>
            </a:r>
            <a:r>
              <a:rPr sz="18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'BIT',</a:t>
            </a:r>
            <a:r>
              <a:rPr sz="1800" spc="-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1024]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59A1C26-A2B8-4846-9341-E36601473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52" y="5033967"/>
            <a:ext cx="3168352" cy="155335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79777" y="2064480"/>
            <a:ext cx="91440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函数或方法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3221" y="2064480"/>
            <a:ext cx="45750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51405" y="2342853"/>
            <a:ext cx="768527" cy="489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532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ls[i]</a:t>
            </a:r>
            <a:r>
              <a:rPr sz="1200" spc="-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= x</a:t>
            </a:r>
          </a:p>
          <a:p>
            <a:pPr marL="0" marR="0">
              <a:lnSpc>
                <a:spcPts val="1328"/>
              </a:lnSpc>
              <a:spcBef>
                <a:spcPts val="9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j] = lt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89325" y="2342853"/>
            <a:ext cx="1744979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替换列表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数据项为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9325" y="2625936"/>
            <a:ext cx="3821048" cy="134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替换列表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项数据（不含第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项，下同）</a:t>
            </a:r>
          </a:p>
          <a:p>
            <a:pPr marL="0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替换列表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为步的数据</a:t>
            </a:r>
          </a:p>
          <a:p>
            <a:pPr marL="0" marR="0">
              <a:lnSpc>
                <a:spcPts val="1328"/>
              </a:lnSpc>
              <a:spcBef>
                <a:spcPts val="9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项数据，等价于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j]=[]</a:t>
            </a:r>
          </a:p>
          <a:p>
            <a:pPr marL="0" marR="0">
              <a:lnSpc>
                <a:spcPts val="1328"/>
              </a:lnSpc>
              <a:spcBef>
                <a:spcPts val="9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到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以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为步的数据</a:t>
            </a:r>
          </a:p>
          <a:p>
            <a:pPr marL="0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元素增加到列表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73682" y="2909400"/>
            <a:ext cx="925347" cy="49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j: k] = lt</a:t>
            </a:r>
          </a:p>
          <a:p>
            <a:pPr marL="88391" marR="0">
              <a:lnSpc>
                <a:spcPts val="1328"/>
              </a:lnSpc>
              <a:spcBef>
                <a:spcPts val="95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del</a:t>
            </a:r>
            <a:r>
              <a:rPr sz="12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j]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00886" y="3475820"/>
            <a:ext cx="1472337" cy="773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3463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del</a:t>
            </a:r>
            <a:r>
              <a:rPr sz="12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ls[i:</a:t>
            </a:r>
            <a:r>
              <a:rPr sz="12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j: k]</a:t>
            </a:r>
          </a:p>
          <a:p>
            <a:pPr marL="0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 += lt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或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ls.extend(lt)</a:t>
            </a:r>
          </a:p>
          <a:p>
            <a:pPr marL="451103" marR="0">
              <a:lnSpc>
                <a:spcPts val="1328"/>
              </a:lnSpc>
              <a:spcBef>
                <a:spcPts val="9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 *= 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89325" y="4042367"/>
            <a:ext cx="2007489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更新列表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，其元素重复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1301" y="4325577"/>
            <a:ext cx="910133" cy="49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ls.append(x)</a:t>
            </a:r>
          </a:p>
          <a:p>
            <a:pPr marL="111252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ls.clear()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89325" y="4325577"/>
            <a:ext cx="2007489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最后增加一个元素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89325" y="4609041"/>
            <a:ext cx="1321308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94077" y="4892124"/>
            <a:ext cx="689892" cy="206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ls.copy()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89325" y="4892124"/>
            <a:ext cx="2540889" cy="490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生成一个新列表，复制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中所有元素</a:t>
            </a:r>
          </a:p>
          <a:p>
            <a:pPr marL="0" marR="0">
              <a:lnSpc>
                <a:spcPts val="1331"/>
              </a:lnSpc>
              <a:spcBef>
                <a:spcPts val="9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在列表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位置增加元素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72157" y="5175062"/>
            <a:ext cx="929821" cy="490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1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ls.insert(i,</a:t>
            </a:r>
            <a:r>
              <a:rPr sz="1200" spc="10" dirty="0">
                <a:solidFill>
                  <a:srgbClr val="000000"/>
                </a:solidFill>
                <a:latin typeface="Times New Roman"/>
                <a:cs typeface="Times New Roman"/>
              </a:rPr>
              <a:t> x)</a:t>
            </a:r>
          </a:p>
          <a:p>
            <a:pPr marL="132588" marR="0">
              <a:lnSpc>
                <a:spcPts val="1328"/>
              </a:lnSpc>
              <a:spcBef>
                <a:spcPts val="9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ls.pop(i)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89325" y="5458798"/>
            <a:ext cx="2735579" cy="77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中第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项元素取出并删除该元素</a:t>
            </a:r>
          </a:p>
          <a:p>
            <a:pPr marL="0" marR="0">
              <a:lnSpc>
                <a:spcPts val="1328"/>
              </a:lnSpc>
              <a:spcBef>
                <a:spcPts val="9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将列表中出现的第一个元素</a:t>
            </a:r>
            <a:r>
              <a:rPr sz="1200" spc="11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删除</a:t>
            </a:r>
          </a:p>
          <a:p>
            <a:pPr marL="0" marR="0">
              <a:lnSpc>
                <a:spcPts val="1328"/>
              </a:lnSpc>
              <a:spcBef>
                <a:spcPts val="90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列表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中元素反转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73682" y="5741957"/>
            <a:ext cx="926898" cy="490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ls.remove(x)</a:t>
            </a:r>
          </a:p>
          <a:p>
            <a:pPr marL="9144" marR="0">
              <a:lnSpc>
                <a:spcPts val="1328"/>
              </a:lnSpc>
              <a:spcBef>
                <a:spcPts val="953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ls.reverse(x)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列表类型的操作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2467" y="1935422"/>
            <a:ext cx="801717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当使用一个列表改变另一个列表值时，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不要求两个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7667" y="2484062"/>
            <a:ext cx="7773593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列表长度一样，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但遵循“多增少减”的原则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，例子如下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4757" y="3603789"/>
            <a:ext cx="509444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vlist[1:3]=["new_bit", "new_computer", 123]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757" y="3971073"/>
            <a:ext cx="1128713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4757" y="4323606"/>
            <a:ext cx="5260560" cy="601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[0, 'new_bit',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'new_computer', 123,</a:t>
            </a:r>
            <a:r>
              <a:rPr sz="1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'python', 4]</a:t>
            </a:r>
          </a:p>
          <a:p>
            <a:pPr marL="0" marR="0">
              <a:lnSpc>
                <a:spcPts val="1807"/>
              </a:lnSpc>
              <a:spcBef>
                <a:spcPts val="103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&gt;&gt;&gt;vlist[1:3]=["fewer"]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4757" y="5022887"/>
            <a:ext cx="1128713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&gt;&gt;&gt;vlist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4757" y="5375420"/>
            <a:ext cx="3344638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[0, 'fewer', 123, 'python',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4]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733" y="4604570"/>
            <a:ext cx="3345527" cy="229793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字典类型的计算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字典类型的基本概念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8251849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75" dirty="0">
                <a:solidFill>
                  <a:srgbClr val="000000"/>
                </a:solidFill>
                <a:latin typeface="Microsoft YaHei"/>
                <a:cs typeface="Microsoft YaHei"/>
              </a:rPr>
              <a:t>通过任意键信息查找一组数据中值信息的过程叫</a:t>
            </a:r>
            <a:r>
              <a:rPr sz="2400" spc="175" dirty="0">
                <a:solidFill>
                  <a:srgbClr val="FF0000"/>
                </a:solidFill>
                <a:latin typeface="Microsoft YaHei"/>
                <a:cs typeface="Microsoft YaHei"/>
              </a:rPr>
              <a:t>映射</a:t>
            </a:r>
            <a:r>
              <a:rPr sz="2400" spc="175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17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语言中通过</a:t>
            </a:r>
            <a:r>
              <a:rPr sz="2400" spc="95" dirty="0">
                <a:solidFill>
                  <a:srgbClr val="FF0000"/>
                </a:solidFill>
                <a:latin typeface="Microsoft YaHei"/>
                <a:cs typeface="Microsoft YaHei"/>
              </a:rPr>
              <a:t>字典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实现映射。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语言中的字典可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以通过大括号({})建立，建立模式如下：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9665" y="3986472"/>
            <a:ext cx="7773568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{&lt;键1&gt;:&lt;值1&gt;,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&lt;键2&gt;:&lt;值2&gt;,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… , &lt;键n&gt;:&lt;值n&gt;}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其中，键和值通过冒号连接，不同键值对通过逗号隔开。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字典类型的基本概念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0605" y="2299415"/>
            <a:ext cx="7623021" cy="81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Dcountry=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r>
              <a:rPr sz="1800" spc="-1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800" spc="-49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800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2000" b="1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marR="0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Dcountry)</a:t>
            </a:r>
          </a:p>
          <a:p>
            <a:pPr marL="0" marR="0">
              <a:lnSpc>
                <a:spcPts val="1807"/>
              </a:lnSpc>
              <a:spcBef>
                <a:spcPts val="91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600" spc="12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600" spc="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4568" y="4069403"/>
            <a:ext cx="7872958" cy="1372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字典打印出来的顺序与创建之初的顺序不同，这不是错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误。字典是集合类型的延续，各个元素并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没有顺序之分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且不能重复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277" y="4951599"/>
            <a:ext cx="4679003" cy="191556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字典类型的基本概念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0215" y="1868747"/>
            <a:ext cx="8406689" cy="93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28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字典最主要的用法是查找与特定键相对应的值，这通过索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引符号来实现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字符索引 </a:t>
            </a:r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vs 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位置索引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0635" y="2966521"/>
            <a:ext cx="2343880" cy="520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Dcountry["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"]</a:t>
            </a:r>
          </a:p>
          <a:p>
            <a:pPr marL="0" marR="0">
              <a:lnSpc>
                <a:spcPts val="1590"/>
              </a:lnSpc>
              <a:spcBef>
                <a:spcPts val="31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468" y="3853503"/>
            <a:ext cx="838296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一般来说，字典中键值对的访问模式如下，采用中括号格式：</a:t>
            </a:r>
          </a:p>
          <a:p>
            <a:pPr marL="181355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&lt;值&gt; = &lt;字典变量&gt;[&lt;键&gt;]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468" y="4950461"/>
            <a:ext cx="839022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字典中对某个键值的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修改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可以通过中括号的访问和赋值实现：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04110" y="5749904"/>
            <a:ext cx="5197797" cy="773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Dcountry["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"]='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大北京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print(Dcountry)</a:t>
            </a:r>
          </a:p>
          <a:p>
            <a:pPr marL="0" marR="0">
              <a:lnSpc>
                <a:spcPts val="1590"/>
              </a:lnSpc>
              <a:spcBef>
                <a:spcPts val="3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大北京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344" y="1821122"/>
            <a:ext cx="411480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通过中括号可以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增加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新的元素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3556" y="2690045"/>
            <a:ext cx="6807425" cy="7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Dcountry=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spc="5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spc="37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":"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 marL="0" marR="0">
              <a:lnSpc>
                <a:spcPts val="1807"/>
              </a:lnSpc>
              <a:spcBef>
                <a:spcPts val="15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&gt;&gt;&gt;Dcountry[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英国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]=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伦敦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  <a:p>
            <a:pPr marL="0" marR="0">
              <a:lnSpc>
                <a:spcPts val="1810"/>
              </a:lnSpc>
              <a:spcBef>
                <a:spcPts val="132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print(Dcountry)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3556" y="3490904"/>
            <a:ext cx="6581919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巴黎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华盛顿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',</a:t>
            </a:r>
            <a:r>
              <a:rPr sz="1400" spc="-2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英国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':</a:t>
            </a:r>
            <a:r>
              <a:rPr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伦敦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3193" y="4040378"/>
            <a:ext cx="7673034" cy="787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直接使用大括号（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{}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spc="11" dirty="0" err="1">
                <a:solidFill>
                  <a:srgbClr val="000000"/>
                </a:solidFill>
                <a:latin typeface="Microsoft YaHei"/>
                <a:cs typeface="Microsoft YaHei"/>
              </a:rPr>
              <a:t>可以创建一个空的字典</a:t>
            </a:r>
            <a:r>
              <a:rPr lang="zh-CN" altLang="en-US"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spc="11" dirty="0">
                <a:solidFill>
                  <a:srgbClr val="FF0000"/>
                </a:solidFill>
                <a:latin typeface="Microsoft YaHei"/>
                <a:cs typeface="Microsoft YaHei"/>
              </a:rPr>
              <a:t>并不是集合</a:t>
            </a:r>
            <a:r>
              <a:rPr lang="zh-CN" altLang="en-US"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spc="11" dirty="0" err="1">
                <a:solidFill>
                  <a:srgbClr val="000000"/>
                </a:solidFill>
                <a:latin typeface="Microsoft YaHei"/>
                <a:cs typeface="Microsoft YaHei"/>
              </a:rPr>
              <a:t>并通过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中括号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（[]）向其增加元素。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3556" y="5303706"/>
            <a:ext cx="1112796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Dp=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{}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3556" y="5600083"/>
            <a:ext cx="2078439" cy="749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&gt;&gt;&gt;Dp['2^10']=1024</a:t>
            </a:r>
          </a:p>
          <a:p>
            <a:pPr marL="0" marR="0">
              <a:lnSpc>
                <a:spcPts val="1807"/>
              </a:lnSpc>
              <a:spcBef>
                <a:spcPts val="25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print(Dp)</a:t>
            </a:r>
          </a:p>
          <a:p>
            <a:pPr marL="0" marR="0">
              <a:lnSpc>
                <a:spcPts val="1590"/>
              </a:lnSpc>
              <a:spcBef>
                <a:spcPts val="3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{'2^10': 1024}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26" y="5314333"/>
            <a:ext cx="2441717" cy="9575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82CD1B5-397C-4D6B-B465-3703EFC44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451" y="5301207"/>
            <a:ext cx="2863450" cy="970661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70760" y="2508940"/>
            <a:ext cx="1043939" cy="459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函数和方法</a:t>
            </a:r>
          </a:p>
          <a:p>
            <a:pPr marL="54863" marR="0">
              <a:lnSpc>
                <a:spcPts val="1554"/>
              </a:lnSpc>
              <a:spcBef>
                <a:spcPts val="31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&lt;d&gt;.keys()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8047" y="2508940"/>
            <a:ext cx="1578864" cy="447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4923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  <a:p>
            <a:pPr marL="0" marR="0">
              <a:lnSpc>
                <a:spcPts val="1403"/>
              </a:lnSpc>
              <a:spcBef>
                <a:spcPts val="4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返回所有的键信息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60092" y="2964146"/>
            <a:ext cx="1063148" cy="2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&lt;d&gt;.values()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18047" y="2971339"/>
            <a:ext cx="1581302" cy="21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返回所有的值信息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96667" y="3196066"/>
            <a:ext cx="992310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&lt;d&gt;.items()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18047" y="3203249"/>
            <a:ext cx="1578864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返回所有的键值对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57172" y="3427333"/>
            <a:ext cx="2072780" cy="46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383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&lt;d&gt;.get(&lt;key&gt;,&lt;default&gt;)</a:t>
            </a:r>
          </a:p>
          <a:p>
            <a:pPr marL="0" marR="0">
              <a:lnSpc>
                <a:spcPts val="1554"/>
              </a:lnSpc>
              <a:spcBef>
                <a:spcPts val="2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&lt;d&gt;.pop(&lt;key&gt;,&lt;default&gt;)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17947" y="3434516"/>
            <a:ext cx="31836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键存在则返回相应值，否则返回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默认值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62855" y="3679626"/>
            <a:ext cx="3896867" cy="4160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键存在则返回相应值，同时删除键值对，否则返</a:t>
            </a:r>
          </a:p>
          <a:p>
            <a:pPr marL="1511808" marR="0">
              <a:lnSpc>
                <a:spcPts val="1403"/>
              </a:lnSpc>
              <a:spcBef>
                <a:spcPts val="16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回默认值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97607" y="4121769"/>
            <a:ext cx="119038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&lt;d&gt;.popitem()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01641" y="4127865"/>
            <a:ext cx="401208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随机从字典中取出一个键值对，以元组</a:t>
            </a:r>
            <a:r>
              <a:rPr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(key,</a:t>
            </a:r>
            <a:r>
              <a:rPr sz="14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value)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45708" y="4342312"/>
            <a:ext cx="865632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形式返回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151888" y="4584430"/>
            <a:ext cx="1280734" cy="698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067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&lt;d&gt;.clear()</a:t>
            </a:r>
          </a:p>
          <a:p>
            <a:pPr marL="0" marR="0">
              <a:lnSpc>
                <a:spcPts val="1554"/>
              </a:lnSpc>
              <a:spcBef>
                <a:spcPts val="21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del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&lt;d&gt;[&lt;key&gt;]</a:t>
            </a:r>
          </a:p>
          <a:p>
            <a:pPr marL="76200" marR="0">
              <a:lnSpc>
                <a:spcPts val="1554"/>
              </a:lnSpc>
              <a:spcBef>
                <a:spcPts val="2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&lt;key&gt; in &lt;d&gt;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51347" y="4591613"/>
            <a:ext cx="2113788" cy="448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删除所有的键值对</a:t>
            </a:r>
          </a:p>
          <a:p>
            <a:pPr marL="0" marR="0">
              <a:lnSpc>
                <a:spcPts val="1403"/>
              </a:lnSpc>
              <a:spcBef>
                <a:spcPts val="42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删除字典中某一个键值对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32603" y="5048869"/>
            <a:ext cx="3361682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如果键在字典中返回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True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，否则返回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667" y="1935422"/>
            <a:ext cx="7817536" cy="2086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与其他组合类型一样，字典可以通过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for…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语句对其元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素进行遍历，基本语法结构如下：</a:t>
            </a:r>
          </a:p>
          <a:p>
            <a:pPr marL="26670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11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&lt;变量名&gt;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0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&lt;字典名&gt;:</a:t>
            </a:r>
          </a:p>
          <a:p>
            <a:pPr marL="990904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语句块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7282" y="4788913"/>
            <a:ext cx="2269632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&gt;&gt;&gt;for key in</a:t>
            </a:r>
            <a:r>
              <a:rPr sz="1200" b="1" spc="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Dcountry: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67738" y="5042278"/>
            <a:ext cx="1070929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print(key)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67282" y="5270428"/>
            <a:ext cx="509016" cy="725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中国</a:t>
            </a:r>
          </a:p>
          <a:p>
            <a:pPr marL="0" marR="0">
              <a:lnSpc>
                <a:spcPts val="1403"/>
              </a:lnSpc>
              <a:spcBef>
                <a:spcPts val="59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美国</a:t>
            </a:r>
          </a:p>
          <a:p>
            <a:pPr marL="0" marR="0">
              <a:lnSpc>
                <a:spcPts val="1403"/>
              </a:lnSpc>
              <a:spcBef>
                <a:spcPts val="599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法国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CC2DAAA-8CBE-49B6-83E7-9CC09E407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35" y="4785952"/>
            <a:ext cx="31146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字典类型的操作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268924"/>
            <a:ext cx="8344814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字典是实现键值对映射的数据结构，请理解如下基本原则：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07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字典是一个键值对的集合，该集合以键为索引，一个键信息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只对应一个值信息；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4" y="3915098"/>
            <a:ext cx="8189691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07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字典中元素以键信息为索引访问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；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（数字索引</a:t>
            </a:r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位置索引）</a:t>
            </a:r>
            <a:endParaRPr lang="en-US" altLang="zh-CN" sz="2400" dirty="0">
              <a:solidFill>
                <a:srgbClr val="FF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     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（字符索引</a:t>
            </a:r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单词索引）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964" y="5086361"/>
            <a:ext cx="8343900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07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字典长度是可变的，可以通过对键信息赋值实现增加或修改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键值对。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9114" y="2334433"/>
            <a:ext cx="7617307" cy="107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4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6000" spc="2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Microsoft YaHei"/>
                <a:cs typeface="Microsoft YaHei"/>
              </a:rPr>
              <a:t>程序的控制结构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程序的流程图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913" y="2014283"/>
            <a:ext cx="9305236" cy="694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程序流程图用一系列图形、流程线和文字说明描述程序的基本操作和</a:t>
            </a:r>
          </a:p>
          <a:p>
            <a:pPr marL="0" marR="0">
              <a:lnSpc>
                <a:spcPts val="2400"/>
              </a:lnSpc>
              <a:spcBef>
                <a:spcPts val="37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控制流程，它是程序分析和过程描述的最基本方式。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913" y="3084238"/>
            <a:ext cx="3781704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流程图的基本元素包括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种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程序的流程图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79345" y="5511934"/>
            <a:ext cx="4688509" cy="2915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程序流程图示例：由连接点</a:t>
            </a: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800" spc="11" dirty="0">
                <a:solidFill>
                  <a:srgbClr val="000000"/>
                </a:solidFill>
                <a:latin typeface="SimSun"/>
                <a:cs typeface="SimSun"/>
              </a:rPr>
              <a:t>连接的一个程序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程序的基本结构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033847"/>
            <a:ext cx="781750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顺序结构是程序的基础，但单一的顺序结构不可能解决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6365" y="2582487"/>
            <a:ext cx="167761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所有问题。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3465" y="3131508"/>
            <a:ext cx="415625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程序由三种基本结构组成：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25345" y="3680148"/>
            <a:ext cx="171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顺序结构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25345" y="4228788"/>
            <a:ext cx="171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分支结构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25345" y="4777682"/>
            <a:ext cx="171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循环结构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3465" y="5326347"/>
            <a:ext cx="7817508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这些基本结构都有一个入口和一个出口。任何程序都由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这三种基本结构组合而成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程序的分支结构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6765" y="1666240"/>
            <a:ext cx="8564829" cy="38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Python语言共有6个关系操作符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08496" y="3805483"/>
            <a:ext cx="1045158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操作符含义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55622" y="3903400"/>
            <a:ext cx="687323" cy="537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操作符</a:t>
            </a:r>
          </a:p>
          <a:p>
            <a:pPr marL="198120" marR="0">
              <a:lnSpc>
                <a:spcPts val="1568"/>
              </a:lnSpc>
              <a:spcBef>
                <a:spcPts val="912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2653" y="3903400"/>
            <a:ext cx="865632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数学符号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49546" y="4203953"/>
            <a:ext cx="277692" cy="876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</a:p>
          <a:p>
            <a:pPr marL="27432" marR="0">
              <a:lnSpc>
                <a:spcPts val="1568"/>
              </a:lnSpc>
              <a:spcBef>
                <a:spcPts val="948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≤</a:t>
            </a:r>
          </a:p>
          <a:p>
            <a:pPr marL="27432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35370" y="4213661"/>
            <a:ext cx="865632" cy="1175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8308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小于</a:t>
            </a:r>
          </a:p>
          <a:p>
            <a:pPr marL="0" marR="0">
              <a:lnSpc>
                <a:spcPts val="1403"/>
              </a:lnSpc>
              <a:spcBef>
                <a:spcPts val="11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小于等于</a:t>
            </a:r>
          </a:p>
          <a:p>
            <a:pPr marL="0" marR="0">
              <a:lnSpc>
                <a:spcPts val="1403"/>
              </a:lnSpc>
              <a:spcBef>
                <a:spcPts val="11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大于等于</a:t>
            </a:r>
          </a:p>
          <a:p>
            <a:pPr marL="178308" marR="0">
              <a:lnSpc>
                <a:spcPts val="1403"/>
              </a:lnSpc>
              <a:spcBef>
                <a:spcPts val="116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大于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26310" y="4523612"/>
            <a:ext cx="360658" cy="87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&lt;=</a:t>
            </a:r>
          </a:p>
          <a:p>
            <a:pPr marL="0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&gt;=</a:t>
            </a:r>
          </a:p>
          <a:p>
            <a:pPr marL="27432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49546" y="5163184"/>
            <a:ext cx="280913" cy="503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&gt;</a:t>
            </a:r>
          </a:p>
          <a:p>
            <a:pPr marL="24384" marR="0">
              <a:lnSpc>
                <a:spcPts val="1568"/>
              </a:lnSpc>
              <a:spcBef>
                <a:spcPts val="531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26310" y="5483173"/>
            <a:ext cx="360658" cy="557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==</a:t>
            </a:r>
          </a:p>
          <a:p>
            <a:pPr marL="28955" marR="0">
              <a:lnSpc>
                <a:spcPts val="1568"/>
              </a:lnSpc>
              <a:spcBef>
                <a:spcPts val="949"/>
              </a:spcBef>
              <a:spcAft>
                <a:spcPts val="0"/>
              </a:spcAft>
            </a:pPr>
            <a:r>
              <a:rPr sz="1400" spc="-28" dirty="0">
                <a:solidFill>
                  <a:srgbClr val="000000"/>
                </a:solidFill>
                <a:latin typeface="Arial"/>
                <a:cs typeface="Arial"/>
              </a:rPr>
              <a:t>!</a:t>
            </a:r>
            <a:r>
              <a:rPr sz="1400" i="1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13678" y="5492881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等于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223761" y="5812617"/>
            <a:ext cx="687323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不等于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7068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2868" y="2047055"/>
            <a:ext cx="7772400" cy="79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简洁的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二分支结构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适合通过判断返回特定值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语法格式如下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3693229"/>
            <a:ext cx="560027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&lt;表达式1&gt;</a:t>
            </a:r>
            <a:r>
              <a:rPr sz="2400" spc="7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</a:t>
            </a:r>
            <a:r>
              <a:rPr sz="2400" spc="7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 else &lt;表达式2&gt;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5828" y="5142412"/>
            <a:ext cx="4011871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800" baseline="-1356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800" spc="765" baseline="-135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800" b="1" baseline="-1356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800" b="1" spc="-348" baseline="-135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baseline="-1356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800" b="1" spc="-348" baseline="-135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baseline="-1356" dirty="0">
                <a:solidFill>
                  <a:srgbClr val="000000"/>
                </a:solidFill>
                <a:latin typeface="Courier New"/>
                <a:cs typeface="Courier New"/>
              </a:rPr>
              <a:t>eval(input(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PM2.5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数值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25828" y="5396920"/>
            <a:ext cx="6163706" cy="244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200" spc="112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空气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{}</a:t>
            </a:r>
            <a:r>
              <a:rPr sz="1400" spc="17" dirty="0">
                <a:solidFill>
                  <a:srgbClr val="000000"/>
                </a:solidFill>
                <a:latin typeface="SimSun"/>
                <a:cs typeface="SimSun"/>
              </a:rPr>
              <a:t>污染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!".format("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存在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b="1" spc="-4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if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&gt;=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75</a:t>
            </a:r>
            <a:r>
              <a:rPr sz="12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else</a:t>
            </a:r>
            <a:r>
              <a:rPr sz="12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spc="15" dirty="0">
                <a:solidFill>
                  <a:srgbClr val="000000"/>
                </a:solidFill>
                <a:latin typeface="SimSun"/>
                <a:cs typeface="SimSun"/>
              </a:rPr>
              <a:t>没有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200" b="1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3578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多分支结构: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7" dirty="0">
                <a:solidFill>
                  <a:srgbClr val="262626"/>
                </a:solidFill>
                <a:latin typeface="Microsoft YaHei"/>
                <a:cs typeface="Microsoft YaHei"/>
              </a:rPr>
              <a:t>if-elif-else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905255"/>
            <a:ext cx="7526608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Python的</a:t>
            </a:r>
            <a:r>
              <a:rPr sz="2400" spc="-23" dirty="0">
                <a:solidFill>
                  <a:srgbClr val="000000"/>
                </a:solidFill>
                <a:latin typeface="Microsoft YaHei"/>
                <a:cs typeface="Microsoft YaHei"/>
              </a:rPr>
              <a:t>if-elif-else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描述多分支结构，语句格式如下：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58645" y="2454471"/>
            <a:ext cx="2058298" cy="263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 &lt;条件1&gt;:</a:t>
            </a:r>
          </a:p>
          <a:p>
            <a:pPr marL="361187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elif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&lt;条件2&gt;:</a:t>
            </a:r>
          </a:p>
          <a:p>
            <a:pPr marL="361187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  <a:p>
            <a:pPr marL="0" marR="0">
              <a:lnSpc>
                <a:spcPts val="3167"/>
              </a:lnSpc>
              <a:spcBef>
                <a:spcPts val="11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...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58645" y="5198306"/>
            <a:ext cx="79384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1273" y="5746971"/>
            <a:ext cx="176673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&lt;语句块N&gt;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3578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多分支结构: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7" dirty="0">
                <a:solidFill>
                  <a:srgbClr val="262626"/>
                </a:solidFill>
                <a:latin typeface="Microsoft YaHei"/>
                <a:cs typeface="Microsoft YaHei"/>
              </a:rPr>
              <a:t>if-elif-else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67" y="2068517"/>
            <a:ext cx="8423754" cy="114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16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多分支结构是二分支结构的扩展，这种形式通常用</a:t>
            </a:r>
          </a:p>
          <a:p>
            <a:pPr marL="45720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于设置同一个判断条件的多条执行路径。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0967" y="3348931"/>
            <a:ext cx="8577553" cy="242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800" spc="16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Python依次评估寻找第一个结果为</a:t>
            </a:r>
            <a:r>
              <a:rPr sz="2800" spc="-66" dirty="0">
                <a:solidFill>
                  <a:srgbClr val="000000"/>
                </a:solidFill>
                <a:latin typeface="Microsoft YaHei"/>
                <a:cs typeface="Microsoft YaHei"/>
              </a:rPr>
              <a:t>True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的条件，执</a:t>
            </a:r>
          </a:p>
          <a:p>
            <a:pPr marL="45720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行该条件下的语句块，同时结束后跳过整个</a:t>
            </a:r>
            <a:r>
              <a:rPr sz="2800" spc="-34" dirty="0">
                <a:solidFill>
                  <a:srgbClr val="000000"/>
                </a:solidFill>
                <a:latin typeface="Microsoft YaHei"/>
                <a:cs typeface="Microsoft YaHei"/>
              </a:rPr>
              <a:t>if-elif-</a:t>
            </a:r>
          </a:p>
          <a:p>
            <a:pPr marL="45720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else结构，执行后面的语句。如果没有任何条件成</a:t>
            </a:r>
          </a:p>
          <a:p>
            <a:pPr marL="457200" marR="0">
              <a:lnSpc>
                <a:spcPts val="3690"/>
              </a:lnSpc>
              <a:spcBef>
                <a:spcPts val="13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立，else下面的语句块被执行。else子句是可选的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3578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多分支结构: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37" dirty="0">
                <a:solidFill>
                  <a:srgbClr val="262626"/>
                </a:solidFill>
                <a:latin typeface="Microsoft YaHei"/>
                <a:cs typeface="Microsoft YaHei"/>
              </a:rPr>
              <a:t>if-elif-else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64124"/>
            <a:ext cx="765512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微实例4.4通过多条独立的if语句对同一个变量PM进行判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512764"/>
            <a:ext cx="71628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断，这种情况更适合多分支结构，改造后的代码如下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3669" y="3804086"/>
            <a:ext cx="4807426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eval(input("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PM2.5</a:t>
            </a:r>
            <a:r>
              <a:rPr sz="1600" spc="14" dirty="0">
                <a:solidFill>
                  <a:srgbClr val="000000"/>
                </a:solidFill>
                <a:latin typeface="SimSun"/>
                <a:cs typeface="SimSun"/>
              </a:rPr>
              <a:t>数值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b="1" spc="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"))</a:t>
            </a:r>
          </a:p>
          <a:p>
            <a:pPr marL="0" marR="0">
              <a:lnSpc>
                <a:spcPts val="1807"/>
              </a:lnSpc>
              <a:spcBef>
                <a:spcPts val="172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if 0&lt;=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PM &lt;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35: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23669" y="4311832"/>
            <a:ext cx="4440142" cy="526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453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空气优质，快去户外运动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  <a:p>
            <a:pPr marL="0" marR="0">
              <a:lnSpc>
                <a:spcPts val="1807"/>
              </a:lnSpc>
              <a:spcBef>
                <a:spcPts val="17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elif 35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&lt;= 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PM</a:t>
            </a:r>
            <a:r>
              <a:rPr sz="16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&lt;75: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23669" y="4822989"/>
            <a:ext cx="27403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43963" y="4820848"/>
            <a:ext cx="3702145" cy="273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空气良好，适度户外活动！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23669" y="5077497"/>
            <a:ext cx="3419063" cy="523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  <a:p>
            <a:pPr marL="0" marR="0">
              <a:lnSpc>
                <a:spcPts val="1810"/>
              </a:lnSpc>
              <a:spcBef>
                <a:spcPts val="153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600" spc="6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空气污染，请小心！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程序的循环结构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605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遍历循环: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1949773"/>
            <a:ext cx="167667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遍历循环：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1565" y="2498413"/>
            <a:ext cx="7829092" cy="318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492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根据循环执行次数的确定性，循环可以分为确定次数循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环和非确定次数循环。确定次数循环指循环体对循环次数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有明确的定义循环次数采用遍历结构中元素个数来体现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Python通过保留字for实现“遍历循环”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</a:p>
          <a:p>
            <a:pPr marL="914679" marR="0">
              <a:lnSpc>
                <a:spcPts val="3167"/>
              </a:lnSpc>
              <a:spcBef>
                <a:spcPts val="11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&lt;循环变量&gt;</a:t>
            </a:r>
            <a:r>
              <a:rPr sz="2400" spc="70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0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&lt;遍历结构&gt;:</a:t>
            </a:r>
          </a:p>
          <a:p>
            <a:pPr marL="1275867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&lt;语句块&gt;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268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605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遍历循环: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24500"/>
            <a:ext cx="8512708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遍历结构可以是字符串、文件、组合数据类型或range()函数：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6385" y="2658802"/>
            <a:ext cx="623341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48711" y="2658802"/>
            <a:ext cx="1241602" cy="720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遍历文件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fi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的每一行</a:t>
            </a:r>
          </a:p>
          <a:p>
            <a:pPr marL="0" marR="0">
              <a:lnSpc>
                <a:spcPts val="1328"/>
              </a:lnSpc>
              <a:spcBef>
                <a:spcPts val="77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line in fi:</a:t>
            </a:r>
          </a:p>
          <a:p>
            <a:pPr marL="15240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3789" y="2658802"/>
            <a:ext cx="895573" cy="7202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遍历字符串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</a:p>
          <a:p>
            <a:pPr marL="0" marR="0">
              <a:lnSpc>
                <a:spcPts val="1328"/>
              </a:lnSpc>
              <a:spcBef>
                <a:spcPts val="779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c in</a:t>
            </a:r>
            <a:r>
              <a:rPr sz="1200" spc="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s:</a:t>
            </a:r>
          </a:p>
          <a:p>
            <a:pPr marL="11430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04941" y="2658802"/>
            <a:ext cx="743026" cy="1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0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遍历列表</a:t>
            </a:r>
            <a:r>
              <a:rPr sz="1000" dirty="0">
                <a:solidFill>
                  <a:srgbClr val="000000"/>
                </a:solidFill>
                <a:latin typeface="Times New Roman"/>
                <a:cs typeface="Times New Roman"/>
              </a:rPr>
              <a:t>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6385" y="2897843"/>
            <a:ext cx="1194510" cy="48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i in range(N):</a:t>
            </a:r>
          </a:p>
          <a:p>
            <a:pPr marL="190525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04941" y="2897843"/>
            <a:ext cx="981506" cy="481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2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for item</a:t>
            </a:r>
            <a:r>
              <a:rPr sz="1200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in ls:</a:t>
            </a:r>
          </a:p>
          <a:p>
            <a:pPr marL="114300" marR="0">
              <a:lnSpc>
                <a:spcPts val="1328"/>
              </a:lnSpc>
              <a:spcBef>
                <a:spcPts val="88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12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1200" dirty="0">
                <a:solidFill>
                  <a:srgbClr val="000000"/>
                </a:solidFill>
                <a:latin typeface="Times New Roman"/>
                <a:cs typeface="Times New Roman"/>
              </a:rPr>
              <a:t>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9165" y="3853503"/>
            <a:ext cx="6248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遍历循环还有一种扩展模式，使用方法如下：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79194" y="4455229"/>
            <a:ext cx="479408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71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&lt;循环变量&gt;</a:t>
            </a:r>
            <a:r>
              <a:rPr sz="2400" spc="70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7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&lt;遍历结构&gt;: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31640" y="5003546"/>
            <a:ext cx="7272808" cy="787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188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	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  <a:endParaRPr lang="en-US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361188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else:</a:t>
            </a:r>
            <a:r>
              <a:rPr 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#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 #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无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break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（函数返回）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0382" y="6101454"/>
            <a:ext cx="2459610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 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16605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遍历循环: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for语句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67" y="2428309"/>
            <a:ext cx="4417822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当for循环正常执行之后，程</a:t>
            </a:r>
          </a:p>
          <a:p>
            <a:pPr marL="34289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序会继续执行else语句中内容</a:t>
            </a:r>
          </a:p>
          <a:p>
            <a:pPr marL="342899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。else语句只在循环正常执行</a:t>
            </a:r>
          </a:p>
          <a:p>
            <a:pPr marL="34289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之后才执行并结束，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93208" y="2570202"/>
            <a:ext cx="15304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6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s in "BIT":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93208" y="2823185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33339" y="2821312"/>
            <a:ext cx="193086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 + s)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93208" y="3077693"/>
            <a:ext cx="7684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000" spc="6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93208" y="3332202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33339" y="3328804"/>
            <a:ext cx="137587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93208" y="3585566"/>
            <a:ext cx="997038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65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73141" y="4378554"/>
            <a:ext cx="380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0967" y="4623123"/>
            <a:ext cx="4478070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因此，可以在&lt;语句块2&gt;中放</a:t>
            </a:r>
          </a:p>
          <a:p>
            <a:pPr marL="342899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置判断循环执行情况的语句。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073141" y="4630046"/>
            <a:ext cx="1016353" cy="926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</a:p>
          <a:p>
            <a:pPr marL="0" marR="0">
              <a:lnSpc>
                <a:spcPts val="1128"/>
              </a:lnSpc>
              <a:spcBef>
                <a:spcPts val="8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T</a:t>
            </a:r>
          </a:p>
          <a:p>
            <a:pPr marL="0" marR="0">
              <a:lnSpc>
                <a:spcPts val="996"/>
              </a:lnSpc>
              <a:spcBef>
                <a:spcPts val="84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4670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无限循环: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while语句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058231"/>
            <a:ext cx="167642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无限循环：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917" y="2606549"/>
            <a:ext cx="7914097" cy="208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•无限循环一直保持循环操作直到特定循环条件不被满足才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结束，不需要提前知道确定循环次数。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•Python通过保留字while实现无限循环，使用方法如下：</a:t>
            </a:r>
          </a:p>
          <a:p>
            <a:pPr marL="1371879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while</a:t>
            </a:r>
            <a:r>
              <a:rPr sz="2400" spc="7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92985" y="4802066"/>
            <a:ext cx="243333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&lt;语句块&gt;语句块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474670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无限循环: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while语句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0618" y="1651001"/>
            <a:ext cx="6854342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无限循环也有一种使用保留字else的扩展模式：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52192" y="2200344"/>
            <a:ext cx="5256112" cy="1483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while</a:t>
            </a:r>
            <a:r>
              <a:rPr sz="2400" spc="7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&lt;条件&gt;:</a:t>
            </a:r>
          </a:p>
          <a:p>
            <a:pPr marL="361569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#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需要自己维护计数器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#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无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break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或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（函数返回）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3761" y="3846518"/>
            <a:ext cx="169768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78070" y="4577310"/>
            <a:ext cx="3807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7738" y="4640683"/>
            <a:ext cx="1846770" cy="43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s, idx = "BIT", 0</a:t>
            </a:r>
          </a:p>
          <a:p>
            <a:pPr marL="0" marR="0">
              <a:lnSpc>
                <a:spcPts val="1128"/>
              </a:lnSpc>
              <a:spcBef>
                <a:spcPts val="86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while idx &lt; len(s):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78070" y="4828420"/>
            <a:ext cx="1016099" cy="926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B</a:t>
            </a:r>
          </a:p>
          <a:p>
            <a:pPr marL="0" marR="0">
              <a:lnSpc>
                <a:spcPts val="1128"/>
              </a:lnSpc>
              <a:spcBef>
                <a:spcPts val="886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</a:p>
          <a:p>
            <a:pPr marL="0" marR="0">
              <a:lnSpc>
                <a:spcPts val="1128"/>
              </a:lnSpc>
              <a:spcBef>
                <a:spcPts val="898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00"/>
                </a:solidFill>
                <a:latin typeface="Courier New"/>
                <a:cs typeface="Courier New"/>
              </a:rPr>
              <a:t>T</a:t>
            </a:r>
          </a:p>
          <a:p>
            <a:pPr marL="0" marR="0">
              <a:lnSpc>
                <a:spcPts val="996"/>
              </a:lnSpc>
              <a:spcBef>
                <a:spcPts val="849"/>
              </a:spcBef>
              <a:spcAft>
                <a:spcPts val="0"/>
              </a:spcAft>
            </a:pP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7738" y="5148174"/>
            <a:ext cx="228490" cy="43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31"/>
              </a:lnSpc>
              <a:spcBef>
                <a:spcPts val="873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49426" y="5144777"/>
            <a:ext cx="2311971" cy="43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循环进行中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0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 + s[idx])</a:t>
            </a:r>
          </a:p>
          <a:p>
            <a:pPr marL="0" marR="0">
              <a:lnSpc>
                <a:spcPts val="1131"/>
              </a:lnSpc>
              <a:spcBef>
                <a:spcPts val="873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idx += 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7738" y="5656022"/>
            <a:ext cx="779995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7738" y="5910530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49426" y="5907133"/>
            <a:ext cx="1375854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s = 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循环正常结束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7738" y="6165038"/>
            <a:ext cx="1008290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000" spc="74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1734254"/>
            <a:ext cx="837714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循环结构有两个辅助保留字：break和continue，它们用来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辅助控制循环执行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831915"/>
            <a:ext cx="8582888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break用来跳出最内层for或while循环，脱离该循环后程序从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循环后代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码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继续执行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4329" y="3924877"/>
            <a:ext cx="340920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其中，break语句跳出了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4911" y="4223240"/>
            <a:ext cx="160783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815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"BIT":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4911" y="4476224"/>
            <a:ext cx="232880" cy="952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0" marR="0">
              <a:lnSpc>
                <a:spcPts val="1196"/>
              </a:lnSpc>
              <a:spcBef>
                <a:spcPts val="795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65860" y="4476224"/>
            <a:ext cx="166239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i</a:t>
            </a:r>
            <a:r>
              <a:rPr sz="105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in range(10):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34329" y="4473771"/>
            <a:ext cx="3505200" cy="208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最内层for循环，但仍然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继续执行外层循环。每个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break语句只有能力跳出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当前层次循环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84375" y="4730731"/>
            <a:ext cx="1423149" cy="69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s=="I":</a:t>
            </a:r>
          </a:p>
          <a:p>
            <a:pPr marL="316991" marR="0">
              <a:lnSpc>
                <a:spcPts val="1196"/>
              </a:lnSpc>
              <a:spcBef>
                <a:spcPts val="795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4807" y="6034945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4807" y="6287929"/>
            <a:ext cx="1842485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BBBBBBBBBBITTTTTTTTTT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30063"/>
            <a:ext cx="8171967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continue用来结束当前当次循环，即跳出循环体中下面尚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未执行的语句，但不跳出当前循环。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827597"/>
            <a:ext cx="8073796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对于while循环，继续求解循环条件。而对于for循环，程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序流程接着遍历循环列表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6765" y="3925131"/>
            <a:ext cx="502376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对比continue和break语句，如下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1399" y="4818489"/>
            <a:ext cx="1868386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42229" y="4818489"/>
            <a:ext cx="186851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41399" y="5071473"/>
            <a:ext cx="232880" cy="69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9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8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4902" y="5071473"/>
            <a:ext cx="94789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142229" y="5071473"/>
            <a:ext cx="232880" cy="69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9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8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746115" y="5071473"/>
            <a:ext cx="947635" cy="44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18515" marR="0">
              <a:lnSpc>
                <a:spcPts val="1196"/>
              </a:lnSpc>
              <a:spcBef>
                <a:spcPts val="809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63419" y="5326234"/>
            <a:ext cx="79624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44902" y="5580793"/>
            <a:ext cx="1424927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746115" y="5580793"/>
            <a:ext cx="142467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91361" y="6120594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095366" y="6120594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91361" y="6373578"/>
            <a:ext cx="554801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PYHON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95366" y="6373578"/>
            <a:ext cx="31336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79720"/>
            <a:ext cx="529649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continue语句和break语句的区别是：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328614"/>
            <a:ext cx="8419951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•continue语句只结束本次循环，而不终止整个循环的执行。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•break语句则是结束整个循环过程，不再判断执行循环的条件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是否成立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4169" y="4372211"/>
            <a:ext cx="186851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15382" y="4372211"/>
            <a:ext cx="186851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50" spc="99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4169" y="4625576"/>
            <a:ext cx="232880" cy="699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18054" y="4625576"/>
            <a:ext cx="947636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215382" y="4625576"/>
            <a:ext cx="232880" cy="699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818885" y="4625576"/>
            <a:ext cx="948017" cy="444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18516" marR="0">
              <a:lnSpc>
                <a:spcPts val="1196"/>
              </a:lnSpc>
              <a:spcBef>
                <a:spcPts val="807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36570" y="4880083"/>
            <a:ext cx="796242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18054" y="5134592"/>
            <a:ext cx="1424673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18885" y="5134592"/>
            <a:ext cx="1425054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087365" y="5849017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45336" y="5869744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087365" y="6102001"/>
            <a:ext cx="31336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45336" y="6122728"/>
            <a:ext cx="554801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PYHON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69573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循环保留字:</a:t>
            </a:r>
            <a:r>
              <a:rPr sz="4000" spc="2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spc="-12" dirty="0">
                <a:solidFill>
                  <a:srgbClr val="262626"/>
                </a:solidFill>
                <a:latin typeface="Microsoft YaHei"/>
                <a:cs typeface="Microsoft YaHei"/>
              </a:rPr>
              <a:t>break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和continue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706822"/>
            <a:ext cx="8488629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for循环和while循环中都存在一个else扩展用法。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else中的语句块只在一种条件下执行，即for循环正常遍历了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所有内容没有因为break或return而退出。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3353123"/>
            <a:ext cx="721519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continue保留字对else没有影响。看下面两个例子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57197" y="4242029"/>
            <a:ext cx="1805647" cy="18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908" y="4242029"/>
            <a:ext cx="1808695" cy="1826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for s in "PYTHON":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7197" y="4495394"/>
            <a:ext cx="2283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43683" y="4496284"/>
            <a:ext cx="10665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0480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continue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59908" y="4495394"/>
            <a:ext cx="2283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</a:p>
          <a:p>
            <a:pPr marL="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49696" y="4496284"/>
            <a:ext cx="914107" cy="435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if s=="T":</a:t>
            </a:r>
          </a:p>
          <a:p>
            <a:pPr marL="304800" marR="0">
              <a:lnSpc>
                <a:spcPts val="1128"/>
              </a:lnSpc>
              <a:spcBef>
                <a:spcPts val="875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break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57197" y="5004410"/>
            <a:ext cx="1653247" cy="435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0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101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59908" y="5004410"/>
            <a:ext cx="1656295" cy="4355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print(s, end="")</a:t>
            </a:r>
          </a:p>
          <a:p>
            <a:pPr marL="0" marR="0">
              <a:lnSpc>
                <a:spcPts val="1128"/>
              </a:lnSpc>
              <a:spcBef>
                <a:spcPts val="856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else: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57197" y="5511851"/>
            <a:ext cx="228307" cy="181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43683" y="5509674"/>
            <a:ext cx="1350225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正常退出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59908" y="5509674"/>
            <a:ext cx="1634959" cy="18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000" spc="104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print("</a:t>
            </a:r>
            <a:r>
              <a:rPr sz="1000" dirty="0">
                <a:solidFill>
                  <a:srgbClr val="000000"/>
                </a:solidFill>
                <a:latin typeface="SimSun"/>
                <a:cs typeface="SimSun"/>
              </a:rPr>
              <a:t>正常退出</a:t>
            </a:r>
            <a:r>
              <a:rPr sz="1000" b="1" dirty="0">
                <a:solidFill>
                  <a:srgbClr val="000000"/>
                </a:solidFill>
                <a:latin typeface="Courier New"/>
                <a:cs typeface="Courier New"/>
              </a:rPr>
              <a:t>")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27658" y="6117546"/>
            <a:ext cx="393840" cy="190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295646" y="6125471"/>
            <a:ext cx="393840" cy="443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  <a:p>
            <a:pPr marL="0" marR="0">
              <a:lnSpc>
                <a:spcPts val="1196"/>
              </a:lnSpc>
              <a:spcBef>
                <a:spcPts val="795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27658" y="6368453"/>
            <a:ext cx="1091249" cy="19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0000"/>
                </a:solidFill>
                <a:latin typeface="Courier New"/>
                <a:cs typeface="Courier New"/>
              </a:rPr>
              <a:t>PYHON</a:t>
            </a:r>
            <a:r>
              <a:rPr sz="1050" dirty="0">
                <a:solidFill>
                  <a:srgbClr val="000000"/>
                </a:solidFill>
                <a:latin typeface="SimSun"/>
                <a:cs typeface="SimSun"/>
              </a:rPr>
              <a:t>正常退出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54326" y="2788949"/>
            <a:ext cx="426872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异常处理机制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48201"/>
            <a:ext cx="5944819" cy="60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异常处理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4000" b="1" spc="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000000"/>
                </a:solidFill>
                <a:latin typeface="Arial"/>
                <a:cs typeface="Arial"/>
              </a:rPr>
              <a:t>try-except</a:t>
            </a:r>
            <a:r>
              <a:rPr sz="4000" dirty="0">
                <a:solidFill>
                  <a:srgbClr val="000000"/>
                </a:solidFill>
                <a:latin typeface="SimSun"/>
                <a:cs typeface="SimSun"/>
              </a:rPr>
              <a:t>语句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160720"/>
            <a:ext cx="636602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Python解释器返回了异常信息，同时程序退出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973200"/>
            <a:ext cx="843498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try-except语句可以支持多个except语句，语法格式如下：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9816" y="2454826"/>
            <a:ext cx="576630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try: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9816" y="2823634"/>
            <a:ext cx="3016275" cy="2570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781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1&gt;</a:t>
            </a:r>
          </a:p>
          <a:p>
            <a:pPr marL="0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except</a:t>
            </a:r>
            <a:r>
              <a:rPr sz="2400" spc="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异常类型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1&gt;:</a:t>
            </a:r>
          </a:p>
          <a:p>
            <a:pPr marL="914781" marR="0">
              <a:lnSpc>
                <a:spcPts val="2683"/>
              </a:lnSpc>
              <a:spcBef>
                <a:spcPts val="14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2&gt;</a:t>
            </a:r>
          </a:p>
          <a:p>
            <a:pPr marL="0" marR="0">
              <a:lnSpc>
                <a:spcPts val="2681"/>
              </a:lnSpc>
              <a:spcBef>
                <a:spcPts val="176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….</a:t>
            </a:r>
          </a:p>
          <a:p>
            <a:pPr marL="0" marR="0">
              <a:lnSpc>
                <a:spcPts val="2681"/>
              </a:lnSpc>
              <a:spcBef>
                <a:spcPts val="2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except</a:t>
            </a:r>
            <a:r>
              <a:rPr sz="2400" spc="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异常类型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N&gt;:</a:t>
            </a:r>
          </a:p>
          <a:p>
            <a:pPr marL="914781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N+1&gt;</a:t>
            </a:r>
          </a:p>
          <a:p>
            <a:pPr marL="0" marR="0">
              <a:lnSpc>
                <a:spcPts val="2683"/>
              </a:lnSpc>
              <a:spcBef>
                <a:spcPts val="12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except: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44598" y="5384513"/>
            <a:ext cx="1990643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&lt;</a:t>
            </a:r>
            <a:r>
              <a:rPr sz="2400" dirty="0">
                <a:solidFill>
                  <a:srgbClr val="000000"/>
                </a:solidFill>
                <a:latin typeface="SimSun"/>
                <a:cs typeface="SimSun"/>
              </a:rPr>
              <a:t>语句块</a:t>
            </a: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N+2&gt;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9316" y="1692471"/>
            <a:ext cx="752520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除了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try</a:t>
            </a:r>
            <a:r>
              <a:rPr sz="2400" spc="111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except</a:t>
            </a:r>
            <a:r>
              <a:rPr sz="2400" spc="107" dirty="0">
                <a:solidFill>
                  <a:srgbClr val="000000"/>
                </a:solidFill>
                <a:latin typeface="Microsoft YaHei"/>
                <a:cs typeface="Microsoft YaHei"/>
              </a:rPr>
              <a:t>保留字外，异常语句还可以与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else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868" y="2241111"/>
            <a:ext cx="5592191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finally保留字配合使用，语法格式如下：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83917" y="2774063"/>
            <a:ext cx="550543" cy="37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spc="28" dirty="0">
                <a:solidFill>
                  <a:srgbClr val="000000"/>
                </a:solidFill>
                <a:latin typeface="Microsoft YaHei"/>
                <a:cs typeface="Microsoft YaHei"/>
              </a:rPr>
              <a:t>try: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83917" y="3231966"/>
            <a:ext cx="2634413" cy="174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808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&lt;语句块1&gt;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except</a:t>
            </a:r>
            <a:r>
              <a:rPr sz="20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&lt;异常类型1&gt;:</a:t>
            </a:r>
          </a:p>
          <a:p>
            <a:pPr marL="64808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&lt;语句块2&gt;</a:t>
            </a:r>
          </a:p>
          <a:p>
            <a:pPr marL="0" marR="0">
              <a:lnSpc>
                <a:spcPts val="2644"/>
              </a:lnSpc>
              <a:spcBef>
                <a:spcPts val="9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else: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83917" y="5061020"/>
            <a:ext cx="2091101" cy="8312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808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&lt;语句块3&gt;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finally: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31998" y="5975750"/>
            <a:ext cx="1443020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&lt;语句块4&gt;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771508"/>
            <a:ext cx="3716121" cy="54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98"/>
              </a:lnSpc>
              <a:spcBef>
                <a:spcPts val="0"/>
              </a:spcBef>
              <a:spcAft>
                <a:spcPts val="0"/>
              </a:spcAft>
            </a:pPr>
            <a:r>
              <a:rPr sz="4000" spc="10" dirty="0">
                <a:solidFill>
                  <a:srgbClr val="000000"/>
                </a:solidFill>
                <a:latin typeface="SimSun"/>
                <a:cs typeface="SimSun"/>
              </a:rPr>
              <a:t>异常的高级用法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4606" y="2334433"/>
            <a:ext cx="8379307" cy="107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5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节</a:t>
            </a:r>
            <a:r>
              <a:rPr sz="6000" spc="27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Microsoft YaHei"/>
                <a:cs typeface="Microsoft YaHei"/>
              </a:rPr>
              <a:t>函数和代码的复用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函数的基本使用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984757"/>
            <a:ext cx="8420404" cy="98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函数是一段具有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特定功能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的、可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重用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的语句组，用函数名来</a:t>
            </a:r>
          </a:p>
          <a:p>
            <a:pPr marL="3429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表示并通过函数名进行完成功能调用。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442" y="3082740"/>
            <a:ext cx="8420710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函数也可以看作是一段具有名字的子程序，可以在需要的地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方调用执行，不需要在每个执行地方重复编写这些语句。每</a:t>
            </a:r>
          </a:p>
          <a:p>
            <a:pPr marL="34290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次使用函数可以提供不同的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参数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作为输入，以实现对不同数</a:t>
            </a: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据的处理；函数执行后，还可以反馈相应的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处理结果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9552" y="5169296"/>
            <a:ext cx="3808171" cy="50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函数是一种功能抽象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753465" y="5856859"/>
            <a:ext cx="8004036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降低编程难度和代码重用（函数库、多人协作、可读性强、单独调试、方便维护）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340171"/>
            <a:ext cx="7448701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Python定义一个函数使用def保留字，语法形式如下：</a:t>
            </a:r>
          </a:p>
          <a:p>
            <a:pPr marL="457504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&lt;函数名&gt;(&lt;参数列表&gt;):</a:t>
            </a:r>
          </a:p>
          <a:p>
            <a:pPr marL="728751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&lt;函数体&gt;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0316" y="3986472"/>
            <a:ext cx="310833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 &lt;返回值列表&gt;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函数调用的过程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9192" y="2268924"/>
            <a:ext cx="5943600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程序调用一个函数需要执行以下四个步骤：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（1）调用程序在调用处暂停执行；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（2）在调用时将实参复制给函数的形参；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（3）执行函数体语句；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2492" y="4463738"/>
            <a:ext cx="7821142" cy="989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6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sz="2400" spc="73" dirty="0">
                <a:solidFill>
                  <a:srgbClr val="000000"/>
                </a:solidFill>
                <a:latin typeface="Microsoft YaHei"/>
                <a:cs typeface="Microsoft YaHei"/>
              </a:rPr>
              <a:t>）函数调用结束给出返回值，程序回到调用前的暂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停处继续执行。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6136" y="-12728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98941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lambda函数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67" y="2070423"/>
            <a:ext cx="9036736" cy="318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Python的有33个保留字，其中一个是lambda，该保留字用于定义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一种特殊的函数——匿名函数，又称lambda函数。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匿名函数并非没有名字，而是将函数名作为函数结果返回，如下：</a:t>
            </a:r>
          </a:p>
          <a:p>
            <a:pPr marL="9144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&lt;函数名&gt; = lambda &lt;参数列表&gt;: &lt;表达式&gt;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lambda函数与正常函数一样，等价于下面形式：</a:t>
            </a:r>
          </a:p>
          <a:p>
            <a:pPr marL="9144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def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&lt;函数名&gt;(&lt;参数列表&gt;):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38045" y="5362601"/>
            <a:ext cx="249756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 </a:t>
            </a:r>
            <a:r>
              <a:rPr sz="2400" spc="-11" dirty="0">
                <a:solidFill>
                  <a:srgbClr val="000000"/>
                </a:solidFill>
                <a:latin typeface="Microsoft YaHei"/>
                <a:cs typeface="Microsoft YaHei"/>
              </a:rPr>
              <a:t>&lt;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表达式&gt;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11426" y="2788949"/>
            <a:ext cx="4954828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函数的参数传递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可选参数和可变数量参数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132399"/>
            <a:ext cx="5640679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在定义函数时，有些参数可以存在默认值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；可选参数必须定义在非可选参数的后面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807" y="3428043"/>
            <a:ext cx="3839895" cy="1568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 dup(str, times</a:t>
            </a:r>
            <a:r>
              <a:rPr sz="1800" b="1" spc="-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= 2):</a:t>
            </a:r>
          </a:p>
          <a:p>
            <a:pPr marL="1093012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print(str*times)</a:t>
            </a:r>
          </a:p>
          <a:p>
            <a:pPr marL="0" marR="0">
              <a:lnSpc>
                <a:spcPts val="2004"/>
              </a:lnSpc>
              <a:spcBef>
                <a:spcPts val="5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&gt;&gt;&gt;dup("knock~")</a:t>
            </a:r>
          </a:p>
          <a:p>
            <a:pPr marL="0" marR="0"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knock~knock~</a:t>
            </a:r>
          </a:p>
          <a:p>
            <a:pPr marL="0" marR="0">
              <a:lnSpc>
                <a:spcPts val="2003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ourier New"/>
                <a:cs typeface="Courier New"/>
              </a:rPr>
              <a:t>&gt;&gt;&gt;dup("knock~",4)</a:t>
            </a:r>
          </a:p>
          <a:p>
            <a:pPr marL="0" marR="0">
              <a:lnSpc>
                <a:spcPts val="2004"/>
              </a:lnSpc>
              <a:spcBef>
                <a:spcPts val="5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Courier New"/>
                <a:cs typeface="Courier New"/>
              </a:rPr>
              <a:t>knock~knock~knock~knock~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081" y="-99392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可选参数和可变数量参数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2132399"/>
            <a:ext cx="797290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在函数定义时，可以设计可变数量参数，通过参数前增加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1390" y="2681039"/>
            <a:ext cx="212023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星号（*）实现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1108" y="3761397"/>
            <a:ext cx="2837973" cy="1029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vfunc(a, *b):</a:t>
            </a:r>
          </a:p>
          <a:p>
            <a:pPr marL="977264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print(type(b))</a:t>
            </a:r>
          </a:p>
          <a:p>
            <a:pPr marL="977264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n in b:</a:t>
            </a:r>
          </a:p>
          <a:p>
            <a:pPr marL="1588388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a += 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38373" y="4777904"/>
            <a:ext cx="1128178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return 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61108" y="5032412"/>
            <a:ext cx="2471100" cy="775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&gt;&gt;&gt;vfunc(1,2,3,4,5)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'tuple'&gt;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15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755576" y="5940946"/>
            <a:ext cx="797290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b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被看作是元组数据类型（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lang="en-US" altLang="zh-CN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lang="zh-CN" altLang="en-US" sz="2400" spc="66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sz="2400" spc="66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0852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参数的位置和名称传递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627699"/>
            <a:ext cx="7958378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Python提供了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按照形参名称输入实参的方式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，调用如下：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result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 func(x2=4,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y2=5,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z2=6,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x1=1,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y1=2,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z1=3)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由于调用函数时指定了参数名称，所以参数之间的顺序可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以任意调整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增强程序的可读性。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61108" y="4192796"/>
            <a:ext cx="206927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&gt;&gt;&gt;def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func(a, b):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3405" y="4445780"/>
            <a:ext cx="121647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b,a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1108" y="4700287"/>
            <a:ext cx="3238215" cy="747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&gt;&gt;&gt;s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func("knock~", 2)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type(s))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(2, 'knock~')</a:t>
            </a:r>
            <a:r>
              <a:rPr sz="140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400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0000"/>
                </a:solidFill>
                <a:latin typeface="Courier New"/>
                <a:cs typeface="Courier New"/>
              </a:rPr>
              <a:t>'tuple'&gt;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78A154DF-0BA7-44DC-B2E6-388FFDE3BCFA}"/>
              </a:ext>
            </a:extLst>
          </p:cNvPr>
          <p:cNvSpPr txBox="1"/>
          <p:nvPr/>
        </p:nvSpPr>
        <p:spPr>
          <a:xfrm>
            <a:off x="456136" y="1647223"/>
            <a:ext cx="8089747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return语句用来退出函数并将程序返回到函数被调用的位</a:t>
            </a:r>
          </a:p>
          <a:p>
            <a:pPr marL="34290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置继续执行。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E2554E4-B2AE-41A6-AF23-EFB104C032DD}"/>
              </a:ext>
            </a:extLst>
          </p:cNvPr>
          <p:cNvSpPr txBox="1"/>
          <p:nvPr/>
        </p:nvSpPr>
        <p:spPr>
          <a:xfrm>
            <a:off x="456136" y="2636325"/>
            <a:ext cx="8142452" cy="1342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</a:t>
            </a:r>
            <a:r>
              <a:rPr sz="2400" spc="10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return语句同时可以将0个、1个或多个函数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（以元组类型）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运算完的结果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34290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返回给函数被调用处的变量，例如。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函数对变量的作用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5716" y="2411799"/>
            <a:ext cx="7770621" cy="1537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一个程序中的变量包括两类：全局变量和局部变量。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55" dirty="0">
                <a:solidFill>
                  <a:srgbClr val="000000"/>
                </a:solidFill>
                <a:latin typeface="Microsoft YaHei"/>
                <a:cs typeface="Microsoft YaHei"/>
              </a:rPr>
              <a:t>•全局变量指在函数之外定义的变量，一般没有缩进，在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程序执行全过程有效。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5716" y="4058100"/>
            <a:ext cx="7768106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55" dirty="0">
                <a:solidFill>
                  <a:srgbClr val="000000"/>
                </a:solidFill>
                <a:latin typeface="Microsoft YaHei"/>
                <a:cs typeface="Microsoft YaHei"/>
              </a:rPr>
              <a:t>•局部变量指在函数内部使用的变量，仅在函数内部有效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，当函数退出时变量将不存在。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323077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FF0000"/>
                </a:solidFill>
                <a:latin typeface="Microsoft YaHei"/>
                <a:cs typeface="Microsoft YaHei"/>
              </a:rPr>
              <a:t>总结</a:t>
            </a: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：</a:t>
            </a: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变量的返回值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290" y="2001843"/>
            <a:ext cx="575650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Python函数对变量的作用遵守如下原则：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550483"/>
            <a:ext cx="8516111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•简单数据类型变量无论是否与全局变量重名，仅在函数内部创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建和使用，函数退出后变量被释放；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290" y="3648144"/>
            <a:ext cx="8516111" cy="2635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•简单数据类型变量在用global保留字声明后，作为全局变量；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•对于组合数据类型的全局变量，如果在函数内部没有被真实创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建的同名变量，则函数内部可直接使用并修改全局变量的值；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•如果函数内部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真实创建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了组合数据类型变量，无论是否有同名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全局变量，函数仅对局部变量进行操作。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9678" y="2788949"/>
            <a:ext cx="76962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2556325"/>
            <a:ext cx="8323223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函数是程序的一种基本抽象方式，它将一系列代码组织起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来通过命名供其他程序使用。函数封装的直接好处是代码复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用，任何其他代码只要输入参数即可调用函数，从而避免相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同功能代码在被调用处重复编写。</a:t>
            </a:r>
            <a:r>
              <a:rPr sz="2400" spc="76" dirty="0">
                <a:solidFill>
                  <a:srgbClr val="FF0000"/>
                </a:solidFill>
                <a:latin typeface="Microsoft YaHei"/>
                <a:cs typeface="Microsoft YaHei"/>
              </a:rPr>
              <a:t>代码复用</a:t>
            </a: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产生了另一个好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处，当更新函数功能时，所有被调用处的功能都被更新。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478532"/>
            <a:ext cx="8085122" cy="3184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当程序的长度在百行以上，如果不划分模块就算是最好的程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序员也很难理解程序含义程序的可读性就已经很糟糕了。解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决这一问题的最好方法是将一个程序分割成短小的程序段，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每一段程序完成一个小的功能。无论面向过程和面向对象编</a:t>
            </a:r>
          </a:p>
          <a:p>
            <a:pPr marL="0" marR="0">
              <a:lnSpc>
                <a:spcPts val="3167"/>
              </a:lnSpc>
              <a:spcBef>
                <a:spcPts val="115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程，对程序合理划分功能模块并基于模块设计程序是一种常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用方法，被称为“模块化设计”。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代码的复用和模块化设计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138749"/>
            <a:ext cx="4724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模块化设计一般有两个基本要求：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687389"/>
            <a:ext cx="8182000" cy="3184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紧耦合：尽可能合理划分功能块，功能块内部耦合紧密；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松耦合：模块间关系尽可能简单，功能块之间耦合度低。</a:t>
            </a:r>
          </a:p>
          <a:p>
            <a:pPr marL="30480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使用函数只是</a:t>
            </a:r>
            <a:r>
              <a:rPr sz="2400" spc="34" dirty="0">
                <a:solidFill>
                  <a:srgbClr val="FF0000"/>
                </a:solidFill>
                <a:latin typeface="Microsoft YaHei"/>
                <a:cs typeface="Microsoft YaHei"/>
              </a:rPr>
              <a:t>模块化设计</a:t>
            </a:r>
            <a:r>
              <a:rPr sz="2400" spc="34" dirty="0">
                <a:solidFill>
                  <a:srgbClr val="000000"/>
                </a:solidFill>
                <a:latin typeface="Microsoft YaHei"/>
                <a:cs typeface="Microsoft YaHei"/>
              </a:rPr>
              <a:t>的必要非充分条件，根据计算需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求合理划分函数十分重要。一般来说，</a:t>
            </a:r>
            <a:r>
              <a:rPr sz="2400" spc="31" dirty="0">
                <a:solidFill>
                  <a:srgbClr val="FF0000"/>
                </a:solidFill>
                <a:latin typeface="Microsoft YaHei"/>
                <a:cs typeface="Microsoft YaHei"/>
              </a:rPr>
              <a:t>完成特定功能或被经</a:t>
            </a:r>
          </a:p>
          <a:p>
            <a:pPr marL="0" marR="0">
              <a:lnSpc>
                <a:spcPts val="3170"/>
              </a:lnSpc>
              <a:spcBef>
                <a:spcPts val="1199"/>
              </a:spcBef>
              <a:spcAft>
                <a:spcPts val="0"/>
              </a:spcAft>
            </a:pPr>
            <a:r>
              <a:rPr sz="2400" spc="31" dirty="0">
                <a:solidFill>
                  <a:srgbClr val="FF0000"/>
                </a:solidFill>
                <a:latin typeface="Microsoft YaHei"/>
                <a:cs typeface="Microsoft YaHei"/>
              </a:rPr>
              <a:t>常复用的一组语句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应该采用函数来封装，并尽可能减少函数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间参数和返回值的数量。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37433" y="2788949"/>
            <a:ext cx="35814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函数的递归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340171"/>
            <a:ext cx="7959496" cy="263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3" dirty="0">
                <a:solidFill>
                  <a:srgbClr val="000000"/>
                </a:solidFill>
                <a:latin typeface="Microsoft YaHei"/>
                <a:cs typeface="Microsoft YaHei"/>
              </a:rPr>
              <a:t>函数作为一种代码封装，可以被其他程序调用，当然，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也可以被函数内部代码调用。这种函数定义中调用函数自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身的方式称为递归。就像一个人站在装满镜子的房间中，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61" dirty="0">
                <a:solidFill>
                  <a:srgbClr val="000000"/>
                </a:solidFill>
                <a:latin typeface="Microsoft YaHei"/>
                <a:cs typeface="Microsoft YaHei"/>
              </a:rPr>
              <a:t>看到的影像就是递归的结果。递归在数学和计算机应用上</a:t>
            </a:r>
          </a:p>
          <a:p>
            <a:pPr marL="0" marR="0">
              <a:lnSpc>
                <a:spcPts val="3167"/>
              </a:lnSpc>
              <a:spcBef>
                <a:spcPts val="115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非常强大，能够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非常简洁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的解决重要问题。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递归的定义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484697"/>
            <a:ext cx="7816291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递归的2个关键特征：</a:t>
            </a:r>
          </a:p>
          <a:p>
            <a:pPr marL="30480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sz="2400" spc="56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57" dirty="0">
                <a:solidFill>
                  <a:srgbClr val="000000"/>
                </a:solidFill>
                <a:latin typeface="Microsoft YaHei"/>
                <a:cs typeface="Microsoft YaHei"/>
              </a:rPr>
              <a:t>）存在一个或多个基例，基例不需要再次递归，它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是确定的表达式；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6040" y="4130549"/>
            <a:ext cx="6128311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（2）所有递归链要以一个或多个基例结尾。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20189" y="2788949"/>
            <a:ext cx="521576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Python内置函数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9006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Python内置函数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665" y="1730571"/>
            <a:ext cx="805398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解释器提供了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68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个内置函数</a:t>
            </a:r>
            <a:endParaRPr sz="2400" spc="23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422" y="2943730"/>
            <a:ext cx="61098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abs()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all()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32888" y="2931792"/>
            <a:ext cx="795238" cy="76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id()</a:t>
            </a:r>
          </a:p>
          <a:p>
            <a:pPr marL="0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input()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int()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09390" y="2931792"/>
            <a:ext cx="795301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round()</a:t>
            </a:r>
          </a:p>
          <a:p>
            <a:pPr marL="91439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00370" y="2931792"/>
            <a:ext cx="979616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compile()</a:t>
            </a:r>
          </a:p>
          <a:p>
            <a:pPr marL="18440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dir()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3242" y="2931792"/>
            <a:ext cx="886924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locals()</a:t>
            </a:r>
          </a:p>
          <a:p>
            <a:pPr marL="13868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map()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2422" y="3492369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any()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63670" y="3481066"/>
            <a:ext cx="886678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sorted()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str()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39053" y="3481066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exec()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58838" y="3492369"/>
            <a:ext cx="1255181" cy="473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memoryview()</a:t>
            </a:r>
          </a:p>
          <a:p>
            <a:pPr marL="277368" marR="0">
              <a:lnSpc>
                <a:spcPts val="1359"/>
              </a:lnSpc>
              <a:spcBef>
                <a:spcPts val="66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next()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06322" y="3766690"/>
            <a:ext cx="70242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asci()</a:t>
            </a:r>
          </a:p>
          <a:p>
            <a:pPr marL="4610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bin()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24327" y="3755387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len()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08929" y="3755387"/>
            <a:ext cx="1163741" cy="2131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enumerate()</a:t>
            </a:r>
          </a:p>
          <a:p>
            <a:pPr marL="13868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filter()</a:t>
            </a:r>
          </a:p>
          <a:p>
            <a:pPr marL="13868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format()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frozenset()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getattr()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globals()</a:t>
            </a:r>
          </a:p>
          <a:p>
            <a:pPr marL="9144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hasattr()</a:t>
            </a:r>
          </a:p>
          <a:p>
            <a:pPr marL="230123" marR="0">
              <a:lnSpc>
                <a:spcPts val="1359"/>
              </a:lnSpc>
              <a:spcBef>
                <a:spcPts val="80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help()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78607" y="4029706"/>
            <a:ext cx="702426" cy="485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list()</a:t>
            </a:r>
          </a:p>
          <a:p>
            <a:pPr marL="4572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max()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09390" y="4029706"/>
            <a:ext cx="795238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tuple()</a:t>
            </a:r>
          </a:p>
          <a:p>
            <a:pPr marL="4571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type()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zip()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051802" y="4029706"/>
            <a:ext cx="1071239" cy="770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object()</a:t>
            </a:r>
          </a:p>
          <a:p>
            <a:pPr marL="0" marR="0">
              <a:lnSpc>
                <a:spcPts val="1362"/>
              </a:lnSpc>
              <a:spcBef>
                <a:spcPts val="837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property()</a:t>
            </a:r>
          </a:p>
          <a:p>
            <a:pPr marL="184404" marR="0">
              <a:lnSpc>
                <a:spcPts val="1359"/>
              </a:lnSpc>
              <a:spcBef>
                <a:spcPts val="8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repr()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06322" y="4315076"/>
            <a:ext cx="702915" cy="485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bool()</a:t>
            </a:r>
          </a:p>
          <a:p>
            <a:pPr marL="46100" marR="0">
              <a:lnSpc>
                <a:spcPts val="1359"/>
              </a:lnSpc>
              <a:spcBef>
                <a:spcPts val="75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chr()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24327" y="457834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min()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67688" y="4864224"/>
            <a:ext cx="979489" cy="185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complex()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dict()</a:t>
            </a:r>
          </a:p>
          <a:p>
            <a:pPr marL="472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divmod()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eval()</a:t>
            </a:r>
          </a:p>
          <a:p>
            <a:pPr marL="9296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float()</a:t>
            </a:r>
          </a:p>
          <a:p>
            <a:pPr marL="13863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hash()</a:t>
            </a:r>
          </a:p>
          <a:p>
            <a:pPr marL="18473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hex()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24327" y="485266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oct()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097521" y="486422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setattr()</a:t>
            </a:r>
          </a:p>
          <a:p>
            <a:pPr marL="9144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slice()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78607" y="5126987"/>
            <a:ext cx="702426" cy="485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open()</a:t>
            </a:r>
          </a:p>
          <a:p>
            <a:pPr marL="4572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ord()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916426" y="541286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964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delattr()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67397" y="5412864"/>
            <a:ext cx="1439433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staticmethod()</a:t>
            </a:r>
          </a:p>
          <a:p>
            <a:pPr marL="414528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sum()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624327" y="567590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pow()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94204" y="5950226"/>
            <a:ext cx="1070929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print()</a:t>
            </a:r>
          </a:p>
          <a:p>
            <a:pPr marL="13868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range()</a:t>
            </a:r>
          </a:p>
          <a:p>
            <a:pPr marL="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reversed()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733546" y="5961503"/>
            <a:ext cx="1346621" cy="74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39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bytearray()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callable()</a:t>
            </a:r>
          </a:p>
          <a:p>
            <a:pPr marL="0" marR="0">
              <a:lnSpc>
                <a:spcPts val="1359"/>
              </a:lnSpc>
              <a:spcBef>
                <a:spcPts val="71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classmethod()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363209" y="5950226"/>
            <a:ext cx="1255181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isinstance()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issubclass()</a:t>
            </a:r>
          </a:p>
          <a:p>
            <a:pPr marL="2758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iter()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88961" y="5961503"/>
            <a:ext cx="79523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super()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236206" y="6235824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vars()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958838" y="6510143"/>
            <a:ext cx="1255181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__import()__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DBAA176-015E-4E54-AF29-1073B09CEC51}"/>
              </a:ext>
            </a:extLst>
          </p:cNvPr>
          <p:cNvCxnSpPr/>
          <p:nvPr/>
        </p:nvCxnSpPr>
        <p:spPr>
          <a:xfrm flipH="1" flipV="1">
            <a:off x="1296140" y="3426781"/>
            <a:ext cx="10182" cy="2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05E4CDF-86DC-474F-B800-7F63FD95C419}"/>
              </a:ext>
            </a:extLst>
          </p:cNvPr>
          <p:cNvCxnSpPr/>
          <p:nvPr/>
        </p:nvCxnSpPr>
        <p:spPr>
          <a:xfrm>
            <a:off x="2483768" y="31409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C5787FD-947F-4DB9-8D3A-967E60B99657}"/>
              </a:ext>
            </a:extLst>
          </p:cNvPr>
          <p:cNvCxnSpPr/>
          <p:nvPr/>
        </p:nvCxnSpPr>
        <p:spPr>
          <a:xfrm>
            <a:off x="1259632" y="31409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377AE0B-1754-43B8-8873-F9FB1756CA86}"/>
              </a:ext>
            </a:extLst>
          </p:cNvPr>
          <p:cNvCxnSpPr/>
          <p:nvPr/>
        </p:nvCxnSpPr>
        <p:spPr>
          <a:xfrm>
            <a:off x="3923928" y="342900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F10EC46-F7A5-40C9-9C43-93D81943C43D}"/>
              </a:ext>
            </a:extLst>
          </p:cNvPr>
          <p:cNvCxnSpPr/>
          <p:nvPr/>
        </p:nvCxnSpPr>
        <p:spPr>
          <a:xfrm>
            <a:off x="3923928" y="31409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95408D1-E2C6-48EC-A9E7-8F635E54C20F}"/>
              </a:ext>
            </a:extLst>
          </p:cNvPr>
          <p:cNvCxnSpPr/>
          <p:nvPr/>
        </p:nvCxnSpPr>
        <p:spPr>
          <a:xfrm>
            <a:off x="3923928" y="371703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0CD7001-680C-4412-85D9-CC8961E4E7F6}"/>
              </a:ext>
            </a:extLst>
          </p:cNvPr>
          <p:cNvCxnSpPr/>
          <p:nvPr/>
        </p:nvCxnSpPr>
        <p:spPr>
          <a:xfrm>
            <a:off x="3923928" y="393305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0F72951-AB50-4EC8-A54E-2B5636061C8E}"/>
              </a:ext>
            </a:extLst>
          </p:cNvPr>
          <p:cNvCxnSpPr/>
          <p:nvPr/>
        </p:nvCxnSpPr>
        <p:spPr>
          <a:xfrm>
            <a:off x="2483768" y="393305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434F4E9-3ACC-4902-ABEA-04957520BF71}"/>
              </a:ext>
            </a:extLst>
          </p:cNvPr>
          <p:cNvCxnSpPr/>
          <p:nvPr/>
        </p:nvCxnSpPr>
        <p:spPr>
          <a:xfrm>
            <a:off x="2483768" y="364502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B880C91-4B7D-4FCD-9569-C79341274F32}"/>
              </a:ext>
            </a:extLst>
          </p:cNvPr>
          <p:cNvCxnSpPr/>
          <p:nvPr/>
        </p:nvCxnSpPr>
        <p:spPr>
          <a:xfrm>
            <a:off x="3923928" y="422108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25C66E9-6BF1-4DCB-81D4-582F018730FF}"/>
              </a:ext>
            </a:extLst>
          </p:cNvPr>
          <p:cNvCxnSpPr/>
          <p:nvPr/>
        </p:nvCxnSpPr>
        <p:spPr>
          <a:xfrm>
            <a:off x="3923928" y="45125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3E86400-AFD3-4E2A-BA90-5FE11569F207}"/>
              </a:ext>
            </a:extLst>
          </p:cNvPr>
          <p:cNvCxnSpPr/>
          <p:nvPr/>
        </p:nvCxnSpPr>
        <p:spPr>
          <a:xfrm>
            <a:off x="2483768" y="342900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1E461A8-53A0-4683-9C64-30433D392952}"/>
              </a:ext>
            </a:extLst>
          </p:cNvPr>
          <p:cNvCxnSpPr/>
          <p:nvPr/>
        </p:nvCxnSpPr>
        <p:spPr>
          <a:xfrm>
            <a:off x="3923928" y="481251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0D24BB4-BB46-41E7-8AB3-DBD5A5235ABF}"/>
              </a:ext>
            </a:extLst>
          </p:cNvPr>
          <p:cNvCxnSpPr/>
          <p:nvPr/>
        </p:nvCxnSpPr>
        <p:spPr>
          <a:xfrm>
            <a:off x="2483768" y="422108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E03EB6E-8B2E-4CFA-8632-ADE7FD6D6FA1}"/>
              </a:ext>
            </a:extLst>
          </p:cNvPr>
          <p:cNvCxnSpPr/>
          <p:nvPr/>
        </p:nvCxnSpPr>
        <p:spPr>
          <a:xfrm>
            <a:off x="1259632" y="479715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34C806E-6DDC-473F-B7F3-B1E63BF67C08}"/>
              </a:ext>
            </a:extLst>
          </p:cNvPr>
          <p:cNvCxnSpPr/>
          <p:nvPr/>
        </p:nvCxnSpPr>
        <p:spPr>
          <a:xfrm>
            <a:off x="1259632" y="508518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63A6FF2-1E0E-4E1F-802C-2E31480FBDC3}"/>
              </a:ext>
            </a:extLst>
          </p:cNvPr>
          <p:cNvCxnSpPr/>
          <p:nvPr/>
        </p:nvCxnSpPr>
        <p:spPr>
          <a:xfrm>
            <a:off x="2478832" y="4503443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12687D5-E63A-4C0B-81B1-A6C5CF785CCC}"/>
              </a:ext>
            </a:extLst>
          </p:cNvPr>
          <p:cNvCxnSpPr/>
          <p:nvPr/>
        </p:nvCxnSpPr>
        <p:spPr>
          <a:xfrm>
            <a:off x="1288668" y="345809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C3EE580-1F1A-4AD4-98B1-676548A55BF7}"/>
              </a:ext>
            </a:extLst>
          </p:cNvPr>
          <p:cNvCxnSpPr/>
          <p:nvPr/>
        </p:nvCxnSpPr>
        <p:spPr>
          <a:xfrm>
            <a:off x="1306322" y="3703109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7B5BBCD-EAB6-4DBA-9477-A67500BFBB1F}"/>
              </a:ext>
            </a:extLst>
          </p:cNvPr>
          <p:cNvCxnSpPr/>
          <p:nvPr/>
        </p:nvCxnSpPr>
        <p:spPr>
          <a:xfrm>
            <a:off x="1288668" y="4007264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D69B1B4-BEBF-4D38-9A8B-5CB129BC8A91}"/>
              </a:ext>
            </a:extLst>
          </p:cNvPr>
          <p:cNvCxnSpPr/>
          <p:nvPr/>
        </p:nvCxnSpPr>
        <p:spPr>
          <a:xfrm>
            <a:off x="7143242" y="6697521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9EBDB22-A562-48AF-A983-F64653C1B473}"/>
              </a:ext>
            </a:extLst>
          </p:cNvPr>
          <p:cNvCxnSpPr/>
          <p:nvPr/>
        </p:nvCxnSpPr>
        <p:spPr>
          <a:xfrm>
            <a:off x="7143242" y="5866667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54D101FA-5472-4A95-813F-B90F06965B77}"/>
              </a:ext>
            </a:extLst>
          </p:cNvPr>
          <p:cNvCxnSpPr/>
          <p:nvPr/>
        </p:nvCxnSpPr>
        <p:spPr>
          <a:xfrm>
            <a:off x="5408929" y="6172243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CA59CE3-E08F-496B-89C7-D355BDEF16AA}"/>
              </a:ext>
            </a:extLst>
          </p:cNvPr>
          <p:cNvCxnSpPr/>
          <p:nvPr/>
        </p:nvCxnSpPr>
        <p:spPr>
          <a:xfrm>
            <a:off x="2478832" y="6709605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F8E32A6-CEC5-497D-B764-336BE1D32478}"/>
              </a:ext>
            </a:extLst>
          </p:cNvPr>
          <p:cNvCxnSpPr/>
          <p:nvPr/>
        </p:nvCxnSpPr>
        <p:spPr>
          <a:xfrm>
            <a:off x="2478832" y="644927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082FE53-3EC5-4C5D-8DC6-2D2C1AE9A2F8}"/>
              </a:ext>
            </a:extLst>
          </p:cNvPr>
          <p:cNvCxnSpPr/>
          <p:nvPr/>
        </p:nvCxnSpPr>
        <p:spPr>
          <a:xfrm>
            <a:off x="1187624" y="623107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CAC54C5-3C3D-4F15-A048-69BD85BB7ACC}"/>
              </a:ext>
            </a:extLst>
          </p:cNvPr>
          <p:cNvCxnSpPr/>
          <p:nvPr/>
        </p:nvCxnSpPr>
        <p:spPr>
          <a:xfrm>
            <a:off x="1187624" y="562668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884F212-DA6F-44CD-BDFB-54C46B996774}"/>
              </a:ext>
            </a:extLst>
          </p:cNvPr>
          <p:cNvCxnSpPr/>
          <p:nvPr/>
        </p:nvCxnSpPr>
        <p:spPr>
          <a:xfrm>
            <a:off x="1187624" y="587727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2675355-F2BD-4134-9E36-CE6385C69A71}"/>
              </a:ext>
            </a:extLst>
          </p:cNvPr>
          <p:cNvCxnSpPr/>
          <p:nvPr/>
        </p:nvCxnSpPr>
        <p:spPr>
          <a:xfrm>
            <a:off x="1187624" y="537321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FCE61EB7-1798-4AEE-B7FF-94124036BB37}"/>
              </a:ext>
            </a:extLst>
          </p:cNvPr>
          <p:cNvCxnSpPr/>
          <p:nvPr/>
        </p:nvCxnSpPr>
        <p:spPr>
          <a:xfrm>
            <a:off x="2483768" y="558924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7D5F5EDC-8EF2-41F9-85BD-0BC92BB4415F}"/>
              </a:ext>
            </a:extLst>
          </p:cNvPr>
          <p:cNvCxnSpPr/>
          <p:nvPr/>
        </p:nvCxnSpPr>
        <p:spPr>
          <a:xfrm>
            <a:off x="2483768" y="587727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EB5E1537-CFEA-4FDC-B311-FD420AEAF9E5}"/>
              </a:ext>
            </a:extLst>
          </p:cNvPr>
          <p:cNvCxnSpPr/>
          <p:nvPr/>
        </p:nvCxnSpPr>
        <p:spPr>
          <a:xfrm>
            <a:off x="2478832" y="478908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ABFE5A42-F95B-463E-81DC-AD3B1C2E2FBE}"/>
              </a:ext>
            </a:extLst>
          </p:cNvPr>
          <p:cNvCxnSpPr/>
          <p:nvPr/>
        </p:nvCxnSpPr>
        <p:spPr>
          <a:xfrm>
            <a:off x="1306322" y="4251750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3526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5716" y="762923"/>
            <a:ext cx="39006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Python内置函数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665" y="1730571"/>
            <a:ext cx="805398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解释器提供了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68</a:t>
            </a:r>
            <a:r>
              <a:rPr sz="2400" spc="21" dirty="0">
                <a:solidFill>
                  <a:srgbClr val="000000"/>
                </a:solidFill>
                <a:latin typeface="Microsoft YaHei"/>
                <a:cs typeface="Microsoft YaHei"/>
              </a:rPr>
              <a:t>个内置函数</a:t>
            </a:r>
            <a:endParaRPr sz="2400" spc="23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422" y="2943730"/>
            <a:ext cx="61098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abs()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all()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32888" y="2931792"/>
            <a:ext cx="795238" cy="76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id()</a:t>
            </a:r>
          </a:p>
          <a:p>
            <a:pPr marL="0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input()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int()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09390" y="2931792"/>
            <a:ext cx="795301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round()</a:t>
            </a:r>
          </a:p>
          <a:p>
            <a:pPr marL="91439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00370" y="2931792"/>
            <a:ext cx="979616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compile()</a:t>
            </a:r>
          </a:p>
          <a:p>
            <a:pPr marL="18440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dir()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3242" y="2931792"/>
            <a:ext cx="886924" cy="485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locals()</a:t>
            </a:r>
          </a:p>
          <a:p>
            <a:pPr marL="138683" marR="0">
              <a:lnSpc>
                <a:spcPts val="1359"/>
              </a:lnSpc>
              <a:spcBef>
                <a:spcPts val="75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map()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2422" y="3492369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any()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63670" y="3481066"/>
            <a:ext cx="886678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sorted()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str()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39053" y="3481066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exec()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58838" y="3492369"/>
            <a:ext cx="1255181" cy="473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memoryview()</a:t>
            </a:r>
          </a:p>
          <a:p>
            <a:pPr marL="277368" marR="0">
              <a:lnSpc>
                <a:spcPts val="1359"/>
              </a:lnSpc>
              <a:spcBef>
                <a:spcPts val="66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next()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06322" y="3766690"/>
            <a:ext cx="702426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asci()</a:t>
            </a:r>
          </a:p>
          <a:p>
            <a:pPr marL="4610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bin()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24327" y="3755387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len()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08929" y="3755387"/>
            <a:ext cx="1163741" cy="2131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enumerate()</a:t>
            </a:r>
          </a:p>
          <a:p>
            <a:pPr marL="13868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filter()</a:t>
            </a:r>
          </a:p>
          <a:p>
            <a:pPr marL="13868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format()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frozenset()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getattr()</a:t>
            </a:r>
          </a:p>
          <a:p>
            <a:pPr marL="9144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globals()</a:t>
            </a:r>
          </a:p>
          <a:p>
            <a:pPr marL="9144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hasattr()</a:t>
            </a:r>
          </a:p>
          <a:p>
            <a:pPr marL="230123" marR="0">
              <a:lnSpc>
                <a:spcPts val="1359"/>
              </a:lnSpc>
              <a:spcBef>
                <a:spcPts val="802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help()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78607" y="4029706"/>
            <a:ext cx="702426" cy="485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list()</a:t>
            </a:r>
          </a:p>
          <a:p>
            <a:pPr marL="4572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max()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009390" y="4029706"/>
            <a:ext cx="795238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tuple()</a:t>
            </a:r>
          </a:p>
          <a:p>
            <a:pPr marL="4571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type()</a:t>
            </a:r>
          </a:p>
          <a:p>
            <a:pPr marL="91439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zip()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051802" y="4029706"/>
            <a:ext cx="1071239" cy="7709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object()</a:t>
            </a:r>
          </a:p>
          <a:p>
            <a:pPr marL="0" marR="0">
              <a:lnSpc>
                <a:spcPts val="1362"/>
              </a:lnSpc>
              <a:spcBef>
                <a:spcPts val="837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property()</a:t>
            </a:r>
          </a:p>
          <a:p>
            <a:pPr marL="184404" marR="0">
              <a:lnSpc>
                <a:spcPts val="1359"/>
              </a:lnSpc>
              <a:spcBef>
                <a:spcPts val="80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repr()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06322" y="4315076"/>
            <a:ext cx="702915" cy="485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bool()</a:t>
            </a:r>
          </a:p>
          <a:p>
            <a:pPr marL="46100" marR="0">
              <a:lnSpc>
                <a:spcPts val="1359"/>
              </a:lnSpc>
              <a:spcBef>
                <a:spcPts val="75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chr()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24327" y="457834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min()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67688" y="4864224"/>
            <a:ext cx="979489" cy="185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complex()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dict()</a:t>
            </a:r>
          </a:p>
          <a:p>
            <a:pPr marL="472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divmod()</a:t>
            </a:r>
          </a:p>
          <a:p>
            <a:pPr marL="13863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eval()</a:t>
            </a:r>
          </a:p>
          <a:p>
            <a:pPr marL="9296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float()</a:t>
            </a:r>
          </a:p>
          <a:p>
            <a:pPr marL="138633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hash()</a:t>
            </a:r>
          </a:p>
          <a:p>
            <a:pPr marL="184734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hex()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24327" y="485266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oct()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097521" y="486422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setattr()</a:t>
            </a:r>
          </a:p>
          <a:p>
            <a:pPr marL="9144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slice()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578607" y="5126987"/>
            <a:ext cx="702426" cy="485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open()</a:t>
            </a:r>
          </a:p>
          <a:p>
            <a:pPr marL="45720" marR="0">
              <a:lnSpc>
                <a:spcPts val="1362"/>
              </a:lnSpc>
              <a:spcBef>
                <a:spcPts val="748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ord()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916426" y="5412864"/>
            <a:ext cx="979489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964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bytes()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delattr()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67397" y="5412864"/>
            <a:ext cx="1439433" cy="485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staticmethod()</a:t>
            </a:r>
          </a:p>
          <a:p>
            <a:pPr marL="414528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sum()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624327" y="5675906"/>
            <a:ext cx="61098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pow()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394204" y="5950226"/>
            <a:ext cx="1070929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683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print()</a:t>
            </a:r>
          </a:p>
          <a:p>
            <a:pPr marL="138683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range()</a:t>
            </a:r>
          </a:p>
          <a:p>
            <a:pPr marL="0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reversed()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733546" y="5961503"/>
            <a:ext cx="1346621" cy="748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39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bytearray()</a:t>
            </a:r>
          </a:p>
          <a:p>
            <a:pPr marL="137159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callable()</a:t>
            </a:r>
          </a:p>
          <a:p>
            <a:pPr marL="0" marR="0">
              <a:lnSpc>
                <a:spcPts val="1359"/>
              </a:lnSpc>
              <a:spcBef>
                <a:spcPts val="711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classmethod()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363209" y="5950226"/>
            <a:ext cx="1255181" cy="759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isinstance()</a:t>
            </a:r>
          </a:p>
          <a:p>
            <a:pPr marL="0" marR="0">
              <a:lnSpc>
                <a:spcPts val="1359"/>
              </a:lnSpc>
              <a:spcBef>
                <a:spcPts val="75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issubclass()</a:t>
            </a:r>
          </a:p>
          <a:p>
            <a:pPr marL="275844" marR="0">
              <a:lnSpc>
                <a:spcPts val="1359"/>
              </a:lnSpc>
              <a:spcBef>
                <a:spcPts val="80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iter()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188961" y="5961503"/>
            <a:ext cx="795238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super()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236206" y="6235824"/>
            <a:ext cx="702426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vars()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958838" y="6510143"/>
            <a:ext cx="1255181" cy="2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Courier New"/>
                <a:cs typeface="Courier New"/>
              </a:rPr>
              <a:t>__import()__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0B9E4292-C82B-4405-B744-456ADCB5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504" y="2616895"/>
            <a:ext cx="4285364" cy="3952058"/>
          </a:xfrm>
          <a:prstGeom prst="rect">
            <a:avLst/>
          </a:prstGeom>
        </p:spPr>
      </p:pic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ED544D0-B468-4309-B0D4-59A3908714A1}"/>
              </a:ext>
            </a:extLst>
          </p:cNvPr>
          <p:cNvSpPr/>
          <p:nvPr/>
        </p:nvSpPr>
        <p:spPr>
          <a:xfrm>
            <a:off x="3799643" y="3355759"/>
            <a:ext cx="949910" cy="355107"/>
          </a:xfrm>
          <a:custGeom>
            <a:avLst/>
            <a:gdLst>
              <a:gd name="connsiteX0" fmla="*/ 355107 w 949910"/>
              <a:gd name="connsiteY0" fmla="*/ 292963 h 355107"/>
              <a:gd name="connsiteX1" fmla="*/ 213064 w 949910"/>
              <a:gd name="connsiteY1" fmla="*/ 301841 h 355107"/>
              <a:gd name="connsiteX2" fmla="*/ 133165 w 949910"/>
              <a:gd name="connsiteY2" fmla="*/ 319596 h 355107"/>
              <a:gd name="connsiteX3" fmla="*/ 0 w 949910"/>
              <a:gd name="connsiteY3" fmla="*/ 292963 h 355107"/>
              <a:gd name="connsiteX4" fmla="*/ 62143 w 949910"/>
              <a:gd name="connsiteY4" fmla="*/ 230820 h 355107"/>
              <a:gd name="connsiteX5" fmla="*/ 115409 w 949910"/>
              <a:gd name="connsiteY5" fmla="*/ 195309 h 355107"/>
              <a:gd name="connsiteX6" fmla="*/ 186431 w 949910"/>
              <a:gd name="connsiteY6" fmla="*/ 159798 h 355107"/>
              <a:gd name="connsiteX7" fmla="*/ 266330 w 949910"/>
              <a:gd name="connsiteY7" fmla="*/ 115410 h 355107"/>
              <a:gd name="connsiteX8" fmla="*/ 363984 w 949910"/>
              <a:gd name="connsiteY8" fmla="*/ 106532 h 355107"/>
              <a:gd name="connsiteX9" fmla="*/ 435006 w 949910"/>
              <a:gd name="connsiteY9" fmla="*/ 79899 h 355107"/>
              <a:gd name="connsiteX10" fmla="*/ 488272 w 949910"/>
              <a:gd name="connsiteY10" fmla="*/ 44389 h 355107"/>
              <a:gd name="connsiteX11" fmla="*/ 568171 w 949910"/>
              <a:gd name="connsiteY11" fmla="*/ 0 h 355107"/>
              <a:gd name="connsiteX12" fmla="*/ 692458 w 949910"/>
              <a:gd name="connsiteY12" fmla="*/ 8878 h 355107"/>
              <a:gd name="connsiteX13" fmla="*/ 798990 w 949910"/>
              <a:gd name="connsiteY13" fmla="*/ 71022 h 355107"/>
              <a:gd name="connsiteX14" fmla="*/ 843378 w 949910"/>
              <a:gd name="connsiteY14" fmla="*/ 97655 h 355107"/>
              <a:gd name="connsiteX15" fmla="*/ 905522 w 949910"/>
              <a:gd name="connsiteY15" fmla="*/ 133165 h 355107"/>
              <a:gd name="connsiteX16" fmla="*/ 949910 w 949910"/>
              <a:gd name="connsiteY16" fmla="*/ 195309 h 355107"/>
              <a:gd name="connsiteX17" fmla="*/ 905522 w 949910"/>
              <a:gd name="connsiteY17" fmla="*/ 275208 h 355107"/>
              <a:gd name="connsiteX18" fmla="*/ 843378 w 949910"/>
              <a:gd name="connsiteY18" fmla="*/ 310719 h 355107"/>
              <a:gd name="connsiteX19" fmla="*/ 807868 w 949910"/>
              <a:gd name="connsiteY19" fmla="*/ 328474 h 355107"/>
              <a:gd name="connsiteX20" fmla="*/ 772357 w 949910"/>
              <a:gd name="connsiteY20" fmla="*/ 337352 h 355107"/>
              <a:gd name="connsiteX21" fmla="*/ 719091 w 949910"/>
              <a:gd name="connsiteY21" fmla="*/ 355107 h 355107"/>
              <a:gd name="connsiteX22" fmla="*/ 355107 w 949910"/>
              <a:gd name="connsiteY22" fmla="*/ 292963 h 355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49910" h="355107">
                <a:moveTo>
                  <a:pt x="355107" y="292963"/>
                </a:moveTo>
                <a:cubicBezTo>
                  <a:pt x="307759" y="295922"/>
                  <a:pt x="260166" y="296189"/>
                  <a:pt x="213064" y="301841"/>
                </a:cubicBezTo>
                <a:cubicBezTo>
                  <a:pt x="185976" y="305092"/>
                  <a:pt x="160424" y="320732"/>
                  <a:pt x="133165" y="319596"/>
                </a:cubicBezTo>
                <a:cubicBezTo>
                  <a:pt x="87937" y="317711"/>
                  <a:pt x="44388" y="301841"/>
                  <a:pt x="0" y="292963"/>
                </a:cubicBezTo>
                <a:cubicBezTo>
                  <a:pt x="163190" y="211368"/>
                  <a:pt x="-12403" y="316016"/>
                  <a:pt x="62143" y="230820"/>
                </a:cubicBezTo>
                <a:cubicBezTo>
                  <a:pt x="76195" y="214760"/>
                  <a:pt x="96881" y="205896"/>
                  <a:pt x="115409" y="195309"/>
                </a:cubicBezTo>
                <a:cubicBezTo>
                  <a:pt x="138390" y="182177"/>
                  <a:pt x="163293" y="172652"/>
                  <a:pt x="186431" y="159798"/>
                </a:cubicBezTo>
                <a:cubicBezTo>
                  <a:pt x="213064" y="145002"/>
                  <a:pt x="237148" y="124165"/>
                  <a:pt x="266330" y="115410"/>
                </a:cubicBezTo>
                <a:cubicBezTo>
                  <a:pt x="297637" y="106018"/>
                  <a:pt x="331433" y="109491"/>
                  <a:pt x="363984" y="106532"/>
                </a:cubicBezTo>
                <a:cubicBezTo>
                  <a:pt x="387658" y="97654"/>
                  <a:pt x="412391" y="91206"/>
                  <a:pt x="435006" y="79899"/>
                </a:cubicBezTo>
                <a:cubicBezTo>
                  <a:pt x="454092" y="70356"/>
                  <a:pt x="469974" y="55368"/>
                  <a:pt x="488272" y="44389"/>
                </a:cubicBezTo>
                <a:cubicBezTo>
                  <a:pt x="514397" y="28714"/>
                  <a:pt x="541538" y="14796"/>
                  <a:pt x="568171" y="0"/>
                </a:cubicBezTo>
                <a:cubicBezTo>
                  <a:pt x="609600" y="2959"/>
                  <a:pt x="652760" y="-3337"/>
                  <a:pt x="692458" y="8878"/>
                </a:cubicBezTo>
                <a:cubicBezTo>
                  <a:pt x="731751" y="20968"/>
                  <a:pt x="763555" y="50178"/>
                  <a:pt x="798990" y="71022"/>
                </a:cubicBezTo>
                <a:cubicBezTo>
                  <a:pt x="813863" y="79771"/>
                  <a:pt x="831177" y="85454"/>
                  <a:pt x="843378" y="97655"/>
                </a:cubicBezTo>
                <a:cubicBezTo>
                  <a:pt x="878639" y="132916"/>
                  <a:pt x="857831" y="121243"/>
                  <a:pt x="905522" y="133165"/>
                </a:cubicBezTo>
                <a:cubicBezTo>
                  <a:pt x="947650" y="175293"/>
                  <a:pt x="935740" y="152795"/>
                  <a:pt x="949910" y="195309"/>
                </a:cubicBezTo>
                <a:cubicBezTo>
                  <a:pt x="935114" y="221942"/>
                  <a:pt x="923802" y="250834"/>
                  <a:pt x="905522" y="275208"/>
                </a:cubicBezTo>
                <a:cubicBezTo>
                  <a:pt x="883479" y="304599"/>
                  <a:pt x="870795" y="298969"/>
                  <a:pt x="843378" y="310719"/>
                </a:cubicBezTo>
                <a:cubicBezTo>
                  <a:pt x="831214" y="315932"/>
                  <a:pt x="820259" y="323827"/>
                  <a:pt x="807868" y="328474"/>
                </a:cubicBezTo>
                <a:cubicBezTo>
                  <a:pt x="796444" y="332758"/>
                  <a:pt x="784044" y="333846"/>
                  <a:pt x="772357" y="337352"/>
                </a:cubicBezTo>
                <a:cubicBezTo>
                  <a:pt x="754431" y="342730"/>
                  <a:pt x="736846" y="349189"/>
                  <a:pt x="719091" y="355107"/>
                </a:cubicBezTo>
                <a:lnTo>
                  <a:pt x="355107" y="292963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1674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2894" y="2340758"/>
            <a:ext cx="8344255" cy="1066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094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6000" dirty="0">
                <a:solidFill>
                  <a:srgbClr val="000000"/>
                </a:solidFill>
                <a:latin typeface="Palatino Linotype"/>
                <a:cs typeface="Palatino Linotype"/>
              </a:rPr>
              <a:t>7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60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6000" dirty="0">
                <a:solidFill>
                  <a:srgbClr val="000000"/>
                </a:solidFill>
                <a:latin typeface="SimHei"/>
                <a:cs typeface="SimHei"/>
              </a:rPr>
              <a:t>文件和数据格式化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7479" y="2788949"/>
            <a:ext cx="35814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文件的使用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268924"/>
            <a:ext cx="8535568" cy="1537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二进制文件直接由比特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和比特</a:t>
            </a:r>
            <a:r>
              <a:rPr sz="2400" spc="44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40" dirty="0">
                <a:solidFill>
                  <a:srgbClr val="000000"/>
                </a:solidFill>
                <a:latin typeface="Microsoft YaHei"/>
                <a:cs typeface="Microsoft YaHei"/>
              </a:rPr>
              <a:t>组成，没有统一字符编码，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文件内部数据的组织格式与文件用途有关。二进制文件和文本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文件最主要的区别在于是否有统一的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字符编码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。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917" y="3915098"/>
            <a:ext cx="8538616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无论文件创建为文本文件或者二进制文件，都可以用“文本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文件方式”和“二进制文件方式”打开，打开后的操作不同。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665" y="1935394"/>
            <a:ext cx="6659270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7.1</a:t>
            </a:r>
            <a:r>
              <a:rPr sz="2400" spc="11" dirty="0">
                <a:solidFill>
                  <a:srgbClr val="000000"/>
                </a:solidFill>
                <a:latin typeface="SimSun"/>
                <a:cs typeface="SimSun"/>
              </a:rPr>
              <a:t>：理解文本文件和二进制文件的区别</a:t>
            </a:r>
            <a:r>
              <a:rPr lang="zh-CN" altLang="en-US" sz="2400" spc="11" dirty="0">
                <a:solidFill>
                  <a:srgbClr val="FF0000"/>
                </a:solidFill>
                <a:latin typeface="SimSun"/>
                <a:cs typeface="SimSun"/>
              </a:rPr>
              <a:t>（注意中文文本文件）</a:t>
            </a:r>
            <a:endParaRPr sz="2400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52120" y="3429000"/>
            <a:ext cx="31683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输出结果：</a:t>
            </a:r>
            <a:endParaRPr lang="en-US" altLang="zh-CN" dirty="0"/>
          </a:p>
          <a:p>
            <a:r>
              <a:rPr lang="zh-CN" altLang="pt-BR" dirty="0"/>
              <a:t>中</a:t>
            </a:r>
          </a:p>
          <a:p>
            <a:endParaRPr lang="zh-CN" altLang="pt-BR" dirty="0"/>
          </a:p>
          <a:p>
            <a:r>
              <a:rPr lang="pt-BR" altLang="zh-CN" dirty="0"/>
              <a:t>b'\xe4\xb8\xad</a:t>
            </a:r>
            <a:r>
              <a:rPr lang="pt-BR" altLang="zh-CN" dirty="0">
                <a:solidFill>
                  <a:srgbClr val="FF0000"/>
                </a:solidFill>
              </a:rPr>
              <a:t>\r\n</a:t>
            </a:r>
            <a:r>
              <a:rPr lang="pt-BR" altLang="zh-CN" dirty="0"/>
              <a:t>'</a:t>
            </a:r>
          </a:p>
          <a:p>
            <a:r>
              <a:rPr lang="pt-BR" altLang="zh-CN" dirty="0"/>
              <a:t>0xE4</a:t>
            </a:r>
          </a:p>
          <a:p>
            <a:r>
              <a:rPr lang="pt-BR" altLang="zh-CN" dirty="0"/>
              <a:t>0xB8</a:t>
            </a:r>
          </a:p>
          <a:p>
            <a:r>
              <a:rPr lang="pt-BR" altLang="zh-CN" dirty="0"/>
              <a:t>0xAD</a:t>
            </a:r>
          </a:p>
          <a:p>
            <a:r>
              <a:rPr lang="pt-BR" altLang="zh-CN" dirty="0">
                <a:solidFill>
                  <a:srgbClr val="FF0000"/>
                </a:solidFill>
              </a:rPr>
              <a:t>0x0D</a:t>
            </a:r>
          </a:p>
          <a:p>
            <a:r>
              <a:rPr lang="pt-BR" altLang="zh-CN" dirty="0">
                <a:solidFill>
                  <a:srgbClr val="FF0000"/>
                </a:solidFill>
              </a:rPr>
              <a:t>0x0A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9512" y="2736502"/>
            <a:ext cx="55446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textfile</a:t>
            </a:r>
            <a:r>
              <a:rPr lang="en-US" altLang="zh-CN" dirty="0"/>
              <a:t>=open("F:\\python\\7.1.txt",</a:t>
            </a:r>
            <a:r>
              <a:rPr lang="en-US" altLang="zh-CN" dirty="0">
                <a:solidFill>
                  <a:srgbClr val="FF0000"/>
                </a:solidFill>
              </a:rPr>
              <a:t>"rt",</a:t>
            </a:r>
            <a:r>
              <a:rPr lang="en-US" altLang="zh-CN" dirty="0"/>
              <a:t>encoding="utf-8")</a:t>
            </a:r>
          </a:p>
          <a:p>
            <a:r>
              <a:rPr lang="en-US" altLang="zh-CN" dirty="0"/>
              <a:t>d=</a:t>
            </a:r>
            <a:r>
              <a:rPr lang="en-US" altLang="zh-CN" dirty="0" err="1"/>
              <a:t>textfile.readline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print(d)</a:t>
            </a:r>
          </a:p>
          <a:p>
            <a:r>
              <a:rPr lang="en-US" altLang="zh-CN" dirty="0" err="1"/>
              <a:t>textfile.close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textfile</a:t>
            </a:r>
            <a:r>
              <a:rPr lang="en-US" altLang="zh-CN" dirty="0"/>
              <a:t>=open("F:/python/7.1.txt",</a:t>
            </a:r>
            <a:r>
              <a:rPr lang="en-US" altLang="zh-CN" dirty="0">
                <a:solidFill>
                  <a:srgbClr val="FF0000"/>
                </a:solidFill>
              </a:rPr>
              <a:t>"rb")</a:t>
            </a:r>
          </a:p>
          <a:p>
            <a:r>
              <a:rPr lang="en-US" altLang="zh-CN" dirty="0"/>
              <a:t>d=</a:t>
            </a:r>
            <a:r>
              <a:rPr lang="en-US" altLang="zh-CN" dirty="0" err="1"/>
              <a:t>textfile.readline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print(d)</a:t>
            </a:r>
          </a:p>
          <a:p>
            <a:r>
              <a:rPr lang="en-US" altLang="zh-CN" dirty="0"/>
              <a:t>for c in d:</a:t>
            </a:r>
          </a:p>
          <a:p>
            <a:r>
              <a:rPr lang="en-US" altLang="zh-CN" dirty="0"/>
              <a:t>  print("0x{:0&gt;2X}".format(c));</a:t>
            </a:r>
          </a:p>
          <a:p>
            <a:r>
              <a:rPr lang="en-US" altLang="zh-CN" dirty="0" err="1"/>
              <a:t>textfile.close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763689" y="1772816"/>
            <a:ext cx="7380312" cy="110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dirty="0"/>
              <a:t>字符         </a:t>
            </a:r>
            <a:r>
              <a:rPr lang="en-US" altLang="zh-CN" dirty="0">
                <a:solidFill>
                  <a:srgbClr val="FF0000"/>
                </a:solidFill>
              </a:rPr>
              <a:t>ASCII                  Unicode                           UTF-8</a:t>
            </a:r>
          </a:p>
          <a:p>
            <a:r>
              <a:rPr lang="en-US" altLang="zh-CN" dirty="0"/>
              <a:t> A         01000001        00000000 01000001               01000001</a:t>
            </a:r>
          </a:p>
          <a:p>
            <a:r>
              <a:rPr lang="en-US" altLang="zh-CN" dirty="0"/>
              <a:t> </a:t>
            </a:r>
            <a:r>
              <a:rPr lang="zh-CN" altLang="en-US" dirty="0"/>
              <a:t>中              </a:t>
            </a:r>
            <a:r>
              <a:rPr lang="en-US" altLang="zh-CN" dirty="0"/>
              <a:t>x                 01001110 00101101      11100100 10111000 10101101</a:t>
            </a:r>
          </a:p>
          <a:p>
            <a:r>
              <a:rPr lang="en-US" altLang="zh-CN" dirty="0"/>
              <a:t>                                                                               0xe4           0xb8          0xad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1102" y="1352660"/>
            <a:ext cx="1981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输出结果为：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28395" y="4773365"/>
            <a:ext cx="7737084" cy="311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61" dirty="0">
                <a:solidFill>
                  <a:srgbClr val="000000"/>
                </a:solidFill>
                <a:latin typeface="Microsoft YaHei"/>
                <a:cs typeface="Microsoft YaHei"/>
              </a:rPr>
              <a:t>采用文本方式读入文件，文件经过编码形成</a:t>
            </a:r>
            <a:r>
              <a:rPr sz="2000" spc="61" dirty="0">
                <a:solidFill>
                  <a:srgbClr val="FF0000"/>
                </a:solidFill>
                <a:latin typeface="Microsoft YaHei"/>
                <a:cs typeface="Microsoft YaHei"/>
              </a:rPr>
              <a:t>字符串</a:t>
            </a:r>
            <a:r>
              <a:rPr sz="2000" spc="61" dirty="0">
                <a:solidFill>
                  <a:srgbClr val="000000"/>
                </a:solidFill>
                <a:latin typeface="Microsoft YaHei"/>
                <a:cs typeface="Microsoft YaHei"/>
              </a:rPr>
              <a:t>，打印出有含义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1390" y="5230565"/>
            <a:ext cx="8003768" cy="311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56" dirty="0">
                <a:solidFill>
                  <a:srgbClr val="000000"/>
                </a:solidFill>
                <a:latin typeface="Microsoft YaHei"/>
                <a:cs typeface="Microsoft YaHei"/>
              </a:rPr>
              <a:t>的字符；采用二进制方式打开文件，文件被解析为</a:t>
            </a:r>
            <a:r>
              <a:rPr sz="2000" spc="56" dirty="0">
                <a:solidFill>
                  <a:srgbClr val="FF0000"/>
                </a:solidFill>
                <a:latin typeface="Microsoft YaHei"/>
                <a:cs typeface="Microsoft YaHei"/>
              </a:rPr>
              <a:t>字节（</a:t>
            </a:r>
            <a:r>
              <a:rPr sz="2000" spc="10" dirty="0">
                <a:solidFill>
                  <a:srgbClr val="FF0000"/>
                </a:solidFill>
                <a:latin typeface="Microsoft YaHei"/>
                <a:cs typeface="Microsoft YaHei"/>
              </a:rPr>
              <a:t>byte</a:t>
            </a:r>
            <a:r>
              <a:rPr sz="2000" spc="63" dirty="0">
                <a:solidFill>
                  <a:srgbClr val="FF0000"/>
                </a:solidFill>
                <a:latin typeface="Microsoft YaHei"/>
                <a:cs typeface="Microsoft YaHei"/>
              </a:rPr>
              <a:t>）流</a:t>
            </a:r>
            <a:r>
              <a:rPr sz="2000" spc="63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1390" y="5703385"/>
            <a:ext cx="7699042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由于存在编码，字符串中的一个字符由</a:t>
            </a:r>
            <a:r>
              <a:rPr lang="en-US" sz="200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到多</a:t>
            </a:r>
            <a:r>
              <a:rPr sz="2000" dirty="0" err="1">
                <a:solidFill>
                  <a:srgbClr val="000000"/>
                </a:solidFill>
                <a:latin typeface="Microsoft YaHei"/>
                <a:cs typeface="Microsoft YaHei"/>
              </a:rPr>
              <a:t>个字节表示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413357"/>
            <a:ext cx="3752850" cy="127635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79512" y="234131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pt-BR" dirty="0"/>
              <a:t>中</a:t>
            </a:r>
          </a:p>
          <a:p>
            <a:endParaRPr lang="zh-CN" altLang="pt-BR" dirty="0"/>
          </a:p>
          <a:p>
            <a:r>
              <a:rPr lang="pt-BR" altLang="zh-CN" dirty="0"/>
              <a:t>b'\xe4\xb8\xad\r\n'</a:t>
            </a:r>
          </a:p>
          <a:p>
            <a:r>
              <a:rPr lang="pt-BR" altLang="zh-CN" dirty="0"/>
              <a:t>0xE4</a:t>
            </a:r>
          </a:p>
          <a:p>
            <a:r>
              <a:rPr lang="pt-BR" altLang="zh-CN" dirty="0"/>
              <a:t>0xB8</a:t>
            </a:r>
          </a:p>
          <a:p>
            <a:r>
              <a:rPr lang="pt-BR" altLang="zh-CN" dirty="0"/>
              <a:t>0xAD</a:t>
            </a:r>
          </a:p>
          <a:p>
            <a:r>
              <a:rPr lang="pt-BR" altLang="zh-CN" dirty="0"/>
              <a:t>0x0D</a:t>
            </a:r>
          </a:p>
          <a:p>
            <a:r>
              <a:rPr lang="pt-BR" altLang="zh-CN" dirty="0"/>
              <a:t>0x0A</a:t>
            </a:r>
            <a:endParaRPr lang="zh-CN" altLang="en-US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文件的打开关闭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1770195"/>
            <a:ext cx="8465540" cy="98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Python对文本文件和二进制文件采用统一的操作步骤，即“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打开-操作-关闭”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文件的打开关闭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2195772"/>
            <a:ext cx="8454872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86" dirty="0">
                <a:solidFill>
                  <a:srgbClr val="000000"/>
                </a:solidFill>
                <a:latin typeface="Microsoft YaHei"/>
                <a:cs typeface="Microsoft YaHei"/>
              </a:rPr>
              <a:t>通过解释器内置的</a:t>
            </a:r>
            <a:r>
              <a:rPr sz="2400" spc="18" dirty="0">
                <a:solidFill>
                  <a:srgbClr val="000000"/>
                </a:solidFill>
                <a:latin typeface="Microsoft YaHei"/>
                <a:cs typeface="Microsoft YaHei"/>
              </a:rPr>
              <a:t>open()</a:t>
            </a:r>
            <a:r>
              <a:rPr sz="2400" spc="87" dirty="0">
                <a:solidFill>
                  <a:srgbClr val="000000"/>
                </a:solidFill>
                <a:latin typeface="Microsoft YaHei"/>
                <a:cs typeface="Microsoft YaHei"/>
              </a:rPr>
              <a:t>函数打开一个文件，并实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现该文件与一个程序变量的关联，open()函数格式如下：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090" y="3704786"/>
            <a:ext cx="6076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&lt;变量名&gt;</a:t>
            </a:r>
            <a:r>
              <a:rPr sz="2400" spc="1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400" spc="1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open(&lt;文件名&gt;,</a:t>
            </a:r>
            <a:r>
              <a:rPr sz="2400" spc="1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&lt;打开模式&gt;)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0023" y="4802447"/>
            <a:ext cx="750599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open()函数有两个参数：文件名和打开模式。文件名可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2290" y="5351036"/>
            <a:ext cx="71628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以是文件的实际名字，也可以是包含完整路径的名字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63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2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文件的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名称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897" y="1411522"/>
            <a:ext cx="8694206" cy="5366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lvl="0"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实例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：绝对路径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=open("F:\\python\\7.1.txt","rt",encoding="utf-8")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r"F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:\python\7.1.txt","rt",encoding="utf-8")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=open("F:/python/7.1.txt","rt",encoding="utf-8")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f = "f:/python/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中文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/7.1.txt"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=open(f,"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rt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",encoding="utf-8")</a:t>
            </a: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=open("F:/python/7.1.txt","rb")</a:t>
            </a:r>
          </a:p>
          <a:p>
            <a:pPr marL="304800" lvl="0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实例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：相对路径（与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*.</a:t>
            </a: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py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文件同路径）</a:t>
            </a:r>
            <a:endParaRPr lang="en-US" altLang="zh-CN"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304800" lvl="0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textfile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=open("7.1.txt","rb")</a:t>
            </a:r>
          </a:p>
          <a:p>
            <a:pPr marL="304800" marR="0" lvl="0" indent="0" algn="l" defTabSz="914400" rtl="0" eaLnBrk="1" fontAlgn="auto" latinLnBrk="0" hangingPunct="1">
              <a:lnSpc>
                <a:spcPts val="31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383743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文件的打开关闭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97601"/>
            <a:ext cx="4943271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open()函数提供7种基本的打开模式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0879" y="3376096"/>
            <a:ext cx="865632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打开模式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6570" y="3376096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含义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81430" y="3662825"/>
            <a:ext cx="473955" cy="2160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'r'</a:t>
            </a:r>
          </a:p>
          <a:p>
            <a:pPr marL="0" marR="0">
              <a:lnSpc>
                <a:spcPts val="1590"/>
              </a:lnSpc>
              <a:spcBef>
                <a:spcPts val="93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'w'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'x'</a:t>
            </a:r>
          </a:p>
          <a:p>
            <a:pPr marL="0" marR="0">
              <a:lnSpc>
                <a:spcPts val="1590"/>
              </a:lnSpc>
              <a:spcBef>
                <a:spcPts val="97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'a'</a:t>
            </a:r>
          </a:p>
          <a:p>
            <a:pPr marL="0" marR="0">
              <a:lnSpc>
                <a:spcPts val="1590"/>
              </a:lnSpc>
              <a:spcBef>
                <a:spcPts val="931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'b'</a:t>
            </a:r>
          </a:p>
          <a:p>
            <a:pPr marL="0" marR="0">
              <a:lnSpc>
                <a:spcPts val="1590"/>
              </a:lnSpc>
              <a:spcBef>
                <a:spcPts val="929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't'</a:t>
            </a:r>
          </a:p>
          <a:p>
            <a:pPr marL="0" marR="0">
              <a:lnSpc>
                <a:spcPts val="1593"/>
              </a:lnSpc>
              <a:spcBef>
                <a:spcPts val="927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'+'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55113" y="3643018"/>
            <a:ext cx="5242797" cy="151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只读模式，如果文件不存在，返回异常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FileNotFoundError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，默认值</a:t>
            </a:r>
          </a:p>
          <a:p>
            <a:pPr marL="0" marR="0">
              <a:lnSpc>
                <a:spcPts val="1403"/>
              </a:lnSpc>
              <a:spcBef>
                <a:spcPts val="988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覆盖写模式，文件不存在则创建，存在则完全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覆盖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源文件</a:t>
            </a:r>
          </a:p>
          <a:p>
            <a:pPr marL="0" marR="0">
              <a:lnSpc>
                <a:spcPts val="1713"/>
              </a:lnSpc>
              <a:spcBef>
                <a:spcPts val="98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创建写模式，文件不存在则创建，存在则返回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异常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FileExistsError</a:t>
            </a:r>
          </a:p>
          <a:p>
            <a:pPr marL="0" marR="0">
              <a:lnSpc>
                <a:spcPts val="1403"/>
              </a:lnSpc>
              <a:spcBef>
                <a:spcPts val="93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追加写模式，文件不存在则创建，存在则在原文件最后</a:t>
            </a:r>
            <a:r>
              <a:rPr sz="1400" dirty="0">
                <a:solidFill>
                  <a:srgbClr val="FF0000"/>
                </a:solidFill>
                <a:latin typeface="SimSun"/>
                <a:cs typeface="SimSun"/>
              </a:rPr>
              <a:t>追加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内容</a:t>
            </a:r>
          </a:p>
          <a:p>
            <a:pPr marL="0" marR="0">
              <a:lnSpc>
                <a:spcPts val="1403"/>
              </a:lnSpc>
              <a:spcBef>
                <a:spcPts val="11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二进制文件模式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55113" y="5260268"/>
            <a:ext cx="1935479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文本文件模式，默认值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55113" y="5563526"/>
            <a:ext cx="4463090" cy="256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Calibri"/>
                <a:cs typeface="Calibri"/>
              </a:rPr>
              <a:t>r/w/x/a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一同使用，在原功能基础上增加同时读写功能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0941" y="1927548"/>
            <a:ext cx="8500516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根据打开方式不同可以对文件进行相应的读写操作，Python提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供4个常用的文件内容读取方法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占用内存不同</a:t>
            </a:r>
            <a:r>
              <a:rPr lang="zh-CN" alt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430" y="3412418"/>
            <a:ext cx="1375257" cy="6324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7473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方法</a:t>
            </a:r>
          </a:p>
          <a:p>
            <a:pPr marL="0" marR="0">
              <a:lnSpc>
                <a:spcPts val="1948"/>
              </a:lnSpc>
              <a:spcBef>
                <a:spcPts val="11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&lt;file&gt;.readall()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81707" y="3412418"/>
            <a:ext cx="6554841" cy="1338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2963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含义</a:t>
            </a:r>
          </a:p>
          <a:p>
            <a:pPr marL="0" marR="0">
              <a:lnSpc>
                <a:spcPts val="1948"/>
              </a:lnSpc>
              <a:spcBef>
                <a:spcPts val="11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读入整个文件内容，返回一个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字符串或字节流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*</a:t>
            </a:r>
          </a:p>
          <a:p>
            <a:pPr marL="0" marR="0">
              <a:lnSpc>
                <a:spcPts val="1948"/>
              </a:lnSpc>
              <a:spcBef>
                <a:spcPts val="98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从文件中读入整个文件内容，如果给出参数，读入前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size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长度的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字符串或</a:t>
            </a:r>
          </a:p>
          <a:p>
            <a:pPr marL="0" marR="0">
              <a:lnSpc>
                <a:spcPts val="1596"/>
              </a:lnSpc>
              <a:spcBef>
                <a:spcPts val="1029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字节流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9430" y="4125388"/>
            <a:ext cx="1731675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&lt;file&gt;.read(size=-1)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9430" y="4856908"/>
            <a:ext cx="8717118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&lt;file&gt;.readline(size</a:t>
            </a:r>
            <a:r>
              <a:rPr sz="1600" spc="-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600" spc="-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-1)</a:t>
            </a:r>
            <a:r>
              <a:rPr sz="1600" spc="112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从文件中读入一行内容，如果给出参数，读入</a:t>
            </a:r>
            <a:r>
              <a:rPr sz="1600" dirty="0">
                <a:latin typeface="SimSun"/>
                <a:cs typeface="SimSun"/>
              </a:rPr>
              <a:t>该行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前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size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长度的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字符串或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81707" y="5241472"/>
            <a:ext cx="76047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字节流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9430" y="5588163"/>
            <a:ext cx="871514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&lt;file&gt;.readlines(hint=-1)</a:t>
            </a:r>
            <a:r>
              <a:rPr sz="1600" spc="10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spc="27" dirty="0">
                <a:solidFill>
                  <a:srgbClr val="000000"/>
                </a:solidFill>
                <a:latin typeface="SimSun"/>
                <a:cs typeface="SimSun"/>
              </a:rPr>
              <a:t>从文件中读入所有行，以每行为元素形成一个</a:t>
            </a:r>
            <a:r>
              <a:rPr sz="1600" spc="27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r>
              <a:rPr sz="1600" spc="27" dirty="0">
                <a:solidFill>
                  <a:srgbClr val="000000"/>
                </a:solidFill>
                <a:latin typeface="SimSun"/>
                <a:cs typeface="SimSun"/>
              </a:rPr>
              <a:t>，如果给出参数，读</a:t>
            </a:r>
          </a:p>
          <a:p>
            <a:pPr marL="2162276" marR="0">
              <a:lnSpc>
                <a:spcPts val="1948"/>
              </a:lnSpc>
              <a:spcBef>
                <a:spcPts val="93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入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hint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行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1565" y="2484697"/>
            <a:ext cx="807811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如果程序需要逐行处理文件内容，建议采用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（占用内存少）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845" y="3033591"/>
            <a:ext cx="3276925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</a:t>
            </a:r>
            <a:r>
              <a:rPr sz="2400" spc="1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400" spc="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open(fname,</a:t>
            </a:r>
            <a:r>
              <a:rPr sz="2400" spc="1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"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r</a:t>
            </a:r>
            <a:r>
              <a:rPr sz="2000" b="1" dirty="0">
                <a:solidFill>
                  <a:srgbClr val="000000"/>
                </a:solidFill>
                <a:latin typeface="Microsoft YaHei"/>
                <a:cs typeface="Microsoft YaHei"/>
              </a:rPr>
              <a:t>"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)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10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line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15845" y="4130549"/>
            <a:ext cx="2629585" cy="989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18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#</a:t>
            </a:r>
            <a:r>
              <a:rPr sz="2400" spc="1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处理一行数据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fo.close()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2866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9218" y="1938470"/>
            <a:ext cx="77645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Python提供3个与文件内容写入有关的方法，如表所示。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0534" y="3098093"/>
            <a:ext cx="1538325" cy="590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0541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方法</a:t>
            </a:r>
          </a:p>
          <a:p>
            <a:pPr marL="0" marR="0">
              <a:lnSpc>
                <a:spcPts val="1948"/>
              </a:lnSpc>
              <a:spcBef>
                <a:spcPts val="85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&lt;file&gt;.write(s)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1697" y="3098093"/>
            <a:ext cx="557783" cy="240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含义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60090" y="3426134"/>
            <a:ext cx="2990088" cy="240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向文件写入一个字符串或字节流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0534" y="3731307"/>
            <a:ext cx="1974252" cy="61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&lt;file&gt;.writelines(lines)</a:t>
            </a:r>
          </a:p>
          <a:p>
            <a:pPr marL="0" marR="0">
              <a:lnSpc>
                <a:spcPts val="1948"/>
              </a:lnSpc>
              <a:spcBef>
                <a:spcPts val="683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&lt;file&gt;.seek(offset)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60090" y="3754048"/>
            <a:ext cx="4076786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将一个元素为字符串的</a:t>
            </a:r>
            <a:r>
              <a:rPr sz="1600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写入文件</a:t>
            </a:r>
          </a:p>
          <a:p>
            <a:pPr marL="0" marR="0">
              <a:lnSpc>
                <a:spcPts val="1948"/>
              </a:lnSpc>
              <a:spcBef>
                <a:spcPts val="85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改变当前文件操作指针的位置，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offset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的值：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60090" y="4424981"/>
            <a:ext cx="3798189" cy="285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0：文件开头；</a:t>
            </a:r>
            <a:r>
              <a:rPr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1:</a:t>
            </a:r>
            <a:r>
              <a:rPr sz="16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当前位置；</a:t>
            </a:r>
            <a:r>
              <a:rPr sz="16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Calibri"/>
                <a:cs typeface="Calibri"/>
              </a:rPr>
              <a:t>2:</a:t>
            </a:r>
            <a:r>
              <a:rPr sz="1600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文件结尾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07BA47-3F92-4C39-930E-F7A7D149E9D1}"/>
              </a:ext>
            </a:extLst>
          </p:cNvPr>
          <p:cNvSpPr txBox="1"/>
          <p:nvPr/>
        </p:nvSpPr>
        <p:spPr>
          <a:xfrm>
            <a:off x="726482" y="4911726"/>
            <a:ext cx="76619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seek(offset, from)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offset </a:t>
            </a:r>
            <a:r>
              <a:rPr lang="zh-CN" altLang="en-US" b="0" i="0" dirty="0">
                <a:effectLst/>
                <a:latin typeface="-apple-system"/>
              </a:rPr>
              <a:t>：文件指针偏移量</a:t>
            </a:r>
            <a:r>
              <a:rPr lang="en-US" altLang="zh-CN" b="0" i="0" dirty="0">
                <a:effectLst/>
                <a:latin typeface="-apple-system"/>
              </a:rPr>
              <a:t>(</a:t>
            </a:r>
            <a:r>
              <a:rPr lang="zh-CN" altLang="en-US" b="0" i="0" dirty="0">
                <a:effectLst/>
                <a:latin typeface="-apple-system"/>
              </a:rPr>
              <a:t>指针偏移量</a:t>
            </a:r>
            <a:r>
              <a:rPr lang="en-US" altLang="zh-CN" b="0" i="0" dirty="0">
                <a:effectLst/>
                <a:latin typeface="-apple-system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from </a:t>
            </a:r>
            <a:r>
              <a:rPr lang="zh-CN" altLang="en-US" b="0" i="0" dirty="0">
                <a:effectLst/>
                <a:latin typeface="-apple-system"/>
              </a:rPr>
              <a:t>： </a:t>
            </a:r>
            <a:r>
              <a:rPr lang="en-US" altLang="zh-CN" b="0" i="0" dirty="0">
                <a:effectLst/>
                <a:latin typeface="-apple-system"/>
              </a:rPr>
              <a:t>0-</a:t>
            </a:r>
            <a:r>
              <a:rPr lang="zh-CN" altLang="en-US" b="0" i="0" dirty="0">
                <a:effectLst/>
                <a:latin typeface="-apple-system"/>
              </a:rPr>
              <a:t>文件开头 </a:t>
            </a:r>
            <a:r>
              <a:rPr lang="en-US" altLang="zh-CN" b="0" i="0" dirty="0">
                <a:effectLst/>
                <a:latin typeface="-apple-system"/>
              </a:rPr>
              <a:t>1-</a:t>
            </a:r>
            <a:r>
              <a:rPr lang="zh-CN" altLang="en-US" b="0" i="0" dirty="0">
                <a:effectLst/>
                <a:latin typeface="-apple-system"/>
              </a:rPr>
              <a:t>当前位置 </a:t>
            </a:r>
            <a:r>
              <a:rPr lang="en-US" altLang="zh-CN" b="0" i="0" dirty="0">
                <a:effectLst/>
                <a:latin typeface="-apple-system"/>
              </a:rPr>
              <a:t>2-</a:t>
            </a:r>
            <a:r>
              <a:rPr lang="zh-CN" altLang="en-US" b="0" i="0" dirty="0">
                <a:effectLst/>
                <a:latin typeface="-apple-system"/>
              </a:rPr>
              <a:t>文件末尾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-apple-system"/>
              </a:rPr>
              <a:t>Python3</a:t>
            </a:r>
            <a:r>
              <a:rPr lang="zh-CN" altLang="en-US" b="0" i="0" dirty="0">
                <a:effectLst/>
                <a:latin typeface="-apple-system"/>
              </a:rPr>
              <a:t>中 如果</a:t>
            </a:r>
            <a:r>
              <a:rPr lang="en-US" altLang="zh-CN" b="0" i="0" dirty="0">
                <a:effectLst/>
                <a:latin typeface="-apple-system"/>
              </a:rPr>
              <a:t>from </a:t>
            </a:r>
            <a:r>
              <a:rPr lang="zh-CN" altLang="en-US" b="0" i="0" dirty="0">
                <a:effectLst/>
                <a:latin typeface="-apple-system"/>
              </a:rPr>
              <a:t>不为</a:t>
            </a:r>
            <a:r>
              <a:rPr lang="en-US" altLang="zh-CN" b="0" i="0" dirty="0">
                <a:effectLst/>
                <a:latin typeface="-apple-system"/>
              </a:rPr>
              <a:t>0 </a:t>
            </a:r>
            <a:r>
              <a:rPr lang="zh-CN" altLang="en-US" b="0" i="0" dirty="0">
                <a:effectLst/>
                <a:latin typeface="-apple-system"/>
              </a:rPr>
              <a:t>，那么 </a:t>
            </a:r>
            <a:r>
              <a:rPr lang="en-US" altLang="zh-CN" b="0" i="0" dirty="0">
                <a:effectLst/>
                <a:latin typeface="-apple-system"/>
              </a:rPr>
              <a:t>offset</a:t>
            </a:r>
            <a:r>
              <a:rPr lang="zh-CN" altLang="en-US" b="0" i="0" dirty="0">
                <a:effectLst/>
                <a:latin typeface="-apple-system"/>
              </a:rPr>
              <a:t>就必须为</a:t>
            </a:r>
            <a:r>
              <a:rPr lang="en-US" altLang="zh-CN" b="0" i="0" dirty="0">
                <a:effectLst/>
                <a:latin typeface="-apple-system"/>
              </a:rPr>
              <a:t>0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文件的读写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32482" y="1900681"/>
            <a:ext cx="1015136" cy="31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7.3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57779" y="1897633"/>
            <a:ext cx="1834458" cy="540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m7.3WriteListtoFil</a:t>
            </a:r>
          </a:p>
          <a:p>
            <a:pPr marL="641857" marR="0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e.py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23032" y="2502590"/>
            <a:ext cx="6969448" cy="48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2100" baseline="-3786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2100" spc="524" baseline="-3786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2100" b="1" baseline="-3786" dirty="0">
                <a:solidFill>
                  <a:srgbClr val="000000"/>
                </a:solidFill>
                <a:latin typeface="Courier New"/>
                <a:cs typeface="Courier New"/>
              </a:rPr>
              <a:t>fname</a:t>
            </a:r>
            <a:r>
              <a:rPr sz="2100" b="1" spc="-429" baseline="-378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100" b="1" baseline="-3786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2100" b="1" spc="-432" baseline="-378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100" b="1" baseline="-3786" dirty="0">
                <a:solidFill>
                  <a:srgbClr val="000000"/>
                </a:solidFill>
                <a:latin typeface="Courier New"/>
                <a:cs typeface="Courier New"/>
              </a:rPr>
              <a:t>input(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请输入要写入的文件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600" b="1" spc="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 marL="2142744" marR="0">
              <a:lnSpc>
                <a:spcPts val="1807"/>
              </a:lnSpc>
              <a:spcBef>
                <a:spcPts val="181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"w+")</a:t>
            </a:r>
            <a:r>
              <a:rPr lang="zh-CN" alt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cs typeface="Courier New"/>
              </a:rPr>
              <a:t>#</a:t>
            </a:r>
            <a:r>
              <a:rPr lang="zh-CN" alt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默认</a:t>
            </a:r>
            <a:r>
              <a:rPr lang="en-US"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gbk,encoding</a:t>
            </a:r>
            <a:r>
              <a:rPr 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="utf-8"</a:t>
            </a:r>
            <a:r>
              <a:rPr lang="zh-CN" alt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附录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cs typeface="Courier New"/>
              </a:rPr>
              <a:t>A</a:t>
            </a:r>
            <a:endParaRPr sz="16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3033" y="2781318"/>
            <a:ext cx="2188786" cy="247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944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 = open(fname,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56408" y="3009820"/>
            <a:ext cx="6887592" cy="123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</a:t>
            </a:r>
            <a:r>
              <a:rPr sz="1600" b="1" spc="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["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唐诗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b="1" spc="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宋词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",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元曲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"]</a:t>
            </a:r>
          </a:p>
          <a:p>
            <a:pPr marL="0" marR="0">
              <a:lnSpc>
                <a:spcPts val="1807"/>
              </a:lnSpc>
              <a:spcBef>
                <a:spcPts val="18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fo.writelines(ls)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fo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 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(0)</a:t>
            </a:r>
            <a:r>
              <a:rPr lang="zh-CN" altLang="en-US" sz="1600" b="1" dirty="0">
                <a:solidFill>
                  <a:srgbClr val="FF0000"/>
                </a:solidFill>
                <a:latin typeface="Courier New"/>
                <a:cs typeface="Courier New"/>
              </a:rPr>
              <a:t>，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(2,0)</a:t>
            </a:r>
            <a:r>
              <a:rPr lang="zh-CN" altLang="en-US" sz="1600" b="1" dirty="0">
                <a:solidFill>
                  <a:srgbClr val="FF0000"/>
                </a:solidFill>
                <a:latin typeface="Courier New"/>
                <a:cs typeface="Courier New"/>
              </a:rPr>
              <a:t>，     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	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cs typeface="Courier New"/>
              </a:rPr>
              <a:t> print(line) 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			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/>
                <a:cs typeface="Courier New"/>
              </a:rPr>
              <a:t>fo.seek</a:t>
            </a:r>
            <a:r>
              <a:rPr lang="en-US" altLang="zh-CN" sz="1600" b="1" dirty="0">
                <a:solidFill>
                  <a:srgbClr val="FF0000"/>
                </a:solidFill>
                <a:latin typeface="Courier New"/>
                <a:cs typeface="Courier New"/>
              </a:rPr>
              <a:t>(0,2)-2,0)</a:t>
            </a:r>
            <a:endParaRPr sz="16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endParaRPr sz="16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3033" y="3043446"/>
            <a:ext cx="259402" cy="1249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</a:p>
          <a:p>
            <a:pPr marL="0" marR="0">
              <a:lnSpc>
                <a:spcPts val="1590"/>
              </a:lnSpc>
              <a:spcBef>
                <a:spcPts val="415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</a:p>
          <a:p>
            <a:pPr marL="7620" marR="0">
              <a:lnSpc>
                <a:spcPts val="1359"/>
              </a:lnSpc>
              <a:spcBef>
                <a:spcPts val="521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</a:p>
          <a:p>
            <a:pPr marL="762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7620" marR="0">
              <a:lnSpc>
                <a:spcPts val="1359"/>
              </a:lnSpc>
              <a:spcBef>
                <a:spcPts val="644"/>
              </a:spcBef>
              <a:spcAft>
                <a:spcPts val="0"/>
              </a:spcAft>
            </a:pPr>
            <a:r>
              <a:rPr sz="1200" b="1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6408" y="4030763"/>
            <a:ext cx="1373219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34895" y="4656589"/>
            <a:ext cx="2212543" cy="267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2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程序执行结果如下：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32482" y="5404015"/>
            <a:ext cx="3186754" cy="268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请输入要写入的文件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  <a:r>
              <a:rPr sz="1400" b="1" spc="-4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test.txt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32482" y="5771806"/>
            <a:ext cx="51848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C4E600-72DD-403A-B459-D420646EE55F}"/>
              </a:ext>
            </a:extLst>
          </p:cNvPr>
          <p:cNvSpPr txBox="1"/>
          <p:nvPr/>
        </p:nvSpPr>
        <p:spPr>
          <a:xfrm>
            <a:off x="2286000" y="56519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唐诗宋词元曲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9C4FD10-2294-4227-B150-397067B6A16E}"/>
              </a:ext>
            </a:extLst>
          </p:cNvPr>
          <p:cNvCxnSpPr/>
          <p:nvPr/>
        </p:nvCxnSpPr>
        <p:spPr>
          <a:xfrm flipH="1">
            <a:off x="4111819" y="3573016"/>
            <a:ext cx="5321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9678" y="2788949"/>
            <a:ext cx="769620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一二维数据格式化和处理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195772"/>
            <a:ext cx="8249106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68" dirty="0">
                <a:solidFill>
                  <a:srgbClr val="FF0000"/>
                </a:solidFill>
                <a:latin typeface="Microsoft YaHei"/>
                <a:cs typeface="Microsoft YaHei"/>
              </a:rPr>
              <a:t>一维数据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由</a:t>
            </a:r>
            <a:r>
              <a:rPr sz="2400" spc="68" dirty="0">
                <a:solidFill>
                  <a:srgbClr val="FF0000"/>
                </a:solidFill>
                <a:latin typeface="Microsoft YaHei"/>
                <a:cs typeface="Microsoft YaHei"/>
              </a:rPr>
              <a:t>对等关系</a:t>
            </a:r>
            <a:r>
              <a:rPr sz="2400" spc="68" dirty="0">
                <a:solidFill>
                  <a:srgbClr val="000000"/>
                </a:solidFill>
                <a:latin typeface="Microsoft YaHei"/>
                <a:cs typeface="Microsoft YaHei"/>
              </a:rPr>
              <a:t>的有序或无序数据构成，采用线性方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式组织，对应于数学中的数组和集合等概念。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7057" y="4060332"/>
            <a:ext cx="8310016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36" dirty="0">
                <a:solidFill>
                  <a:srgbClr val="000000"/>
                </a:solidFill>
                <a:latin typeface="SimSun"/>
                <a:cs typeface="SimSun"/>
              </a:rPr>
              <a:t>中国、美国、日本、德国、法国、英国、意大利、加拿大、俄罗斯、欧盟、澳大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057" y="4471813"/>
            <a:ext cx="8537092" cy="678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34" dirty="0">
                <a:solidFill>
                  <a:srgbClr val="000000"/>
                </a:solidFill>
                <a:latin typeface="SimSun"/>
                <a:cs typeface="SimSun"/>
              </a:rPr>
              <a:t>利亚、南非、阿根廷、巴西、印度、印度尼西亚、墨西哥、沙特阿拉伯、土耳其、</a:t>
            </a:r>
          </a:p>
          <a:p>
            <a:pPr marL="0" marR="0">
              <a:lnSpc>
                <a:spcPts val="1800"/>
              </a:lnSpc>
              <a:spcBef>
                <a:spcPts val="143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韩国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5267" y="2033847"/>
            <a:ext cx="8682812" cy="989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二维数据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，也称表格数据，由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关联关系数据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构成，采用表格方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式组织，对应于数学中的矩阵，常见的表格都属于二维数据。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70050" y="3637930"/>
            <a:ext cx="610209" cy="2324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</a:p>
          <a:p>
            <a:pPr marL="0" marR="0">
              <a:lnSpc>
                <a:spcPts val="1800"/>
              </a:lnSpc>
              <a:spcBef>
                <a:spcPts val="14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</a:p>
          <a:p>
            <a:pPr marL="0" marR="0">
              <a:lnSpc>
                <a:spcPts val="1800"/>
              </a:lnSpc>
              <a:spcBef>
                <a:spcPts val="1489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</a:p>
          <a:p>
            <a:pPr marL="0" marR="0">
              <a:lnSpc>
                <a:spcPts val="1802"/>
              </a:lnSpc>
              <a:spcBef>
                <a:spcPts val="143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</a:p>
          <a:p>
            <a:pPr marL="0" marR="0">
              <a:lnSpc>
                <a:spcPts val="1800"/>
              </a:lnSpc>
              <a:spcBef>
                <a:spcPts val="1491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</a:p>
          <a:p>
            <a:pPr marL="0" marR="0">
              <a:lnSpc>
                <a:spcPts val="1800"/>
              </a:lnSpc>
              <a:spcBef>
                <a:spcPts val="14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51276" y="3637930"/>
            <a:ext cx="667435" cy="23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5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</a:p>
          <a:p>
            <a:pPr marL="0" marR="0">
              <a:lnSpc>
                <a:spcPts val="1993"/>
              </a:lnSpc>
              <a:spcBef>
                <a:spcPts val="13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101.5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101.2</a:t>
            </a:r>
          </a:p>
          <a:p>
            <a:pPr marL="0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101.3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102.0</a:t>
            </a:r>
          </a:p>
          <a:p>
            <a:pPr marL="0" marR="0">
              <a:lnSpc>
                <a:spcPts val="1993"/>
              </a:lnSpc>
              <a:spcBef>
                <a:spcPts val="124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100.1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61203" y="3637930"/>
            <a:ext cx="667435" cy="23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5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</a:p>
          <a:p>
            <a:pPr marL="0" marR="0">
              <a:lnSpc>
                <a:spcPts val="1993"/>
              </a:lnSpc>
              <a:spcBef>
                <a:spcPts val="13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120.7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127.3</a:t>
            </a:r>
          </a:p>
          <a:p>
            <a:pPr marL="4572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spc="-17" dirty="0">
                <a:solidFill>
                  <a:srgbClr val="000000"/>
                </a:solidFill>
                <a:latin typeface="Times New Roman"/>
                <a:cs typeface="Times New Roman"/>
              </a:rPr>
              <a:t>119.4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140.9</a:t>
            </a:r>
          </a:p>
          <a:p>
            <a:pPr marL="0" marR="0">
              <a:lnSpc>
                <a:spcPts val="1993"/>
              </a:lnSpc>
              <a:spcBef>
                <a:spcPts val="124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72909" y="3637930"/>
            <a:ext cx="667436" cy="2341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1993"/>
              </a:lnSpc>
              <a:spcBef>
                <a:spcPts val="1382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121.4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127.8</a:t>
            </a:r>
          </a:p>
          <a:p>
            <a:pPr marL="0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120.0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145.5</a:t>
            </a:r>
          </a:p>
          <a:p>
            <a:pPr marL="0" marR="0">
              <a:lnSpc>
                <a:spcPts val="1993"/>
              </a:lnSpc>
              <a:spcBef>
                <a:spcPts val="1247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101.6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04492" y="6318706"/>
            <a:ext cx="637120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环比：上月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=100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；同比：上年同月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=100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；定基：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2015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年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=100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。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8718" y="2484697"/>
            <a:ext cx="8199983" cy="208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957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97" dirty="0">
                <a:solidFill>
                  <a:srgbClr val="FF0000"/>
                </a:solidFill>
                <a:latin typeface="Microsoft YaHei"/>
                <a:cs typeface="Microsoft YaHei"/>
              </a:rPr>
              <a:t>高维数据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由</a:t>
            </a:r>
            <a:r>
              <a:rPr sz="2400" spc="97" dirty="0">
                <a:solidFill>
                  <a:srgbClr val="FF0000"/>
                </a:solidFill>
                <a:latin typeface="Microsoft YaHei"/>
                <a:cs typeface="Microsoft YaHei"/>
              </a:rPr>
              <a:t>键值对类型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的数据构成，采用</a:t>
            </a:r>
            <a:r>
              <a:rPr sz="2400" spc="97" dirty="0">
                <a:solidFill>
                  <a:srgbClr val="FF0000"/>
                </a:solidFill>
                <a:latin typeface="Microsoft YaHei"/>
                <a:cs typeface="Microsoft YaHei"/>
              </a:rPr>
              <a:t>对象方式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组织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38" dirty="0">
                <a:solidFill>
                  <a:srgbClr val="000000"/>
                </a:solidFill>
                <a:latin typeface="Microsoft YaHei"/>
                <a:cs typeface="Microsoft YaHei"/>
              </a:rPr>
              <a:t>，属于整合度更好的数据组织方式。高维数据在网络系统中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十分常用，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HTML</a:t>
            </a: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31" dirty="0">
                <a:solidFill>
                  <a:srgbClr val="000000"/>
                </a:solidFill>
                <a:latin typeface="Microsoft YaHei"/>
                <a:cs typeface="Microsoft YaHei"/>
              </a:rPr>
              <a:t>XML</a:t>
            </a: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等都是高维数据组织的语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法结构。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370697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数据组织的维度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7685" y="1906396"/>
            <a:ext cx="150906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本书作者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7685" y="2317876"/>
            <a:ext cx="16699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7685" y="2729356"/>
            <a:ext cx="144703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97685" y="3141217"/>
            <a:ext cx="287235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97685" y="3552697"/>
            <a:ext cx="2621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26385" y="3552697"/>
            <a:ext cx="144741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礼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97685" y="3964177"/>
            <a:ext cx="144703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欣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97685" y="4375657"/>
            <a:ext cx="2872358" cy="1937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  <a:p>
            <a:pPr marL="0" marR="0">
              <a:lnSpc>
                <a:spcPts val="1993"/>
              </a:lnSpc>
              <a:spcBef>
                <a:spcPts val="124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4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黄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9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天羽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</a:t>
            </a:r>
          </a:p>
          <a:p>
            <a:pPr marL="0" marR="0">
              <a:lnSpc>
                <a:spcPts val="1996"/>
              </a:lnSpc>
              <a:spcBef>
                <a:spcPts val="12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038" y="1934407"/>
            <a:ext cx="8551164" cy="98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一维数据是最简单的数据组织类型，有多种存储格式，常用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特殊字符分隔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</a:p>
          <a:p>
            <a:pPr marL="0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（1）用一个或多个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空格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分隔，例如：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2038" y="3153285"/>
            <a:ext cx="4861559" cy="37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中国</a:t>
            </a:r>
            <a:r>
              <a:rPr sz="2000" spc="6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美国</a:t>
            </a:r>
            <a:r>
              <a:rPr sz="2000" spc="6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日本</a:t>
            </a:r>
            <a:r>
              <a:rPr sz="2000" spc="6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德国</a:t>
            </a:r>
            <a:r>
              <a:rPr sz="2000" spc="6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法国</a:t>
            </a:r>
            <a:r>
              <a:rPr sz="2000" spc="66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英国</a:t>
            </a:r>
            <a:r>
              <a:rPr sz="2000" spc="67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意大利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2038" y="3763461"/>
            <a:ext cx="3102305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（2）用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逗号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分隔，例如：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2038" y="4373061"/>
            <a:ext cx="4337615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中国,美国,日本,德国,法国,英国,意大利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2038" y="4983042"/>
            <a:ext cx="8191398" cy="926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（3）用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其他符号或符号组合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分隔，建议采用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不出现在数据中的特殊符号</a:t>
            </a:r>
          </a:p>
          <a:p>
            <a:pPr marL="0" marR="0">
              <a:lnSpc>
                <a:spcPts val="2644"/>
              </a:lnSpc>
              <a:spcBef>
                <a:spcPts val="215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中国;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美国;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日本;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德国;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法国;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英国;</a:t>
            </a:r>
            <a:r>
              <a:rPr sz="2000" spc="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意大利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465" y="2627699"/>
            <a:ext cx="7672984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8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241" dirty="0">
                <a:solidFill>
                  <a:srgbClr val="333333"/>
                </a:solidFill>
                <a:latin typeface="Microsoft YaHei"/>
                <a:cs typeface="Microsoft YaHei"/>
              </a:rPr>
              <a:t>逗号分割数值的存储格式叫做</a:t>
            </a: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CSV</a:t>
            </a:r>
            <a:r>
              <a:rPr sz="2400" spc="241" dirty="0">
                <a:solidFill>
                  <a:srgbClr val="333333"/>
                </a:solidFill>
                <a:latin typeface="Microsoft YaHei"/>
                <a:cs typeface="Microsoft YaHei"/>
              </a:rPr>
              <a:t>格式（</a:t>
            </a: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Comma-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Separated</a:t>
            </a:r>
            <a:r>
              <a:rPr sz="2400" spc="653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400" spc="-34" dirty="0">
                <a:solidFill>
                  <a:srgbClr val="333333"/>
                </a:solidFill>
                <a:latin typeface="Microsoft YaHei"/>
                <a:cs typeface="Microsoft YaHei"/>
              </a:rPr>
              <a:t>Values</a:t>
            </a:r>
            <a:r>
              <a:rPr sz="2400" spc="37" dirty="0">
                <a:solidFill>
                  <a:srgbClr val="333333"/>
                </a:solidFill>
                <a:latin typeface="Microsoft YaHei"/>
                <a:cs typeface="Microsoft YaHei"/>
              </a:rPr>
              <a:t>，即逗号分隔值），它是一种通用的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spc="69" dirty="0">
                <a:solidFill>
                  <a:srgbClr val="333333"/>
                </a:solidFill>
                <a:latin typeface="Microsoft YaHei"/>
                <a:cs typeface="Microsoft YaHei"/>
              </a:rPr>
              <a:t>、相对简单的文件格式，在商业和科学上广泛应用，尤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其应用在程序之间转移表格数据。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2043626"/>
            <a:ext cx="53340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cs typeface="Microsoft YaHei"/>
              </a:rPr>
              <a:t>该格式的应用有一些基本规则，如下：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2290" y="2988252"/>
            <a:ext cx="612251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（1）纯文本格式，通过单一编码表示字符；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290" y="3536892"/>
            <a:ext cx="8561806" cy="2086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（2）以行为单位，开头不留空行，行之间没有空行；</a:t>
            </a:r>
          </a:p>
          <a:p>
            <a:pPr marL="0" marR="0">
              <a:lnSpc>
                <a:spcPts val="317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（3）每行表示一个一维数据，多行表示二维数据；</a:t>
            </a:r>
          </a:p>
          <a:p>
            <a:pPr marL="0" marR="0">
              <a:lnSpc>
                <a:spcPts val="3167"/>
              </a:lnSpc>
              <a:spcBef>
                <a:spcPts val="110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（4）以逗号分隔每列数据，列数据为空也要保留逗号；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（5）可以包含或不包含列名，包含时列名放置在文件第一行。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23036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一二维数据的存储格式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540" y="1685799"/>
            <a:ext cx="5315493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二维数据采用CSV存储后的内容如下：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5336" y="2435886"/>
            <a:ext cx="2570479" cy="2606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1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</a:p>
          <a:p>
            <a:pPr marL="0" marR="0">
              <a:lnSpc>
                <a:spcPts val="2219"/>
              </a:lnSpc>
              <a:spcBef>
                <a:spcPts val="1383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,101.5,120.7,121.4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,101.2,127.3,127.8</a:t>
            </a:r>
          </a:p>
          <a:p>
            <a:pPr marL="0" marR="0">
              <a:lnSpc>
                <a:spcPts val="2219"/>
              </a:lnSpc>
              <a:spcBef>
                <a:spcPts val="138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,101.3,119.4,120</a:t>
            </a:r>
          </a:p>
          <a:p>
            <a:pPr marL="0" marR="0">
              <a:lnSpc>
                <a:spcPts val="2221"/>
              </a:lnSpc>
              <a:spcBef>
                <a:spcPts val="137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,102,140.9,145.5</a:t>
            </a:r>
          </a:p>
          <a:p>
            <a:pPr marL="0" marR="0">
              <a:lnSpc>
                <a:spcPts val="2219"/>
              </a:lnSpc>
              <a:spcBef>
                <a:spcPts val="138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,100.1,101.4,101.6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2290" y="5631003"/>
            <a:ext cx="8612302" cy="751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15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1800" spc="46" dirty="0">
                <a:solidFill>
                  <a:srgbClr val="000000"/>
                </a:solidFill>
                <a:latin typeface="Microsoft YaHei"/>
                <a:cs typeface="Microsoft YaHei"/>
              </a:rPr>
              <a:t>格式存储的文件一般采用</a:t>
            </a:r>
            <a:r>
              <a:rPr sz="1800" spc="10" dirty="0">
                <a:solidFill>
                  <a:srgbClr val="000000"/>
                </a:solidFill>
                <a:latin typeface="Microsoft YaHei"/>
                <a:cs typeface="Microsoft YaHei"/>
              </a:rPr>
              <a:t>.csv</a:t>
            </a:r>
            <a:r>
              <a:rPr sz="1800" spc="47" dirty="0">
                <a:solidFill>
                  <a:srgbClr val="000000"/>
                </a:solidFill>
                <a:latin typeface="Microsoft YaHei"/>
                <a:cs typeface="Microsoft YaHei"/>
              </a:rPr>
              <a:t>为扩展名，可以通过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Windows</a:t>
            </a:r>
            <a:r>
              <a:rPr sz="1800" spc="49" dirty="0">
                <a:solidFill>
                  <a:srgbClr val="000000"/>
                </a:solidFill>
                <a:latin typeface="Microsoft YaHei"/>
                <a:cs typeface="Microsoft YaHei"/>
              </a:rPr>
              <a:t>平台上的记事本</a:t>
            </a:r>
          </a:p>
          <a:p>
            <a:pPr marL="0" marR="0">
              <a:lnSpc>
                <a:spcPts val="2375"/>
              </a:lnSpc>
              <a:spcBef>
                <a:spcPts val="81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或微软Office</a:t>
            </a:r>
            <a:r>
              <a:rPr sz="1800" spc="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Excel工具打开，也可以在其他操作系统平台上用文本编辑工具打开。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917" y="1935422"/>
            <a:ext cx="8104275" cy="1538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9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文件的每一行是一维数据，可以使用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95" dirty="0">
                <a:solidFill>
                  <a:srgbClr val="000000"/>
                </a:solidFill>
                <a:latin typeface="Microsoft YaHei"/>
                <a:cs typeface="Microsoft YaHei"/>
              </a:rPr>
              <a:t>中的列</a:t>
            </a:r>
          </a:p>
          <a:p>
            <a:pPr marL="0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表类型表示，整个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CSV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文件是一个二维数据，由表示每一行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的列表类型作为元素，组成一个二维列表。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27808" y="3872087"/>
            <a:ext cx="211777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808" y="4192127"/>
            <a:ext cx="2533673" cy="2156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城市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环比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同比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 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定基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\n'],</a:t>
            </a:r>
          </a:p>
          <a:p>
            <a:pPr marL="0" marR="0">
              <a:lnSpc>
                <a:spcPts val="1557"/>
              </a:lnSpc>
              <a:spcBef>
                <a:spcPts val="913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北京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'101.5',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'120.7',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'121.4\n'],</a:t>
            </a:r>
          </a:p>
          <a:p>
            <a:pPr marL="0" marR="0">
              <a:lnSpc>
                <a:spcPts val="1554"/>
              </a:lnSpc>
              <a:spcBef>
                <a:spcPts val="916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上海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'101.2',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'127.3',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'127.8\n'],</a:t>
            </a:r>
          </a:p>
          <a:p>
            <a:pPr marL="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广州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'101.3',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'119.4',</a:t>
            </a:r>
            <a:r>
              <a:rPr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'120.0\n'],</a:t>
            </a:r>
          </a:p>
          <a:p>
            <a:pPr marL="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深圳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'102.0',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'140.9',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'145.5\n'],</a:t>
            </a:r>
          </a:p>
          <a:p>
            <a:pPr marL="0" marR="0">
              <a:lnSpc>
                <a:spcPts val="1554"/>
              </a:lnSpc>
              <a:spcBef>
                <a:spcPts val="9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['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沈阳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',</a:t>
            </a:r>
            <a:r>
              <a:rPr sz="1400" spc="-1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'100.1',</a:t>
            </a:r>
            <a:r>
              <a:rPr sz="1400" spc="-4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'101.4',</a:t>
            </a:r>
            <a:r>
              <a:rPr sz="14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'101.6\n'],</a:t>
            </a:r>
          </a:p>
          <a:p>
            <a:pPr marL="0" marR="0">
              <a:lnSpc>
                <a:spcPts val="1554"/>
              </a:lnSpc>
              <a:spcBef>
                <a:spcPts val="917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63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一二维数据的表示和读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3465" y="2033847"/>
            <a:ext cx="513159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微实例7.5：导入CSV格式数据到列表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12010" y="3793468"/>
            <a:ext cx="1125245" cy="34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微实例</a:t>
            </a: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7.5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8955" y="3793468"/>
            <a:ext cx="2262057" cy="34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31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Palatino Linotype"/>
                <a:cs typeface="Palatino Linotype"/>
              </a:rPr>
              <a:t>m7.5GetCSV2List.py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61285" y="4316386"/>
            <a:ext cx="4858987" cy="151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 = open("price2016.csv", "r")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ls = []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fo: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600" spc="503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line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line.replace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("\n","")</a:t>
            </a:r>
          </a:p>
          <a:p>
            <a:pPr marL="0" marR="0">
              <a:lnSpc>
                <a:spcPts val="1810"/>
              </a:lnSpc>
              <a:spcBef>
                <a:spcPts val="194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sz="1600" spc="503" dirty="0">
                <a:solidFill>
                  <a:srgbClr val="7F7F7F"/>
                </a:solidFill>
                <a:latin typeface="Courier New"/>
                <a:cs typeface="Courier New"/>
              </a:rPr>
              <a:t>	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ls.append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sz="1600" b="1" dirty="0" err="1">
                <a:solidFill>
                  <a:srgbClr val="000000"/>
                </a:solidFill>
                <a:latin typeface="Courier New"/>
                <a:cs typeface="Courier New"/>
              </a:rPr>
              <a:t>line.split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(","))</a:t>
            </a:r>
          </a:p>
          <a:p>
            <a:pPr marL="0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print(ls)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61285" y="5840691"/>
            <a:ext cx="1680552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  <a:r>
              <a:rPr sz="1600" spc="503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fo.close()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465" y="664498"/>
            <a:ext cx="5738165" cy="63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 err="1">
                <a:solidFill>
                  <a:srgbClr val="262626"/>
                </a:solidFill>
                <a:latin typeface="Microsoft YaHei"/>
                <a:cs typeface="Microsoft YaHei"/>
              </a:rPr>
              <a:t>一二维数据的表示和写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565" y="2340171"/>
            <a:ext cx="8015324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对于列表中存储的二维数据，可以通过循环写入一维数据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6765" y="2889192"/>
            <a:ext cx="5919936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的方式写入CSV文件，参考代码样式如下：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1565" y="3610044"/>
            <a:ext cx="195121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for</a:t>
            </a:r>
            <a:r>
              <a:rPr sz="24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Microsoft YaHei"/>
                <a:cs typeface="Microsoft YaHei"/>
              </a:rPr>
              <a:t>row</a:t>
            </a:r>
            <a:r>
              <a:rPr sz="2400" spc="1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in</a:t>
            </a:r>
            <a:r>
              <a:rPr sz="2400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ls: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34388" y="4066921"/>
            <a:ext cx="7558092" cy="381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&lt;输出文件&gt;.write(",".join(row)+"\n")</a:t>
            </a:r>
            <a:r>
              <a:rPr lang="en-US" sz="2400" dirty="0">
                <a:solidFill>
                  <a:srgbClr val="000000"/>
                </a:solidFill>
                <a:latin typeface="Microsoft YaHei"/>
                <a:cs typeface="Microsoft YaHei"/>
              </a:rPr>
              <a:t>           </a:t>
            </a:r>
            <a:r>
              <a:rPr 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P84</a:t>
            </a:r>
            <a:endParaRPr sz="2400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08352" y="2788949"/>
            <a:ext cx="564093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421233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5442" y="2253558"/>
            <a:ext cx="8393912" cy="128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spc="25" dirty="0">
                <a:solidFill>
                  <a:srgbClr val="000000"/>
                </a:solidFill>
                <a:latin typeface="Microsoft YaHei"/>
                <a:cs typeface="Microsoft YaHei"/>
              </a:rPr>
              <a:t>与一维二维数据不同，高维数据能展示数据间更为复杂的组织关系。为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spc="28" dirty="0">
                <a:solidFill>
                  <a:srgbClr val="000000"/>
                </a:solidFill>
                <a:latin typeface="Microsoft YaHei"/>
                <a:cs typeface="Microsoft YaHei"/>
              </a:rPr>
              <a:t>了保持灵活性，表示高维数据不采用任何结构形式，仅采用最基本的二元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关系，即键值对。万维网是高维数据最成功的典型应用。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5442" y="3625412"/>
            <a:ext cx="8395437" cy="83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JSON格式可以对高维数据进行表达和存储。JSON（JavaScript</a:t>
            </a:r>
            <a:r>
              <a:rPr sz="2000" spc="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Object</a:t>
            </a:r>
          </a:p>
          <a:p>
            <a:pPr marL="0" marR="0">
              <a:lnSpc>
                <a:spcPts val="2644"/>
              </a:lnSpc>
              <a:spcBef>
                <a:spcPts val="9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Notation</a:t>
            </a:r>
            <a:r>
              <a:rPr sz="2000" spc="46" dirty="0">
                <a:solidFill>
                  <a:srgbClr val="000000"/>
                </a:solidFill>
                <a:latin typeface="Microsoft YaHei"/>
                <a:cs typeface="Microsoft YaHei"/>
              </a:rPr>
              <a:t>）是一种轻量级的数据交换格式，易于阅读和理解。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000" spc="51" dirty="0">
                <a:solidFill>
                  <a:srgbClr val="000000"/>
                </a:solidFill>
                <a:latin typeface="Microsoft YaHei"/>
                <a:cs typeface="Microsoft YaHei"/>
              </a:rPr>
              <a:t>格式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5442" y="4539812"/>
            <a:ext cx="8062821" cy="37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表达键值对</a:t>
            </a:r>
            <a:r>
              <a:rPr sz="2000" spc="-34" dirty="0">
                <a:solidFill>
                  <a:srgbClr val="000000"/>
                </a:solidFill>
                <a:latin typeface="Microsoft YaHei"/>
                <a:cs typeface="Microsoft YaHei"/>
              </a:rPr>
              <a:t>&lt;key,</a:t>
            </a:r>
            <a:r>
              <a:rPr sz="2000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value&gt;的基本格式如下，键值对都保存在双引号中：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2142" y="4983640"/>
            <a:ext cx="1641902" cy="305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Microsoft YaHei"/>
                <a:cs typeface="Microsoft YaHei"/>
              </a:rPr>
              <a:t>"key"</a:t>
            </a:r>
            <a:r>
              <a:rPr sz="1600" b="1" spc="1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0000"/>
                </a:solidFill>
                <a:latin typeface="Microsoft YaHei"/>
                <a:cs typeface="Microsoft YaHei"/>
              </a:rPr>
              <a:t>:</a:t>
            </a:r>
            <a:r>
              <a:rPr sz="1600" b="1" spc="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000000"/>
                </a:solidFill>
                <a:latin typeface="Microsoft YaHei"/>
                <a:cs typeface="Microsoft YaHei"/>
              </a:rPr>
              <a:t>"value"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421233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344" y="2195772"/>
            <a:ext cx="7311263" cy="989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9747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当多个键值对放在一起时，JSON有如下一些约定：</a:t>
            </a:r>
          </a:p>
          <a:p>
            <a:pPr marL="0" marR="0">
              <a:lnSpc>
                <a:spcPts val="3167"/>
              </a:lnSpc>
              <a:spcBef>
                <a:spcPts val="1104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数据保存在键值对中；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7344" y="3293306"/>
            <a:ext cx="3774947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键值对之间由逗号分隔；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7344" y="3841946"/>
            <a:ext cx="5909437" cy="1483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lang="zh-CN" altLang="en-US" sz="2400" b="1" spc="331" dirty="0">
                <a:solidFill>
                  <a:srgbClr val="000000"/>
                </a:solidFill>
                <a:latin typeface="Wingdings"/>
                <a:cs typeface="Wingdings"/>
              </a:rPr>
              <a:t>大</a:t>
            </a: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括号用于保存键值对数据组成的对象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；</a:t>
            </a:r>
          </a:p>
          <a:p>
            <a:pPr marL="0" marR="0">
              <a:lnSpc>
                <a:spcPts val="3167"/>
              </a:lnSpc>
              <a:spcBef>
                <a:spcPts val="1105"/>
              </a:spcBef>
              <a:spcAft>
                <a:spcPts val="0"/>
              </a:spcAft>
            </a:pPr>
            <a:r>
              <a:rPr sz="2400" spc="331" dirty="0">
                <a:solidFill>
                  <a:srgbClr val="000000"/>
                </a:solidFill>
                <a:latin typeface="Wingdings"/>
                <a:cs typeface="Wingdings"/>
              </a:rPr>
              <a:t>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方括号用于保存键值对数据组成的数组。</a:t>
            </a:r>
          </a:p>
          <a:p>
            <a:pPr marL="269747" marR="0">
              <a:lnSpc>
                <a:spcPts val="3167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以“本书作者”JSON数据为例。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421233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高维数据的格式化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6710" y="2022220"/>
            <a:ext cx="150893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本书作者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6710" y="2433700"/>
            <a:ext cx="172770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8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16710" y="2845561"/>
            <a:ext cx="144729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6710" y="3257041"/>
            <a:ext cx="287223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16710" y="3668521"/>
            <a:ext cx="26212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31364" y="3668521"/>
            <a:ext cx="144703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礼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6710" y="4080001"/>
            <a:ext cx="144729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欣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16710" y="4491735"/>
            <a:ext cx="2872232" cy="19374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},</a:t>
            </a:r>
          </a:p>
          <a:p>
            <a:pPr marL="0" marR="0">
              <a:lnSpc>
                <a:spcPts val="1993"/>
              </a:lnSpc>
              <a:spcBef>
                <a:spcPts val="124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{</a:t>
            </a:r>
            <a:r>
              <a:rPr sz="1800" spc="8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姓氏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: 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黄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3"/>
              </a:lnSpc>
              <a:spcBef>
                <a:spcPts val="1296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名字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天羽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",</a:t>
            </a:r>
          </a:p>
          <a:p>
            <a:pPr marL="0" marR="0">
              <a:lnSpc>
                <a:spcPts val="1996"/>
              </a:lnSpc>
              <a:spcBef>
                <a:spcPts val="124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单位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 :</a:t>
            </a:r>
            <a:r>
              <a:rPr sz="1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dirty="0">
                <a:solidFill>
                  <a:srgbClr val="000000"/>
                </a:solidFill>
                <a:latin typeface="SimSun"/>
                <a:cs typeface="SimSun"/>
              </a:rPr>
              <a:t>北京理工大学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1800" spc="9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}</a:t>
            </a:r>
          </a:p>
          <a:p>
            <a:pPr marL="0" marR="0">
              <a:lnSpc>
                <a:spcPts val="1993"/>
              </a:lnSpc>
              <a:spcBef>
                <a:spcPts val="1298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02154" y="2788949"/>
            <a:ext cx="4254810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json库的使用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325462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Json库的概述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6993" y="2411799"/>
            <a:ext cx="7673999" cy="2555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ingdings"/>
                <a:cs typeface="Wingdings"/>
              </a:rPr>
              <a:t></a:t>
            </a:r>
            <a:r>
              <a:rPr sz="2400" spc="30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Microsoft YaHei"/>
                <a:cs typeface="Microsoft YaHei"/>
              </a:rPr>
              <a:t>json库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是处理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格式的</a:t>
            </a:r>
            <a:r>
              <a:rPr lang="en-US" altLang="zh-CN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lang="zh-CN" altLang="en-US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标准库</a:t>
            </a:r>
            <a:endParaRPr lang="en-US" altLang="zh-CN" sz="2400" b="1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Microsoft YaHei"/>
                <a:cs typeface="Microsoft YaHei"/>
              </a:rPr>
              <a:t>import json</a:t>
            </a:r>
          </a:p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000000"/>
                </a:solidFill>
                <a:latin typeface="Microsoft YaHei"/>
                <a:cs typeface="Microsoft YaHei"/>
              </a:rPr>
              <a:t>主要包括两类函数：操作类函数和解析类函数</a:t>
            </a:r>
            <a:endParaRPr sz="24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457200" marR="0">
              <a:lnSpc>
                <a:spcPct val="150000"/>
              </a:lnSpc>
              <a:spcBef>
                <a:spcPts val="110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7" dirty="0">
                <a:solidFill>
                  <a:srgbClr val="000000"/>
                </a:solidFill>
                <a:latin typeface="Microsoft YaHei"/>
                <a:cs typeface="Microsoft YaHei"/>
              </a:rPr>
              <a:t>操作类函数主要完成外部</a:t>
            </a: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JSON</a:t>
            </a:r>
            <a:r>
              <a:rPr sz="2400" spc="56" dirty="0">
                <a:solidFill>
                  <a:srgbClr val="000000"/>
                </a:solidFill>
                <a:latin typeface="Microsoft YaHei"/>
                <a:cs typeface="Microsoft YaHei"/>
              </a:rPr>
              <a:t>格式和程序内部数</a:t>
            </a:r>
          </a:p>
          <a:p>
            <a:pPr marL="800125" marR="0">
              <a:lnSpc>
                <a:spcPct val="150000"/>
              </a:lnSpc>
              <a:spcBef>
                <a:spcPts val="114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据类型之间的转换功能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9632" y="5285277"/>
            <a:ext cx="7488832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2400" spc="1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Microsoft YaHei"/>
                <a:cs typeface="Microsoft YaHei"/>
              </a:rPr>
              <a:t>解析类函数主要用于解析键值对内容</a:t>
            </a:r>
            <a:r>
              <a:rPr sz="2400" dirty="0">
                <a:solidFill>
                  <a:srgbClr val="FF0000"/>
                </a:solidFill>
                <a:latin typeface="Microsoft YaHei"/>
                <a:cs typeface="Microsoft YaHei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Microsoft YaHei"/>
                <a:cs typeface="Microsoft YaHei"/>
              </a:rPr>
              <a:t>（编码和解码）</a:t>
            </a:r>
            <a:endParaRPr sz="2400" b="1" dirty="0"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325462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Json库的解析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190" y="2002224"/>
            <a:ext cx="630555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dumps()和loads()分别对应编码和解码功能。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44345" y="3542720"/>
            <a:ext cx="509320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函数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17413" y="3542720"/>
            <a:ext cx="509016" cy="216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3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描述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3602" y="3857101"/>
            <a:ext cx="2126262" cy="8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json.dumps(obj,</a:t>
            </a:r>
            <a:r>
              <a:rPr sz="1400" spc="-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sort_keys=</a:t>
            </a:r>
          </a:p>
          <a:p>
            <a:pPr marL="25908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False,</a:t>
            </a:r>
            <a:r>
              <a:rPr sz="1400" spc="-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indent=None)</a:t>
            </a:r>
          </a:p>
          <a:p>
            <a:pPr marL="365734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json.loads(string)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05960" y="3857101"/>
            <a:ext cx="3936743" cy="235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Python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的数据类型转换为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格式，编码过程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39007" y="4497181"/>
            <a:ext cx="4471667" cy="525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JSON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格式字符串转换为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Python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的数据类型，解码过程</a:t>
            </a:r>
          </a:p>
          <a:p>
            <a:pPr marL="806450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dumps()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功能一致</a:t>
            </a: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SimSun"/>
                <a:cs typeface="SimSun"/>
              </a:rPr>
              <a:t>将</a:t>
            </a:r>
            <a:r>
              <a:rPr lang="zh-CN" altLang="en-US" sz="1400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输出到文件</a:t>
            </a:r>
            <a:r>
              <a:rPr sz="1400" spc="-10" dirty="0" err="1">
                <a:solidFill>
                  <a:srgbClr val="000000"/>
                </a:solidFill>
                <a:latin typeface="Times New Roman"/>
                <a:cs typeface="Times New Roman"/>
              </a:rPr>
              <a:t>fp</a:t>
            </a:r>
            <a:endParaRPr sz="1400" spc="-1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306" y="4817221"/>
            <a:ext cx="2292802" cy="875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json.dump(obj,</a:t>
            </a:r>
            <a:r>
              <a:rPr sz="1400" spc="-4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fp, sort_keys=</a:t>
            </a:r>
          </a:p>
          <a:p>
            <a:pPr marL="341376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False,</a:t>
            </a:r>
            <a:r>
              <a:rPr sz="1400" spc="-1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indent=None)</a:t>
            </a:r>
          </a:p>
          <a:p>
            <a:pPr marL="612622" marR="0">
              <a:lnSpc>
                <a:spcPts val="1554"/>
              </a:lnSpc>
              <a:spcBef>
                <a:spcPts val="915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json.load(fp)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39007" y="5457352"/>
            <a:ext cx="436138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SimSun"/>
                <a:cs typeface="SimSun"/>
              </a:rPr>
              <a:t>与</a:t>
            </a:r>
            <a:r>
              <a:rPr sz="1400" dirty="0">
                <a:solidFill>
                  <a:srgbClr val="000000"/>
                </a:solidFill>
                <a:latin typeface="Times New Roman"/>
                <a:cs typeface="Times New Roman"/>
              </a:rPr>
              <a:t>loads()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功能一致，从文件</a:t>
            </a:r>
            <a:r>
              <a:rPr sz="1400" dirty="0" err="1">
                <a:solidFill>
                  <a:srgbClr val="000000"/>
                </a:solidFill>
                <a:latin typeface="Times New Roman"/>
                <a:cs typeface="Times New Roman"/>
              </a:rPr>
              <a:t>fp</a:t>
            </a:r>
            <a:r>
              <a:rPr sz="1400" dirty="0" err="1">
                <a:solidFill>
                  <a:srgbClr val="000000"/>
                </a:solidFill>
                <a:latin typeface="SimSun"/>
                <a:cs typeface="SimSun"/>
              </a:rPr>
              <a:t>读入</a:t>
            </a:r>
            <a:r>
              <a:rPr lang="zh-CN" altLang="en-US" sz="1400" dirty="0">
                <a:solidFill>
                  <a:srgbClr val="000000"/>
                </a:solidFill>
                <a:latin typeface="SimSun"/>
                <a:cs typeface="SimSun"/>
              </a:rPr>
              <a:t>，数据类型为</a:t>
            </a:r>
            <a:r>
              <a:rPr lang="zh-CN" altLang="en-US" sz="1400" dirty="0">
                <a:solidFill>
                  <a:srgbClr val="FF0000"/>
                </a:solidFill>
                <a:latin typeface="SimSun"/>
                <a:cs typeface="SimSun"/>
              </a:rPr>
              <a:t>列表</a:t>
            </a:r>
            <a:endParaRPr sz="1400" dirty="0">
              <a:solidFill>
                <a:srgbClr val="FF0000"/>
              </a:solidFill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5442" y="753848"/>
            <a:ext cx="325462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Json库的解析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8530" y="2081314"/>
            <a:ext cx="6347481" cy="1791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&gt;&gt;&gt;dt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{'b':2,'c':4,'a':6}</a:t>
            </a:r>
          </a:p>
          <a:p>
            <a:pPr marL="0" marR="0">
              <a:lnSpc>
                <a:spcPts val="1807"/>
              </a:lnSpc>
              <a:spcBef>
                <a:spcPts val="16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&gt;&gt;&gt;s1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json.dumps(dt)</a:t>
            </a:r>
            <a:r>
              <a:rPr sz="1600" b="1" spc="99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#dumps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返回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JSON</a:t>
            </a: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格式的字符串类型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&gt;&gt;&gt;s2 =</a:t>
            </a:r>
            <a:r>
              <a:rPr sz="16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json.dumps(dt,sort_keys=True,indent=4)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&gt;&gt;&gt;print(s1)</a:t>
            </a:r>
          </a:p>
          <a:p>
            <a:pPr marL="0" marR="0">
              <a:lnSpc>
                <a:spcPts val="1807"/>
              </a:lnSpc>
              <a:spcBef>
                <a:spcPts val="197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{"c": 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4,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"a": 6, "b": 2}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&gt;&gt;&gt;print(s2)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515" y="3860075"/>
            <a:ext cx="1007129" cy="77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"a": 6,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"b": 2,</a:t>
            </a:r>
          </a:p>
          <a:p>
            <a:pPr marL="0" marR="0">
              <a:lnSpc>
                <a:spcPts val="1810"/>
              </a:lnSpc>
              <a:spcBef>
                <a:spcPts val="182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"c": 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8530" y="4622456"/>
            <a:ext cx="274034" cy="267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8530" y="4876964"/>
            <a:ext cx="4917002" cy="1282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&gt;&gt;&gt;print(s1==s2)</a:t>
            </a:r>
          </a:p>
          <a:p>
            <a:pPr marL="0" marR="0">
              <a:lnSpc>
                <a:spcPts val="1807"/>
              </a:lnSpc>
              <a:spcBef>
                <a:spcPts val="184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False</a:t>
            </a:r>
          </a:p>
          <a:p>
            <a:pPr marL="0" marR="0">
              <a:lnSpc>
                <a:spcPts val="1807"/>
              </a:lnSpc>
              <a:spcBef>
                <a:spcPts val="196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&gt;&gt;&gt;dt2</a:t>
            </a:r>
            <a:r>
              <a:rPr sz="1600" b="1" spc="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= json.loads(s2)</a:t>
            </a:r>
          </a:p>
          <a:p>
            <a:pPr marL="0" marR="0">
              <a:lnSpc>
                <a:spcPts val="1807"/>
              </a:lnSpc>
              <a:spcBef>
                <a:spcPts val="195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&gt;&gt;&gt;print(dt2, type(dt2))</a:t>
            </a:r>
          </a:p>
          <a:p>
            <a:pPr marL="0" marR="0">
              <a:lnSpc>
                <a:spcPts val="1807"/>
              </a:lnSpc>
              <a:spcBef>
                <a:spcPts val="186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{'c': 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4,</a:t>
            </a:r>
            <a:r>
              <a:rPr sz="16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'a': 6, 'b': 2}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&lt;class</a:t>
            </a:r>
            <a:r>
              <a:rPr sz="1600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000000"/>
                </a:solidFill>
                <a:latin typeface="Courier New"/>
                <a:cs typeface="Courier New"/>
              </a:rPr>
              <a:t>'dict'&gt;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01014" y="2788949"/>
            <a:ext cx="8056473" cy="943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CSV和JSON格式相互转换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1240" y="762923"/>
            <a:ext cx="600396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CSV和JSON格式相互转换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765" y="1782700"/>
            <a:ext cx="488867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将CSV转换成JSON格式的代码如下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757" y="2458530"/>
            <a:ext cx="1319374" cy="3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14.1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61485" y="2455483"/>
            <a:ext cx="1643838" cy="3115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3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e14.1csv2json.py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0386" y="2961785"/>
            <a:ext cx="2331661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#e14.1csv2json.py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json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10386" y="3469531"/>
            <a:ext cx="3821400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 = open("price2016.csv", "r")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[]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0386" y="3977023"/>
            <a:ext cx="2118301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line in</a:t>
            </a:r>
            <a:r>
              <a:rPr sz="1400" b="1" spc="-18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0386" y="4231531"/>
            <a:ext cx="25940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07057" y="4231531"/>
            <a:ext cx="313137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 =</a:t>
            </a:r>
            <a:r>
              <a:rPr sz="1400" b="1" spc="-1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line.replace("\n","")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ls.append(line.split(','))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10386" y="4739023"/>
            <a:ext cx="1587949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fr.close()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56995" y="4993785"/>
            <a:ext cx="3981775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9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spc="1231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 = open("price2016.json",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"w")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spc="8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 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in</a:t>
            </a:r>
            <a:r>
              <a:rPr sz="1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range(1,len(ls)):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56995" y="5501328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07057" y="5501328"/>
            <a:ext cx="3451039" cy="207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ls[i] =</a:t>
            </a:r>
            <a:r>
              <a:rPr sz="1400" b="1" spc="-12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dict(zip(ls[0],</a:t>
            </a:r>
            <a:r>
              <a:rPr sz="1400" b="1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ourier New"/>
                <a:cs typeface="Courier New"/>
              </a:rPr>
              <a:t>ls[i]))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56995" y="5755835"/>
            <a:ext cx="5470772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400" spc="8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json.dump(ls[1:],fw, sort_keys=True, indent=4)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13</a:t>
            </a:r>
            <a:r>
              <a:rPr sz="1400" spc="810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fw.close()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8990" y="1042993"/>
            <a:ext cx="823694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将二维JSON格式数据转换成CSV格式的代码如下，供参考。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910" y="2242057"/>
            <a:ext cx="1319631" cy="31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SimSun"/>
                <a:cs typeface="SimSun"/>
              </a:rPr>
              <a:t>实例代码</a:t>
            </a:r>
            <a:r>
              <a:rPr sz="1600" dirty="0">
                <a:solidFill>
                  <a:srgbClr val="000000"/>
                </a:solidFill>
                <a:latin typeface="Palatino Linotype"/>
                <a:cs typeface="Palatino Linotype"/>
              </a:rPr>
              <a:t>14.2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83023" y="2239008"/>
            <a:ext cx="1645338" cy="311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2" dirty="0">
                <a:solidFill>
                  <a:srgbClr val="000000"/>
                </a:solidFill>
                <a:latin typeface="Palatino Linotype"/>
                <a:cs typeface="Palatino Linotype"/>
              </a:rPr>
              <a:t>e14.2json2csv.py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6995" y="2745885"/>
            <a:ext cx="2245225" cy="493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#14.2json2csv.py</a:t>
            </a:r>
          </a:p>
          <a:p>
            <a:pPr marL="0" marR="0">
              <a:lnSpc>
                <a:spcPts val="1590"/>
              </a:lnSpc>
              <a:spcBef>
                <a:spcPts val="401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2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import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json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6995" y="3253376"/>
            <a:ext cx="3947787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3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 = open("price2016.json",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"r")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4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 = json.load(fr)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56995" y="3760869"/>
            <a:ext cx="3627747" cy="494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5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data =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[ list(ls[0].keys())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]</a:t>
            </a:r>
          </a:p>
          <a:p>
            <a:pPr marL="0" marR="0">
              <a:lnSpc>
                <a:spcPts val="1590"/>
              </a:lnSpc>
              <a:spcBef>
                <a:spcPts val="416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6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item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ls: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56995" y="4270266"/>
            <a:ext cx="259402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7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73529" y="4270266"/>
            <a:ext cx="3576470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data.append(list(item.values()))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56995" y="4523250"/>
            <a:ext cx="1607955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8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fr.close()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03655" y="4777758"/>
            <a:ext cx="4958498" cy="494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39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9</a:t>
            </a:r>
            <a:r>
              <a:rPr sz="1400" spc="1389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 = open("price2016_from_json.csv", "w")</a:t>
            </a:r>
          </a:p>
          <a:p>
            <a:pPr marL="0" marR="0">
              <a:lnSpc>
                <a:spcPts val="1590"/>
              </a:lnSpc>
              <a:spcBef>
                <a:spcPts val="413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10</a:t>
            </a:r>
            <a:r>
              <a:rPr sz="1400" spc="96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for item in</a:t>
            </a:r>
            <a:r>
              <a:rPr sz="1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data: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03655" y="5285250"/>
            <a:ext cx="366404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73529" y="5285250"/>
            <a:ext cx="3451293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fw.write(",".join(item)</a:t>
            </a:r>
            <a:r>
              <a:rPr sz="1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+ "\n")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03655" y="5540037"/>
            <a:ext cx="1661496" cy="240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7F7F7F"/>
                </a:solidFill>
                <a:latin typeface="Courier New"/>
                <a:cs typeface="Courier New"/>
              </a:rPr>
              <a:t>12</a:t>
            </a:r>
            <a:r>
              <a:rPr sz="1400" spc="968" dirty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00"/>
                </a:solidFill>
                <a:latin typeface="Courier New"/>
                <a:cs typeface="Courier New"/>
              </a:rPr>
              <a:t>fw.close()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3595" y="2788949"/>
            <a:ext cx="3582619" cy="847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2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5400" dirty="0">
                <a:solidFill>
                  <a:srgbClr val="000000"/>
                </a:solidFill>
                <a:latin typeface="Microsoft YaHei"/>
                <a:cs typeface="Microsoft YaHei"/>
              </a:rPr>
              <a:t>     总结</a:t>
            </a:r>
            <a:endParaRPr sz="54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一、类型转换函数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990" y="2027469"/>
            <a:ext cx="3289401" cy="3116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2" dirty="0">
                <a:solidFill>
                  <a:srgbClr val="000000"/>
                </a:solidFill>
                <a:latin typeface="SimSun"/>
                <a:cs typeface="SimSun"/>
              </a:rPr>
              <a:t>1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、整数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2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、浮点数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3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、复数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4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、字符串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5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、元组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6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、集合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7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、列表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8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、字典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sz="2400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57198837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二、运算符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990" y="2027469"/>
            <a:ext cx="8067466" cy="4211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zh-CN" altLang="zh-CN" sz="2400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编程语言中的运算大致分为以下几个大类：</a:t>
            </a:r>
            <a:r>
              <a:rPr lang="zh-CN" altLang="en-US" sz="2400" kern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（详见</a:t>
            </a:r>
            <a:r>
              <a:rPr lang="en-US" altLang="zh-CN" sz="2400" kern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word</a:t>
            </a:r>
            <a:r>
              <a:rPr lang="zh-CN" altLang="en-US" sz="2400" kern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文档）</a:t>
            </a:r>
            <a:endParaRPr lang="zh-CN" altLang="zh-CN" sz="24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i="1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算术运算</a:t>
            </a:r>
            <a:r>
              <a:rPr lang="zh-CN" altLang="zh-CN" sz="2400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， 用于加减乘除等数学运算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i="1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赋值运算</a:t>
            </a:r>
            <a:r>
              <a:rPr lang="zh-CN" altLang="zh-CN" sz="2400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，用于接收运算符或方法调用返回的结果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i="1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比较运算</a:t>
            </a:r>
            <a:r>
              <a:rPr lang="en-US" altLang="zh-CN" sz="2400" kern="0" dirty="0">
                <a:solidFill>
                  <a:srgbClr val="4B4B4B"/>
                </a:solidFill>
                <a:effectLst/>
                <a:latin typeface="微软雅黑" panose="020B0503020204020204" pitchFamily="34" charset="-122"/>
                <a:ea typeface="等线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zh-CN" sz="2400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用于做大小或等值比较运算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i="1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逻辑运算</a:t>
            </a:r>
            <a:r>
              <a:rPr lang="zh-CN" altLang="zh-CN" sz="2400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，用于做 与、或、非运算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i="1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位运算</a:t>
            </a:r>
            <a:r>
              <a:rPr lang="zh-CN" altLang="zh-CN" sz="2400" kern="0" dirty="0">
                <a:solidFill>
                  <a:srgbClr val="4B4B4B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， 用于二进制运算</a:t>
            </a:r>
            <a:endParaRPr lang="en-US" altLang="zh-CN" sz="2400" kern="0" dirty="0">
              <a:solidFill>
                <a:srgbClr val="4B4B4B"/>
              </a:solidFill>
              <a:effectLst/>
              <a:latin typeface="等线" panose="02010600030101010101" pitchFamily="2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sz="2400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57763545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三、函数库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990" y="2027469"/>
            <a:ext cx="3289401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2" dirty="0">
                <a:solidFill>
                  <a:srgbClr val="000000"/>
                </a:solidFill>
                <a:latin typeface="SimSun"/>
                <a:cs typeface="SimSun"/>
              </a:rPr>
              <a:t>1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turtle</a:t>
            </a: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2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math</a:t>
            </a: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3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random</a:t>
            </a: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4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datetime</a:t>
            </a: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5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12" dirty="0" err="1">
                <a:solidFill>
                  <a:srgbClr val="FF0000"/>
                </a:solidFill>
                <a:latin typeface="SimSun"/>
                <a:cs typeface="SimSun"/>
              </a:rPr>
              <a:t>jieba</a:t>
            </a:r>
            <a:endParaRPr lang="en-US" altLang="zh-CN" sz="2400" spc="12" dirty="0">
              <a:solidFill>
                <a:srgbClr val="FF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6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</a:t>
            </a: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json</a:t>
            </a: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sz="2400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52814189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230368" cy="625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>
                <a:solidFill>
                  <a:srgbClr val="262626"/>
                </a:solidFill>
                <a:latin typeface="Microsoft YaHei"/>
                <a:cs typeface="Microsoft YaHei"/>
              </a:rPr>
              <a:t>四、组合数据类型操作</a:t>
            </a:r>
            <a:endParaRPr sz="4000" dirty="0">
              <a:solidFill>
                <a:srgbClr val="262626"/>
              </a:solidFill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990" y="2027469"/>
            <a:ext cx="3289401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2" dirty="0">
                <a:solidFill>
                  <a:srgbClr val="000000"/>
                </a:solidFill>
                <a:latin typeface="SimSun"/>
                <a:cs typeface="SimSun"/>
              </a:rPr>
              <a:t>1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、新建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spc="12" dirty="0">
                <a:solidFill>
                  <a:srgbClr val="000000"/>
                </a:solidFill>
                <a:latin typeface="SimSun"/>
                <a:cs typeface="SimSun"/>
              </a:rPr>
              <a:t>2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、增加（位置）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3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、删除（随机或指定）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4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、修改</a:t>
            </a: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12" dirty="0">
                <a:solidFill>
                  <a:srgbClr val="000000"/>
                </a:solidFill>
                <a:latin typeface="SimSun"/>
                <a:cs typeface="SimSun"/>
              </a:rPr>
              <a:t>5</a:t>
            </a:r>
            <a:r>
              <a:rPr lang="zh-CN" altLang="en-US" sz="2400" spc="12" dirty="0">
                <a:solidFill>
                  <a:srgbClr val="000000"/>
                </a:solidFill>
                <a:latin typeface="SimSun"/>
                <a:cs typeface="SimSun"/>
              </a:rPr>
              <a:t>、全部</a:t>
            </a:r>
            <a:r>
              <a:rPr lang="zh-CN" altLang="en-US" sz="2400" spc="12" dirty="0">
                <a:latin typeface="SimSun"/>
                <a:cs typeface="SimSun"/>
              </a:rPr>
              <a:t>清除</a:t>
            </a:r>
            <a:endParaRPr lang="en-US" altLang="zh-CN" sz="2400" spc="12" dirty="0"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spc="12" dirty="0">
              <a:solidFill>
                <a:srgbClr val="000000"/>
              </a:solidFill>
              <a:latin typeface="SimSun"/>
              <a:cs typeface="SimSun"/>
            </a:endParaRPr>
          </a:p>
          <a:p>
            <a:pPr marL="0" marR="0">
              <a:lnSpc>
                <a:spcPts val="2657"/>
              </a:lnSpc>
              <a:spcBef>
                <a:spcPts val="0"/>
              </a:spcBef>
              <a:spcAft>
                <a:spcPts val="0"/>
              </a:spcAft>
            </a:pPr>
            <a:endParaRPr sz="2400" spc="11" dirty="0">
              <a:solidFill>
                <a:srgbClr val="000000"/>
              </a:solidFill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9041472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</TotalTime>
  <Words>8791</Words>
  <Application>Microsoft Office PowerPoint</Application>
  <PresentationFormat>全屏显示(4:3)</PresentationFormat>
  <Paragraphs>1760</Paragraphs>
  <Slides>169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169</vt:i4>
      </vt:variant>
    </vt:vector>
  </HeadingPairs>
  <TitlesOfParts>
    <vt:vector size="188" baseType="lpstr">
      <vt:lpstr>Symbol</vt:lpstr>
      <vt:lpstr>Palatino Linotype</vt:lpstr>
      <vt:lpstr>SimSun</vt:lpstr>
      <vt:lpstr>等线</vt:lpstr>
      <vt:lpstr>PingFang SC</vt:lpstr>
      <vt:lpstr>SimHei</vt:lpstr>
      <vt:lpstr>Courier New</vt:lpstr>
      <vt:lpstr>KaiTi</vt:lpstr>
      <vt:lpstr>Calibri</vt:lpstr>
      <vt:lpstr>Microsoft YaHei</vt:lpstr>
      <vt:lpstr>Arial</vt:lpstr>
      <vt:lpstr>Helvetica Neue</vt:lpstr>
      <vt:lpstr>Times New Roman</vt:lpstr>
      <vt:lpstr>Wingdings</vt:lpstr>
      <vt:lpstr>SimSun</vt:lpstr>
      <vt:lpstr>Menlo</vt:lpstr>
      <vt:lpstr>Microsoft YaHei</vt:lpstr>
      <vt:lpstr>-apple-system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洪伟</cp:lastModifiedBy>
  <cp:revision>55</cp:revision>
  <dcterms:modified xsi:type="dcterms:W3CDTF">2022-11-11T16:19:50Z</dcterms:modified>
</cp:coreProperties>
</file>