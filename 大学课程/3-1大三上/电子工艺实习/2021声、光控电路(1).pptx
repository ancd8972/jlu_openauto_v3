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71" r:id="rId3"/>
    <p:sldId id="286" r:id="rId4"/>
    <p:sldId id="260" r:id="rId5"/>
    <p:sldId id="258" r:id="rId6"/>
    <p:sldId id="264" r:id="rId7"/>
    <p:sldId id="269" r:id="rId8"/>
    <p:sldId id="285" r:id="rId9"/>
    <p:sldId id="262" r:id="rId10"/>
    <p:sldId id="278" r:id="rId11"/>
    <p:sldId id="283" r:id="rId12"/>
    <p:sldId id="279" r:id="rId13"/>
    <p:sldId id="280" r:id="rId14"/>
    <p:sldId id="274" r:id="rId15"/>
    <p:sldId id="284" r:id="rId16"/>
    <p:sldId id="272" r:id="rId17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CC0000"/>
    <a:srgbClr val="9900FF"/>
    <a:srgbClr val="00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>
        <p:scale>
          <a:sx n="75" d="100"/>
          <a:sy n="75" d="100"/>
        </p:scale>
        <p:origin x="-1824" y="-282"/>
      </p:cViewPr>
      <p:guideLst>
        <p:guide orient="horz" pos="2118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7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1537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fontAlgn="base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p>
            <a:pPr algn="r" fontAlgn="base">
              <a:buNone/>
            </a:pPr>
            <a:fld id="{9A0DB2DC-4C9A-4742-B13C-FB6460FD3503}" type="slidenum">
              <a:rPr lang="en-US" altLang="zh-CN" strike="noStrike" noProof="1" dirty="0">
                <a:solidFill>
                  <a:schemeClr val="bg2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1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76200"/>
            <a:ext cx="1951038" cy="6056313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76200"/>
            <a:ext cx="5700712" cy="6056313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76200"/>
            <a:ext cx="7793037" cy="11430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338" name="Rectangle 2"/>
          <p:cNvSpPr>
            <a:spLocks noChangeArrowheads="1"/>
          </p:cNvSpPr>
          <p:nvPr/>
        </p:nvSpPr>
        <p:spPr bwMode="ltGray">
          <a:xfrm>
            <a:off x="417513" y="557213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339" name="Rectangle 3"/>
          <p:cNvSpPr>
            <a:spLocks noChangeArrowheads="1"/>
          </p:cNvSpPr>
          <p:nvPr/>
        </p:nvSpPr>
        <p:spPr bwMode="ltGray">
          <a:xfrm>
            <a:off x="800100" y="557213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340" name="Rectangle 4"/>
          <p:cNvSpPr>
            <a:spLocks noChangeArrowheads="1"/>
          </p:cNvSpPr>
          <p:nvPr/>
        </p:nvSpPr>
        <p:spPr bwMode="ltGray">
          <a:xfrm>
            <a:off x="541338" y="979488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341" name="Rectangle 5"/>
          <p:cNvSpPr>
            <a:spLocks noChangeArrowheads="1"/>
          </p:cNvSpPr>
          <p:nvPr/>
        </p:nvSpPr>
        <p:spPr bwMode="ltGray">
          <a:xfrm>
            <a:off x="911225" y="979488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342" name="Rectangle 6"/>
          <p:cNvSpPr>
            <a:spLocks noChangeArrowheads="1"/>
          </p:cNvSpPr>
          <p:nvPr/>
        </p:nvSpPr>
        <p:spPr bwMode="ltGray">
          <a:xfrm>
            <a:off x="127000" y="906463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343" name="Rectangle 7"/>
          <p:cNvSpPr>
            <a:spLocks noChangeArrowheads="1"/>
          </p:cNvSpPr>
          <p:nvPr/>
        </p:nvSpPr>
        <p:spPr bwMode="gray">
          <a:xfrm>
            <a:off x="762000" y="449263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344" name="Rectangle 8"/>
          <p:cNvSpPr>
            <a:spLocks noChangeArrowheads="1"/>
          </p:cNvSpPr>
          <p:nvPr/>
        </p:nvSpPr>
        <p:spPr bwMode="gray">
          <a:xfrm>
            <a:off x="442913" y="1239838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3" name="Rectangle 9"/>
          <p:cNvSpPr>
            <a:spLocks noGrp="1"/>
          </p:cNvSpPr>
          <p:nvPr>
            <p:ph type="title"/>
          </p:nvPr>
        </p:nvSpPr>
        <p:spPr>
          <a:xfrm>
            <a:off x="1150938" y="76200"/>
            <a:ext cx="7793037" cy="11430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34" name="Rectangle 10"/>
          <p:cNvSpPr>
            <a:spLocks noGrp="1"/>
          </p:cNvSpPr>
          <p:nvPr>
            <p:ph type="body"/>
          </p:nvPr>
        </p:nvSpPr>
        <p:spPr>
          <a:xfrm>
            <a:off x="1182688" y="2017713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8575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4347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kumimoji="0" sz="14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348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3246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defRPr kumimoji="0" sz="14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349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/>
            </a:lvl1pPr>
          </a:lstStyle>
          <a:p>
            <a:pPr lvl="0" eaLnBrk="1" fontAlgn="base" hangingPunct="1">
              <a:buNone/>
            </a:pPr>
            <a:fld id="{9A0DB2DC-4C9A-4742-B13C-FB6460FD3503}" type="slidenum">
              <a:rPr lang="en-US" altLang="zh-CN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ahom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.png"/><Relationship Id="rId3" Type="http://schemas.openxmlformats.org/officeDocument/2006/relationships/tags" Target="../tags/tag1.xml"/><Relationship Id="rId2" Type="http://schemas.microsoft.com/office/2007/relationships/media" Target="../media/media1.mp4"/><Relationship Id="rId1" Type="http://schemas.openxmlformats.org/officeDocument/2006/relationships/video" Target="../media/media1.mp4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oleObject" Target="../embeddings/oleObject1.bin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emf"/><Relationship Id="rId1" Type="http://schemas.openxmlformats.org/officeDocument/2006/relationships/oleObject" Target="../embeddings/oleObject2.bin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image" Target="../media/image7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3" name="Rectangle 2"/>
          <p:cNvSpPr>
            <a:spLocks noGrp="1"/>
          </p:cNvSpPr>
          <p:nvPr>
            <p:ph type="ctrTitle"/>
          </p:nvPr>
        </p:nvSpPr>
        <p:spPr>
          <a:xfrm>
            <a:off x="1928813" y="5072063"/>
            <a:ext cx="6945312" cy="642937"/>
          </a:xfrm>
        </p:spPr>
        <p:txBody>
          <a:bodyPr vert="horz" wrap="square" lIns="91440" tIns="45720" rIns="91440" bIns="45720" anchor="b"/>
          <a:p>
            <a:pPr algn="r" eaLnBrk="1" hangingPunct="1">
              <a:buClrTx/>
              <a:buSzTx/>
              <a:buFontTx/>
            </a:pPr>
            <a:r>
              <a:rPr kumimoji="1" lang="en-US" altLang="zh-CN" sz="2800" b="1" dirty="0">
                <a:latin typeface="+mj-lt"/>
                <a:ea typeface="黑体" panose="02010609060101010101" pitchFamily="2" charset="-122"/>
                <a:cs typeface="+mj-cs"/>
              </a:rPr>
              <a:t>  --</a:t>
            </a:r>
            <a:r>
              <a:rPr kumimoji="1" lang="en-US" altLang="zh-CN" sz="2800" b="1" dirty="0">
                <a:latin typeface="宋体" panose="02010600030101010101" pitchFamily="2" charset="-122"/>
                <a:ea typeface="+mj-ea"/>
                <a:cs typeface="+mj-cs"/>
              </a:rPr>
              <a:t>2021</a:t>
            </a:r>
            <a:r>
              <a:rPr kumimoji="1" lang="zh-CN" altLang="en-US" sz="2800" b="1" dirty="0">
                <a:latin typeface="宋体" panose="02010600030101010101" pitchFamily="2" charset="-122"/>
                <a:ea typeface="+mj-ea"/>
                <a:cs typeface="+mj-cs"/>
              </a:rPr>
              <a:t>小学期课程设计</a:t>
            </a:r>
            <a:endParaRPr kumimoji="1" lang="zh-CN" altLang="en-US" sz="2800" b="1" dirty="0">
              <a:latin typeface="宋体" panose="02010600030101010101" pitchFamily="2" charset="-122"/>
              <a:ea typeface="+mj-ea"/>
              <a:cs typeface="+mj-cs"/>
            </a:endParaRPr>
          </a:p>
        </p:txBody>
      </p:sp>
      <p:sp>
        <p:nvSpPr>
          <p:cNvPr id="3074" name="Rectangle 3"/>
          <p:cNvSpPr>
            <a:spLocks noGrp="1"/>
          </p:cNvSpPr>
          <p:nvPr>
            <p:ph type="subTitle" idx="1"/>
          </p:nvPr>
        </p:nvSpPr>
        <p:spPr>
          <a:xfrm>
            <a:off x="214313" y="3286125"/>
            <a:ext cx="8715375" cy="1752600"/>
          </a:xfrm>
        </p:spPr>
        <p:txBody>
          <a:bodyPr vert="horz" wrap="square" lIns="91440" tIns="45720" rIns="91440" bIns="45720" anchor="t"/>
          <a:p>
            <a:pPr eaLnBrk="1" hangingPunct="1">
              <a:buSzPct val="60000"/>
            </a:pPr>
            <a:r>
              <a:rPr kumimoji="1" lang="zh-CN" altLang="en-US" sz="5400" b="1" dirty="0">
                <a:solidFill>
                  <a:srgbClr val="FF0000"/>
                </a:solidFill>
                <a:latin typeface="+mn-lt"/>
                <a:ea typeface="黑体" panose="02010609060101010101" pitchFamily="2" charset="-122"/>
                <a:cs typeface="+mn-cs"/>
              </a:rPr>
              <a:t>声、光控灯的制作与调试</a:t>
            </a:r>
            <a:endParaRPr kumimoji="1" lang="zh-CN" altLang="en-US" sz="5400" b="1" dirty="0">
              <a:solidFill>
                <a:srgbClr val="FF0000"/>
              </a:solidFill>
              <a:latin typeface="+mn-lt"/>
              <a:ea typeface="黑体" panose="02010609060101010101" pitchFamily="2" charset="-122"/>
              <a:cs typeface="+mn-cs"/>
            </a:endParaRPr>
          </a:p>
        </p:txBody>
      </p:sp>
      <p:pic>
        <p:nvPicPr>
          <p:cNvPr id="3075" name="Picture 6" descr="C:\陈万忠\My Pictures\院徽.bmp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14313"/>
            <a:ext cx="8761413" cy="24288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7" name="Text Box 4"/>
          <p:cNvSpPr txBox="1"/>
          <p:nvPr/>
        </p:nvSpPr>
        <p:spPr>
          <a:xfrm>
            <a:off x="1295400" y="381000"/>
            <a:ext cx="7902575" cy="70802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r>
              <a:rPr lang="zh-CN" altLang="en-US" sz="4000" b="1" dirty="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设计任务：焊接电路板、调试电路</a:t>
            </a:r>
            <a:endParaRPr lang="zh-CN" altLang="en-US" sz="4000" b="1" dirty="0">
              <a:solidFill>
                <a:srgbClr val="CC0000"/>
              </a:solidFill>
              <a:latin typeface="Arial" panose="020B0604020202020204" pitchFamily="34" charset="0"/>
              <a:ea typeface="黑体" panose="02010609060101010101" pitchFamily="2" charset="-122"/>
            </a:endParaRPr>
          </a:p>
        </p:txBody>
      </p:sp>
      <p:pic>
        <p:nvPicPr>
          <p:cNvPr id="3" name="11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810260" y="1270635"/>
            <a:ext cx="8011795" cy="47383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  <p:endCondLst>
                    <p:cond evt="onNext">
                      <p:tgtEl>
                        <p:sldTgt/>
                      </p:tgtEl>
                    </p:cond>
                    <p:cond evt="onPrev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1" name="Text Box 4"/>
          <p:cNvSpPr txBox="1"/>
          <p:nvPr/>
        </p:nvSpPr>
        <p:spPr>
          <a:xfrm>
            <a:off x="1295400" y="381000"/>
            <a:ext cx="5772150" cy="70167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r>
              <a:rPr lang="zh-CN" altLang="en-US" sz="4000" b="1" dirty="0">
                <a:solidFill>
                  <a:srgbClr val="CC0000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一、声光控灯电路原理图</a:t>
            </a:r>
            <a:endParaRPr lang="zh-CN" altLang="en-US" sz="4000" b="1" dirty="0">
              <a:solidFill>
                <a:srgbClr val="CC0000"/>
              </a:solidFill>
              <a:latin typeface="Arial" panose="020B0604020202020204" pitchFamily="34" charset="0"/>
              <a:ea typeface="黑体" panose="0201060906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16200000">
            <a:off x="2459355" y="-396240"/>
            <a:ext cx="4224020" cy="914336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l="6786" t="10394" b="55278"/>
          <a:stretch>
            <a:fillRect/>
          </a:stretch>
        </p:blipFill>
        <p:spPr>
          <a:xfrm rot="16200000">
            <a:off x="12303" y="2729230"/>
            <a:ext cx="3937397" cy="3138805"/>
          </a:xfrm>
          <a:prstGeom prst="rect">
            <a:avLst/>
          </a:prstGeom>
        </p:spPr>
      </p:pic>
      <p:sp>
        <p:nvSpPr>
          <p:cNvPr id="6147" name="矩形标注 7"/>
          <p:cNvSpPr/>
          <p:nvPr/>
        </p:nvSpPr>
        <p:spPr>
          <a:xfrm>
            <a:off x="4967923" y="2329498"/>
            <a:ext cx="3600450" cy="1008062"/>
          </a:xfrm>
          <a:prstGeom prst="wedgeRectCallout">
            <a:avLst>
              <a:gd name="adj1" fmla="val -102936"/>
              <a:gd name="adj2" fmla="val 102598"/>
            </a:avLst>
          </a:prstGeom>
          <a:solidFill>
            <a:schemeClr val="bg1"/>
          </a:solidFill>
          <a:ln w="952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/>
          <a:p>
            <a:endParaRPr lang="zh-CN" altLang="en-US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145" name="Rectangle 2"/>
          <p:cNvSpPr>
            <a:spLocks noGrp="1"/>
          </p:cNvSpPr>
          <p:nvPr>
            <p:ph type="title"/>
          </p:nvPr>
        </p:nvSpPr>
        <p:spPr>
          <a:xfrm>
            <a:off x="1371600" y="533400"/>
            <a:ext cx="7772400" cy="701675"/>
          </a:xfrm>
        </p:spPr>
        <p:txBody>
          <a:bodyPr vert="horz" wrap="square" lIns="91440" tIns="45720" rIns="91440" bIns="45720" anchor="b"/>
          <a:p>
            <a:pPr eaLnBrk="1" hangingPunct="1"/>
            <a:r>
              <a:rPr lang="zh-CN" altLang="en-US" sz="4000" b="1" dirty="0">
                <a:solidFill>
                  <a:srgbClr val="CC0000"/>
                </a:solidFill>
                <a:ea typeface="黑体" panose="02010609060101010101" pitchFamily="2" charset="-122"/>
              </a:rPr>
              <a:t>二、工作原理分析</a:t>
            </a:r>
            <a:endParaRPr lang="zh-CN" altLang="en-US" sz="4000" b="1" dirty="0">
              <a:solidFill>
                <a:srgbClr val="CC0000"/>
              </a:solidFill>
              <a:ea typeface="黑体" panose="02010609060101010101" pitchFamily="2" charset="-122"/>
            </a:endParaRPr>
          </a:p>
        </p:txBody>
      </p:sp>
      <p:sp>
        <p:nvSpPr>
          <p:cNvPr id="6148" name="TextBox 8"/>
          <p:cNvSpPr txBox="1"/>
          <p:nvPr/>
        </p:nvSpPr>
        <p:spPr>
          <a:xfrm>
            <a:off x="5148263" y="2497138"/>
            <a:ext cx="3240087" cy="46196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r>
              <a:rPr lang="zh-CN" altLang="en-US" dirty="0">
                <a:latin typeface="Tahoma" panose="020B0604030504040204" pitchFamily="34" charset="0"/>
                <a:ea typeface="宋体" panose="02010600030101010101" pitchFamily="2" charset="-122"/>
              </a:rPr>
              <a:t>晶闸管控制端（门极）</a:t>
            </a:r>
            <a:endParaRPr lang="zh-CN" altLang="en-US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149" name="矩形 9"/>
          <p:cNvSpPr/>
          <p:nvPr/>
        </p:nvSpPr>
        <p:spPr>
          <a:xfrm>
            <a:off x="186055" y="1557655"/>
            <a:ext cx="8957945" cy="5835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algn="ctr"/>
            <a:r>
              <a:rPr lang="zh-CN" altLang="en-US" sz="3200" dirty="0">
                <a:solidFill>
                  <a:srgbClr val="0070C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晶闸管控制端（门极）控制发光二极管的亮、灭</a:t>
            </a:r>
            <a:endParaRPr lang="zh-CN" altLang="en-US" sz="3200" dirty="0">
              <a:solidFill>
                <a:srgbClr val="0070C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6150" name="矩形 10"/>
          <p:cNvSpPr/>
          <p:nvPr/>
        </p:nvSpPr>
        <p:spPr>
          <a:xfrm>
            <a:off x="3862388" y="4411028"/>
            <a:ext cx="5102225" cy="107632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r>
              <a:rPr lang="zh-CN" altLang="en-US" sz="3200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门极高电平，晶闸管导通，</a:t>
            </a:r>
            <a:endParaRPr lang="en-US" altLang="zh-CN" sz="3200" dirty="0">
              <a:solidFill>
                <a:srgbClr val="FF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r>
              <a:rPr lang="en-US" altLang="zh-CN" sz="3200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            </a:t>
            </a:r>
            <a:r>
              <a:rPr lang="zh-CN" altLang="en-US" sz="3200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发光二极管亮</a:t>
            </a:r>
            <a:endParaRPr lang="zh-CN" altLang="en-US" sz="3200" dirty="0">
              <a:solidFill>
                <a:srgbClr val="FF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6151" name="矩形 11"/>
          <p:cNvSpPr/>
          <p:nvPr/>
        </p:nvSpPr>
        <p:spPr>
          <a:xfrm>
            <a:off x="3862388" y="5487353"/>
            <a:ext cx="5281612" cy="107632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r>
              <a:rPr lang="zh-CN" altLang="en-US" sz="3200" dirty="0">
                <a:latin typeface="黑体" panose="02010609060101010101" pitchFamily="2" charset="-122"/>
                <a:ea typeface="黑体" panose="02010609060101010101" pitchFamily="2" charset="-122"/>
              </a:rPr>
              <a:t>门极低电平，晶闸管关断，</a:t>
            </a:r>
            <a:endParaRPr lang="en-US" altLang="zh-CN" sz="320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r>
              <a:rPr lang="en-US" altLang="zh-CN" sz="3200" dirty="0">
                <a:latin typeface="黑体" panose="02010609060101010101" pitchFamily="2" charset="-122"/>
                <a:ea typeface="黑体" panose="02010609060101010101" pitchFamily="2" charset="-122"/>
              </a:rPr>
              <a:t>            </a:t>
            </a:r>
            <a:r>
              <a:rPr lang="zh-CN" altLang="en-US" sz="3200" dirty="0">
                <a:latin typeface="黑体" panose="02010609060101010101" pitchFamily="2" charset="-122"/>
                <a:ea typeface="黑体" panose="02010609060101010101" pitchFamily="2" charset="-122"/>
              </a:rPr>
              <a:t>发光二极管灭</a:t>
            </a:r>
            <a:endParaRPr lang="zh-CN" altLang="en-US" sz="3200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cxnSp>
        <p:nvCxnSpPr>
          <p:cNvPr id="6152" name="直接连接符 9"/>
          <p:cNvCxnSpPr/>
          <p:nvPr/>
        </p:nvCxnSpPr>
        <p:spPr>
          <a:xfrm>
            <a:off x="4572318" y="4200208"/>
            <a:ext cx="576262" cy="0"/>
          </a:xfrm>
          <a:prstGeom prst="line">
            <a:avLst/>
          </a:prstGeom>
          <a:ln w="952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6153" name="直接连接符 11"/>
          <p:cNvCxnSpPr/>
          <p:nvPr/>
        </p:nvCxnSpPr>
        <p:spPr>
          <a:xfrm flipV="1">
            <a:off x="5148580" y="3768408"/>
            <a:ext cx="0" cy="431800"/>
          </a:xfrm>
          <a:prstGeom prst="line">
            <a:avLst/>
          </a:prstGeom>
          <a:ln w="952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6154" name="直接连接符 16"/>
          <p:cNvCxnSpPr/>
          <p:nvPr/>
        </p:nvCxnSpPr>
        <p:spPr>
          <a:xfrm>
            <a:off x="5148580" y="3768408"/>
            <a:ext cx="431800" cy="0"/>
          </a:xfrm>
          <a:prstGeom prst="line">
            <a:avLst/>
          </a:prstGeom>
          <a:ln w="952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6155" name="直接连接符 18"/>
          <p:cNvCxnSpPr/>
          <p:nvPr/>
        </p:nvCxnSpPr>
        <p:spPr>
          <a:xfrm>
            <a:off x="5580380" y="3768408"/>
            <a:ext cx="0" cy="431800"/>
          </a:xfrm>
          <a:prstGeom prst="line">
            <a:avLst/>
          </a:prstGeom>
          <a:ln w="952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6156" name="直接连接符 22"/>
          <p:cNvCxnSpPr/>
          <p:nvPr/>
        </p:nvCxnSpPr>
        <p:spPr>
          <a:xfrm>
            <a:off x="5580380" y="4200208"/>
            <a:ext cx="288925" cy="0"/>
          </a:xfrm>
          <a:prstGeom prst="line">
            <a:avLst/>
          </a:prstGeom>
          <a:ln w="952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16200000">
            <a:off x="2785110" y="1046480"/>
            <a:ext cx="3473450" cy="7519670"/>
          </a:xfrm>
          <a:prstGeom prst="rect">
            <a:avLst/>
          </a:prstGeom>
        </p:spPr>
      </p:pic>
      <p:sp>
        <p:nvSpPr>
          <p:cNvPr id="716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p>
            <a:pPr eaLnBrk="1" hangingPunct="1"/>
            <a:r>
              <a:rPr lang="zh-CN" altLang="en-US" sz="4000" b="1" dirty="0">
                <a:solidFill>
                  <a:srgbClr val="CC0000"/>
                </a:solidFill>
                <a:ea typeface="黑体" panose="02010609060101010101" pitchFamily="2" charset="-122"/>
              </a:rPr>
              <a:t>三、声光控原理</a:t>
            </a:r>
            <a:r>
              <a:rPr lang="en-US" altLang="zh-CN" sz="4000" b="1" dirty="0">
                <a:solidFill>
                  <a:srgbClr val="CC0000"/>
                </a:solidFill>
                <a:ea typeface="黑体" panose="02010609060101010101" pitchFamily="2" charset="-122"/>
              </a:rPr>
              <a:t>—1</a:t>
            </a:r>
            <a:r>
              <a:rPr lang="zh-CN" altLang="en-US" sz="4000" b="1" dirty="0">
                <a:solidFill>
                  <a:srgbClr val="CC0000"/>
                </a:solidFill>
                <a:ea typeface="黑体" panose="02010609060101010101" pitchFamily="2" charset="-122"/>
              </a:rPr>
              <a:t>有光照（白天）</a:t>
            </a:r>
            <a:endParaRPr lang="zh-CN" altLang="en-US" sz="4000" b="1" dirty="0">
              <a:solidFill>
                <a:srgbClr val="CC0000"/>
              </a:solidFill>
              <a:ea typeface="黑体" panose="02010609060101010101" pitchFamily="2" charset="-122"/>
            </a:endParaRPr>
          </a:p>
        </p:txBody>
      </p:sp>
      <p:sp>
        <p:nvSpPr>
          <p:cNvPr id="7170" name="Text Box 5"/>
          <p:cNvSpPr txBox="1"/>
          <p:nvPr/>
        </p:nvSpPr>
        <p:spPr>
          <a:xfrm>
            <a:off x="1476375" y="1557338"/>
            <a:ext cx="4535488" cy="45720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endParaRPr lang="zh-CN" altLang="zh-CN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171" name="Text Box 6"/>
          <p:cNvSpPr txBox="1"/>
          <p:nvPr/>
        </p:nvSpPr>
        <p:spPr>
          <a:xfrm>
            <a:off x="539750" y="1341438"/>
            <a:ext cx="8353425" cy="181483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>
              <a:spcBef>
                <a:spcPct val="50000"/>
              </a:spcBef>
            </a:pPr>
            <a:r>
              <a:rPr lang="en-US" altLang="zh-CN" sz="2800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 </a:t>
            </a:r>
            <a:r>
              <a:rPr lang="zh-CN" altLang="en-US" sz="2800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白天时，</a:t>
            </a: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光敏电阻</a:t>
            </a:r>
            <a:r>
              <a:rPr lang="en-US" altLang="zh-CN" sz="2800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RG=1.5K</a:t>
            </a:r>
            <a:r>
              <a:rPr lang="zh-CN" altLang="en-US" sz="2800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左右</a:t>
            </a: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，由于分压作用，这时</a:t>
            </a:r>
            <a:r>
              <a:rPr lang="en-US" altLang="zh-CN" sz="28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9014</a:t>
            </a: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集电极和发射极之间相当于被短路，晶闸管（</a:t>
            </a:r>
            <a:r>
              <a:rPr lang="en-US" altLang="zh-CN" sz="28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MCR100-6</a:t>
            </a: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）的门极一直处于低电平，晶闸管不会导通，发光管一直不亮</a:t>
            </a:r>
            <a:r>
              <a:rPr lang="en-US" altLang="zh-CN" sz="28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;</a:t>
            </a:r>
            <a:endParaRPr lang="en-US" altLang="zh-CN" sz="2800" b="1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</p:txBody>
      </p:sp>
      <p:sp>
        <p:nvSpPr>
          <p:cNvPr id="7174" name="圆角矩形标注 8"/>
          <p:cNvSpPr/>
          <p:nvPr/>
        </p:nvSpPr>
        <p:spPr>
          <a:xfrm>
            <a:off x="8101330" y="3068955"/>
            <a:ext cx="863600" cy="1374140"/>
          </a:xfrm>
          <a:prstGeom prst="wedgeRoundRectCallout">
            <a:avLst>
              <a:gd name="adj1" fmla="val -120147"/>
              <a:gd name="adj2" fmla="val 87846"/>
              <a:gd name="adj3" fmla="val 16667"/>
            </a:avLst>
          </a:prstGeom>
          <a:solidFill>
            <a:schemeClr val="tx2"/>
          </a:solidFill>
          <a:ln w="952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/>
          <a:p>
            <a:r>
              <a:rPr lang="zh-CN" altLang="en-US" dirty="0">
                <a:solidFill>
                  <a:srgbClr val="FFFF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光敏</a:t>
            </a:r>
            <a:endParaRPr lang="en-US" altLang="zh-CN" dirty="0">
              <a:solidFill>
                <a:srgbClr val="FFFF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r>
              <a:rPr lang="zh-CN" altLang="en-US" dirty="0">
                <a:solidFill>
                  <a:srgbClr val="FFFF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电阻</a:t>
            </a:r>
            <a:endParaRPr lang="zh-CN" altLang="en-US" dirty="0">
              <a:solidFill>
                <a:srgbClr val="FFFF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180705" y="3886835"/>
            <a:ext cx="78422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200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RG=1.5</a:t>
            </a:r>
            <a:r>
              <a:rPr lang="en-US" altLang="zh-CN" sz="1200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K</a:t>
            </a:r>
            <a:r>
              <a:rPr lang="zh-CN" altLang="en-US" sz="1200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左右</a:t>
            </a:r>
            <a:endParaRPr lang="zh-CN" altLang="en-US" sz="1200"/>
          </a:p>
        </p:txBody>
      </p:sp>
      <p:sp>
        <p:nvSpPr>
          <p:cNvPr id="4" name="文本框 3"/>
          <p:cNvSpPr txBox="1"/>
          <p:nvPr/>
        </p:nvSpPr>
        <p:spPr>
          <a:xfrm>
            <a:off x="3877945" y="3400425"/>
            <a:ext cx="2338705" cy="267652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endParaRPr lang="zh-CN" alt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  <a:p>
            <a:endParaRPr lang="zh-CN" alt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  <a:p>
            <a:endParaRPr lang="zh-CN" alt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  <a:p>
            <a:endParaRPr lang="zh-CN" alt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  <a:p>
            <a:endParaRPr lang="zh-CN" alt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  <a:p>
            <a:endParaRPr lang="zh-CN" alt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  <a:p>
            <a:endParaRPr lang="zh-CN" alt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6147" name="矩形标注 7"/>
          <p:cNvSpPr/>
          <p:nvPr/>
        </p:nvSpPr>
        <p:spPr>
          <a:xfrm>
            <a:off x="7222490" y="3251835"/>
            <a:ext cx="747395" cy="635000"/>
          </a:xfrm>
          <a:prstGeom prst="wedgeRectCallout">
            <a:avLst>
              <a:gd name="adj1" fmla="val -20433"/>
              <a:gd name="adj2" fmla="val 121500"/>
            </a:avLst>
          </a:prstGeom>
          <a:solidFill>
            <a:schemeClr val="bg1"/>
          </a:solidFill>
          <a:ln w="952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/>
          <a:p>
            <a:endParaRPr lang="zh-CN" altLang="en-US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 rot="10800000" flipV="1">
            <a:off x="7123430" y="3308350"/>
            <a:ext cx="9779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140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电阻分压低电平</a:t>
            </a:r>
            <a:endParaRPr lang="zh-CN" altLang="en-US" sz="1400">
              <a:solidFill>
                <a:srgbClr val="FF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3" name="Rectangle 2"/>
          <p:cNvSpPr>
            <a:spLocks noGrp="1"/>
          </p:cNvSpPr>
          <p:nvPr>
            <p:ph type="title"/>
          </p:nvPr>
        </p:nvSpPr>
        <p:spPr>
          <a:xfrm>
            <a:off x="971550" y="76200"/>
            <a:ext cx="8172450" cy="1143000"/>
          </a:xfrm>
        </p:spPr>
        <p:txBody>
          <a:bodyPr vert="horz" wrap="square" lIns="91440" tIns="45720" rIns="91440" bIns="45720" anchor="b"/>
          <a:p>
            <a:pPr eaLnBrk="1" hangingPunct="1"/>
            <a:r>
              <a:rPr lang="zh-CN" altLang="en-US" sz="4000" b="1" dirty="0">
                <a:solidFill>
                  <a:srgbClr val="CC0000"/>
                </a:solidFill>
                <a:ea typeface="黑体" panose="02010609060101010101" pitchFamily="2" charset="-122"/>
              </a:rPr>
              <a:t>三、声光控原理</a:t>
            </a:r>
            <a:r>
              <a:rPr lang="en-US" altLang="zh-CN" sz="4000" b="1" dirty="0">
                <a:solidFill>
                  <a:srgbClr val="CC0000"/>
                </a:solidFill>
                <a:ea typeface="黑体" panose="02010609060101010101" pitchFamily="2" charset="-122"/>
              </a:rPr>
              <a:t>—2</a:t>
            </a:r>
            <a:r>
              <a:rPr lang="zh-CN" altLang="en-US" sz="4000" b="1" dirty="0">
                <a:solidFill>
                  <a:srgbClr val="CC0000"/>
                </a:solidFill>
                <a:ea typeface="黑体" panose="02010609060101010101" pitchFamily="2" charset="-122"/>
              </a:rPr>
              <a:t>无光照（夜晚</a:t>
            </a:r>
            <a:r>
              <a:rPr lang="en-US" altLang="zh-CN" sz="4000" b="1" dirty="0">
                <a:solidFill>
                  <a:srgbClr val="CC0000"/>
                </a:solidFill>
                <a:ea typeface="黑体" panose="02010609060101010101" pitchFamily="2" charset="-122"/>
              </a:rPr>
              <a:t>1</a:t>
            </a:r>
            <a:r>
              <a:rPr lang="zh-CN" altLang="en-US" sz="4000" b="1" dirty="0">
                <a:solidFill>
                  <a:srgbClr val="CC0000"/>
                </a:solidFill>
                <a:ea typeface="黑体" panose="02010609060101010101" pitchFamily="2" charset="-122"/>
              </a:rPr>
              <a:t>）</a:t>
            </a:r>
            <a:endParaRPr lang="zh-CN" altLang="en-US" sz="4000" b="1" dirty="0">
              <a:solidFill>
                <a:srgbClr val="CC0000"/>
              </a:solidFill>
              <a:ea typeface="黑体" panose="02010609060101010101" pitchFamily="2" charset="-122"/>
            </a:endParaRPr>
          </a:p>
        </p:txBody>
      </p:sp>
      <p:sp>
        <p:nvSpPr>
          <p:cNvPr id="8194" name="Text Box 3"/>
          <p:cNvSpPr txBox="1"/>
          <p:nvPr/>
        </p:nvSpPr>
        <p:spPr>
          <a:xfrm>
            <a:off x="1476375" y="1557338"/>
            <a:ext cx="4535488" cy="45720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endParaRPr lang="zh-CN" altLang="zh-CN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195" name="矩形 5"/>
          <p:cNvSpPr/>
          <p:nvPr/>
        </p:nvSpPr>
        <p:spPr>
          <a:xfrm>
            <a:off x="467678" y="1477963"/>
            <a:ext cx="8208962" cy="181483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r>
              <a:rPr lang="en-US" altLang="zh-CN" sz="2800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  </a:t>
            </a:r>
            <a:r>
              <a:rPr lang="zh-CN" altLang="en-US" sz="2800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无声音：晚上时（或者用纸片遮住光敏电阻），光敏电阻</a:t>
            </a:r>
            <a:r>
              <a:rPr lang="en-US" altLang="zh-CN" sz="2800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RG=1M</a:t>
            </a:r>
            <a:r>
              <a:rPr lang="zh-CN" altLang="en-US" sz="2800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以上</a:t>
            </a: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</a:rPr>
              <a:t>，没有声音时，三极管处于导通状态，集电极为低电平，通过</a:t>
            </a:r>
            <a:r>
              <a:rPr lang="en-US" altLang="zh-CN" sz="2800" dirty="0">
                <a:latin typeface="黑体" panose="02010609060101010101" pitchFamily="2" charset="-122"/>
                <a:ea typeface="黑体" panose="02010609060101010101" pitchFamily="2" charset="-122"/>
              </a:rPr>
              <a:t>R5</a:t>
            </a: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</a:rPr>
              <a:t>至门极也是低电平，所以此时晶闸管不工作，发光管不亮；</a:t>
            </a:r>
            <a:endParaRPr lang="zh-CN" altLang="en-US" sz="2800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8199" name="TextBox 12"/>
          <p:cNvSpPr txBox="1"/>
          <p:nvPr/>
        </p:nvSpPr>
        <p:spPr>
          <a:xfrm>
            <a:off x="4859338" y="3860800"/>
            <a:ext cx="1800225" cy="230822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anchor="t">
            <a:spAutoFit/>
          </a:bodyPr>
          <a:p>
            <a:endParaRPr lang="en-US" altLang="zh-CN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endParaRPr lang="en-US" altLang="zh-CN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endParaRPr lang="en-US" altLang="zh-CN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endParaRPr lang="en-US" altLang="zh-CN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endParaRPr lang="en-US" altLang="zh-CN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endParaRPr lang="zh-CN" altLang="en-US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200" name="TextBox 13"/>
          <p:cNvSpPr txBox="1"/>
          <p:nvPr/>
        </p:nvSpPr>
        <p:spPr>
          <a:xfrm>
            <a:off x="6227763" y="5516563"/>
            <a:ext cx="865187" cy="70802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anchor="t">
            <a:spAutoFit/>
          </a:bodyPr>
          <a:p>
            <a:endParaRPr lang="en-US" altLang="zh-CN" sz="2000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endParaRPr lang="zh-CN" altLang="en-US" sz="200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16200000">
            <a:off x="2587625" y="1284605"/>
            <a:ext cx="3448685" cy="746569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670935" y="3548380"/>
            <a:ext cx="2142490" cy="267652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endParaRPr lang="zh-CN" alt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  <a:p>
            <a:endParaRPr lang="zh-CN" alt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  <a:p>
            <a:endParaRPr lang="zh-CN" alt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  <a:p>
            <a:endParaRPr lang="zh-CN" alt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  <a:p>
            <a:endParaRPr lang="zh-CN" alt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  <a:p>
            <a:endParaRPr lang="zh-CN" alt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  <a:p>
            <a:endParaRPr lang="zh-CN" alt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746240" y="5516880"/>
            <a:ext cx="100711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200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RG=1M</a:t>
            </a:r>
            <a:r>
              <a:rPr lang="zh-CN" altLang="en-US" sz="1200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以上</a:t>
            </a:r>
            <a:endParaRPr lang="zh-CN" altLang="en-US" sz="1200"/>
          </a:p>
        </p:txBody>
      </p:sp>
      <p:sp>
        <p:nvSpPr>
          <p:cNvPr id="6147" name="矩形标注 7"/>
          <p:cNvSpPr/>
          <p:nvPr/>
        </p:nvSpPr>
        <p:spPr>
          <a:xfrm>
            <a:off x="6996430" y="3548380"/>
            <a:ext cx="1047750" cy="550545"/>
          </a:xfrm>
          <a:prstGeom prst="wedgeRectCallout">
            <a:avLst>
              <a:gd name="adj1" fmla="val -27333"/>
              <a:gd name="adj2" fmla="val 127623"/>
            </a:avLst>
          </a:prstGeom>
          <a:solidFill>
            <a:schemeClr val="bg1"/>
          </a:solidFill>
          <a:ln w="952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/>
          <a:p>
            <a:endParaRPr lang="zh-CN" altLang="en-US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 rot="10800000" flipV="1">
            <a:off x="6883400" y="3539490"/>
            <a:ext cx="116078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140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三极管导通</a:t>
            </a:r>
            <a:endParaRPr lang="zh-CN" altLang="en-US" sz="1400">
              <a:solidFill>
                <a:srgbClr val="FF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algn="ctr"/>
            <a:r>
              <a:rPr lang="zh-CN" altLang="en-US" sz="140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低电平</a:t>
            </a:r>
            <a:endParaRPr lang="zh-CN" altLang="en-US" sz="1400">
              <a:solidFill>
                <a:srgbClr val="FF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16200000">
            <a:off x="3098800" y="1721485"/>
            <a:ext cx="3246120" cy="7027545"/>
          </a:xfrm>
          <a:prstGeom prst="rect">
            <a:avLst/>
          </a:prstGeom>
        </p:spPr>
      </p:pic>
      <p:sp>
        <p:nvSpPr>
          <p:cNvPr id="9217" name="Rectangle 2"/>
          <p:cNvSpPr>
            <a:spLocks noGrp="1"/>
          </p:cNvSpPr>
          <p:nvPr>
            <p:ph type="title"/>
          </p:nvPr>
        </p:nvSpPr>
        <p:spPr>
          <a:xfrm>
            <a:off x="971550" y="76200"/>
            <a:ext cx="8172450" cy="1143000"/>
          </a:xfrm>
        </p:spPr>
        <p:txBody>
          <a:bodyPr vert="horz" wrap="square" lIns="91440" tIns="45720" rIns="91440" bIns="45720" anchor="b"/>
          <a:p>
            <a:pPr eaLnBrk="1" hangingPunct="1"/>
            <a:r>
              <a:rPr lang="zh-CN" altLang="en-US" sz="4000" b="1" dirty="0">
                <a:solidFill>
                  <a:srgbClr val="CC0000"/>
                </a:solidFill>
                <a:ea typeface="黑体" panose="02010609060101010101" pitchFamily="2" charset="-122"/>
              </a:rPr>
              <a:t>三、声控原理</a:t>
            </a:r>
            <a:r>
              <a:rPr lang="en-US" altLang="zh-CN" sz="4000" b="1" dirty="0">
                <a:solidFill>
                  <a:srgbClr val="CC0000"/>
                </a:solidFill>
                <a:ea typeface="黑体" panose="02010609060101010101" pitchFamily="2" charset="-122"/>
              </a:rPr>
              <a:t>—2</a:t>
            </a:r>
            <a:r>
              <a:rPr lang="zh-CN" altLang="en-US" sz="4000" b="1" dirty="0">
                <a:solidFill>
                  <a:srgbClr val="CC0000"/>
                </a:solidFill>
                <a:ea typeface="黑体" panose="02010609060101010101" pitchFamily="2" charset="-122"/>
              </a:rPr>
              <a:t>无光照（夜晚</a:t>
            </a:r>
            <a:r>
              <a:rPr lang="en-US" altLang="zh-CN" sz="4000" b="1" dirty="0">
                <a:solidFill>
                  <a:srgbClr val="CC0000"/>
                </a:solidFill>
                <a:ea typeface="黑体" panose="02010609060101010101" pitchFamily="2" charset="-122"/>
              </a:rPr>
              <a:t>2</a:t>
            </a:r>
            <a:r>
              <a:rPr lang="zh-CN" altLang="en-US" sz="4000" b="1" dirty="0">
                <a:solidFill>
                  <a:srgbClr val="CC0000"/>
                </a:solidFill>
                <a:ea typeface="黑体" panose="02010609060101010101" pitchFamily="2" charset="-122"/>
              </a:rPr>
              <a:t>）</a:t>
            </a:r>
            <a:endParaRPr lang="zh-CN" altLang="en-US" sz="4000" b="1" dirty="0">
              <a:solidFill>
                <a:srgbClr val="CC0000"/>
              </a:solidFill>
              <a:ea typeface="黑体" panose="02010609060101010101" pitchFamily="2" charset="-122"/>
            </a:endParaRPr>
          </a:p>
        </p:txBody>
      </p:sp>
      <p:sp>
        <p:nvSpPr>
          <p:cNvPr id="9218" name="Text Box 3"/>
          <p:cNvSpPr txBox="1"/>
          <p:nvPr/>
        </p:nvSpPr>
        <p:spPr>
          <a:xfrm>
            <a:off x="1476375" y="1557338"/>
            <a:ext cx="4535488" cy="45720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endParaRPr lang="zh-CN" altLang="zh-CN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219" name="矩形 5"/>
          <p:cNvSpPr/>
          <p:nvPr/>
        </p:nvSpPr>
        <p:spPr>
          <a:xfrm>
            <a:off x="395288" y="1484313"/>
            <a:ext cx="8497887" cy="224536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r>
              <a:rPr lang="en-US" altLang="zh-CN" sz="2800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  </a:t>
            </a:r>
            <a:r>
              <a:rPr lang="zh-CN" altLang="en-US" sz="2800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有声音：</a:t>
            </a: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</a:rPr>
              <a:t>此时若对着</a:t>
            </a:r>
            <a:r>
              <a:rPr lang="en-US" altLang="zh-CN" sz="2800" dirty="0">
                <a:latin typeface="黑体" panose="02010609060101010101" pitchFamily="2" charset="-122"/>
                <a:ea typeface="黑体" panose="02010609060101010101" pitchFamily="2" charset="-122"/>
              </a:rPr>
              <a:t>MIC</a:t>
            </a: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</a:rPr>
              <a:t>喊话，</a:t>
            </a:r>
            <a:r>
              <a:rPr lang="en-US" altLang="zh-CN" sz="2800" dirty="0">
                <a:latin typeface="黑体" panose="02010609060101010101" pitchFamily="2" charset="-122"/>
                <a:ea typeface="黑体" panose="02010609060101010101" pitchFamily="2" charset="-122"/>
              </a:rPr>
              <a:t>MIC</a:t>
            </a: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</a:rPr>
              <a:t>正极会输出负脉冲，此时电容</a:t>
            </a:r>
            <a:r>
              <a:rPr lang="en-US" altLang="zh-CN" sz="2800" dirty="0">
                <a:latin typeface="黑体" panose="02010609060101010101" pitchFamily="2" charset="-122"/>
                <a:ea typeface="黑体" panose="02010609060101010101" pitchFamily="2" charset="-122"/>
              </a:rPr>
              <a:t>C2</a:t>
            </a: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</a:rPr>
              <a:t>的正电荷瞬间被拉走，电容</a:t>
            </a:r>
            <a:r>
              <a:rPr lang="en-US" altLang="zh-CN" sz="2800" dirty="0">
                <a:latin typeface="黑体" panose="02010609060101010101" pitchFamily="2" charset="-122"/>
                <a:ea typeface="黑体" panose="02010609060101010101" pitchFamily="2" charset="-122"/>
              </a:rPr>
              <a:t>C2</a:t>
            </a: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</a:rPr>
              <a:t>负极（也是</a:t>
            </a:r>
            <a:r>
              <a:rPr lang="en-US" altLang="zh-CN" sz="2800" dirty="0">
                <a:latin typeface="黑体" panose="02010609060101010101" pitchFamily="2" charset="-122"/>
                <a:ea typeface="黑体" panose="02010609060101010101" pitchFamily="2" charset="-122"/>
              </a:rPr>
              <a:t>9014</a:t>
            </a: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</a:rPr>
              <a:t>的基极）同时会变为零电位，三极管</a:t>
            </a:r>
            <a:r>
              <a:rPr lang="en-US" altLang="zh-CN" sz="2800" dirty="0">
                <a:latin typeface="黑体" panose="02010609060101010101" pitchFamily="2" charset="-122"/>
                <a:ea typeface="黑体" panose="02010609060101010101" pitchFamily="2" charset="-122"/>
              </a:rPr>
              <a:t>9014</a:t>
            </a: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</a:rPr>
              <a:t>由导通变为截止，集电极由低电平变为高电平，晶闸管门极因得到高电平而变为导通，发光管会点亮；</a:t>
            </a:r>
            <a:endParaRPr lang="zh-CN" altLang="en-US" sz="2800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968490" y="5620385"/>
            <a:ext cx="100711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200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RG=1M</a:t>
            </a:r>
            <a:r>
              <a:rPr lang="zh-CN" altLang="en-US" sz="1200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以上</a:t>
            </a:r>
            <a:endParaRPr lang="zh-CN" altLang="en-US" sz="1200"/>
          </a:p>
        </p:txBody>
      </p:sp>
      <p:cxnSp>
        <p:nvCxnSpPr>
          <p:cNvPr id="4" name="直接连接符 11"/>
          <p:cNvCxnSpPr/>
          <p:nvPr/>
        </p:nvCxnSpPr>
        <p:spPr>
          <a:xfrm flipV="1">
            <a:off x="3888740" y="4983163"/>
            <a:ext cx="0" cy="431800"/>
          </a:xfrm>
          <a:prstGeom prst="line">
            <a:avLst/>
          </a:prstGeom>
          <a:ln w="31750" cap="flat" cmpd="sng">
            <a:solidFill>
              <a:srgbClr val="CC00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5" name="直接连接符 16"/>
          <p:cNvCxnSpPr/>
          <p:nvPr/>
        </p:nvCxnSpPr>
        <p:spPr>
          <a:xfrm>
            <a:off x="3888740" y="4983163"/>
            <a:ext cx="431800" cy="0"/>
          </a:xfrm>
          <a:prstGeom prst="line">
            <a:avLst/>
          </a:prstGeom>
          <a:ln w="31750" cap="flat" cmpd="sng">
            <a:solidFill>
              <a:srgbClr val="CC00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7" name="直接连接符 22"/>
          <p:cNvCxnSpPr/>
          <p:nvPr/>
        </p:nvCxnSpPr>
        <p:spPr>
          <a:xfrm>
            <a:off x="3599815" y="5414963"/>
            <a:ext cx="288925" cy="0"/>
          </a:xfrm>
          <a:prstGeom prst="line">
            <a:avLst/>
          </a:prstGeom>
          <a:ln w="31750" cap="flat" cmpd="sng">
            <a:solidFill>
              <a:srgbClr val="CC0000"/>
            </a:solidFill>
            <a:prstDash val="solid"/>
            <a:miter/>
            <a:headEnd type="none" w="med" len="med"/>
            <a:tailEnd type="none" w="med" len="med"/>
          </a:ln>
        </p:spPr>
      </p:cxnSp>
      <p:sp>
        <p:nvSpPr>
          <p:cNvPr id="10" name="矩形标注 7"/>
          <p:cNvSpPr/>
          <p:nvPr/>
        </p:nvSpPr>
        <p:spPr>
          <a:xfrm>
            <a:off x="7151370" y="3802380"/>
            <a:ext cx="1047750" cy="550545"/>
          </a:xfrm>
          <a:prstGeom prst="wedgeRectCallout">
            <a:avLst>
              <a:gd name="adj1" fmla="val -19212"/>
              <a:gd name="adj2" fmla="val 135236"/>
            </a:avLst>
          </a:prstGeom>
          <a:solidFill>
            <a:schemeClr val="bg1"/>
          </a:solidFill>
          <a:ln w="9525" cap="flat" cmpd="sng">
            <a:solidFill>
              <a:schemeClr val="tx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/>
          <a:p>
            <a:endParaRPr lang="zh-CN" altLang="en-US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 rot="10800000" flipV="1">
            <a:off x="7151370" y="3793490"/>
            <a:ext cx="108458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140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三极管截止高电平</a:t>
            </a:r>
            <a:endParaRPr lang="zh-CN" altLang="en-US" sz="1400">
              <a:solidFill>
                <a:srgbClr val="FF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p>
            <a:pPr eaLnBrk="1" hangingPunct="1"/>
            <a:r>
              <a:rPr lang="zh-CN" altLang="en-US" sz="4000" b="1" dirty="0">
                <a:solidFill>
                  <a:srgbClr val="CC0000"/>
                </a:solidFill>
                <a:ea typeface="黑体" panose="02010609060101010101" pitchFamily="2" charset="-122"/>
              </a:rPr>
              <a:t>四、延时</a:t>
            </a:r>
            <a:endParaRPr lang="zh-CN" altLang="en-US" sz="4000" b="1" dirty="0">
              <a:solidFill>
                <a:srgbClr val="CC0000"/>
              </a:solidFill>
              <a:ea typeface="黑体" panose="02010609060101010101" pitchFamily="2" charset="-122"/>
            </a:endParaRPr>
          </a:p>
        </p:txBody>
      </p:sp>
      <p:sp>
        <p:nvSpPr>
          <p:cNvPr id="10242" name="Rectangle 3"/>
          <p:cNvSpPr>
            <a:spLocks noGrp="1"/>
          </p:cNvSpPr>
          <p:nvPr>
            <p:ph idx="1"/>
          </p:nvPr>
        </p:nvSpPr>
        <p:spPr>
          <a:xfrm>
            <a:off x="642938" y="1357313"/>
            <a:ext cx="4248150" cy="4791075"/>
          </a:xfrm>
        </p:spPr>
        <p:txBody>
          <a:bodyPr vert="horz" wrap="square" lIns="91440" tIns="45720" rIns="91440" bIns="45720" anchor="t"/>
          <a:p>
            <a:pPr eaLnBrk="1" hangingPunct="1"/>
            <a:r>
              <a:rPr lang="zh-CN" altLang="en-US" sz="2800" b="1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当灯泡被点亮，</a:t>
            </a:r>
            <a:r>
              <a:rPr lang="zh-CN" altLang="en-US" sz="2800" b="1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声音消失后</a:t>
            </a:r>
            <a:r>
              <a:rPr lang="en-US" altLang="zh-CN" sz="2800" b="1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,</a:t>
            </a:r>
            <a:r>
              <a:rPr lang="zh-CN" altLang="en-US" sz="2800" b="1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电源通过</a:t>
            </a:r>
            <a:r>
              <a:rPr lang="en-US" altLang="zh-CN" sz="2800" b="1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R2</a:t>
            </a:r>
            <a:r>
              <a:rPr lang="zh-CN" altLang="en-US" sz="2800" b="1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、</a:t>
            </a:r>
            <a:r>
              <a:rPr lang="en-US" altLang="zh-CN" sz="2800" b="1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r</a:t>
            </a:r>
            <a:r>
              <a:rPr lang="en-US" altLang="zh-CN" sz="2800" b="1" baseline="-250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be</a:t>
            </a:r>
            <a:r>
              <a:rPr lang="zh-CN" altLang="en-US" sz="2800" b="1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向</a:t>
            </a:r>
            <a:r>
              <a:rPr lang="en-US" altLang="zh-CN" sz="2800" b="1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C2</a:t>
            </a:r>
            <a:r>
              <a:rPr lang="zh-CN" altLang="en-US" sz="2800" b="1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充电，使</a:t>
            </a:r>
            <a:r>
              <a:rPr lang="en-US" altLang="zh-CN" sz="2800" b="1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9014</a:t>
            </a:r>
            <a:r>
              <a:rPr lang="zh-CN" altLang="en-US" sz="2800" b="1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基极电位逐渐升高，直到三极管导通，集电极重新变为低电平，晶闸管截止，发光管熄灭。</a:t>
            </a:r>
            <a:endParaRPr lang="en-US" altLang="zh-CN" sz="2800" b="1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/>
            <a:r>
              <a:rPr lang="zh-CN" altLang="en-US" sz="2800" b="1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请分析善意延时电路工作原理（写到报告里）</a:t>
            </a:r>
            <a:r>
              <a:rPr lang="zh-CN" altLang="en-US" sz="2800" b="1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时间常数</a:t>
            </a:r>
            <a:r>
              <a:rPr lang="en-US" altLang="zh-CN" sz="2800" b="1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τ=</a:t>
            </a: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？</a:t>
            </a:r>
            <a:r>
              <a:rPr lang="en-US" altLang="zh-CN" sz="2800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×C2</a:t>
            </a:r>
            <a:endParaRPr lang="en-US" altLang="zh-CN" sz="2800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/>
            <a:endParaRPr lang="en-US" altLang="zh-CN" sz="2800" b="1" dirty="0">
              <a:solidFill>
                <a:schemeClr val="tx2"/>
              </a:solidFill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</p:txBody>
      </p:sp>
      <p:graphicFrame>
        <p:nvGraphicFramePr>
          <p:cNvPr id="10243" name="Object 99"/>
          <p:cNvGraphicFramePr/>
          <p:nvPr/>
        </p:nvGraphicFramePr>
        <p:xfrm>
          <a:off x="5219700" y="3736975"/>
          <a:ext cx="3779838" cy="312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2552700" imgH="1892300" progId="Visio.Drawing.11">
                  <p:embed/>
                </p:oleObj>
              </mc:Choice>
              <mc:Fallback>
                <p:oleObj name="" r:id="rId1" imgW="2552700" imgH="1892300" progId="Visio.Drawing.11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219700" y="3736975"/>
                        <a:ext cx="3779838" cy="31210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2700" y="76200"/>
            <a:ext cx="2581275" cy="4140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5" name="Rectangle 2"/>
          <p:cNvSpPr>
            <a:spLocks noGrp="1"/>
          </p:cNvSpPr>
          <p:nvPr>
            <p:ph type="title"/>
          </p:nvPr>
        </p:nvSpPr>
        <p:spPr>
          <a:xfrm>
            <a:off x="1116013" y="0"/>
            <a:ext cx="7793037" cy="1143000"/>
          </a:xfrm>
        </p:spPr>
        <p:txBody>
          <a:bodyPr vert="horz" wrap="square" lIns="91440" tIns="45720" rIns="91440" bIns="45720" anchor="b"/>
          <a:p>
            <a:pPr eaLnBrk="1" hangingPunct="1"/>
            <a:r>
              <a:rPr lang="zh-CN" altLang="en-US" sz="4000" b="1" dirty="0">
                <a:solidFill>
                  <a:srgbClr val="CC0000"/>
                </a:solidFill>
                <a:ea typeface="黑体" panose="02010609060101010101" pitchFamily="2" charset="-122"/>
              </a:rPr>
              <a:t>五、元器件认识</a:t>
            </a:r>
            <a:endParaRPr lang="zh-CN" altLang="en-US" sz="4000" b="1" dirty="0">
              <a:solidFill>
                <a:srgbClr val="CC0000"/>
              </a:solidFill>
              <a:ea typeface="黑体" panose="02010609060101010101" pitchFamily="2" charset="-122"/>
            </a:endParaRPr>
          </a:p>
        </p:txBody>
      </p:sp>
      <p:sp>
        <p:nvSpPr>
          <p:cNvPr id="11266" name="Rectangle 3"/>
          <p:cNvSpPr>
            <a:spLocks noGrp="1"/>
          </p:cNvSpPr>
          <p:nvPr>
            <p:ph type="body" sz="half"/>
          </p:nvPr>
        </p:nvSpPr>
        <p:spPr>
          <a:xfrm>
            <a:off x="179388" y="1557338"/>
            <a:ext cx="8064500" cy="4114800"/>
          </a:xfrm>
        </p:spPr>
        <p:txBody>
          <a:bodyPr vert="horz" wrap="square" lIns="91440" tIns="45720" rIns="91440" bIns="45720" anchor="t"/>
          <a:lstStyle>
            <a:lvl1pPr lvl="0">
              <a:buClr>
                <a:schemeClr val="folHlink"/>
              </a:buClr>
              <a:buSzPct val="60000"/>
              <a:buFont typeface="Wingdings" panose="05000000000000000000" pitchFamily="2" charset="2"/>
              <a:defRPr sz="2800"/>
            </a:lvl1pPr>
            <a:lvl2pPr lvl="1">
              <a:buClr>
                <a:schemeClr val="folHlink"/>
              </a:buClr>
              <a:buSzPct val="60000"/>
              <a:buFont typeface="Wingdings" panose="05000000000000000000" pitchFamily="2" charset="2"/>
              <a:defRPr sz="2400"/>
            </a:lvl2pPr>
            <a:lvl3pPr lvl="2">
              <a:buClr>
                <a:schemeClr val="folHlink"/>
              </a:buClr>
              <a:buSzPct val="60000"/>
              <a:buFont typeface="Wingdings" panose="05000000000000000000" pitchFamily="2" charset="2"/>
              <a:defRPr sz="2000"/>
            </a:lvl3pPr>
            <a:lvl4pPr lvl="3">
              <a:buClr>
                <a:schemeClr val="folHlink"/>
              </a:buClr>
              <a:buSzPct val="60000"/>
              <a:buFont typeface="Wingdings" panose="05000000000000000000" pitchFamily="2" charset="2"/>
              <a:defRPr sz="1800"/>
            </a:lvl4pPr>
            <a:lvl5pPr lvl="4">
              <a:buClr>
                <a:schemeClr val="folHlink"/>
              </a:buClr>
              <a:buSzPct val="60000"/>
              <a:buFont typeface="Wingdings" panose="05000000000000000000" pitchFamily="2" charset="2"/>
              <a:defRPr sz="1800"/>
            </a:lvl5pPr>
          </a:lstStyle>
          <a:p>
            <a:pPr lvl="0" eaLnBrk="1" hangingPunct="1">
              <a:buNone/>
            </a:pPr>
            <a:r>
              <a:rPr lang="en-US" altLang="zh-CN" sz="3200" b="1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1.</a:t>
            </a:r>
            <a:r>
              <a:rPr lang="zh-CN" altLang="en-US" sz="3200" b="1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可控硅原理</a:t>
            </a:r>
            <a:r>
              <a:rPr lang="en-US" altLang="zh-CN" sz="3200" b="1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:</a:t>
            </a:r>
            <a:endParaRPr lang="en-US" altLang="zh-CN" sz="3200" b="1" dirty="0">
              <a:solidFill>
                <a:schemeClr val="tx2"/>
              </a:solidFill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</p:txBody>
      </p:sp>
      <p:graphicFrame>
        <p:nvGraphicFramePr>
          <p:cNvPr id="11267" name="Object 4"/>
          <p:cNvGraphicFramePr>
            <a:graphicFrameLocks noGrp="1"/>
          </p:cNvGraphicFramePr>
          <p:nvPr>
            <p:ph sz="half" idx="4294967295"/>
          </p:nvPr>
        </p:nvGraphicFramePr>
        <p:xfrm>
          <a:off x="250825" y="2852738"/>
          <a:ext cx="3024188" cy="2976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2489200" imgH="2451100" progId="Visio.Drawing.11">
                  <p:embed/>
                </p:oleObj>
              </mc:Choice>
              <mc:Fallback>
                <p:oleObj name="" r:id="rId1" imgW="2489200" imgH="2451100" progId="Visio.Drawing.11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50825" y="2852738"/>
                        <a:ext cx="3024188" cy="2976562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68" name="Text Box 6"/>
          <p:cNvSpPr txBox="1"/>
          <p:nvPr/>
        </p:nvSpPr>
        <p:spPr>
          <a:xfrm>
            <a:off x="2748280" y="1628775"/>
            <a:ext cx="6294755" cy="504634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>
              <a:spcBef>
                <a:spcPct val="50000"/>
              </a:spcBef>
            </a:pPr>
            <a:r>
              <a:rPr lang="en-US" altLang="zh-CN" b="1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</a:t>
            </a:r>
            <a:r>
              <a:rPr lang="zh-CN" altLang="en-US" sz="2800" b="1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导通：</a:t>
            </a:r>
            <a:r>
              <a:rPr lang="zh-CN" altLang="en-US" sz="2800" b="1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控制极</a:t>
            </a:r>
            <a:r>
              <a:rPr lang="en-US" altLang="zh-CN" sz="2800" b="1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K</a:t>
            </a:r>
            <a:r>
              <a:rPr lang="zh-CN" altLang="en-US" sz="2800" b="1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外加正向触发脉冲</a:t>
            </a:r>
            <a:endParaRPr lang="zh-CN" altLang="en-US" sz="2800" b="1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      使可控硅导通。</a:t>
            </a:r>
            <a:endParaRPr lang="zh-CN" altLang="en-US" sz="2800" b="1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关断：去掉触发脉冲后：</a:t>
            </a:r>
            <a:endParaRPr lang="zh-CN" altLang="en-US" sz="2800" b="1" dirty="0">
              <a:solidFill>
                <a:schemeClr val="tx2"/>
              </a:solidFill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     </a:t>
            </a:r>
            <a:r>
              <a:rPr lang="zh-CN" altLang="en-US" sz="2800" b="1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Wingdings" panose="05000000000000000000" pitchFamily="2" charset="2"/>
              </a:rPr>
              <a:t>（</a:t>
            </a:r>
            <a:r>
              <a:rPr lang="en-US" altLang="zh-CN" sz="2800" b="1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Wingdings" panose="05000000000000000000" pitchFamily="2" charset="2"/>
              </a:rPr>
              <a:t>1</a:t>
            </a:r>
            <a:r>
              <a:rPr lang="zh-CN" altLang="en-US" sz="2800" b="1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Wingdings" panose="05000000000000000000" pitchFamily="2" charset="2"/>
              </a:rPr>
              <a:t>）</a:t>
            </a:r>
            <a:r>
              <a:rPr lang="zh-CN" altLang="en-US" sz="2800" b="1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断开正极电源或使正极电</a:t>
            </a:r>
            <a:endParaRPr lang="zh-CN" altLang="en-US" sz="2800" b="1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          压小于维持导通的最小值。</a:t>
            </a:r>
            <a:endParaRPr lang="zh-CN" altLang="en-US" sz="2800" b="1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     （</a:t>
            </a:r>
            <a:r>
              <a:rPr lang="en-US" altLang="zh-CN" sz="2800" b="1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2</a:t>
            </a:r>
            <a:r>
              <a:rPr lang="zh-CN" altLang="en-US" sz="2800" b="1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）可控硅正极和负极之间外</a:t>
            </a:r>
            <a:endParaRPr lang="zh-CN" altLang="en-US" sz="2800" b="1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          加反向电压，可控硅也会</a:t>
            </a:r>
            <a:endParaRPr lang="zh-CN" altLang="en-US" sz="2800" b="1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               自行关断。</a:t>
            </a:r>
            <a:endParaRPr lang="zh-CN" altLang="en-US" sz="2800" b="1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8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p>
            <a:r>
              <a:rPr lang="zh-CN" altLang="en-US" sz="4000" b="1" dirty="0">
                <a:solidFill>
                  <a:srgbClr val="CC0000"/>
                </a:solidFill>
                <a:ea typeface="黑体" panose="02010609060101010101" pitchFamily="2" charset="-122"/>
              </a:rPr>
              <a:t>五、元器件认识</a:t>
            </a:r>
            <a:endParaRPr lang="zh-CN" altLang="en-US" sz="4000" b="1" dirty="0">
              <a:solidFill>
                <a:srgbClr val="CC0000"/>
              </a:solidFill>
              <a:ea typeface="黑体" panose="02010609060101010101" pitchFamily="2" charset="-122"/>
            </a:endParaRPr>
          </a:p>
        </p:txBody>
      </p:sp>
      <p:sp>
        <p:nvSpPr>
          <p:cNvPr id="12290" name="Rectangle 3"/>
          <p:cNvSpPr>
            <a:spLocks noGrp="1"/>
          </p:cNvSpPr>
          <p:nvPr>
            <p:ph idx="1"/>
          </p:nvPr>
        </p:nvSpPr>
        <p:spPr>
          <a:xfrm>
            <a:off x="571500" y="1700530"/>
            <a:ext cx="8469630" cy="4114800"/>
          </a:xfrm>
        </p:spPr>
        <p:txBody>
          <a:bodyPr vert="horz" wrap="square" lIns="91440" tIns="45720" rIns="91440" bIns="45720" anchor="t"/>
          <a:p>
            <a:pPr>
              <a:buNone/>
            </a:pPr>
            <a:r>
              <a:rPr lang="en-US" altLang="zh-CN" b="1" dirty="0">
                <a:solidFill>
                  <a:schemeClr val="tx2"/>
                </a:solidFill>
              </a:rPr>
              <a:t>2.</a:t>
            </a:r>
            <a:r>
              <a:rPr lang="zh-CN" altLang="en-US" b="1" dirty="0">
                <a:solidFill>
                  <a:schemeClr val="tx2"/>
                </a:solidFill>
              </a:rPr>
              <a:t>电阻：会读色环，见说明书</a:t>
            </a:r>
            <a:endParaRPr lang="en-US" altLang="zh-CN" b="1" dirty="0">
              <a:solidFill>
                <a:schemeClr val="tx2"/>
              </a:solidFill>
            </a:endParaRPr>
          </a:p>
          <a:p>
            <a:pPr>
              <a:buNone/>
            </a:pPr>
            <a:endParaRPr lang="zh-CN" altLang="en-US" b="1" dirty="0">
              <a:solidFill>
                <a:srgbClr val="FF0000"/>
              </a:solidFill>
            </a:endParaRPr>
          </a:p>
          <a:p>
            <a:pPr>
              <a:buNone/>
            </a:pPr>
            <a:endParaRPr lang="en-US" altLang="zh-CN" b="1" dirty="0">
              <a:solidFill>
                <a:schemeClr val="tx2"/>
              </a:solidFill>
            </a:endParaRPr>
          </a:p>
          <a:p>
            <a:pPr>
              <a:buNone/>
            </a:pPr>
            <a:r>
              <a:rPr lang="en-US" altLang="zh-CN" b="1" dirty="0">
                <a:solidFill>
                  <a:schemeClr val="tx2"/>
                </a:solidFill>
              </a:rPr>
              <a:t>3.</a:t>
            </a:r>
            <a:r>
              <a:rPr lang="zh-CN" altLang="en-US" b="1" dirty="0">
                <a:solidFill>
                  <a:schemeClr val="tx2"/>
                </a:solidFill>
              </a:rPr>
              <a:t>电容：</a:t>
            </a:r>
            <a:r>
              <a:rPr lang="en-US" altLang="zh-CN" b="1" dirty="0">
                <a:solidFill>
                  <a:schemeClr val="tx2"/>
                </a:solidFill>
              </a:rPr>
              <a:t>(1)</a:t>
            </a:r>
            <a:r>
              <a:rPr lang="zh-CN" altLang="en-US" b="1" dirty="0">
                <a:solidFill>
                  <a:schemeClr val="tx2"/>
                </a:solidFill>
              </a:rPr>
              <a:t>有极性电容，</a:t>
            </a:r>
            <a:r>
              <a:rPr lang="zh-CN" altLang="en-US" b="1" dirty="0">
                <a:solidFill>
                  <a:srgbClr val="CC0000"/>
                </a:solidFill>
              </a:rPr>
              <a:t>不能接反</a:t>
            </a:r>
            <a:endParaRPr lang="zh-CN" altLang="en-US" b="1" dirty="0">
              <a:solidFill>
                <a:srgbClr val="CC0000"/>
              </a:solidFill>
            </a:endParaRPr>
          </a:p>
          <a:p>
            <a:pPr>
              <a:buNone/>
            </a:pPr>
            <a:r>
              <a:rPr lang="zh-CN" altLang="en-US" b="1" dirty="0">
                <a:solidFill>
                  <a:schemeClr val="tx2"/>
                </a:solidFill>
              </a:rPr>
              <a:t>              </a:t>
            </a:r>
            <a:r>
              <a:rPr lang="en-US" altLang="zh-CN" b="1" dirty="0">
                <a:solidFill>
                  <a:schemeClr val="tx2"/>
                </a:solidFill>
              </a:rPr>
              <a:t>(2)</a:t>
            </a:r>
            <a:r>
              <a:rPr lang="zh-CN" altLang="en-US" b="1" dirty="0">
                <a:solidFill>
                  <a:schemeClr val="tx2"/>
                </a:solidFill>
              </a:rPr>
              <a:t>无极性，会读数字，高两位有效</a:t>
            </a:r>
            <a:endParaRPr lang="zh-CN" altLang="en-US" b="1" dirty="0">
              <a:solidFill>
                <a:schemeClr val="tx2"/>
              </a:solidFill>
            </a:endParaRPr>
          </a:p>
          <a:p>
            <a:pPr>
              <a:buNone/>
            </a:pPr>
            <a:r>
              <a:rPr lang="zh-CN" altLang="en-US" b="1" dirty="0">
                <a:solidFill>
                  <a:schemeClr val="tx2"/>
                </a:solidFill>
              </a:rPr>
              <a:t>                   数字，第三位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</a:rPr>
              <a:t>表示“</a:t>
            </a:r>
            <a:r>
              <a:rPr lang="en-US" altLang="zh-CN" b="1" dirty="0">
                <a:solidFill>
                  <a:srgbClr val="FF0000"/>
                </a:solidFill>
                <a:latin typeface="宋体" panose="02010600030101010101" pitchFamily="2" charset="-122"/>
              </a:rPr>
              <a:t>0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</a:rPr>
              <a:t>”的个数，</a:t>
            </a:r>
            <a:endParaRPr lang="zh-CN" altLang="en-US" b="1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>
              <a:buNone/>
            </a:pPr>
            <a:r>
              <a:rPr lang="zh-CN" altLang="en-US" b="1" dirty="0">
                <a:solidFill>
                  <a:schemeClr val="tx2"/>
                </a:solidFill>
              </a:rPr>
              <a:t>                  见说明书</a:t>
            </a:r>
            <a:endParaRPr lang="zh-CN" altLang="en-US" b="1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>
              <a:buNone/>
            </a:pPr>
            <a:r>
              <a:rPr lang="en-US" altLang="zh-CN" b="1" dirty="0">
                <a:solidFill>
                  <a:schemeClr val="tx2"/>
                </a:solidFill>
              </a:rPr>
              <a:t>4.</a:t>
            </a:r>
            <a:r>
              <a:rPr lang="zh-CN" altLang="en-US" b="1" dirty="0">
                <a:solidFill>
                  <a:schemeClr val="tx2"/>
                </a:solidFill>
              </a:rPr>
              <a:t>三极管：管脚定义，见说明书</a:t>
            </a:r>
            <a:endParaRPr lang="zh-CN" altLang="en-US" b="1" dirty="0">
              <a:latin typeface="宋体" panose="02010600030101010101" pitchFamily="2" charset="-122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1150938" y="2282825"/>
          <a:ext cx="6394450" cy="1158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9445"/>
                <a:gridCol w="639445"/>
                <a:gridCol w="639445"/>
                <a:gridCol w="639445"/>
                <a:gridCol w="639445"/>
                <a:gridCol w="639445"/>
                <a:gridCol w="639445"/>
                <a:gridCol w="639445"/>
                <a:gridCol w="639445"/>
                <a:gridCol w="639445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3200" dirty="0">
                          <a:solidFill>
                            <a:schemeClr val="bg1"/>
                          </a:solidFill>
                          <a:sym typeface="+mn-ea"/>
                        </a:rPr>
                        <a:t>棕</a:t>
                      </a:r>
                      <a:endParaRPr lang="zh-CN" altLang="en-US" sz="3200" b="1" dirty="0">
                        <a:solidFill>
                          <a:schemeClr val="bg1"/>
                        </a:solidFill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3200" dirty="0">
                          <a:solidFill>
                            <a:schemeClr val="bg1"/>
                          </a:solidFill>
                          <a:sym typeface="+mn-ea"/>
                        </a:rPr>
                        <a:t>红</a:t>
                      </a:r>
                      <a:endParaRPr lang="zh-CN" altLang="en-US" sz="3200" b="1" dirty="0">
                        <a:solidFill>
                          <a:schemeClr val="bg1"/>
                        </a:solidFill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3200" dirty="0">
                          <a:solidFill>
                            <a:schemeClr val="bg1"/>
                          </a:solidFill>
                          <a:sym typeface="+mn-ea"/>
                        </a:rPr>
                        <a:t>橙</a:t>
                      </a:r>
                      <a:endParaRPr lang="zh-CN" altLang="en-US" sz="3200" b="1" dirty="0">
                        <a:solidFill>
                          <a:schemeClr val="bg1"/>
                        </a:solidFill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3200" dirty="0">
                          <a:solidFill>
                            <a:schemeClr val="bg1"/>
                          </a:solidFill>
                          <a:sym typeface="+mn-ea"/>
                        </a:rPr>
                        <a:t>黄</a:t>
                      </a:r>
                      <a:endParaRPr lang="zh-CN" altLang="en-US" sz="3200" b="1" dirty="0">
                        <a:solidFill>
                          <a:schemeClr val="bg1"/>
                        </a:solidFill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3200" dirty="0">
                          <a:solidFill>
                            <a:schemeClr val="bg1"/>
                          </a:solidFill>
                          <a:sym typeface="+mn-ea"/>
                        </a:rPr>
                        <a:t>绿</a:t>
                      </a:r>
                      <a:endParaRPr lang="zh-CN" altLang="en-US" sz="3200" b="1" dirty="0">
                        <a:solidFill>
                          <a:schemeClr val="bg1"/>
                        </a:solidFill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3200" dirty="0">
                          <a:solidFill>
                            <a:schemeClr val="bg1"/>
                          </a:solidFill>
                          <a:sym typeface="+mn-ea"/>
                        </a:rPr>
                        <a:t>篮</a:t>
                      </a:r>
                      <a:endParaRPr lang="zh-CN" altLang="en-US" sz="3200" b="1" dirty="0">
                        <a:solidFill>
                          <a:schemeClr val="bg1"/>
                        </a:solidFill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3200" dirty="0">
                          <a:solidFill>
                            <a:schemeClr val="bg1"/>
                          </a:solidFill>
                          <a:sym typeface="+mn-ea"/>
                        </a:rPr>
                        <a:t>紫</a:t>
                      </a:r>
                      <a:endParaRPr lang="zh-CN" altLang="en-US" sz="3200" b="1" dirty="0">
                        <a:solidFill>
                          <a:schemeClr val="bg1"/>
                        </a:solidFill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3200" dirty="0">
                          <a:solidFill>
                            <a:schemeClr val="bg1"/>
                          </a:solidFill>
                          <a:sym typeface="+mn-ea"/>
                        </a:rPr>
                        <a:t>灰</a:t>
                      </a:r>
                      <a:endParaRPr lang="zh-CN" altLang="en-US" sz="3200" b="1" dirty="0">
                        <a:solidFill>
                          <a:schemeClr val="bg1"/>
                        </a:solidFill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3200" dirty="0">
                          <a:solidFill>
                            <a:schemeClr val="bg1"/>
                          </a:solidFill>
                          <a:sym typeface="+mn-ea"/>
                        </a:rPr>
                        <a:t>白</a:t>
                      </a:r>
                      <a:endParaRPr lang="zh-CN" altLang="en-US" sz="3200" b="1" dirty="0">
                        <a:solidFill>
                          <a:schemeClr val="bg1"/>
                        </a:solidFill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3200" dirty="0">
                          <a:solidFill>
                            <a:schemeClr val="bg1"/>
                          </a:solidFill>
                          <a:sym typeface="+mn-ea"/>
                        </a:rPr>
                        <a:t>黑</a:t>
                      </a:r>
                      <a:endParaRPr lang="zh-CN" altLang="en-US" sz="3200" b="1" dirty="0">
                        <a:solidFill>
                          <a:schemeClr val="bg1"/>
                        </a:solidFill>
                        <a:sym typeface="+mn-ea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3200"/>
                        <a:t>1</a:t>
                      </a:r>
                      <a:endParaRPr lang="en-US" altLang="zh-CN" sz="32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3200"/>
                        <a:t>2</a:t>
                      </a:r>
                      <a:endParaRPr lang="en-US" altLang="zh-CN" sz="32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3200"/>
                        <a:t>3</a:t>
                      </a:r>
                      <a:endParaRPr lang="en-US" altLang="zh-CN" sz="32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3200"/>
                        <a:t>4</a:t>
                      </a:r>
                      <a:endParaRPr lang="en-US" altLang="zh-CN" sz="32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3200"/>
                        <a:t>5</a:t>
                      </a:r>
                      <a:endParaRPr lang="en-US" altLang="zh-CN" sz="32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3200"/>
                        <a:t>6</a:t>
                      </a:r>
                      <a:endParaRPr lang="en-US" altLang="zh-CN" sz="32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3200"/>
                        <a:t>7</a:t>
                      </a:r>
                      <a:endParaRPr lang="en-US" altLang="zh-CN" sz="32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3200"/>
                        <a:t>8</a:t>
                      </a:r>
                      <a:endParaRPr lang="en-US" altLang="zh-CN" sz="32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3200"/>
                        <a:t>9</a:t>
                      </a:r>
                      <a:endParaRPr lang="en-US" altLang="zh-CN" sz="32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3200"/>
                        <a:t>0</a:t>
                      </a:r>
                      <a:endParaRPr lang="en-US" altLang="zh-CN" sz="320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p>
            <a:pPr eaLnBrk="1" hangingPunct="1"/>
            <a:r>
              <a:rPr lang="zh-CN" altLang="en-US" sz="4000" b="1" dirty="0">
                <a:solidFill>
                  <a:srgbClr val="CC0000"/>
                </a:solidFill>
                <a:ea typeface="黑体" panose="02010609060101010101" pitchFamily="2" charset="-122"/>
              </a:rPr>
              <a:t>六、元件测量和装配</a:t>
            </a:r>
            <a:endParaRPr lang="zh-CN" altLang="en-US" sz="4000" b="1" dirty="0">
              <a:solidFill>
                <a:srgbClr val="CC0000"/>
              </a:solidFill>
              <a:ea typeface="黑体" panose="02010609060101010101" pitchFamily="2" charset="-122"/>
            </a:endParaRPr>
          </a:p>
        </p:txBody>
      </p:sp>
      <p:sp>
        <p:nvSpPr>
          <p:cNvPr id="13314" name="Rectangle 3"/>
          <p:cNvSpPr>
            <a:spLocks noGrp="1"/>
          </p:cNvSpPr>
          <p:nvPr>
            <p:ph type="body"/>
          </p:nvPr>
        </p:nvSpPr>
        <p:spPr>
          <a:xfrm>
            <a:off x="539750" y="1567815"/>
            <a:ext cx="8064500" cy="4679950"/>
          </a:xfrm>
        </p:spPr>
        <p:txBody>
          <a:bodyPr vert="horz" wrap="square" lIns="91440" tIns="45720" rIns="91440" bIns="45720" anchor="t"/>
          <a:p>
            <a:pPr eaLnBrk="1" hangingPunct="1">
              <a:buNone/>
            </a:pPr>
            <a:r>
              <a:rPr lang="en-US" altLang="zh-CN" b="1" dirty="0">
                <a:solidFill>
                  <a:schemeClr val="tx2"/>
                </a:solidFill>
                <a:latin typeface="宋体" panose="02010600030101010101" pitchFamily="2" charset="-122"/>
              </a:rPr>
              <a:t>  1.</a:t>
            </a:r>
            <a:r>
              <a:rPr lang="zh-CN" altLang="en-US" b="1" dirty="0">
                <a:solidFill>
                  <a:schemeClr val="tx2"/>
                </a:solidFill>
                <a:latin typeface="宋体" panose="02010600030101010101" pitchFamily="2" charset="-122"/>
              </a:rPr>
              <a:t>可控硅</a:t>
            </a:r>
            <a:r>
              <a:rPr lang="en-US" altLang="zh-CN" b="1" dirty="0">
                <a:solidFill>
                  <a:schemeClr val="tx2"/>
                </a:solidFill>
                <a:latin typeface="宋体" panose="02010600030101010101" pitchFamily="2" charset="-122"/>
              </a:rPr>
              <a:t>T</a:t>
            </a:r>
            <a:r>
              <a:rPr lang="zh-CN" altLang="en-US" b="1" dirty="0">
                <a:solidFill>
                  <a:schemeClr val="tx2"/>
                </a:solidFill>
                <a:latin typeface="宋体" panose="02010600030101010101" pitchFamily="2" charset="-122"/>
              </a:rPr>
              <a:t>：</a:t>
            </a:r>
            <a:endParaRPr lang="zh-CN" altLang="en-US" b="1" dirty="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eaLnBrk="1" hangingPunct="1">
              <a:buNone/>
            </a:pPr>
            <a:r>
              <a:rPr lang="zh-CN" altLang="en-US" b="1" dirty="0">
                <a:latin typeface="宋体" panose="02010600030101010101" pitchFamily="2" charset="-122"/>
              </a:rPr>
              <a:t>      用电阻档将万用表的红表笔接可控硅的正极，黑表笔接负极，这时表盘无读数，然后用红表笔触一下控制极</a:t>
            </a:r>
            <a:r>
              <a:rPr lang="en-US" altLang="zh-CN" b="1" dirty="0">
                <a:latin typeface="宋体" panose="02010600030101010101" pitchFamily="2" charset="-122"/>
              </a:rPr>
              <a:t>K</a:t>
            </a:r>
            <a:r>
              <a:rPr lang="zh-CN" altLang="en-US" b="1" dirty="0">
                <a:latin typeface="宋体" panose="02010600030101010101" pitchFamily="2" charset="-122"/>
              </a:rPr>
              <a:t>，这时表盘有读数，红表笔马上离开，这时表盘仍有读数（注意触控制极时正负表笔是始终连接的）说明可控硅是完好的。</a:t>
            </a:r>
            <a:endParaRPr lang="zh-CN" altLang="en-US" b="1" dirty="0">
              <a:latin typeface="宋体" panose="02010600030101010101" pitchFamily="2" charset="-122"/>
            </a:endParaRPr>
          </a:p>
          <a:p>
            <a:pPr eaLnBrk="1" hangingPunct="1">
              <a:buNone/>
            </a:pPr>
            <a:r>
              <a:rPr lang="zh-CN" altLang="en-US" b="1" dirty="0">
                <a:latin typeface="宋体" panose="02010600030101010101" pitchFamily="2" charset="-122"/>
              </a:rPr>
              <a:t>  </a:t>
            </a:r>
            <a:r>
              <a:rPr lang="zh-CN" altLang="en-US" b="1" dirty="0">
                <a:solidFill>
                  <a:srgbClr val="CC0000"/>
                </a:solidFill>
                <a:latin typeface="宋体" panose="02010600030101010101" pitchFamily="2" charset="-122"/>
              </a:rPr>
              <a:t>数字式万用表：红表笔</a:t>
            </a:r>
            <a:r>
              <a:rPr lang="en-US" altLang="zh-CN" b="1" dirty="0">
                <a:solidFill>
                  <a:srgbClr val="CC0000"/>
                </a:solidFill>
                <a:latin typeface="宋体" panose="02010600030101010101" pitchFamily="2" charset="-122"/>
              </a:rPr>
              <a:t>+</a:t>
            </a:r>
            <a:r>
              <a:rPr lang="zh-CN" altLang="en-US" b="1" dirty="0">
                <a:solidFill>
                  <a:srgbClr val="CC0000"/>
                </a:solidFill>
                <a:latin typeface="宋体" panose="02010600030101010101" pitchFamily="2" charset="-122"/>
              </a:rPr>
              <a:t>，黑表笔</a:t>
            </a:r>
            <a:r>
              <a:rPr lang="en-US" altLang="zh-CN" b="1" dirty="0">
                <a:solidFill>
                  <a:srgbClr val="CC0000"/>
                </a:solidFill>
                <a:latin typeface="宋体" panose="02010600030101010101" pitchFamily="2" charset="-122"/>
              </a:rPr>
              <a:t>-</a:t>
            </a:r>
            <a:r>
              <a:rPr lang="zh-CN" altLang="en-US" b="1" dirty="0">
                <a:solidFill>
                  <a:srgbClr val="CC0000"/>
                </a:solidFill>
                <a:latin typeface="宋体" panose="02010600030101010101" pitchFamily="2" charset="-122"/>
              </a:rPr>
              <a:t>；</a:t>
            </a:r>
            <a:endParaRPr lang="en-US" altLang="zh-CN" b="1" dirty="0">
              <a:solidFill>
                <a:srgbClr val="CC0000"/>
              </a:solidFill>
              <a:latin typeface="宋体" panose="02010600030101010101" pitchFamily="2" charset="-122"/>
            </a:endParaRPr>
          </a:p>
          <a:p>
            <a:pPr eaLnBrk="1" hangingPunct="1">
              <a:buNone/>
            </a:pPr>
            <a:r>
              <a:rPr lang="en-US" altLang="zh-CN" b="1" dirty="0">
                <a:solidFill>
                  <a:srgbClr val="CC0000"/>
                </a:solidFill>
                <a:latin typeface="宋体" panose="02010600030101010101" pitchFamily="2" charset="-122"/>
              </a:rPr>
              <a:t>  </a:t>
            </a:r>
            <a:r>
              <a:rPr lang="zh-CN" altLang="en-US" b="1" dirty="0">
                <a:solidFill>
                  <a:srgbClr val="CC0000"/>
                </a:solidFill>
                <a:latin typeface="宋体" panose="02010600030101010101" pitchFamily="2" charset="-122"/>
              </a:rPr>
              <a:t>指针式万用表则相反。</a:t>
            </a:r>
            <a:endParaRPr lang="en-US" altLang="zh-CN" b="1" dirty="0">
              <a:solidFill>
                <a:srgbClr val="CC0000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p>
            <a:pPr eaLnBrk="1" hangingPunct="1"/>
            <a:r>
              <a:rPr lang="zh-CN" altLang="en-US" sz="4000" b="1" dirty="0">
                <a:solidFill>
                  <a:srgbClr val="CC0000"/>
                </a:solidFill>
                <a:ea typeface="黑体" panose="02010609060101010101" pitchFamily="2" charset="-122"/>
              </a:rPr>
              <a:t>六、元件测量和装配</a:t>
            </a:r>
            <a:endParaRPr lang="zh-CN" altLang="en-US" sz="4000" b="1" dirty="0">
              <a:solidFill>
                <a:srgbClr val="CC0000"/>
              </a:solidFill>
              <a:ea typeface="黑体" panose="02010609060101010101" pitchFamily="2" charset="-122"/>
            </a:endParaRPr>
          </a:p>
        </p:txBody>
      </p:sp>
      <p:sp>
        <p:nvSpPr>
          <p:cNvPr id="14338" name="Rectangle 3"/>
          <p:cNvSpPr>
            <a:spLocks noGrp="1"/>
          </p:cNvSpPr>
          <p:nvPr>
            <p:ph type="body"/>
          </p:nvPr>
        </p:nvSpPr>
        <p:spPr>
          <a:xfrm>
            <a:off x="755650" y="1412875"/>
            <a:ext cx="7772400" cy="5184775"/>
          </a:xfrm>
        </p:spPr>
        <p:txBody>
          <a:bodyPr vert="horz" wrap="square" lIns="91440" tIns="45720" rIns="91440" bIns="45720" anchor="t"/>
          <a:p>
            <a:pPr eaLnBrk="1" hangingPunct="1">
              <a:lnSpc>
                <a:spcPct val="90000"/>
              </a:lnSpc>
              <a:buNone/>
            </a:pPr>
            <a:r>
              <a:rPr lang="en-US" altLang="zh-CN" b="1" dirty="0">
                <a:solidFill>
                  <a:schemeClr val="tx2"/>
                </a:solidFill>
              </a:rPr>
              <a:t>    2.</a:t>
            </a:r>
            <a:r>
              <a:rPr lang="zh-CN" altLang="en-US" b="1" dirty="0">
                <a:solidFill>
                  <a:schemeClr val="tx2"/>
                </a:solidFill>
              </a:rPr>
              <a:t>麦克（驻极体电容器） ：</a:t>
            </a:r>
            <a:endParaRPr lang="zh-CN" altLang="en-US" b="1" dirty="0">
              <a:solidFill>
                <a:schemeClr val="tx2"/>
              </a:solidFill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b="1" dirty="0">
                <a:latin typeface="宋体" panose="02010600030101010101" pitchFamily="2" charset="-122"/>
              </a:rPr>
              <a:t>     用电阻档将黑表笔接外壳的</a:t>
            </a:r>
            <a:r>
              <a:rPr lang="en-US" altLang="zh-CN" b="1" dirty="0">
                <a:latin typeface="宋体" panose="02010600030101010101" pitchFamily="2" charset="-122"/>
              </a:rPr>
              <a:t>S</a:t>
            </a:r>
            <a:r>
              <a:rPr lang="zh-CN" altLang="en-US" b="1" dirty="0">
                <a:latin typeface="宋体" panose="02010600030101010101" pitchFamily="2" charset="-122"/>
              </a:rPr>
              <a:t>，红表笔接</a:t>
            </a:r>
            <a:r>
              <a:rPr lang="en-US" altLang="zh-CN" b="1" dirty="0">
                <a:latin typeface="宋体" panose="02010600030101010101" pitchFamily="2" charset="-122"/>
              </a:rPr>
              <a:t>D</a:t>
            </a:r>
            <a:r>
              <a:rPr lang="zh-CN" altLang="en-US" b="1" dirty="0">
                <a:latin typeface="宋体" panose="02010600030101010101" pitchFamily="2" charset="-122"/>
              </a:rPr>
              <a:t>，这时用口对着柱极吹气，若表盘示数有变化说明该柱极完好，变化越大灵敏度越高。</a:t>
            </a:r>
            <a:endParaRPr lang="zh-CN" altLang="en-US" b="1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b="1" dirty="0">
                <a:latin typeface="宋体" panose="02010600030101010101" pitchFamily="2" charset="-122"/>
              </a:rPr>
              <a:t>     </a:t>
            </a:r>
            <a:r>
              <a:rPr lang="zh-CN" altLang="en-US" b="1" dirty="0">
                <a:solidFill>
                  <a:srgbClr val="CC0000"/>
                </a:solidFill>
                <a:latin typeface="宋体" panose="02010600030101010101" pitchFamily="2" charset="-122"/>
              </a:rPr>
              <a:t>注意：数字式万用表笔，红</a:t>
            </a:r>
            <a:r>
              <a:rPr lang="en-US" altLang="zh-CN" b="1" dirty="0">
                <a:solidFill>
                  <a:srgbClr val="CC0000"/>
                </a:solidFill>
                <a:latin typeface="宋体" panose="02010600030101010101" pitchFamily="2" charset="-122"/>
              </a:rPr>
              <a:t>+,</a:t>
            </a:r>
            <a:r>
              <a:rPr lang="zh-CN" altLang="en-US" b="1" dirty="0">
                <a:solidFill>
                  <a:srgbClr val="CC0000"/>
                </a:solidFill>
                <a:latin typeface="宋体" panose="02010600030101010101" pitchFamily="2" charset="-122"/>
              </a:rPr>
              <a:t>黑</a:t>
            </a:r>
            <a:r>
              <a:rPr lang="en-US" altLang="zh-CN" b="1" dirty="0">
                <a:solidFill>
                  <a:srgbClr val="CC0000"/>
                </a:solidFill>
                <a:latin typeface="宋体" panose="02010600030101010101" pitchFamily="2" charset="-122"/>
              </a:rPr>
              <a:t>-</a:t>
            </a:r>
            <a:endParaRPr lang="en-US" altLang="zh-CN" b="1" dirty="0">
              <a:solidFill>
                <a:srgbClr val="CC0000"/>
              </a:solidFill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b="1" dirty="0">
                <a:solidFill>
                  <a:schemeClr val="tx2"/>
                </a:solidFill>
              </a:rPr>
              <a:t>    3.</a:t>
            </a:r>
            <a:r>
              <a:rPr lang="zh-CN" altLang="en-US" b="1" dirty="0">
                <a:solidFill>
                  <a:schemeClr val="tx2"/>
                </a:solidFill>
              </a:rPr>
              <a:t>光敏二极管：</a:t>
            </a:r>
            <a:endParaRPr lang="zh-CN" altLang="en-US" b="1" dirty="0">
              <a:solidFill>
                <a:schemeClr val="tx2"/>
              </a:solidFill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b="1" dirty="0">
                <a:latin typeface="宋体" panose="02010600030101010101" pitchFamily="2" charset="-122"/>
              </a:rPr>
              <a:t>     在有光照时，电阻为</a:t>
            </a:r>
            <a:r>
              <a:rPr lang="en-US" altLang="zh-CN" b="1" dirty="0">
                <a:latin typeface="宋体" panose="02010600030101010101" pitchFamily="2" charset="-122"/>
              </a:rPr>
              <a:t>1</a:t>
            </a:r>
            <a:r>
              <a:rPr lang="en-US" altLang="zh-CN" b="1" dirty="0">
                <a:latin typeface="宋体" panose="02010600030101010101" pitchFamily="2" charset="-122"/>
              </a:rPr>
              <a:t>K</a:t>
            </a:r>
            <a:r>
              <a:rPr lang="zh-CN" altLang="en-US" b="1" dirty="0">
                <a:latin typeface="宋体" panose="02010600030101010101" pitchFamily="2" charset="-122"/>
              </a:rPr>
              <a:t>左右</a:t>
            </a:r>
            <a:r>
              <a:rPr lang="zh-CN" altLang="en-US" b="1" dirty="0">
                <a:latin typeface="宋体" panose="02010600030101010101" pitchFamily="2" charset="-122"/>
              </a:rPr>
              <a:t>，无光照时电阻值大，说明该器件完好。</a:t>
            </a:r>
            <a:endParaRPr lang="zh-CN" altLang="en-US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1" name="标题 1"/>
          <p:cNvSpPr>
            <a:spLocks noGrp="1"/>
          </p:cNvSpPr>
          <p:nvPr>
            <p:ph type="title"/>
          </p:nvPr>
        </p:nvSpPr>
        <p:spPr>
          <a:xfrm>
            <a:off x="1071563" y="142875"/>
            <a:ext cx="7793037" cy="1143000"/>
          </a:xfrm>
        </p:spPr>
        <p:txBody>
          <a:bodyPr vert="horz" wrap="square" lIns="91440" tIns="45720" rIns="91440" bIns="45720" anchor="b"/>
          <a:p>
            <a:r>
              <a:rPr lang="zh-CN" altLang="en-US" sz="4000" b="1" dirty="0">
                <a:solidFill>
                  <a:srgbClr val="CC0000"/>
                </a:solidFill>
                <a:ea typeface="黑体" panose="02010609060101010101" pitchFamily="2" charset="-122"/>
              </a:rPr>
              <a:t>七、实物焊接</a:t>
            </a:r>
            <a:endParaRPr lang="zh-CN" altLang="en-US" dirty="0"/>
          </a:p>
        </p:txBody>
      </p:sp>
      <p:sp>
        <p:nvSpPr>
          <p:cNvPr id="15362" name="Text Box 321"/>
          <p:cNvSpPr txBox="1"/>
          <p:nvPr/>
        </p:nvSpPr>
        <p:spPr>
          <a:xfrm>
            <a:off x="3094355" y="2231390"/>
            <a:ext cx="4267835" cy="323024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rgbClr val="0070C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电路板的元件面</a:t>
            </a:r>
            <a:endParaRPr lang="en-US" altLang="zh-CN" dirty="0">
              <a:solidFill>
                <a:srgbClr val="0070C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>
              <a:spcBef>
                <a:spcPct val="50000"/>
              </a:spcBef>
            </a:pPr>
            <a:endParaRPr lang="en-US" altLang="zh-CN" dirty="0">
              <a:solidFill>
                <a:srgbClr val="0070C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>
              <a:spcBef>
                <a:spcPct val="50000"/>
              </a:spcBef>
            </a:pPr>
            <a:r>
              <a:rPr lang="en-US" altLang="zh-CN" dirty="0">
                <a:solidFill>
                  <a:srgbClr val="0070C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                   </a:t>
            </a:r>
            <a:endParaRPr lang="en-US" altLang="zh-CN" dirty="0">
              <a:solidFill>
                <a:srgbClr val="0070C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>
              <a:spcBef>
                <a:spcPct val="50000"/>
              </a:spcBef>
            </a:pPr>
            <a:r>
              <a:rPr lang="en-US" altLang="zh-CN" dirty="0">
                <a:solidFill>
                  <a:srgbClr val="0070C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                    </a:t>
            </a:r>
            <a:endParaRPr lang="en-US" altLang="zh-CN" dirty="0">
              <a:solidFill>
                <a:srgbClr val="0070C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>
              <a:spcBef>
                <a:spcPct val="50000"/>
              </a:spcBef>
            </a:pPr>
            <a:r>
              <a:rPr lang="en-US" altLang="zh-CN" dirty="0">
                <a:solidFill>
                  <a:srgbClr val="0070C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      </a:t>
            </a:r>
            <a:endParaRPr lang="en-US" altLang="zh-CN" dirty="0">
              <a:solidFill>
                <a:srgbClr val="0070C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>
              <a:spcBef>
                <a:spcPct val="50000"/>
              </a:spcBef>
            </a:pPr>
            <a:r>
              <a:rPr lang="en-US" altLang="zh-CN" dirty="0">
                <a:solidFill>
                  <a:srgbClr val="0070C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     </a:t>
            </a:r>
            <a:r>
              <a:rPr lang="zh-CN" altLang="en-US" dirty="0">
                <a:solidFill>
                  <a:srgbClr val="0070C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焊接面              </a:t>
            </a:r>
            <a:endParaRPr lang="zh-CN" altLang="en-US" dirty="0">
              <a:solidFill>
                <a:srgbClr val="0070C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pic>
        <p:nvPicPr>
          <p:cNvPr id="15363" name="Picture 6" descr="C:\Users\think\Pictures\2017-08-26\002.JPG"/>
          <p:cNvPicPr>
            <a:picLocks noChangeAspect="1"/>
          </p:cNvPicPr>
          <p:nvPr/>
        </p:nvPicPr>
        <p:blipFill>
          <a:blip r:embed="rId1"/>
          <a:srcRect l="3577" t="11518" r="3765" b="7001"/>
          <a:stretch>
            <a:fillRect/>
          </a:stretch>
        </p:blipFill>
        <p:spPr>
          <a:xfrm>
            <a:off x="36195" y="4363085"/>
            <a:ext cx="3345180" cy="22066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5364" name="Picture 7" descr="C:\Users\think\Pictures\2017-08-26\001.JPG"/>
          <p:cNvPicPr>
            <a:picLocks noChangeAspect="1"/>
          </p:cNvPicPr>
          <p:nvPr/>
        </p:nvPicPr>
        <p:blipFill>
          <a:blip r:embed="rId2"/>
          <a:srcRect l="6906" t="11666" b="4814"/>
          <a:stretch>
            <a:fillRect/>
          </a:stretch>
        </p:blipFill>
        <p:spPr>
          <a:xfrm>
            <a:off x="36195" y="1556385"/>
            <a:ext cx="3094355" cy="208216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rcRect l="13442" t="33804" r="34785" b="10164"/>
          <a:stretch>
            <a:fillRect/>
          </a:stretch>
        </p:blipFill>
        <p:spPr>
          <a:xfrm rot="5400000">
            <a:off x="5988050" y="944880"/>
            <a:ext cx="2290445" cy="330517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rcRect l="2941" t="28722" r="6140" b="24188"/>
          <a:stretch>
            <a:fillRect/>
          </a:stretch>
        </p:blipFill>
        <p:spPr>
          <a:xfrm>
            <a:off x="5480685" y="4324985"/>
            <a:ext cx="3507105" cy="242189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5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p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</a:rPr>
              <a:t>八、注意事项</a:t>
            </a: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16386" name="内容占位符 2"/>
          <p:cNvSpPr>
            <a:spLocks noGrp="1"/>
          </p:cNvSpPr>
          <p:nvPr>
            <p:ph idx="1"/>
          </p:nvPr>
        </p:nvSpPr>
        <p:spPr>
          <a:xfrm>
            <a:off x="323850" y="1484313"/>
            <a:ext cx="8640763" cy="4114800"/>
          </a:xfrm>
        </p:spPr>
        <p:txBody>
          <a:bodyPr vert="horz" wrap="square" lIns="91440" tIns="45720" rIns="91440" bIns="45720" anchor="t"/>
          <a:p>
            <a:pPr>
              <a:buNone/>
            </a:pPr>
            <a:r>
              <a:rPr lang="en-US" altLang="zh-CN" b="1" i="1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1</a:t>
            </a:r>
            <a:r>
              <a:rPr lang="zh-CN" altLang="en-US" b="1" i="1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、</a:t>
            </a:r>
            <a:r>
              <a:rPr lang="en-US" altLang="zh-CN" b="1" i="1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9014</a:t>
            </a:r>
            <a:r>
              <a:rPr lang="zh-CN" altLang="en-US" b="1" i="1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和晶闸管不要装反，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虽然都是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D0-92</a:t>
            </a:r>
            <a:endParaRPr lang="en-US" altLang="zh-CN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>
              <a:buNone/>
            </a:pP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    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封装，但不是同一种元件。</a:t>
            </a: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>
              <a:buNone/>
            </a:pP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2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、话筒又称驻极体拾音器，是由有正负极的，</a:t>
            </a: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>
              <a:buNone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    区别的方法：负极和铝壳是相连的。</a:t>
            </a: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>
              <a:buNone/>
            </a:pP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3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、调试的时候，由于光会影响声控效果，这时</a:t>
            </a: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>
              <a:buNone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    可以用纸片或用手遮住光敏电阻。</a:t>
            </a: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>
              <a:buNone/>
            </a:pP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4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、电源采用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9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伏直流电源供电。</a:t>
            </a: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>
              <a:buNone/>
            </a:pPr>
            <a:endParaRPr lang="zh-CN" altLang="en-US" dirty="0">
              <a:solidFill>
                <a:srgbClr val="FF0000"/>
              </a:solidFill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  <a:sym typeface="+mn-ea"/>
            </a:endParaRPr>
          </a:p>
          <a:p>
            <a:pPr>
              <a:buNone/>
            </a:pPr>
            <a:r>
              <a:rPr lang="en-US" altLang="zh-CN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**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  <a:sym typeface="+mn-ea"/>
              </a:rPr>
              <a:t>安全：用电安全     卫生：实验室卫生</a:t>
            </a:r>
            <a:endParaRPr lang="en-US" altLang="zh-CN" dirty="0">
              <a:solidFill>
                <a:srgbClr val="FF0000"/>
              </a:solidFill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>
              <a:buNone/>
            </a:pP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0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/>
          <a:p>
            <a:pPr eaLnBrk="1" hangingPunct="1"/>
            <a:r>
              <a:rPr lang="zh-CN" altLang="en-US" b="1" dirty="0">
                <a:solidFill>
                  <a:srgbClr val="CC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九</a:t>
            </a:r>
            <a:r>
              <a:rPr lang="en-US" altLang="zh-CN" b="1" dirty="0">
                <a:solidFill>
                  <a:srgbClr val="CC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.</a:t>
            </a:r>
            <a:r>
              <a:rPr lang="zh-CN" altLang="en-US" b="1" dirty="0">
                <a:solidFill>
                  <a:srgbClr val="CC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成绩评定</a:t>
            </a:r>
            <a:endParaRPr lang="zh-CN" altLang="en-US" b="1" dirty="0">
              <a:solidFill>
                <a:srgbClr val="CC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17410" name="Rectangle 3"/>
          <p:cNvSpPr>
            <a:spLocks noGrp="1"/>
          </p:cNvSpPr>
          <p:nvPr>
            <p:ph idx="1"/>
          </p:nvPr>
        </p:nvSpPr>
        <p:spPr>
          <a:xfrm>
            <a:off x="685800" y="1582738"/>
            <a:ext cx="7772400" cy="4114800"/>
          </a:xfrm>
        </p:spPr>
        <p:txBody>
          <a:bodyPr vert="horz" wrap="square" lIns="91440" tIns="45720" rIns="91440" bIns="45720" anchor="t"/>
          <a:p>
            <a:pPr eaLnBrk="1" hangingPunct="1">
              <a:buNone/>
            </a:pP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1.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设计报告</a:t>
            </a: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buNone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        原理分析，</a:t>
            </a: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buNone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        制作方法，</a:t>
            </a: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buNone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        测试数据，</a:t>
            </a: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buNone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        设计心得等</a:t>
            </a: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buNone/>
            </a:pP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2.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实物制作</a:t>
            </a: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buNone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        实物验收：包括制作工艺、</a:t>
            </a: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buNone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                  原件摆放、</a:t>
            </a: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  <a:p>
            <a:pPr eaLnBrk="1" hangingPunct="1">
              <a:buNone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  <a:cs typeface="黑体" panose="02010609060101010101" pitchFamily="2" charset="-122"/>
              </a:rPr>
              <a:t>                   焊接连线的质量等</a:t>
            </a: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  <a:cs typeface="黑体" panose="02010609060101010101" pitchFamily="2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MEDIACOVER_FLAG" val="1"/>
  <p:tag name="KSO_WM_UNIT_MEDIACOVER_BTN_STATE" val="1"/>
  <p:tag name="KSO_WM_UNIT_MEDIACOVER_BTNRECT" val="5993*3415*630*630"/>
  <p:tag name="KSO_WM_UNIT_MEDIACOVER_STYLEID" val="1"/>
  <p:tag name="KSO_WM_UNIT_MEDIACOVER_TEXTSTATE" val="0"/>
  <p:tag name="KSO_WM_UNIT_MEDIACOVER_BTN_POS" val="c"/>
  <p:tag name="KSO_WM_UNIT_MEDIACOVER_BTN_STYLE" val="ee0bc779c1f3d7f3e90c96344320e69a"/>
  <p:tag name="KSO_WM_UNIT_MEDIACOVER_RGB" val="000000"/>
  <p:tag name="KSO_WM_UNIT_MEDIACOVER_TRANSPARENCY" val="0.5"/>
</p:tagLst>
</file>

<file path=ppt/tags/tag2.xml><?xml version="1.0" encoding="utf-8"?>
<p:tagLst xmlns:p="http://schemas.openxmlformats.org/presentationml/2006/main">
  <p:tag name="KSO_WM_UNIT_TABLE_BEAUTIFY" val="smartTable{32876e06-0bbd-4574-b133-3fd9a88e8b17}"/>
</p:tagLst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tx2"/>
        </a:solidFill>
        <a:ln w="9525" cap="flat" cmpd="sng" algn="ctr">
          <a:solidFill>
            <a:schemeClr val="tx2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tx2"/>
        </a:solidFill>
        <a:ln w="9525" cap="flat" cmpd="sng" algn="ctr">
          <a:solidFill>
            <a:schemeClr val="tx2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D:\Program Files\Microsoft Office\Templates\Presentation Designs\Blends.pot</Template>
  <TotalTime>0</TotalTime>
  <Words>1694</Words>
  <Application>WPS 演示</Application>
  <PresentationFormat>全屏显示(4:3)</PresentationFormat>
  <Paragraphs>190</Paragraphs>
  <Slides>15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26" baseType="lpstr">
      <vt:lpstr>Arial</vt:lpstr>
      <vt:lpstr>宋体</vt:lpstr>
      <vt:lpstr>Wingdings</vt:lpstr>
      <vt:lpstr>Tahoma</vt:lpstr>
      <vt:lpstr>黑体</vt:lpstr>
      <vt:lpstr>微软雅黑</vt:lpstr>
      <vt:lpstr>Arial Unicode MS</vt:lpstr>
      <vt:lpstr>Calibri</vt:lpstr>
      <vt:lpstr>Blends</vt:lpstr>
      <vt:lpstr>Visio.Drawing.11</vt:lpstr>
      <vt:lpstr>Visio.Drawing.11</vt:lpstr>
      <vt:lpstr>  --2020小学期课程设计</vt:lpstr>
      <vt:lpstr>PowerPoint 演示文稿</vt:lpstr>
      <vt:lpstr>PowerPoint 演示文稿</vt:lpstr>
      <vt:lpstr>二、工作原理分析</vt:lpstr>
      <vt:lpstr>三、声光控原理—1有光照（白天）</vt:lpstr>
      <vt:lpstr>三、声光控原理—2无光照（夜晚1）</vt:lpstr>
      <vt:lpstr>三、声控原理—2无光照（夜晚2）</vt:lpstr>
      <vt:lpstr>四、延时</vt:lpstr>
      <vt:lpstr>五、元器件认识</vt:lpstr>
      <vt:lpstr>五、元器件认识</vt:lpstr>
      <vt:lpstr>六、元件测量和装配</vt:lpstr>
      <vt:lpstr>六、元件测量和装配</vt:lpstr>
      <vt:lpstr>七、实物焊接</vt:lpstr>
      <vt:lpstr>八、注意事项</vt:lpstr>
      <vt:lpstr>九.成绩评定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syj</dc:creator>
  <cp:lastModifiedBy>ChenWZ</cp:lastModifiedBy>
  <cp:revision>105</cp:revision>
  <dcterms:created xsi:type="dcterms:W3CDTF">2005-09-08T07:25:00Z</dcterms:created>
  <dcterms:modified xsi:type="dcterms:W3CDTF">2021-09-11T08:08:36Z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2052-11.1.0.10700</vt:lpwstr>
  </property>
  <property fmtid="{D5CDD505-2E9C-101B-9397-08002B2CF9AE}" pid="3" name="ICV">
    <vt:lpwstr>CC90941E35794D2D9D3C2AEE3453E593</vt:lpwstr>
  </property>
</Properties>
</file>