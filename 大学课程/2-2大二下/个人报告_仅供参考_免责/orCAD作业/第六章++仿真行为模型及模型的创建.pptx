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1" r:id="rId6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80" autoAdjust="0"/>
    <p:restoredTop sz="94660"/>
  </p:normalViewPr>
  <p:slideViewPr>
    <p:cSldViewPr snapToGrid="0">
      <p:cViewPr varScale="1">
        <p:scale>
          <a:sx n="74" d="100"/>
          <a:sy n="74" d="100"/>
        </p:scale>
        <p:origin x="4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75868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50169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2957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032924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16395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7248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18238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03389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348617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描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14013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带描述的引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7351379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31246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言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309417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真或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5211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834923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4487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BBB5B7D-EA7E-4304-AC01-A9BDAEE8706B}" type="datetimeFigureOut">
              <a:rPr lang="zh-CN" altLang="en-US" smtClean="0"/>
              <a:t>2020/3/20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6F057F57-90AF-42BE-85DB-F3E4753D787C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135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1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144988" y="298030"/>
            <a:ext cx="9962984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ts val="2000"/>
              </a:spcBef>
              <a:spcAft>
                <a:spcPts val="2000"/>
              </a:spcAft>
            </a:pPr>
            <a:r>
              <a:rPr lang="zh-CN" altLang="zh-CN" sz="44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第</a:t>
            </a:r>
            <a:r>
              <a:rPr lang="zh-CN" altLang="en-US" sz="44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六</a:t>
            </a:r>
            <a:r>
              <a:rPr lang="zh-CN" altLang="zh-CN" sz="44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章</a:t>
            </a:r>
            <a:r>
              <a:rPr lang="en-US" altLang="zh-CN" sz="44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  </a:t>
            </a:r>
            <a:r>
              <a:rPr lang="zh-CN" altLang="zh-CN" sz="4400" b="1" kern="100" dirty="0">
                <a:solidFill>
                  <a:srgbClr val="FF0000"/>
                </a:solidFill>
                <a:latin typeface="Times New Roman" panose="02020603050405020304" pitchFamily="18" charset="0"/>
              </a:rPr>
              <a:t>仿真行为模型及模型的</a:t>
            </a:r>
            <a:r>
              <a:rPr lang="zh-CN" altLang="zh-CN" sz="4400" b="1" kern="100" dirty="0" smtClean="0">
                <a:solidFill>
                  <a:srgbClr val="FF0000"/>
                </a:solidFill>
                <a:latin typeface="Times New Roman" panose="02020603050405020304" pitchFamily="18" charset="0"/>
              </a:rPr>
              <a:t>创建</a:t>
            </a:r>
            <a:r>
              <a:rPr lang="en-US" altLang="zh-CN" sz="32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      </a:t>
            </a:r>
            <a:endParaRPr lang="zh-CN" altLang="en-US" sz="3200" dirty="0"/>
          </a:p>
        </p:txBody>
      </p:sp>
      <p:sp>
        <p:nvSpPr>
          <p:cNvPr id="5" name="矩形 4"/>
          <p:cNvSpPr/>
          <p:nvPr/>
        </p:nvSpPr>
        <p:spPr>
          <a:xfrm>
            <a:off x="575388" y="1249266"/>
            <a:ext cx="2236510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sz="32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一、</a:t>
            </a:r>
            <a:r>
              <a:rPr lang="zh-CN" altLang="zh-CN" sz="32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受</a:t>
            </a:r>
            <a:r>
              <a:rPr lang="zh-CN" altLang="zh-CN" sz="3200" kern="1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控源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sp>
        <p:nvSpPr>
          <p:cNvPr id="6" name="矩形 5"/>
          <p:cNvSpPr/>
          <p:nvPr/>
        </p:nvSpPr>
        <p:spPr>
          <a:xfrm>
            <a:off x="575388" y="1880129"/>
            <a:ext cx="1152144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kern="100" dirty="0" smtClean="0">
                <a:latin typeface="Times New Roman" panose="02020603050405020304" pitchFamily="18" charset="0"/>
              </a:rPr>
              <a:t>1 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某含四种受控源的直流电路如</a:t>
            </a:r>
            <a:r>
              <a:rPr lang="zh-CN" altLang="zh-CN" sz="32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图所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示。试求</a:t>
            </a:r>
            <a:r>
              <a:rPr lang="en-US" altLang="zh-CN" sz="3200" kern="100" dirty="0">
                <a:latin typeface="Times New Roman" panose="02020603050405020304" pitchFamily="18" charset="0"/>
              </a:rPr>
              <a:t>I(R5)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en-US" altLang="zh-CN" sz="3200" kern="100" dirty="0">
                <a:latin typeface="Times New Roman" panose="02020603050405020304" pitchFamily="18" charset="0"/>
              </a:rPr>
              <a:t>V(R5)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lang="zh-CN" altLang="en-US" sz="3200" dirty="0"/>
          </a:p>
        </p:txBody>
      </p:sp>
      <p:sp>
        <p:nvSpPr>
          <p:cNvPr id="7" name="Rectangle 2"/>
          <p:cNvSpPr>
            <a:spLocks noChangeArrowheads="1"/>
          </p:cNvSpPr>
          <p:nvPr/>
        </p:nvSpPr>
        <p:spPr bwMode="auto">
          <a:xfrm>
            <a:off x="3132814" y="2846567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graphicFrame>
        <p:nvGraphicFramePr>
          <p:cNvPr id="8" name="对象 7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564046094"/>
              </p:ext>
            </p:extLst>
          </p:nvPr>
        </p:nvGraphicFramePr>
        <p:xfrm>
          <a:off x="2968091" y="2568271"/>
          <a:ext cx="6316777" cy="407277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37" name="BMP 图像" r:id="rId3" imgW="3076190" imgH="1980952" progId="Paint.Picture">
                  <p:embed/>
                </p:oleObj>
              </mc:Choice>
              <mc:Fallback>
                <p:oleObj name="BMP 图像" r:id="rId3" imgW="3076190" imgH="1980952" progId="Paint.Picture">
                  <p:embed/>
                  <p:pic>
                    <p:nvPicPr>
                      <p:cNvPr id="0" name="Object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68091" y="2568271"/>
                        <a:ext cx="6316777" cy="4072779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15767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表格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27598803"/>
              </p:ext>
            </p:extLst>
          </p:nvPr>
        </p:nvGraphicFramePr>
        <p:xfrm>
          <a:off x="333955" y="187319"/>
          <a:ext cx="11585050" cy="21336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817594"/>
                <a:gridCol w="1236372"/>
                <a:gridCol w="2078739"/>
                <a:gridCol w="1394484"/>
                <a:gridCol w="2057861"/>
              </a:tblGrid>
              <a:tr h="0">
                <a:tc>
                  <a:txBody>
                    <a:bodyPr/>
                    <a:lstStyle/>
                    <a:p>
                      <a:pPr indent="607695" algn="just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名</a:t>
                      </a:r>
                      <a:r>
                        <a:rPr lang="en-US" sz="2800" dirty="0">
                          <a:effectLst/>
                        </a:rPr>
                        <a:t>       </a:t>
                      </a:r>
                      <a:r>
                        <a:rPr lang="zh-CN" sz="2800" dirty="0">
                          <a:effectLst/>
                        </a:rPr>
                        <a:t>称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符 号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含义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l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单位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举</a:t>
                      </a:r>
                      <a:r>
                        <a:rPr lang="en-US" sz="2800">
                          <a:effectLst/>
                        </a:rPr>
                        <a:t>  </a:t>
                      </a:r>
                      <a:r>
                        <a:rPr lang="zh-CN" sz="2800">
                          <a:effectLst/>
                        </a:rPr>
                        <a:t>例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indent="269875" algn="l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电压控制电压源（</a:t>
                      </a:r>
                      <a:r>
                        <a:rPr lang="en-US" sz="2800" dirty="0">
                          <a:effectLst/>
                        </a:rPr>
                        <a:t>VCVS</a:t>
                      </a:r>
                      <a:r>
                        <a:rPr lang="zh-CN" sz="2800" dirty="0">
                          <a:effectLst/>
                        </a:rPr>
                        <a:t>）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E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电压增益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E</a:t>
                      </a:r>
                      <a:r>
                        <a:rPr lang="zh-CN" sz="2800">
                          <a:effectLst/>
                        </a:rPr>
                        <a:t>＝</a:t>
                      </a:r>
                      <a:r>
                        <a:rPr lang="en-US" sz="2800">
                          <a:effectLst/>
                        </a:rPr>
                        <a:t>0.3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电流控制电流源（</a:t>
                      </a:r>
                      <a:r>
                        <a:rPr lang="en-US" sz="2800" dirty="0" smtClean="0">
                          <a:effectLst/>
                        </a:rPr>
                        <a:t>CCCS</a:t>
                      </a:r>
                      <a:r>
                        <a:rPr lang="zh-CN" sz="2800" dirty="0" smtClean="0">
                          <a:effectLst/>
                        </a:rPr>
                        <a:t>）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F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电流增益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 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F</a:t>
                      </a:r>
                      <a:r>
                        <a:rPr lang="zh-CN" sz="2800">
                          <a:effectLst/>
                        </a:rPr>
                        <a:t>＝</a:t>
                      </a:r>
                      <a:r>
                        <a:rPr lang="en-US" sz="2800">
                          <a:effectLst/>
                        </a:rPr>
                        <a:t>0.4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r>
                        <a:rPr lang="zh-CN" sz="2800" dirty="0">
                          <a:effectLst/>
                        </a:rPr>
                        <a:t>电压控制电流源（</a:t>
                      </a:r>
                      <a:r>
                        <a:rPr lang="en-US" sz="2800" dirty="0">
                          <a:effectLst/>
                        </a:rPr>
                        <a:t>VCCS</a:t>
                      </a:r>
                      <a:r>
                        <a:rPr lang="zh-CN" sz="2800" dirty="0">
                          <a:effectLst/>
                        </a:rPr>
                        <a:t>）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G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转移阻抗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Ω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G</a:t>
                      </a:r>
                      <a:r>
                        <a:rPr lang="zh-CN" sz="2800">
                          <a:effectLst/>
                        </a:rPr>
                        <a:t>＝</a:t>
                      </a:r>
                      <a:r>
                        <a:rPr lang="en-US" sz="2800">
                          <a:effectLst/>
                        </a:rPr>
                        <a:t>0.6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  <a:tr h="0">
                <a:tc>
                  <a:txBody>
                    <a:bodyPr/>
                    <a:lstStyle/>
                    <a:p>
                      <a:pPr indent="269875" algn="just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电流控制电压源（</a:t>
                      </a:r>
                      <a:r>
                        <a:rPr lang="en-US" sz="2800">
                          <a:effectLst/>
                        </a:rPr>
                        <a:t>CCVS</a:t>
                      </a:r>
                      <a:r>
                        <a:rPr lang="zh-CN" sz="2800">
                          <a:effectLst/>
                        </a:rPr>
                        <a:t>）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H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zh-CN" sz="2800">
                          <a:effectLst/>
                        </a:rPr>
                        <a:t>转移导纳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>
                          <a:effectLst/>
                        </a:rPr>
                        <a:t>S</a:t>
                      </a:r>
                      <a:endParaRPr lang="zh-CN" sz="280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indent="269875" algn="ctr">
                        <a:spcAft>
                          <a:spcPts val="0"/>
                        </a:spcAft>
                      </a:pPr>
                      <a:r>
                        <a:rPr lang="en-US" sz="2800" dirty="0">
                          <a:effectLst/>
                        </a:rPr>
                        <a:t>H</a:t>
                      </a:r>
                      <a:r>
                        <a:rPr lang="zh-CN" sz="2800" dirty="0">
                          <a:effectLst/>
                        </a:rPr>
                        <a:t>＝－</a:t>
                      </a:r>
                      <a:r>
                        <a:rPr lang="en-US" sz="2800" dirty="0">
                          <a:effectLst/>
                        </a:rPr>
                        <a:t>0.5</a:t>
                      </a:r>
                      <a:endParaRPr lang="zh-CN" sz="2800" dirty="0">
                        <a:effectLst/>
                        <a:latin typeface="Times New Roman" panose="02020603050405020304" pitchFamily="18" charset="0"/>
                        <a:ea typeface="宋体" panose="02010600030101010101" pitchFamily="2" charset="-122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  <p:sp>
        <p:nvSpPr>
          <p:cNvPr id="3" name="Rectangle 4"/>
          <p:cNvSpPr>
            <a:spLocks noChangeArrowheads="1"/>
          </p:cNvSpPr>
          <p:nvPr/>
        </p:nvSpPr>
        <p:spPr bwMode="auto">
          <a:xfrm>
            <a:off x="2973788" y="3037399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zh-CN" altLang="en-US"/>
          </a:p>
        </p:txBody>
      </p:sp>
      <p:pic>
        <p:nvPicPr>
          <p:cNvPr id="2051" name="Picture 3"/>
          <p:cNvPicPr preferRelativeResize="0"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90261" y="2476833"/>
            <a:ext cx="8397377" cy="37967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715026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230060" y="715820"/>
            <a:ext cx="10161756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例</a:t>
            </a:r>
            <a:r>
              <a:rPr lang="en-US" altLang="zh-CN" sz="3200" b="1" kern="100" dirty="0" smtClean="0">
                <a:latin typeface="Times New Roman" panose="02020603050405020304" pitchFamily="18" charset="0"/>
              </a:rPr>
              <a:t>2 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含</a:t>
            </a:r>
            <a:r>
              <a:rPr lang="en-US" altLang="zh-CN" sz="3200" kern="100" dirty="0">
                <a:latin typeface="Times New Roman" panose="02020603050405020304" pitchFamily="18" charset="0"/>
              </a:rPr>
              <a:t>CCCS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受控源电路（晶体管等效电路）如</a:t>
            </a:r>
            <a:r>
              <a:rPr lang="zh-CN" altLang="zh-CN" sz="3200" kern="1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图所</a:t>
            </a:r>
            <a:r>
              <a:rPr lang="zh-CN" altLang="zh-CN" sz="3200" kern="1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示。</a:t>
            </a:r>
            <a:endParaRPr lang="zh-CN" altLang="en-US" sz="3200" dirty="0"/>
          </a:p>
        </p:txBody>
      </p:sp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1538" y="1707929"/>
            <a:ext cx="8155419" cy="408857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1003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88855" y="1268491"/>
            <a:ext cx="5543670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瞬态分析输出电压</a:t>
            </a:r>
            <a:r>
              <a:rPr lang="zh-CN" altLang="en-US" sz="32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</a:t>
            </a:r>
            <a:r>
              <a:rPr lang="zh-CN" altLang="zh-CN" sz="3200" kern="100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输入电压</a:t>
            </a:r>
            <a:endParaRPr lang="zh-CN" altLang="en-US" sz="3200" dirty="0">
              <a:solidFill>
                <a:srgbClr val="FF0000"/>
              </a:solidFill>
            </a:endParaRPr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1031" y="2044525"/>
            <a:ext cx="5831494" cy="449941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6936246" y="1268492"/>
            <a:ext cx="4011547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负载输出电压、</a:t>
            </a:r>
            <a:r>
              <a:rPr lang="zh-CN" altLang="zh-CN" sz="3200" b="1" kern="1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电流</a:t>
            </a:r>
            <a:endParaRPr lang="zh-CN" altLang="en-US" sz="3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32525" y="2044525"/>
            <a:ext cx="5959475" cy="3641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844181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675978" y="1240603"/>
            <a:ext cx="5207443" cy="5847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zh-CN" sz="32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负载的瞬时功率和</a:t>
            </a:r>
            <a:r>
              <a:rPr lang="zh-CN" altLang="zh-CN" sz="3200" b="1" kern="1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平均功率</a:t>
            </a:r>
            <a:endParaRPr lang="zh-CN" altLang="en-US" sz="3200" dirty="0"/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232" y="2285200"/>
            <a:ext cx="5722937" cy="3992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/>
        </p:nvSpPr>
        <p:spPr>
          <a:xfrm>
            <a:off x="7060215" y="1240604"/>
            <a:ext cx="3892412" cy="58477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zh-CN" sz="3200" b="1" kern="100" dirty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负载功率随频率</a:t>
            </a:r>
            <a:r>
              <a:rPr lang="zh-CN" altLang="zh-CN" sz="3200" b="1" kern="1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变化</a:t>
            </a:r>
            <a:endParaRPr lang="zh-CN" altLang="en-US" sz="3200" dirty="0"/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16907" y="2285200"/>
            <a:ext cx="5349875" cy="3611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740573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丝状">
  <a:themeElements>
    <a:clrScheme name="丝状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丝状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丝状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233</TotalTime>
  <Words>133</Words>
  <Application>Microsoft Office PowerPoint</Application>
  <PresentationFormat>宽屏</PresentationFormat>
  <Paragraphs>33</Paragraphs>
  <Slides>5</Slides>
  <Notes>0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13" baseType="lpstr">
      <vt:lpstr>宋体</vt:lpstr>
      <vt:lpstr>幼圆</vt:lpstr>
      <vt:lpstr>Arial</vt:lpstr>
      <vt:lpstr>Century Gothic</vt:lpstr>
      <vt:lpstr>Times New Roman</vt:lpstr>
      <vt:lpstr>Wingdings 3</vt:lpstr>
      <vt:lpstr>丝状</vt:lpstr>
      <vt:lpstr>BMP 图像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</dc:creator>
  <cp:lastModifiedBy>ly</cp:lastModifiedBy>
  <cp:revision>10</cp:revision>
  <dcterms:created xsi:type="dcterms:W3CDTF">2016-11-08T00:25:35Z</dcterms:created>
  <dcterms:modified xsi:type="dcterms:W3CDTF">2020-03-20T07:35:10Z</dcterms:modified>
</cp:coreProperties>
</file>