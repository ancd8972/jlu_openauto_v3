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6"/>
  </p:notesMasterIdLst>
  <p:handoutMasterIdLst>
    <p:handoutMasterId r:id="rId37"/>
  </p:handoutMasterIdLst>
  <p:sldIdLst>
    <p:sldId id="435" r:id="rId3"/>
    <p:sldId id="395" r:id="rId4"/>
    <p:sldId id="496" r:id="rId5"/>
    <p:sldId id="436" r:id="rId6"/>
    <p:sldId id="437" r:id="rId7"/>
    <p:sldId id="405" r:id="rId8"/>
    <p:sldId id="502" r:id="rId9"/>
    <p:sldId id="473" r:id="rId10"/>
    <p:sldId id="504" r:id="rId11"/>
    <p:sldId id="499" r:id="rId12"/>
    <p:sldId id="500" r:id="rId13"/>
    <p:sldId id="501" r:id="rId14"/>
    <p:sldId id="474" r:id="rId15"/>
    <p:sldId id="503" r:id="rId16"/>
    <p:sldId id="488" r:id="rId17"/>
    <p:sldId id="475" r:id="rId18"/>
    <p:sldId id="476" r:id="rId19"/>
    <p:sldId id="477" r:id="rId20"/>
    <p:sldId id="478" r:id="rId21"/>
    <p:sldId id="479" r:id="rId22"/>
    <p:sldId id="489" r:id="rId23"/>
    <p:sldId id="480" r:id="rId24"/>
    <p:sldId id="481" r:id="rId25"/>
    <p:sldId id="482" r:id="rId26"/>
    <p:sldId id="483" r:id="rId27"/>
    <p:sldId id="491" r:id="rId28"/>
    <p:sldId id="484" r:id="rId29"/>
    <p:sldId id="485" r:id="rId30"/>
    <p:sldId id="486" r:id="rId31"/>
    <p:sldId id="404" r:id="rId32"/>
    <p:sldId id="490" r:id="rId33"/>
    <p:sldId id="495" r:id="rId34"/>
    <p:sldId id="471" r:id="rId35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7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gun Vagun" initials="V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C97"/>
    <a:srgbClr val="669EE3"/>
    <a:srgbClr val="FFC000"/>
    <a:srgbClr val="FF9900"/>
    <a:srgbClr val="536581"/>
    <a:srgbClr val="73BAFD"/>
    <a:srgbClr val="143A72"/>
    <a:srgbClr val="0B1B3A"/>
    <a:srgbClr val="5377C4"/>
    <a:srgbClr val="0118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6314" autoAdjust="0"/>
  </p:normalViewPr>
  <p:slideViewPr>
    <p:cSldViewPr snapToGrid="0">
      <p:cViewPr varScale="1">
        <p:scale>
          <a:sx n="78" d="100"/>
          <a:sy n="78" d="100"/>
        </p:scale>
        <p:origin x="326" y="67"/>
      </p:cViewPr>
      <p:guideLst>
        <p:guide orient="horz" pos="2160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168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64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807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871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FFDAE1-EB67-42CF-B593-56AA292DA8C8}" type="datetimeFigureOut">
              <a:rPr lang="zh-CN" altLang="en-US" smtClean="0"/>
              <a:t>2022/12/15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斜纹 3"/>
          <p:cNvSpPr/>
          <p:nvPr userDrawn="1"/>
        </p:nvSpPr>
        <p:spPr>
          <a:xfrm>
            <a:off x="0" y="4477"/>
            <a:ext cx="1072483" cy="1072483"/>
          </a:xfrm>
          <a:prstGeom prst="diagStripe">
            <a:avLst>
              <a:gd name="adj" fmla="val 5461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-267422" y="272279"/>
            <a:ext cx="536876" cy="53687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菱形 5"/>
          <p:cNvSpPr/>
          <p:nvPr userDrawn="1"/>
        </p:nvSpPr>
        <p:spPr>
          <a:xfrm>
            <a:off x="437606" y="302015"/>
            <a:ext cx="288957" cy="288957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185279" y="73565"/>
            <a:ext cx="195366" cy="195366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vpn.jlu.edu.cn/logi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 rot="10800000">
            <a:off x="10172072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斜纹 6"/>
          <p:cNvSpPr/>
          <p:nvPr/>
        </p:nvSpPr>
        <p:spPr>
          <a:xfrm>
            <a:off x="0" y="4477"/>
            <a:ext cx="2733040" cy="2733040"/>
          </a:xfrm>
          <a:prstGeom prst="diagStripe">
            <a:avLst>
              <a:gd name="adj" fmla="val 5461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5312" y="2212663"/>
            <a:ext cx="54168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美赛培训讲座</a:t>
            </a:r>
          </a:p>
        </p:txBody>
      </p:sp>
      <p:sp>
        <p:nvSpPr>
          <p:cNvPr id="6" name="直角三角形 5"/>
          <p:cNvSpPr/>
          <p:nvPr/>
        </p:nvSpPr>
        <p:spPr>
          <a:xfrm rot="13500000">
            <a:off x="-684069" y="580250"/>
            <a:ext cx="1368137" cy="1368137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直角三角形 7"/>
          <p:cNvSpPr/>
          <p:nvPr/>
        </p:nvSpPr>
        <p:spPr>
          <a:xfrm rot="8100000">
            <a:off x="7667083" y="5134206"/>
            <a:ext cx="3447589" cy="3447589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直角三角形 8"/>
          <p:cNvSpPr/>
          <p:nvPr/>
        </p:nvSpPr>
        <p:spPr>
          <a:xfrm rot="8100000">
            <a:off x="8350520" y="5817641"/>
            <a:ext cx="2080716" cy="208071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半闭框 10"/>
          <p:cNvSpPr/>
          <p:nvPr/>
        </p:nvSpPr>
        <p:spPr>
          <a:xfrm rot="18900000">
            <a:off x="10141503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9045120" y="1667117"/>
            <a:ext cx="1410144" cy="141014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8440634" y="1727861"/>
            <a:ext cx="684276" cy="684276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9253714" y="2372189"/>
            <a:ext cx="624839" cy="563879"/>
            <a:chOff x="7553960" y="553721"/>
            <a:chExt cx="624839" cy="563879"/>
          </a:xfrm>
        </p:grpSpPr>
        <p:grpSp>
          <p:nvGrpSpPr>
            <p:cNvPr id="19" name="组合 18"/>
            <p:cNvGrpSpPr/>
            <p:nvPr/>
          </p:nvGrpSpPr>
          <p:grpSpPr>
            <a:xfrm>
              <a:off x="7553960" y="553721"/>
              <a:ext cx="624839" cy="45719"/>
              <a:chOff x="7325360" y="553721"/>
              <a:chExt cx="624839" cy="45719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7553960" y="726441"/>
              <a:ext cx="624839" cy="45719"/>
              <a:chOff x="7325360" y="553721"/>
              <a:chExt cx="624839" cy="45719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553960" y="899161"/>
              <a:ext cx="624839" cy="45719"/>
              <a:chOff x="7325360" y="553721"/>
              <a:chExt cx="624839" cy="45719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553960" y="1071881"/>
              <a:ext cx="624839" cy="45719"/>
              <a:chOff x="7325360" y="553721"/>
              <a:chExt cx="624839" cy="45719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6692285" y="6115824"/>
            <a:ext cx="1082039" cy="350519"/>
            <a:chOff x="5593081" y="5852160"/>
            <a:chExt cx="1082039" cy="35051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43" name="组合 42"/>
            <p:cNvGrpSpPr/>
            <p:nvPr/>
          </p:nvGrpSpPr>
          <p:grpSpPr>
            <a:xfrm>
              <a:off x="5593081" y="58521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36" name="椭圆 35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5593081" y="60045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45" name="椭圆 44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5593081" y="61569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53" name="椭圆 52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9241584" y="3891370"/>
            <a:ext cx="3703923" cy="2952083"/>
            <a:chOff x="9241584" y="3891370"/>
            <a:chExt cx="3703923" cy="2952083"/>
          </a:xfrm>
        </p:grpSpPr>
        <p:cxnSp>
          <p:nvCxnSpPr>
            <p:cNvPr id="62" name="直线连接符 61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/>
        </p:nvGrpSpPr>
        <p:grpSpPr>
          <a:xfrm flipH="1">
            <a:off x="10872126" y="-1167"/>
            <a:ext cx="2163986" cy="1724730"/>
            <a:chOff x="9241584" y="3891370"/>
            <a:chExt cx="3703923" cy="2952083"/>
          </a:xfrm>
        </p:grpSpPr>
        <p:cxnSp>
          <p:nvCxnSpPr>
            <p:cNvPr id="68" name="直线连接符 6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半闭框 9"/>
          <p:cNvSpPr/>
          <p:nvPr/>
        </p:nvSpPr>
        <p:spPr>
          <a:xfrm rot="18900000">
            <a:off x="10141503" y="1771719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92596" y="4315622"/>
            <a:ext cx="21499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主讲人：宋建辉</a:t>
            </a: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日期：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2022-12-15</a:t>
            </a: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75" name="直线连接符 74"/>
          <p:cNvCxnSpPr/>
          <p:nvPr/>
        </p:nvCxnSpPr>
        <p:spPr>
          <a:xfrm>
            <a:off x="1100315" y="4000114"/>
            <a:ext cx="680933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íṥḻîḍé"/>
          <p:cNvSpPr txBox="1"/>
          <p:nvPr/>
        </p:nvSpPr>
        <p:spPr bwMode="auto">
          <a:xfrm>
            <a:off x="992596" y="3285943"/>
            <a:ext cx="474218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cs typeface="+mn-ea"/>
                <a:sym typeface="+mn-lt"/>
              </a:rPr>
              <a:t>通信工程学院学生会学习部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5" y="669925"/>
            <a:ext cx="3343910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自我介绍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5544648" y="1050925"/>
            <a:ext cx="6044737" cy="6238955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姓名：宋建辉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专业：机器人工程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现任职务：通信工程学院学习部部长、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2053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班班长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曾获荣誉：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2022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美赛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奖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2021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2022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国赛省一等奖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中国机器人及人工智能大赛国家三等奖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吴江开发区创新奖学金等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98A305-DF99-45D4-A3E7-ABF7C144C1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76" t="16034"/>
          <a:stretch/>
        </p:blipFill>
        <p:spPr>
          <a:xfrm>
            <a:off x="774065" y="1563290"/>
            <a:ext cx="3343910" cy="48111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285874" y="648653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调研结果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7DBCC3-6A6F-4930-82E4-662FE7A7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60" y="1333014"/>
            <a:ext cx="8260715" cy="46810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637CC0-E4CC-49C5-A63A-943F815D3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375" y="1937386"/>
            <a:ext cx="5715000" cy="3238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46FD8A-560E-4817-B3F7-82D4D51AA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50" y="1937386"/>
            <a:ext cx="5715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537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0784" y="2696788"/>
            <a:ext cx="2097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CONTENTS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6792" y="1634575"/>
            <a:ext cx="19620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66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目录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703922" y="2110885"/>
            <a:ext cx="3166251" cy="2352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初识数学建模</a:t>
            </a:r>
            <a:endParaRPr kumimoji="1"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514350" indent="-514350">
              <a:lnSpc>
                <a:spcPct val="250000"/>
              </a:lnSpc>
              <a:buFont typeface="+mj-lt"/>
              <a:buAutoNum type="arabicPeriod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渔夫的故事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86784" y="2110884"/>
            <a:ext cx="2345514" cy="2352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250000"/>
              </a:lnSpc>
              <a:buFont typeface="+mj-lt"/>
              <a:buAutoNum type="arabicPeriod" startAt="3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备赛思路</a:t>
            </a:r>
            <a:endParaRPr kumimoji="1" lang="zh-CN" sz="32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marL="514350" indent="-514350">
              <a:lnSpc>
                <a:spcPct val="250000"/>
              </a:lnSpc>
              <a:buFont typeface="+mj-lt"/>
              <a:buAutoNum type="arabicPeriod" startAt="3"/>
            </a:pPr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实战技巧</a:t>
            </a:r>
          </a:p>
        </p:txBody>
      </p:sp>
      <p:sp>
        <p:nvSpPr>
          <p:cNvPr id="22" name="直角三角形 21"/>
          <p:cNvSpPr/>
          <p:nvPr/>
        </p:nvSpPr>
        <p:spPr>
          <a:xfrm rot="8100000">
            <a:off x="714019" y="5153960"/>
            <a:ext cx="3447589" cy="3447589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直角三角形 22"/>
          <p:cNvSpPr/>
          <p:nvPr/>
        </p:nvSpPr>
        <p:spPr>
          <a:xfrm rot="8100000">
            <a:off x="1397456" y="5837395"/>
            <a:ext cx="2080716" cy="208071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3837944" y="6135578"/>
            <a:ext cx="1082039" cy="350519"/>
            <a:chOff x="5593081" y="5852160"/>
            <a:chExt cx="1082039" cy="35051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5593081" y="58521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42" name="椭圆 41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椭圆 42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5593081" y="60045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35" name="椭圆 34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5593081" y="61569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28" name="椭圆 27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 flipH="1">
            <a:off x="-858838" y="3911124"/>
            <a:ext cx="3703923" cy="2952083"/>
            <a:chOff x="9241584" y="3891370"/>
            <a:chExt cx="3703923" cy="2952083"/>
          </a:xfrm>
        </p:grpSpPr>
        <p:cxnSp>
          <p:nvCxnSpPr>
            <p:cNvPr id="50" name="直线连接符 49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菱形 53"/>
          <p:cNvSpPr/>
          <p:nvPr/>
        </p:nvSpPr>
        <p:spPr>
          <a:xfrm>
            <a:off x="10781856" y="0"/>
            <a:ext cx="1410144" cy="141014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菱形 54"/>
          <p:cNvSpPr/>
          <p:nvPr/>
        </p:nvSpPr>
        <p:spPr>
          <a:xfrm>
            <a:off x="10177370" y="60744"/>
            <a:ext cx="684276" cy="684276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10990450" y="705072"/>
            <a:ext cx="624839" cy="563879"/>
            <a:chOff x="7553960" y="553721"/>
            <a:chExt cx="624839" cy="563879"/>
          </a:xfrm>
        </p:grpSpPr>
        <p:grpSp>
          <p:nvGrpSpPr>
            <p:cNvPr id="57" name="组合 56"/>
            <p:cNvGrpSpPr/>
            <p:nvPr/>
          </p:nvGrpSpPr>
          <p:grpSpPr>
            <a:xfrm>
              <a:off x="7553960" y="553721"/>
              <a:ext cx="624839" cy="45719"/>
              <a:chOff x="7325360" y="553721"/>
              <a:chExt cx="624839" cy="45719"/>
            </a:xfrm>
          </p:grpSpPr>
          <p:sp>
            <p:nvSpPr>
              <p:cNvPr id="73" name="椭圆 72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553960" y="726441"/>
              <a:ext cx="624839" cy="45719"/>
              <a:chOff x="7325360" y="553721"/>
              <a:chExt cx="624839" cy="45719"/>
            </a:xfrm>
          </p:grpSpPr>
          <p:sp>
            <p:nvSpPr>
              <p:cNvPr id="69" name="椭圆 68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7553960" y="899161"/>
              <a:ext cx="624839" cy="45719"/>
              <a:chOff x="7325360" y="553721"/>
              <a:chExt cx="624839" cy="45719"/>
            </a:xfrm>
          </p:grpSpPr>
          <p:sp>
            <p:nvSpPr>
              <p:cNvPr id="65" name="椭圆 64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7553960" y="1071881"/>
              <a:ext cx="624839" cy="45719"/>
              <a:chOff x="7325360" y="553721"/>
              <a:chExt cx="624839" cy="45719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 flipH="1">
            <a:off x="10872126" y="-1167"/>
            <a:ext cx="2163986" cy="1724730"/>
            <a:chOff x="9241584" y="3891370"/>
            <a:chExt cx="3703923" cy="2952083"/>
          </a:xfrm>
        </p:grpSpPr>
        <p:cxnSp>
          <p:nvCxnSpPr>
            <p:cNvPr id="78" name="直线连接符 7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2622" y="2647341"/>
            <a:ext cx="7606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初识数学建模</a:t>
            </a: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半闭框 5"/>
          <p:cNvSpPr/>
          <p:nvPr/>
        </p:nvSpPr>
        <p:spPr>
          <a:xfrm rot="2700000" flipH="1">
            <a:off x="-2050497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844112" y="-1167"/>
            <a:ext cx="2163986" cy="1724730"/>
            <a:chOff x="9241584" y="3891370"/>
            <a:chExt cx="3703923" cy="2952083"/>
          </a:xfrm>
        </p:grpSpPr>
        <p:cxnSp>
          <p:nvCxnSpPr>
            <p:cNvPr id="8" name="直线连接符 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 rot="10800000">
            <a:off x="9460783" y="4124960"/>
            <a:ext cx="3417109" cy="2733040"/>
            <a:chOff x="7297978" y="2480257"/>
            <a:chExt cx="3417109" cy="2733040"/>
          </a:xfrm>
        </p:grpSpPr>
        <p:sp>
          <p:nvSpPr>
            <p:cNvPr id="13" name="斜纹 12"/>
            <p:cNvSpPr/>
            <p:nvPr/>
          </p:nvSpPr>
          <p:spPr>
            <a:xfrm>
              <a:off x="7982047" y="2480257"/>
              <a:ext cx="2733040" cy="2733040"/>
            </a:xfrm>
            <a:prstGeom prst="diagStripe">
              <a:avLst>
                <a:gd name="adj" fmla="val 546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 rot="13500000">
              <a:off x="7297978" y="3056030"/>
              <a:ext cx="1368137" cy="136813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107305" y="1586865"/>
            <a:ext cx="27952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bg1">
                    <a:lumMod val="85000"/>
                    <a:alpha val="55000"/>
                  </a:schemeClr>
                </a:solidFill>
                <a:latin typeface="汉仪旗黑X1-55W" panose="00020600040101010101" pitchFamily="18" charset="-122"/>
                <a:ea typeface="汉仪旗黑X1-55W" panose="00020600040101010101" pitchFamily="18" charset="-122"/>
              </a:defRPr>
            </a:lvl1pPr>
          </a:lstStyle>
          <a:p>
            <a:pPr algn="l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什么是数学建模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ïṡľidé">
            <a:extLst>
              <a:ext uri="{FF2B5EF4-FFF2-40B4-BE49-F238E27FC236}">
                <a16:creationId xmlns:a16="http://schemas.microsoft.com/office/drawing/2014/main" id="{AA961206-247B-47C4-BC72-0476289B6C0F}"/>
              </a:ext>
            </a:extLst>
          </p:cNvPr>
          <p:cNvSpPr txBox="1"/>
          <p:nvPr/>
        </p:nvSpPr>
        <p:spPr bwMode="auto">
          <a:xfrm flipH="1">
            <a:off x="1662112" y="1372745"/>
            <a:ext cx="8620126" cy="229438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     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数学建模是一种数学的思考方法，是运用数学的语言和方法，通过抽象、简化建立能近似刻画并解决实际问题的一种强有力的数学手段。数学建模就是用数学语言描述实际现象的过程。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indent="0">
              <a:spcBef>
                <a:spcPct val="0"/>
              </a:spcBef>
              <a:buNone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     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简言之，就是解决大的应用题。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indent="0">
              <a:spcBef>
                <a:spcPct val="0"/>
              </a:spcBef>
              <a:buNone/>
            </a:pP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FCD94D4-7043-4490-BA9A-61377974408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24" y="4083686"/>
            <a:ext cx="3826933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A080DFB-AE4C-47A7-8C88-3C2953216D12}"/>
              </a:ext>
            </a:extLst>
          </p:cNvPr>
          <p:cNvSpPr txBox="1"/>
          <p:nvPr/>
        </p:nvSpPr>
        <p:spPr>
          <a:xfrm>
            <a:off x="4933950" y="4005849"/>
            <a:ext cx="645561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小学：图中有几只鸡？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高中：已知鸡第一年有</a:t>
            </a:r>
            <a:r>
              <a:rPr lang="en-US" altLang="zh-CN" dirty="0"/>
              <a:t>2</a:t>
            </a:r>
            <a:r>
              <a:rPr lang="zh-CN" altLang="en-US" dirty="0"/>
              <a:t>只，第二年有</a:t>
            </a:r>
            <a:r>
              <a:rPr lang="en-US" altLang="zh-CN" dirty="0"/>
              <a:t>4</a:t>
            </a:r>
            <a:r>
              <a:rPr lang="zh-CN" altLang="en-US" dirty="0"/>
              <a:t>只，第三年有</a:t>
            </a:r>
            <a:r>
              <a:rPr lang="en-US" altLang="zh-CN" dirty="0"/>
              <a:t>8</a:t>
            </a:r>
            <a:r>
              <a:rPr lang="zh-CN" altLang="en-US" dirty="0"/>
              <a:t>只，</a:t>
            </a:r>
            <a:endParaRPr lang="en-US" altLang="zh-CN" dirty="0"/>
          </a:p>
          <a:p>
            <a:r>
              <a:rPr lang="zh-CN" altLang="en-US" dirty="0"/>
              <a:t>并且增长速度不变，请问第几年鸡的数量突破</a:t>
            </a:r>
            <a:r>
              <a:rPr lang="en-US" altLang="zh-CN" dirty="0"/>
              <a:t>100</a:t>
            </a:r>
            <a:r>
              <a:rPr lang="zh-CN" altLang="en-US" dirty="0"/>
              <a:t>只？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大学数学建模：</a:t>
            </a:r>
            <a:endParaRPr lang="en-US" altLang="zh-CN" dirty="0"/>
          </a:p>
          <a:p>
            <a:r>
              <a:rPr lang="zh-CN" altLang="en-US" dirty="0"/>
              <a:t>目前已有前</a:t>
            </a:r>
            <a:r>
              <a:rPr lang="en-US" altLang="zh-CN" dirty="0"/>
              <a:t>15</a:t>
            </a:r>
            <a:r>
              <a:rPr lang="zh-CN" altLang="en-US" dirty="0"/>
              <a:t>年的小鸡子数量，现要求考虑小鸡子的死亡，</a:t>
            </a:r>
            <a:endParaRPr lang="en-US" altLang="zh-CN" dirty="0"/>
          </a:p>
          <a:p>
            <a:r>
              <a:rPr lang="zh-CN" altLang="en-US" dirty="0"/>
              <a:t>患病，性别等因素，预测</a:t>
            </a:r>
            <a:r>
              <a:rPr lang="en-US" altLang="zh-CN" dirty="0"/>
              <a:t>5</a:t>
            </a:r>
            <a:r>
              <a:rPr lang="zh-CN" altLang="en-US" dirty="0"/>
              <a:t>年后鸡的数量。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8" grpId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什么是数学建模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ïṡľidé">
            <a:extLst>
              <a:ext uri="{FF2B5EF4-FFF2-40B4-BE49-F238E27FC236}">
                <a16:creationId xmlns:a16="http://schemas.microsoft.com/office/drawing/2014/main" id="{AA961206-247B-47C4-BC72-0476289B6C0F}"/>
              </a:ext>
            </a:extLst>
          </p:cNvPr>
          <p:cNvSpPr txBox="1"/>
          <p:nvPr/>
        </p:nvSpPr>
        <p:spPr bwMode="auto">
          <a:xfrm flipH="1">
            <a:off x="1662112" y="1372745"/>
            <a:ext cx="8620126" cy="393268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美赛国赛出现过的奇奇怪怪的题目：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indent="0">
              <a:spcBef>
                <a:spcPct val="0"/>
              </a:spcBef>
              <a:buNone/>
            </a:pP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2013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国赛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题，碎纸片复原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2014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国赛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题，平板折叠桌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国赛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题，穿越沙漠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2022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国赛</a:t>
            </a: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题，无人机定位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2019 A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权力的游戏，养龙策略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2017 F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迁移到火星，迁移问题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2022 F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小行星采矿，全球公平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2022 C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比特币黄金，预测收益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 marL="514350" indent="-514350">
              <a:spcBef>
                <a:spcPct val="0"/>
              </a:spcBef>
              <a:buAutoNum type="arabicPeriod"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2016 A </a:t>
            </a: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恒温省水浴缸</a:t>
            </a:r>
            <a:endParaRPr lang="en-US" altLang="zh-CN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pPr>
              <a:spcBef>
                <a:spcPct val="0"/>
              </a:spcBef>
            </a:pP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10FA53-35BB-4B35-B34E-2E9C9CEC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60" y="1146810"/>
            <a:ext cx="5090601" cy="49458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DBE4581-F7CD-49A8-9F33-E5A78D5DA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047" y="2518528"/>
            <a:ext cx="5403048" cy="220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98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8" grpId="1"/>
      <p:bldP spid="8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1.2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模型分类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14">
            <a:extLst>
              <a:ext uri="{FF2B5EF4-FFF2-40B4-BE49-F238E27FC236}">
                <a16:creationId xmlns:a16="http://schemas.microsoft.com/office/drawing/2014/main" id="{A5E25F87-3678-497B-8097-8500BA18AD54}"/>
              </a:ext>
            </a:extLst>
          </p:cNvPr>
          <p:cNvSpPr/>
          <p:nvPr/>
        </p:nvSpPr>
        <p:spPr>
          <a:xfrm rot="19574601">
            <a:off x="1671638" y="3362350"/>
            <a:ext cx="1365250" cy="2471738"/>
          </a:xfrm>
          <a:custGeom>
            <a:avLst/>
            <a:gdLst/>
            <a:ahLst/>
            <a:cxnLst/>
            <a:rect l="l" t="t" r="r" b="b"/>
            <a:pathLst>
              <a:path w="3506582" h="6341948">
                <a:moveTo>
                  <a:pt x="3240360" y="0"/>
                </a:moveTo>
                <a:cubicBezTo>
                  <a:pt x="3330025" y="0"/>
                  <a:pt x="3418839" y="3642"/>
                  <a:pt x="3506582" y="11780"/>
                </a:cubicBezTo>
                <a:cubicBezTo>
                  <a:pt x="1772732" y="148098"/>
                  <a:pt x="408933" y="1587041"/>
                  <a:pt x="408933" y="3341898"/>
                </a:cubicBezTo>
                <a:cubicBezTo>
                  <a:pt x="408933" y="4661317"/>
                  <a:pt x="1179894" y="5802148"/>
                  <a:pt x="2301104" y="6341948"/>
                </a:cubicBezTo>
                <a:cubicBezTo>
                  <a:pt x="969445" y="5939773"/>
                  <a:pt x="0" y="4703279"/>
                  <a:pt x="0" y="3240360"/>
                </a:cubicBezTo>
                <a:cubicBezTo>
                  <a:pt x="0" y="1450759"/>
                  <a:pt x="1450759" y="0"/>
                  <a:pt x="324036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12">
            <a:extLst>
              <a:ext uri="{FF2B5EF4-FFF2-40B4-BE49-F238E27FC236}">
                <a16:creationId xmlns:a16="http://schemas.microsoft.com/office/drawing/2014/main" id="{E6BD9C79-E272-44CB-9E8B-FAEC562D84F5}"/>
              </a:ext>
            </a:extLst>
          </p:cNvPr>
          <p:cNvSpPr/>
          <p:nvPr/>
        </p:nvSpPr>
        <p:spPr>
          <a:xfrm>
            <a:off x="1382713" y="2863875"/>
            <a:ext cx="2633662" cy="2759075"/>
          </a:xfrm>
          <a:custGeom>
            <a:avLst/>
            <a:gdLst/>
            <a:ahLst/>
            <a:cxnLst/>
            <a:rect l="l" t="t" r="r" b="b"/>
            <a:pathLst>
              <a:path w="4532669" h="4746399">
                <a:moveTo>
                  <a:pt x="2520296" y="0"/>
                </a:moveTo>
                <a:cubicBezTo>
                  <a:pt x="3343805" y="0"/>
                  <a:pt x="4075065" y="394967"/>
                  <a:pt x="4532669" y="1007541"/>
                </a:cubicBezTo>
                <a:cubicBezTo>
                  <a:pt x="4076090" y="478227"/>
                  <a:pt x="3398381" y="144047"/>
                  <a:pt x="2642202" y="144047"/>
                </a:cubicBezTo>
                <a:cubicBezTo>
                  <a:pt x="1262492" y="144047"/>
                  <a:pt x="144016" y="1256566"/>
                  <a:pt x="144016" y="2628928"/>
                </a:cubicBezTo>
                <a:cubicBezTo>
                  <a:pt x="144016" y="3525963"/>
                  <a:pt x="621884" y="4311981"/>
                  <a:pt x="1339718" y="4746399"/>
                </a:cubicBezTo>
                <a:cubicBezTo>
                  <a:pt x="542520" y="4323888"/>
                  <a:pt x="0" y="3485448"/>
                  <a:pt x="0" y="2520296"/>
                </a:cubicBezTo>
                <a:cubicBezTo>
                  <a:pt x="0" y="1128375"/>
                  <a:pt x="1128375" y="0"/>
                  <a:pt x="252029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BC6A19-C03B-49D4-8BA9-754C11DC356E}"/>
              </a:ext>
            </a:extLst>
          </p:cNvPr>
          <p:cNvGrpSpPr/>
          <p:nvPr/>
        </p:nvGrpSpPr>
        <p:grpSpPr>
          <a:xfrm>
            <a:off x="1851025" y="3305200"/>
            <a:ext cx="1979613" cy="1979613"/>
            <a:chOff x="1860550" y="2552725"/>
            <a:chExt cx="1979613" cy="197961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41661B6-71A5-46CE-A269-ED4D65AFB26B}"/>
                </a:ext>
              </a:extLst>
            </p:cNvPr>
            <p:cNvSpPr/>
            <p:nvPr/>
          </p:nvSpPr>
          <p:spPr>
            <a:xfrm>
              <a:off x="1860550" y="2552725"/>
              <a:ext cx="1979613" cy="1979613"/>
            </a:xfrm>
            <a:prstGeom prst="ellips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F15F65E-E80E-461F-824D-94508F22AA48}"/>
                </a:ext>
              </a:extLst>
            </p:cNvPr>
            <p:cNvSpPr/>
            <p:nvPr/>
          </p:nvSpPr>
          <p:spPr>
            <a:xfrm>
              <a:off x="1911350" y="2768625"/>
              <a:ext cx="1751013" cy="175101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r>
                <a:rPr lang="zh-CN" altLang="en-US" sz="3200" dirty="0">
                  <a:solidFill>
                    <a:srgbClr val="013B6D"/>
                  </a:solidFill>
                  <a:latin typeface="微软雅黑" pitchFamily="34" charset="-122"/>
                  <a:ea typeface="微软雅黑" pitchFamily="34" charset="-122"/>
                </a:rPr>
                <a:t>模型分类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0774454-251B-4DCB-9450-006907E84292}"/>
              </a:ext>
            </a:extLst>
          </p:cNvPr>
          <p:cNvGrpSpPr/>
          <p:nvPr/>
        </p:nvGrpSpPr>
        <p:grpSpPr>
          <a:xfrm>
            <a:off x="1695450" y="1847875"/>
            <a:ext cx="1457325" cy="1457325"/>
            <a:chOff x="1704975" y="1095400"/>
            <a:chExt cx="1457325" cy="1457325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C905845-E4D3-4E27-971D-F21472DB3D81}"/>
                </a:ext>
              </a:extLst>
            </p:cNvPr>
            <p:cNvSpPr/>
            <p:nvPr/>
          </p:nvSpPr>
          <p:spPr>
            <a:xfrm>
              <a:off x="1704975" y="1095400"/>
              <a:ext cx="1457325" cy="1457325"/>
            </a:xfrm>
            <a:prstGeom prst="ellips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8A2D717-A6F1-4D16-9129-93D35A40A5A2}"/>
                </a:ext>
              </a:extLst>
            </p:cNvPr>
            <p:cNvSpPr/>
            <p:nvPr/>
          </p:nvSpPr>
          <p:spPr>
            <a:xfrm>
              <a:off x="1791494" y="1167337"/>
              <a:ext cx="1271588" cy="127158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预测模型</a:t>
              </a: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922936A-4DCA-49A3-B850-D894DA627F8A}"/>
              </a:ext>
            </a:extLst>
          </p:cNvPr>
          <p:cNvGrpSpPr/>
          <p:nvPr/>
        </p:nvGrpSpPr>
        <p:grpSpPr>
          <a:xfrm>
            <a:off x="3725863" y="2941663"/>
            <a:ext cx="1301750" cy="1301750"/>
            <a:chOff x="3735388" y="2189188"/>
            <a:chExt cx="1301750" cy="1301750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5057ADE-F3BD-4486-8C89-8164455B3595}"/>
                </a:ext>
              </a:extLst>
            </p:cNvPr>
            <p:cNvSpPr/>
            <p:nvPr/>
          </p:nvSpPr>
          <p:spPr>
            <a:xfrm>
              <a:off x="3735388" y="2189188"/>
              <a:ext cx="1301750" cy="1301750"/>
            </a:xfrm>
            <a:prstGeom prst="ellips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F57B3D81-DFB2-4ADE-A4D9-02A2A8CD7E4D}"/>
                </a:ext>
              </a:extLst>
            </p:cNvPr>
            <p:cNvSpPr/>
            <p:nvPr/>
          </p:nvSpPr>
          <p:spPr>
            <a:xfrm>
              <a:off x="3803650" y="2355875"/>
              <a:ext cx="1136650" cy="113506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优化模型</a:t>
              </a:r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F7591536-B5CC-4B68-AD17-852B47D649EC}"/>
              </a:ext>
            </a:extLst>
          </p:cNvPr>
          <p:cNvGrpSpPr/>
          <p:nvPr/>
        </p:nvGrpSpPr>
        <p:grpSpPr>
          <a:xfrm>
            <a:off x="3465513" y="4921275"/>
            <a:ext cx="1041400" cy="1041400"/>
            <a:chOff x="3475038" y="4168800"/>
            <a:chExt cx="1041400" cy="1041400"/>
          </a:xfrm>
        </p:grpSpPr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3A1A708F-AACC-4809-A875-08550E1BDEDA}"/>
                </a:ext>
              </a:extLst>
            </p:cNvPr>
            <p:cNvSpPr/>
            <p:nvPr/>
          </p:nvSpPr>
          <p:spPr>
            <a:xfrm>
              <a:off x="3475038" y="4168800"/>
              <a:ext cx="1041400" cy="1041400"/>
            </a:xfrm>
            <a:prstGeom prst="ellips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C7FBE45-64B1-4D5C-8D6D-749AE05E6F21}"/>
                </a:ext>
              </a:extLst>
            </p:cNvPr>
            <p:cNvSpPr/>
            <p:nvPr/>
          </p:nvSpPr>
          <p:spPr>
            <a:xfrm>
              <a:off x="3530600" y="4300563"/>
              <a:ext cx="908050" cy="90963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zh-CN" altLang="en-US" sz="2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评价模型</a:t>
              </a:r>
              <a:endPara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B0FD709F-D7E4-4A2F-A871-FA7350B94ED7}"/>
              </a:ext>
            </a:extLst>
          </p:cNvPr>
          <p:cNvSpPr txBox="1"/>
          <p:nvPr/>
        </p:nvSpPr>
        <p:spPr>
          <a:xfrm>
            <a:off x="3580132" y="1627074"/>
            <a:ext cx="7296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预测模型是指用于预测的，用数学语言或公式所描述的事物间的数量关系。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43199CA-3033-496F-9FAF-04BB5B7EF283}"/>
              </a:ext>
            </a:extLst>
          </p:cNvPr>
          <p:cNvSpPr txBox="1"/>
          <p:nvPr/>
        </p:nvSpPr>
        <p:spPr>
          <a:xfrm>
            <a:off x="5600701" y="29543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优化模型在经济管理工作中运用线性规划、非线性规划、动态规划、整数规划以及系统科学方法所确定的表示最优方案的模型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C4CC858-EA4E-4B9A-9563-D101289AF913}"/>
              </a:ext>
            </a:extLst>
          </p:cNvPr>
          <p:cNvSpPr txBox="1"/>
          <p:nvPr/>
        </p:nvSpPr>
        <p:spPr>
          <a:xfrm>
            <a:off x="5027613" y="516128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分为优劣评价和类别判定。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84872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23" grpId="0"/>
      <p:bldP spid="24" grpId="0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1.2.1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预测模型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814F754-47F7-40A6-8E76-74CEFFF1E535}"/>
              </a:ext>
            </a:extLst>
          </p:cNvPr>
          <p:cNvGrpSpPr/>
          <p:nvPr/>
        </p:nvGrpSpPr>
        <p:grpSpPr>
          <a:xfrm>
            <a:off x="5014913" y="4657874"/>
            <a:ext cx="1057275" cy="706438"/>
            <a:chOff x="3967163" y="4114949"/>
            <a:chExt cx="1057275" cy="706438"/>
          </a:xfrm>
        </p:grpSpPr>
        <p:sp>
          <p:nvSpPr>
            <p:cNvPr id="9" name="直角三角形 8">
              <a:extLst>
                <a:ext uri="{FF2B5EF4-FFF2-40B4-BE49-F238E27FC236}">
                  <a16:creationId xmlns:a16="http://schemas.microsoft.com/office/drawing/2014/main" id="{F1B7C6CE-568C-4F91-88DA-6316F6D043E9}"/>
                </a:ext>
              </a:extLst>
            </p:cNvPr>
            <p:cNvSpPr/>
            <p:nvPr/>
          </p:nvSpPr>
          <p:spPr>
            <a:xfrm>
              <a:off x="4495800" y="4114949"/>
              <a:ext cx="528638" cy="70643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>
              <a:extLst>
                <a:ext uri="{FF2B5EF4-FFF2-40B4-BE49-F238E27FC236}">
                  <a16:creationId xmlns:a16="http://schemas.microsoft.com/office/drawing/2014/main" id="{19EDD9F9-E3ED-4BC2-A15C-12AABE00E3E5}"/>
                </a:ext>
              </a:extLst>
            </p:cNvPr>
            <p:cNvSpPr/>
            <p:nvPr/>
          </p:nvSpPr>
          <p:spPr>
            <a:xfrm flipH="1">
              <a:off x="3967163" y="4114949"/>
              <a:ext cx="528637" cy="706438"/>
            </a:xfrm>
            <a:prstGeom prst="rtTriangl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82C0BC5-96E3-4317-9703-9260B41947CF}"/>
              </a:ext>
            </a:extLst>
          </p:cNvPr>
          <p:cNvGrpSpPr/>
          <p:nvPr/>
        </p:nvGrpSpPr>
        <p:grpSpPr>
          <a:xfrm>
            <a:off x="3957638" y="3914924"/>
            <a:ext cx="1057275" cy="1449388"/>
            <a:chOff x="2909888" y="3371999"/>
            <a:chExt cx="1057275" cy="1449388"/>
          </a:xfrm>
        </p:grpSpPr>
        <p:sp>
          <p:nvSpPr>
            <p:cNvPr id="13" name="直角三角形 12">
              <a:extLst>
                <a:ext uri="{FF2B5EF4-FFF2-40B4-BE49-F238E27FC236}">
                  <a16:creationId xmlns:a16="http://schemas.microsoft.com/office/drawing/2014/main" id="{ED151CF8-1A29-4DC0-8298-34B42E6D1933}"/>
                </a:ext>
              </a:extLst>
            </p:cNvPr>
            <p:cNvSpPr/>
            <p:nvPr/>
          </p:nvSpPr>
          <p:spPr>
            <a:xfrm>
              <a:off x="3438525" y="3371999"/>
              <a:ext cx="528638" cy="144938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直角三角形 13">
              <a:extLst>
                <a:ext uri="{FF2B5EF4-FFF2-40B4-BE49-F238E27FC236}">
                  <a16:creationId xmlns:a16="http://schemas.microsoft.com/office/drawing/2014/main" id="{E5E78196-15D2-4626-9C7A-851003722783}"/>
                </a:ext>
              </a:extLst>
            </p:cNvPr>
            <p:cNvSpPr/>
            <p:nvPr/>
          </p:nvSpPr>
          <p:spPr>
            <a:xfrm flipH="1">
              <a:off x="2909888" y="3371999"/>
              <a:ext cx="528637" cy="1449388"/>
            </a:xfrm>
            <a:prstGeom prst="rtTriangl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63C8E25-FBAD-4364-82DE-8C9A2CAA3510}"/>
              </a:ext>
            </a:extLst>
          </p:cNvPr>
          <p:cNvGrpSpPr/>
          <p:nvPr/>
        </p:nvGrpSpPr>
        <p:grpSpPr>
          <a:xfrm>
            <a:off x="2894013" y="3197374"/>
            <a:ext cx="1057275" cy="2166938"/>
            <a:chOff x="1846263" y="2654449"/>
            <a:chExt cx="1057275" cy="2166938"/>
          </a:xfrm>
        </p:grpSpPr>
        <p:sp>
          <p:nvSpPr>
            <p:cNvPr id="16" name="直角三角形 15">
              <a:extLst>
                <a:ext uri="{FF2B5EF4-FFF2-40B4-BE49-F238E27FC236}">
                  <a16:creationId xmlns:a16="http://schemas.microsoft.com/office/drawing/2014/main" id="{D059FBA2-5613-41A7-9951-A5C624D26528}"/>
                </a:ext>
              </a:extLst>
            </p:cNvPr>
            <p:cNvSpPr/>
            <p:nvPr/>
          </p:nvSpPr>
          <p:spPr>
            <a:xfrm>
              <a:off x="2374900" y="2654449"/>
              <a:ext cx="528638" cy="2166938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直角三角形 16">
              <a:extLst>
                <a:ext uri="{FF2B5EF4-FFF2-40B4-BE49-F238E27FC236}">
                  <a16:creationId xmlns:a16="http://schemas.microsoft.com/office/drawing/2014/main" id="{7849EC1E-5E10-419E-B3EF-77A9EF7A02D7}"/>
                </a:ext>
              </a:extLst>
            </p:cNvPr>
            <p:cNvSpPr/>
            <p:nvPr/>
          </p:nvSpPr>
          <p:spPr>
            <a:xfrm flipH="1">
              <a:off x="1846263" y="2654449"/>
              <a:ext cx="528637" cy="2166938"/>
            </a:xfrm>
            <a:prstGeom prst="rtTriangl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6A592AF-3ED9-4029-A706-411754F358C4}"/>
              </a:ext>
            </a:extLst>
          </p:cNvPr>
          <p:cNvGrpSpPr/>
          <p:nvPr/>
        </p:nvGrpSpPr>
        <p:grpSpPr>
          <a:xfrm>
            <a:off x="1830388" y="2309962"/>
            <a:ext cx="1057275" cy="3054350"/>
            <a:chOff x="782638" y="1767037"/>
            <a:chExt cx="1057275" cy="3054350"/>
          </a:xfrm>
        </p:grpSpPr>
        <p:sp>
          <p:nvSpPr>
            <p:cNvPr id="19" name="直角三角形 18">
              <a:extLst>
                <a:ext uri="{FF2B5EF4-FFF2-40B4-BE49-F238E27FC236}">
                  <a16:creationId xmlns:a16="http://schemas.microsoft.com/office/drawing/2014/main" id="{2761E0AF-DC2E-4D7B-A119-F26BE2379C55}"/>
                </a:ext>
              </a:extLst>
            </p:cNvPr>
            <p:cNvSpPr/>
            <p:nvPr/>
          </p:nvSpPr>
          <p:spPr>
            <a:xfrm>
              <a:off x="1311275" y="1767037"/>
              <a:ext cx="528638" cy="3054350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20" name="直角三角形 19">
              <a:extLst>
                <a:ext uri="{FF2B5EF4-FFF2-40B4-BE49-F238E27FC236}">
                  <a16:creationId xmlns:a16="http://schemas.microsoft.com/office/drawing/2014/main" id="{13F94C69-536B-4E0E-9A26-8E1A1E4D83A8}"/>
                </a:ext>
              </a:extLst>
            </p:cNvPr>
            <p:cNvSpPr/>
            <p:nvPr/>
          </p:nvSpPr>
          <p:spPr>
            <a:xfrm flipH="1">
              <a:off x="782638" y="1767037"/>
              <a:ext cx="528637" cy="3054350"/>
            </a:xfrm>
            <a:prstGeom prst="rtTriangl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1" name="泪滴形 20">
            <a:extLst>
              <a:ext uri="{FF2B5EF4-FFF2-40B4-BE49-F238E27FC236}">
                <a16:creationId xmlns:a16="http://schemas.microsoft.com/office/drawing/2014/main" id="{24CA3B51-6258-4F93-B50F-3E35196A2CD9}"/>
              </a:ext>
            </a:extLst>
          </p:cNvPr>
          <p:cNvSpPr/>
          <p:nvPr/>
        </p:nvSpPr>
        <p:spPr>
          <a:xfrm>
            <a:off x="5543550" y="4280049"/>
            <a:ext cx="430213" cy="430213"/>
          </a:xfrm>
          <a:prstGeom prst="teardrop">
            <a:avLst/>
          </a:prstGeom>
          <a:solidFill>
            <a:srgbClr val="013B6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</a:p>
        </p:txBody>
      </p:sp>
      <p:sp>
        <p:nvSpPr>
          <p:cNvPr id="22" name="泪滴形 21">
            <a:extLst>
              <a:ext uri="{FF2B5EF4-FFF2-40B4-BE49-F238E27FC236}">
                <a16:creationId xmlns:a16="http://schemas.microsoft.com/office/drawing/2014/main" id="{F2B08193-75E7-4EE9-8106-59B8D1F68E37}"/>
              </a:ext>
            </a:extLst>
          </p:cNvPr>
          <p:cNvSpPr/>
          <p:nvPr/>
        </p:nvSpPr>
        <p:spPr>
          <a:xfrm>
            <a:off x="4492625" y="3486299"/>
            <a:ext cx="430213" cy="430213"/>
          </a:xfrm>
          <a:prstGeom prst="teardrop">
            <a:avLst/>
          </a:prstGeom>
          <a:solidFill>
            <a:srgbClr val="013B6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</a:p>
        </p:txBody>
      </p:sp>
      <p:sp>
        <p:nvSpPr>
          <p:cNvPr id="23" name="泪滴形 22">
            <a:extLst>
              <a:ext uri="{FF2B5EF4-FFF2-40B4-BE49-F238E27FC236}">
                <a16:creationId xmlns:a16="http://schemas.microsoft.com/office/drawing/2014/main" id="{78A3EDC5-DFB6-4410-ADC2-C0D5FD1BC1D4}"/>
              </a:ext>
            </a:extLst>
          </p:cNvPr>
          <p:cNvSpPr/>
          <p:nvPr/>
        </p:nvSpPr>
        <p:spPr>
          <a:xfrm>
            <a:off x="3429000" y="2852887"/>
            <a:ext cx="430213" cy="430212"/>
          </a:xfrm>
          <a:prstGeom prst="teardrop">
            <a:avLst/>
          </a:prstGeom>
          <a:solidFill>
            <a:srgbClr val="013B6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</a:p>
        </p:txBody>
      </p:sp>
      <p:sp>
        <p:nvSpPr>
          <p:cNvPr id="24" name="泪滴形 23">
            <a:extLst>
              <a:ext uri="{FF2B5EF4-FFF2-40B4-BE49-F238E27FC236}">
                <a16:creationId xmlns:a16="http://schemas.microsoft.com/office/drawing/2014/main" id="{4A4CCFE0-4D28-4154-A537-8BC464C14E46}"/>
              </a:ext>
            </a:extLst>
          </p:cNvPr>
          <p:cNvSpPr/>
          <p:nvPr/>
        </p:nvSpPr>
        <p:spPr>
          <a:xfrm>
            <a:off x="2408238" y="2000399"/>
            <a:ext cx="430212" cy="430213"/>
          </a:xfrm>
          <a:prstGeom prst="teardrop">
            <a:avLst/>
          </a:prstGeom>
          <a:solidFill>
            <a:srgbClr val="013B6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D4B77E-CAD0-4A8C-BA39-65DBCF1E7E99}"/>
              </a:ext>
            </a:extLst>
          </p:cNvPr>
          <p:cNvSpPr txBox="1"/>
          <p:nvPr/>
        </p:nvSpPr>
        <p:spPr>
          <a:xfrm>
            <a:off x="6343649" y="4408785"/>
            <a:ext cx="4714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多元回归预测、</a:t>
            </a:r>
            <a:r>
              <a:rPr lang="en-US" altLang="zh-CN" sz="2400" dirty="0"/>
              <a:t>Logistic</a:t>
            </a:r>
            <a:r>
              <a:rPr lang="zh-CN" altLang="en-US" sz="2400" dirty="0"/>
              <a:t>回归预测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A33F7A-8223-4005-9E68-C29C6ECB239D}"/>
              </a:ext>
            </a:extLst>
          </p:cNvPr>
          <p:cNvSpPr txBox="1"/>
          <p:nvPr/>
        </p:nvSpPr>
        <p:spPr>
          <a:xfrm>
            <a:off x="5321069" y="358335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灰色预测、（隐）马尔科夫链预测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1A0DD90-CF1B-4D02-A618-03A4EBC38E72}"/>
              </a:ext>
            </a:extLst>
          </p:cNvPr>
          <p:cNvSpPr txBox="1"/>
          <p:nvPr/>
        </p:nvSpPr>
        <p:spPr>
          <a:xfrm>
            <a:off x="4305406" y="280253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微分与差分方程预测、神经网络预测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35E771-0AC3-42BB-995D-302D08CC2D33}"/>
              </a:ext>
            </a:extLst>
          </p:cNvPr>
          <p:cNvSpPr txBox="1"/>
          <p:nvPr/>
        </p:nvSpPr>
        <p:spPr>
          <a:xfrm>
            <a:off x="3289744" y="199665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时间序列预测</a:t>
            </a:r>
          </a:p>
        </p:txBody>
      </p:sp>
    </p:spTree>
    <p:extLst>
      <p:ext uri="{BB962C8B-B14F-4D97-AF65-F5344CB8AC3E}">
        <p14:creationId xmlns:p14="http://schemas.microsoft.com/office/powerpoint/2010/main" val="4082670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5" grpId="0"/>
      <p:bldP spid="25" grpId="0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1.2.2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优化模型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A32BF0-2C84-4300-8B41-A432E50F39E9}"/>
              </a:ext>
            </a:extLst>
          </p:cNvPr>
          <p:cNvSpPr txBox="1"/>
          <p:nvPr/>
        </p:nvSpPr>
        <p:spPr>
          <a:xfrm>
            <a:off x="7243202" y="647919"/>
            <a:ext cx="48669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优化三要素：</a:t>
            </a:r>
            <a:endParaRPr lang="en-US" altLang="zh-CN" sz="3200" b="1" dirty="0"/>
          </a:p>
          <a:p>
            <a:r>
              <a:rPr lang="zh-CN" altLang="en-US" sz="2400" dirty="0"/>
              <a:t>决策变量、目标函数、约束条件</a:t>
            </a:r>
          </a:p>
        </p:txBody>
      </p:sp>
      <p:sp>
        <p:nvSpPr>
          <p:cNvPr id="9" name="任意多边形 16">
            <a:extLst>
              <a:ext uri="{FF2B5EF4-FFF2-40B4-BE49-F238E27FC236}">
                <a16:creationId xmlns:a16="http://schemas.microsoft.com/office/drawing/2014/main" id="{911EC28D-0CDA-4220-871D-ACF0C344A912}"/>
              </a:ext>
            </a:extLst>
          </p:cNvPr>
          <p:cNvSpPr/>
          <p:nvPr/>
        </p:nvSpPr>
        <p:spPr>
          <a:xfrm>
            <a:off x="2336800" y="2417826"/>
            <a:ext cx="2369495" cy="2526122"/>
          </a:xfrm>
          <a:custGeom>
            <a:avLst/>
            <a:gdLst>
              <a:gd name="connsiteX0" fmla="*/ 1053118 w 1755891"/>
              <a:gd name="connsiteY0" fmla="*/ 0 h 2106234"/>
              <a:gd name="connsiteX1" fmla="*/ 1755891 w 1755891"/>
              <a:gd name="connsiteY1" fmla="*/ 702773 h 2106234"/>
              <a:gd name="connsiteX2" fmla="*/ 1404155 w 1755891"/>
              <a:gd name="connsiteY2" fmla="*/ 1054508 h 2106234"/>
              <a:gd name="connsiteX3" fmla="*/ 1754500 w 1755891"/>
              <a:gd name="connsiteY3" fmla="*/ 1404852 h 2106234"/>
              <a:gd name="connsiteX4" fmla="*/ 1053118 w 1755891"/>
              <a:gd name="connsiteY4" fmla="*/ 2106234 h 2106234"/>
              <a:gd name="connsiteX5" fmla="*/ 0 w 1755891"/>
              <a:gd name="connsiteY5" fmla="*/ 1053117 h 210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55891" h="2106234">
                <a:moveTo>
                  <a:pt x="1053118" y="0"/>
                </a:moveTo>
                <a:lnTo>
                  <a:pt x="1755891" y="702773"/>
                </a:lnTo>
                <a:lnTo>
                  <a:pt x="1404155" y="1054508"/>
                </a:lnTo>
                <a:lnTo>
                  <a:pt x="1754500" y="1404852"/>
                </a:lnTo>
                <a:lnTo>
                  <a:pt x="1053118" y="2106234"/>
                </a:lnTo>
                <a:lnTo>
                  <a:pt x="0" y="1053117"/>
                </a:lnTo>
                <a:close/>
              </a:path>
            </a:pathLst>
          </a:custGeom>
          <a:solidFill>
            <a:srgbClr val="013B6D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1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规划类</a:t>
            </a:r>
          </a:p>
        </p:txBody>
      </p:sp>
      <p:sp>
        <p:nvSpPr>
          <p:cNvPr id="10" name="任意多边形 17">
            <a:extLst>
              <a:ext uri="{FF2B5EF4-FFF2-40B4-BE49-F238E27FC236}">
                <a16:creationId xmlns:a16="http://schemas.microsoft.com/office/drawing/2014/main" id="{4FC84153-EB10-415B-ABEC-A182EFA9041A}"/>
              </a:ext>
            </a:extLst>
          </p:cNvPr>
          <p:cNvSpPr/>
          <p:nvPr/>
        </p:nvSpPr>
        <p:spPr>
          <a:xfrm>
            <a:off x="4092574" y="2417826"/>
            <a:ext cx="2367353" cy="2526122"/>
          </a:xfrm>
          <a:custGeom>
            <a:avLst/>
            <a:gdLst>
              <a:gd name="connsiteX0" fmla="*/ 701384 w 1754501"/>
              <a:gd name="connsiteY0" fmla="*/ 0 h 2106234"/>
              <a:gd name="connsiteX1" fmla="*/ 1754501 w 1754501"/>
              <a:gd name="connsiteY1" fmla="*/ 1053117 h 2106234"/>
              <a:gd name="connsiteX2" fmla="*/ 701384 w 1754501"/>
              <a:gd name="connsiteY2" fmla="*/ 2106234 h 2106234"/>
              <a:gd name="connsiteX3" fmla="*/ 1391 w 1754501"/>
              <a:gd name="connsiteY3" fmla="*/ 1406241 h 2106234"/>
              <a:gd name="connsiteX4" fmla="*/ 353124 w 1754501"/>
              <a:gd name="connsiteY4" fmla="*/ 1054508 h 2106234"/>
              <a:gd name="connsiteX5" fmla="*/ 695 w 1754501"/>
              <a:gd name="connsiteY5" fmla="*/ 702079 h 2106234"/>
              <a:gd name="connsiteX6" fmla="*/ 695 w 1754501"/>
              <a:gd name="connsiteY6" fmla="*/ 702079 h 2106234"/>
              <a:gd name="connsiteX7" fmla="*/ 0 w 1754501"/>
              <a:gd name="connsiteY7" fmla="*/ 701384 h 210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54501" h="2106234">
                <a:moveTo>
                  <a:pt x="701384" y="0"/>
                </a:moveTo>
                <a:lnTo>
                  <a:pt x="1754501" y="1053117"/>
                </a:lnTo>
                <a:lnTo>
                  <a:pt x="701384" y="2106234"/>
                </a:lnTo>
                <a:lnTo>
                  <a:pt x="1391" y="1406241"/>
                </a:lnTo>
                <a:lnTo>
                  <a:pt x="353124" y="1054508"/>
                </a:lnTo>
                <a:lnTo>
                  <a:pt x="695" y="702079"/>
                </a:lnTo>
                <a:lnTo>
                  <a:pt x="695" y="702079"/>
                </a:lnTo>
                <a:lnTo>
                  <a:pt x="0" y="701384"/>
                </a:lnTo>
                <a:close/>
              </a:path>
            </a:pathLst>
          </a:custGeom>
          <a:solidFill>
            <a:srgbClr val="505050"/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其他类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0AB5C1D-0F7E-480F-9FC4-C98E22A60D99}"/>
              </a:ext>
            </a:extLst>
          </p:cNvPr>
          <p:cNvGrpSpPr/>
          <p:nvPr/>
        </p:nvGrpSpPr>
        <p:grpSpPr>
          <a:xfrm>
            <a:off x="1192678" y="1427868"/>
            <a:ext cx="2030367" cy="4012924"/>
            <a:chOff x="1726079" y="1356435"/>
            <a:chExt cx="1504484" cy="3346504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F56B1F2-E38E-4DA1-9EDC-3DD0B677E7BC}"/>
                </a:ext>
              </a:extLst>
            </p:cNvPr>
            <p:cNvCxnSpPr>
              <a:cxnSpLocks/>
              <a:stCxn id="18" idx="2"/>
              <a:endCxn id="17" idx="2"/>
            </p:cNvCxnSpPr>
            <p:nvPr/>
          </p:nvCxnSpPr>
          <p:spPr>
            <a:xfrm>
              <a:off x="2505587" y="1846760"/>
              <a:ext cx="724976" cy="316221"/>
            </a:xfrm>
            <a:prstGeom prst="line">
              <a:avLst/>
            </a:prstGeom>
            <a:ln w="19050">
              <a:solidFill>
                <a:srgbClr val="013B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D1543916-F5E0-44B7-9D9E-2F46F45C45A7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2197320" y="2657956"/>
              <a:ext cx="283943" cy="260675"/>
            </a:xfrm>
            <a:prstGeom prst="line">
              <a:avLst/>
            </a:prstGeom>
            <a:ln w="19050">
              <a:solidFill>
                <a:srgbClr val="013B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34691C1-E32E-4160-BE98-0C268FDFC60C}"/>
                </a:ext>
              </a:extLst>
            </p:cNvPr>
            <p:cNvCxnSpPr/>
            <p:nvPr/>
          </p:nvCxnSpPr>
          <p:spPr>
            <a:xfrm>
              <a:off x="2043113" y="3659994"/>
              <a:ext cx="447675" cy="0"/>
            </a:xfrm>
            <a:prstGeom prst="line">
              <a:avLst/>
            </a:prstGeom>
            <a:ln w="19050">
              <a:solidFill>
                <a:srgbClr val="013B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C5B51C18-D3DF-496E-A485-9CB04E7225DD}"/>
                </a:ext>
              </a:extLst>
            </p:cNvPr>
            <p:cNvCxnSpPr>
              <a:endCxn id="17" idx="0"/>
            </p:cNvCxnSpPr>
            <p:nvPr/>
          </p:nvCxnSpPr>
          <p:spPr>
            <a:xfrm flipV="1">
              <a:off x="2433638" y="4421994"/>
              <a:ext cx="741362" cy="30162"/>
            </a:xfrm>
            <a:prstGeom prst="line">
              <a:avLst/>
            </a:prstGeom>
            <a:ln w="19050">
              <a:solidFill>
                <a:srgbClr val="013B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C1436793-7150-4E74-BD74-5A6BFAA930A2}"/>
                </a:ext>
              </a:extLst>
            </p:cNvPr>
            <p:cNvSpPr/>
            <p:nvPr/>
          </p:nvSpPr>
          <p:spPr>
            <a:xfrm>
              <a:off x="2433638" y="2162981"/>
              <a:ext cx="796925" cy="2259013"/>
            </a:xfrm>
            <a:custGeom>
              <a:avLst/>
              <a:gdLst>
                <a:gd name="connsiteX0" fmla="*/ 1656184 w 1779897"/>
                <a:gd name="connsiteY0" fmla="*/ 0 h 5164353"/>
                <a:gd name="connsiteX1" fmla="*/ 1656184 w 1779897"/>
                <a:gd name="connsiteY1" fmla="*/ 5164353 h 5164353"/>
                <a:gd name="connsiteX2" fmla="*/ 0 w 1779897"/>
                <a:gd name="connsiteY2" fmla="*/ 2582176 h 5164353"/>
                <a:gd name="connsiteX3" fmla="*/ 1779897 w 1779897"/>
                <a:gd name="connsiteY3" fmla="*/ 123713 h 5164353"/>
                <a:gd name="connsiteX0" fmla="*/ 1656184 w 1779897"/>
                <a:gd name="connsiteY0" fmla="*/ 5040640 h 5040640"/>
                <a:gd name="connsiteX1" fmla="*/ 0 w 1779897"/>
                <a:gd name="connsiteY1" fmla="*/ 2458463 h 5040640"/>
                <a:gd name="connsiteX2" fmla="*/ 1779897 w 1779897"/>
                <a:gd name="connsiteY2" fmla="*/ 0 h 50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897" h="5040640">
                  <a:moveTo>
                    <a:pt x="1656184" y="5040640"/>
                  </a:moveTo>
                  <a:cubicBezTo>
                    <a:pt x="672218" y="4560603"/>
                    <a:pt x="0" y="3584328"/>
                    <a:pt x="0" y="2458463"/>
                  </a:cubicBezTo>
                  <a:cubicBezTo>
                    <a:pt x="0" y="1332599"/>
                    <a:pt x="672218" y="356323"/>
                    <a:pt x="1779897" y="0"/>
                  </a:cubicBezTo>
                </a:path>
              </a:pathLst>
            </a:custGeom>
            <a:noFill/>
            <a:ln w="76200" cmpd="sng">
              <a:solidFill>
                <a:srgbClr val="013B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6FAD0EE-2F34-40C7-8BBB-C91FA8B98473}"/>
                </a:ext>
              </a:extLst>
            </p:cNvPr>
            <p:cNvSpPr/>
            <p:nvPr/>
          </p:nvSpPr>
          <p:spPr>
            <a:xfrm rot="18723662">
              <a:off x="2017721" y="1472260"/>
              <a:ext cx="658687" cy="427037"/>
            </a:xfrm>
            <a:prstGeom prst="rect">
              <a:avLst/>
            </a:prstGeom>
            <a:solidFill>
              <a:srgbClr val="013B6D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线性规划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16FE36B-7B53-4950-860E-A7EBA07F0BF3}"/>
                </a:ext>
              </a:extLst>
            </p:cNvPr>
            <p:cNvSpPr/>
            <p:nvPr/>
          </p:nvSpPr>
          <p:spPr>
            <a:xfrm rot="18723662">
              <a:off x="1653646" y="2302722"/>
              <a:ext cx="771479" cy="425450"/>
            </a:xfrm>
            <a:prstGeom prst="rect">
              <a:avLst/>
            </a:prstGeom>
            <a:solidFill>
              <a:srgbClr val="013B6D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整数（</a:t>
              </a:r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）规划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EAD2904-9A87-4FCB-BD3E-1DF3A3F370F2}"/>
                </a:ext>
              </a:extLst>
            </p:cNvPr>
            <p:cNvSpPr/>
            <p:nvPr/>
          </p:nvSpPr>
          <p:spPr>
            <a:xfrm rot="18723662">
              <a:off x="1622635" y="3379898"/>
              <a:ext cx="632338" cy="425450"/>
            </a:xfrm>
            <a:prstGeom prst="rect">
              <a:avLst/>
            </a:prstGeom>
            <a:solidFill>
              <a:srgbClr val="013B6D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非线性规划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B8615C5-0CFA-4DC6-A414-C6B2B91AAD09}"/>
                </a:ext>
              </a:extLst>
            </p:cNvPr>
            <p:cNvSpPr/>
            <p:nvPr/>
          </p:nvSpPr>
          <p:spPr>
            <a:xfrm rot="18723662">
              <a:off x="1954259" y="4165542"/>
              <a:ext cx="647757" cy="427037"/>
            </a:xfrm>
            <a:prstGeom prst="rect">
              <a:avLst/>
            </a:prstGeom>
            <a:solidFill>
              <a:srgbClr val="013B6D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多目标规划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6F1929E-92ED-4A7A-AFF2-E6A600F0A351}"/>
              </a:ext>
            </a:extLst>
          </p:cNvPr>
          <p:cNvGrpSpPr/>
          <p:nvPr/>
        </p:nvGrpSpPr>
        <p:grpSpPr>
          <a:xfrm>
            <a:off x="5343524" y="1522136"/>
            <a:ext cx="2046943" cy="3946830"/>
            <a:chOff x="5876925" y="1437428"/>
            <a:chExt cx="1516767" cy="3291386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5D315D76-AB7D-4E16-8E9C-208AAE93C82C}"/>
                </a:ext>
              </a:extLst>
            </p:cNvPr>
            <p:cNvCxnSpPr>
              <a:cxnSpLocks/>
              <a:stCxn id="28" idx="2"/>
              <a:endCxn id="27" idx="2"/>
            </p:cNvCxnSpPr>
            <p:nvPr/>
          </p:nvCxnSpPr>
          <p:spPr>
            <a:xfrm flipH="1">
              <a:off x="5876925" y="1903449"/>
              <a:ext cx="740470" cy="297632"/>
            </a:xfrm>
            <a:prstGeom prst="line">
              <a:avLst/>
            </a:prstGeom>
            <a:ln w="19050">
              <a:solidFill>
                <a:srgbClr val="50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82B30675-4AF0-456B-91D7-3275611C6FAB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6627814" y="2770026"/>
              <a:ext cx="340889" cy="186705"/>
            </a:xfrm>
            <a:prstGeom prst="line">
              <a:avLst/>
            </a:prstGeom>
            <a:ln w="19050">
              <a:solidFill>
                <a:srgbClr val="50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F84834A-46F8-4803-B76D-941C921B825D}"/>
                </a:ext>
              </a:extLst>
            </p:cNvPr>
            <p:cNvCxnSpPr/>
            <p:nvPr/>
          </p:nvCxnSpPr>
          <p:spPr>
            <a:xfrm flipH="1">
              <a:off x="6616700" y="3699681"/>
              <a:ext cx="449263" cy="0"/>
            </a:xfrm>
            <a:prstGeom prst="line">
              <a:avLst/>
            </a:prstGeom>
            <a:ln w="19050">
              <a:solidFill>
                <a:srgbClr val="50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FF1A2527-949E-4D37-BAA7-ECDE12F3723B}"/>
                </a:ext>
              </a:extLst>
            </p:cNvPr>
            <p:cNvCxnSpPr>
              <a:endCxn id="27" idx="0"/>
            </p:cNvCxnSpPr>
            <p:nvPr/>
          </p:nvCxnSpPr>
          <p:spPr>
            <a:xfrm flipH="1" flipV="1">
              <a:off x="5932488" y="4461681"/>
              <a:ext cx="742950" cy="30163"/>
            </a:xfrm>
            <a:prstGeom prst="line">
              <a:avLst/>
            </a:prstGeom>
            <a:ln w="19050">
              <a:solidFill>
                <a:srgbClr val="50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16">
              <a:extLst>
                <a:ext uri="{FF2B5EF4-FFF2-40B4-BE49-F238E27FC236}">
                  <a16:creationId xmlns:a16="http://schemas.microsoft.com/office/drawing/2014/main" id="{8CA7A171-025C-4D5E-86C3-62062C52D0F9}"/>
                </a:ext>
              </a:extLst>
            </p:cNvPr>
            <p:cNvSpPr/>
            <p:nvPr/>
          </p:nvSpPr>
          <p:spPr>
            <a:xfrm flipH="1">
              <a:off x="5876925" y="2201081"/>
              <a:ext cx="798513" cy="2260600"/>
            </a:xfrm>
            <a:custGeom>
              <a:avLst/>
              <a:gdLst>
                <a:gd name="connsiteX0" fmla="*/ 1656184 w 1779897"/>
                <a:gd name="connsiteY0" fmla="*/ 0 h 5164353"/>
                <a:gd name="connsiteX1" fmla="*/ 1656184 w 1779897"/>
                <a:gd name="connsiteY1" fmla="*/ 5164353 h 5164353"/>
                <a:gd name="connsiteX2" fmla="*/ 0 w 1779897"/>
                <a:gd name="connsiteY2" fmla="*/ 2582176 h 5164353"/>
                <a:gd name="connsiteX3" fmla="*/ 1779897 w 1779897"/>
                <a:gd name="connsiteY3" fmla="*/ 123713 h 5164353"/>
                <a:gd name="connsiteX0" fmla="*/ 1656184 w 1779897"/>
                <a:gd name="connsiteY0" fmla="*/ 5040640 h 5040640"/>
                <a:gd name="connsiteX1" fmla="*/ 0 w 1779897"/>
                <a:gd name="connsiteY1" fmla="*/ 2458463 h 5040640"/>
                <a:gd name="connsiteX2" fmla="*/ 1779897 w 1779897"/>
                <a:gd name="connsiteY2" fmla="*/ 0 h 5040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897" h="5040640">
                  <a:moveTo>
                    <a:pt x="1656184" y="5040640"/>
                  </a:moveTo>
                  <a:cubicBezTo>
                    <a:pt x="672218" y="4560603"/>
                    <a:pt x="0" y="3584328"/>
                    <a:pt x="0" y="2458463"/>
                  </a:cubicBezTo>
                  <a:cubicBezTo>
                    <a:pt x="0" y="1332599"/>
                    <a:pt x="672218" y="356323"/>
                    <a:pt x="1779897" y="0"/>
                  </a:cubicBezTo>
                </a:path>
              </a:pathLst>
            </a:custGeom>
            <a:noFill/>
            <a:ln w="76200" cmpd="sng">
              <a:solidFill>
                <a:srgbClr val="50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56AEE78-8650-4E31-A2FB-EA9F6EB04F26}"/>
                </a:ext>
              </a:extLst>
            </p:cNvPr>
            <p:cNvSpPr/>
            <p:nvPr/>
          </p:nvSpPr>
          <p:spPr>
            <a:xfrm rot="2876338" flipH="1">
              <a:off x="6469690" y="1530341"/>
              <a:ext cx="611276" cy="425450"/>
            </a:xfrm>
            <a:prstGeom prst="rect">
              <a:avLst/>
            </a:prstGeom>
            <a:solidFill>
              <a:srgbClr val="50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动态规划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F78420A9-A455-468A-800B-FAD48A432AFD}"/>
                </a:ext>
              </a:extLst>
            </p:cNvPr>
            <p:cNvSpPr/>
            <p:nvPr/>
          </p:nvSpPr>
          <p:spPr>
            <a:xfrm rot="2876338" flipH="1">
              <a:off x="6816455" y="2396918"/>
              <a:ext cx="620363" cy="425450"/>
            </a:xfrm>
            <a:prstGeom prst="rect">
              <a:avLst/>
            </a:prstGeom>
            <a:solidFill>
              <a:srgbClr val="50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图论算法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A6337D4A-AC7D-4E3A-97EE-4990C62B8285}"/>
                </a:ext>
              </a:extLst>
            </p:cNvPr>
            <p:cNvSpPr/>
            <p:nvPr/>
          </p:nvSpPr>
          <p:spPr>
            <a:xfrm rot="2876338" flipH="1">
              <a:off x="6871383" y="3424475"/>
              <a:ext cx="619167" cy="425450"/>
            </a:xfrm>
            <a:prstGeom prst="rect">
              <a:avLst/>
            </a:prstGeom>
            <a:solidFill>
              <a:srgbClr val="50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神经网络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EC8E413-DEFD-480B-9771-B039CDB97C1C}"/>
                </a:ext>
              </a:extLst>
            </p:cNvPr>
            <p:cNvSpPr/>
            <p:nvPr/>
          </p:nvSpPr>
          <p:spPr>
            <a:xfrm rot="2876338" flipH="1">
              <a:off x="6599170" y="4245841"/>
              <a:ext cx="540497" cy="425450"/>
            </a:xfrm>
            <a:prstGeom prst="rect">
              <a:avLst/>
            </a:prstGeom>
            <a:solidFill>
              <a:srgbClr val="50505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智能优化</a:t>
              </a:r>
            </a:p>
          </p:txBody>
        </p:sp>
      </p:grpSp>
      <p:sp>
        <p:nvSpPr>
          <p:cNvPr id="35" name="矩形 34">
            <a:extLst>
              <a:ext uri="{FF2B5EF4-FFF2-40B4-BE49-F238E27FC236}">
                <a16:creationId xmlns:a16="http://schemas.microsoft.com/office/drawing/2014/main" id="{D9D08242-FC61-4ABE-8830-83C5FB13F71D}"/>
              </a:ext>
            </a:extLst>
          </p:cNvPr>
          <p:cNvSpPr/>
          <p:nvPr/>
        </p:nvSpPr>
        <p:spPr>
          <a:xfrm flipH="1">
            <a:off x="8208453" y="2052086"/>
            <a:ext cx="1066069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/>
              <a:t>Dijkstra</a:t>
            </a:r>
            <a:r>
              <a:rPr lang="zh-CN" altLang="en-US" sz="1400" dirty="0"/>
              <a:t>算法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D3AD648-626B-42E2-9CA2-CA86926B88B4}"/>
              </a:ext>
            </a:extLst>
          </p:cNvPr>
          <p:cNvSpPr/>
          <p:nvPr/>
        </p:nvSpPr>
        <p:spPr>
          <a:xfrm flipH="1">
            <a:off x="8244665" y="2988573"/>
            <a:ext cx="92463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floyd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2431791-C925-4815-9D1E-B0116316EC49}"/>
              </a:ext>
            </a:extLst>
          </p:cNvPr>
          <p:cNvSpPr/>
          <p:nvPr/>
        </p:nvSpPr>
        <p:spPr>
          <a:xfrm flipH="1">
            <a:off x="8349888" y="4340825"/>
            <a:ext cx="92463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粒子群算法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91B89E5-6FDB-4CD5-96C1-11426973E2B0}"/>
              </a:ext>
            </a:extLst>
          </p:cNvPr>
          <p:cNvSpPr/>
          <p:nvPr/>
        </p:nvSpPr>
        <p:spPr>
          <a:xfrm flipH="1">
            <a:off x="8349888" y="5184806"/>
            <a:ext cx="92463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模拟退火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C5AC6C5-F5B4-4043-8640-023454980029}"/>
              </a:ext>
            </a:extLst>
          </p:cNvPr>
          <p:cNvSpPr/>
          <p:nvPr/>
        </p:nvSpPr>
        <p:spPr>
          <a:xfrm flipH="1">
            <a:off x="8365662" y="6134990"/>
            <a:ext cx="92463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遗传算法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803B2A8-1FC6-42E8-B0E8-9CA2B8D1AF54}"/>
              </a:ext>
            </a:extLst>
          </p:cNvPr>
          <p:cNvSpPr/>
          <p:nvPr/>
        </p:nvSpPr>
        <p:spPr>
          <a:xfrm flipH="1">
            <a:off x="7018843" y="6144113"/>
            <a:ext cx="92463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蚁群算法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8AA4279-6088-493E-B551-5D6EB6F2D930}"/>
              </a:ext>
            </a:extLst>
          </p:cNvPr>
          <p:cNvSpPr/>
          <p:nvPr/>
        </p:nvSpPr>
        <p:spPr>
          <a:xfrm flipH="1">
            <a:off x="5579041" y="6144113"/>
            <a:ext cx="1136084" cy="574163"/>
          </a:xfrm>
          <a:prstGeom prst="rect">
            <a:avLst/>
          </a:prstGeom>
          <a:solidFill>
            <a:srgbClr val="50505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禁忌搜索算法</a:t>
            </a: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AC74F63-48D5-46AC-AE0F-9855D5CF9829}"/>
              </a:ext>
            </a:extLst>
          </p:cNvPr>
          <p:cNvCxnSpPr>
            <a:cxnSpLocks/>
            <a:stCxn id="31" idx="1"/>
            <a:endCxn id="42" idx="0"/>
          </p:cNvCxnSpPr>
          <p:nvPr/>
        </p:nvCxnSpPr>
        <p:spPr>
          <a:xfrm flipH="1">
            <a:off x="6147083" y="5385497"/>
            <a:ext cx="752953" cy="758616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8968AE6F-EFEF-4230-A9B6-CF94EF069ED9}"/>
              </a:ext>
            </a:extLst>
          </p:cNvPr>
          <p:cNvCxnSpPr>
            <a:cxnSpLocks/>
            <a:stCxn id="31" idx="1"/>
            <a:endCxn id="41" idx="0"/>
          </p:cNvCxnSpPr>
          <p:nvPr/>
        </p:nvCxnSpPr>
        <p:spPr>
          <a:xfrm>
            <a:off x="6900036" y="5385497"/>
            <a:ext cx="581124" cy="758616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8408CE3D-D8E6-4ACB-BD0B-D1E868A649A8}"/>
              </a:ext>
            </a:extLst>
          </p:cNvPr>
          <p:cNvCxnSpPr>
            <a:cxnSpLocks/>
            <a:stCxn id="31" idx="1"/>
            <a:endCxn id="40" idx="0"/>
          </p:cNvCxnSpPr>
          <p:nvPr/>
        </p:nvCxnSpPr>
        <p:spPr>
          <a:xfrm>
            <a:off x="6900036" y="5385497"/>
            <a:ext cx="1927943" cy="749493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FB6CA0EF-62F6-4A59-B7B0-98130948E473}"/>
              </a:ext>
            </a:extLst>
          </p:cNvPr>
          <p:cNvCxnSpPr>
            <a:cxnSpLocks/>
            <a:stCxn id="31" idx="1"/>
            <a:endCxn id="39" idx="3"/>
          </p:cNvCxnSpPr>
          <p:nvPr/>
        </p:nvCxnSpPr>
        <p:spPr>
          <a:xfrm>
            <a:off x="6900036" y="5385497"/>
            <a:ext cx="1449852" cy="86391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97842BFB-F21A-4997-96ED-0E4BE9E16EF2}"/>
              </a:ext>
            </a:extLst>
          </p:cNvPr>
          <p:cNvCxnSpPr>
            <a:cxnSpLocks/>
            <a:stCxn id="31" idx="1"/>
            <a:endCxn id="38" idx="3"/>
          </p:cNvCxnSpPr>
          <p:nvPr/>
        </p:nvCxnSpPr>
        <p:spPr>
          <a:xfrm flipV="1">
            <a:off x="6900036" y="4627907"/>
            <a:ext cx="1449852" cy="757590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CA10BEC-E93A-4B63-B123-7839D4159F97}"/>
              </a:ext>
            </a:extLst>
          </p:cNvPr>
          <p:cNvCxnSpPr>
            <a:cxnSpLocks/>
            <a:stCxn id="29" idx="0"/>
            <a:endCxn id="35" idx="3"/>
          </p:cNvCxnSpPr>
          <p:nvPr/>
        </p:nvCxnSpPr>
        <p:spPr>
          <a:xfrm flipV="1">
            <a:off x="7243202" y="2339168"/>
            <a:ext cx="965251" cy="396294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597B384-DAFD-48D8-9121-E691883383DA}"/>
              </a:ext>
            </a:extLst>
          </p:cNvPr>
          <p:cNvCxnSpPr>
            <a:cxnSpLocks/>
            <a:stCxn id="36" idx="3"/>
            <a:endCxn id="29" idx="0"/>
          </p:cNvCxnSpPr>
          <p:nvPr/>
        </p:nvCxnSpPr>
        <p:spPr>
          <a:xfrm flipH="1" flipV="1">
            <a:off x="7243202" y="2735462"/>
            <a:ext cx="1001463" cy="540193"/>
          </a:xfrm>
          <a:prstGeom prst="line">
            <a:avLst/>
          </a:prstGeom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236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9" grpId="0" animBg="1"/>
      <p:bldP spid="10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上箭头 4">
            <a:extLst>
              <a:ext uri="{FF2B5EF4-FFF2-40B4-BE49-F238E27FC236}">
                <a16:creationId xmlns:a16="http://schemas.microsoft.com/office/drawing/2014/main" id="{567F0694-A164-4C8F-8180-C6F83C4C6146}"/>
              </a:ext>
            </a:extLst>
          </p:cNvPr>
          <p:cNvSpPr/>
          <p:nvPr/>
        </p:nvSpPr>
        <p:spPr>
          <a:xfrm rot="9627410">
            <a:off x="10040418" y="1021144"/>
            <a:ext cx="1035597" cy="2433915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1.2.3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评价模型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上箭头 1">
            <a:extLst>
              <a:ext uri="{FF2B5EF4-FFF2-40B4-BE49-F238E27FC236}">
                <a16:creationId xmlns:a16="http://schemas.microsoft.com/office/drawing/2014/main" id="{6CE3D177-A1C1-4018-A79B-239646AC9157}"/>
              </a:ext>
            </a:extLst>
          </p:cNvPr>
          <p:cNvSpPr/>
          <p:nvPr/>
        </p:nvSpPr>
        <p:spPr>
          <a:xfrm>
            <a:off x="907415" y="3070772"/>
            <a:ext cx="1216081" cy="2200861"/>
          </a:xfrm>
          <a:prstGeom prst="up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0" name="上箭头 2">
            <a:extLst>
              <a:ext uri="{FF2B5EF4-FFF2-40B4-BE49-F238E27FC236}">
                <a16:creationId xmlns:a16="http://schemas.microsoft.com/office/drawing/2014/main" id="{EBB3B62B-72EE-4422-BCCD-F1F30E1B5C94}"/>
              </a:ext>
            </a:extLst>
          </p:cNvPr>
          <p:cNvSpPr/>
          <p:nvPr/>
        </p:nvSpPr>
        <p:spPr>
          <a:xfrm rot="611432">
            <a:off x="1396300" y="3219716"/>
            <a:ext cx="1177531" cy="2202613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2" name="上箭头 3">
            <a:extLst>
              <a:ext uri="{FF2B5EF4-FFF2-40B4-BE49-F238E27FC236}">
                <a16:creationId xmlns:a16="http://schemas.microsoft.com/office/drawing/2014/main" id="{F304121A-3068-43C2-B337-3893C6E69808}"/>
              </a:ext>
            </a:extLst>
          </p:cNvPr>
          <p:cNvSpPr/>
          <p:nvPr/>
        </p:nvSpPr>
        <p:spPr>
          <a:xfrm rot="1837769">
            <a:off x="1722223" y="3500081"/>
            <a:ext cx="1140734" cy="2200861"/>
          </a:xfrm>
          <a:prstGeom prst="up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3" name="上箭头 4">
            <a:extLst>
              <a:ext uri="{FF2B5EF4-FFF2-40B4-BE49-F238E27FC236}">
                <a16:creationId xmlns:a16="http://schemas.microsoft.com/office/drawing/2014/main" id="{88FE5758-8D61-418B-BE56-14967BE6F63D}"/>
              </a:ext>
            </a:extLst>
          </p:cNvPr>
          <p:cNvSpPr/>
          <p:nvPr/>
        </p:nvSpPr>
        <p:spPr>
          <a:xfrm rot="3250544">
            <a:off x="1794066" y="3780445"/>
            <a:ext cx="1035597" cy="2433915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4" name="上箭头 5">
            <a:extLst>
              <a:ext uri="{FF2B5EF4-FFF2-40B4-BE49-F238E27FC236}">
                <a16:creationId xmlns:a16="http://schemas.microsoft.com/office/drawing/2014/main" id="{0E52B2F5-103D-497B-BEF2-BE8573CC7BBB}"/>
              </a:ext>
            </a:extLst>
          </p:cNvPr>
          <p:cNvSpPr/>
          <p:nvPr/>
        </p:nvSpPr>
        <p:spPr>
          <a:xfrm rot="5400000">
            <a:off x="2956704" y="3765550"/>
            <a:ext cx="1095174" cy="3749875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39AC3E1-AB77-47C7-A0C2-79BFDDDC462C}"/>
              </a:ext>
            </a:extLst>
          </p:cNvPr>
          <p:cNvSpPr/>
          <p:nvPr/>
        </p:nvSpPr>
        <p:spPr bwMode="auto">
          <a:xfrm>
            <a:off x="929247" y="4859906"/>
            <a:ext cx="1296675" cy="1296677"/>
          </a:xfrm>
          <a:prstGeom prst="ellipse">
            <a:avLst/>
          </a:prstGeom>
          <a:solidFill>
            <a:srgbClr val="013B6D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>
                <a:solidFill>
                  <a:sysClr val="window" lastClr="FFFFFF"/>
                </a:solidFill>
                <a:latin typeface="Calibri"/>
                <a:ea typeface="微软雅黑" panose="020B0503020204020204" pitchFamily="34" charset="-122"/>
              </a:rPr>
              <a:t>优劣模型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D62DF5-D641-421B-B715-CDA712185913}"/>
              </a:ext>
            </a:extLst>
          </p:cNvPr>
          <p:cNvSpPr txBox="1"/>
          <p:nvPr/>
        </p:nvSpPr>
        <p:spPr>
          <a:xfrm>
            <a:off x="875912" y="263745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层次分析法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10CE75-9DE5-4A31-94F3-7696DEF67AEF}"/>
              </a:ext>
            </a:extLst>
          </p:cNvPr>
          <p:cNvSpPr txBox="1"/>
          <p:nvPr/>
        </p:nvSpPr>
        <p:spPr>
          <a:xfrm>
            <a:off x="3131562" y="3506833"/>
            <a:ext cx="2247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Topsis</a:t>
            </a:r>
            <a:r>
              <a:rPr lang="zh-CN" altLang="en-US" dirty="0"/>
              <a:t>优劣解距离法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58EB93-8835-4B4A-B340-F3B3E461BFF2}"/>
              </a:ext>
            </a:extLst>
          </p:cNvPr>
          <p:cNvSpPr txBox="1"/>
          <p:nvPr/>
        </p:nvSpPr>
        <p:spPr>
          <a:xfrm>
            <a:off x="2360643" y="29666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熵权法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2B026C2-8E79-4255-8E0D-49016ECFB10F}"/>
              </a:ext>
            </a:extLst>
          </p:cNvPr>
          <p:cNvSpPr txBox="1"/>
          <p:nvPr/>
        </p:nvSpPr>
        <p:spPr>
          <a:xfrm>
            <a:off x="3691145" y="41647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秩和比综合评价法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E7037CB-EA0B-45E2-A964-0F79575F0704}"/>
              </a:ext>
            </a:extLst>
          </p:cNvPr>
          <p:cNvSpPr txBox="1"/>
          <p:nvPr/>
        </p:nvSpPr>
        <p:spPr>
          <a:xfrm>
            <a:off x="5019470" y="483290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数据包络分析法</a:t>
            </a:r>
          </a:p>
        </p:txBody>
      </p:sp>
      <p:sp>
        <p:nvSpPr>
          <p:cNvPr id="26" name="上箭头 1">
            <a:extLst>
              <a:ext uri="{FF2B5EF4-FFF2-40B4-BE49-F238E27FC236}">
                <a16:creationId xmlns:a16="http://schemas.microsoft.com/office/drawing/2014/main" id="{1B445F47-9735-46E0-B6F8-FF392BE69CC2}"/>
              </a:ext>
            </a:extLst>
          </p:cNvPr>
          <p:cNvSpPr/>
          <p:nvPr/>
        </p:nvSpPr>
        <p:spPr>
          <a:xfrm rot="10800000">
            <a:off x="9382316" y="1508422"/>
            <a:ext cx="1216081" cy="2200861"/>
          </a:xfrm>
          <a:prstGeom prst="up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7" name="上箭头 2">
            <a:extLst>
              <a:ext uri="{FF2B5EF4-FFF2-40B4-BE49-F238E27FC236}">
                <a16:creationId xmlns:a16="http://schemas.microsoft.com/office/drawing/2014/main" id="{0BDA25F9-05F6-489C-B168-BE2763AF0338}"/>
              </a:ext>
            </a:extLst>
          </p:cNvPr>
          <p:cNvSpPr/>
          <p:nvPr/>
        </p:nvSpPr>
        <p:spPr>
          <a:xfrm rot="11411432">
            <a:off x="8849100" y="1305244"/>
            <a:ext cx="1177531" cy="2202613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8" name="上箭头 3">
            <a:extLst>
              <a:ext uri="{FF2B5EF4-FFF2-40B4-BE49-F238E27FC236}">
                <a16:creationId xmlns:a16="http://schemas.microsoft.com/office/drawing/2014/main" id="{FEE59CA4-1527-496D-87FC-9F4292C7B148}"/>
              </a:ext>
            </a:extLst>
          </p:cNvPr>
          <p:cNvSpPr/>
          <p:nvPr/>
        </p:nvSpPr>
        <p:spPr>
          <a:xfrm rot="12637769">
            <a:off x="8452563" y="1045428"/>
            <a:ext cx="1140734" cy="2200861"/>
          </a:xfrm>
          <a:prstGeom prst="upArrow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29" name="上箭头 4">
            <a:extLst>
              <a:ext uri="{FF2B5EF4-FFF2-40B4-BE49-F238E27FC236}">
                <a16:creationId xmlns:a16="http://schemas.microsoft.com/office/drawing/2014/main" id="{5917889E-D5AC-498C-9647-9A5003507B18}"/>
              </a:ext>
            </a:extLst>
          </p:cNvPr>
          <p:cNvSpPr/>
          <p:nvPr/>
        </p:nvSpPr>
        <p:spPr>
          <a:xfrm rot="14050544">
            <a:off x="8242532" y="275659"/>
            <a:ext cx="1035597" cy="2433915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0" name="上箭头 5">
            <a:extLst>
              <a:ext uri="{FF2B5EF4-FFF2-40B4-BE49-F238E27FC236}">
                <a16:creationId xmlns:a16="http://schemas.microsoft.com/office/drawing/2014/main" id="{2FA2A66B-E915-48E6-8599-5EACECAA8B8E}"/>
              </a:ext>
            </a:extLst>
          </p:cNvPr>
          <p:cNvSpPr/>
          <p:nvPr/>
        </p:nvSpPr>
        <p:spPr>
          <a:xfrm rot="16200000">
            <a:off x="7463841" y="-835234"/>
            <a:ext cx="1095174" cy="3749875"/>
          </a:xfrm>
          <a:prstGeom prst="upArrow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Calibri"/>
              <a:ea typeface="微软雅黑" panose="020B0503020204020204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0546B501-9207-483D-BE5F-5E9139323411}"/>
              </a:ext>
            </a:extLst>
          </p:cNvPr>
          <p:cNvSpPr/>
          <p:nvPr/>
        </p:nvSpPr>
        <p:spPr bwMode="auto">
          <a:xfrm>
            <a:off x="9301722" y="391366"/>
            <a:ext cx="1296675" cy="1296677"/>
          </a:xfrm>
          <a:prstGeom prst="ellipse">
            <a:avLst/>
          </a:prstGeom>
          <a:solidFill>
            <a:srgbClr val="013B6D"/>
          </a:solidFill>
          <a:ln w="6350" cap="flat" cmpd="sng" algn="ctr">
            <a:noFill/>
            <a:prstDash val="solid"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kern="0" dirty="0">
                <a:solidFill>
                  <a:sysClr val="window" lastClr="FFFFFF"/>
                </a:solidFill>
                <a:latin typeface="Calibri"/>
                <a:ea typeface="微软雅黑" panose="020B0503020204020204" pitchFamily="34" charset="-122"/>
              </a:rPr>
              <a:t>分类模型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723A88-155E-4413-B642-63646EB88820}"/>
              </a:ext>
            </a:extLst>
          </p:cNvPr>
          <p:cNvSpPr txBox="1"/>
          <p:nvPr/>
        </p:nvSpPr>
        <p:spPr>
          <a:xfrm>
            <a:off x="4773418" y="8811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主成分分析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3696A52-2AD3-40C0-9107-896D0B828480}"/>
              </a:ext>
            </a:extLst>
          </p:cNvPr>
          <p:cNvSpPr txBox="1"/>
          <p:nvPr/>
        </p:nvSpPr>
        <p:spPr>
          <a:xfrm>
            <a:off x="6517465" y="196901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因子分析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E8AEE53-4BA8-4288-A36D-339F6F06D010}"/>
              </a:ext>
            </a:extLst>
          </p:cNvPr>
          <p:cNvSpPr txBox="1"/>
          <p:nvPr/>
        </p:nvSpPr>
        <p:spPr>
          <a:xfrm>
            <a:off x="7091416" y="2931224"/>
            <a:ext cx="1165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K-Means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EEA35A7-7285-4156-B7BC-5D43656DCC75}"/>
              </a:ext>
            </a:extLst>
          </p:cNvPr>
          <p:cNvSpPr txBox="1"/>
          <p:nvPr/>
        </p:nvSpPr>
        <p:spPr>
          <a:xfrm>
            <a:off x="8330647" y="3430269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KNN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27C1297-F265-4C20-8C32-F27811EEA48B}"/>
              </a:ext>
            </a:extLst>
          </p:cNvPr>
          <p:cNvSpPr txBox="1"/>
          <p:nvPr/>
        </p:nvSpPr>
        <p:spPr>
          <a:xfrm>
            <a:off x="9261153" y="38652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典型相关分析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A01CEDB-5209-4E39-B1F1-1D8CF941C59B}"/>
              </a:ext>
            </a:extLst>
          </p:cNvPr>
          <p:cNvSpPr txBox="1"/>
          <p:nvPr/>
        </p:nvSpPr>
        <p:spPr>
          <a:xfrm>
            <a:off x="10830813" y="34490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支持向量机</a:t>
            </a:r>
          </a:p>
        </p:txBody>
      </p:sp>
    </p:spTree>
    <p:extLst>
      <p:ext uri="{BB962C8B-B14F-4D97-AF65-F5344CB8AC3E}">
        <p14:creationId xmlns:p14="http://schemas.microsoft.com/office/powerpoint/2010/main" val="66109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3" grpId="0"/>
      <p:bldP spid="5" grpId="0"/>
      <p:bldP spid="18" grpId="0"/>
      <p:bldP spid="19" grpId="0"/>
      <p:bldP spid="20" grpId="0"/>
      <p:bldP spid="21" grpId="0"/>
      <p:bldP spid="34" grpId="0"/>
      <p:bldP spid="35" grpId="0"/>
      <p:bldP spid="36" grpId="0"/>
      <p:bldP spid="37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1.2.4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模型补充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C35480-4D4B-4958-BAFA-69A4ADDB0923}"/>
              </a:ext>
            </a:extLst>
          </p:cNvPr>
          <p:cNvGrpSpPr/>
          <p:nvPr/>
        </p:nvGrpSpPr>
        <p:grpSpPr>
          <a:xfrm>
            <a:off x="3932972" y="1929687"/>
            <a:ext cx="3244632" cy="3246505"/>
            <a:chOff x="2995077" y="1665130"/>
            <a:chExt cx="3244632" cy="3246505"/>
          </a:xfrm>
        </p:grpSpPr>
        <p:sp>
          <p:nvSpPr>
            <p:cNvPr id="10" name="任意多边形 2">
              <a:extLst>
                <a:ext uri="{FF2B5EF4-FFF2-40B4-BE49-F238E27FC236}">
                  <a16:creationId xmlns:a16="http://schemas.microsoft.com/office/drawing/2014/main" id="{FED7351E-A056-417B-9294-6FEE93F5288F}"/>
                </a:ext>
              </a:extLst>
            </p:cNvPr>
            <p:cNvSpPr/>
            <p:nvPr/>
          </p:nvSpPr>
          <p:spPr>
            <a:xfrm>
              <a:off x="3034417" y="1665130"/>
              <a:ext cx="2062552" cy="1586723"/>
            </a:xfrm>
            <a:custGeom>
              <a:avLst/>
              <a:gdLst>
                <a:gd name="connsiteX0" fmla="*/ 861692 w 1747878"/>
                <a:gd name="connsiteY0" fmla="*/ 0 h 1344614"/>
                <a:gd name="connsiteX1" fmla="*/ 934956 w 1747878"/>
                <a:gd name="connsiteY1" fmla="*/ 30347 h 1344614"/>
                <a:gd name="connsiteX2" fmla="*/ 1717531 w 1747878"/>
                <a:gd name="connsiteY2" fmla="*/ 812922 h 1344614"/>
                <a:gd name="connsiteX3" fmla="*/ 1717531 w 1747878"/>
                <a:gd name="connsiteY3" fmla="*/ 959450 h 1344614"/>
                <a:gd name="connsiteX4" fmla="*/ 1332367 w 1747878"/>
                <a:gd name="connsiteY4" fmla="*/ 1344614 h 1344614"/>
                <a:gd name="connsiteX5" fmla="*/ 934957 w 1747878"/>
                <a:gd name="connsiteY5" fmla="*/ 947205 h 1344614"/>
                <a:gd name="connsiteX6" fmla="*/ 788429 w 1747878"/>
                <a:gd name="connsiteY6" fmla="*/ 947205 h 1344614"/>
                <a:gd name="connsiteX7" fmla="*/ 415512 w 1747878"/>
                <a:gd name="connsiteY7" fmla="*/ 1320122 h 1344614"/>
                <a:gd name="connsiteX8" fmla="*/ 30347 w 1747878"/>
                <a:gd name="connsiteY8" fmla="*/ 934957 h 1344614"/>
                <a:gd name="connsiteX9" fmla="*/ 30347 w 1747878"/>
                <a:gd name="connsiteY9" fmla="*/ 788429 h 1344614"/>
                <a:gd name="connsiteX10" fmla="*/ 788428 w 1747878"/>
                <a:gd name="connsiteY10" fmla="*/ 30347 h 1344614"/>
                <a:gd name="connsiteX11" fmla="*/ 861692 w 1747878"/>
                <a:gd name="connsiteY11" fmla="*/ 0 h 1344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47878" h="1344614">
                  <a:moveTo>
                    <a:pt x="861692" y="0"/>
                  </a:moveTo>
                  <a:cubicBezTo>
                    <a:pt x="888209" y="0"/>
                    <a:pt x="914725" y="10116"/>
                    <a:pt x="934956" y="30347"/>
                  </a:cubicBezTo>
                  <a:lnTo>
                    <a:pt x="1717531" y="812922"/>
                  </a:lnTo>
                  <a:cubicBezTo>
                    <a:pt x="1757994" y="853385"/>
                    <a:pt x="1757994" y="918988"/>
                    <a:pt x="1717531" y="959450"/>
                  </a:cubicBezTo>
                  <a:lnTo>
                    <a:pt x="1332367" y="1344614"/>
                  </a:lnTo>
                  <a:lnTo>
                    <a:pt x="934957" y="947205"/>
                  </a:lnTo>
                  <a:cubicBezTo>
                    <a:pt x="894494" y="906741"/>
                    <a:pt x="828892" y="906742"/>
                    <a:pt x="788429" y="947205"/>
                  </a:cubicBezTo>
                  <a:lnTo>
                    <a:pt x="415512" y="1320122"/>
                  </a:lnTo>
                  <a:lnTo>
                    <a:pt x="30347" y="934957"/>
                  </a:lnTo>
                  <a:cubicBezTo>
                    <a:pt x="-10116" y="894494"/>
                    <a:pt x="-10116" y="828891"/>
                    <a:pt x="30347" y="788429"/>
                  </a:cubicBezTo>
                  <a:lnTo>
                    <a:pt x="788428" y="30347"/>
                  </a:lnTo>
                  <a:cubicBezTo>
                    <a:pt x="808660" y="10115"/>
                    <a:pt x="835176" y="0"/>
                    <a:pt x="861692" y="0"/>
                  </a:cubicBezTo>
                  <a:close/>
                </a:path>
              </a:pathLst>
            </a:cu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2160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蒙特卡洛</a:t>
              </a:r>
            </a:p>
          </p:txBody>
        </p:sp>
        <p:sp>
          <p:nvSpPr>
            <p:cNvPr id="12" name="任意多边形 3">
              <a:extLst>
                <a:ext uri="{FF2B5EF4-FFF2-40B4-BE49-F238E27FC236}">
                  <a16:creationId xmlns:a16="http://schemas.microsoft.com/office/drawing/2014/main" id="{C58B80FF-453A-430D-A3BD-39E0130881A9}"/>
                </a:ext>
              </a:extLst>
            </p:cNvPr>
            <p:cNvSpPr/>
            <p:nvPr/>
          </p:nvSpPr>
          <p:spPr>
            <a:xfrm>
              <a:off x="4643620" y="1702597"/>
              <a:ext cx="1596089" cy="2062552"/>
            </a:xfrm>
            <a:custGeom>
              <a:avLst/>
              <a:gdLst>
                <a:gd name="connsiteX0" fmla="*/ 506101 w 1352638"/>
                <a:gd name="connsiteY0" fmla="*/ 15 h 1747216"/>
                <a:gd name="connsiteX1" fmla="*/ 578824 w 1352638"/>
                <a:gd name="connsiteY1" fmla="*/ 31636 h 1747216"/>
                <a:gd name="connsiteX2" fmla="*/ 1323560 w 1352638"/>
                <a:gd name="connsiteY2" fmla="*/ 802833 h 1747216"/>
                <a:gd name="connsiteX3" fmla="*/ 1352623 w 1352638"/>
                <a:gd name="connsiteY3" fmla="*/ 876615 h 1747216"/>
                <a:gd name="connsiteX4" fmla="*/ 1321003 w 1352638"/>
                <a:gd name="connsiteY4" fmla="*/ 949338 h 1747216"/>
                <a:gd name="connsiteX5" fmla="*/ 524889 w 1352638"/>
                <a:gd name="connsiteY5" fmla="*/ 1718136 h 1747216"/>
                <a:gd name="connsiteX6" fmla="*/ 378383 w 1352638"/>
                <a:gd name="connsiteY6" fmla="*/ 1715579 h 1747216"/>
                <a:gd name="connsiteX7" fmla="*/ 0 w 1352638"/>
                <a:gd name="connsiteY7" fmla="*/ 1323752 h 1747216"/>
                <a:gd name="connsiteX8" fmla="*/ 404285 w 1352638"/>
                <a:gd name="connsiteY8" fmla="*/ 933338 h 1747216"/>
                <a:gd name="connsiteX9" fmla="*/ 406842 w 1352638"/>
                <a:gd name="connsiteY9" fmla="*/ 786833 h 1747216"/>
                <a:gd name="connsiteX10" fmla="*/ 40490 w 1352638"/>
                <a:gd name="connsiteY10" fmla="*/ 407463 h 1747216"/>
                <a:gd name="connsiteX11" fmla="*/ 432318 w 1352638"/>
                <a:gd name="connsiteY11" fmla="*/ 29079 h 1747216"/>
                <a:gd name="connsiteX12" fmla="*/ 506101 w 1352638"/>
                <a:gd name="connsiteY12" fmla="*/ 15 h 1747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52638" h="1747216">
                  <a:moveTo>
                    <a:pt x="506101" y="15"/>
                  </a:moveTo>
                  <a:cubicBezTo>
                    <a:pt x="532613" y="478"/>
                    <a:pt x="558949" y="11055"/>
                    <a:pt x="578824" y="31636"/>
                  </a:cubicBezTo>
                  <a:lnTo>
                    <a:pt x="1323560" y="802833"/>
                  </a:lnTo>
                  <a:cubicBezTo>
                    <a:pt x="1343435" y="823414"/>
                    <a:pt x="1353086" y="850103"/>
                    <a:pt x="1352623" y="876615"/>
                  </a:cubicBezTo>
                  <a:cubicBezTo>
                    <a:pt x="1352161" y="903128"/>
                    <a:pt x="1341584" y="929463"/>
                    <a:pt x="1321003" y="949338"/>
                  </a:cubicBezTo>
                  <a:lnTo>
                    <a:pt x="524889" y="1718136"/>
                  </a:lnTo>
                  <a:cubicBezTo>
                    <a:pt x="483726" y="1757887"/>
                    <a:pt x="418134" y="1756742"/>
                    <a:pt x="378383" y="1715579"/>
                  </a:cubicBezTo>
                  <a:lnTo>
                    <a:pt x="0" y="1323752"/>
                  </a:lnTo>
                  <a:lnTo>
                    <a:pt x="404285" y="933338"/>
                  </a:lnTo>
                  <a:cubicBezTo>
                    <a:pt x="445448" y="893587"/>
                    <a:pt x="446593" y="827995"/>
                    <a:pt x="406842" y="786833"/>
                  </a:cubicBezTo>
                  <a:lnTo>
                    <a:pt x="40490" y="407463"/>
                  </a:lnTo>
                  <a:lnTo>
                    <a:pt x="432318" y="29079"/>
                  </a:lnTo>
                  <a:cubicBezTo>
                    <a:pt x="452900" y="9204"/>
                    <a:pt x="479589" y="-448"/>
                    <a:pt x="506101" y="15"/>
                  </a:cubicBezTo>
                  <a:close/>
                </a:path>
              </a:pathLst>
            </a:cu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216000" bIns="0" anchor="ctr"/>
            <a:lstStyle/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元胞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自动机</a:t>
              </a:r>
            </a:p>
          </p:txBody>
        </p:sp>
        <p:sp>
          <p:nvSpPr>
            <p:cNvPr id="13" name="任意多边形 4">
              <a:extLst>
                <a:ext uri="{FF2B5EF4-FFF2-40B4-BE49-F238E27FC236}">
                  <a16:creationId xmlns:a16="http://schemas.microsoft.com/office/drawing/2014/main" id="{78ED4697-DEEB-4139-9BB6-62158076CCED}"/>
                </a:ext>
              </a:extLst>
            </p:cNvPr>
            <p:cNvSpPr/>
            <p:nvPr/>
          </p:nvSpPr>
          <p:spPr>
            <a:xfrm>
              <a:off x="4132196" y="3315546"/>
              <a:ext cx="2062552" cy="1596089"/>
            </a:xfrm>
            <a:custGeom>
              <a:avLst/>
              <a:gdLst>
                <a:gd name="connsiteX0" fmla="*/ 423464 w 1747216"/>
                <a:gd name="connsiteY0" fmla="*/ 0 h 1352638"/>
                <a:gd name="connsiteX1" fmla="*/ 813877 w 1747216"/>
                <a:gd name="connsiteY1" fmla="*/ 404285 h 1352638"/>
                <a:gd name="connsiteX2" fmla="*/ 960383 w 1747216"/>
                <a:gd name="connsiteY2" fmla="*/ 406842 h 1352638"/>
                <a:gd name="connsiteX3" fmla="*/ 1339752 w 1747216"/>
                <a:gd name="connsiteY3" fmla="*/ 40490 h 1352638"/>
                <a:gd name="connsiteX4" fmla="*/ 1718136 w 1747216"/>
                <a:gd name="connsiteY4" fmla="*/ 432318 h 1352638"/>
                <a:gd name="connsiteX5" fmla="*/ 1715579 w 1747216"/>
                <a:gd name="connsiteY5" fmla="*/ 578824 h 1352638"/>
                <a:gd name="connsiteX6" fmla="*/ 944383 w 1747216"/>
                <a:gd name="connsiteY6" fmla="*/ 1323560 h 1352638"/>
                <a:gd name="connsiteX7" fmla="*/ 870600 w 1747216"/>
                <a:gd name="connsiteY7" fmla="*/ 1352623 h 1352638"/>
                <a:gd name="connsiteX8" fmla="*/ 797877 w 1747216"/>
                <a:gd name="connsiteY8" fmla="*/ 1321003 h 1352638"/>
                <a:gd name="connsiteX9" fmla="*/ 29079 w 1747216"/>
                <a:gd name="connsiteY9" fmla="*/ 524889 h 1352638"/>
                <a:gd name="connsiteX10" fmla="*/ 31636 w 1747216"/>
                <a:gd name="connsiteY10" fmla="*/ 378383 h 135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47216" h="1352638">
                  <a:moveTo>
                    <a:pt x="423464" y="0"/>
                  </a:moveTo>
                  <a:lnTo>
                    <a:pt x="813877" y="404285"/>
                  </a:lnTo>
                  <a:cubicBezTo>
                    <a:pt x="853628" y="445448"/>
                    <a:pt x="919220" y="446592"/>
                    <a:pt x="960383" y="406842"/>
                  </a:cubicBezTo>
                  <a:lnTo>
                    <a:pt x="1339752" y="40490"/>
                  </a:lnTo>
                  <a:lnTo>
                    <a:pt x="1718136" y="432318"/>
                  </a:lnTo>
                  <a:cubicBezTo>
                    <a:pt x="1757887" y="473481"/>
                    <a:pt x="1756742" y="539074"/>
                    <a:pt x="1715579" y="578824"/>
                  </a:cubicBezTo>
                  <a:lnTo>
                    <a:pt x="944383" y="1323560"/>
                  </a:lnTo>
                  <a:cubicBezTo>
                    <a:pt x="923801" y="1343435"/>
                    <a:pt x="897113" y="1353086"/>
                    <a:pt x="870600" y="1352623"/>
                  </a:cubicBezTo>
                  <a:cubicBezTo>
                    <a:pt x="844088" y="1352161"/>
                    <a:pt x="817752" y="1341584"/>
                    <a:pt x="797877" y="1321003"/>
                  </a:cubicBezTo>
                  <a:lnTo>
                    <a:pt x="29079" y="524889"/>
                  </a:lnTo>
                  <a:cubicBezTo>
                    <a:pt x="-10671" y="483726"/>
                    <a:pt x="-9526" y="418134"/>
                    <a:pt x="31636" y="378383"/>
                  </a:cubicBezTo>
                  <a:close/>
                </a:path>
              </a:pathLst>
            </a:cu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1600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严谨性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论证</a:t>
              </a:r>
            </a:p>
          </p:txBody>
        </p:sp>
        <p:sp>
          <p:nvSpPr>
            <p:cNvPr id="9" name="任意多边形 1">
              <a:extLst>
                <a:ext uri="{FF2B5EF4-FFF2-40B4-BE49-F238E27FC236}">
                  <a16:creationId xmlns:a16="http://schemas.microsoft.com/office/drawing/2014/main" id="{9EFA7A1C-405B-4E85-855E-D9D4BF0C4FA5}"/>
                </a:ext>
              </a:extLst>
            </p:cNvPr>
            <p:cNvSpPr/>
            <p:nvPr/>
          </p:nvSpPr>
          <p:spPr>
            <a:xfrm>
              <a:off x="2995077" y="2798504"/>
              <a:ext cx="1596089" cy="2060678"/>
            </a:xfrm>
            <a:custGeom>
              <a:avLst/>
              <a:gdLst>
                <a:gd name="connsiteX0" fmla="*/ 901532 w 1352638"/>
                <a:gd name="connsiteY0" fmla="*/ 16 h 1747217"/>
                <a:gd name="connsiteX1" fmla="*/ 974255 w 1352638"/>
                <a:gd name="connsiteY1" fmla="*/ 31637 h 1747217"/>
                <a:gd name="connsiteX2" fmla="*/ 1352638 w 1352638"/>
                <a:gd name="connsiteY2" fmla="*/ 423465 h 1747217"/>
                <a:gd name="connsiteX3" fmla="*/ 948354 w 1352638"/>
                <a:gd name="connsiteY3" fmla="*/ 813878 h 1747217"/>
                <a:gd name="connsiteX4" fmla="*/ 945796 w 1352638"/>
                <a:gd name="connsiteY4" fmla="*/ 960384 h 1747217"/>
                <a:gd name="connsiteX5" fmla="*/ 1312149 w 1352638"/>
                <a:gd name="connsiteY5" fmla="*/ 1339753 h 1747217"/>
                <a:gd name="connsiteX6" fmla="*/ 920320 w 1352638"/>
                <a:gd name="connsiteY6" fmla="*/ 1718137 h 1747217"/>
                <a:gd name="connsiteX7" fmla="*/ 773814 w 1352638"/>
                <a:gd name="connsiteY7" fmla="*/ 1715580 h 1747217"/>
                <a:gd name="connsiteX8" fmla="*/ 29079 w 1352638"/>
                <a:gd name="connsiteY8" fmla="*/ 944384 h 1747217"/>
                <a:gd name="connsiteX9" fmla="*/ 15 w 1352638"/>
                <a:gd name="connsiteY9" fmla="*/ 870601 h 1747217"/>
                <a:gd name="connsiteX10" fmla="*/ 31636 w 1352638"/>
                <a:gd name="connsiteY10" fmla="*/ 797878 h 1747217"/>
                <a:gd name="connsiteX11" fmla="*/ 827749 w 1352638"/>
                <a:gd name="connsiteY11" fmla="*/ 29080 h 1747217"/>
                <a:gd name="connsiteX12" fmla="*/ 901532 w 1352638"/>
                <a:gd name="connsiteY12" fmla="*/ 16 h 1747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52638" h="1747217">
                  <a:moveTo>
                    <a:pt x="901532" y="16"/>
                  </a:moveTo>
                  <a:cubicBezTo>
                    <a:pt x="928044" y="479"/>
                    <a:pt x="954380" y="11056"/>
                    <a:pt x="974255" y="31637"/>
                  </a:cubicBezTo>
                  <a:lnTo>
                    <a:pt x="1352638" y="423465"/>
                  </a:lnTo>
                  <a:lnTo>
                    <a:pt x="948354" y="813878"/>
                  </a:lnTo>
                  <a:cubicBezTo>
                    <a:pt x="907190" y="853629"/>
                    <a:pt x="906046" y="919221"/>
                    <a:pt x="945796" y="960384"/>
                  </a:cubicBezTo>
                  <a:lnTo>
                    <a:pt x="1312149" y="1339753"/>
                  </a:lnTo>
                  <a:lnTo>
                    <a:pt x="920320" y="1718137"/>
                  </a:lnTo>
                  <a:cubicBezTo>
                    <a:pt x="879157" y="1757888"/>
                    <a:pt x="813565" y="1756743"/>
                    <a:pt x="773814" y="1715580"/>
                  </a:cubicBezTo>
                  <a:lnTo>
                    <a:pt x="29079" y="944384"/>
                  </a:lnTo>
                  <a:cubicBezTo>
                    <a:pt x="9203" y="923802"/>
                    <a:pt x="-448" y="897114"/>
                    <a:pt x="15" y="870601"/>
                  </a:cubicBezTo>
                  <a:cubicBezTo>
                    <a:pt x="478" y="844089"/>
                    <a:pt x="11055" y="817753"/>
                    <a:pt x="31636" y="797878"/>
                  </a:cubicBezTo>
                  <a:lnTo>
                    <a:pt x="827749" y="29080"/>
                  </a:lnTo>
                  <a:cubicBezTo>
                    <a:pt x="848331" y="9205"/>
                    <a:pt x="875020" y="-446"/>
                    <a:pt x="901532" y="16"/>
                  </a:cubicBezTo>
                  <a:close/>
                </a:path>
              </a:pathLst>
            </a:cu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16000" tIns="0" rIns="0" bIns="0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预处理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A4774D96-CED7-4814-986C-F3D6A552FD04}"/>
              </a:ext>
            </a:extLst>
          </p:cNvPr>
          <p:cNvSpPr txBox="1"/>
          <p:nvPr/>
        </p:nvSpPr>
        <p:spPr>
          <a:xfrm>
            <a:off x="1286651" y="2359981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一种抽样随机模拟的方案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762102-7041-4F53-97BA-1808C884B4E9}"/>
              </a:ext>
            </a:extLst>
          </p:cNvPr>
          <p:cNvSpPr txBox="1"/>
          <p:nvPr/>
        </p:nvSpPr>
        <p:spPr>
          <a:xfrm>
            <a:off x="765920" y="419195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真实对数据进行处理之前，</a:t>
            </a:r>
            <a:endParaRPr lang="en-US" altLang="zh-CN" dirty="0"/>
          </a:p>
          <a:p>
            <a:r>
              <a:rPr lang="zh-CN" altLang="en-US" dirty="0"/>
              <a:t>首先要进行数据清洗，剔除异常值，</a:t>
            </a:r>
            <a:endParaRPr lang="en-US" altLang="zh-CN" dirty="0"/>
          </a:p>
          <a:p>
            <a:r>
              <a:rPr lang="zh-CN" altLang="en-US" dirty="0"/>
              <a:t>归一化、正向化、标准化、</a:t>
            </a:r>
            <a:endParaRPr lang="en-US" altLang="zh-CN" dirty="0"/>
          </a:p>
          <a:p>
            <a:r>
              <a:rPr lang="zh-CN" altLang="en-US" dirty="0"/>
              <a:t>插值拟合填补缺失值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63CA2C-C434-4276-B362-730B0CDB5AAC}"/>
              </a:ext>
            </a:extLst>
          </p:cNvPr>
          <p:cNvSpPr txBox="1"/>
          <p:nvPr/>
        </p:nvSpPr>
        <p:spPr>
          <a:xfrm>
            <a:off x="7296150" y="4287127"/>
            <a:ext cx="3302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分为灵敏性分析与稳定性分析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DFD7649-3FA7-4F1C-AF72-5AC21DF4F460}"/>
              </a:ext>
            </a:extLst>
          </p:cNvPr>
          <p:cNvSpPr txBox="1"/>
          <p:nvPr/>
        </p:nvSpPr>
        <p:spPr>
          <a:xfrm>
            <a:off x="7386892" y="1984384"/>
            <a:ext cx="457048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元胞自动机 </a:t>
            </a:r>
            <a:r>
              <a:rPr lang="en-US" altLang="zh-CN" dirty="0"/>
              <a:t>(cellular automata</a:t>
            </a:r>
            <a:r>
              <a:rPr lang="zh-CN" altLang="en-US" dirty="0"/>
              <a:t>，</a:t>
            </a:r>
            <a:r>
              <a:rPr lang="en-US" altLang="zh-CN" dirty="0"/>
              <a:t>CA)</a:t>
            </a:r>
          </a:p>
          <a:p>
            <a:r>
              <a:rPr lang="en-US" altLang="zh-CN" dirty="0"/>
              <a:t> </a:t>
            </a:r>
            <a:r>
              <a:rPr lang="zh-CN" altLang="en-US" dirty="0"/>
              <a:t>是一种时间、空间、状态都离散，</a:t>
            </a:r>
            <a:endParaRPr lang="en-US" altLang="zh-CN" dirty="0"/>
          </a:p>
          <a:p>
            <a:r>
              <a:rPr lang="zh-CN" altLang="en-US" dirty="0"/>
              <a:t>空间相互作用和时间因果关系为局部的网格</a:t>
            </a:r>
            <a:endParaRPr lang="en-US" altLang="zh-CN" dirty="0"/>
          </a:p>
          <a:p>
            <a:r>
              <a:rPr lang="zh-CN" altLang="en-US" dirty="0"/>
              <a:t>动力学模型 ，具有模拟复杂系统时空演化</a:t>
            </a:r>
            <a:endParaRPr lang="en-US" altLang="zh-CN" dirty="0"/>
          </a:p>
          <a:p>
            <a:r>
              <a:rPr lang="zh-CN" altLang="en-US" dirty="0"/>
              <a:t>过程的能力。 </a:t>
            </a:r>
          </a:p>
        </p:txBody>
      </p:sp>
    </p:spTree>
    <p:extLst>
      <p:ext uri="{BB962C8B-B14F-4D97-AF65-F5344CB8AC3E}">
        <p14:creationId xmlns:p14="http://schemas.microsoft.com/office/powerpoint/2010/main" val="3666828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4733926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1.3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成员分工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3FB84E8-1CDA-46DF-87B9-97B40CB0ADB5}"/>
              </a:ext>
            </a:extLst>
          </p:cNvPr>
          <p:cNvSpPr txBox="1"/>
          <p:nvPr/>
        </p:nvSpPr>
        <p:spPr>
          <a:xfrm>
            <a:off x="1826260" y="6056796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美赛可优化：建模编程一个人，论文一个人，作图、翻译、排版一个人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96600C-9CC9-466A-B3CD-AB61F8E54170}"/>
              </a:ext>
            </a:extLst>
          </p:cNvPr>
          <p:cNvSpPr txBox="1"/>
          <p:nvPr/>
        </p:nvSpPr>
        <p:spPr>
          <a:xfrm>
            <a:off x="1211708" y="1375496"/>
            <a:ext cx="6838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组队建议：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尽量找实力相当、目标一致的；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负责认真</a:t>
            </a:r>
            <a:r>
              <a:rPr lang="en-US" altLang="zh-CN" dirty="0"/>
              <a:t>&gt;</a:t>
            </a:r>
            <a:r>
              <a:rPr lang="zh-CN" altLang="en-US" dirty="0"/>
              <a:t>数学成绩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老师往往只是挂名的，自己班主任或者数学老师即可，没有也行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A31C2A8-8F98-40A6-A2B4-E9D91C9ED0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009" y="3198262"/>
            <a:ext cx="4459312" cy="28585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54448D9-4166-4377-AAC6-D979E1162A65}"/>
              </a:ext>
            </a:extLst>
          </p:cNvPr>
          <p:cNvSpPr txBox="1"/>
          <p:nvPr/>
        </p:nvSpPr>
        <p:spPr>
          <a:xfrm>
            <a:off x="425132" y="4214745"/>
            <a:ext cx="24929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建模手：</a:t>
            </a:r>
            <a:endParaRPr lang="en-US" altLang="zh-CN" dirty="0"/>
          </a:p>
          <a:p>
            <a:r>
              <a:rPr lang="zh-CN" altLang="en-US" dirty="0"/>
              <a:t>思维应发散、全面，</a:t>
            </a:r>
            <a:endParaRPr lang="en-US" altLang="zh-CN" dirty="0"/>
          </a:p>
          <a:p>
            <a:r>
              <a:rPr lang="zh-CN" altLang="en-US" dirty="0"/>
              <a:t>逻辑清晰，表达能力强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7CC2935-8A9F-48CB-88FE-855AB2697E4F}"/>
              </a:ext>
            </a:extLst>
          </p:cNvPr>
          <p:cNvSpPr txBox="1"/>
          <p:nvPr/>
        </p:nvSpPr>
        <p:spPr>
          <a:xfrm>
            <a:off x="2692082" y="2543563"/>
            <a:ext cx="3877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编程手：</a:t>
            </a:r>
            <a:endParaRPr lang="en-US" altLang="zh-CN" dirty="0"/>
          </a:p>
          <a:p>
            <a:r>
              <a:rPr lang="zh-CN" altLang="en-US" dirty="0"/>
              <a:t>严谨认真，至少熟悉一种编程语言，</a:t>
            </a:r>
            <a:endParaRPr lang="en-US" altLang="zh-CN" dirty="0"/>
          </a:p>
          <a:p>
            <a:r>
              <a:rPr lang="zh-CN" altLang="en-US" dirty="0"/>
              <a:t>与建模手沟通良好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A9F715-CED7-4730-AC99-05BC7E361ABB}"/>
              </a:ext>
            </a:extLst>
          </p:cNvPr>
          <p:cNvSpPr txBox="1"/>
          <p:nvPr/>
        </p:nvSpPr>
        <p:spPr>
          <a:xfrm>
            <a:off x="6734721" y="3981198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论文手：</a:t>
            </a:r>
            <a:endParaRPr lang="en-US" altLang="zh-CN" dirty="0"/>
          </a:p>
          <a:p>
            <a:r>
              <a:rPr lang="zh-CN" altLang="en-US" dirty="0"/>
              <a:t>文笔清晰，不罗嗦，理解能力，语言组织能力好</a:t>
            </a:r>
          </a:p>
        </p:txBody>
      </p:sp>
    </p:spTree>
    <p:extLst>
      <p:ext uri="{BB962C8B-B14F-4D97-AF65-F5344CB8AC3E}">
        <p14:creationId xmlns:p14="http://schemas.microsoft.com/office/powerpoint/2010/main" val="244739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5" grpId="0"/>
      <p:bldP spid="8" grpId="0"/>
      <p:bldP spid="2" grpId="0"/>
      <p:bldP spid="1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4733926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1.4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主要赛事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81EE28-D60B-4B6D-BA34-8531A0836DB6}"/>
              </a:ext>
            </a:extLst>
          </p:cNvPr>
          <p:cNvSpPr txBox="1"/>
          <p:nvPr/>
        </p:nvSpPr>
        <p:spPr>
          <a:xfrm>
            <a:off x="721591" y="1760785"/>
            <a:ext cx="53030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主要赛事：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1.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“高教杯”全国大学生数学建模比赛（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CUMCM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）</a:t>
            </a:r>
            <a:endParaRPr lang="en-US" altLang="zh-CN" dirty="0"/>
          </a:p>
          <a:p>
            <a:r>
              <a:rPr lang="en-US" altLang="zh-CN" dirty="0"/>
              <a:t>2. 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美国大学生数学建模比赛（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MCM/ICM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）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en-US" altLang="zh-CN" dirty="0"/>
              <a:t>3.</a:t>
            </a:r>
            <a:r>
              <a:rPr lang="zh-CN" altLang="en-US" dirty="0"/>
              <a:t>“华为杯”中国研究生数学建模比赛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 “深圳杯”数学建模比赛</a:t>
            </a:r>
            <a:endParaRPr lang="en-US" altLang="zh-CN" dirty="0"/>
          </a:p>
          <a:p>
            <a:r>
              <a:rPr lang="en-US" altLang="zh-CN" dirty="0"/>
              <a:t>5. </a:t>
            </a:r>
            <a:r>
              <a:rPr lang="en-US" altLang="zh-CN" dirty="0" err="1"/>
              <a:t>MathorCup</a:t>
            </a:r>
            <a:r>
              <a:rPr lang="zh-CN" altLang="en-US" dirty="0"/>
              <a:t>数学建模比赛</a:t>
            </a:r>
            <a:endParaRPr lang="en-US" altLang="zh-CN" dirty="0"/>
          </a:p>
          <a:p>
            <a:r>
              <a:rPr lang="en-US" altLang="zh-CN" dirty="0"/>
              <a:t>6.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 </a:t>
            </a:r>
            <a:r>
              <a:rPr lang="en-US" altLang="zh-CN" dirty="0"/>
              <a:t>APMCM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亚太杯数学建模比赛（小美赛）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679FE3-B2CE-4E05-9097-6F3D2E665ABD}"/>
              </a:ext>
            </a:extLst>
          </p:cNvPr>
          <p:cNvSpPr txBox="1"/>
          <p:nvPr/>
        </p:nvSpPr>
        <p:spPr>
          <a:xfrm>
            <a:off x="6167356" y="1760784"/>
            <a:ext cx="51651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美赛奖项设置：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Outstanding Winner (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特等奖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&lt;1%</a:t>
            </a:r>
            <a:endParaRPr lang="en-US" altLang="zh-CN" b="0" i="0" dirty="0">
              <a:solidFill>
                <a:srgbClr val="111111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Finalist (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美赛特等奖提名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):&lt;1%</a:t>
            </a:r>
          </a:p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Meritorious Winner (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美赛一等奖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):6%</a:t>
            </a:r>
          </a:p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Honorable Mention (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美赛二等奖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):26%</a:t>
            </a:r>
          </a:p>
          <a:p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Successful Participant (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成功参赛奖</a:t>
            </a:r>
            <a:r>
              <a:rPr lang="en-US" altLang="zh-CN" b="0" i="0" dirty="0">
                <a:solidFill>
                  <a:srgbClr val="11111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):65%</a:t>
            </a:r>
          </a:p>
          <a:p>
            <a:r>
              <a:rPr lang="en-US" altLang="zh-CN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DQ</a:t>
            </a:r>
            <a:r>
              <a:rPr lang="zh-CN" altLang="en-US" dirty="0">
                <a:solidFill>
                  <a:srgbClr val="11111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（取消资格）：认定为抄袭或者寻求网络帮助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BD27D3-23C6-46EF-A16E-FCC30984B61B}"/>
              </a:ext>
            </a:extLst>
          </p:cNvPr>
          <p:cNvSpPr txBox="1"/>
          <p:nvPr/>
        </p:nvSpPr>
        <p:spPr>
          <a:xfrm>
            <a:off x="721591" y="4508319"/>
            <a:ext cx="100428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MCM</a:t>
            </a:r>
            <a:r>
              <a:rPr lang="zh-CN" altLang="en-US" dirty="0"/>
              <a:t>，全称</a:t>
            </a:r>
            <a:r>
              <a:rPr lang="en-US" altLang="zh-CN" dirty="0"/>
              <a:t>The Mathematical Contest in Modeling</a:t>
            </a:r>
            <a:r>
              <a:rPr lang="zh-CN" altLang="en-US" dirty="0"/>
              <a:t>，俗称数学建模竞赛，有</a:t>
            </a:r>
            <a:r>
              <a:rPr lang="en-US" altLang="zh-CN" dirty="0"/>
              <a:t>A\B\C</a:t>
            </a:r>
            <a:r>
              <a:rPr lang="zh-CN" altLang="en-US" dirty="0"/>
              <a:t>三个题型</a:t>
            </a:r>
            <a:endParaRPr lang="en-US" altLang="zh-CN" dirty="0"/>
          </a:p>
          <a:p>
            <a:r>
              <a:rPr lang="en-US" altLang="zh-CN" dirty="0"/>
              <a:t>——A</a:t>
            </a:r>
            <a:r>
              <a:rPr lang="zh-CN" altLang="en-US" dirty="0"/>
              <a:t>题是连续型的题，</a:t>
            </a:r>
            <a:r>
              <a:rPr lang="en-US" altLang="zh-CN" dirty="0"/>
              <a:t>B</a:t>
            </a:r>
            <a:r>
              <a:rPr lang="zh-CN" altLang="en-US" dirty="0"/>
              <a:t>题是离散型的题，</a:t>
            </a:r>
            <a:r>
              <a:rPr lang="en-US" altLang="zh-CN" dirty="0"/>
              <a:t>C</a:t>
            </a:r>
            <a:r>
              <a:rPr lang="zh-CN" altLang="en-US" dirty="0"/>
              <a:t>题是大数据的题。</a:t>
            </a:r>
          </a:p>
          <a:p>
            <a:endParaRPr lang="zh-CN" altLang="en-US" dirty="0"/>
          </a:p>
          <a:p>
            <a:r>
              <a:rPr lang="en-US" altLang="zh-CN" dirty="0"/>
              <a:t>ICM</a:t>
            </a:r>
            <a:r>
              <a:rPr lang="zh-CN" altLang="en-US" dirty="0"/>
              <a:t>，全称</a:t>
            </a:r>
            <a:r>
              <a:rPr lang="en-US" altLang="zh-CN" dirty="0"/>
              <a:t>The Interdisciplinary Contest in Modeling </a:t>
            </a:r>
            <a:r>
              <a:rPr lang="zh-CN" altLang="en-US" dirty="0"/>
              <a:t>，俗称交叉学科竞赛，有</a:t>
            </a:r>
            <a:r>
              <a:rPr lang="en-US" altLang="zh-CN" dirty="0"/>
              <a:t>D\E\F</a:t>
            </a:r>
            <a:r>
              <a:rPr lang="zh-CN" altLang="en-US" dirty="0"/>
              <a:t>三个题型</a:t>
            </a:r>
            <a:endParaRPr lang="en-US" altLang="zh-CN" dirty="0"/>
          </a:p>
          <a:p>
            <a:r>
              <a:rPr lang="en-US" altLang="zh-CN" dirty="0"/>
              <a:t>——D</a:t>
            </a:r>
            <a:r>
              <a:rPr lang="zh-CN" altLang="en-US" dirty="0"/>
              <a:t>题：运筹学</a:t>
            </a:r>
            <a:r>
              <a:rPr lang="en-US" altLang="zh-CN" dirty="0"/>
              <a:t>/</a:t>
            </a:r>
            <a:r>
              <a:rPr lang="zh-CN" altLang="en-US" dirty="0"/>
              <a:t>图与网络，</a:t>
            </a:r>
            <a:r>
              <a:rPr lang="en-US" altLang="zh-CN" dirty="0"/>
              <a:t>E</a:t>
            </a:r>
            <a:r>
              <a:rPr lang="zh-CN" altLang="en-US" dirty="0"/>
              <a:t>题：环境可持续性，</a:t>
            </a:r>
            <a:r>
              <a:rPr lang="en-US" altLang="zh-CN" dirty="0"/>
              <a:t>F</a:t>
            </a:r>
            <a:r>
              <a:rPr lang="zh-CN" altLang="en-US" dirty="0"/>
              <a:t>题：政策。</a:t>
            </a:r>
          </a:p>
        </p:txBody>
      </p:sp>
    </p:spTree>
    <p:extLst>
      <p:ext uri="{BB962C8B-B14F-4D97-AF65-F5344CB8AC3E}">
        <p14:creationId xmlns:p14="http://schemas.microsoft.com/office/powerpoint/2010/main" val="2337172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2622" y="2647341"/>
            <a:ext cx="7606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渔夫的故事</a:t>
            </a: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半闭框 5"/>
          <p:cNvSpPr/>
          <p:nvPr/>
        </p:nvSpPr>
        <p:spPr>
          <a:xfrm rot="2700000" flipH="1">
            <a:off x="-2050497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844112" y="-1167"/>
            <a:ext cx="2163986" cy="1724730"/>
            <a:chOff x="9241584" y="3891370"/>
            <a:chExt cx="3703923" cy="2952083"/>
          </a:xfrm>
        </p:grpSpPr>
        <p:cxnSp>
          <p:nvCxnSpPr>
            <p:cNvPr id="8" name="直线连接符 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 rot="10800000">
            <a:off x="9460783" y="4124960"/>
            <a:ext cx="3417109" cy="2733040"/>
            <a:chOff x="7297978" y="2480257"/>
            <a:chExt cx="3417109" cy="2733040"/>
          </a:xfrm>
        </p:grpSpPr>
        <p:sp>
          <p:nvSpPr>
            <p:cNvPr id="13" name="斜纹 12"/>
            <p:cNvSpPr/>
            <p:nvPr/>
          </p:nvSpPr>
          <p:spPr>
            <a:xfrm>
              <a:off x="7982047" y="2480257"/>
              <a:ext cx="2733040" cy="2733040"/>
            </a:xfrm>
            <a:prstGeom prst="diagStripe">
              <a:avLst>
                <a:gd name="adj" fmla="val 546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 rot="13500000">
              <a:off x="7297978" y="3056030"/>
              <a:ext cx="1368137" cy="136813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107305" y="1586865"/>
            <a:ext cx="27952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bg1">
                    <a:lumMod val="85000"/>
                    <a:alpha val="55000"/>
                  </a:schemeClr>
                </a:solidFill>
                <a:latin typeface="汉仪旗黑X1-55W" panose="00020600040101010101" pitchFamily="18" charset="-122"/>
                <a:ea typeface="汉仪旗黑X1-55W" panose="00020600040101010101" pitchFamily="18" charset="-122"/>
              </a:defRPr>
            </a:lvl1pPr>
          </a:lstStyle>
          <a:p>
            <a:pPr algn="l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02</a:t>
            </a:r>
          </a:p>
        </p:txBody>
      </p:sp>
    </p:spTree>
    <p:extLst>
      <p:ext uri="{BB962C8B-B14F-4D97-AF65-F5344CB8AC3E}">
        <p14:creationId xmlns:p14="http://schemas.microsoft.com/office/powerpoint/2010/main" val="2684319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4" y="66992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故事梗概</a:t>
            </a:r>
            <a:endParaRPr lang="en-US" altLang="zh-CN" sz="32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D0DFE5-8CF3-45E9-937E-F3F283795F6E}"/>
              </a:ext>
            </a:extLst>
          </p:cNvPr>
          <p:cNvSpPr txBox="1"/>
          <p:nvPr/>
        </p:nvSpPr>
        <p:spPr>
          <a:xfrm>
            <a:off x="1034732" y="2022069"/>
            <a:ext cx="75914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  </a:t>
            </a:r>
            <a:r>
              <a:rPr lang="zh-CN" altLang="en-US" sz="2400" dirty="0"/>
              <a:t>一个老渔夫清晨走出房间，吹着和煦的海风，晒着柔和的日光，喃喃自语：“嘿，这几天天气都不错，我喜欢好天气，好天气往往预示着好收成，明天应该还是个好天气。”</a:t>
            </a:r>
            <a:endParaRPr lang="en-US" altLang="zh-CN" sz="2400" dirty="0"/>
          </a:p>
          <a:p>
            <a:r>
              <a:rPr lang="zh-CN" altLang="en-US" sz="2400" dirty="0"/>
              <a:t>      随即，渔夫驾船出海捕鱼，果然获得了大丰收，船装都装不下。没办法，好不容易舍弃了一些价值没那么大的鱼后，渔夫安全返回港口。</a:t>
            </a:r>
            <a:endParaRPr lang="en-US" altLang="zh-CN" sz="2400" dirty="0"/>
          </a:p>
          <a:p>
            <a:r>
              <a:rPr lang="en-US" altLang="zh-CN" sz="2400" dirty="0"/>
              <a:t>      </a:t>
            </a:r>
            <a:r>
              <a:rPr lang="zh-CN" altLang="en-US" sz="2400" dirty="0"/>
              <a:t>渔夫本来想着直接全卖了得了，奈何遇见一个新手买家，不认识鱼的品种，胡乱出价，好心的渔夫又教了他如何给鱼分类，最终双方愉快的达成了这笔交易，渔夫平凡而又平凡的一天至此结束。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EA01FA-02A2-4816-801E-E90FD9CC3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3822" y="-1042561"/>
            <a:ext cx="7289828" cy="437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233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2" y="669925"/>
            <a:ext cx="6581777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2.2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会预测的渔夫才是聪明的渔夫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1CA3362-5C25-413B-8F51-EBDB05532371}"/>
              </a:ext>
            </a:extLst>
          </p:cNvPr>
          <p:cNvSpPr txBox="1"/>
          <p:nvPr/>
        </p:nvSpPr>
        <p:spPr>
          <a:xfrm>
            <a:off x="1495425" y="173355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渔夫怎么知道明天还是个好天气？？？</a:t>
            </a: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8A7CD4-79D4-484E-A15E-A981517A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64" y="2455474"/>
            <a:ext cx="7245985" cy="12344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02FD25-5062-4B0E-93F3-B88BD6E47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4" y="2729545"/>
            <a:ext cx="3571876" cy="67853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65A5A3-B7A6-4471-A757-356EEFC1E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592" y="4198505"/>
            <a:ext cx="4507230" cy="16001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DE9E684-910D-4777-9015-B14EFD4DF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376" y="4196484"/>
            <a:ext cx="5488271" cy="160216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60788EC-E4B8-48A8-8C16-72A2F0849AA7}"/>
              </a:ext>
            </a:extLst>
          </p:cNvPr>
          <p:cNvSpPr txBox="1"/>
          <p:nvPr/>
        </p:nvSpPr>
        <p:spPr>
          <a:xfrm>
            <a:off x="8467724" y="1044575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马尔科夫链预测</a:t>
            </a:r>
          </a:p>
        </p:txBody>
      </p:sp>
    </p:spTree>
    <p:extLst>
      <p:ext uri="{BB962C8B-B14F-4D97-AF65-F5344CB8AC3E}">
        <p14:creationId xmlns:p14="http://schemas.microsoft.com/office/powerpoint/2010/main" val="3420784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6772276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2.3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懂优化的渔夫才是会赚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的渔夫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5C8DBB1-32C1-401C-8CAA-30EF2FC155F6}"/>
              </a:ext>
            </a:extLst>
          </p:cNvPr>
          <p:cNvSpPr txBox="1"/>
          <p:nvPr/>
        </p:nvSpPr>
        <p:spPr>
          <a:xfrm>
            <a:off x="1362073" y="1914525"/>
            <a:ext cx="6607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渔夫是怎么舍弃多余的鱼的，怎么保证留在船上的鱼价值最大？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C0EF4B-F14C-476E-83A4-C3A4BAC50942}"/>
              </a:ext>
            </a:extLst>
          </p:cNvPr>
          <p:cNvSpPr txBox="1"/>
          <p:nvPr/>
        </p:nvSpPr>
        <p:spPr>
          <a:xfrm>
            <a:off x="1362073" y="2669589"/>
            <a:ext cx="783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假设只有以下三种鱼，且数量充足，而渔夫的鱼篓只有</a:t>
            </a:r>
            <a:r>
              <a:rPr lang="en-US" altLang="zh-CN" dirty="0"/>
              <a:t>10dm</a:t>
            </a:r>
            <a:r>
              <a:rPr lang="en-US" altLang="zh-CN" baseline="30000" dirty="0"/>
              <a:t>3</a:t>
            </a:r>
            <a:r>
              <a:rPr lang="zh-CN" altLang="en-US" dirty="0"/>
              <a:t>，如何取舍？</a:t>
            </a:r>
            <a:endParaRPr lang="en-US" altLang="zh-CN" baseline="30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2DFDFD5-A307-47A9-983E-C1002CB90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3" y="3475008"/>
            <a:ext cx="3945081" cy="13244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498E185-3A82-4026-A071-DCC2788C8E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4082" y="3475008"/>
            <a:ext cx="4300534" cy="149607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AD1B7F-FB51-4082-9FF6-6B03F68A3E40}"/>
              </a:ext>
            </a:extLst>
          </p:cNvPr>
          <p:cNvSpPr txBox="1"/>
          <p:nvPr/>
        </p:nvSpPr>
        <p:spPr>
          <a:xfrm>
            <a:off x="1362073" y="5459797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三要素：决策变量、目标函数、约束条件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B21EE16-41D1-4D11-ACE0-DB4161E02DAB}"/>
              </a:ext>
            </a:extLst>
          </p:cNvPr>
          <p:cNvSpPr txBox="1"/>
          <p:nvPr/>
        </p:nvSpPr>
        <p:spPr>
          <a:xfrm>
            <a:off x="8467724" y="104457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线性规划</a:t>
            </a:r>
          </a:p>
        </p:txBody>
      </p:sp>
    </p:spTree>
    <p:extLst>
      <p:ext uri="{BB962C8B-B14F-4D97-AF65-F5344CB8AC3E}">
        <p14:creationId xmlns:p14="http://schemas.microsoft.com/office/powerpoint/2010/main" val="198604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3" grpId="0"/>
      <p:bldP spid="5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6457951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 algn="just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2.4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会分类的渔夫才是精明的渔夫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826553-217E-4548-A937-D36B83448F70}"/>
              </a:ext>
            </a:extLst>
          </p:cNvPr>
          <p:cNvSpPr txBox="1"/>
          <p:nvPr/>
        </p:nvSpPr>
        <p:spPr>
          <a:xfrm>
            <a:off x="1362073" y="181737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渔夫是怎么教会买家分辨鱼的？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E8B194-917A-408E-B030-4C945910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125" y="1682414"/>
            <a:ext cx="5099707" cy="10085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D546D0-83EA-45DE-8427-34DBD40EF6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7" t="2874" b="2790"/>
          <a:stretch/>
        </p:blipFill>
        <p:spPr>
          <a:xfrm>
            <a:off x="800100" y="3019425"/>
            <a:ext cx="4086225" cy="36290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36C711B-CCD5-42A1-A13D-CB0EDF61BB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7" t="2874" b="2790"/>
          <a:stretch/>
        </p:blipFill>
        <p:spPr>
          <a:xfrm>
            <a:off x="6248400" y="3019425"/>
            <a:ext cx="4086225" cy="36290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54BF3BB-F3A3-4667-956C-9F7B8FDADCE5}"/>
              </a:ext>
            </a:extLst>
          </p:cNvPr>
          <p:cNvSpPr txBox="1"/>
          <p:nvPr/>
        </p:nvSpPr>
        <p:spPr>
          <a:xfrm>
            <a:off x="9534524" y="854422"/>
            <a:ext cx="11128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KNN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2228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5305426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2.5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模型补充之渔夫传记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B73EA42-9658-4944-8015-15411DDC33B9}"/>
              </a:ext>
            </a:extLst>
          </p:cNvPr>
          <p:cNvSpPr txBox="1"/>
          <p:nvPr/>
        </p:nvSpPr>
        <p:spPr>
          <a:xfrm>
            <a:off x="907415" y="1696223"/>
            <a:ext cx="1090394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渔夫会在特定的天气干特定的事情，怎么从渔夫干的事情判断天气变化？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渔夫摆摊卖鱼，很多人排队来买，每个人的耐心有限，如何损失最少的客户？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3.</a:t>
            </a:r>
            <a:r>
              <a:rPr lang="zh-CN" altLang="en-US" sz="2400" dirty="0"/>
              <a:t>渔夫要去多个地点捕鱼，要求每个经过所有的钓鱼点，如何使得路径最短？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4.</a:t>
            </a:r>
            <a:r>
              <a:rPr lang="zh-CN" altLang="en-US" sz="2400" dirty="0"/>
              <a:t>渔夫出海捕鱼，发现有多个路径可达到目标位置，如何使得路径最短？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  ……..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81B441-91CC-4F79-9928-30875DB39342}"/>
              </a:ext>
            </a:extLst>
          </p:cNvPr>
          <p:cNvSpPr txBox="1"/>
          <p:nvPr/>
        </p:nvSpPr>
        <p:spPr>
          <a:xfrm>
            <a:off x="1162050" y="224155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隐马尔科夫链预测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23AF67-F853-4F82-B9E0-BA97ED33F877}"/>
              </a:ext>
            </a:extLst>
          </p:cNvPr>
          <p:cNvSpPr txBox="1"/>
          <p:nvPr/>
        </p:nvSpPr>
        <p:spPr>
          <a:xfrm>
            <a:off x="1162050" y="337803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排队论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6976FCF-0068-42B7-B4AA-EEDCA15C46E5}"/>
              </a:ext>
            </a:extLst>
          </p:cNvPr>
          <p:cNvSpPr txBox="1"/>
          <p:nvPr/>
        </p:nvSpPr>
        <p:spPr>
          <a:xfrm>
            <a:off x="1162050" y="4420778"/>
            <a:ext cx="3496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TSP</a:t>
            </a:r>
            <a:r>
              <a:rPr lang="zh-CN" altLang="en-US" sz="2400" dirty="0">
                <a:solidFill>
                  <a:srgbClr val="FF0000"/>
                </a:solidFill>
              </a:rPr>
              <a:t>问题，智能算法解决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8262DF-D79E-4B61-A3B2-289944AFBBDC}"/>
              </a:ext>
            </a:extLst>
          </p:cNvPr>
          <p:cNvSpPr txBox="1"/>
          <p:nvPr/>
        </p:nvSpPr>
        <p:spPr>
          <a:xfrm>
            <a:off x="1162050" y="554031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图论算法</a:t>
            </a:r>
          </a:p>
        </p:txBody>
      </p:sp>
    </p:spTree>
    <p:extLst>
      <p:ext uri="{BB962C8B-B14F-4D97-AF65-F5344CB8AC3E}">
        <p14:creationId xmlns:p14="http://schemas.microsoft.com/office/powerpoint/2010/main" val="2961300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5" grpId="0"/>
      <p:bldP spid="9" grpId="0"/>
      <p:bldP spid="10" grpId="0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2622" y="2647341"/>
            <a:ext cx="7606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备赛思路</a:t>
            </a: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半闭框 5"/>
          <p:cNvSpPr/>
          <p:nvPr/>
        </p:nvSpPr>
        <p:spPr>
          <a:xfrm rot="2700000" flipH="1">
            <a:off x="-2050497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844112" y="-1167"/>
            <a:ext cx="2163986" cy="1724730"/>
            <a:chOff x="9241584" y="3891370"/>
            <a:chExt cx="3703923" cy="2952083"/>
          </a:xfrm>
        </p:grpSpPr>
        <p:cxnSp>
          <p:nvCxnSpPr>
            <p:cNvPr id="8" name="直线连接符 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 rot="10800000">
            <a:off x="9460783" y="4124960"/>
            <a:ext cx="3417109" cy="2733040"/>
            <a:chOff x="7297978" y="2480257"/>
            <a:chExt cx="3417109" cy="2733040"/>
          </a:xfrm>
        </p:grpSpPr>
        <p:sp>
          <p:nvSpPr>
            <p:cNvPr id="13" name="斜纹 12"/>
            <p:cNvSpPr/>
            <p:nvPr/>
          </p:nvSpPr>
          <p:spPr>
            <a:xfrm>
              <a:off x="7982047" y="2480257"/>
              <a:ext cx="2733040" cy="2733040"/>
            </a:xfrm>
            <a:prstGeom prst="diagStripe">
              <a:avLst>
                <a:gd name="adj" fmla="val 546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 rot="13500000">
              <a:off x="7297978" y="3056030"/>
              <a:ext cx="1368137" cy="136813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107305" y="1586865"/>
            <a:ext cx="27952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bg1">
                    <a:lumMod val="85000"/>
                    <a:alpha val="55000"/>
                  </a:schemeClr>
                </a:solidFill>
                <a:latin typeface="汉仪旗黑X1-55W" panose="00020600040101010101" pitchFamily="18" charset="-122"/>
                <a:ea typeface="汉仪旗黑X1-55W" panose="00020600040101010101" pitchFamily="18" charset="-122"/>
              </a:defRPr>
            </a:lvl1pPr>
          </a:lstStyle>
          <a:p>
            <a:pPr algn="l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2656823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2" y="669925"/>
            <a:ext cx="7620002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麻瓜到小白的进阶之路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一到两个星期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33FEB6-447C-4FA8-BF26-7676628270A7}"/>
              </a:ext>
            </a:extLst>
          </p:cNvPr>
          <p:cNvSpPr txBox="1"/>
          <p:nvPr/>
        </p:nvSpPr>
        <p:spPr>
          <a:xfrm>
            <a:off x="5172073" y="5486426"/>
            <a:ext cx="4203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各种获奖者的经验分享视频；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收藏模型总结文章；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小石老师的课（</a:t>
            </a:r>
            <a:r>
              <a:rPr lang="en-US" altLang="zh-CN" dirty="0"/>
              <a:t>4</a:t>
            </a:r>
            <a:r>
              <a:rPr lang="zh-CN" altLang="en-US" dirty="0"/>
              <a:t>个多小时的那个）；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0DAA21-E744-4717-844E-CF0CB056BCE5}"/>
              </a:ext>
            </a:extLst>
          </p:cNvPr>
          <p:cNvSpPr txBox="1"/>
          <p:nvPr/>
        </p:nvSpPr>
        <p:spPr>
          <a:xfrm>
            <a:off x="1362072" y="5466030"/>
            <a:ext cx="210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1.Matlab</a:t>
            </a:r>
            <a:r>
              <a:rPr lang="zh-CN" altLang="en-US" dirty="0"/>
              <a:t>基础操作</a:t>
            </a:r>
            <a:endParaRPr lang="en-US" altLang="zh-CN" dirty="0"/>
          </a:p>
          <a:p>
            <a:r>
              <a:rPr lang="en-US" altLang="zh-CN" dirty="0"/>
              <a:t>2.Latex</a:t>
            </a:r>
            <a:r>
              <a:rPr lang="zh-CN" altLang="en-US" dirty="0"/>
              <a:t>基础操作</a:t>
            </a:r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BC941E-6CED-4AE2-AE57-A103C40E5E0F}"/>
              </a:ext>
            </a:extLst>
          </p:cNvPr>
          <p:cNvSpPr txBox="1"/>
          <p:nvPr/>
        </p:nvSpPr>
        <p:spPr>
          <a:xfrm>
            <a:off x="7554907" y="1473689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本阶段的标志就是对自己要学什么不感到迷茫，</a:t>
            </a:r>
            <a:endParaRPr lang="en-US" altLang="zh-CN" dirty="0"/>
          </a:p>
          <a:p>
            <a:r>
              <a:rPr lang="zh-CN" altLang="en-US" dirty="0"/>
              <a:t>对于一些模型的名字不再感到完全陌生</a:t>
            </a:r>
          </a:p>
        </p:txBody>
      </p:sp>
      <p:sp>
        <p:nvSpPr>
          <p:cNvPr id="25" name="任意多边形 1">
            <a:extLst>
              <a:ext uri="{FF2B5EF4-FFF2-40B4-BE49-F238E27FC236}">
                <a16:creationId xmlns:a16="http://schemas.microsoft.com/office/drawing/2014/main" id="{77BA6243-7AC0-4D98-9177-D2630D2F2C11}"/>
              </a:ext>
            </a:extLst>
          </p:cNvPr>
          <p:cNvSpPr/>
          <p:nvPr/>
        </p:nvSpPr>
        <p:spPr>
          <a:xfrm>
            <a:off x="1962512" y="2228850"/>
            <a:ext cx="5158760" cy="3064705"/>
          </a:xfrm>
          <a:custGeom>
            <a:avLst/>
            <a:gdLst>
              <a:gd name="connsiteX0" fmla="*/ 3024631 w 4102306"/>
              <a:gd name="connsiteY0" fmla="*/ 1699713 h 2233414"/>
              <a:gd name="connsiteX1" fmla="*/ 3165881 w 4102306"/>
              <a:gd name="connsiteY1" fmla="*/ 1699713 h 2233414"/>
              <a:gd name="connsiteX2" fmla="*/ 3558332 w 4102306"/>
              <a:gd name="connsiteY2" fmla="*/ 2092165 h 2233414"/>
              <a:gd name="connsiteX3" fmla="*/ 3950784 w 4102306"/>
              <a:gd name="connsiteY3" fmla="*/ 1699713 h 2233414"/>
              <a:gd name="connsiteX4" fmla="*/ 4092033 w 4102306"/>
              <a:gd name="connsiteY4" fmla="*/ 1699713 h 2233414"/>
              <a:gd name="connsiteX5" fmla="*/ 3558332 w 4102306"/>
              <a:gd name="connsiteY5" fmla="*/ 2233414 h 2233414"/>
              <a:gd name="connsiteX6" fmla="*/ 3024631 w 4102306"/>
              <a:gd name="connsiteY6" fmla="*/ 1699713 h 2233414"/>
              <a:gd name="connsiteX7" fmla="*/ 0 w 4102306"/>
              <a:gd name="connsiteY7" fmla="*/ 1699713 h 2233414"/>
              <a:gd name="connsiteX8" fmla="*/ 141250 w 4102306"/>
              <a:gd name="connsiteY8" fmla="*/ 1699713 h 2233414"/>
              <a:gd name="connsiteX9" fmla="*/ 533701 w 4102306"/>
              <a:gd name="connsiteY9" fmla="*/ 2092165 h 2233414"/>
              <a:gd name="connsiteX10" fmla="*/ 926153 w 4102306"/>
              <a:gd name="connsiteY10" fmla="*/ 1699713 h 2233414"/>
              <a:gd name="connsiteX11" fmla="*/ 1067402 w 4102306"/>
              <a:gd name="connsiteY11" fmla="*/ 1699713 h 2233414"/>
              <a:gd name="connsiteX12" fmla="*/ 533701 w 4102306"/>
              <a:gd name="connsiteY12" fmla="*/ 2233414 h 2233414"/>
              <a:gd name="connsiteX13" fmla="*/ 0 w 4102306"/>
              <a:gd name="connsiteY13" fmla="*/ 1699713 h 2233414"/>
              <a:gd name="connsiteX14" fmla="*/ 1590027 w 4102306"/>
              <a:gd name="connsiteY14" fmla="*/ 0 h 2233414"/>
              <a:gd name="connsiteX15" fmla="*/ 1910147 w 4102306"/>
              <a:gd name="connsiteY15" fmla="*/ 32271 h 2233414"/>
              <a:gd name="connsiteX16" fmla="*/ 2051960 w 4102306"/>
              <a:gd name="connsiteY16" fmla="*/ 68735 h 2233414"/>
              <a:gd name="connsiteX17" fmla="*/ 2193773 w 4102306"/>
              <a:gd name="connsiteY17" fmla="*/ 32271 h 2233414"/>
              <a:gd name="connsiteX18" fmla="*/ 2513894 w 4102306"/>
              <a:gd name="connsiteY18" fmla="*/ 0 h 2233414"/>
              <a:gd name="connsiteX19" fmla="*/ 4102306 w 4102306"/>
              <a:gd name="connsiteY19" fmla="*/ 1588412 h 2233414"/>
              <a:gd name="connsiteX20" fmla="*/ 4099161 w 4102306"/>
              <a:gd name="connsiteY20" fmla="*/ 1650703 h 2233414"/>
              <a:gd name="connsiteX21" fmla="*/ 3943434 w 4102306"/>
              <a:gd name="connsiteY21" fmla="*/ 1650703 h 2233414"/>
              <a:gd name="connsiteX22" fmla="*/ 3946579 w 4102306"/>
              <a:gd name="connsiteY22" fmla="*/ 1588412 h 2233414"/>
              <a:gd name="connsiteX23" fmla="*/ 2513894 w 4102306"/>
              <a:gd name="connsiteY23" fmla="*/ 155727 h 2233414"/>
              <a:gd name="connsiteX24" fmla="*/ 2367410 w 4102306"/>
              <a:gd name="connsiteY24" fmla="*/ 163123 h 2233414"/>
              <a:gd name="connsiteX25" fmla="*/ 2306961 w 4102306"/>
              <a:gd name="connsiteY25" fmla="*/ 172349 h 2233414"/>
              <a:gd name="connsiteX26" fmla="*/ 2347158 w 4102306"/>
              <a:gd name="connsiteY26" fmla="*/ 191713 h 2233414"/>
              <a:gd name="connsiteX27" fmla="*/ 3178439 w 4102306"/>
              <a:gd name="connsiteY27" fmla="*/ 1588412 h 2233414"/>
              <a:gd name="connsiteX28" fmla="*/ 3175294 w 4102306"/>
              <a:gd name="connsiteY28" fmla="*/ 1650703 h 2233414"/>
              <a:gd name="connsiteX29" fmla="*/ 3019567 w 4102306"/>
              <a:gd name="connsiteY29" fmla="*/ 1650703 h 2233414"/>
              <a:gd name="connsiteX30" fmla="*/ 3022712 w 4102306"/>
              <a:gd name="connsiteY30" fmla="*/ 1588412 h 2233414"/>
              <a:gd name="connsiteX31" fmla="*/ 2147692 w 4102306"/>
              <a:gd name="connsiteY31" fmla="*/ 268314 h 2233414"/>
              <a:gd name="connsiteX32" fmla="*/ 2051960 w 4102306"/>
              <a:gd name="connsiteY32" fmla="*/ 233276 h 2233414"/>
              <a:gd name="connsiteX33" fmla="*/ 1956228 w 4102306"/>
              <a:gd name="connsiteY33" fmla="*/ 268314 h 2233414"/>
              <a:gd name="connsiteX34" fmla="*/ 1081208 w 4102306"/>
              <a:gd name="connsiteY34" fmla="*/ 1588412 h 2233414"/>
              <a:gd name="connsiteX35" fmla="*/ 1084353 w 4102306"/>
              <a:gd name="connsiteY35" fmla="*/ 1650703 h 2233414"/>
              <a:gd name="connsiteX36" fmla="*/ 928626 w 4102306"/>
              <a:gd name="connsiteY36" fmla="*/ 1650703 h 2233414"/>
              <a:gd name="connsiteX37" fmla="*/ 925481 w 4102306"/>
              <a:gd name="connsiteY37" fmla="*/ 1588412 h 2233414"/>
              <a:gd name="connsiteX38" fmla="*/ 1756762 w 4102306"/>
              <a:gd name="connsiteY38" fmla="*/ 191713 h 2233414"/>
              <a:gd name="connsiteX39" fmla="*/ 1796959 w 4102306"/>
              <a:gd name="connsiteY39" fmla="*/ 172349 h 2233414"/>
              <a:gd name="connsiteX40" fmla="*/ 1736510 w 4102306"/>
              <a:gd name="connsiteY40" fmla="*/ 163123 h 2233414"/>
              <a:gd name="connsiteX41" fmla="*/ 1590027 w 4102306"/>
              <a:gd name="connsiteY41" fmla="*/ 155727 h 2233414"/>
              <a:gd name="connsiteX42" fmla="*/ 157341 w 4102306"/>
              <a:gd name="connsiteY42" fmla="*/ 1588412 h 2233414"/>
              <a:gd name="connsiteX43" fmla="*/ 160486 w 4102306"/>
              <a:gd name="connsiteY43" fmla="*/ 1650703 h 2233414"/>
              <a:gd name="connsiteX44" fmla="*/ 4760 w 4102306"/>
              <a:gd name="connsiteY44" fmla="*/ 1650703 h 2233414"/>
              <a:gd name="connsiteX45" fmla="*/ 1614 w 4102306"/>
              <a:gd name="connsiteY45" fmla="*/ 1588412 h 2233414"/>
              <a:gd name="connsiteX46" fmla="*/ 1590027 w 4102306"/>
              <a:gd name="connsiteY46" fmla="*/ 0 h 2233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102306" h="2233414">
                <a:moveTo>
                  <a:pt x="3024631" y="1699713"/>
                </a:moveTo>
                <a:lnTo>
                  <a:pt x="3165881" y="1699713"/>
                </a:lnTo>
                <a:cubicBezTo>
                  <a:pt x="3165881" y="1916458"/>
                  <a:pt x="3341587" y="2092165"/>
                  <a:pt x="3558332" y="2092165"/>
                </a:cubicBezTo>
                <a:cubicBezTo>
                  <a:pt x="3775077" y="2092165"/>
                  <a:pt x="3950784" y="1916458"/>
                  <a:pt x="3950784" y="1699713"/>
                </a:cubicBezTo>
                <a:lnTo>
                  <a:pt x="4092033" y="1699713"/>
                </a:lnTo>
                <a:cubicBezTo>
                  <a:pt x="4092033" y="1994468"/>
                  <a:pt x="3853087" y="2233414"/>
                  <a:pt x="3558332" y="2233414"/>
                </a:cubicBezTo>
                <a:cubicBezTo>
                  <a:pt x="3263578" y="2233414"/>
                  <a:pt x="3024631" y="1994468"/>
                  <a:pt x="3024631" y="1699713"/>
                </a:cubicBezTo>
                <a:close/>
                <a:moveTo>
                  <a:pt x="0" y="1699713"/>
                </a:moveTo>
                <a:lnTo>
                  <a:pt x="141250" y="1699713"/>
                </a:lnTo>
                <a:cubicBezTo>
                  <a:pt x="141250" y="1916458"/>
                  <a:pt x="316956" y="2092165"/>
                  <a:pt x="533701" y="2092165"/>
                </a:cubicBezTo>
                <a:cubicBezTo>
                  <a:pt x="750446" y="2092165"/>
                  <a:pt x="926153" y="1916458"/>
                  <a:pt x="926153" y="1699713"/>
                </a:cubicBezTo>
                <a:lnTo>
                  <a:pt x="1067402" y="1699713"/>
                </a:lnTo>
                <a:cubicBezTo>
                  <a:pt x="1067402" y="1994468"/>
                  <a:pt x="828456" y="2233414"/>
                  <a:pt x="533701" y="2233414"/>
                </a:cubicBezTo>
                <a:cubicBezTo>
                  <a:pt x="238947" y="2233414"/>
                  <a:pt x="0" y="1994468"/>
                  <a:pt x="0" y="1699713"/>
                </a:cubicBezTo>
                <a:close/>
                <a:moveTo>
                  <a:pt x="1590027" y="0"/>
                </a:moveTo>
                <a:cubicBezTo>
                  <a:pt x="1699684" y="0"/>
                  <a:pt x="1806745" y="11112"/>
                  <a:pt x="1910147" y="32271"/>
                </a:cubicBezTo>
                <a:lnTo>
                  <a:pt x="2051960" y="68735"/>
                </a:lnTo>
                <a:lnTo>
                  <a:pt x="2193773" y="32271"/>
                </a:lnTo>
                <a:cubicBezTo>
                  <a:pt x="2297175" y="11112"/>
                  <a:pt x="2404237" y="0"/>
                  <a:pt x="2513894" y="0"/>
                </a:cubicBezTo>
                <a:cubicBezTo>
                  <a:pt x="3391149" y="0"/>
                  <a:pt x="4102306" y="711157"/>
                  <a:pt x="4102306" y="1588412"/>
                </a:cubicBezTo>
                <a:lnTo>
                  <a:pt x="4099161" y="1650703"/>
                </a:lnTo>
                <a:lnTo>
                  <a:pt x="3943434" y="1650703"/>
                </a:lnTo>
                <a:cubicBezTo>
                  <a:pt x="3946132" y="1630102"/>
                  <a:pt x="3946579" y="1609309"/>
                  <a:pt x="3946579" y="1588412"/>
                </a:cubicBezTo>
                <a:cubicBezTo>
                  <a:pt x="3946579" y="797162"/>
                  <a:pt x="3305144" y="155727"/>
                  <a:pt x="2513894" y="155727"/>
                </a:cubicBezTo>
                <a:cubicBezTo>
                  <a:pt x="2464441" y="155727"/>
                  <a:pt x="2415573" y="158232"/>
                  <a:pt x="2367410" y="163123"/>
                </a:cubicBezTo>
                <a:lnTo>
                  <a:pt x="2306961" y="172349"/>
                </a:lnTo>
                <a:lnTo>
                  <a:pt x="2347158" y="191713"/>
                </a:lnTo>
                <a:cubicBezTo>
                  <a:pt x="2842306" y="460693"/>
                  <a:pt x="3178439" y="985299"/>
                  <a:pt x="3178439" y="1588412"/>
                </a:cubicBezTo>
                <a:lnTo>
                  <a:pt x="3175294" y="1650703"/>
                </a:lnTo>
                <a:lnTo>
                  <a:pt x="3019567" y="1650703"/>
                </a:lnTo>
                <a:cubicBezTo>
                  <a:pt x="3022265" y="1630102"/>
                  <a:pt x="3022712" y="1609309"/>
                  <a:pt x="3022712" y="1588412"/>
                </a:cubicBezTo>
                <a:cubicBezTo>
                  <a:pt x="3022712" y="994975"/>
                  <a:pt x="2661905" y="485808"/>
                  <a:pt x="2147692" y="268314"/>
                </a:cubicBezTo>
                <a:lnTo>
                  <a:pt x="2051960" y="233276"/>
                </a:lnTo>
                <a:lnTo>
                  <a:pt x="1956228" y="268314"/>
                </a:lnTo>
                <a:cubicBezTo>
                  <a:pt x="1442015" y="485808"/>
                  <a:pt x="1081208" y="994975"/>
                  <a:pt x="1081208" y="1588412"/>
                </a:cubicBezTo>
                <a:lnTo>
                  <a:pt x="1084353" y="1650703"/>
                </a:lnTo>
                <a:lnTo>
                  <a:pt x="928626" y="1650703"/>
                </a:lnTo>
                <a:cubicBezTo>
                  <a:pt x="925884" y="1630089"/>
                  <a:pt x="925481" y="1609297"/>
                  <a:pt x="925481" y="1588412"/>
                </a:cubicBezTo>
                <a:cubicBezTo>
                  <a:pt x="925481" y="985299"/>
                  <a:pt x="1261614" y="460693"/>
                  <a:pt x="1756762" y="191713"/>
                </a:cubicBezTo>
                <a:lnTo>
                  <a:pt x="1796959" y="172349"/>
                </a:lnTo>
                <a:lnTo>
                  <a:pt x="1736510" y="163123"/>
                </a:lnTo>
                <a:cubicBezTo>
                  <a:pt x="1688348" y="158232"/>
                  <a:pt x="1639480" y="155727"/>
                  <a:pt x="1590027" y="155727"/>
                </a:cubicBezTo>
                <a:cubicBezTo>
                  <a:pt x="798776" y="155727"/>
                  <a:pt x="157341" y="797162"/>
                  <a:pt x="157341" y="1588412"/>
                </a:cubicBezTo>
                <a:lnTo>
                  <a:pt x="160486" y="1650703"/>
                </a:lnTo>
                <a:lnTo>
                  <a:pt x="4760" y="1650703"/>
                </a:lnTo>
                <a:cubicBezTo>
                  <a:pt x="2017" y="1630089"/>
                  <a:pt x="1614" y="1609297"/>
                  <a:pt x="1614" y="1588412"/>
                </a:cubicBezTo>
                <a:cubicBezTo>
                  <a:pt x="1614" y="711157"/>
                  <a:pt x="712771" y="0"/>
                  <a:pt x="1590027" y="0"/>
                </a:cubicBezTo>
                <a:close/>
              </a:path>
            </a:pathLst>
          </a:cu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26" name="任意多边形 2">
            <a:extLst>
              <a:ext uri="{FF2B5EF4-FFF2-40B4-BE49-F238E27FC236}">
                <a16:creationId xmlns:a16="http://schemas.microsoft.com/office/drawing/2014/main" id="{C6324F23-272E-49B7-8BA5-3EF9CF0F6ECA}"/>
              </a:ext>
            </a:extLst>
          </p:cNvPr>
          <p:cNvSpPr/>
          <p:nvPr/>
        </p:nvSpPr>
        <p:spPr>
          <a:xfrm rot="10800000">
            <a:off x="3695039" y="2228849"/>
            <a:ext cx="5172735" cy="3064705"/>
          </a:xfrm>
          <a:custGeom>
            <a:avLst/>
            <a:gdLst>
              <a:gd name="connsiteX0" fmla="*/ 3034905 w 4112579"/>
              <a:gd name="connsiteY0" fmla="*/ 1699713 h 2233414"/>
              <a:gd name="connsiteX1" fmla="*/ 3176155 w 4112579"/>
              <a:gd name="connsiteY1" fmla="*/ 1699713 h 2233414"/>
              <a:gd name="connsiteX2" fmla="*/ 3568606 w 4112579"/>
              <a:gd name="connsiteY2" fmla="*/ 2092165 h 2233414"/>
              <a:gd name="connsiteX3" fmla="*/ 3961058 w 4112579"/>
              <a:gd name="connsiteY3" fmla="*/ 1699713 h 2233414"/>
              <a:gd name="connsiteX4" fmla="*/ 4102307 w 4112579"/>
              <a:gd name="connsiteY4" fmla="*/ 1699713 h 2233414"/>
              <a:gd name="connsiteX5" fmla="*/ 3568606 w 4112579"/>
              <a:gd name="connsiteY5" fmla="*/ 2233414 h 2233414"/>
              <a:gd name="connsiteX6" fmla="*/ 3034905 w 4112579"/>
              <a:gd name="connsiteY6" fmla="*/ 1699713 h 2233414"/>
              <a:gd name="connsiteX7" fmla="*/ 10272 w 4112579"/>
              <a:gd name="connsiteY7" fmla="*/ 1699713 h 2233414"/>
              <a:gd name="connsiteX8" fmla="*/ 151521 w 4112579"/>
              <a:gd name="connsiteY8" fmla="*/ 1699713 h 2233414"/>
              <a:gd name="connsiteX9" fmla="*/ 543973 w 4112579"/>
              <a:gd name="connsiteY9" fmla="*/ 2092165 h 2233414"/>
              <a:gd name="connsiteX10" fmla="*/ 936425 w 4112579"/>
              <a:gd name="connsiteY10" fmla="*/ 1699713 h 2233414"/>
              <a:gd name="connsiteX11" fmla="*/ 1077674 w 4112579"/>
              <a:gd name="connsiteY11" fmla="*/ 1699713 h 2233414"/>
              <a:gd name="connsiteX12" fmla="*/ 543973 w 4112579"/>
              <a:gd name="connsiteY12" fmla="*/ 2233414 h 2233414"/>
              <a:gd name="connsiteX13" fmla="*/ 10272 w 4112579"/>
              <a:gd name="connsiteY13" fmla="*/ 1699713 h 2233414"/>
              <a:gd name="connsiteX14" fmla="*/ 1588413 w 4112579"/>
              <a:gd name="connsiteY14" fmla="*/ 0 h 2233414"/>
              <a:gd name="connsiteX15" fmla="*/ 1908533 w 4112579"/>
              <a:gd name="connsiteY15" fmla="*/ 32271 h 2233414"/>
              <a:gd name="connsiteX16" fmla="*/ 2056290 w 4112579"/>
              <a:gd name="connsiteY16" fmla="*/ 70263 h 2233414"/>
              <a:gd name="connsiteX17" fmla="*/ 2204046 w 4112579"/>
              <a:gd name="connsiteY17" fmla="*/ 32271 h 2233414"/>
              <a:gd name="connsiteX18" fmla="*/ 2524167 w 4112579"/>
              <a:gd name="connsiteY18" fmla="*/ 0 h 2233414"/>
              <a:gd name="connsiteX19" fmla="*/ 4112579 w 4112579"/>
              <a:gd name="connsiteY19" fmla="*/ 1588413 h 2233414"/>
              <a:gd name="connsiteX20" fmla="*/ 4109434 w 4112579"/>
              <a:gd name="connsiteY20" fmla="*/ 1650703 h 2233414"/>
              <a:gd name="connsiteX21" fmla="*/ 3953707 w 4112579"/>
              <a:gd name="connsiteY21" fmla="*/ 1650703 h 2233414"/>
              <a:gd name="connsiteX22" fmla="*/ 3956852 w 4112579"/>
              <a:gd name="connsiteY22" fmla="*/ 1588413 h 2233414"/>
              <a:gd name="connsiteX23" fmla="*/ 2524167 w 4112579"/>
              <a:gd name="connsiteY23" fmla="*/ 155727 h 2233414"/>
              <a:gd name="connsiteX24" fmla="*/ 2377683 w 4112579"/>
              <a:gd name="connsiteY24" fmla="*/ 163124 h 2233414"/>
              <a:gd name="connsiteX25" fmla="*/ 2308207 w 4112579"/>
              <a:gd name="connsiteY25" fmla="*/ 173727 h 2233414"/>
              <a:gd name="connsiteX26" fmla="*/ 2345544 w 4112579"/>
              <a:gd name="connsiteY26" fmla="*/ 191713 h 2233414"/>
              <a:gd name="connsiteX27" fmla="*/ 3176825 w 4112579"/>
              <a:gd name="connsiteY27" fmla="*/ 1588413 h 2233414"/>
              <a:gd name="connsiteX28" fmla="*/ 3173680 w 4112579"/>
              <a:gd name="connsiteY28" fmla="*/ 1650703 h 2233414"/>
              <a:gd name="connsiteX29" fmla="*/ 3017953 w 4112579"/>
              <a:gd name="connsiteY29" fmla="*/ 1650703 h 2233414"/>
              <a:gd name="connsiteX30" fmla="*/ 3021098 w 4112579"/>
              <a:gd name="connsiteY30" fmla="*/ 1588413 h 2233414"/>
              <a:gd name="connsiteX31" fmla="*/ 2146079 w 4112579"/>
              <a:gd name="connsiteY31" fmla="*/ 268314 h 2233414"/>
              <a:gd name="connsiteX32" fmla="*/ 2056290 w 4112579"/>
              <a:gd name="connsiteY32" fmla="*/ 235451 h 2233414"/>
              <a:gd name="connsiteX33" fmla="*/ 1966501 w 4112579"/>
              <a:gd name="connsiteY33" fmla="*/ 268314 h 2233414"/>
              <a:gd name="connsiteX34" fmla="*/ 1091481 w 4112579"/>
              <a:gd name="connsiteY34" fmla="*/ 1588413 h 2233414"/>
              <a:gd name="connsiteX35" fmla="*/ 1094626 w 4112579"/>
              <a:gd name="connsiteY35" fmla="*/ 1650703 h 2233414"/>
              <a:gd name="connsiteX36" fmla="*/ 938900 w 4112579"/>
              <a:gd name="connsiteY36" fmla="*/ 1650703 h 2233414"/>
              <a:gd name="connsiteX37" fmla="*/ 935754 w 4112579"/>
              <a:gd name="connsiteY37" fmla="*/ 1588413 h 2233414"/>
              <a:gd name="connsiteX38" fmla="*/ 1767035 w 4112579"/>
              <a:gd name="connsiteY38" fmla="*/ 191713 h 2233414"/>
              <a:gd name="connsiteX39" fmla="*/ 1804372 w 4112579"/>
              <a:gd name="connsiteY39" fmla="*/ 173727 h 2233414"/>
              <a:gd name="connsiteX40" fmla="*/ 1734897 w 4112579"/>
              <a:gd name="connsiteY40" fmla="*/ 163124 h 2233414"/>
              <a:gd name="connsiteX41" fmla="*/ 1588413 w 4112579"/>
              <a:gd name="connsiteY41" fmla="*/ 155727 h 2233414"/>
              <a:gd name="connsiteX42" fmla="*/ 155727 w 4112579"/>
              <a:gd name="connsiteY42" fmla="*/ 1588413 h 2233414"/>
              <a:gd name="connsiteX43" fmla="*/ 158872 w 4112579"/>
              <a:gd name="connsiteY43" fmla="*/ 1650703 h 2233414"/>
              <a:gd name="connsiteX44" fmla="*/ 3145 w 4112579"/>
              <a:gd name="connsiteY44" fmla="*/ 1650703 h 2233414"/>
              <a:gd name="connsiteX45" fmla="*/ 0 w 4112579"/>
              <a:gd name="connsiteY45" fmla="*/ 1588413 h 2233414"/>
              <a:gd name="connsiteX46" fmla="*/ 1588413 w 4112579"/>
              <a:gd name="connsiteY46" fmla="*/ 0 h 2233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112579" h="2233414">
                <a:moveTo>
                  <a:pt x="3034905" y="1699713"/>
                </a:moveTo>
                <a:lnTo>
                  <a:pt x="3176155" y="1699713"/>
                </a:lnTo>
                <a:cubicBezTo>
                  <a:pt x="3176155" y="1916458"/>
                  <a:pt x="3351861" y="2092165"/>
                  <a:pt x="3568606" y="2092165"/>
                </a:cubicBezTo>
                <a:cubicBezTo>
                  <a:pt x="3785351" y="2092165"/>
                  <a:pt x="3961058" y="1916458"/>
                  <a:pt x="3961058" y="1699713"/>
                </a:cubicBezTo>
                <a:lnTo>
                  <a:pt x="4102307" y="1699713"/>
                </a:lnTo>
                <a:cubicBezTo>
                  <a:pt x="4102307" y="1994468"/>
                  <a:pt x="3863361" y="2233414"/>
                  <a:pt x="3568606" y="2233414"/>
                </a:cubicBezTo>
                <a:cubicBezTo>
                  <a:pt x="3273852" y="2233414"/>
                  <a:pt x="3034905" y="1994468"/>
                  <a:pt x="3034905" y="1699713"/>
                </a:cubicBezTo>
                <a:close/>
                <a:moveTo>
                  <a:pt x="10272" y="1699713"/>
                </a:moveTo>
                <a:lnTo>
                  <a:pt x="151521" y="1699713"/>
                </a:lnTo>
                <a:cubicBezTo>
                  <a:pt x="151521" y="1916458"/>
                  <a:pt x="327228" y="2092165"/>
                  <a:pt x="543973" y="2092165"/>
                </a:cubicBezTo>
                <a:cubicBezTo>
                  <a:pt x="760718" y="2092165"/>
                  <a:pt x="936425" y="1916458"/>
                  <a:pt x="936425" y="1699713"/>
                </a:cubicBezTo>
                <a:lnTo>
                  <a:pt x="1077674" y="1699713"/>
                </a:lnTo>
                <a:cubicBezTo>
                  <a:pt x="1077674" y="1994468"/>
                  <a:pt x="838728" y="2233414"/>
                  <a:pt x="543973" y="2233414"/>
                </a:cubicBezTo>
                <a:cubicBezTo>
                  <a:pt x="249218" y="2233414"/>
                  <a:pt x="10272" y="1994468"/>
                  <a:pt x="10272" y="1699713"/>
                </a:cubicBezTo>
                <a:close/>
                <a:moveTo>
                  <a:pt x="1588413" y="0"/>
                </a:moveTo>
                <a:cubicBezTo>
                  <a:pt x="1698070" y="0"/>
                  <a:pt x="1805131" y="11112"/>
                  <a:pt x="1908533" y="32271"/>
                </a:cubicBezTo>
                <a:lnTo>
                  <a:pt x="2056290" y="70263"/>
                </a:lnTo>
                <a:lnTo>
                  <a:pt x="2204046" y="32271"/>
                </a:lnTo>
                <a:cubicBezTo>
                  <a:pt x="2307448" y="11112"/>
                  <a:pt x="2414510" y="0"/>
                  <a:pt x="2524167" y="0"/>
                </a:cubicBezTo>
                <a:cubicBezTo>
                  <a:pt x="3401422" y="0"/>
                  <a:pt x="4112579" y="711157"/>
                  <a:pt x="4112579" y="1588413"/>
                </a:cubicBezTo>
                <a:lnTo>
                  <a:pt x="4109434" y="1650703"/>
                </a:lnTo>
                <a:lnTo>
                  <a:pt x="3953707" y="1650703"/>
                </a:lnTo>
                <a:cubicBezTo>
                  <a:pt x="3956405" y="1630102"/>
                  <a:pt x="3956852" y="1609310"/>
                  <a:pt x="3956852" y="1588413"/>
                </a:cubicBezTo>
                <a:cubicBezTo>
                  <a:pt x="3956852" y="797162"/>
                  <a:pt x="3315417" y="155727"/>
                  <a:pt x="2524167" y="155727"/>
                </a:cubicBezTo>
                <a:cubicBezTo>
                  <a:pt x="2474714" y="155727"/>
                  <a:pt x="2425846" y="158233"/>
                  <a:pt x="2377683" y="163124"/>
                </a:cubicBezTo>
                <a:lnTo>
                  <a:pt x="2308207" y="173727"/>
                </a:lnTo>
                <a:lnTo>
                  <a:pt x="2345544" y="191713"/>
                </a:lnTo>
                <a:cubicBezTo>
                  <a:pt x="2840692" y="460694"/>
                  <a:pt x="3176825" y="985299"/>
                  <a:pt x="3176825" y="1588413"/>
                </a:cubicBezTo>
                <a:lnTo>
                  <a:pt x="3173680" y="1650703"/>
                </a:lnTo>
                <a:lnTo>
                  <a:pt x="3017953" y="1650703"/>
                </a:lnTo>
                <a:cubicBezTo>
                  <a:pt x="3020651" y="1630102"/>
                  <a:pt x="3021098" y="1609310"/>
                  <a:pt x="3021098" y="1588413"/>
                </a:cubicBezTo>
                <a:cubicBezTo>
                  <a:pt x="3021098" y="994975"/>
                  <a:pt x="2660291" y="485808"/>
                  <a:pt x="2146079" y="268314"/>
                </a:cubicBezTo>
                <a:lnTo>
                  <a:pt x="2056290" y="235451"/>
                </a:lnTo>
                <a:lnTo>
                  <a:pt x="1966501" y="268314"/>
                </a:lnTo>
                <a:cubicBezTo>
                  <a:pt x="1452288" y="485808"/>
                  <a:pt x="1091481" y="994975"/>
                  <a:pt x="1091481" y="1588413"/>
                </a:cubicBezTo>
                <a:lnTo>
                  <a:pt x="1094626" y="1650703"/>
                </a:lnTo>
                <a:lnTo>
                  <a:pt x="938900" y="1650703"/>
                </a:lnTo>
                <a:cubicBezTo>
                  <a:pt x="936157" y="1630089"/>
                  <a:pt x="935754" y="1609297"/>
                  <a:pt x="935754" y="1588413"/>
                </a:cubicBezTo>
                <a:cubicBezTo>
                  <a:pt x="935754" y="985299"/>
                  <a:pt x="1271887" y="460694"/>
                  <a:pt x="1767035" y="191713"/>
                </a:cubicBezTo>
                <a:lnTo>
                  <a:pt x="1804372" y="173727"/>
                </a:lnTo>
                <a:lnTo>
                  <a:pt x="1734897" y="163124"/>
                </a:lnTo>
                <a:cubicBezTo>
                  <a:pt x="1686734" y="158233"/>
                  <a:pt x="1637866" y="155727"/>
                  <a:pt x="1588413" y="155727"/>
                </a:cubicBezTo>
                <a:cubicBezTo>
                  <a:pt x="797162" y="155727"/>
                  <a:pt x="155727" y="797162"/>
                  <a:pt x="155727" y="1588413"/>
                </a:cubicBezTo>
                <a:lnTo>
                  <a:pt x="158872" y="1650703"/>
                </a:lnTo>
                <a:lnTo>
                  <a:pt x="3145" y="1650703"/>
                </a:lnTo>
                <a:cubicBezTo>
                  <a:pt x="403" y="1630089"/>
                  <a:pt x="0" y="1609297"/>
                  <a:pt x="0" y="1588413"/>
                </a:cubicBezTo>
                <a:cubicBezTo>
                  <a:pt x="0" y="711157"/>
                  <a:pt x="711157" y="0"/>
                  <a:pt x="1588413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A1F4D3E-03E7-41D1-927D-AE57D252EB2E}"/>
              </a:ext>
            </a:extLst>
          </p:cNvPr>
          <p:cNvSpPr/>
          <p:nvPr/>
        </p:nvSpPr>
        <p:spPr>
          <a:xfrm>
            <a:off x="2196934" y="4294778"/>
            <a:ext cx="828515" cy="903947"/>
          </a:xfrm>
          <a:prstGeom prst="ellipse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前置技能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6235DC86-F9DA-4E76-BD98-4237C00CD0D5}"/>
              </a:ext>
            </a:extLst>
          </p:cNvPr>
          <p:cNvSpPr/>
          <p:nvPr/>
        </p:nvSpPr>
        <p:spPr>
          <a:xfrm>
            <a:off x="3965950" y="2409328"/>
            <a:ext cx="828517" cy="903947"/>
          </a:xfrm>
          <a:prstGeom prst="ellipse">
            <a:avLst/>
          </a:pr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主要阵地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62BE6EB-8509-4012-9153-FE6C12F9F22B}"/>
              </a:ext>
            </a:extLst>
          </p:cNvPr>
          <p:cNvSpPr/>
          <p:nvPr/>
        </p:nvSpPr>
        <p:spPr>
          <a:xfrm>
            <a:off x="5992428" y="4311790"/>
            <a:ext cx="828515" cy="903947"/>
          </a:xfrm>
          <a:prstGeom prst="ellipse">
            <a:avLst/>
          </a:prstGeom>
          <a:solidFill>
            <a:srgbClr val="013B6D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目标资源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161996FE-913E-4BBA-9911-BC751BFB5414}"/>
              </a:ext>
            </a:extLst>
          </p:cNvPr>
          <p:cNvSpPr/>
          <p:nvPr/>
        </p:nvSpPr>
        <p:spPr>
          <a:xfrm>
            <a:off x="7775877" y="2445364"/>
            <a:ext cx="826520" cy="901768"/>
          </a:xfrm>
          <a:prstGeom prst="ellipse">
            <a:avLst/>
          </a:pr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结束标志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078F94-345C-4EEE-B321-A0EC8A257890}"/>
              </a:ext>
            </a:extLst>
          </p:cNvPr>
          <p:cNvSpPr txBox="1"/>
          <p:nvPr/>
        </p:nvSpPr>
        <p:spPr>
          <a:xfrm>
            <a:off x="3474933" y="1674849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r>
              <a:rPr lang="zh-CN" altLang="en-US" dirty="0"/>
              <a:t>站、知乎、</a:t>
            </a:r>
            <a:r>
              <a:rPr lang="en-US" altLang="zh-CN" dirty="0"/>
              <a:t>CSDN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2591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2" y="669925"/>
            <a:ext cx="7610477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3.2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小白如何成为大聪明（三个星期左右）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46B620-75ED-42F0-B9DC-4CE3EA0EABA9}"/>
              </a:ext>
            </a:extLst>
          </p:cNvPr>
          <p:cNvSpPr txBox="1"/>
          <p:nvPr/>
        </p:nvSpPr>
        <p:spPr>
          <a:xfrm>
            <a:off x="1466850" y="23526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55624A-F8F2-4E0E-90AE-77968017C7A4}"/>
              </a:ext>
            </a:extLst>
          </p:cNvPr>
          <p:cNvSpPr txBox="1"/>
          <p:nvPr/>
        </p:nvSpPr>
        <p:spPr>
          <a:xfrm>
            <a:off x="1559215" y="1733550"/>
            <a:ext cx="8523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开始接触成体系的模型，</a:t>
            </a:r>
            <a:r>
              <a:rPr lang="en-US" altLang="zh-CN" dirty="0"/>
              <a:t>B</a:t>
            </a:r>
            <a:r>
              <a:rPr lang="zh-CN" altLang="en-US" dirty="0"/>
              <a:t>站的一些速成课，</a:t>
            </a:r>
            <a:r>
              <a:rPr lang="en-US" altLang="zh-CN" dirty="0" err="1"/>
              <a:t>cleverfrank</a:t>
            </a:r>
            <a:r>
              <a:rPr lang="zh-CN" altLang="en-US" dirty="0"/>
              <a:t>，数学建模</a:t>
            </a:r>
            <a:r>
              <a:rPr lang="en-US" altLang="zh-CN" dirty="0"/>
              <a:t>BOOM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zh-CN" altLang="en-US" dirty="0"/>
              <a:t>首推清风网课，学的时候要时刻提醒自己，在学哪一类模型，干什么用的。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440A3A-4847-4A72-BA51-66A086D4E233}"/>
              </a:ext>
            </a:extLst>
          </p:cNvPr>
          <p:cNvSpPr txBox="1"/>
          <p:nvPr/>
        </p:nvSpPr>
        <p:spPr>
          <a:xfrm>
            <a:off x="6772275" y="4478120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本阶段结束的标志就是对于什么模型都能侃两句，</a:t>
            </a:r>
            <a:endParaRPr lang="en-US" altLang="zh-CN" dirty="0"/>
          </a:p>
          <a:p>
            <a:r>
              <a:rPr lang="zh-CN" altLang="en-US" dirty="0"/>
              <a:t>虽然也谈不上精通。但拿到真的题目还是不会做。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057CF0-F082-4B22-B74F-F077E79E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828974"/>
            <a:ext cx="5343525" cy="261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55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3" y="669925"/>
            <a:ext cx="8991602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3.3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小成教法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-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姜启源（源神）的觉醒（三个星期）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9126E2-6343-4CAB-8A74-18AAEDFF9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1755457"/>
            <a:ext cx="40957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9D64FBC-A76D-4C59-9724-3F6FCEDB074D}"/>
              </a:ext>
            </a:extLst>
          </p:cNvPr>
          <p:cNvSpPr txBox="1"/>
          <p:nvPr/>
        </p:nvSpPr>
        <p:spPr>
          <a:xfrm>
            <a:off x="5920859" y="2459504"/>
            <a:ext cx="51090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数学建模，重要的不是既成的模型，</a:t>
            </a:r>
            <a:endParaRPr lang="en-US" altLang="zh-CN" sz="2400" dirty="0"/>
          </a:p>
          <a:p>
            <a:r>
              <a:rPr lang="zh-CN" altLang="en-US" sz="2400" dirty="0"/>
              <a:t>而是数学的思维。</a:t>
            </a:r>
            <a:endParaRPr lang="en-US" altLang="zh-CN" sz="2400" dirty="0"/>
          </a:p>
          <a:p>
            <a:r>
              <a:rPr lang="zh-CN" altLang="en-US" sz="2400" dirty="0"/>
              <a:t>重点不应该放在套用模型上，而应</a:t>
            </a:r>
            <a:endParaRPr lang="en-US" altLang="zh-CN" sz="2400" dirty="0"/>
          </a:p>
          <a:p>
            <a:r>
              <a:rPr lang="zh-CN" altLang="en-US" sz="2400" dirty="0"/>
              <a:t>该放在解决问题上。</a:t>
            </a:r>
            <a:endParaRPr lang="en-US" altLang="zh-CN" sz="2400" dirty="0"/>
          </a:p>
          <a:p>
            <a:r>
              <a:rPr lang="zh-CN" altLang="en-US" sz="2400" dirty="0"/>
              <a:t>合适永远比高级更接近真理。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801070-915B-45EC-904C-0D5CD0601236}"/>
              </a:ext>
            </a:extLst>
          </p:cNvPr>
          <p:cNvSpPr txBox="1"/>
          <p:nvPr/>
        </p:nvSpPr>
        <p:spPr>
          <a:xfrm>
            <a:off x="5484614" y="5064859"/>
            <a:ext cx="6417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对于大多数的真题开始有自己的想法，虽然与最优的还有一定</a:t>
            </a:r>
            <a:endParaRPr lang="en-US" altLang="zh-CN" dirty="0"/>
          </a:p>
          <a:p>
            <a:r>
              <a:rPr lang="zh-CN" altLang="en-US" dirty="0"/>
              <a:t>差距，觉得什么题目拿过来，都不至于一点头绪都没有。</a:t>
            </a:r>
          </a:p>
        </p:txBody>
      </p:sp>
    </p:spTree>
    <p:extLst>
      <p:ext uri="{BB962C8B-B14F-4D97-AF65-F5344CB8AC3E}">
        <p14:creationId xmlns:p14="http://schemas.microsoft.com/office/powerpoint/2010/main" val="3544221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2" y="669925"/>
            <a:ext cx="10829927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3.4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大成教法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—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已经没有人可以阻止你拿奖了（直到美赛前）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0099140-972B-472D-A8E0-3043E16B4807}"/>
              </a:ext>
            </a:extLst>
          </p:cNvPr>
          <p:cNvSpPr txBox="1"/>
          <p:nvPr/>
        </p:nvSpPr>
        <p:spPr>
          <a:xfrm>
            <a:off x="1514475" y="1817371"/>
            <a:ext cx="6806672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回顾往年真题：</a:t>
            </a:r>
            <a:endParaRPr lang="en-US" altLang="zh-CN" sz="2800" b="1" dirty="0"/>
          </a:p>
          <a:p>
            <a:pPr marL="342900" indent="-342900">
              <a:buAutoNum type="arabicPeriod"/>
            </a:pPr>
            <a:r>
              <a:rPr lang="en-US" altLang="zh-CN" sz="2800" dirty="0"/>
              <a:t>2021 B </a:t>
            </a:r>
            <a:r>
              <a:rPr lang="zh-CN" altLang="en-US" sz="2800" dirty="0"/>
              <a:t>扑灭野火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2020 C </a:t>
            </a:r>
            <a:r>
              <a:rPr lang="zh-CN" altLang="en-US" sz="2800" dirty="0"/>
              <a:t>全面探索亚马逊的评论和评级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2019 B </a:t>
            </a:r>
            <a:r>
              <a:rPr lang="zh-CN" altLang="en-US" sz="2800" dirty="0"/>
              <a:t>空难救援响应系统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2018 E </a:t>
            </a:r>
            <a:r>
              <a:rPr lang="zh-CN" altLang="en-US" sz="2800" dirty="0"/>
              <a:t>气候变化如何影响趋于不稳定性</a:t>
            </a:r>
            <a:endParaRPr lang="en-US" altLang="zh-CN" sz="2800" dirty="0"/>
          </a:p>
          <a:p>
            <a:pPr marL="342900" indent="-342900">
              <a:buAutoNum type="arabicPeriod"/>
            </a:pPr>
            <a:r>
              <a:rPr lang="en-US" altLang="zh-CN" sz="2800" dirty="0"/>
              <a:t>2016 A </a:t>
            </a:r>
            <a:r>
              <a:rPr lang="zh-CN" altLang="en-US" sz="2800" dirty="0"/>
              <a:t>恒温省水浴缸</a:t>
            </a:r>
            <a:endParaRPr lang="en-US" altLang="zh-CN" sz="2800" dirty="0"/>
          </a:p>
          <a:p>
            <a:pPr marL="342900" indent="-342900">
              <a:buAutoNum type="arabicPeriod"/>
            </a:pP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5AE300-232B-411F-AE9F-EE67DF6B9BDA}"/>
              </a:ext>
            </a:extLst>
          </p:cNvPr>
          <p:cNvSpPr txBox="1"/>
          <p:nvPr/>
        </p:nvSpPr>
        <p:spPr>
          <a:xfrm>
            <a:off x="1514475" y="4909097"/>
            <a:ext cx="23198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学习文风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总结高频模型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记录特色图片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66042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02622" y="2647341"/>
            <a:ext cx="7606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实战技巧</a:t>
            </a: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半闭框 5"/>
          <p:cNvSpPr/>
          <p:nvPr/>
        </p:nvSpPr>
        <p:spPr>
          <a:xfrm rot="2700000" flipH="1">
            <a:off x="-2050497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844112" y="-1167"/>
            <a:ext cx="2163986" cy="1724730"/>
            <a:chOff x="9241584" y="3891370"/>
            <a:chExt cx="3703923" cy="2952083"/>
          </a:xfrm>
        </p:grpSpPr>
        <p:cxnSp>
          <p:nvCxnSpPr>
            <p:cNvPr id="8" name="直线连接符 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 rot="10800000">
            <a:off x="9460783" y="4124960"/>
            <a:ext cx="3417109" cy="2733040"/>
            <a:chOff x="7297978" y="2480257"/>
            <a:chExt cx="3417109" cy="2733040"/>
          </a:xfrm>
        </p:grpSpPr>
        <p:sp>
          <p:nvSpPr>
            <p:cNvPr id="13" name="斜纹 12"/>
            <p:cNvSpPr/>
            <p:nvPr/>
          </p:nvSpPr>
          <p:spPr>
            <a:xfrm>
              <a:off x="7982047" y="2480257"/>
              <a:ext cx="2733040" cy="2733040"/>
            </a:xfrm>
            <a:prstGeom prst="diagStripe">
              <a:avLst>
                <a:gd name="adj" fmla="val 546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 rot="13500000">
              <a:off x="7297978" y="3056030"/>
              <a:ext cx="1368137" cy="136813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107305" y="1586865"/>
            <a:ext cx="27952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bg1">
                    <a:lumMod val="85000"/>
                    <a:alpha val="55000"/>
                  </a:schemeClr>
                </a:solidFill>
                <a:latin typeface="汉仪旗黑X1-55W" panose="00020600040101010101" pitchFamily="18" charset="-122"/>
                <a:ea typeface="汉仪旗黑X1-55W" panose="00020600040101010101" pitchFamily="18" charset="-122"/>
              </a:defRPr>
            </a:lvl1pPr>
          </a:lstStyle>
          <a:p>
            <a:pPr algn="l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04</a:t>
            </a:r>
          </a:p>
        </p:txBody>
      </p:sp>
    </p:spTree>
    <p:extLst>
      <p:ext uri="{BB962C8B-B14F-4D97-AF65-F5344CB8AC3E}">
        <p14:creationId xmlns:p14="http://schemas.microsoft.com/office/powerpoint/2010/main" val="278975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165473" y="629755"/>
            <a:ext cx="3838575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4.1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小网站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B029C6C-CE04-48F1-BA65-A1C0C0777A61}"/>
              </a:ext>
            </a:extLst>
          </p:cNvPr>
          <p:cNvGrpSpPr/>
          <p:nvPr/>
        </p:nvGrpSpPr>
        <p:grpSpPr>
          <a:xfrm>
            <a:off x="1296553" y="2314586"/>
            <a:ext cx="3528392" cy="2579848"/>
            <a:chOff x="-73113" y="1393414"/>
            <a:chExt cx="4832832" cy="3533614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47E8270-DA4C-453A-ABD6-EBB631D65C55}"/>
                </a:ext>
              </a:extLst>
            </p:cNvPr>
            <p:cNvSpPr/>
            <p:nvPr/>
          </p:nvSpPr>
          <p:spPr>
            <a:xfrm>
              <a:off x="1226105" y="1393414"/>
              <a:ext cx="3533614" cy="3533614"/>
            </a:xfrm>
            <a:prstGeom prst="ellipse">
              <a:avLst/>
            </a:pr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6A40D92D-55D0-4B23-A1F3-354889FC17FC}"/>
                </a:ext>
              </a:extLst>
            </p:cNvPr>
            <p:cNvSpPr/>
            <p:nvPr/>
          </p:nvSpPr>
          <p:spPr>
            <a:xfrm>
              <a:off x="1440264" y="1634987"/>
              <a:ext cx="3105297" cy="310529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</a:rPr>
                <a:t>实用网站</a:t>
              </a:r>
            </a:p>
          </p:txBody>
        </p:sp>
        <p:sp>
          <p:nvSpPr>
            <p:cNvPr id="13" name="矩形 10">
              <a:extLst>
                <a:ext uri="{FF2B5EF4-FFF2-40B4-BE49-F238E27FC236}">
                  <a16:creationId xmlns:a16="http://schemas.microsoft.com/office/drawing/2014/main" id="{0143DB80-A1A8-4DAA-B78C-A0D0D2B0C28D}"/>
                </a:ext>
              </a:extLst>
            </p:cNvPr>
            <p:cNvSpPr/>
            <p:nvPr/>
          </p:nvSpPr>
          <p:spPr>
            <a:xfrm rot="19750320">
              <a:off x="-73113" y="4113203"/>
              <a:ext cx="1761086" cy="667320"/>
            </a:xfrm>
            <a:custGeom>
              <a:avLst/>
              <a:gdLst>
                <a:gd name="connsiteX0" fmla="*/ 0 w 1745415"/>
                <a:gd name="connsiteY0" fmla="*/ 0 h 425404"/>
                <a:gd name="connsiteX1" fmla="*/ 1745415 w 1745415"/>
                <a:gd name="connsiteY1" fmla="*/ 0 h 425404"/>
                <a:gd name="connsiteX2" fmla="*/ 1745415 w 1745415"/>
                <a:gd name="connsiteY2" fmla="*/ 425404 h 425404"/>
                <a:gd name="connsiteX3" fmla="*/ 0 w 1745415"/>
                <a:gd name="connsiteY3" fmla="*/ 425404 h 425404"/>
                <a:gd name="connsiteX4" fmla="*/ 0 w 1745415"/>
                <a:gd name="connsiteY4" fmla="*/ 0 h 425404"/>
                <a:gd name="connsiteX0" fmla="*/ 2362 w 1745415"/>
                <a:gd name="connsiteY0" fmla="*/ 0 h 550333"/>
                <a:gd name="connsiteX1" fmla="*/ 1745415 w 1745415"/>
                <a:gd name="connsiteY1" fmla="*/ 124929 h 550333"/>
                <a:gd name="connsiteX2" fmla="*/ 1745415 w 1745415"/>
                <a:gd name="connsiteY2" fmla="*/ 550333 h 550333"/>
                <a:gd name="connsiteX3" fmla="*/ 0 w 1745415"/>
                <a:gd name="connsiteY3" fmla="*/ 550333 h 550333"/>
                <a:gd name="connsiteX4" fmla="*/ 2362 w 1745415"/>
                <a:gd name="connsiteY4" fmla="*/ 0 h 550333"/>
                <a:gd name="connsiteX0" fmla="*/ 18033 w 1761086"/>
                <a:gd name="connsiteY0" fmla="*/ 0 h 667320"/>
                <a:gd name="connsiteX1" fmla="*/ 1761086 w 1761086"/>
                <a:gd name="connsiteY1" fmla="*/ 124929 h 667320"/>
                <a:gd name="connsiteX2" fmla="*/ 1761086 w 1761086"/>
                <a:gd name="connsiteY2" fmla="*/ 550333 h 667320"/>
                <a:gd name="connsiteX3" fmla="*/ 0 w 1761086"/>
                <a:gd name="connsiteY3" fmla="*/ 667320 h 667320"/>
                <a:gd name="connsiteX4" fmla="*/ 18033 w 1761086"/>
                <a:gd name="connsiteY4" fmla="*/ 0 h 667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1086" h="667320">
                  <a:moveTo>
                    <a:pt x="18033" y="0"/>
                  </a:moveTo>
                  <a:lnTo>
                    <a:pt x="1761086" y="124929"/>
                  </a:lnTo>
                  <a:lnTo>
                    <a:pt x="1761086" y="550333"/>
                  </a:lnTo>
                  <a:lnTo>
                    <a:pt x="0" y="667320"/>
                  </a:lnTo>
                  <a:cubicBezTo>
                    <a:pt x="787" y="483876"/>
                    <a:pt x="17246" y="183444"/>
                    <a:pt x="18033" y="0"/>
                  </a:cubicBezTo>
                  <a:close/>
                </a:path>
              </a:pathLst>
            </a:custGeom>
            <a:solidFill>
              <a:srgbClr val="013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F3ABD03-A193-4514-809E-85BB959FC65D}"/>
              </a:ext>
            </a:extLst>
          </p:cNvPr>
          <p:cNvGrpSpPr/>
          <p:nvPr/>
        </p:nvGrpSpPr>
        <p:grpSpPr>
          <a:xfrm>
            <a:off x="6268330" y="1483495"/>
            <a:ext cx="4255653" cy="830997"/>
            <a:chOff x="4420480" y="1197745"/>
            <a:chExt cx="4255653" cy="830997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6ECD4E08-6144-4F60-B7B8-790DDA926B1B}"/>
                </a:ext>
              </a:extLst>
            </p:cNvPr>
            <p:cNvGrpSpPr/>
            <p:nvPr/>
          </p:nvGrpSpPr>
          <p:grpSpPr>
            <a:xfrm>
              <a:off x="4420480" y="1346031"/>
              <a:ext cx="583568" cy="583568"/>
              <a:chOff x="4820276" y="1417340"/>
              <a:chExt cx="792088" cy="792088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9A9ABCC8-8A77-45D9-B235-A5EDB6D13124}"/>
                  </a:ext>
                </a:extLst>
              </p:cNvPr>
              <p:cNvSpPr/>
              <p:nvPr/>
            </p:nvSpPr>
            <p:spPr>
              <a:xfrm>
                <a:off x="4820276" y="1417340"/>
                <a:ext cx="792088" cy="792088"/>
              </a:xfrm>
              <a:prstGeom prst="ellipse">
                <a:avLst/>
              </a:prstGeom>
              <a:solidFill>
                <a:srgbClr val="01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19" name="组合 52">
                <a:extLst>
                  <a:ext uri="{FF2B5EF4-FFF2-40B4-BE49-F238E27FC236}">
                    <a16:creationId xmlns:a16="http://schemas.microsoft.com/office/drawing/2014/main" id="{C1560B77-FF87-4CBB-9916-BCC171E608DE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53874" y="1561356"/>
                <a:ext cx="324892" cy="43735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29845E69-F08D-4DED-8601-A2CB64538387}"/>
                </a:ext>
              </a:extLst>
            </p:cNvPr>
            <p:cNvSpPr txBox="1"/>
            <p:nvPr/>
          </p:nvSpPr>
          <p:spPr>
            <a:xfrm>
              <a:off x="5004047" y="1197745"/>
              <a:ext cx="36720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绘图：</a:t>
              </a:r>
              <a:endParaRPr lang="en-US" altLang="zh-CN" sz="1600" b="1" dirty="0"/>
            </a:p>
            <a:p>
              <a:r>
                <a:rPr lang="en-US" altLang="zh-CN" sz="1600" dirty="0"/>
                <a:t>1.https://www.processon.com/</a:t>
              </a:r>
            </a:p>
            <a:p>
              <a:r>
                <a:rPr lang="en-US" altLang="zh-CN" sz="1600" dirty="0"/>
                <a:t>2.</a:t>
              </a:r>
              <a:r>
                <a:rPr lang="zh-CN" altLang="en-US" sz="1600" dirty="0"/>
                <a:t>亿图图示</a:t>
              </a:r>
              <a:endParaRPr lang="zh-CN" altLang="en-US" sz="1600" spc="-10" dirty="0">
                <a:solidFill>
                  <a:srgbClr val="00487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FD0BE38-83B6-4669-8D40-31C25CAE7958}"/>
              </a:ext>
            </a:extLst>
          </p:cNvPr>
          <p:cNvGrpSpPr/>
          <p:nvPr/>
        </p:nvGrpSpPr>
        <p:grpSpPr>
          <a:xfrm>
            <a:off x="6268330" y="3148983"/>
            <a:ext cx="4399670" cy="652874"/>
            <a:chOff x="4420480" y="2281436"/>
            <a:chExt cx="4399670" cy="652874"/>
          </a:xfrm>
        </p:grpSpPr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FD0FD18-0CAE-4637-858E-4D3D5961167C}"/>
                </a:ext>
              </a:extLst>
            </p:cNvPr>
            <p:cNvGrpSpPr/>
            <p:nvPr/>
          </p:nvGrpSpPr>
          <p:grpSpPr>
            <a:xfrm>
              <a:off x="4420480" y="2355844"/>
              <a:ext cx="583568" cy="578466"/>
              <a:chOff x="4820276" y="2329061"/>
              <a:chExt cx="792088" cy="785164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643D9572-0542-4B3B-801F-555018125EB0}"/>
                  </a:ext>
                </a:extLst>
              </p:cNvPr>
              <p:cNvSpPr/>
              <p:nvPr/>
            </p:nvSpPr>
            <p:spPr>
              <a:xfrm>
                <a:off x="4820276" y="2329061"/>
                <a:ext cx="792088" cy="78516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Freeform 536">
                <a:extLst>
                  <a:ext uri="{FF2B5EF4-FFF2-40B4-BE49-F238E27FC236}">
                    <a16:creationId xmlns:a16="http://schemas.microsoft.com/office/drawing/2014/main" id="{D061CC0C-1B65-41DE-93E5-5097D8768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1544" y="2546459"/>
                <a:ext cx="509553" cy="311041"/>
              </a:xfrm>
              <a:custGeom>
                <a:avLst/>
                <a:gdLst>
                  <a:gd name="T0" fmla="*/ 535 w 684"/>
                  <a:gd name="T1" fmla="*/ 120 h 418"/>
                  <a:gd name="T2" fmla="*/ 528 w 684"/>
                  <a:gd name="T3" fmla="*/ 121 h 418"/>
                  <a:gd name="T4" fmla="*/ 367 w 684"/>
                  <a:gd name="T5" fmla="*/ 0 h 418"/>
                  <a:gd name="T6" fmla="*/ 208 w 684"/>
                  <a:gd name="T7" fmla="*/ 114 h 418"/>
                  <a:gd name="T8" fmla="*/ 167 w 684"/>
                  <a:gd name="T9" fmla="*/ 101 h 418"/>
                  <a:gd name="T10" fmla="*/ 96 w 684"/>
                  <a:gd name="T11" fmla="*/ 171 h 418"/>
                  <a:gd name="T12" fmla="*/ 0 w 684"/>
                  <a:gd name="T13" fmla="*/ 293 h 418"/>
                  <a:gd name="T14" fmla="*/ 125 w 684"/>
                  <a:gd name="T15" fmla="*/ 418 h 418"/>
                  <a:gd name="T16" fmla="*/ 128 w 684"/>
                  <a:gd name="T17" fmla="*/ 418 h 418"/>
                  <a:gd name="T18" fmla="*/ 131 w 684"/>
                  <a:gd name="T19" fmla="*/ 418 h 418"/>
                  <a:gd name="T20" fmla="*/ 535 w 684"/>
                  <a:gd name="T21" fmla="*/ 418 h 418"/>
                  <a:gd name="T22" fmla="*/ 684 w 684"/>
                  <a:gd name="T23" fmla="*/ 269 h 418"/>
                  <a:gd name="T24" fmla="*/ 535 w 684"/>
                  <a:gd name="T25" fmla="*/ 120 h 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84" h="418">
                    <a:moveTo>
                      <a:pt x="535" y="120"/>
                    </a:moveTo>
                    <a:cubicBezTo>
                      <a:pt x="533" y="120"/>
                      <a:pt x="531" y="121"/>
                      <a:pt x="528" y="121"/>
                    </a:cubicBezTo>
                    <a:cubicBezTo>
                      <a:pt x="508" y="51"/>
                      <a:pt x="443" y="0"/>
                      <a:pt x="367" y="0"/>
                    </a:cubicBezTo>
                    <a:cubicBezTo>
                      <a:pt x="293" y="0"/>
                      <a:pt x="230" y="48"/>
                      <a:pt x="208" y="114"/>
                    </a:cubicBezTo>
                    <a:cubicBezTo>
                      <a:pt x="196" y="106"/>
                      <a:pt x="182" y="101"/>
                      <a:pt x="167" y="101"/>
                    </a:cubicBezTo>
                    <a:cubicBezTo>
                      <a:pt x="128" y="101"/>
                      <a:pt x="96" y="132"/>
                      <a:pt x="96" y="171"/>
                    </a:cubicBezTo>
                    <a:cubicBezTo>
                      <a:pt x="41" y="185"/>
                      <a:pt x="0" y="234"/>
                      <a:pt x="0" y="293"/>
                    </a:cubicBezTo>
                    <a:cubicBezTo>
                      <a:pt x="0" y="362"/>
                      <a:pt x="56" y="418"/>
                      <a:pt x="125" y="418"/>
                    </a:cubicBezTo>
                    <a:cubicBezTo>
                      <a:pt x="126" y="418"/>
                      <a:pt x="126" y="418"/>
                      <a:pt x="128" y="418"/>
                    </a:cubicBezTo>
                    <a:cubicBezTo>
                      <a:pt x="129" y="418"/>
                      <a:pt x="130" y="418"/>
                      <a:pt x="131" y="418"/>
                    </a:cubicBezTo>
                    <a:lnTo>
                      <a:pt x="535" y="418"/>
                    </a:lnTo>
                    <a:cubicBezTo>
                      <a:pt x="618" y="418"/>
                      <a:pt x="684" y="351"/>
                      <a:pt x="684" y="269"/>
                    </a:cubicBezTo>
                    <a:cubicBezTo>
                      <a:pt x="684" y="187"/>
                      <a:pt x="618" y="120"/>
                      <a:pt x="535" y="1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10983D9A-9A69-4281-8C0E-0AA52A564434}"/>
                </a:ext>
              </a:extLst>
            </p:cNvPr>
            <p:cNvSpPr txBox="1"/>
            <p:nvPr/>
          </p:nvSpPr>
          <p:spPr>
            <a:xfrm>
              <a:off x="5148064" y="2281436"/>
              <a:ext cx="367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公式：</a:t>
              </a:r>
              <a:endParaRPr lang="en-US" altLang="zh-CN" sz="1600" b="1" dirty="0"/>
            </a:p>
            <a:p>
              <a:r>
                <a:rPr lang="en-US" altLang="zh-CN" sz="1600" dirty="0"/>
                <a:t>https://www.latexlive.com/</a:t>
              </a:r>
              <a:endParaRPr lang="zh-CN" altLang="en-US" sz="1600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D7F3EBF-59EA-4EEC-B9E8-1F9BDAB773E0}"/>
              </a:ext>
            </a:extLst>
          </p:cNvPr>
          <p:cNvGrpSpPr/>
          <p:nvPr/>
        </p:nvGrpSpPr>
        <p:grpSpPr>
          <a:xfrm>
            <a:off x="6268330" y="4546848"/>
            <a:ext cx="4399670" cy="654575"/>
            <a:chOff x="4420480" y="3289548"/>
            <a:chExt cx="4399670" cy="65457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03035DA-8615-4A3A-AE3D-C2B826ECCC5C}"/>
                </a:ext>
              </a:extLst>
            </p:cNvPr>
            <p:cNvGrpSpPr/>
            <p:nvPr/>
          </p:nvGrpSpPr>
          <p:grpSpPr>
            <a:xfrm>
              <a:off x="4420480" y="3360555"/>
              <a:ext cx="583568" cy="583568"/>
              <a:chOff x="4820276" y="3289548"/>
              <a:chExt cx="792088" cy="792088"/>
            </a:xfrm>
          </p:grpSpPr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933FC62D-64F7-432E-AA32-7BBBEF840C34}"/>
                  </a:ext>
                </a:extLst>
              </p:cNvPr>
              <p:cNvSpPr/>
              <p:nvPr/>
            </p:nvSpPr>
            <p:spPr>
              <a:xfrm>
                <a:off x="4820276" y="3289548"/>
                <a:ext cx="792088" cy="792088"/>
              </a:xfrm>
              <a:prstGeom prst="ellipse">
                <a:avLst/>
              </a:prstGeom>
              <a:solidFill>
                <a:srgbClr val="013B6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9" name="组合 61">
                <a:extLst>
                  <a:ext uri="{FF2B5EF4-FFF2-40B4-BE49-F238E27FC236}">
                    <a16:creationId xmlns:a16="http://schemas.microsoft.com/office/drawing/2014/main" id="{F6D43E27-2F1A-4837-B3D1-A4FF881369CB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9929" y="3446175"/>
                <a:ext cx="352660" cy="38123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" name="TextBox 22">
              <a:extLst>
                <a:ext uri="{FF2B5EF4-FFF2-40B4-BE49-F238E27FC236}">
                  <a16:creationId xmlns:a16="http://schemas.microsoft.com/office/drawing/2014/main" id="{AED57176-2AC4-446C-AB39-3C9A3319C910}"/>
                </a:ext>
              </a:extLst>
            </p:cNvPr>
            <p:cNvSpPr txBox="1"/>
            <p:nvPr/>
          </p:nvSpPr>
          <p:spPr>
            <a:xfrm>
              <a:off x="5148064" y="3289548"/>
              <a:ext cx="367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/>
                <a:t>数据处理：</a:t>
              </a:r>
              <a:endParaRPr lang="en-US" altLang="zh-CN" sz="1600" b="1" dirty="0"/>
            </a:p>
            <a:p>
              <a:r>
                <a:rPr lang="en-US" altLang="zh-CN" sz="1600" dirty="0"/>
                <a:t>https://www.spsspro.com/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5743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7665" y="679133"/>
            <a:ext cx="6071360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4.2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奇妙软件与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MATLAB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工具箱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9" name="îṡľíḍè">
            <a:extLst>
              <a:ext uri="{FF2B5EF4-FFF2-40B4-BE49-F238E27FC236}">
                <a16:creationId xmlns:a16="http://schemas.microsoft.com/office/drawing/2014/main" id="{6F84EE99-65DA-4385-A7C7-DA6AA421C2F9}"/>
              </a:ext>
            </a:extLst>
          </p:cNvPr>
          <p:cNvGrpSpPr/>
          <p:nvPr/>
        </p:nvGrpSpPr>
        <p:grpSpPr>
          <a:xfrm>
            <a:off x="1034732" y="1835052"/>
            <a:ext cx="10085582" cy="1906695"/>
            <a:chOff x="5684151" y="1821774"/>
            <a:chExt cx="5718739" cy="1686000"/>
          </a:xfrm>
        </p:grpSpPr>
        <p:grpSp>
          <p:nvGrpSpPr>
            <p:cNvPr id="10" name="ïsľîdé">
              <a:extLst>
                <a:ext uri="{FF2B5EF4-FFF2-40B4-BE49-F238E27FC236}">
                  <a16:creationId xmlns:a16="http://schemas.microsoft.com/office/drawing/2014/main" id="{9CC87DFA-326E-43B5-82A4-D7DEC418A762}"/>
                </a:ext>
              </a:extLst>
            </p:cNvPr>
            <p:cNvGrpSpPr/>
            <p:nvPr/>
          </p:nvGrpSpPr>
          <p:grpSpPr>
            <a:xfrm>
              <a:off x="5684151" y="1821774"/>
              <a:ext cx="1727764" cy="1686000"/>
              <a:chOff x="5684152" y="1821774"/>
              <a:chExt cx="1575683" cy="1686000"/>
            </a:xfrm>
          </p:grpSpPr>
          <p:sp>
            <p:nvSpPr>
              <p:cNvPr id="18" name="íSḷïďe">
                <a:extLst>
                  <a:ext uri="{FF2B5EF4-FFF2-40B4-BE49-F238E27FC236}">
                    <a16:creationId xmlns:a16="http://schemas.microsoft.com/office/drawing/2014/main" id="{9596E8C2-7DEF-4833-8CE0-2265540F0DD6}"/>
                  </a:ext>
                </a:extLst>
              </p:cNvPr>
              <p:cNvSpPr txBox="1"/>
              <p:nvPr/>
            </p:nvSpPr>
            <p:spPr>
              <a:xfrm>
                <a:off x="5684153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Latex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word</a:t>
                </a:r>
              </a:p>
            </p:txBody>
          </p:sp>
          <p:sp>
            <p:nvSpPr>
              <p:cNvPr id="19" name="íŝľîde">
                <a:extLst>
                  <a:ext uri="{FF2B5EF4-FFF2-40B4-BE49-F238E27FC236}">
                    <a16:creationId xmlns:a16="http://schemas.microsoft.com/office/drawing/2014/main" id="{B9A539DB-7AED-4EAF-9E59-9548E9AD9371}"/>
                  </a:ext>
                </a:extLst>
              </p:cNvPr>
              <p:cNvSpPr txBox="1"/>
              <p:nvPr/>
            </p:nvSpPr>
            <p:spPr>
              <a:xfrm>
                <a:off x="5684152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论文排版软件</a:t>
                </a:r>
              </a:p>
            </p:txBody>
          </p:sp>
        </p:grpSp>
        <p:grpSp>
          <p:nvGrpSpPr>
            <p:cNvPr id="12" name="îŝḷïḓe">
              <a:extLst>
                <a:ext uri="{FF2B5EF4-FFF2-40B4-BE49-F238E27FC236}">
                  <a16:creationId xmlns:a16="http://schemas.microsoft.com/office/drawing/2014/main" id="{ADB9231E-AAF7-4B56-B82B-9FDB4FCE61EB}"/>
                </a:ext>
              </a:extLst>
            </p:cNvPr>
            <p:cNvGrpSpPr/>
            <p:nvPr/>
          </p:nvGrpSpPr>
          <p:grpSpPr>
            <a:xfrm>
              <a:off x="7679639" y="1821774"/>
              <a:ext cx="1727763" cy="1686000"/>
              <a:chOff x="7679640" y="1821774"/>
              <a:chExt cx="1575682" cy="1686000"/>
            </a:xfrm>
          </p:grpSpPr>
          <p:sp>
            <p:nvSpPr>
              <p:cNvPr id="16" name="i$1iḋè">
                <a:extLst>
                  <a:ext uri="{FF2B5EF4-FFF2-40B4-BE49-F238E27FC236}">
                    <a16:creationId xmlns:a16="http://schemas.microsoft.com/office/drawing/2014/main" id="{BA4154C3-6EB1-49B4-854A-E9FC1DB7A35F}"/>
                  </a:ext>
                </a:extLst>
              </p:cNvPr>
              <p:cNvSpPr txBox="1"/>
              <p:nvPr/>
            </p:nvSpPr>
            <p:spPr>
              <a:xfrm>
                <a:off x="7679640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优先</a:t>
                </a: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matlab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python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excal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至少一种能处理数据的语言</a:t>
                </a:r>
              </a:p>
            </p:txBody>
          </p:sp>
          <p:sp>
            <p:nvSpPr>
              <p:cNvPr id="17" name="íṧḷïḑe">
                <a:extLst>
                  <a:ext uri="{FF2B5EF4-FFF2-40B4-BE49-F238E27FC236}">
                    <a16:creationId xmlns:a16="http://schemas.microsoft.com/office/drawing/2014/main" id="{1CBDA2BF-4EB5-4A00-82F6-AC651A5148F1}"/>
                  </a:ext>
                </a:extLst>
              </p:cNvPr>
              <p:cNvSpPr txBox="1"/>
              <p:nvPr/>
            </p:nvSpPr>
            <p:spPr>
              <a:xfrm>
                <a:off x="7679640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编程软件</a:t>
                </a:r>
              </a:p>
            </p:txBody>
          </p:sp>
        </p:grpSp>
        <p:grpSp>
          <p:nvGrpSpPr>
            <p:cNvPr id="13" name="ïš1ïdé">
              <a:extLst>
                <a:ext uri="{FF2B5EF4-FFF2-40B4-BE49-F238E27FC236}">
                  <a16:creationId xmlns:a16="http://schemas.microsoft.com/office/drawing/2014/main" id="{F9A2E91B-8EC4-4DC2-A753-39D2AAEF33F6}"/>
                </a:ext>
              </a:extLst>
            </p:cNvPr>
            <p:cNvGrpSpPr/>
            <p:nvPr/>
          </p:nvGrpSpPr>
          <p:grpSpPr>
            <a:xfrm>
              <a:off x="9675127" y="1821774"/>
              <a:ext cx="1727763" cy="1686000"/>
              <a:chOff x="9675128" y="1821774"/>
              <a:chExt cx="1575682" cy="1686000"/>
            </a:xfrm>
          </p:grpSpPr>
          <p:sp>
            <p:nvSpPr>
              <p:cNvPr id="14" name="išľîḍè">
                <a:extLst>
                  <a:ext uri="{FF2B5EF4-FFF2-40B4-BE49-F238E27FC236}">
                    <a16:creationId xmlns:a16="http://schemas.microsoft.com/office/drawing/2014/main" id="{ED6F0466-1D01-4810-8F01-150092E09DD4}"/>
                  </a:ext>
                </a:extLst>
              </p:cNvPr>
              <p:cNvSpPr txBox="1"/>
              <p:nvPr/>
            </p:nvSpPr>
            <p:spPr>
              <a:xfrm>
                <a:off x="9675128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知云翻译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deepl</a:t>
                </a:r>
                <a:endParaRPr lang="zh-CN" alt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íślíḋe">
                <a:extLst>
                  <a:ext uri="{FF2B5EF4-FFF2-40B4-BE49-F238E27FC236}">
                    <a16:creationId xmlns:a16="http://schemas.microsoft.com/office/drawing/2014/main" id="{2E269077-727D-4658-ADA1-753A1D7DB6C0}"/>
                  </a:ext>
                </a:extLst>
              </p:cNvPr>
              <p:cNvSpPr txBox="1"/>
              <p:nvPr/>
            </p:nvSpPr>
            <p:spPr>
              <a:xfrm>
                <a:off x="9675128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翻译软件</a:t>
                </a:r>
              </a:p>
            </p:txBody>
          </p:sp>
        </p:grpSp>
      </p:grpSp>
      <p:grpSp>
        <p:nvGrpSpPr>
          <p:cNvPr id="20" name="îṡľíḍè">
            <a:extLst>
              <a:ext uri="{FF2B5EF4-FFF2-40B4-BE49-F238E27FC236}">
                <a16:creationId xmlns:a16="http://schemas.microsoft.com/office/drawing/2014/main" id="{077A6DA6-5AE1-479C-8477-CBD902339E1B}"/>
              </a:ext>
            </a:extLst>
          </p:cNvPr>
          <p:cNvGrpSpPr/>
          <p:nvPr/>
        </p:nvGrpSpPr>
        <p:grpSpPr>
          <a:xfrm>
            <a:off x="1053209" y="4161365"/>
            <a:ext cx="10085582" cy="1906695"/>
            <a:chOff x="5684151" y="1821774"/>
            <a:chExt cx="5718739" cy="1686000"/>
          </a:xfrm>
        </p:grpSpPr>
        <p:grpSp>
          <p:nvGrpSpPr>
            <p:cNvPr id="21" name="ïsľîdé">
              <a:extLst>
                <a:ext uri="{FF2B5EF4-FFF2-40B4-BE49-F238E27FC236}">
                  <a16:creationId xmlns:a16="http://schemas.microsoft.com/office/drawing/2014/main" id="{8E2C4725-08CF-493C-BDF2-4A4EC79AB397}"/>
                </a:ext>
              </a:extLst>
            </p:cNvPr>
            <p:cNvGrpSpPr/>
            <p:nvPr/>
          </p:nvGrpSpPr>
          <p:grpSpPr>
            <a:xfrm>
              <a:off x="5684151" y="1821774"/>
              <a:ext cx="1727763" cy="1686000"/>
              <a:chOff x="5684152" y="1821774"/>
              <a:chExt cx="1575682" cy="1686000"/>
            </a:xfrm>
          </p:grpSpPr>
          <p:sp>
            <p:nvSpPr>
              <p:cNvPr id="28" name="íSḷïďe">
                <a:extLst>
                  <a:ext uri="{FF2B5EF4-FFF2-40B4-BE49-F238E27FC236}">
                    <a16:creationId xmlns:a16="http://schemas.microsoft.com/office/drawing/2014/main" id="{EED88850-04AC-4B91-83F1-7DDCD3519FC6}"/>
                  </a:ext>
                </a:extLst>
              </p:cNvPr>
              <p:cNvSpPr txBox="1"/>
              <p:nvPr/>
            </p:nvSpPr>
            <p:spPr>
              <a:xfrm>
                <a:off x="5684152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Lingo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Spss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Mathematic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íŝľîde">
                <a:extLst>
                  <a:ext uri="{FF2B5EF4-FFF2-40B4-BE49-F238E27FC236}">
                    <a16:creationId xmlns:a16="http://schemas.microsoft.com/office/drawing/2014/main" id="{E9221729-AD55-4B77-BE4C-882841AC6D12}"/>
                  </a:ext>
                </a:extLst>
              </p:cNvPr>
              <p:cNvSpPr txBox="1"/>
              <p:nvPr/>
            </p:nvSpPr>
            <p:spPr>
              <a:xfrm>
                <a:off x="5684152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特殊用途软件</a:t>
                </a:r>
              </a:p>
            </p:txBody>
          </p:sp>
        </p:grpSp>
        <p:grpSp>
          <p:nvGrpSpPr>
            <p:cNvPr id="22" name="îŝḷïḓe">
              <a:extLst>
                <a:ext uri="{FF2B5EF4-FFF2-40B4-BE49-F238E27FC236}">
                  <a16:creationId xmlns:a16="http://schemas.microsoft.com/office/drawing/2014/main" id="{E972B7D8-F529-403F-A238-E12FA6821C28}"/>
                </a:ext>
              </a:extLst>
            </p:cNvPr>
            <p:cNvGrpSpPr/>
            <p:nvPr/>
          </p:nvGrpSpPr>
          <p:grpSpPr>
            <a:xfrm>
              <a:off x="7679639" y="1821774"/>
              <a:ext cx="1727763" cy="1686000"/>
              <a:chOff x="7679640" y="1821774"/>
              <a:chExt cx="1575682" cy="1686000"/>
            </a:xfrm>
          </p:grpSpPr>
          <p:sp>
            <p:nvSpPr>
              <p:cNvPr id="26" name="i$1iḋè">
                <a:extLst>
                  <a:ext uri="{FF2B5EF4-FFF2-40B4-BE49-F238E27FC236}">
                    <a16:creationId xmlns:a16="http://schemas.microsoft.com/office/drawing/2014/main" id="{6C533433-87A7-4BA3-BF94-62D940FB45C2}"/>
                  </a:ext>
                </a:extLst>
              </p:cNvPr>
              <p:cNvSpPr txBox="1"/>
              <p:nvPr/>
            </p:nvSpPr>
            <p:spPr>
              <a:xfrm>
                <a:off x="7679640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Vpn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：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  <a:hlinkClick r:id="rId2"/>
                  </a:rPr>
                  <a:t>https://vpn.jlu.edu.cn/login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优先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Web of</a:t>
                </a: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en-US" altLang="zh-CN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Science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íṧḷïḑe">
                <a:extLst>
                  <a:ext uri="{FF2B5EF4-FFF2-40B4-BE49-F238E27FC236}">
                    <a16:creationId xmlns:a16="http://schemas.microsoft.com/office/drawing/2014/main" id="{FA46F3A7-75B9-43F7-9E69-CA6D296C8FA2}"/>
                  </a:ext>
                </a:extLst>
              </p:cNvPr>
              <p:cNvSpPr txBox="1"/>
              <p:nvPr/>
            </p:nvSpPr>
            <p:spPr>
              <a:xfrm>
                <a:off x="7679640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文章资源获取</a:t>
                </a:r>
              </a:p>
            </p:txBody>
          </p:sp>
        </p:grpSp>
        <p:grpSp>
          <p:nvGrpSpPr>
            <p:cNvPr id="23" name="ïš1ïdé">
              <a:extLst>
                <a:ext uri="{FF2B5EF4-FFF2-40B4-BE49-F238E27FC236}">
                  <a16:creationId xmlns:a16="http://schemas.microsoft.com/office/drawing/2014/main" id="{BDBCBC9D-703C-4127-95A0-28825D8F6287}"/>
                </a:ext>
              </a:extLst>
            </p:cNvPr>
            <p:cNvGrpSpPr/>
            <p:nvPr/>
          </p:nvGrpSpPr>
          <p:grpSpPr>
            <a:xfrm>
              <a:off x="9675127" y="1821774"/>
              <a:ext cx="1727763" cy="1686000"/>
              <a:chOff x="9675128" y="1821774"/>
              <a:chExt cx="1575682" cy="1686000"/>
            </a:xfrm>
          </p:grpSpPr>
          <p:sp>
            <p:nvSpPr>
              <p:cNvPr id="24" name="išľîḍè">
                <a:extLst>
                  <a:ext uri="{FF2B5EF4-FFF2-40B4-BE49-F238E27FC236}">
                    <a16:creationId xmlns:a16="http://schemas.microsoft.com/office/drawing/2014/main" id="{93EB30B2-F960-4733-90ED-61156F88837E}"/>
                  </a:ext>
                </a:extLst>
              </p:cNvPr>
              <p:cNvSpPr txBox="1"/>
              <p:nvPr/>
            </p:nvSpPr>
            <p:spPr>
              <a:xfrm>
                <a:off x="9675128" y="2302063"/>
                <a:ext cx="1575682" cy="120571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9000"/>
                  </a:prstClr>
                </a:outerShdw>
              </a:effectLst>
            </p:spPr>
            <p:txBody>
              <a:bodyPr wrap="square" lIns="91440" tIns="45720" rIns="91440" bIns="4572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拟合工具箱</a:t>
                </a: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cftool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分类学习器</a:t>
                </a: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classificationlearner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神经网络工具箱</a:t>
                </a:r>
                <a:r>
                  <a:rPr lang="en-US" altLang="zh-CN" sz="1600" b="1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nntraintool</a:t>
                </a:r>
                <a:endPara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íślíḋe">
                <a:extLst>
                  <a:ext uri="{FF2B5EF4-FFF2-40B4-BE49-F238E27FC236}">
                    <a16:creationId xmlns:a16="http://schemas.microsoft.com/office/drawing/2014/main" id="{7180E766-C3F9-409D-907C-CAFA3E9854A6}"/>
                  </a:ext>
                </a:extLst>
              </p:cNvPr>
              <p:cNvSpPr txBox="1"/>
              <p:nvPr/>
            </p:nvSpPr>
            <p:spPr>
              <a:xfrm>
                <a:off x="9675128" y="1821774"/>
                <a:ext cx="1575682" cy="480289"/>
              </a:xfrm>
              <a:prstGeom prst="rect">
                <a:avLst/>
              </a:prstGeom>
              <a:gradFill>
                <a:gsLst>
                  <a:gs pos="0">
                    <a:srgbClr val="3F4C97"/>
                  </a:gs>
                  <a:gs pos="100000">
                    <a:srgbClr val="669EE3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altLang="zh-CN" sz="2000" b="1" dirty="0" err="1">
                    <a:solidFill>
                      <a:schemeClr val="bg1"/>
                    </a:solidFill>
                    <a:cs typeface="+mn-ea"/>
                    <a:sym typeface="+mn-lt"/>
                  </a:rPr>
                  <a:t>Matlab</a:t>
                </a:r>
                <a:r>
                  <a:rPr lang="zh-CN" altLang="en-US" sz="2000" b="1" dirty="0">
                    <a:solidFill>
                      <a:schemeClr val="bg1"/>
                    </a:solidFill>
                    <a:cs typeface="+mn-ea"/>
                    <a:sym typeface="+mn-lt"/>
                  </a:rPr>
                  <a:t>工具箱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29599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1" y="669925"/>
            <a:ext cx="2895604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4.3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做题建议</a:t>
            </a: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B6F63B-BEB9-4EA2-AE28-7A7A99F4CA71}"/>
              </a:ext>
            </a:extLst>
          </p:cNvPr>
          <p:cNvSpPr txBox="1"/>
          <p:nvPr/>
        </p:nvSpPr>
        <p:spPr>
          <a:xfrm>
            <a:off x="1666875" y="1859339"/>
            <a:ext cx="683873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选题：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优先有数据的；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少数服从多数，决定之后尽量不要再更改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解答：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先易后难，循序渐进；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题目简单就多种方式解答，时间充裕就使用高级算法解答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写论文：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先写中文，写完一个翻译一个，方便控制篇幅；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摘要放在最后写，可由最熟悉模型的人先写初稿，再一起更改；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文章结构要完整，该有的都得有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6534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ïṡľidé"/>
          <p:cNvSpPr txBox="1"/>
          <p:nvPr/>
        </p:nvSpPr>
        <p:spPr bwMode="auto">
          <a:xfrm flipH="1">
            <a:off x="1362075" y="669925"/>
            <a:ext cx="3343910" cy="476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indent="0">
              <a:spcBef>
                <a:spcPct val="0"/>
              </a:spcBef>
              <a:buNone/>
            </a:pP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4.4 </a:t>
            </a:r>
            <a:r>
              <a:rPr lang="zh-CN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</a:t>
            </a:r>
            <a:r>
              <a:rPr lang="en-US" altLang="zh-CN" sz="32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tips</a:t>
            </a:r>
            <a:endParaRPr lang="zh-CN" altLang="en-US" sz="32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07415" y="789940"/>
            <a:ext cx="254635" cy="254635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1277848" y="1658089"/>
            <a:ext cx="2402795" cy="2137453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摘要花大力气打磨，翻译多用短句，一定不要出现低级语法错误</a:t>
            </a:r>
          </a:p>
        </p:txBody>
      </p:sp>
      <p:sp>
        <p:nvSpPr>
          <p:cNvPr id="5" name="箭头: 右 4"/>
          <p:cNvSpPr/>
          <p:nvPr/>
        </p:nvSpPr>
        <p:spPr>
          <a:xfrm>
            <a:off x="1034732" y="3727480"/>
            <a:ext cx="9949295" cy="191973"/>
          </a:xfrm>
          <a:prstGeom prst="rightArrow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12898" y="3607660"/>
            <a:ext cx="431612" cy="431612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3988006" y="3607660"/>
            <a:ext cx="431612" cy="431612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5880194" y="3579736"/>
            <a:ext cx="431612" cy="431612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772382" y="3598814"/>
            <a:ext cx="431612" cy="431612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9647490" y="3598814"/>
            <a:ext cx="431612" cy="431612"/>
          </a:xfrm>
          <a:prstGeom prst="ellipse">
            <a:avLst/>
          </a:prstGeom>
          <a:gradFill>
            <a:gsLst>
              <a:gs pos="0">
                <a:srgbClr val="3F4C97"/>
              </a:gs>
              <a:gs pos="100000">
                <a:srgbClr val="669EE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900615" y="4277311"/>
            <a:ext cx="2242898" cy="1223355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作图要美观，风格应一致，形式要多样</a:t>
            </a:r>
          </a:p>
        </p:txBody>
      </p:sp>
      <p:sp>
        <p:nvSpPr>
          <p:cNvPr id="19" name="内容占位符 2"/>
          <p:cNvSpPr txBox="1"/>
          <p:nvPr/>
        </p:nvSpPr>
        <p:spPr>
          <a:xfrm>
            <a:off x="4544291" y="2055545"/>
            <a:ext cx="3103418" cy="1223355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一定要写完，草草结尾也胜过没写完，迫不得已可以美术建模、语文建模</a:t>
            </a:r>
          </a:p>
        </p:txBody>
      </p:sp>
      <p:sp>
        <p:nvSpPr>
          <p:cNvPr id="20" name="内容占位符 2"/>
          <p:cNvSpPr txBox="1"/>
          <p:nvPr/>
        </p:nvSpPr>
        <p:spPr>
          <a:xfrm>
            <a:off x="6419973" y="4235366"/>
            <a:ext cx="2871412" cy="1329387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下一步不强依赖上一步的结果时，求解具体的数值可以放一放</a:t>
            </a:r>
          </a:p>
        </p:txBody>
      </p:sp>
      <p:sp>
        <p:nvSpPr>
          <p:cNvPr id="21" name="内容占位符 2"/>
          <p:cNvSpPr txBox="1"/>
          <p:nvPr/>
        </p:nvSpPr>
        <p:spPr>
          <a:xfrm>
            <a:off x="8338068" y="2250349"/>
            <a:ext cx="2780033" cy="1329387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若有需要，美赛论文是可以发表的</a:t>
            </a:r>
          </a:p>
        </p:txBody>
      </p:sp>
      <p:sp>
        <p:nvSpPr>
          <p:cNvPr id="3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1"/>
      <p:bldP spid="2" grpId="0"/>
      <p:bldP spid="16" grpId="0"/>
      <p:bldP spid="19" grpId="0"/>
      <p:bldP spid="20" grpId="0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44701" y="2772311"/>
            <a:ext cx="65025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彩蛋大礼包</a:t>
            </a: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半闭框 5"/>
          <p:cNvSpPr/>
          <p:nvPr/>
        </p:nvSpPr>
        <p:spPr>
          <a:xfrm rot="2700000" flipH="1">
            <a:off x="-2050497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-844112" y="-1167"/>
            <a:ext cx="2163986" cy="1724730"/>
            <a:chOff x="9241584" y="3891370"/>
            <a:chExt cx="3703923" cy="2952083"/>
          </a:xfrm>
        </p:grpSpPr>
        <p:cxnSp>
          <p:nvCxnSpPr>
            <p:cNvPr id="8" name="直线连接符 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 rot="10800000">
            <a:off x="9460783" y="4124960"/>
            <a:ext cx="3417109" cy="2733040"/>
            <a:chOff x="7297978" y="2480257"/>
            <a:chExt cx="3417109" cy="2733040"/>
          </a:xfrm>
        </p:grpSpPr>
        <p:sp>
          <p:nvSpPr>
            <p:cNvPr id="13" name="斜纹 12"/>
            <p:cNvSpPr/>
            <p:nvPr/>
          </p:nvSpPr>
          <p:spPr>
            <a:xfrm>
              <a:off x="7982047" y="2480257"/>
              <a:ext cx="2733040" cy="2733040"/>
            </a:xfrm>
            <a:prstGeom prst="diagStripe">
              <a:avLst>
                <a:gd name="adj" fmla="val 54616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直角三角形 13"/>
            <p:cNvSpPr/>
            <p:nvPr/>
          </p:nvSpPr>
          <p:spPr>
            <a:xfrm rot="13500000">
              <a:off x="7297978" y="3056030"/>
              <a:ext cx="1368137" cy="1368137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107305" y="1586865"/>
            <a:ext cx="279527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7200">
                <a:solidFill>
                  <a:schemeClr val="bg1">
                    <a:lumMod val="85000"/>
                    <a:alpha val="55000"/>
                  </a:schemeClr>
                </a:solidFill>
                <a:latin typeface="汉仪旗黑X1-55W" panose="00020600040101010101" pitchFamily="18" charset="-122"/>
                <a:ea typeface="汉仪旗黑X1-55W" panose="00020600040101010101" pitchFamily="18" charset="-122"/>
              </a:defRPr>
            </a:lvl1pPr>
          </a:lstStyle>
          <a:p>
            <a:pPr algn="l"/>
            <a:r>
              <a:rPr lang="en-US" altLang="zh-CN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Part 05</a:t>
            </a:r>
          </a:p>
        </p:txBody>
      </p:sp>
    </p:spTree>
    <p:extLst>
      <p:ext uri="{BB962C8B-B14F-4D97-AF65-F5344CB8AC3E}">
        <p14:creationId xmlns:p14="http://schemas.microsoft.com/office/powerpoint/2010/main" val="1216564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19"/>
          <p:cNvSpPr/>
          <p:nvPr/>
        </p:nvSpPr>
        <p:spPr>
          <a:xfrm rot="5400000" flipH="1" flipV="1">
            <a:off x="10375265" y="5079365"/>
            <a:ext cx="1046480" cy="2590165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100000">
                <a:srgbClr val="3F4B96"/>
              </a:gs>
              <a:gs pos="0">
                <a:srgbClr val="73BAFD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直角三角形 19"/>
          <p:cNvSpPr/>
          <p:nvPr/>
        </p:nvSpPr>
        <p:spPr>
          <a:xfrm rot="5400000">
            <a:off x="517525" y="-518160"/>
            <a:ext cx="791210" cy="1826260"/>
          </a:xfrm>
          <a:custGeom>
            <a:avLst/>
            <a:gdLst>
              <a:gd name="connsiteX0" fmla="*/ 0 w 4658220"/>
              <a:gd name="connsiteY0" fmla="*/ 5555673 h 5555673"/>
              <a:gd name="connsiteX1" fmla="*/ 0 w 4658220"/>
              <a:gd name="connsiteY1" fmla="*/ 0 h 5555673"/>
              <a:gd name="connsiteX2" fmla="*/ 4658220 w 4658220"/>
              <a:gd name="connsiteY2" fmla="*/ 5555673 h 5555673"/>
              <a:gd name="connsiteX3" fmla="*/ 0 w 4658220"/>
              <a:gd name="connsiteY3" fmla="*/ 5555673 h 5555673"/>
              <a:gd name="connsiteX0-1" fmla="*/ 0 w 4658220"/>
              <a:gd name="connsiteY0-2" fmla="*/ 5555673 h 5555673"/>
              <a:gd name="connsiteX1-3" fmla="*/ 0 w 4658220"/>
              <a:gd name="connsiteY1-4" fmla="*/ 0 h 5555673"/>
              <a:gd name="connsiteX2-5" fmla="*/ 4658220 w 4658220"/>
              <a:gd name="connsiteY2-6" fmla="*/ 5555673 h 5555673"/>
              <a:gd name="connsiteX3-7" fmla="*/ 0 w 4658220"/>
              <a:gd name="connsiteY3-8" fmla="*/ 5555673 h 5555673"/>
              <a:gd name="connsiteX0-9" fmla="*/ 0 w 4658220"/>
              <a:gd name="connsiteY0-10" fmla="*/ 5555673 h 5555673"/>
              <a:gd name="connsiteX1-11" fmla="*/ 0 w 4658220"/>
              <a:gd name="connsiteY1-12" fmla="*/ 0 h 5555673"/>
              <a:gd name="connsiteX2-13" fmla="*/ 4658220 w 4658220"/>
              <a:gd name="connsiteY2-14" fmla="*/ 5555673 h 5555673"/>
              <a:gd name="connsiteX3-15" fmla="*/ 0 w 4658220"/>
              <a:gd name="connsiteY3-16" fmla="*/ 5555673 h 5555673"/>
              <a:gd name="connsiteX0-17" fmla="*/ 0 w 4658220"/>
              <a:gd name="connsiteY0-18" fmla="*/ 5555673 h 5555673"/>
              <a:gd name="connsiteX1-19" fmla="*/ 0 w 4658220"/>
              <a:gd name="connsiteY1-20" fmla="*/ 0 h 5555673"/>
              <a:gd name="connsiteX2-21" fmla="*/ 4658220 w 4658220"/>
              <a:gd name="connsiteY2-22" fmla="*/ 5555673 h 5555673"/>
              <a:gd name="connsiteX3-23" fmla="*/ 0 w 4658220"/>
              <a:gd name="connsiteY3-24" fmla="*/ 5555673 h 55556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58220" h="5555673">
                <a:moveTo>
                  <a:pt x="0" y="5555673"/>
                </a:moveTo>
                <a:lnTo>
                  <a:pt x="0" y="0"/>
                </a:lnTo>
                <a:cubicBezTo>
                  <a:pt x="1441903" y="4830625"/>
                  <a:pt x="3590391" y="1805712"/>
                  <a:pt x="4658220" y="5555673"/>
                </a:cubicBezTo>
                <a:lnTo>
                  <a:pt x="0" y="5555673"/>
                </a:lnTo>
                <a:close/>
              </a:path>
            </a:pathLst>
          </a:custGeom>
          <a:gradFill>
            <a:gsLst>
              <a:gs pos="0">
                <a:srgbClr val="73BAFD"/>
              </a:gs>
              <a:gs pos="100000">
                <a:srgbClr val="143A72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139694-239C-415F-8278-974D302F5DB5}"/>
              </a:ext>
            </a:extLst>
          </p:cNvPr>
          <p:cNvSpPr txBox="1"/>
          <p:nvPr/>
        </p:nvSpPr>
        <p:spPr>
          <a:xfrm>
            <a:off x="913130" y="886420"/>
            <a:ext cx="73844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本人搜集的所有数模资料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涵盖</a:t>
            </a:r>
            <a:r>
              <a:rPr lang="en-US" altLang="zh-CN" dirty="0"/>
              <a:t>ppt</a:t>
            </a:r>
            <a:r>
              <a:rPr lang="zh-CN" altLang="en-US" dirty="0"/>
              <a:t>全内容的思维导图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本人耗时数个小时整理的常用模型优点、缺点、特点汇总表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7BA068-7846-48DE-A2B7-89D5CB1A5F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5" t="20964" r="6927" b="21806"/>
          <a:stretch/>
        </p:blipFill>
        <p:spPr>
          <a:xfrm>
            <a:off x="4788535" y="1926312"/>
            <a:ext cx="3619501" cy="392489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6EA6D5-A2B0-4E81-B222-3CF2690220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56" t="14680" r="14907" b="26389"/>
          <a:stretch/>
        </p:blipFill>
        <p:spPr>
          <a:xfrm>
            <a:off x="9060497" y="1868029"/>
            <a:ext cx="2676526" cy="4041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66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 rot="10800000">
            <a:off x="10172072" y="11754"/>
            <a:ext cx="2019928" cy="2019928"/>
          </a:xfrm>
          <a:prstGeom prst="rt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斜纹 6"/>
          <p:cNvSpPr/>
          <p:nvPr/>
        </p:nvSpPr>
        <p:spPr>
          <a:xfrm>
            <a:off x="0" y="4477"/>
            <a:ext cx="2733040" cy="2733040"/>
          </a:xfrm>
          <a:prstGeom prst="diagStripe">
            <a:avLst>
              <a:gd name="adj" fmla="val 5461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15312" y="2860363"/>
            <a:ext cx="803296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预祝大家取得佳绩！</a:t>
            </a:r>
          </a:p>
        </p:txBody>
      </p:sp>
      <p:sp>
        <p:nvSpPr>
          <p:cNvPr id="6" name="直角三角形 5"/>
          <p:cNvSpPr/>
          <p:nvPr/>
        </p:nvSpPr>
        <p:spPr>
          <a:xfrm rot="13500000">
            <a:off x="-684069" y="580250"/>
            <a:ext cx="1368137" cy="1368137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直角三角形 7"/>
          <p:cNvSpPr/>
          <p:nvPr/>
        </p:nvSpPr>
        <p:spPr>
          <a:xfrm rot="8100000">
            <a:off x="7667083" y="5134206"/>
            <a:ext cx="3447589" cy="3447589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直角三角形 8"/>
          <p:cNvSpPr/>
          <p:nvPr/>
        </p:nvSpPr>
        <p:spPr>
          <a:xfrm rot="8100000">
            <a:off x="8350520" y="5817641"/>
            <a:ext cx="2080716" cy="2080716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半闭框 10"/>
          <p:cNvSpPr/>
          <p:nvPr/>
        </p:nvSpPr>
        <p:spPr>
          <a:xfrm rot="18900000">
            <a:off x="10141503" y="-1128123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2" name="菱形 11"/>
          <p:cNvSpPr/>
          <p:nvPr/>
        </p:nvSpPr>
        <p:spPr>
          <a:xfrm>
            <a:off x="9045120" y="1667117"/>
            <a:ext cx="1410144" cy="1410144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8440634" y="1727861"/>
            <a:ext cx="684276" cy="684276"/>
          </a:xfrm>
          <a:prstGeom prst="diamond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9253714" y="2372189"/>
            <a:ext cx="624839" cy="563879"/>
            <a:chOff x="7553960" y="553721"/>
            <a:chExt cx="624839" cy="563879"/>
          </a:xfrm>
        </p:grpSpPr>
        <p:grpSp>
          <p:nvGrpSpPr>
            <p:cNvPr id="19" name="组合 18"/>
            <p:cNvGrpSpPr/>
            <p:nvPr/>
          </p:nvGrpSpPr>
          <p:grpSpPr>
            <a:xfrm>
              <a:off x="7553960" y="553721"/>
              <a:ext cx="624839" cy="45719"/>
              <a:chOff x="7325360" y="553721"/>
              <a:chExt cx="624839" cy="45719"/>
            </a:xfrm>
          </p:grpSpPr>
          <p:sp>
            <p:nvSpPr>
              <p:cNvPr id="15" name="椭圆 14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7553960" y="726441"/>
              <a:ext cx="624839" cy="45719"/>
              <a:chOff x="7325360" y="553721"/>
              <a:chExt cx="624839" cy="45719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553960" y="899161"/>
              <a:ext cx="624839" cy="45719"/>
              <a:chOff x="7325360" y="553721"/>
              <a:chExt cx="624839" cy="45719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553960" y="1071881"/>
              <a:ext cx="624839" cy="45719"/>
              <a:chOff x="7325360" y="553721"/>
              <a:chExt cx="624839" cy="45719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732536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751840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71144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7904480" y="553721"/>
                <a:ext cx="45719" cy="45719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6692285" y="6115824"/>
            <a:ext cx="1082039" cy="350519"/>
            <a:chOff x="5593081" y="5852160"/>
            <a:chExt cx="1082039" cy="350519"/>
          </a:xfrm>
          <a:solidFill>
            <a:schemeClr val="tx1">
              <a:lumMod val="75000"/>
              <a:lumOff val="25000"/>
            </a:schemeClr>
          </a:solidFill>
        </p:grpSpPr>
        <p:grpSp>
          <p:nvGrpSpPr>
            <p:cNvPr id="43" name="组合 42"/>
            <p:cNvGrpSpPr/>
            <p:nvPr/>
          </p:nvGrpSpPr>
          <p:grpSpPr>
            <a:xfrm>
              <a:off x="5593081" y="58521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36" name="椭圆 35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5593081" y="60045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45" name="椭圆 44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5593081" y="6156960"/>
              <a:ext cx="1082039" cy="45719"/>
              <a:chOff x="5440681" y="5852160"/>
              <a:chExt cx="1082039" cy="45719"/>
            </a:xfrm>
            <a:grpFill/>
          </p:grpSpPr>
          <p:sp>
            <p:nvSpPr>
              <p:cNvPr id="53" name="椭圆 52"/>
              <p:cNvSpPr/>
              <p:nvPr/>
            </p:nvSpPr>
            <p:spPr>
              <a:xfrm>
                <a:off x="54406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56134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578612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595884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613156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8" name="椭圆 57"/>
              <p:cNvSpPr/>
              <p:nvPr/>
            </p:nvSpPr>
            <p:spPr>
              <a:xfrm>
                <a:off x="630428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6477001" y="5852160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9241584" y="3891370"/>
            <a:ext cx="3703923" cy="2952083"/>
            <a:chOff x="9241584" y="3891370"/>
            <a:chExt cx="3703923" cy="2952083"/>
          </a:xfrm>
        </p:grpSpPr>
        <p:cxnSp>
          <p:nvCxnSpPr>
            <p:cNvPr id="62" name="直线连接符 61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连接符 63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连接符 64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/>
        </p:nvGrpSpPr>
        <p:grpSpPr>
          <a:xfrm flipH="1">
            <a:off x="10872126" y="-1167"/>
            <a:ext cx="2163986" cy="1724730"/>
            <a:chOff x="9241584" y="3891370"/>
            <a:chExt cx="3703923" cy="2952083"/>
          </a:xfrm>
        </p:grpSpPr>
        <p:cxnSp>
          <p:nvCxnSpPr>
            <p:cNvPr id="68" name="直线连接符 67"/>
            <p:cNvCxnSpPr/>
            <p:nvPr/>
          </p:nvCxnSpPr>
          <p:spPr>
            <a:xfrm flipV="1">
              <a:off x="9241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/>
            <p:cNvCxnSpPr/>
            <p:nvPr/>
          </p:nvCxnSpPr>
          <p:spPr>
            <a:xfrm flipV="1">
              <a:off x="950574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 flipV="1">
              <a:off x="974958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/>
            <p:cNvCxnSpPr/>
            <p:nvPr/>
          </p:nvCxnSpPr>
          <p:spPr>
            <a:xfrm flipV="1">
              <a:off x="9993424" y="3891370"/>
              <a:ext cx="2952083" cy="29520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半闭框 9"/>
          <p:cNvSpPr/>
          <p:nvPr/>
        </p:nvSpPr>
        <p:spPr>
          <a:xfrm rot="18900000">
            <a:off x="10141503" y="1771719"/>
            <a:ext cx="4100994" cy="4100994"/>
          </a:xfrm>
          <a:prstGeom prst="halfFrame">
            <a:avLst>
              <a:gd name="adj1" fmla="val 18814"/>
              <a:gd name="adj2" fmla="val 19419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cxnSp>
        <p:nvCxnSpPr>
          <p:cNvPr id="75" name="直线连接符 74"/>
          <p:cNvCxnSpPr/>
          <p:nvPr/>
        </p:nvCxnSpPr>
        <p:spPr>
          <a:xfrm>
            <a:off x="1100315" y="4647814"/>
            <a:ext cx="6809335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7AF68903-B39D-40EF-94D7-2FA879AE7AC7}"/>
              </a:ext>
            </a:extLst>
          </p:cNvPr>
          <p:cNvSpPr txBox="1"/>
          <p:nvPr/>
        </p:nvSpPr>
        <p:spPr>
          <a:xfrm>
            <a:off x="1100315" y="5123020"/>
            <a:ext cx="21499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主讲人：宋建辉</a:t>
            </a:r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endParaRPr kumimoji="1"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日期：</a:t>
            </a:r>
            <a:r>
              <a:rPr kumimoji="1"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2022-12-15</a:t>
            </a: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4" name="íṥḻîḍé">
            <a:extLst>
              <a:ext uri="{FF2B5EF4-FFF2-40B4-BE49-F238E27FC236}">
                <a16:creationId xmlns:a16="http://schemas.microsoft.com/office/drawing/2014/main" id="{5141B190-6CE3-4EAF-B5F0-F4B3783123A9}"/>
              </a:ext>
            </a:extLst>
          </p:cNvPr>
          <p:cNvSpPr txBox="1"/>
          <p:nvPr/>
        </p:nvSpPr>
        <p:spPr bwMode="auto">
          <a:xfrm>
            <a:off x="1015312" y="3918517"/>
            <a:ext cx="474218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0000" tIns="46800" rIns="90000" bIns="468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>
                <a:cs typeface="+mn-ea"/>
                <a:sym typeface="+mn-lt"/>
              </a:rPr>
              <a:t>通信工程学院学生会学习部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ece81bd7-9f6c-4990-abfb-fa0890b6892c"/>
  <p:tag name="COMMONDATA" val="eyJoZGlkIjoiNjE5ZDAwOTRkYjRkMTYwMjk0ZDIxMjllYTc4NGY2ZT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0491}"/>
</p:tagLst>
</file>

<file path=ppt/theme/theme1.xml><?xml version="1.0" encoding="utf-8"?>
<a:theme xmlns:a="http://schemas.openxmlformats.org/drawingml/2006/main" name="XX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bumvww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588ku">
      <a:majorFont>
        <a:latin typeface="Arial Black"/>
        <a:ea typeface="思源黑体 CN Bold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1976</Words>
  <Application>Microsoft Office PowerPoint</Application>
  <PresentationFormat>宽屏</PresentationFormat>
  <Paragraphs>293</Paragraphs>
  <Slides>33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-apple-system</vt:lpstr>
      <vt:lpstr>等线</vt:lpstr>
      <vt:lpstr>思源黑体 CN Bold</vt:lpstr>
      <vt:lpstr>思源黑体 CN Regular</vt:lpstr>
      <vt:lpstr>Microsoft YaHei</vt:lpstr>
      <vt:lpstr>Microsoft YaHei</vt:lpstr>
      <vt:lpstr>Arial</vt:lpstr>
      <vt:lpstr>Calibri</vt:lpstr>
      <vt:lpstr>Wingdings</vt:lpstr>
      <vt:lpstr>XXX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素材来源网站当图网-www.99ppt.com</dc:title>
  <dc:subject>素材来源网站当图网-www.99ppt.com</dc:subject>
  <dc:creator>素材来源网站当图网-www.99ppt.com</dc:creator>
  <dc:description>素材来源网站当图网-www.99ppt.com</dc:description>
  <cp:lastModifiedBy>宋 建辉</cp:lastModifiedBy>
  <cp:revision>126</cp:revision>
  <dcterms:created xsi:type="dcterms:W3CDTF">2019-06-11T09:29:00Z</dcterms:created>
  <dcterms:modified xsi:type="dcterms:W3CDTF">2022-12-15T05:22:02Z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ICV">
    <vt:lpwstr>A90FC43E06A1438D99DF6702124EF952</vt:lpwstr>
  </property>
  <property fmtid="{A09F084E-AD41-489F-8076-AA5BE3082BCA}" pid="100">
    <vt:ui4>5</vt:ui4>
  </property>
  <property fmtid="{64440492-4C8B-11D1-8B70-080036B11A03}" pid="11">
    <vt:lpwstr>素材来源网站当图网-www.99ppt.com</vt:lpwstr>
  </property>
</Properties>
</file>